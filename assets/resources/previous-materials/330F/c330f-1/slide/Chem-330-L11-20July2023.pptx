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9"/>
  </p:notesMasterIdLst>
  <p:sldIdLst>
    <p:sldId id="691" r:id="rId2"/>
    <p:sldId id="735" r:id="rId3"/>
    <p:sldId id="739" r:id="rId4"/>
    <p:sldId id="740" r:id="rId5"/>
    <p:sldId id="736" r:id="rId6"/>
    <p:sldId id="737" r:id="rId7"/>
    <p:sldId id="738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800080"/>
    <a:srgbClr val="0033CC"/>
    <a:srgbClr val="CC0099"/>
    <a:srgbClr val="04A8E2"/>
    <a:srgbClr val="0CB3DA"/>
    <a:srgbClr val="00CCFF"/>
    <a:srgbClr val="0CBBE4"/>
    <a:srgbClr val="000099"/>
    <a:srgbClr val="FF198C"/>
    <a:srgbClr val="FFFFF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294" autoAdjust="0"/>
    <p:restoredTop sz="90929"/>
  </p:normalViewPr>
  <p:slideViewPr>
    <p:cSldViewPr>
      <p:cViewPr>
        <p:scale>
          <a:sx n="60" d="100"/>
          <a:sy n="60" d="100"/>
        </p:scale>
        <p:origin x="-240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20-Jul-23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9015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12000">
              <a:srgbClr val="FFFFF3"/>
            </a:gs>
            <a:gs pos="1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0" y="1701225"/>
            <a:ext cx="4610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702030302020204" pitchFamily="66" charset="0"/>
              </a:rPr>
              <a:t>1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702030302020204" pitchFamily="66" charset="0"/>
              </a:rPr>
              <a:t>H NMR </a:t>
            </a:r>
            <a:r>
              <a:rPr lang="en-US" sz="32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US" sz="3200" b="1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p</a:t>
            </a:r>
            <a:r>
              <a:rPr lang="en-US" sz="3200" b="1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e</a:t>
            </a:r>
            <a:r>
              <a:rPr lang="en-US" sz="3200" b="1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c</a:t>
            </a:r>
            <a:r>
              <a:rPr lang="en-US" sz="3200" b="1" dirty="0" smtClean="0">
                <a:solidFill>
                  <a:srgbClr val="00B0F0"/>
                </a:solidFill>
                <a:latin typeface="Comic Sans MS" panose="030F0702030302020204" pitchFamily="66" charset="0"/>
              </a:rPr>
              <a:t>t</a:t>
            </a:r>
            <a:r>
              <a:rPr lang="en-US" sz="3200" b="1" dirty="0" smtClean="0">
                <a:solidFill>
                  <a:srgbClr val="0000FF"/>
                </a:solidFill>
                <a:latin typeface="Comic Sans MS" panose="030F0702030302020204" pitchFamily="66" charset="0"/>
              </a:rPr>
              <a:t>r</a:t>
            </a:r>
            <a:r>
              <a:rPr lang="en-US" sz="3200" b="1" dirty="0" smtClean="0">
                <a:solidFill>
                  <a:srgbClr val="CC0099"/>
                </a:solidFill>
                <a:latin typeface="Comic Sans MS" panose="030F0702030302020204" pitchFamily="66" charset="0"/>
              </a:rPr>
              <a:t>o</a:t>
            </a:r>
            <a:r>
              <a:rPr lang="en-US" sz="3200" b="1" dirty="0" smtClean="0">
                <a:solidFill>
                  <a:srgbClr val="FF5050"/>
                </a:solidFill>
                <a:latin typeface="Comic Sans MS" panose="030F0702030302020204" pitchFamily="66" charset="0"/>
              </a:rPr>
              <a:t>s</a:t>
            </a:r>
            <a:r>
              <a:rPr lang="en-US" sz="32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copy</a:t>
            </a:r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7987F46-F22D-4314-B239-C75F94E3B83D}"/>
              </a:ext>
            </a:extLst>
          </p:cNvPr>
          <p:cNvSpPr txBox="1"/>
          <p:nvPr/>
        </p:nvSpPr>
        <p:spPr>
          <a:xfrm>
            <a:off x="6934201" y="114181"/>
            <a:ext cx="1904999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1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114181"/>
            <a:ext cx="31535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048000"/>
            <a:ext cx="8503920" cy="3447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2297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143000"/>
            <a:ext cx="8382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  <a:buClr>
                <a:srgbClr val="FF0000"/>
              </a:buClr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Q.1: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organic compound,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has the following spectral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data: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3080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2850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1690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1600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–1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i="1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7.2</a:t>
            </a:r>
            <a:r>
              <a:rPr lang="en-US" b="1" dirty="0" smtClean="0">
                <a:solidFill>
                  <a:srgbClr val="800080"/>
                </a:solidFill>
                <a:latin typeface="Times New Roman"/>
                <a:cs typeface="Times New Roman"/>
              </a:rPr>
              <a:t>‒</a:t>
            </a:r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7.3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5H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m), 2.2 (3H, s). 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Deduce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structure of the compound with proper explanation.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79508" y="228600"/>
            <a:ext cx="32896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Practice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Problem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48015"/>
            <a:ext cx="2743200" cy="1700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2819400" y="4126084"/>
            <a:ext cx="183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</a:t>
            </a:r>
            <a:r>
              <a:rPr lang="en-US" b="1" baseline="-25000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2.2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(3H, 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3276600" y="4648200"/>
            <a:ext cx="0" cy="5214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Straight Connector 6"/>
          <p:cNvCxnSpPr/>
          <p:nvPr/>
        </p:nvCxnSpPr>
        <p:spPr bwMode="auto">
          <a:xfrm>
            <a:off x="4876800" y="4126084"/>
            <a:ext cx="0" cy="250331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5105400" y="3962400"/>
            <a:ext cx="381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Symbol" pitchFamily="18" charset="2"/>
              <a:buChar char="*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Conjugation lowers the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C=O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stretching frequency.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567681859"/>
              </p:ext>
            </p:extLst>
          </p:nvPr>
        </p:nvGraphicFramePr>
        <p:xfrm>
          <a:off x="5547360" y="5181600"/>
          <a:ext cx="3017520" cy="965611"/>
        </p:xfrm>
        <a:graphic>
          <a:graphicData uri="http://schemas.openxmlformats.org/presentationml/2006/ole">
            <p:oleObj spid="_x0000_s4102" name="CS ChemDraw Drawing" r:id="rId4" imgW="1151640" imgH="368280" progId="ChemDraw.Document.6.0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861798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990600"/>
            <a:ext cx="8382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  <a:buClr>
                <a:srgbClr val="FF0000"/>
              </a:buClr>
            </a:pPr>
            <a:r>
              <a:rPr lang="en-US" sz="235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Q.2: 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350" dirty="0">
                <a:latin typeface="Times New Roman" pitchFamily="18" charset="0"/>
                <a:cs typeface="Times New Roman" pitchFamily="18" charset="0"/>
              </a:rPr>
              <a:t>organic compound, 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35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5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NO</a:t>
            </a:r>
            <a:r>
              <a:rPr lang="en-US" sz="235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50" dirty="0">
                <a:latin typeface="Times New Roman" pitchFamily="18" charset="0"/>
                <a:cs typeface="Times New Roman" pitchFamily="18" charset="0"/>
              </a:rPr>
              <a:t>has the following spectral 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data: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US" sz="235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35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3072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, 2980, 2860</a:t>
            </a:r>
            <a:r>
              <a:rPr lang="en-US" sz="235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5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1600, </a:t>
            </a:r>
            <a:r>
              <a:rPr lang="en-US" sz="235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1525</a:t>
            </a:r>
            <a:r>
              <a:rPr lang="en-US" sz="235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35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5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1364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50" dirty="0"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sz="2350" baseline="30000" dirty="0">
                <a:latin typeface="Times New Roman" pitchFamily="18" charset="0"/>
                <a:cs typeface="Times New Roman" pitchFamily="18" charset="0"/>
              </a:rPr>
              <a:t>–1</a:t>
            </a:r>
            <a:r>
              <a:rPr lang="en-US" sz="23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50" i="1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sz="2350" baseline="-250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35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8.1</a:t>
            </a:r>
            <a:r>
              <a:rPr lang="en-US" sz="235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 (2H</a:t>
            </a:r>
            <a:r>
              <a:rPr lang="en-US" sz="235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5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35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35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7.3</a:t>
            </a:r>
            <a:r>
              <a:rPr lang="en-US" sz="235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 (2H, </a:t>
            </a:r>
            <a:r>
              <a:rPr lang="en-US" sz="235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35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2.5 </a:t>
            </a: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(3H, s). 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50" dirty="0" smtClean="0">
                <a:latin typeface="Times New Roman" pitchFamily="18" charset="0"/>
                <a:cs typeface="Times New Roman" pitchFamily="18" charset="0"/>
              </a:rPr>
              <a:t>Deduce </a:t>
            </a:r>
            <a:r>
              <a:rPr lang="en-US" sz="2350" dirty="0">
                <a:latin typeface="Times New Roman" pitchFamily="18" charset="0"/>
                <a:cs typeface="Times New Roman" pitchFamily="18" charset="0"/>
              </a:rPr>
              <a:t>the structure of the compound with proper explanation.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9508" y="228600"/>
            <a:ext cx="32896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Practice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Problem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457200" y="4358848"/>
          <a:ext cx="2286000" cy="2270552"/>
        </p:xfrm>
        <a:graphic>
          <a:graphicData uri="http://schemas.openxmlformats.org/presentationml/2006/ole">
            <p:oleObj spid="_x0000_s19458" name="CS ChemDraw Drawing" r:id="rId3" imgW="939960" imgH="933840" progId="ChemDraw.Document.6.0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56844" y="3729335"/>
            <a:ext cx="183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</a:t>
            </a:r>
            <a:r>
              <a:rPr lang="en-US" b="1" baseline="-25000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2.5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(3H, s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Elbow Connector 8"/>
          <p:cNvCxnSpPr/>
          <p:nvPr/>
        </p:nvCxnSpPr>
        <p:spPr bwMode="auto">
          <a:xfrm rot="10800000" flipV="1">
            <a:off x="1828801" y="3962400"/>
            <a:ext cx="533400" cy="304800"/>
          </a:xfrm>
          <a:prstGeom prst="bentConnector3">
            <a:avLst>
              <a:gd name="adj1" fmla="val 10024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/>
          <p:nvPr/>
        </p:nvCxnSpPr>
        <p:spPr bwMode="auto">
          <a:xfrm rot="10800000">
            <a:off x="2667001" y="5029200"/>
            <a:ext cx="4572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80008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/>
          <p:cNvSpPr txBox="1"/>
          <p:nvPr/>
        </p:nvSpPr>
        <p:spPr>
          <a:xfrm>
            <a:off x="3124200" y="4796135"/>
            <a:ext cx="1901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b="1" baseline="-25000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</a:t>
            </a:r>
            <a:r>
              <a:rPr lang="en-US" b="1" baseline="-250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</a:t>
            </a:r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7.3 (2H</a:t>
            </a:r>
            <a:r>
              <a:rPr lang="en-US" b="1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d) </a:t>
            </a:r>
            <a:endParaRPr lang="en-US" b="1" dirty="0">
              <a:solidFill>
                <a:srgbClr val="800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 bwMode="auto">
          <a:xfrm rot="10800000">
            <a:off x="2743201" y="5943600"/>
            <a:ext cx="45720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80008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3200400" y="5710535"/>
            <a:ext cx="1901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b="1" baseline="-25000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</a:t>
            </a:r>
            <a:r>
              <a:rPr lang="en-US" b="1" baseline="-250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</a:t>
            </a:r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8.1 (2H</a:t>
            </a:r>
            <a:r>
              <a:rPr lang="en-US" b="1" dirty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d) </a:t>
            </a:r>
            <a:endParaRPr lang="en-US" b="1" dirty="0">
              <a:solidFill>
                <a:srgbClr val="80008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43600" y="3899038"/>
            <a:ext cx="1188720" cy="139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543800" y="3733800"/>
            <a:ext cx="1188720" cy="1571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TextBox 24"/>
          <p:cNvSpPr txBox="1"/>
          <p:nvPr/>
        </p:nvSpPr>
        <p:spPr>
          <a:xfrm>
            <a:off x="6096000" y="5867400"/>
            <a:ext cx="13532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1525</a:t>
            </a:r>
            <a:r>
              <a:rPr lang="en-US" sz="220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–1</a:t>
            </a:r>
            <a:endParaRPr lang="en-US" sz="2200" dirty="0"/>
          </a:p>
        </p:txBody>
      </p:sp>
      <p:sp>
        <p:nvSpPr>
          <p:cNvPr id="26" name="TextBox 25"/>
          <p:cNvSpPr txBox="1"/>
          <p:nvPr/>
        </p:nvSpPr>
        <p:spPr>
          <a:xfrm>
            <a:off x="7696200" y="5867400"/>
            <a:ext cx="135325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1364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–1</a:t>
            </a:r>
            <a:endParaRPr lang="en-US" sz="2200" dirty="0"/>
          </a:p>
        </p:txBody>
      </p:sp>
      <p:cxnSp>
        <p:nvCxnSpPr>
          <p:cNvPr id="28" name="Straight Connector 27"/>
          <p:cNvCxnSpPr/>
          <p:nvPr/>
        </p:nvCxnSpPr>
        <p:spPr bwMode="auto">
          <a:xfrm rot="5400000">
            <a:off x="3848100" y="5067300"/>
            <a:ext cx="2971800" cy="15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xmlns="" val="268067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20" grpId="0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79508" y="228600"/>
            <a:ext cx="32896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Practice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Problem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352800"/>
            <a:ext cx="8961120" cy="3340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TextBox 23"/>
          <p:cNvSpPr txBox="1"/>
          <p:nvPr/>
        </p:nvSpPr>
        <p:spPr>
          <a:xfrm>
            <a:off x="457200" y="1139785"/>
            <a:ext cx="83820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  <a:buClr>
                <a:srgbClr val="FF0000"/>
              </a:buClr>
            </a:pP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Q.2: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organic compound,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NO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has the following spectral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data: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3072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, 2980, 2860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1600,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1525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20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1364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–1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i="1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20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8.1</a:t>
            </a:r>
            <a:r>
              <a:rPr lang="en-US" sz="22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 (2H</a:t>
            </a:r>
            <a:r>
              <a:rPr lang="en-US" sz="22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2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20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7.3</a:t>
            </a:r>
            <a:r>
              <a:rPr lang="en-US" sz="22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 (2H, </a:t>
            </a:r>
            <a:r>
              <a:rPr lang="en-US" sz="2200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200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2.5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(3H, s). 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Deduce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structure of the compound with proper explanation.</a:t>
            </a:r>
          </a:p>
        </p:txBody>
      </p:sp>
    </p:spTree>
    <p:extLst>
      <p:ext uri="{BB962C8B-B14F-4D97-AF65-F5344CB8AC3E}">
        <p14:creationId xmlns:p14="http://schemas.microsoft.com/office/powerpoint/2010/main" xmlns="" val="2680679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9508" y="228600"/>
            <a:ext cx="32896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Practice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Problem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382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  <a:buClr>
                <a:srgbClr val="FF0000"/>
              </a:buClr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Q.3: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compound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 molecular formula C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gave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following spectral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data: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3000 </a:t>
            </a:r>
            <a:r>
              <a:rPr lang="en-US" b="1" dirty="0" smtClean="0">
                <a:solidFill>
                  <a:srgbClr val="0033CC"/>
                </a:solidFill>
                <a:latin typeface="Times New Roman"/>
                <a:cs typeface="Times New Roman"/>
              </a:rPr>
              <a:t>‒ 2500 (</a:t>
            </a:r>
            <a:r>
              <a:rPr lang="en-US" b="1" dirty="0" err="1" smtClean="0">
                <a:solidFill>
                  <a:srgbClr val="0033CC"/>
                </a:solidFill>
                <a:latin typeface="Times New Roman"/>
                <a:cs typeface="Times New Roman"/>
              </a:rPr>
              <a:t>br</a:t>
            </a:r>
            <a:r>
              <a:rPr lang="en-US" b="1" dirty="0" smtClean="0">
                <a:solidFill>
                  <a:srgbClr val="0033CC"/>
                </a:solidFill>
                <a:latin typeface="Times New Roman"/>
                <a:cs typeface="Times New Roman"/>
              </a:rPr>
              <a:t>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1715 (s)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solidFill>
                  <a:srgbClr val="800080"/>
                </a:solidFill>
                <a:latin typeface="Times New Roman" pitchFamily="18" charset="0"/>
                <a:cs typeface="Times New Roman" pitchFamily="18" charset="0"/>
              </a:rPr>
              <a:t>1342 (w)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–1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baseline="30000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H-NMR: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2.12 (s, 3H), 2.25 (t, 2H), 2.60 (t, 2H), </a:t>
            </a:r>
            <a:r>
              <a:rPr lang="en-US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11.1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(s, 1H)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structural formula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compound.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37814914"/>
              </p:ext>
            </p:extLst>
          </p:nvPr>
        </p:nvGraphicFramePr>
        <p:xfrm>
          <a:off x="2013271" y="4495800"/>
          <a:ext cx="4937760" cy="1267924"/>
        </p:xfrm>
        <a:graphic>
          <a:graphicData uri="http://schemas.openxmlformats.org/presentationml/2006/ole">
            <p:oleObj spid="_x0000_s1046" name="CS ChemDraw Drawing" r:id="rId3" imgW="1637640" imgH="420120" progId="ChemDraw.Document.6.0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58351" y="4343399"/>
            <a:ext cx="101662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2.25</a:t>
            </a:r>
            <a:endParaRPr lang="en-US" sz="2600" dirty="0"/>
          </a:p>
        </p:txBody>
      </p:sp>
      <p:sp>
        <p:nvSpPr>
          <p:cNvPr id="8" name="TextBox 7"/>
          <p:cNvSpPr txBox="1"/>
          <p:nvPr/>
        </p:nvSpPr>
        <p:spPr>
          <a:xfrm>
            <a:off x="1586551" y="4343399"/>
            <a:ext cx="109998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  <a:sym typeface="Symbol"/>
              </a:rPr>
              <a:t>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2.12 </a:t>
            </a:r>
          </a:p>
        </p:txBody>
      </p:sp>
      <p:cxnSp>
        <p:nvCxnSpPr>
          <p:cNvPr id="10" name="Curved Connector 9"/>
          <p:cNvCxnSpPr/>
          <p:nvPr/>
        </p:nvCxnSpPr>
        <p:spPr bwMode="auto">
          <a:xfrm rot="5400000">
            <a:off x="2000560" y="5062210"/>
            <a:ext cx="391180" cy="1"/>
          </a:xfrm>
          <a:prstGeom prst="curved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/>
          <p:nvPr/>
        </p:nvCxnSpPr>
        <p:spPr bwMode="auto">
          <a:xfrm>
            <a:off x="5098723" y="4873150"/>
            <a:ext cx="0" cy="3846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3535031" y="5984557"/>
            <a:ext cx="101662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2.60</a:t>
            </a:r>
            <a:endParaRPr lang="en-US" sz="2600" dirty="0"/>
          </a:p>
        </p:txBody>
      </p:sp>
      <p:cxnSp>
        <p:nvCxnSpPr>
          <p:cNvPr id="16" name="Straight Arrow Connector 15"/>
          <p:cNvCxnSpPr/>
          <p:nvPr/>
        </p:nvCxnSpPr>
        <p:spPr bwMode="auto">
          <a:xfrm flipV="1">
            <a:off x="4101151" y="5638800"/>
            <a:ext cx="0" cy="3846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6158551" y="4343399"/>
            <a:ext cx="10042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sz="26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11.1</a:t>
            </a:r>
            <a:endParaRPr lang="en-US" sz="2600" dirty="0">
              <a:solidFill>
                <a:srgbClr val="0033CC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 bwMode="auto">
          <a:xfrm>
            <a:off x="6698923" y="4873149"/>
            <a:ext cx="0" cy="3846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33CC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xmlns="" val="339365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9508" y="228600"/>
            <a:ext cx="32896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Practice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Problem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143000"/>
            <a:ext cx="86868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  <a:buClr>
                <a:srgbClr val="FF0000"/>
              </a:buClr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Q.4: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compound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 molecular formula C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gave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following spectral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data: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3000 </a:t>
            </a:r>
            <a:r>
              <a:rPr lang="en-US" b="1" dirty="0" smtClean="0">
                <a:solidFill>
                  <a:srgbClr val="0033CC"/>
                </a:solidFill>
                <a:latin typeface="Times New Roman"/>
                <a:cs typeface="Times New Roman"/>
              </a:rPr>
              <a:t>‒ 2500 (</a:t>
            </a:r>
            <a:r>
              <a:rPr lang="en-US" b="1" dirty="0" err="1" smtClean="0">
                <a:solidFill>
                  <a:srgbClr val="0033CC"/>
                </a:solidFill>
                <a:latin typeface="Times New Roman"/>
                <a:cs typeface="Times New Roman"/>
              </a:rPr>
              <a:t>br</a:t>
            </a:r>
            <a:r>
              <a:rPr lang="en-US" b="1" dirty="0" smtClean="0">
                <a:solidFill>
                  <a:srgbClr val="0033CC"/>
                </a:solidFill>
                <a:latin typeface="Times New Roman"/>
                <a:cs typeface="Times New Roman"/>
              </a:rPr>
              <a:t>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1715 (s)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cm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–1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baseline="30000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H-NMR: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1.27 (t, 3H),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3.66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(q, 2H), 4.13 (s, 2H), </a:t>
            </a:r>
            <a:r>
              <a:rPr lang="en-US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10.95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(s, 1H)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structural formula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compound.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42128865"/>
              </p:ext>
            </p:extLst>
          </p:nvPr>
        </p:nvGraphicFramePr>
        <p:xfrm>
          <a:off x="1828800" y="4817067"/>
          <a:ext cx="5394960" cy="1278933"/>
        </p:xfrm>
        <a:graphic>
          <a:graphicData uri="http://schemas.openxmlformats.org/presentationml/2006/ole">
            <p:oleObj spid="_x0000_s2063" name="CS ChemDraw Drawing" r:id="rId3" imgW="1747440" imgH="414360" progId="ChemDraw.Document.6.0">
              <p:embed/>
            </p:oleObj>
          </a:graphicData>
        </a:graphic>
      </p:graphicFrame>
      <p:cxnSp>
        <p:nvCxnSpPr>
          <p:cNvPr id="7" name="Curved Connector 6"/>
          <p:cNvCxnSpPr/>
          <p:nvPr/>
        </p:nvCxnSpPr>
        <p:spPr bwMode="auto">
          <a:xfrm rot="16200000" flipH="1">
            <a:off x="1524000" y="5011889"/>
            <a:ext cx="533400" cy="533400"/>
          </a:xfrm>
          <a:prstGeom prst="curvedConnector3">
            <a:avLst>
              <a:gd name="adj1" fmla="val -24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Box 18"/>
          <p:cNvSpPr txBox="1"/>
          <p:nvPr/>
        </p:nvSpPr>
        <p:spPr>
          <a:xfrm>
            <a:off x="533400" y="4765668"/>
            <a:ext cx="109998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 smtClean="0">
                <a:latin typeface="Times New Roman" pitchFamily="18" charset="0"/>
                <a:cs typeface="Times New Roman" pitchFamily="18" charset="0"/>
                <a:sym typeface="Symbol"/>
              </a:rPr>
              <a:t>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1.27 </a:t>
            </a:r>
          </a:p>
        </p:txBody>
      </p:sp>
      <p:cxnSp>
        <p:nvCxnSpPr>
          <p:cNvPr id="24" name="Curved Connector 23"/>
          <p:cNvCxnSpPr/>
          <p:nvPr/>
        </p:nvCxnSpPr>
        <p:spPr bwMode="auto">
          <a:xfrm rot="5400000">
            <a:off x="7010400" y="5011889"/>
            <a:ext cx="533400" cy="533400"/>
          </a:xfrm>
          <a:prstGeom prst="curvedConnector3">
            <a:avLst>
              <a:gd name="adj1" fmla="val -246"/>
            </a:avLst>
          </a:prstGeom>
          <a:solidFill>
            <a:schemeClr val="accent1"/>
          </a:solidFill>
          <a:ln w="9525" cap="flat" cmpd="sng" algn="ctr">
            <a:solidFill>
              <a:srgbClr val="0033CC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Box 24"/>
          <p:cNvSpPr txBox="1"/>
          <p:nvPr/>
        </p:nvSpPr>
        <p:spPr>
          <a:xfrm>
            <a:off x="7572703" y="4786146"/>
            <a:ext cx="126669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 </a:t>
            </a:r>
            <a:r>
              <a:rPr lang="en-US" sz="2600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10.95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410" y="4648198"/>
            <a:ext cx="101662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4.13</a:t>
            </a:r>
            <a:endParaRPr lang="en-US" sz="2600" b="1" dirty="0"/>
          </a:p>
        </p:txBody>
      </p:sp>
      <p:cxnSp>
        <p:nvCxnSpPr>
          <p:cNvPr id="27" name="Straight Arrow Connector 26"/>
          <p:cNvCxnSpPr/>
          <p:nvPr/>
        </p:nvCxnSpPr>
        <p:spPr bwMode="auto">
          <a:xfrm>
            <a:off x="5130782" y="5177949"/>
            <a:ext cx="0" cy="3846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/>
          <p:nvPr/>
        </p:nvSpPr>
        <p:spPr>
          <a:xfrm>
            <a:off x="2681242" y="4226239"/>
            <a:ext cx="101662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3.66</a:t>
            </a:r>
            <a:endParaRPr lang="en-US" sz="2600" b="1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 bwMode="auto">
          <a:xfrm>
            <a:off x="3221614" y="4755990"/>
            <a:ext cx="0" cy="3846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xmlns="" val="40990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  <p:bldP spid="26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9508" y="228600"/>
            <a:ext cx="32896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Practice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Problem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143000"/>
            <a:ext cx="86868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  <a:buClr>
                <a:srgbClr val="FF0000"/>
              </a:buClr>
            </a:pP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Q.5: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compound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 molecular formula C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 shows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following spectral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data: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IR: 2960, 2845,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1718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1460, 1370 cm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–1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baseline="30000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H-NMR: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2.3 (2H, t),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(3H, s), 1.6 (2H, m), </a:t>
            </a:r>
            <a:r>
              <a:rPr lang="en-US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0.9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(3H, t).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Deduce the structure of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compound with justification of the above data.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62539723"/>
              </p:ext>
            </p:extLst>
          </p:nvPr>
        </p:nvGraphicFramePr>
        <p:xfrm>
          <a:off x="2130073" y="4495802"/>
          <a:ext cx="4754880" cy="1330571"/>
        </p:xfrm>
        <a:graphic>
          <a:graphicData uri="http://schemas.openxmlformats.org/presentationml/2006/ole">
            <p:oleObj spid="_x0000_s3084" name="CS ChemDraw Drawing" r:id="rId3" imgW="1504080" imgH="420840" progId="ChemDraw.Document.6.0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05000" y="4267200"/>
            <a:ext cx="8499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 </a:t>
            </a:r>
            <a:r>
              <a:rPr lang="en-US" sz="2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2.1</a:t>
            </a:r>
          </a:p>
        </p:txBody>
      </p:sp>
      <p:cxnSp>
        <p:nvCxnSpPr>
          <p:cNvPr id="16" name="Curved Connector 15"/>
          <p:cNvCxnSpPr/>
          <p:nvPr/>
        </p:nvCxnSpPr>
        <p:spPr bwMode="auto">
          <a:xfrm rot="5400000">
            <a:off x="2145141" y="4986011"/>
            <a:ext cx="391180" cy="1"/>
          </a:xfrm>
          <a:prstGeom prst="curvedConnector3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6019800" y="4297978"/>
            <a:ext cx="8499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 </a:t>
            </a:r>
            <a:r>
              <a:rPr lang="en-US" sz="2600" b="1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0.9</a:t>
            </a:r>
          </a:p>
        </p:txBody>
      </p:sp>
      <p:cxnSp>
        <p:nvCxnSpPr>
          <p:cNvPr id="18" name="Curved Connector 17"/>
          <p:cNvCxnSpPr/>
          <p:nvPr/>
        </p:nvCxnSpPr>
        <p:spPr bwMode="auto">
          <a:xfrm rot="5400000">
            <a:off x="6259941" y="4986011"/>
            <a:ext cx="391180" cy="1"/>
          </a:xfrm>
          <a:prstGeom prst="curvedConnector3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3821713" y="4267200"/>
            <a:ext cx="101662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2.25</a:t>
            </a:r>
            <a:endParaRPr lang="en-US" sz="2600" b="1" dirty="0"/>
          </a:p>
        </p:txBody>
      </p:sp>
      <p:cxnSp>
        <p:nvCxnSpPr>
          <p:cNvPr id="21" name="Curved Connector 20"/>
          <p:cNvCxnSpPr/>
          <p:nvPr/>
        </p:nvCxnSpPr>
        <p:spPr bwMode="auto">
          <a:xfrm rot="5400000">
            <a:off x="4083324" y="4986011"/>
            <a:ext cx="391180" cy="1"/>
          </a:xfrm>
          <a:prstGeom prst="curvedConnector3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4838338" y="6136957"/>
            <a:ext cx="8499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1.6</a:t>
            </a:r>
            <a:endParaRPr lang="en-US" sz="2600" b="1" dirty="0"/>
          </a:p>
        </p:txBody>
      </p:sp>
      <p:cxnSp>
        <p:nvCxnSpPr>
          <p:cNvPr id="23" name="Straight Arrow Connector 22"/>
          <p:cNvCxnSpPr/>
          <p:nvPr/>
        </p:nvCxnSpPr>
        <p:spPr bwMode="auto">
          <a:xfrm flipV="1">
            <a:off x="5404458" y="5791200"/>
            <a:ext cx="0" cy="38465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xmlns="" val="390046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0" grpId="0"/>
      <p:bldP spid="22" grpId="0"/>
    </p:bld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8806</TotalTime>
  <Words>447</Words>
  <Application>Microsoft Office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Blank</vt:lpstr>
      <vt:lpstr>CS ChemDraw Drawing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User</cp:lastModifiedBy>
  <cp:revision>1437</cp:revision>
  <dcterms:created xsi:type="dcterms:W3CDTF">2006-02-07T16:59:36Z</dcterms:created>
  <dcterms:modified xsi:type="dcterms:W3CDTF">2023-07-20T05:15:36Z</dcterms:modified>
</cp:coreProperties>
</file>