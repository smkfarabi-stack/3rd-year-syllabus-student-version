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1"/>
  </p:notesMasterIdLst>
  <p:sldIdLst>
    <p:sldId id="691" r:id="rId2"/>
    <p:sldId id="713" r:id="rId3"/>
    <p:sldId id="714" r:id="rId4"/>
    <p:sldId id="715" r:id="rId5"/>
    <p:sldId id="718" r:id="rId6"/>
    <p:sldId id="720" r:id="rId7"/>
    <p:sldId id="719" r:id="rId8"/>
    <p:sldId id="716" r:id="rId9"/>
    <p:sldId id="717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B3DA"/>
    <a:srgbClr val="04A8E2"/>
    <a:srgbClr val="00CCFF"/>
    <a:srgbClr val="0CBBE4"/>
    <a:srgbClr val="000099"/>
    <a:srgbClr val="FF198C"/>
    <a:srgbClr val="0033CC"/>
    <a:srgbClr val="CC0099"/>
    <a:srgbClr val="FFFFF3"/>
    <a:srgbClr val="FFE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82" d="100"/>
          <a:sy n="82" d="100"/>
        </p:scale>
        <p:origin x="21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03-Nov-24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78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7.emf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13625" y="1548825"/>
            <a:ext cx="4610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1</a:t>
            </a: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H NMR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US" sz="3200" b="1" dirty="0">
                <a:solidFill>
                  <a:srgbClr val="FF6600"/>
                </a:solidFill>
                <a:latin typeface="Comic Sans MS" panose="030F0702030302020204" pitchFamily="66" charset="0"/>
              </a:rPr>
              <a:t>p</a:t>
            </a:r>
            <a:r>
              <a:rPr lang="en-US" sz="3200" b="1" dirty="0">
                <a:solidFill>
                  <a:srgbClr val="FFC000"/>
                </a:solidFill>
                <a:latin typeface="Comic Sans MS" panose="030F0702030302020204" pitchFamily="66" charset="0"/>
              </a:rPr>
              <a:t>e</a:t>
            </a:r>
            <a:r>
              <a:rPr lang="en-US" sz="3200" b="1" dirty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3200" b="1" dirty="0">
                <a:solidFill>
                  <a:srgbClr val="00B0F0"/>
                </a:solidFill>
                <a:latin typeface="Comic Sans MS" panose="030F0702030302020204" pitchFamily="66" charset="0"/>
              </a:rPr>
              <a:t>t</a:t>
            </a:r>
            <a:r>
              <a:rPr lang="en-US" sz="3200" b="1" dirty="0">
                <a:solidFill>
                  <a:srgbClr val="0000FF"/>
                </a:solidFill>
                <a:latin typeface="Comic Sans MS" panose="030F0702030302020204" pitchFamily="66" charset="0"/>
              </a:rPr>
              <a:t>r</a:t>
            </a:r>
            <a:r>
              <a:rPr lang="en-US" sz="3200" b="1" dirty="0">
                <a:solidFill>
                  <a:srgbClr val="CC0099"/>
                </a:solidFill>
                <a:latin typeface="Comic Sans MS" panose="030F0702030302020204" pitchFamily="66" charset="0"/>
              </a:rPr>
              <a:t>o</a:t>
            </a:r>
            <a:r>
              <a:rPr lang="en-US" sz="3200" b="1" dirty="0">
                <a:solidFill>
                  <a:srgbClr val="FF5050"/>
                </a:solidFill>
                <a:latin typeface="Comic Sans MS" panose="030F0702030302020204" pitchFamily="66" charset="0"/>
              </a:rPr>
              <a:t>s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87F46-F22D-4314-B239-C75F94E3B83D}"/>
              </a:ext>
            </a:extLst>
          </p:cNvPr>
          <p:cNvSpPr txBox="1"/>
          <p:nvPr/>
        </p:nvSpPr>
        <p:spPr>
          <a:xfrm>
            <a:off x="6934201" y="1141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1141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6" name="Picture 2" descr="Image result for coupling in NM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768025"/>
            <a:ext cx="6518987" cy="38485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F42104-9300-41CD-9A8E-489E4B48FAB5}"/>
              </a:ext>
            </a:extLst>
          </p:cNvPr>
          <p:cNvSpPr/>
          <p:nvPr/>
        </p:nvSpPr>
        <p:spPr>
          <a:xfrm>
            <a:off x="838200" y="1989148"/>
            <a:ext cx="34355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Pascale law</a:t>
            </a:r>
          </a:p>
        </p:txBody>
      </p:sp>
    </p:spTree>
    <p:extLst>
      <p:ext uri="{BB962C8B-B14F-4D97-AF65-F5344CB8AC3E}">
        <p14:creationId xmlns:p14="http://schemas.microsoft.com/office/powerpoint/2010/main" val="222973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304800"/>
            <a:ext cx="5203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baseline="300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 NMR: 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Spin-Spin Splitting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4869659"/>
            <a:ext cx="8869680" cy="153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8600" y="1143000"/>
            <a:ext cx="8610600" cy="3574259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274320" marR="0" lvl="0" indent="-274320" algn="just" defTabSz="914400" rtl="0" eaLnBrk="0" fontAlgn="base" latinLnBrk="0" hangingPunct="0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Nonequivalent protons on adjacent carbons have magnetic fields that may align with or oppose the external field.</a:t>
            </a:r>
          </a:p>
          <a:p>
            <a:pPr marL="274320" marR="0" lvl="0" indent="-274320" algn="just" defTabSz="914400" rtl="0" eaLnBrk="0" fontAlgn="base" latinLnBrk="0" hangingPunct="0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All possibilities exist, so signal is split. </a:t>
            </a:r>
          </a:p>
          <a:p>
            <a:pPr marL="274320" lvl="0" indent="-274320" algn="just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Tx/>
              <a:buChar char="•"/>
            </a:pPr>
            <a:r>
              <a:rPr lang="en-US" sz="23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If a signal is split by </a:t>
            </a:r>
            <a:r>
              <a:rPr lang="en-US" sz="23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3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equivalent protons on adjacent carbon,  it is split into </a:t>
            </a:r>
            <a:r>
              <a:rPr lang="en-US" sz="23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3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+ 1 </a:t>
            </a:r>
            <a:r>
              <a:rPr lang="en-US" sz="23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peaks </a:t>
            </a:r>
            <a:r>
              <a:rPr lang="en-US" sz="23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/>
              </a:rPr>
              <a:t> </a:t>
            </a:r>
            <a:r>
              <a:rPr lang="en-US" sz="23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3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+ 1 </a:t>
            </a:r>
            <a:r>
              <a:rPr lang="en-US" sz="23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rule.</a:t>
            </a:r>
          </a:p>
          <a:p>
            <a:pPr marL="274320" lvl="0" indent="-274320" algn="just">
              <a:lnSpc>
                <a:spcPts val="34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Tx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result of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spin–spin splitting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can be used to determine how many protons reside on the carbon atoms near the absorbing proton.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2307319"/>
            <a:ext cx="7955280" cy="4251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52600" y="228600"/>
            <a:ext cx="5203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baseline="300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 NMR: 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Spin-Spin Splitting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4632" y="1134070"/>
            <a:ext cx="6110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CH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signal appears as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doublet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(1:1 ratio). </a:t>
            </a:r>
          </a:p>
          <a:p>
            <a:pPr marL="342900" indent="-342900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CH signal appears as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triplet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(1:2:1 ratio).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120" y="1012856"/>
            <a:ext cx="1554480" cy="1044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243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2540" y="228600"/>
            <a:ext cx="5732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Splitting: </a:t>
            </a:r>
            <a:r>
              <a:rPr 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How a Doublet Arises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00"/>
            <a:ext cx="7589520" cy="1562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00400"/>
            <a:ext cx="8961120" cy="3367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940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2540" y="228600"/>
            <a:ext cx="5732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Splitting: </a:t>
            </a:r>
            <a:r>
              <a:rPr 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How a Doublet Arises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919583"/>
            <a:ext cx="457200" cy="1690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800" y="4421777"/>
            <a:ext cx="1561454" cy="118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4421777"/>
            <a:ext cx="1293916" cy="118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09360" y="3852134"/>
            <a:ext cx="2377440" cy="2167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38200" y="5859959"/>
            <a:ext cx="487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Two</a:t>
            </a:r>
            <a:r>
              <a:rPr lang="en-US" sz="2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possible electronic environments produced by the </a:t>
            </a:r>
            <a:r>
              <a:rPr lang="en-US" sz="2200" b="1" dirty="0" err="1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b</a:t>
            </a:r>
            <a:r>
              <a:rPr lang="en-US" sz="2200" b="1" dirty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proton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5029200" y="5029200"/>
            <a:ext cx="12954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" y="1219200"/>
            <a:ext cx="1645920" cy="1311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2514600" y="1143000"/>
            <a:ext cx="6019800" cy="229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lnSpc>
                <a:spcPts val="3200"/>
              </a:lnSpc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dirty="0" err="1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are not equivalent to each other, then the presence of </a:t>
            </a:r>
            <a:r>
              <a:rPr lang="en-US" sz="2200" b="1" dirty="0" err="1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splits the signal for 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into a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doublet.</a:t>
            </a:r>
          </a:p>
          <a:p>
            <a:pPr marL="274320" indent="-274320" algn="just">
              <a:lnSpc>
                <a:spcPts val="32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signal for </a:t>
            </a:r>
            <a:r>
              <a:rPr lang="en-US" sz="2200" b="1" dirty="0" err="1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also impacted by the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presence of 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n-US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the same way.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4666" y="152400"/>
            <a:ext cx="6199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 </a:t>
            </a:r>
            <a:r>
              <a:rPr lang="en-US" sz="28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Pattern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applying 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n+1</a:t>
            </a:r>
            <a:r>
              <a:rPr lang="en-US" sz="28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rule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219200"/>
            <a:ext cx="1371600" cy="1327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020037"/>
            <a:ext cx="640080" cy="169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4501975"/>
            <a:ext cx="1645920" cy="121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42260" y="3581400"/>
            <a:ext cx="1371600" cy="2136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19600" y="4573219"/>
            <a:ext cx="1645920" cy="1144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614160" y="3809805"/>
            <a:ext cx="2377440" cy="236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Arrow Connector 9"/>
          <p:cNvCxnSpPr/>
          <p:nvPr/>
        </p:nvCxnSpPr>
        <p:spPr bwMode="auto">
          <a:xfrm>
            <a:off x="6202680" y="4858237"/>
            <a:ext cx="73152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838200" y="5859959"/>
            <a:ext cx="487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Three</a:t>
            </a:r>
            <a:r>
              <a:rPr lang="en-US" sz="2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possible electronic environments produced by the </a:t>
            </a:r>
            <a:r>
              <a:rPr lang="en-US" sz="2200" b="1" dirty="0" err="1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b</a:t>
            </a:r>
            <a:r>
              <a:rPr lang="en-US" sz="2200" b="1" dirty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proton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1286470"/>
            <a:ext cx="6324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has </a:t>
            </a:r>
            <a:r>
              <a:rPr lang="en-US" sz="2300" b="1" dirty="0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two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neighboring </a:t>
            </a:r>
            <a:r>
              <a:rPr lang="en-US" sz="2300" b="1" dirty="0" err="1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 err="1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protons. </a:t>
            </a:r>
          </a:p>
          <a:p>
            <a:pPr marL="274320" indent="-27432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So the signal of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split into triplet (1:2:1 ratio)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4175205"/>
            <a:ext cx="640080" cy="1524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1079" y="4702232"/>
            <a:ext cx="1106425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01207" y="3048000"/>
            <a:ext cx="1039203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14113" y="3048000"/>
            <a:ext cx="1070217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58032" y="4693920"/>
            <a:ext cx="1063648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48640" y="1066800"/>
            <a:ext cx="1737360" cy="1420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514600" y="1143000"/>
            <a:ext cx="6248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has </a:t>
            </a:r>
            <a:r>
              <a:rPr lang="en-US" sz="2200" b="1" dirty="0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three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neighboring </a:t>
            </a:r>
            <a:r>
              <a:rPr lang="en-US" sz="2200" b="1" dirty="0" err="1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="1" baseline="-25000" dirty="0" err="1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protons. </a:t>
            </a:r>
          </a:p>
          <a:p>
            <a:pPr marL="274320" indent="-27432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 the signal of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split into quartet (1:3:3:1 ratio)</a:t>
            </a:r>
          </a:p>
        </p:txBody>
      </p:sp>
      <p:pic>
        <p:nvPicPr>
          <p:cNvPr id="21515" name="Picture 1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781800" y="3622316"/>
            <a:ext cx="2194560" cy="2128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Straight Arrow Connector 14"/>
          <p:cNvCxnSpPr/>
          <p:nvPr/>
        </p:nvCxnSpPr>
        <p:spPr bwMode="auto">
          <a:xfrm>
            <a:off x="6050280" y="4998101"/>
            <a:ext cx="73152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1254873" y="152400"/>
            <a:ext cx="6199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 </a:t>
            </a:r>
            <a:r>
              <a:rPr lang="en-US" sz="28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Pattern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applying 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n+1</a:t>
            </a:r>
            <a:r>
              <a:rPr lang="en-US" sz="28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36159"/>
            <a:ext cx="487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Four</a:t>
            </a:r>
            <a:r>
              <a:rPr lang="en-US" sz="2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possible electronic environments produced by the </a:t>
            </a:r>
            <a:r>
              <a:rPr lang="en-US" sz="2200" b="1" dirty="0" err="1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H</a:t>
            </a:r>
            <a:r>
              <a:rPr lang="en-US" sz="2200" b="1" baseline="-25000" dirty="0" err="1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b</a:t>
            </a:r>
            <a:r>
              <a:rPr lang="en-US" sz="2200" b="1" dirty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proton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54873" y="228600"/>
            <a:ext cx="6199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 </a:t>
            </a:r>
            <a:r>
              <a:rPr lang="en-US" sz="28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Pattern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applying </a:t>
            </a:r>
            <a:r>
              <a:rPr lang="en-US" sz="28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n+1</a:t>
            </a:r>
            <a:r>
              <a:rPr lang="en-US" sz="28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rule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47638" y="1219200"/>
            <a:ext cx="8848725" cy="5562600"/>
            <a:chOff x="147638" y="1219200"/>
            <a:chExt cx="8848725" cy="5562600"/>
          </a:xfrm>
        </p:grpSpPr>
        <p:grpSp>
          <p:nvGrpSpPr>
            <p:cNvPr id="9" name="Group 8"/>
            <p:cNvGrpSpPr/>
            <p:nvPr/>
          </p:nvGrpSpPr>
          <p:grpSpPr>
            <a:xfrm>
              <a:off x="147638" y="1228725"/>
              <a:ext cx="8848725" cy="5553075"/>
              <a:chOff x="147638" y="1228725"/>
              <a:chExt cx="8848725" cy="5553075"/>
            </a:xfrm>
          </p:grpSpPr>
          <p:pic>
            <p:nvPicPr>
              <p:cNvPr id="2" name="Picture 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47638" y="1228725"/>
                <a:ext cx="8848725" cy="5010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914400" y="6258580"/>
                <a:ext cx="20986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1  :  3  :  3 : 1</a:t>
                </a:r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7010400" y="6258580"/>
                <a:ext cx="15504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Times New Roman" pitchFamily="18" charset="0"/>
                    <a:cs typeface="Times New Roman" pitchFamily="18" charset="0"/>
                  </a:rPr>
                  <a:t>1  :  2  : 1</a:t>
                </a:r>
              </a:p>
            </p:txBody>
          </p:sp>
        </p:grpSp>
        <p:sp>
          <p:nvSpPr>
            <p:cNvPr id="10" name="Rectangle 9"/>
            <p:cNvSpPr/>
            <p:nvPr/>
          </p:nvSpPr>
          <p:spPr bwMode="auto">
            <a:xfrm>
              <a:off x="4267200" y="1295400"/>
              <a:ext cx="1600200" cy="12192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graphicFrame>
          <p:nvGraphicFramePr>
            <p:cNvPr id="2057" name="Object 9"/>
            <p:cNvGraphicFramePr>
              <a:graphicFrameLocks noChangeAspect="1"/>
            </p:cNvGraphicFramePr>
            <p:nvPr/>
          </p:nvGraphicFramePr>
          <p:xfrm>
            <a:off x="5181600" y="1219200"/>
            <a:ext cx="1463675" cy="1147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" name="CS ChemDraw Drawing" r:id="rId4" imgW="951840" imgH="748440" progId="ChemDraw.Document.6.0">
                    <p:embed/>
                  </p:oleObj>
                </mc:Choice>
                <mc:Fallback>
                  <p:oleObj name="CS ChemDraw Drawing" r:id="rId4" imgW="951840" imgH="748440" progId="ChemDraw.Document.6.0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600" y="1219200"/>
                          <a:ext cx="1463675" cy="1147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59" name="Picture 1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276600" y="1603042"/>
              <a:ext cx="1463040" cy="380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5" name="TextBox 14"/>
            <p:cNvSpPr txBox="1"/>
            <p:nvPr/>
          </p:nvSpPr>
          <p:spPr>
            <a:xfrm>
              <a:off x="4800600" y="1562249"/>
              <a:ext cx="364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≡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91703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3581400"/>
            <a:ext cx="8567147" cy="310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1" y="152400"/>
            <a:ext cx="8001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9" name="Group 8"/>
          <p:cNvGrpSpPr/>
          <p:nvPr/>
        </p:nvGrpSpPr>
        <p:grpSpPr>
          <a:xfrm>
            <a:off x="228600" y="3581400"/>
            <a:ext cx="8763000" cy="3124200"/>
            <a:chOff x="228600" y="3581400"/>
            <a:chExt cx="8763000" cy="3124200"/>
          </a:xfrm>
        </p:grpSpPr>
        <p:sp>
          <p:nvSpPr>
            <p:cNvPr id="6" name="Rectangle 5"/>
            <p:cNvSpPr/>
            <p:nvPr/>
          </p:nvSpPr>
          <p:spPr bwMode="auto">
            <a:xfrm>
              <a:off x="228600" y="3581400"/>
              <a:ext cx="8763000" cy="31242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graphicFrame>
          <p:nvGraphicFramePr>
            <p:cNvPr id="3075" name="Object 3"/>
            <p:cNvGraphicFramePr>
              <a:graphicFrameLocks noChangeAspect="1"/>
            </p:cNvGraphicFramePr>
            <p:nvPr/>
          </p:nvGraphicFramePr>
          <p:xfrm>
            <a:off x="304800" y="3733800"/>
            <a:ext cx="3877377" cy="1143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CS ChemDraw Drawing" r:id="rId6" imgW="1676400" imgH="493776" progId="ChemDraw.Document.6.0">
                    <p:embed/>
                  </p:oleObj>
                </mc:Choice>
                <mc:Fallback>
                  <p:oleObj name="CS ChemDraw Drawing" r:id="rId6" imgW="1676400" imgH="493776" progId="ChemDraw.Document.6.0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" y="3733800"/>
                          <a:ext cx="3877377" cy="1143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1"/>
          <p:cNvGrpSpPr/>
          <p:nvPr/>
        </p:nvGrpSpPr>
        <p:grpSpPr>
          <a:xfrm>
            <a:off x="304800" y="152400"/>
            <a:ext cx="8458200" cy="3200400"/>
            <a:chOff x="304800" y="152400"/>
            <a:chExt cx="8458200" cy="3200400"/>
          </a:xfrm>
        </p:grpSpPr>
        <p:sp>
          <p:nvSpPr>
            <p:cNvPr id="5" name="Rectangle 4"/>
            <p:cNvSpPr/>
            <p:nvPr/>
          </p:nvSpPr>
          <p:spPr bwMode="auto">
            <a:xfrm>
              <a:off x="304800" y="152400"/>
              <a:ext cx="8458200" cy="32004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81000" y="609600"/>
              <a:ext cx="161133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CH</a:t>
              </a:r>
              <a:r>
                <a:rPr lang="en-US" baseline="-25000" dirty="0">
                  <a:latin typeface="Arial" pitchFamily="34" charset="0"/>
                  <a:cs typeface="Arial" pitchFamily="34" charset="0"/>
                </a:rPr>
                <a:t>3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CH</a:t>
              </a:r>
              <a:r>
                <a:rPr lang="en-US" baseline="-25000" dirty="0"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Br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312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8065</TotalTime>
  <Words>281</Words>
  <Application>Microsoft Office PowerPoint</Application>
  <PresentationFormat>On-screen Show (4:3)</PresentationFormat>
  <Paragraphs>33</Paragraphs>
  <Slides>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Comic Sans MS</vt:lpstr>
      <vt:lpstr>Symbol</vt:lpstr>
      <vt:lpstr>Times</vt:lpstr>
      <vt:lpstr>Times New Roman</vt:lpstr>
      <vt:lpstr>Blank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USER</cp:lastModifiedBy>
  <cp:revision>1344</cp:revision>
  <dcterms:created xsi:type="dcterms:W3CDTF">2006-02-07T16:59:36Z</dcterms:created>
  <dcterms:modified xsi:type="dcterms:W3CDTF">2024-11-03T13:52:09Z</dcterms:modified>
</cp:coreProperties>
</file>