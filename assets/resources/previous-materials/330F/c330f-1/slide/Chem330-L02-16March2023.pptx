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sldIdLst>
    <p:sldId id="691" r:id="rId2"/>
    <p:sldId id="730" r:id="rId3"/>
    <p:sldId id="693" r:id="rId4"/>
    <p:sldId id="707" r:id="rId5"/>
    <p:sldId id="722" r:id="rId6"/>
    <p:sldId id="723" r:id="rId7"/>
    <p:sldId id="725" r:id="rId8"/>
    <p:sldId id="724" r:id="rId9"/>
    <p:sldId id="700" r:id="rId10"/>
    <p:sldId id="705" r:id="rId11"/>
    <p:sldId id="721" r:id="rId12"/>
    <p:sldId id="732" r:id="rId13"/>
    <p:sldId id="728" r:id="rId14"/>
    <p:sldId id="729" r:id="rId15"/>
    <p:sldId id="714" r:id="rId16"/>
    <p:sldId id="734" r:id="rId17"/>
    <p:sldId id="727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66"/>
    <a:srgbClr val="A20078"/>
    <a:srgbClr val="D60093"/>
    <a:srgbClr val="FFCDFF"/>
    <a:srgbClr val="A3E331"/>
    <a:srgbClr val="4FE719"/>
    <a:srgbClr val="00FF00"/>
    <a:srgbClr val="FBFBF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0929"/>
  </p:normalViewPr>
  <p:slideViewPr>
    <p:cSldViewPr>
      <p:cViewPr varScale="1">
        <p:scale>
          <a:sx n="78" d="100"/>
          <a:sy n="78" d="100"/>
        </p:scale>
        <p:origin x="112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02-Nov-24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rgbClr val="FBFBF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Image:Twisting.gif" TargetMode="External"/><Relationship Id="rId13" Type="http://schemas.openxmlformats.org/officeDocument/2006/relationships/image" Target="http://upload.wikimedia.org/wikipedia/commons/8/84/Wagging.gif" TargetMode="External"/><Relationship Id="rId18" Type="http://schemas.openxmlformats.org/officeDocument/2006/relationships/image" Target="../media/image20.gif"/><Relationship Id="rId3" Type="http://schemas.openxmlformats.org/officeDocument/2006/relationships/image" Target="../media/image15.gif"/><Relationship Id="rId7" Type="http://schemas.openxmlformats.org/officeDocument/2006/relationships/image" Target="http://upload.wikimedia.org/wikipedia/commons/6/60/Scissoring.gif" TargetMode="External"/><Relationship Id="rId12" Type="http://schemas.openxmlformats.org/officeDocument/2006/relationships/image" Target="../media/image18.gif"/><Relationship Id="rId17" Type="http://schemas.openxmlformats.org/officeDocument/2006/relationships/hyperlink" Target="http://en.wikipedia.org/wiki/Image:Asymmetrical_stretching.gif" TargetMode="External"/><Relationship Id="rId2" Type="http://schemas.openxmlformats.org/officeDocument/2006/relationships/hyperlink" Target="http://en.wikipedia.org/wiki/Image:Symmetrical_stretching.gif" TargetMode="External"/><Relationship Id="rId16" Type="http://schemas.openxmlformats.org/officeDocument/2006/relationships/image" Target="http://upload.wikimedia.org/wikipedia/commons/6/6a/Rocking.gi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gif"/><Relationship Id="rId11" Type="http://schemas.openxmlformats.org/officeDocument/2006/relationships/hyperlink" Target="http://en.wikipedia.org/wiki/Image:Wagging.gif" TargetMode="External"/><Relationship Id="rId5" Type="http://schemas.openxmlformats.org/officeDocument/2006/relationships/hyperlink" Target="http://en.wikipedia.org/wiki/Image:Scissoring.gif" TargetMode="External"/><Relationship Id="rId15" Type="http://schemas.openxmlformats.org/officeDocument/2006/relationships/image" Target="../media/image19.gif"/><Relationship Id="rId10" Type="http://schemas.openxmlformats.org/officeDocument/2006/relationships/image" Target="http://upload.wikimedia.org/wikipedia/commons/4/40/Twisting.gif" TargetMode="External"/><Relationship Id="rId19" Type="http://schemas.openxmlformats.org/officeDocument/2006/relationships/image" Target="http://upload.wikimedia.org/wikipedia/commons/0/0c/Asymmetrical_stretching.gif" TargetMode="External"/><Relationship Id="rId4" Type="http://schemas.openxmlformats.org/officeDocument/2006/relationships/image" Target="http://upload.wikimedia.org/wikipedia/commons/0/0e/Symmetrical_stretching.gif" TargetMode="External"/><Relationship Id="rId9" Type="http://schemas.openxmlformats.org/officeDocument/2006/relationships/image" Target="../media/image17.gif"/><Relationship Id="rId14" Type="http://schemas.openxmlformats.org/officeDocument/2006/relationships/hyperlink" Target="http://en.wikipedia.org/wiki/Image:Rocking.gi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6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71577" y="3657600"/>
            <a:ext cx="37914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4400" b="1" dirty="0">
                <a:solidFill>
                  <a:srgbClr val="FF6600"/>
                </a:solidFill>
                <a:latin typeface="Comic Sans MS" panose="030F0702030302020204" pitchFamily="66" charset="0"/>
              </a:rPr>
              <a:t>p</a:t>
            </a:r>
            <a:r>
              <a:rPr lang="en-US" sz="4400" b="1" dirty="0">
                <a:solidFill>
                  <a:srgbClr val="FFC000"/>
                </a:solidFill>
                <a:latin typeface="Comic Sans MS" panose="030F0702030302020204" pitchFamily="66" charset="0"/>
              </a:rPr>
              <a:t>e</a:t>
            </a:r>
            <a:r>
              <a:rPr lang="en-US" sz="4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4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t</a:t>
            </a:r>
            <a:r>
              <a:rPr lang="en-US" sz="4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r</a:t>
            </a:r>
            <a:r>
              <a:rPr lang="en-US" sz="4400" b="1" dirty="0">
                <a:solidFill>
                  <a:srgbClr val="CC0099"/>
                </a:solidFill>
                <a:latin typeface="Comic Sans MS" panose="030F0702030302020204" pitchFamily="66" charset="0"/>
              </a:rPr>
              <a:t>o</a:t>
            </a:r>
            <a:r>
              <a:rPr lang="en-US" sz="4400" b="1" dirty="0">
                <a:solidFill>
                  <a:srgbClr val="FF5050"/>
                </a:solidFill>
                <a:latin typeface="Comic Sans MS" panose="030F0702030302020204" pitchFamily="66" charset="0"/>
              </a:rPr>
              <a:t>s</a:t>
            </a: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6934201" y="204984"/>
            <a:ext cx="2209799" cy="4770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5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5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204984"/>
            <a:ext cx="31535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5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5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11816"/>
            <a:ext cx="4114800" cy="239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973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83763" y="381000"/>
            <a:ext cx="44374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Infrared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Spectroscopy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1219200"/>
            <a:ext cx="859536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infrared (IR)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region of the electromagnetic spectrum covers the range from just above the visible (7.8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‒5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cm) to ⁓10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‒2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cm, but only the mid portion from 2.5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‒4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cm to 2.5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‒3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cm is used by organic chemists. </a:t>
            </a:r>
          </a:p>
          <a:p>
            <a:pPr marL="342900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So, the </a:t>
            </a:r>
            <a:r>
              <a:rPr lang="en-US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useful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IR region is 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from 4000 to 400 cm</a:t>
            </a:r>
            <a:r>
              <a:rPr lang="en-US" b="1" baseline="300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‒1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" y="3887444"/>
            <a:ext cx="8869680" cy="2818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438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152400" y="4038600"/>
            <a:ext cx="8778240" cy="2667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1286232"/>
            <a:ext cx="85344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2400"/>
              </a:spcAft>
              <a:buClr>
                <a:srgbClr val="FF0066"/>
              </a:buClr>
              <a:buSzPct val="120000"/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When infrared light radiations between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4000 – 400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</a:rPr>
              <a:t>-1 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are passed through a sample of an organic compound, some of these radiations are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absorbed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by the sample and are </a:t>
            </a:r>
            <a:r>
              <a:rPr lang="en-US" sz="23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converted into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energy of molecular vibrations. </a:t>
            </a:r>
          </a:p>
          <a:p>
            <a:pPr marL="274320" indent="-274320" algn="just">
              <a:spcAft>
                <a:spcPts val="2400"/>
              </a:spcAft>
              <a:buClr>
                <a:srgbClr val="FF0066"/>
              </a:buClr>
              <a:buSzPct val="120000"/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When the radiant energy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matches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energy of a specific molecular vibration,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absorption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occurs.</a:t>
            </a:r>
          </a:p>
        </p:txBody>
      </p:sp>
      <p:pic>
        <p:nvPicPr>
          <p:cNvPr id="17410" name="Picture 2" descr="Best Infrared Spectroscopy GIFs | Gfycat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973290"/>
            <a:ext cx="4572000" cy="257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383763" y="381000"/>
            <a:ext cx="44374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Infrared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Spectroscopy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203109"/>
            <a:ext cx="601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IR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Absorbance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Spectrum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6700" y="914400"/>
            <a:ext cx="85725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IR spectrometer measures the percent transmittance as a function of frequency. </a:t>
            </a:r>
          </a:p>
          <a:p>
            <a:pPr marL="342900" indent="-342900" algn="just">
              <a:spcAft>
                <a:spcPts val="600"/>
              </a:spcAft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 plot of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% transmittance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against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wavenumber (cm</a:t>
            </a:r>
            <a:r>
              <a:rPr lang="en-US" sz="2200" baseline="300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‒1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called the infrared spectrum of the compound.</a:t>
            </a:r>
          </a:p>
          <a:p>
            <a:pPr marL="342900" indent="-342900" algn="just"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presence of such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characteristic vibrational bands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an infrared spectrum indicates the presence of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specific bonds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sample under investigation 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744763"/>
            <a:ext cx="8686800" cy="288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308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www.dynamicscience.com.au/tester/solutions1/chemistry/analytical%20chem/irstretchethanol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60" y="2438400"/>
            <a:ext cx="4663440" cy="42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0560"/>
              </p:ext>
            </p:extLst>
          </p:nvPr>
        </p:nvGraphicFramePr>
        <p:xfrm>
          <a:off x="7040880" y="2574574"/>
          <a:ext cx="1645920" cy="138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CS ChemDraw Drawing" r:id="rId4" imgW="736560" imgH="621000" progId="ChemDraw.Document.6.0">
                  <p:embed/>
                </p:oleObj>
              </mc:Choice>
              <mc:Fallback>
                <p:oleObj name="CS ChemDraw Drawing" r:id="rId4" imgW="736560" imgH="621000" progId="ChemDraw.Document.6.0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880" y="2574574"/>
                        <a:ext cx="1645920" cy="13869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6226" y="1135559"/>
            <a:ext cx="8229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Lets have a look at the molecular structure of ethanol and how it generates an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spectrum.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203109"/>
            <a:ext cx="601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IR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Absorbance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Spectrum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6226" y="2133600"/>
            <a:ext cx="35337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Ethanol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a number of different types of covalent bonds, namely: 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733426" y="3352800"/>
            <a:ext cx="13096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—H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C—H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C—C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C—</a:t>
            </a:r>
            <a:r>
              <a:rPr lang="en-US" sz="2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226" y="4953000"/>
            <a:ext cx="35337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Each bond has its characteristic wavelength which it absorbs in order to </a:t>
            </a:r>
            <a:r>
              <a:rPr lang="en-US" sz="22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200" b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164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90600" y="203109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990600"/>
            <a:ext cx="775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bond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vibrates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 both 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769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66"/>
              </a:buClr>
              <a:buSzPct val="80000"/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i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vibration occurring along the line of the bond; a stretching vibration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changes the bond length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8400"/>
            <a:ext cx="769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A20078"/>
              </a:buClr>
              <a:buSzPct val="80000"/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i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vibration that does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occur along the line of the bond; a bending vibration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changes the bond angle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3471032"/>
            <a:ext cx="2103120" cy="1405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04800" y="3447871"/>
            <a:ext cx="5715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diatomic molecule such as H—Cl can undergo only a </a:t>
            </a:r>
            <a:r>
              <a:rPr lang="en-US" sz="22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vibration</a:t>
            </a:r>
            <a:r>
              <a:rPr lang="en-US" sz="22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it has no bond angles. </a:t>
            </a:r>
          </a:p>
        </p:txBody>
      </p:sp>
      <p:pic>
        <p:nvPicPr>
          <p:cNvPr id="20484" name="Picture 4" descr="https://specac.com/wp-content/uploads/2022/05/Animation-Fig-5a1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648200" y="52578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https://specac.com/wp-content/uploads/2022/05/Animation-Fig-5b.gif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73140" y="52578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 descr="https://specac.com/wp-content/uploads/2022/05/Animation-Fig-5c.gif"/>
          <p:cNvPicPr>
            <a:picLocks noChangeAspect="1" noChangeArrowheads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498080" y="52578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04800" y="5227319"/>
            <a:ext cx="39395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(triatomic molecule) can undergo both </a:t>
            </a:r>
            <a:r>
              <a:rPr lang="en-US" sz="22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2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vibrations.</a:t>
            </a:r>
          </a:p>
        </p:txBody>
      </p:sp>
    </p:spTree>
    <p:extLst>
      <p:ext uri="{BB962C8B-B14F-4D97-AF65-F5344CB8AC3E}">
        <p14:creationId xmlns:p14="http://schemas.microsoft.com/office/powerpoint/2010/main" val="129667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143000"/>
            <a:ext cx="8458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So, the vibrations of a molecule containing </a:t>
            </a:r>
            <a:r>
              <a:rPr lang="en-US" sz="23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three or more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atoms are more complex because they include </a:t>
            </a:r>
            <a:r>
              <a:rPr lang="en-US" sz="23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300" b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03109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81"/>
          <a:stretch/>
        </p:blipFill>
        <p:spPr bwMode="auto">
          <a:xfrm>
            <a:off x="381000" y="4052888"/>
            <a:ext cx="4114800" cy="2119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486358"/>
            <a:ext cx="1097280" cy="1121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960" y="4486357"/>
            <a:ext cx="1097280" cy="1105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36"/>
          <p:cNvSpPr txBox="1">
            <a:spLocks noChangeArrowheads="1"/>
          </p:cNvSpPr>
          <p:nvPr/>
        </p:nvSpPr>
        <p:spPr bwMode="auto">
          <a:xfrm>
            <a:off x="4876800" y="3429000"/>
            <a:ext cx="1981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Symmetric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Stretch.</a:t>
            </a:r>
          </a:p>
        </p:txBody>
      </p:sp>
      <p:sp>
        <p:nvSpPr>
          <p:cNvPr id="11" name="Text Box 36"/>
          <p:cNvSpPr txBox="1">
            <a:spLocks noChangeArrowheads="1"/>
          </p:cNvSpPr>
          <p:nvPr/>
        </p:nvSpPr>
        <p:spPr bwMode="auto">
          <a:xfrm>
            <a:off x="7086600" y="3429000"/>
            <a:ext cx="1752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Asymmetric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57800" y="5772090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⁓2872 cm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2800" y="5772090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⁓2962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‒1</a:t>
            </a:r>
          </a:p>
        </p:txBody>
      </p:sp>
      <p:sp>
        <p:nvSpPr>
          <p:cNvPr id="14" name="Text Box 41"/>
          <p:cNvSpPr txBox="1">
            <a:spLocks noChangeArrowheads="1"/>
          </p:cNvSpPr>
          <p:nvPr/>
        </p:nvSpPr>
        <p:spPr bwMode="auto">
          <a:xfrm>
            <a:off x="838200" y="3424535"/>
            <a:ext cx="33147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dirty="0">
                <a:ln w="1905"/>
                <a:solidFill>
                  <a:srgbClr val="FF0066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Vibrations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2095381"/>
            <a:ext cx="8458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vibrations, moreover, can be symmetric or asymmetric.</a:t>
            </a:r>
          </a:p>
        </p:txBody>
      </p:sp>
    </p:spTree>
    <p:extLst>
      <p:ext uri="{BB962C8B-B14F-4D97-AF65-F5344CB8AC3E}">
        <p14:creationId xmlns:p14="http://schemas.microsoft.com/office/powerpoint/2010/main" val="54700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999" y="1176516"/>
            <a:ext cx="8458201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b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vibrations can be either </a:t>
            </a:r>
            <a:r>
              <a:rPr lang="en-US" sz="23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in-plane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out-of-plane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ts val="3000"/>
              </a:lnSpc>
              <a:buFont typeface="Arial" pitchFamily="34" charset="0"/>
              <a:buChar char="•"/>
            </a:pPr>
            <a:r>
              <a:rPr lang="en-US" sz="2300" b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vibrations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are often referred to by the terms </a:t>
            </a:r>
            <a:r>
              <a:rPr lang="en-US" sz="2300" b="1" i="1" dirty="0">
                <a:latin typeface="Times New Roman" pitchFamily="18" charset="0"/>
                <a:cs typeface="Times New Roman" pitchFamily="18" charset="0"/>
              </a:rPr>
              <a:t>rock, scissor, wag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b="1" i="1" dirty="0">
                <a:latin typeface="Times New Roman" pitchFamily="18" charset="0"/>
                <a:cs typeface="Times New Roman" pitchFamily="18" charset="0"/>
              </a:rPr>
              <a:t>twist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9"/>
          <a:stretch/>
        </p:blipFill>
        <p:spPr bwMode="auto">
          <a:xfrm>
            <a:off x="121920" y="4024663"/>
            <a:ext cx="8869680" cy="245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 Box 41"/>
          <p:cNvSpPr txBox="1">
            <a:spLocks noChangeArrowheads="1"/>
          </p:cNvSpPr>
          <p:nvPr/>
        </p:nvSpPr>
        <p:spPr bwMode="auto">
          <a:xfrm>
            <a:off x="2933700" y="3119437"/>
            <a:ext cx="29718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600" b="1" dirty="0">
                <a:ln w="1905"/>
                <a:solidFill>
                  <a:srgbClr val="A20078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Vibrations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03109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ln w="1905"/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</a:p>
        </p:txBody>
      </p:sp>
    </p:spTree>
    <p:extLst>
      <p:ext uri="{BB962C8B-B14F-4D97-AF65-F5344CB8AC3E}">
        <p14:creationId xmlns:p14="http://schemas.microsoft.com/office/powerpoint/2010/main" val="12933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2425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2" name="Picture 11" descr="symmetrical stretching">
            <a:hlinkClick r:id="rId2" tooltip="&quot;symmetrical stretching&quot;"/>
          </p:cNvPr>
          <p:cNvPicPr>
            <a:picLocks noChangeAspect="1" noChangeArrowheads="1"/>
          </p:cNvPicPr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975360" y="2083713"/>
            <a:ext cx="2377440" cy="169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cissoring">
            <a:hlinkClick r:id="rId5" tooltip="scissoring"/>
          </p:cNvPr>
          <p:cNvPicPr>
            <a:picLocks noChangeAspect="1" noChangeArrowheads="1"/>
          </p:cNvPicPr>
          <p:nvPr/>
        </p:nvPicPr>
        <p:blipFill>
          <a:blip r:embed="rId6" r:link="rId7"/>
          <a:srcRect/>
          <a:stretch>
            <a:fillRect/>
          </a:stretch>
        </p:blipFill>
        <p:spPr bwMode="auto">
          <a:xfrm>
            <a:off x="4419600" y="2083713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twisting">
            <a:hlinkClick r:id="rId8" tooltip="twisting"/>
          </p:cNvPr>
          <p:cNvPicPr>
            <a:picLocks noChangeAspect="1" noChangeArrowheads="1"/>
          </p:cNvPicPr>
          <p:nvPr/>
        </p:nvPicPr>
        <p:blipFill>
          <a:blip r:embed="rId9" r:link="rId10"/>
          <a:srcRect/>
          <a:stretch>
            <a:fillRect/>
          </a:stretch>
        </p:blipFill>
        <p:spPr bwMode="auto">
          <a:xfrm>
            <a:off x="4495800" y="4729163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wagging">
            <a:hlinkClick r:id="rId11" tooltip="wagging"/>
          </p:cNvPr>
          <p:cNvPicPr>
            <a:picLocks noChangeAspect="1" noChangeArrowheads="1"/>
          </p:cNvPicPr>
          <p:nvPr/>
        </p:nvPicPr>
        <p:blipFill>
          <a:blip r:embed="rId12" r:link="rId13"/>
          <a:srcRect/>
          <a:stretch>
            <a:fillRect/>
          </a:stretch>
        </p:blipFill>
        <p:spPr bwMode="auto">
          <a:xfrm>
            <a:off x="6781800" y="4733925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rocking">
            <a:hlinkClick r:id="rId14" tooltip="rocking"/>
          </p:cNvPr>
          <p:cNvPicPr>
            <a:picLocks noChangeAspect="1" noChangeArrowheads="1"/>
          </p:cNvPicPr>
          <p:nvPr/>
        </p:nvPicPr>
        <p:blipFill>
          <a:blip r:embed="rId15" r:link="rId16"/>
          <a:srcRect/>
          <a:stretch>
            <a:fillRect/>
          </a:stretch>
        </p:blipFill>
        <p:spPr bwMode="auto">
          <a:xfrm>
            <a:off x="6781800" y="2159913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Text Box 36"/>
          <p:cNvSpPr txBox="1">
            <a:spLocks noChangeArrowheads="1"/>
          </p:cNvSpPr>
          <p:nvPr/>
        </p:nvSpPr>
        <p:spPr bwMode="auto">
          <a:xfrm>
            <a:off x="762000" y="1805226"/>
            <a:ext cx="32004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(a) Symmetric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09600" y="4267200"/>
            <a:ext cx="3429000" cy="1996848"/>
            <a:chOff x="609600" y="4267200"/>
            <a:chExt cx="3429000" cy="1996848"/>
          </a:xfrm>
        </p:grpSpPr>
        <p:pic>
          <p:nvPicPr>
            <p:cNvPr id="13" name="Picture 12" descr="asymmetrical stretching">
              <a:hlinkClick r:id="rId17" tooltip="&quot;asymmetrical stretching&quot;"/>
            </p:cNvPr>
            <p:cNvPicPr>
              <a:picLocks noChangeAspect="1" noChangeArrowheads="1"/>
            </p:cNvPicPr>
            <p:nvPr/>
          </p:nvPicPr>
          <p:blipFill>
            <a:blip r:embed="rId18" r:link="rId19"/>
            <a:srcRect/>
            <a:stretch>
              <a:fillRect/>
            </a:stretch>
          </p:blipFill>
          <p:spPr bwMode="auto">
            <a:xfrm>
              <a:off x="938213" y="4648200"/>
              <a:ext cx="2262187" cy="16158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 Box 37"/>
            <p:cNvSpPr txBox="1">
              <a:spLocks noChangeArrowheads="1"/>
            </p:cNvSpPr>
            <p:nvPr/>
          </p:nvSpPr>
          <p:spPr bwMode="auto">
            <a:xfrm>
              <a:off x="609600" y="4267200"/>
              <a:ext cx="342900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(b) Asymmetric </a:t>
              </a:r>
              <a:r>
                <a:rPr lang="en-US" sz="2200" dirty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stretching</a:t>
              </a:r>
            </a:p>
          </p:txBody>
        </p:sp>
      </p:grpSp>
      <p:sp>
        <p:nvSpPr>
          <p:cNvPr id="25" name="Text Box 38"/>
          <p:cNvSpPr txBox="1">
            <a:spLocks noChangeArrowheads="1"/>
          </p:cNvSpPr>
          <p:nvPr/>
        </p:nvSpPr>
        <p:spPr bwMode="auto">
          <a:xfrm>
            <a:off x="609600" y="1088350"/>
            <a:ext cx="3352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Vibrations</a:t>
            </a:r>
          </a:p>
        </p:txBody>
      </p:sp>
      <p:sp>
        <p:nvSpPr>
          <p:cNvPr id="27" name="Text Box 41"/>
          <p:cNvSpPr txBox="1">
            <a:spLocks noChangeArrowheads="1"/>
          </p:cNvSpPr>
          <p:nvPr/>
        </p:nvSpPr>
        <p:spPr bwMode="auto">
          <a:xfrm>
            <a:off x="5257800" y="108835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Vibrations</a:t>
            </a:r>
          </a:p>
        </p:txBody>
      </p:sp>
      <p:sp>
        <p:nvSpPr>
          <p:cNvPr id="28" name="Text Box 42"/>
          <p:cNvSpPr txBox="1">
            <a:spLocks noChangeArrowheads="1"/>
          </p:cNvSpPr>
          <p:nvPr/>
        </p:nvSpPr>
        <p:spPr bwMode="auto">
          <a:xfrm>
            <a:off x="5353050" y="1805226"/>
            <a:ext cx="26670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(a) In-plane </a:t>
            </a:r>
            <a:r>
              <a:rPr lang="en-US" sz="2200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</a:p>
        </p:txBody>
      </p:sp>
      <p:sp>
        <p:nvSpPr>
          <p:cNvPr id="29" name="Text Box 43"/>
          <p:cNvSpPr txBox="1">
            <a:spLocks noChangeArrowheads="1"/>
          </p:cNvSpPr>
          <p:nvPr/>
        </p:nvSpPr>
        <p:spPr bwMode="auto">
          <a:xfrm>
            <a:off x="4667250" y="3683913"/>
            <a:ext cx="17526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Scissoring 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7029450" y="3683913"/>
            <a:ext cx="14478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Rocking </a:t>
            </a:r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4953000" y="6248400"/>
            <a:ext cx="13144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Twisting</a:t>
            </a:r>
          </a:p>
        </p:txBody>
      </p:sp>
      <p:sp>
        <p:nvSpPr>
          <p:cNvPr id="32" name="Text Box 46"/>
          <p:cNvSpPr txBox="1">
            <a:spLocks noChangeArrowheads="1"/>
          </p:cNvSpPr>
          <p:nvPr/>
        </p:nvSpPr>
        <p:spPr bwMode="auto">
          <a:xfrm>
            <a:off x="7162800" y="6248400"/>
            <a:ext cx="13716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Wagging </a:t>
            </a:r>
          </a:p>
        </p:txBody>
      </p:sp>
      <p:sp>
        <p:nvSpPr>
          <p:cNvPr id="33" name="Text Box 47"/>
          <p:cNvSpPr txBox="1">
            <a:spLocks noChangeArrowheads="1"/>
          </p:cNvSpPr>
          <p:nvPr/>
        </p:nvSpPr>
        <p:spPr bwMode="auto">
          <a:xfrm>
            <a:off x="5276850" y="4267200"/>
            <a:ext cx="32004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(b) Out-of-plane </a:t>
            </a:r>
            <a:r>
              <a:rPr lang="en-US" sz="2200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" y="203109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ln w="1905"/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</a:p>
        </p:txBody>
      </p:sp>
      <p:cxnSp>
        <p:nvCxnSpPr>
          <p:cNvPr id="26" name="Straight Connector 25"/>
          <p:cNvCxnSpPr/>
          <p:nvPr/>
        </p:nvCxnSpPr>
        <p:spPr bwMode="auto">
          <a:xfrm>
            <a:off x="624840" y="1626513"/>
            <a:ext cx="310896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4941570" y="1626513"/>
            <a:ext cx="356616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927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0600"/>
            <a:ext cx="868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SzPct val="81000"/>
              <a:buFont typeface="Wingdings" pitchFamily="2" charset="2"/>
              <a:buChar char="Ø"/>
            </a:pPr>
            <a:r>
              <a:rPr lang="en-US" sz="22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Molecular vibrations which will lead to </a:t>
            </a:r>
            <a:r>
              <a:rPr 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a change in the dipole moment </a:t>
            </a:r>
            <a:r>
              <a:rPr lang="en-US" sz="22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of the molecule will give rise to absorption bands in the infrared.</a:t>
            </a:r>
          </a:p>
          <a:p>
            <a:pPr marL="274320" indent="-274320" algn="just">
              <a:buClr>
                <a:srgbClr val="FF0000"/>
              </a:buClr>
              <a:buSzPct val="81000"/>
              <a:buFont typeface="Wingdings" pitchFamily="2" charset="2"/>
              <a:buChar char="Ø"/>
            </a:pPr>
            <a:r>
              <a:rPr lang="en-US" dirty="0">
                <a:solidFill>
                  <a:srgbClr val="FF0066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Symmetric bonds</a:t>
            </a:r>
            <a:r>
              <a:rPr lang="en-US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such as those of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2200" baseline="-250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do not absorb infrared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radiation.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8821" y="3352800"/>
            <a:ext cx="5760720" cy="3361972"/>
          </a:xfrm>
          <a:prstGeom prst="rect">
            <a:avLst/>
          </a:prstGeom>
          <a:noFill/>
          <a:ln w="9525">
            <a:solidFill>
              <a:srgbClr val="FF99CC"/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7000" y="256871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Asymmetric Stretch.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56871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Symmetric Stretch.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644914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03109"/>
            <a:ext cx="73914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Not All Bond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Vibrations are IR Active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471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1F4FD"/>
              </a:clrFrom>
              <a:clrTo>
                <a:srgbClr val="E1F4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28800"/>
            <a:ext cx="8869680" cy="42146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219200" y="228600"/>
            <a:ext cx="6705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latin typeface="Comic Sans MS" pitchFamily="66" charset="0"/>
              </a:rPr>
              <a:t>Characteristic Infrared Absorptions </a:t>
            </a:r>
            <a:r>
              <a:rPr lang="en-US" sz="2900" b="1" dirty="0">
                <a:latin typeface="Comic Sans MS" pitchFamily="66" charset="0"/>
              </a:rPr>
              <a:t>of Some Functional Groups</a:t>
            </a:r>
            <a:r>
              <a:rPr lang="en-US" sz="2900" dirty="0">
                <a:latin typeface="Comic Sans MS" pitchFamily="66" charset="0"/>
              </a:rPr>
              <a:t> 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5776769"/>
            <a:ext cx="5619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0920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9200" y="228600"/>
            <a:ext cx="6705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latin typeface="Comic Sans MS" pitchFamily="66" charset="0"/>
              </a:rPr>
              <a:t>Characteristic Infrared Absorptions </a:t>
            </a:r>
            <a:r>
              <a:rPr lang="en-US" sz="2900" b="1" dirty="0">
                <a:latin typeface="Comic Sans MS" pitchFamily="66" charset="0"/>
              </a:rPr>
              <a:t>of Some Functional Groups</a:t>
            </a:r>
            <a:r>
              <a:rPr lang="en-US" sz="2900" dirty="0">
                <a:latin typeface="Comic Sans MS" pitchFamily="66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160020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stretching frequencies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groups such as C-H, N-H, and O-H all occur at relatively high frequencies: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2438400"/>
            <a:ext cx="6162675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" y="4267200"/>
            <a:ext cx="79592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triple bonds vibrate at higher frequencies than double bonds: 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4837367"/>
            <a:ext cx="60388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34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28600" y="991850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stretching frequency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a bond can be approximated by Hooke’s Law. In this approximation, two atoms and the connecting bond are treated as a simple harmonic oscillator composed of 2 masses (atoms) joined by a spring: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612869"/>
            <a:ext cx="2295041" cy="73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28600" y="3687395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According to Hooke’s law, the natural frequency of vibration of a bond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given by the equation: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0120" y="228600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Hooke’s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Law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800600"/>
            <a:ext cx="2468880" cy="1587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4038600" y="4724400"/>
            <a:ext cx="4831772" cy="1723549"/>
            <a:chOff x="4495800" y="4754195"/>
            <a:chExt cx="4831772" cy="1723549"/>
          </a:xfrm>
        </p:grpSpPr>
        <p:sp>
          <p:nvSpPr>
            <p:cNvPr id="14" name="TextBox 13"/>
            <p:cNvSpPr txBox="1"/>
            <p:nvPr/>
          </p:nvSpPr>
          <p:spPr>
            <a:xfrm>
              <a:off x="4495800" y="4754195"/>
              <a:ext cx="4831772" cy="1723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where</a:t>
              </a: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r>
                <a:rPr lang="en-US" b="1" i="1" dirty="0">
                  <a:latin typeface="Times New Roman" pitchFamily="18" charset="0"/>
                  <a:cs typeface="Times New Roman" pitchFamily="18" charset="0"/>
                </a:rPr>
                <a:t>K  =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the force constant</a:t>
              </a:r>
            </a:p>
            <a:p>
              <a:pPr>
                <a:spcAft>
                  <a:spcPts val="600"/>
                </a:spcAft>
              </a:pPr>
              <a:r>
                <a:rPr lang="el-GR" b="1" i="1" dirty="0">
                  <a:latin typeface="Times New Roman" pitchFamily="18" charset="0"/>
                  <a:cs typeface="Times New Roman" pitchFamily="18" charset="0"/>
                </a:rPr>
                <a:t>μ</a:t>
              </a:r>
              <a:r>
                <a:rPr lang="en-US" b="1" i="1" dirty="0">
                  <a:latin typeface="Times New Roman" pitchFamily="18" charset="0"/>
                  <a:cs typeface="Times New Roman" pitchFamily="18" charset="0"/>
                </a:rPr>
                <a:t>   =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the reduced mass</a:t>
              </a:r>
            </a:p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   =  the wavenumber of the vibration</a:t>
              </a:r>
            </a:p>
          </p:txBody>
        </p:sp>
        <p:pic>
          <p:nvPicPr>
            <p:cNvPr id="1945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6029324"/>
              <a:ext cx="274320" cy="32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Rounded Rectangle 1"/>
          <p:cNvSpPr/>
          <p:nvPr/>
        </p:nvSpPr>
        <p:spPr bwMode="auto">
          <a:xfrm>
            <a:off x="533400" y="4800600"/>
            <a:ext cx="2895600" cy="1587139"/>
          </a:xfrm>
          <a:prstGeom prst="roundRect">
            <a:avLst/>
          </a:prstGeom>
          <a:noFill/>
          <a:ln w="9525" cap="flat" cmpd="sng" algn="ctr">
            <a:solidFill>
              <a:srgbClr val="FFCDFF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47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83159"/>
            <a:ext cx="876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Hooke’s Law expression given earlier may be transformed into a very useful equation as follows:</a:t>
            </a:r>
          </a:p>
        </p:txBody>
      </p:sp>
      <p:grpSp>
        <p:nvGrpSpPr>
          <p:cNvPr id="2" name="Group 13"/>
          <p:cNvGrpSpPr/>
          <p:nvPr/>
        </p:nvGrpSpPr>
        <p:grpSpPr>
          <a:xfrm>
            <a:off x="3733800" y="2209800"/>
            <a:ext cx="5038241" cy="762000"/>
            <a:chOff x="3962400" y="1981200"/>
            <a:chExt cx="5038241" cy="762000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62400" y="1981200"/>
              <a:ext cx="2493816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705600" y="1981200"/>
              <a:ext cx="2295041" cy="739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TextBox 7"/>
          <p:cNvSpPr txBox="1"/>
          <p:nvPr/>
        </p:nvSpPr>
        <p:spPr>
          <a:xfrm>
            <a:off x="838200" y="3505200"/>
            <a:ext cx="97635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120" y="228600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Hooke’s </a:t>
            </a: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Law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45" y="2019300"/>
            <a:ext cx="19716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Group 19"/>
          <p:cNvGrpSpPr/>
          <p:nvPr/>
        </p:nvGrpSpPr>
        <p:grpSpPr>
          <a:xfrm>
            <a:off x="932058" y="4171702"/>
            <a:ext cx="5675664" cy="461665"/>
            <a:chOff x="4283491" y="4754195"/>
            <a:chExt cx="5675664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4495800" y="4754195"/>
              <a:ext cx="54633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=  the wavenumber of the vibration (</a:t>
              </a:r>
              <a:r>
                <a:rPr lang="en-US" dirty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cm</a:t>
              </a:r>
              <a:r>
                <a:rPr lang="en-US" baseline="30000" dirty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‒1</a:t>
              </a:r>
              <a:r>
                <a:rPr lang="en-US" dirty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491" y="4795916"/>
              <a:ext cx="274320" cy="32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5" name="TextBox 24"/>
          <p:cNvSpPr txBox="1"/>
          <p:nvPr/>
        </p:nvSpPr>
        <p:spPr>
          <a:xfrm>
            <a:off x="914400" y="4742527"/>
            <a:ext cx="5112297" cy="9079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force constant (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dynes/cm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  = the velocity of light = 3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 10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Symbol"/>
              </a:rPr>
              <a:t>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cm/s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51054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9890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194" y="299591"/>
            <a:ext cx="815960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9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 Functional Group </a:t>
            </a:r>
            <a:r>
              <a:rPr lang="en-US" sz="29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&amp; </a:t>
            </a:r>
            <a:r>
              <a:rPr lang="en-US" sz="2900" b="1" dirty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Fingerprint</a:t>
            </a:r>
            <a:r>
              <a:rPr lang="en-US" sz="29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Regions </a:t>
            </a:r>
          </a:p>
        </p:txBody>
      </p:sp>
      <p:sp>
        <p:nvSpPr>
          <p:cNvPr id="3" name="Rectangle 2"/>
          <p:cNvSpPr/>
          <p:nvPr/>
        </p:nvSpPr>
        <p:spPr>
          <a:xfrm>
            <a:off x="231240" y="1066800"/>
            <a:ext cx="860796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infrared spectrum can be divided into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areas:</a:t>
            </a: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area on the left (4000‒1400 </a:t>
            </a:r>
            <a:r>
              <a:rPr lang="en-US" dirty="0"/>
              <a:t>cm</a:t>
            </a:r>
            <a:r>
              <a:rPr lang="en-US" baseline="30000" dirty="0"/>
              <a:t>‒1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where most of the functional groups show absorption bands. This is called the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functional group region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b="1" dirty="0">
              <a:highlight>
                <a:srgbClr val="FFFF00"/>
              </a:highlight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The area on the right (1400‒600 </a:t>
            </a:r>
            <a:r>
              <a:rPr lang="en-US" dirty="0">
                <a:highlight>
                  <a:srgbClr val="FFFF00"/>
                </a:highlight>
              </a:rPr>
              <a:t>cm</a:t>
            </a:r>
            <a:r>
              <a:rPr lang="en-US" baseline="30000" dirty="0">
                <a:highlight>
                  <a:srgbClr val="FFFF00"/>
                </a:highlight>
              </a:rPr>
              <a:t>‒1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called the 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fingerprint region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389376"/>
            <a:ext cx="6400800" cy="3392424"/>
          </a:xfrm>
          <a:prstGeom prst="rect">
            <a:avLst/>
          </a:prstGeom>
          <a:noFill/>
          <a:ln w="9525">
            <a:solidFill>
              <a:srgbClr val="FF99CC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916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19972"/>
            <a:ext cx="7680960" cy="3733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00" y="1161871"/>
            <a:ext cx="838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fingerprint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region</a:t>
            </a: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IR spectrum is characteristic of the compound as a whole, just as a fingerprint is characteristic of an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individual.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2902" y="299591"/>
            <a:ext cx="46281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900" b="1" dirty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</a:t>
            </a:r>
            <a:r>
              <a:rPr lang="en-US" sz="29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Fingerprint</a:t>
            </a:r>
            <a:r>
              <a:rPr lang="en-US" sz="29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Regions </a:t>
            </a:r>
          </a:p>
        </p:txBody>
      </p:sp>
    </p:spTree>
    <p:extLst>
      <p:ext uri="{BB962C8B-B14F-4D97-AF65-F5344CB8AC3E}">
        <p14:creationId xmlns:p14="http://schemas.microsoft.com/office/powerpoint/2010/main" val="284922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" y="1495690"/>
            <a:ext cx="7680960" cy="261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92121"/>
            <a:ext cx="7680960" cy="2589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" y="299591"/>
            <a:ext cx="8839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latin typeface="Comic Sans MS" pitchFamily="66" charset="0"/>
              </a:rPr>
              <a:t>Even if </a:t>
            </a:r>
            <a:r>
              <a:rPr lang="en-US" sz="25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Two Different Molecules </a:t>
            </a:r>
            <a:r>
              <a:rPr lang="en-US" sz="2500" dirty="0">
                <a:latin typeface="Comic Sans MS" pitchFamily="66" charset="0"/>
              </a:rPr>
              <a:t>have the </a:t>
            </a:r>
            <a:r>
              <a:rPr lang="en-US" sz="2500" b="1" dirty="0">
                <a:latin typeface="Comic Sans MS" pitchFamily="66" charset="0"/>
              </a:rPr>
              <a:t>same</a:t>
            </a:r>
            <a:r>
              <a:rPr lang="en-US" sz="2500" dirty="0">
                <a:latin typeface="Comic Sans MS" pitchFamily="66" charset="0"/>
              </a:rPr>
              <a:t> functional groups, their </a:t>
            </a:r>
            <a:r>
              <a:rPr lang="en-US" sz="25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IR Spectra will not be Identical </a:t>
            </a:r>
            <a:endParaRPr lang="en-US" sz="25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002179"/>
              </p:ext>
            </p:extLst>
          </p:nvPr>
        </p:nvGraphicFramePr>
        <p:xfrm>
          <a:off x="3048000" y="2590800"/>
          <a:ext cx="1828800" cy="653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" name="CS ChemDraw Drawing" r:id="rId5" imgW="1177200" imgH="420120" progId="ChemDraw.Document.6.0">
                  <p:embed/>
                </p:oleObj>
              </mc:Choice>
              <mc:Fallback>
                <p:oleObj name="CS ChemDraw Drawing" r:id="rId5" imgW="1177200" imgH="420120" progId="ChemDraw.Document.6.0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90800"/>
                        <a:ext cx="1828800" cy="65314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536935"/>
              </p:ext>
            </p:extLst>
          </p:nvPr>
        </p:nvGraphicFramePr>
        <p:xfrm>
          <a:off x="3124200" y="5334000"/>
          <a:ext cx="1828800" cy="638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CS ChemDraw Drawing" r:id="rId7" imgW="1177200" imgH="410400" progId="ChemDraw.Document.6.0">
                  <p:embed/>
                </p:oleObj>
              </mc:Choice>
              <mc:Fallback>
                <p:oleObj name="CS ChemDraw Drawing" r:id="rId7" imgW="1177200" imgH="410400" progId="ChemDraw.Document.6.0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334000"/>
                        <a:ext cx="1828800" cy="63835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ight Arrow 7"/>
          <p:cNvSpPr>
            <a:spLocks noChangeAspect="1"/>
          </p:cNvSpPr>
          <p:nvPr/>
        </p:nvSpPr>
        <p:spPr bwMode="auto">
          <a:xfrm rot="12947661">
            <a:off x="6431642" y="3410646"/>
            <a:ext cx="539075" cy="279552"/>
          </a:xfrm>
          <a:prstGeom prst="rightArrow">
            <a:avLst/>
          </a:prstGeom>
          <a:gradFill flip="none" rotWithShape="1">
            <a:gsLst>
              <a:gs pos="0">
                <a:srgbClr val="D60093">
                  <a:tint val="66000"/>
                  <a:satMod val="160000"/>
                </a:srgbClr>
              </a:gs>
              <a:gs pos="50000">
                <a:srgbClr val="D60093">
                  <a:tint val="44500"/>
                  <a:satMod val="160000"/>
                </a:srgbClr>
              </a:gs>
              <a:gs pos="100000">
                <a:srgbClr val="D60093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1" name="Right Arrow 10"/>
          <p:cNvSpPr>
            <a:spLocks noChangeAspect="1"/>
          </p:cNvSpPr>
          <p:nvPr/>
        </p:nvSpPr>
        <p:spPr bwMode="auto">
          <a:xfrm rot="12947661">
            <a:off x="6796753" y="6074846"/>
            <a:ext cx="539075" cy="279552"/>
          </a:xfrm>
          <a:prstGeom prst="rightArrow">
            <a:avLst/>
          </a:prstGeom>
          <a:gradFill flip="none" rotWithShape="1">
            <a:gsLst>
              <a:gs pos="0">
                <a:srgbClr val="D60093">
                  <a:tint val="66000"/>
                  <a:satMod val="160000"/>
                </a:srgbClr>
              </a:gs>
              <a:gs pos="50000">
                <a:srgbClr val="D60093">
                  <a:tint val="44500"/>
                  <a:satMod val="160000"/>
                </a:srgbClr>
              </a:gs>
              <a:gs pos="100000">
                <a:srgbClr val="D60093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05504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7067</TotalTime>
  <Words>823</Words>
  <Application>Microsoft Office PowerPoint</Application>
  <PresentationFormat>On-screen Show (4:3)</PresentationFormat>
  <Paragraphs>84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Comic Sans MS</vt:lpstr>
      <vt:lpstr>Symbol</vt:lpstr>
      <vt:lpstr>Times</vt:lpstr>
      <vt:lpstr>Times New Roman</vt:lpstr>
      <vt:lpstr>Wingdings</vt:lpstr>
      <vt:lpstr>Blank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1093</cp:revision>
  <dcterms:created xsi:type="dcterms:W3CDTF">2006-02-07T16:59:36Z</dcterms:created>
  <dcterms:modified xsi:type="dcterms:W3CDTF">2024-11-02T05:10:19Z</dcterms:modified>
</cp:coreProperties>
</file>