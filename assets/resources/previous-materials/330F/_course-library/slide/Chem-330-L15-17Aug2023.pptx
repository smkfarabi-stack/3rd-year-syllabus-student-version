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sldIdLst>
    <p:sldId id="691" r:id="rId2"/>
    <p:sldId id="699" r:id="rId3"/>
    <p:sldId id="703" r:id="rId4"/>
    <p:sldId id="693" r:id="rId5"/>
    <p:sldId id="694" r:id="rId6"/>
    <p:sldId id="695" r:id="rId7"/>
    <p:sldId id="696" r:id="rId8"/>
    <p:sldId id="697" r:id="rId9"/>
    <p:sldId id="698" r:id="rId10"/>
    <p:sldId id="700" r:id="rId11"/>
    <p:sldId id="701" r:id="rId12"/>
    <p:sldId id="702" r:id="rId13"/>
    <p:sldId id="692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C0099"/>
    <a:srgbClr val="FF0066"/>
    <a:srgbClr val="000099"/>
    <a:srgbClr val="0000FF"/>
    <a:srgbClr val="0033CC"/>
    <a:srgbClr val="FFB27D"/>
    <a:srgbClr val="4C4CC4"/>
    <a:srgbClr val="9999FF"/>
    <a:srgbClr val="9900FF"/>
    <a:srgbClr val="80008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294" autoAdjust="0"/>
    <p:restoredTop sz="90929"/>
  </p:normalViewPr>
  <p:slideViewPr>
    <p:cSldViewPr>
      <p:cViewPr>
        <p:scale>
          <a:sx n="60" d="100"/>
          <a:sy n="60" d="100"/>
        </p:scale>
        <p:origin x="-798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17-Aug-23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7987F46-F22D-4314-B239-C75F94E3B83D}"/>
              </a:ext>
            </a:extLst>
          </p:cNvPr>
          <p:cNvSpPr txBox="1"/>
          <p:nvPr/>
        </p:nvSpPr>
        <p:spPr>
          <a:xfrm>
            <a:off x="7010401" y="1903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903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2620" y="1676400"/>
            <a:ext cx="580828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4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Spectrometry</a:t>
            </a:r>
            <a:endParaRPr lang="en-US" sz="4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08154"/>
            <a:ext cx="7589520" cy="3745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" y="2560123"/>
            <a:ext cx="8595360" cy="1478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1178004"/>
            <a:ext cx="8534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Alkyl-substituted benzenes ionize by loss of a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π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electron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undergo loss of a hydrogen atom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 methyl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group to yield the relatively stable </a:t>
            </a:r>
            <a:r>
              <a:rPr lang="en-US" sz="2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tropylium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91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6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Aromatic Hydrocarbon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4495800"/>
            <a:ext cx="823243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33400" y="1123890"/>
            <a:ext cx="8305800" cy="5284432"/>
            <a:chOff x="533400" y="990600"/>
            <a:chExt cx="8305800" cy="5284432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33400" y="990600"/>
              <a:ext cx="8305800" cy="5284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6" name="Straight Arrow Connector 5"/>
            <p:cNvCxnSpPr/>
            <p:nvPr/>
          </p:nvCxnSpPr>
          <p:spPr bwMode="auto">
            <a:xfrm>
              <a:off x="7620000" y="2686110"/>
              <a:ext cx="457200" cy="158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6"/>
            <p:cNvSpPr txBox="1"/>
            <p:nvPr/>
          </p:nvSpPr>
          <p:spPr>
            <a:xfrm>
              <a:off x="6400800" y="2438400"/>
              <a:ext cx="1371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Base peak</a:t>
              </a:r>
              <a:endPara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53200" y="1498643"/>
              <a:ext cx="809625" cy="711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TextBox 8"/>
          <p:cNvSpPr txBox="1"/>
          <p:nvPr/>
        </p:nvSpPr>
        <p:spPr>
          <a:xfrm>
            <a:off x="3810000" y="6305490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m/z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-981473" y="3750665"/>
            <a:ext cx="2820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Relative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Ion Abundance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352490"/>
            <a:ext cx="1009650" cy="1586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 bwMode="auto">
          <a:xfrm>
            <a:off x="6477000" y="1352490"/>
            <a:ext cx="1524000" cy="1066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2286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Toluene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Alcohol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" y="4151514"/>
            <a:ext cx="2377440" cy="1792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ouble Bracket 5"/>
          <p:cNvSpPr/>
          <p:nvPr/>
        </p:nvSpPr>
        <p:spPr bwMode="auto">
          <a:xfrm>
            <a:off x="419100" y="4199139"/>
            <a:ext cx="1447800" cy="1219200"/>
          </a:xfrm>
          <a:prstGeom prst="bracketPair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43100" y="4151514"/>
            <a:ext cx="3143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 bwMode="auto">
          <a:xfrm>
            <a:off x="2324100" y="4808739"/>
            <a:ext cx="13716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2324100" y="4275339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cleavage </a:t>
            </a:r>
            <a:endParaRPr lang="en-US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65644" y="4025818"/>
            <a:ext cx="9525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24495" y="4573505"/>
            <a:ext cx="990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67495" y="4040105"/>
            <a:ext cx="9334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48100" y="5418339"/>
            <a:ext cx="4023360" cy="241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15230" y="4559217"/>
            <a:ext cx="247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20100" y="4530958"/>
            <a:ext cx="3429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04800" y="1198096"/>
            <a:ext cx="84582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CC0099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Alcohols undergo fragmentation in two different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ways —                   </a:t>
            </a:r>
            <a:r>
              <a:rPr lang="en-US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α cleavage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dehydration. </a:t>
            </a:r>
            <a:endParaRPr lang="en-US" b="1" dirty="0" smtClean="0">
              <a:solidFill>
                <a:srgbClr val="CC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Aft>
                <a:spcPts val="1200"/>
              </a:spcAft>
              <a:buClr>
                <a:srgbClr val="CC0099"/>
              </a:buCl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Alpha </a:t>
            </a:r>
            <a:r>
              <a:rPr lang="en-US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(α</a:t>
            </a:r>
            <a:r>
              <a:rPr lang="en-US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) cleavage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occurs by breaking a bond between an alkyl group and the carbon that bears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OH group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resulting in an alkyl radical and a resonance-stabilized carbocation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000" y="6019800"/>
            <a:ext cx="2014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Molecular ion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09839" y="6019800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m/z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065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Alcohol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2933700" y="5158083"/>
            <a:ext cx="17907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0099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2933700" y="4624683"/>
            <a:ext cx="194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dehydration</a:t>
            </a:r>
            <a:endParaRPr lang="en-US" b="1" dirty="0">
              <a:solidFill>
                <a:srgbClr val="CC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1135117"/>
            <a:ext cx="84582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CC0099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Alcohols undergo fragmentation in two different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ways —                   </a:t>
            </a:r>
            <a:r>
              <a:rPr lang="en-US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α cleavage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dehydration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Aft>
                <a:spcPts val="1800"/>
              </a:spcAft>
              <a:buClr>
                <a:srgbClr val="CC0099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Alcohols undergo </a:t>
            </a:r>
            <a:r>
              <a:rPr lang="en-US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dehydration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elimination of 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two adjacent atoms. </a:t>
            </a:r>
          </a:p>
          <a:p>
            <a:pPr marL="342900" indent="-342900" algn="just">
              <a:spcAft>
                <a:spcPts val="1800"/>
              </a:spcAft>
              <a:buClr>
                <a:srgbClr val="CC0099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Dehydration results in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cleavage of two bonds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forms 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alkene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radical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630" y="5862935"/>
            <a:ext cx="2014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Molecular ion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4267200"/>
            <a:ext cx="2286000" cy="144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335863"/>
            <a:ext cx="3566160" cy="1440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7186239" y="5862935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m/z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951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Alcohol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5290" y="3648075"/>
            <a:ext cx="79248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4325" y="1053662"/>
            <a:ext cx="852487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9071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Amines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590" y="1219200"/>
            <a:ext cx="84582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Aliphatic amines undergo a characteristic </a:t>
            </a:r>
            <a:r>
              <a:rPr lang="en-US" i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cleavage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mass spectrometer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similar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that observed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alcohols.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</a:t>
            </a:r>
            <a:r>
              <a:rPr lang="en-US" dirty="0" smtClean="0">
                <a:latin typeface="Times New Roman"/>
                <a:cs typeface="Times New Roman"/>
              </a:rPr>
              <a:t>‒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bond nearest the </a:t>
            </a:r>
            <a:r>
              <a:rPr lang="en-US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nitrogen </a:t>
            </a:r>
            <a:r>
              <a:rPr lang="en-US" dirty="0" smtClean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atom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broken, yielding an alkyl radical and a resonance-stabilized,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nitrogen containing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15128"/>
            <a:ext cx="2560320" cy="127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 bwMode="auto">
          <a:xfrm>
            <a:off x="2819400" y="4700926"/>
            <a:ext cx="13716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2743200" y="4167526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cleavage </a:t>
            </a:r>
            <a:endParaRPr lang="en-US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467563"/>
            <a:ext cx="822960" cy="42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338"/>
            <a:ext cx="2286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89952" y="4015128"/>
            <a:ext cx="1188720" cy="131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658063"/>
            <a:ext cx="7620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18120" y="4015129"/>
            <a:ext cx="1097280" cy="1268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81000" y="5562600"/>
            <a:ext cx="2014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Molecular ion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6239" y="5562600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m/z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8151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-905271" y="3675083"/>
            <a:ext cx="2820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Relative </a:t>
            </a:r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Ion Abundance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19200"/>
            <a:ext cx="811391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191000" y="6172200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m/z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55920" y="228600"/>
            <a:ext cx="1735667" cy="11430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219200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Amines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253425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Carbonyl Compounds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14300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Carbon–carbon bonds next to the carbonyl group of an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aldehyde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ketone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 readily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because resonance-stabilized ions called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acylium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ions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produced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590800"/>
            <a:ext cx="68961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4724400"/>
            <a:ext cx="47148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57200" y="4114800"/>
            <a:ext cx="498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or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667000"/>
            <a:ext cx="8595360" cy="1687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04800" y="12954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Carbonyl compounds with a hydrogen on their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γ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carbon undergo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fragmentation called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McLafferty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rearrangement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3425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Carbonyl Compounds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5029201"/>
            <a:ext cx="1920240" cy="1272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5105400"/>
            <a:ext cx="2651760" cy="1276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09800" y="5410199"/>
            <a:ext cx="1554480" cy="6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77000" y="6172200"/>
            <a:ext cx="2468880" cy="341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073804"/>
            <a:ext cx="8763371" cy="57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2800" y="1325879"/>
            <a:ext cx="1524000" cy="1112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 bwMode="auto">
          <a:xfrm>
            <a:off x="3733800" y="1295400"/>
            <a:ext cx="23622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553200" y="3962400"/>
            <a:ext cx="1981200" cy="1219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219200" y="2438400"/>
            <a:ext cx="1219200" cy="1219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438400" y="2895600"/>
            <a:ext cx="1066800" cy="1219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53425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Carbonyl Compounds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066800"/>
            <a:ext cx="8458200" cy="5681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361983"/>
            <a:ext cx="1219200" cy="1609817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85800" y="253425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 of </a:t>
            </a: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Carbonyl Compounds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louds himalayas forming GIF on GIFER - by Malorga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0793" y="1767839"/>
            <a:ext cx="8778240" cy="493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52400" y="304800"/>
            <a:ext cx="8839200" cy="2362200"/>
            <a:chOff x="152400" y="4495800"/>
            <a:chExt cx="8839200" cy="2362200"/>
          </a:xfrm>
        </p:grpSpPr>
        <p:sp>
          <p:nvSpPr>
            <p:cNvPr id="4" name="Rectangle 3"/>
            <p:cNvSpPr/>
            <p:nvPr/>
          </p:nvSpPr>
          <p:spPr bwMode="auto">
            <a:xfrm>
              <a:off x="152400" y="4495800"/>
              <a:ext cx="8839200" cy="2362200"/>
            </a:xfrm>
            <a:prstGeom prst="rect">
              <a:avLst/>
            </a:prstGeom>
            <a:solidFill>
              <a:srgbClr val="F6F6FC">
                <a:alpha val="94118"/>
              </a:srgbClr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2400" y="4572000"/>
              <a:ext cx="8686800" cy="21698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342900" indent="-342900" algn="just">
                <a:spcAft>
                  <a:spcPts val="1800"/>
                </a:spcAft>
                <a:buClr>
                  <a:srgbClr val="CC3399"/>
                </a:buClr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An increasing trend in </a:t>
              </a:r>
              <a:r>
                <a:rPr lang="en-US" dirty="0">
                  <a:solidFill>
                    <a:srgbClr val="3333FF"/>
                  </a:solidFill>
                  <a:latin typeface="Times New Roman" pitchFamily="18" charset="0"/>
                  <a:cs typeface="Times New Roman" pitchFamily="18" charset="0"/>
                </a:rPr>
                <a:t>aerosol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concentration has been observed in Himalayas in recent years, but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the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understanding of the chemical composition and sources of aerosol remains poor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pPr marL="342900" indent="-342900" algn="just">
                <a:spcAft>
                  <a:spcPts val="1200"/>
                </a:spcAft>
                <a:buClr>
                  <a:srgbClr val="CC3399"/>
                </a:buClr>
                <a:buFont typeface="Arial" panose="020B0604020202020204" pitchFamily="34" charset="0"/>
                <a:buChar char="•"/>
              </a:pP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Molecular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characterization of organic aerosol in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Himalayas can be determined by ultra-high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resolution </a:t>
              </a:r>
              <a:r>
                <a:rPr lang="en-US" dirty="0">
                  <a:solidFill>
                    <a:srgbClr val="CC3399"/>
                  </a:solidFill>
                  <a:latin typeface="Times New Roman" pitchFamily="18" charset="0"/>
                  <a:cs typeface="Times New Roman" pitchFamily="18" charset="0"/>
                </a:rPr>
                <a:t>mass spectrometry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31795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9498</TotalTime>
  <Words>325</Words>
  <Application>Microsoft Office PowerPoint</Application>
  <PresentationFormat>On-screen Show (4:3)</PresentationFormat>
  <Paragraphs>42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Blank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1548</cp:revision>
  <dcterms:created xsi:type="dcterms:W3CDTF">2006-02-07T16:59:36Z</dcterms:created>
  <dcterms:modified xsi:type="dcterms:W3CDTF">2023-08-17T05:03:05Z</dcterms:modified>
</cp:coreProperties>
</file>