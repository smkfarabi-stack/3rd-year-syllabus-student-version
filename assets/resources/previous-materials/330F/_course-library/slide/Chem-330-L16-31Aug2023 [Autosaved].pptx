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92"/>
  </p:notesMasterIdLst>
  <p:sldIdLst>
    <p:sldId id="691" r:id="rId2"/>
    <p:sldId id="717" r:id="rId3"/>
    <p:sldId id="699" r:id="rId4"/>
    <p:sldId id="703" r:id="rId5"/>
    <p:sldId id="693" r:id="rId6"/>
    <p:sldId id="694" r:id="rId7"/>
    <p:sldId id="695" r:id="rId8"/>
    <p:sldId id="696" r:id="rId9"/>
    <p:sldId id="697" r:id="rId10"/>
    <p:sldId id="704" r:id="rId11"/>
    <p:sldId id="705" r:id="rId12"/>
    <p:sldId id="706" r:id="rId13"/>
    <p:sldId id="707" r:id="rId14"/>
    <p:sldId id="708" r:id="rId15"/>
    <p:sldId id="709" r:id="rId16"/>
    <p:sldId id="710" r:id="rId17"/>
    <p:sldId id="711" r:id="rId18"/>
    <p:sldId id="712" r:id="rId19"/>
    <p:sldId id="713" r:id="rId20"/>
    <p:sldId id="714" r:id="rId21"/>
    <p:sldId id="716" r:id="rId22"/>
    <p:sldId id="715" r:id="rId23"/>
    <p:sldId id="718" r:id="rId24"/>
    <p:sldId id="719" r:id="rId25"/>
    <p:sldId id="720" r:id="rId26"/>
    <p:sldId id="721" r:id="rId27"/>
    <p:sldId id="722" r:id="rId28"/>
    <p:sldId id="723" r:id="rId29"/>
    <p:sldId id="724" r:id="rId30"/>
    <p:sldId id="725" r:id="rId31"/>
    <p:sldId id="726" r:id="rId32"/>
    <p:sldId id="727" r:id="rId33"/>
    <p:sldId id="728" r:id="rId34"/>
    <p:sldId id="730" r:id="rId35"/>
    <p:sldId id="731" r:id="rId36"/>
    <p:sldId id="732" r:id="rId37"/>
    <p:sldId id="733" r:id="rId38"/>
    <p:sldId id="734" r:id="rId39"/>
    <p:sldId id="735" r:id="rId40"/>
    <p:sldId id="736" r:id="rId41"/>
    <p:sldId id="739" r:id="rId42"/>
    <p:sldId id="740" r:id="rId43"/>
    <p:sldId id="741" r:id="rId44"/>
    <p:sldId id="743" r:id="rId45"/>
    <p:sldId id="744" r:id="rId46"/>
    <p:sldId id="745" r:id="rId47"/>
    <p:sldId id="746" r:id="rId48"/>
    <p:sldId id="750" r:id="rId49"/>
    <p:sldId id="751" r:id="rId50"/>
    <p:sldId id="754" r:id="rId51"/>
    <p:sldId id="755" r:id="rId52"/>
    <p:sldId id="752" r:id="rId53"/>
    <p:sldId id="753" r:id="rId54"/>
    <p:sldId id="756" r:id="rId55"/>
    <p:sldId id="757" r:id="rId56"/>
    <p:sldId id="747" r:id="rId57"/>
    <p:sldId id="758" r:id="rId58"/>
    <p:sldId id="759" r:id="rId59"/>
    <p:sldId id="748" r:id="rId60"/>
    <p:sldId id="749" r:id="rId61"/>
    <p:sldId id="760" r:id="rId62"/>
    <p:sldId id="765" r:id="rId63"/>
    <p:sldId id="766" r:id="rId64"/>
    <p:sldId id="767" r:id="rId65"/>
    <p:sldId id="761" r:id="rId66"/>
    <p:sldId id="768" r:id="rId67"/>
    <p:sldId id="762" r:id="rId68"/>
    <p:sldId id="769" r:id="rId69"/>
    <p:sldId id="770" r:id="rId70"/>
    <p:sldId id="764" r:id="rId71"/>
    <p:sldId id="771" r:id="rId72"/>
    <p:sldId id="772" r:id="rId73"/>
    <p:sldId id="763" r:id="rId74"/>
    <p:sldId id="773" r:id="rId75"/>
    <p:sldId id="774" r:id="rId76"/>
    <p:sldId id="775" r:id="rId77"/>
    <p:sldId id="776" r:id="rId78"/>
    <p:sldId id="777" r:id="rId79"/>
    <p:sldId id="778" r:id="rId80"/>
    <p:sldId id="787" r:id="rId81"/>
    <p:sldId id="788" r:id="rId82"/>
    <p:sldId id="789" r:id="rId83"/>
    <p:sldId id="790" r:id="rId84"/>
    <p:sldId id="791" r:id="rId85"/>
    <p:sldId id="792" r:id="rId86"/>
    <p:sldId id="793" r:id="rId87"/>
    <p:sldId id="794" r:id="rId88"/>
    <p:sldId id="795" r:id="rId89"/>
    <p:sldId id="796" r:id="rId90"/>
    <p:sldId id="797" r:id="rId9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F4FAFA"/>
    <a:srgbClr val="FF0066"/>
    <a:srgbClr val="C80482"/>
    <a:srgbClr val="FFE1FF"/>
    <a:srgbClr val="FF21BA"/>
    <a:srgbClr val="FF3399"/>
    <a:srgbClr val="FF33CC"/>
    <a:srgbClr val="800080"/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0929"/>
  </p:normalViewPr>
  <p:slideViewPr>
    <p:cSldViewPr>
      <p:cViewPr varScale="1">
        <p:scale>
          <a:sx n="82" d="100"/>
          <a:sy n="82" d="100"/>
        </p:scale>
        <p:origin x="15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8EA714-3717-49F5-B7AB-057D3EB0DA70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B5B64ED7-822E-4CFB-AF21-1E5D2DF241F5}">
      <dgm:prSet phldrT="[Text]"/>
      <dgm:spPr/>
      <dgm:t>
        <a:bodyPr/>
        <a:lstStyle/>
        <a:p>
          <a:pPr algn="just">
            <a:spcAft>
              <a:spcPts val="0"/>
            </a:spcAft>
          </a:pPr>
          <a:r>
            <a:rPr lang="en-US" dirty="0">
              <a:latin typeface="Times New Roman" pitchFamily="18" charset="0"/>
              <a:cs typeface="Times New Roman" pitchFamily="18" charset="0"/>
            </a:rPr>
            <a:t>The chirality centers in I and II have the same </a:t>
          </a:r>
          <a:r>
            <a: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rPr>
            <a:t>relative configuration</a:t>
          </a:r>
          <a:r>
            <a:rPr lang="en-US" dirty="0">
              <a:latin typeface="Times New Roman" pitchFamily="18" charset="0"/>
              <a:cs typeface="Times New Roman" pitchFamily="18" charset="0"/>
            </a:rPr>
            <a:t>, because they share </a:t>
          </a:r>
          <a:r>
            <a: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same three groups </a:t>
          </a:r>
          <a:r>
            <a:rPr lang="en-US" dirty="0">
              <a:latin typeface="Times New Roman" pitchFamily="18" charset="0"/>
              <a:cs typeface="Times New Roman" pitchFamily="18" charset="0"/>
            </a:rPr>
            <a:t>and these groups with the central carbon can be superposed in a pyramidal arrangement.</a:t>
          </a:r>
        </a:p>
      </dgm:t>
    </dgm:pt>
    <dgm:pt modelId="{EE7F3121-0658-4783-A338-35DB70FAF6E9}" type="parTrans" cxnId="{F71C1169-B603-492B-9481-ED8A4CB87406}">
      <dgm:prSet/>
      <dgm:spPr/>
      <dgm:t>
        <a:bodyPr/>
        <a:lstStyle/>
        <a:p>
          <a:endParaRPr lang="en-US"/>
        </a:p>
      </dgm:t>
    </dgm:pt>
    <dgm:pt modelId="{E1EB7C3C-51CA-4C70-ABFC-323CDFD4E0E3}" type="sibTrans" cxnId="{F71C1169-B603-492B-9481-ED8A4CB87406}">
      <dgm:prSet/>
      <dgm:spPr/>
      <dgm:t>
        <a:bodyPr/>
        <a:lstStyle/>
        <a:p>
          <a:endParaRPr lang="en-US"/>
        </a:p>
      </dgm:t>
    </dgm:pt>
    <dgm:pt modelId="{B2E982BF-5D01-4675-8542-93EE38ED642B}" type="pres">
      <dgm:prSet presAssocID="{AB8EA714-3717-49F5-B7AB-057D3EB0DA70}" presName="compositeShape" presStyleCnt="0">
        <dgm:presLayoutVars>
          <dgm:dir/>
          <dgm:resizeHandles/>
        </dgm:presLayoutVars>
      </dgm:prSet>
      <dgm:spPr/>
    </dgm:pt>
    <dgm:pt modelId="{04C2E59D-F992-4757-BA8C-A9663F251B7F}" type="pres">
      <dgm:prSet presAssocID="{AB8EA714-3717-49F5-B7AB-057D3EB0DA70}" presName="pyramid" presStyleLbl="node1" presStyleIdx="0" presStyleCnt="1" custScaleX="82479" custScaleY="69062" custLinFactNeighborX="-12493" custLinFactNeighborY="8116"/>
      <dgm:spPr/>
    </dgm:pt>
    <dgm:pt modelId="{387FB7AA-7186-4DFB-9EA0-800AEFBA4DB6}" type="pres">
      <dgm:prSet presAssocID="{AB8EA714-3717-49F5-B7AB-057D3EB0DA70}" presName="theList" presStyleCnt="0"/>
      <dgm:spPr/>
    </dgm:pt>
    <dgm:pt modelId="{B726DC7D-5B2D-4F29-89B6-B505491293FF}" type="pres">
      <dgm:prSet presAssocID="{B5B64ED7-822E-4CFB-AF21-1E5D2DF241F5}" presName="aNode" presStyleLbl="fgAcc1" presStyleIdx="0" presStyleCnt="1" custScaleX="180383" custScaleY="84006" custLinFactY="3075" custLinFactNeighborX="9926" custLinFactNeighborY="100000">
        <dgm:presLayoutVars>
          <dgm:bulletEnabled val="1"/>
        </dgm:presLayoutVars>
      </dgm:prSet>
      <dgm:spPr/>
    </dgm:pt>
    <dgm:pt modelId="{89835510-B519-4361-9652-6BA647675E90}" type="pres">
      <dgm:prSet presAssocID="{B5B64ED7-822E-4CFB-AF21-1E5D2DF241F5}" presName="aSpace" presStyleCnt="0"/>
      <dgm:spPr/>
    </dgm:pt>
  </dgm:ptLst>
  <dgm:cxnLst>
    <dgm:cxn modelId="{F71C1169-B603-492B-9481-ED8A4CB87406}" srcId="{AB8EA714-3717-49F5-B7AB-057D3EB0DA70}" destId="{B5B64ED7-822E-4CFB-AF21-1E5D2DF241F5}" srcOrd="0" destOrd="0" parTransId="{EE7F3121-0658-4783-A338-35DB70FAF6E9}" sibTransId="{E1EB7C3C-51CA-4C70-ABFC-323CDFD4E0E3}"/>
    <dgm:cxn modelId="{6491F575-1589-4AD6-9981-8F7572167596}" type="presOf" srcId="{AB8EA714-3717-49F5-B7AB-057D3EB0DA70}" destId="{B2E982BF-5D01-4675-8542-93EE38ED642B}" srcOrd="0" destOrd="0" presId="urn:microsoft.com/office/officeart/2005/8/layout/pyramid2"/>
    <dgm:cxn modelId="{E4B3FDBD-F876-4F2F-AEE1-3585FD4405DF}" type="presOf" srcId="{B5B64ED7-822E-4CFB-AF21-1E5D2DF241F5}" destId="{B726DC7D-5B2D-4F29-89B6-B505491293FF}" srcOrd="0" destOrd="0" presId="urn:microsoft.com/office/officeart/2005/8/layout/pyramid2"/>
    <dgm:cxn modelId="{A1466EE4-9E68-4227-8BA6-74AA4BFC34FE}" type="presParOf" srcId="{B2E982BF-5D01-4675-8542-93EE38ED642B}" destId="{04C2E59D-F992-4757-BA8C-A9663F251B7F}" srcOrd="0" destOrd="0" presId="urn:microsoft.com/office/officeart/2005/8/layout/pyramid2"/>
    <dgm:cxn modelId="{3B3DE5E5-F59D-40F1-BBAE-70A725ECA7E9}" type="presParOf" srcId="{B2E982BF-5D01-4675-8542-93EE38ED642B}" destId="{387FB7AA-7186-4DFB-9EA0-800AEFBA4DB6}" srcOrd="1" destOrd="0" presId="urn:microsoft.com/office/officeart/2005/8/layout/pyramid2"/>
    <dgm:cxn modelId="{A6D47326-AB2E-41A3-ADEB-8AE0D2672D00}" type="presParOf" srcId="{387FB7AA-7186-4DFB-9EA0-800AEFBA4DB6}" destId="{B726DC7D-5B2D-4F29-89B6-B505491293FF}" srcOrd="0" destOrd="0" presId="urn:microsoft.com/office/officeart/2005/8/layout/pyramid2"/>
    <dgm:cxn modelId="{88B51105-9587-405B-A3EF-F6CC7A386F07}" type="presParOf" srcId="{387FB7AA-7186-4DFB-9EA0-800AEFBA4DB6}" destId="{89835510-B519-4361-9652-6BA647675E90}" srcOrd="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700F6F-7269-477B-AB64-6279E381B3D7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09073471-AE65-4A16-8013-42DB22ABC09C}">
      <dgm:prSet phldrT="[Text]" custT="1"/>
      <dgm:spPr/>
      <dgm:t>
        <a:bodyPr/>
        <a:lstStyle/>
        <a:p>
          <a:r>
            <a:rPr lang="en-US" sz="2800" b="1" dirty="0">
              <a:latin typeface="Comic Sans MS" pitchFamily="66" charset="0"/>
              <a:cs typeface="Times New Roman" pitchFamily="18" charset="0"/>
            </a:rPr>
            <a:t>Chemical Methods</a:t>
          </a:r>
        </a:p>
      </dgm:t>
    </dgm:pt>
    <dgm:pt modelId="{76BB54B2-30EB-47C1-A2CB-18FDA9678282}" type="parTrans" cxnId="{79AA56DB-6C91-4B05-92A6-4D1CEC73D108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631AB571-90A8-4217-BDDA-C07A896A7B6D}" type="sibTrans" cxnId="{79AA56DB-6C91-4B05-92A6-4D1CEC73D108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D91AED56-EE77-4619-958A-D33BDBD31E5E}">
      <dgm:prSet phldrT="[Text]" custT="1"/>
      <dgm:spPr/>
      <dgm:t>
        <a:bodyPr/>
        <a:lstStyle/>
        <a:p>
          <a:r>
            <a:rPr lang="en-US" sz="2600" dirty="0">
              <a:latin typeface="Times New Roman" pitchFamily="18" charset="0"/>
              <a:cs typeface="Times New Roman" pitchFamily="18" charset="0"/>
            </a:rPr>
            <a:t>Absolute method</a:t>
          </a:r>
        </a:p>
      </dgm:t>
    </dgm:pt>
    <dgm:pt modelId="{49184F1A-2F53-42D3-9D37-2B20E851334E}" type="parTrans" cxnId="{BCA28EC5-9FC4-442B-929A-0B82B69BF9EF}">
      <dgm:prSet/>
      <dgm:spPr>
        <a:ln>
          <a:solidFill>
            <a:srgbClr val="C80482"/>
          </a:solidFill>
        </a:ln>
      </dgm:spPr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8BAC78B3-CF2F-4508-B01D-00ABD0E5C232}" type="sibTrans" cxnId="{BCA28EC5-9FC4-442B-929A-0B82B69BF9EF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DA5782F5-3418-4F85-84EE-DD6D74CFEF57}">
      <dgm:prSet phldrT="[Text]" custT="1"/>
      <dgm:spPr/>
      <dgm:t>
        <a:bodyPr/>
        <a:lstStyle/>
        <a:p>
          <a:r>
            <a:rPr lang="en-US" sz="2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rPr>
            <a:t>Correlative </a:t>
          </a:r>
          <a:r>
            <a: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method</a:t>
          </a:r>
        </a:p>
      </dgm:t>
    </dgm:pt>
    <dgm:pt modelId="{215EF46C-36AB-4205-8370-E8A567FA030C}" type="parTrans" cxnId="{EAB6BC78-84A2-4325-8573-0B9312203C20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7B201A3E-4FC1-47DE-A6C0-D0D6231BB474}" type="sibTrans" cxnId="{EAB6BC78-84A2-4325-8573-0B9312203C20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9B4305C7-8729-4DAB-82A6-9E2F2B399F66}">
      <dgm:prSet phldrT="[Text]" custT="1"/>
      <dgm:spPr/>
      <dgm:t>
        <a:bodyPr/>
        <a:lstStyle/>
        <a:p>
          <a:r>
            <a:rPr lang="en-US" sz="2600" dirty="0">
              <a:latin typeface="Times New Roman" pitchFamily="18" charset="0"/>
              <a:cs typeface="Times New Roman" pitchFamily="18" charset="0"/>
            </a:rPr>
            <a:t>Mechanistic method</a:t>
          </a:r>
        </a:p>
      </dgm:t>
    </dgm:pt>
    <dgm:pt modelId="{F6665D4D-F8A2-488B-8FE9-951AB5570506}" type="parTrans" cxnId="{EC4D3F6A-5259-4475-BB2E-5C3A7DBE0A07}">
      <dgm:prSet/>
      <dgm:spPr>
        <a:ln>
          <a:solidFill>
            <a:srgbClr val="C80482"/>
          </a:solidFill>
        </a:ln>
      </dgm:spPr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48E2EA78-9F5D-4925-9A4D-B603A792568D}" type="sibTrans" cxnId="{EC4D3F6A-5259-4475-BB2E-5C3A7DBE0A07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E2B8D1A6-3D00-4F51-BFD6-318E777228D2}" type="pres">
      <dgm:prSet presAssocID="{D6700F6F-7269-477B-AB64-6279E381B3D7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F9CD6E3-6D5B-43E8-9DE0-530A42DC179B}" type="pres">
      <dgm:prSet presAssocID="{09073471-AE65-4A16-8013-42DB22ABC09C}" presName="hierRoot1" presStyleCnt="0">
        <dgm:presLayoutVars>
          <dgm:hierBranch val="init"/>
        </dgm:presLayoutVars>
      </dgm:prSet>
      <dgm:spPr/>
    </dgm:pt>
    <dgm:pt modelId="{C3432FFC-1F62-4DAC-8FE1-6E4140B4DAD1}" type="pres">
      <dgm:prSet presAssocID="{09073471-AE65-4A16-8013-42DB22ABC09C}" presName="rootComposite1" presStyleCnt="0"/>
      <dgm:spPr/>
    </dgm:pt>
    <dgm:pt modelId="{7C4E05A0-D1BD-4A54-9BDD-874FF129E1E2}" type="pres">
      <dgm:prSet presAssocID="{09073471-AE65-4A16-8013-42DB22ABC09C}" presName="rootText1" presStyleLbl="alignAcc1" presStyleIdx="0" presStyleCnt="0" custScaleX="153921">
        <dgm:presLayoutVars>
          <dgm:chPref val="3"/>
        </dgm:presLayoutVars>
      </dgm:prSet>
      <dgm:spPr/>
    </dgm:pt>
    <dgm:pt modelId="{1967C967-F228-46EB-89D9-643CD2BF12B9}" type="pres">
      <dgm:prSet presAssocID="{09073471-AE65-4A16-8013-42DB22ABC09C}" presName="topArc1" presStyleLbl="parChTrans1D1" presStyleIdx="0" presStyleCnt="8"/>
      <dgm:spPr>
        <a:ln>
          <a:solidFill>
            <a:srgbClr val="C80482"/>
          </a:solidFill>
        </a:ln>
      </dgm:spPr>
    </dgm:pt>
    <dgm:pt modelId="{09ADC717-3FCE-4BD5-A203-5CF99A82987F}" type="pres">
      <dgm:prSet presAssocID="{09073471-AE65-4A16-8013-42DB22ABC09C}" presName="bottomArc1" presStyleLbl="parChTrans1D1" presStyleIdx="1" presStyleCnt="8"/>
      <dgm:spPr>
        <a:ln>
          <a:solidFill>
            <a:srgbClr val="C80482"/>
          </a:solidFill>
        </a:ln>
      </dgm:spPr>
    </dgm:pt>
    <dgm:pt modelId="{BFC362A2-9EC3-42A0-83A6-1B311D3C7016}" type="pres">
      <dgm:prSet presAssocID="{09073471-AE65-4A16-8013-42DB22ABC09C}" presName="topConnNode1" presStyleLbl="node1" presStyleIdx="0" presStyleCnt="0"/>
      <dgm:spPr/>
    </dgm:pt>
    <dgm:pt modelId="{3696294B-ACB4-44B0-8840-06085C9860ED}" type="pres">
      <dgm:prSet presAssocID="{09073471-AE65-4A16-8013-42DB22ABC09C}" presName="hierChild2" presStyleCnt="0"/>
      <dgm:spPr/>
    </dgm:pt>
    <dgm:pt modelId="{BE6D6929-BA07-4F1D-A047-00ACD834E33B}" type="pres">
      <dgm:prSet presAssocID="{49184F1A-2F53-42D3-9D37-2B20E851334E}" presName="Name28" presStyleLbl="parChTrans1D2" presStyleIdx="0" presStyleCnt="3"/>
      <dgm:spPr/>
    </dgm:pt>
    <dgm:pt modelId="{E66E5A3C-16E7-4A52-B2E1-3913E53CB61A}" type="pres">
      <dgm:prSet presAssocID="{D91AED56-EE77-4619-958A-D33BDBD31E5E}" presName="hierRoot2" presStyleCnt="0">
        <dgm:presLayoutVars>
          <dgm:hierBranch val="init"/>
        </dgm:presLayoutVars>
      </dgm:prSet>
      <dgm:spPr/>
    </dgm:pt>
    <dgm:pt modelId="{457FEC1D-8954-441F-B5C9-6D6956A0540B}" type="pres">
      <dgm:prSet presAssocID="{D91AED56-EE77-4619-958A-D33BDBD31E5E}" presName="rootComposite2" presStyleCnt="0"/>
      <dgm:spPr/>
    </dgm:pt>
    <dgm:pt modelId="{16D0EAD5-0155-4955-98D5-22620D7B680C}" type="pres">
      <dgm:prSet presAssocID="{D91AED56-EE77-4619-958A-D33BDBD31E5E}" presName="rootText2" presStyleLbl="alignAcc1" presStyleIdx="0" presStyleCnt="0">
        <dgm:presLayoutVars>
          <dgm:chPref val="3"/>
        </dgm:presLayoutVars>
      </dgm:prSet>
      <dgm:spPr/>
    </dgm:pt>
    <dgm:pt modelId="{D20761B3-999D-458D-9FFF-4DEA60E13DFC}" type="pres">
      <dgm:prSet presAssocID="{D91AED56-EE77-4619-958A-D33BDBD31E5E}" presName="topArc2" presStyleLbl="parChTrans1D1" presStyleIdx="2" presStyleCnt="8"/>
      <dgm:spPr>
        <a:ln>
          <a:solidFill>
            <a:srgbClr val="C80482"/>
          </a:solidFill>
        </a:ln>
      </dgm:spPr>
    </dgm:pt>
    <dgm:pt modelId="{EF23387C-E573-4E64-9380-C34516FCC0F6}" type="pres">
      <dgm:prSet presAssocID="{D91AED56-EE77-4619-958A-D33BDBD31E5E}" presName="bottomArc2" presStyleLbl="parChTrans1D1" presStyleIdx="3" presStyleCnt="8"/>
      <dgm:spPr>
        <a:ln>
          <a:solidFill>
            <a:srgbClr val="C80482"/>
          </a:solidFill>
        </a:ln>
      </dgm:spPr>
    </dgm:pt>
    <dgm:pt modelId="{1CE8DA25-548C-4866-9CEE-8B58F6EC3D54}" type="pres">
      <dgm:prSet presAssocID="{D91AED56-EE77-4619-958A-D33BDBD31E5E}" presName="topConnNode2" presStyleLbl="node2" presStyleIdx="0" presStyleCnt="0"/>
      <dgm:spPr/>
    </dgm:pt>
    <dgm:pt modelId="{B4FE63A9-9E95-498B-9436-BFDE7C392296}" type="pres">
      <dgm:prSet presAssocID="{D91AED56-EE77-4619-958A-D33BDBD31E5E}" presName="hierChild4" presStyleCnt="0"/>
      <dgm:spPr/>
    </dgm:pt>
    <dgm:pt modelId="{33B36D85-6952-45E8-9B7D-08084726D438}" type="pres">
      <dgm:prSet presAssocID="{D91AED56-EE77-4619-958A-D33BDBD31E5E}" presName="hierChild5" presStyleCnt="0"/>
      <dgm:spPr/>
    </dgm:pt>
    <dgm:pt modelId="{567C68A3-1584-469B-AC8F-5025F2BDE425}" type="pres">
      <dgm:prSet presAssocID="{215EF46C-36AB-4205-8370-E8A567FA030C}" presName="Name28" presStyleLbl="parChTrans1D2" presStyleIdx="1" presStyleCnt="3"/>
      <dgm:spPr/>
    </dgm:pt>
    <dgm:pt modelId="{235C7914-71B6-4EA1-90C8-98F1B6B02F48}" type="pres">
      <dgm:prSet presAssocID="{DA5782F5-3418-4F85-84EE-DD6D74CFEF57}" presName="hierRoot2" presStyleCnt="0">
        <dgm:presLayoutVars>
          <dgm:hierBranch val="init"/>
        </dgm:presLayoutVars>
      </dgm:prSet>
      <dgm:spPr/>
    </dgm:pt>
    <dgm:pt modelId="{0B66B8DF-B444-492C-B462-4C1E43C8D02C}" type="pres">
      <dgm:prSet presAssocID="{DA5782F5-3418-4F85-84EE-DD6D74CFEF57}" presName="rootComposite2" presStyleCnt="0"/>
      <dgm:spPr/>
    </dgm:pt>
    <dgm:pt modelId="{733C0F2A-3816-4BAC-8B4D-E23F3E29E26C}" type="pres">
      <dgm:prSet presAssocID="{DA5782F5-3418-4F85-84EE-DD6D74CFEF57}" presName="rootText2" presStyleLbl="alignAcc1" presStyleIdx="0" presStyleCnt="0">
        <dgm:presLayoutVars>
          <dgm:chPref val="3"/>
        </dgm:presLayoutVars>
      </dgm:prSet>
      <dgm:spPr/>
    </dgm:pt>
    <dgm:pt modelId="{F453EAA0-FBA8-4465-A92E-D4379F66E2E0}" type="pres">
      <dgm:prSet presAssocID="{DA5782F5-3418-4F85-84EE-DD6D74CFEF57}" presName="topArc2" presStyleLbl="parChTrans1D1" presStyleIdx="4" presStyleCnt="8"/>
      <dgm:spPr>
        <a:ln>
          <a:solidFill>
            <a:srgbClr val="C80482"/>
          </a:solidFill>
        </a:ln>
      </dgm:spPr>
    </dgm:pt>
    <dgm:pt modelId="{201D19CA-635C-4A98-A10E-6DA24AFB7CBA}" type="pres">
      <dgm:prSet presAssocID="{DA5782F5-3418-4F85-84EE-DD6D74CFEF57}" presName="bottomArc2" presStyleLbl="parChTrans1D1" presStyleIdx="5" presStyleCnt="8"/>
      <dgm:spPr>
        <a:ln>
          <a:solidFill>
            <a:srgbClr val="C80482"/>
          </a:solidFill>
        </a:ln>
      </dgm:spPr>
    </dgm:pt>
    <dgm:pt modelId="{139D107E-6D2E-4306-A2C6-39C992A25DE3}" type="pres">
      <dgm:prSet presAssocID="{DA5782F5-3418-4F85-84EE-DD6D74CFEF57}" presName="topConnNode2" presStyleLbl="node2" presStyleIdx="0" presStyleCnt="0"/>
      <dgm:spPr/>
    </dgm:pt>
    <dgm:pt modelId="{1C055D2C-7AD1-4005-8B8F-825F8356689D}" type="pres">
      <dgm:prSet presAssocID="{DA5782F5-3418-4F85-84EE-DD6D74CFEF57}" presName="hierChild4" presStyleCnt="0"/>
      <dgm:spPr/>
    </dgm:pt>
    <dgm:pt modelId="{2EAE7B27-8F6B-4784-ABDD-600391F0F9C9}" type="pres">
      <dgm:prSet presAssocID="{DA5782F5-3418-4F85-84EE-DD6D74CFEF57}" presName="hierChild5" presStyleCnt="0"/>
      <dgm:spPr/>
    </dgm:pt>
    <dgm:pt modelId="{823F6323-0FC0-4972-933A-638971F09389}" type="pres">
      <dgm:prSet presAssocID="{F6665D4D-F8A2-488B-8FE9-951AB5570506}" presName="Name28" presStyleLbl="parChTrans1D2" presStyleIdx="2" presStyleCnt="3"/>
      <dgm:spPr/>
    </dgm:pt>
    <dgm:pt modelId="{DFC087F9-709C-472C-83BF-548773936213}" type="pres">
      <dgm:prSet presAssocID="{9B4305C7-8729-4DAB-82A6-9E2F2B399F66}" presName="hierRoot2" presStyleCnt="0">
        <dgm:presLayoutVars>
          <dgm:hierBranch val="init"/>
        </dgm:presLayoutVars>
      </dgm:prSet>
      <dgm:spPr/>
    </dgm:pt>
    <dgm:pt modelId="{FAA1C227-3447-4F2C-8609-29257030E897}" type="pres">
      <dgm:prSet presAssocID="{9B4305C7-8729-4DAB-82A6-9E2F2B399F66}" presName="rootComposite2" presStyleCnt="0"/>
      <dgm:spPr/>
    </dgm:pt>
    <dgm:pt modelId="{A7731729-B9CC-4979-814A-FBFEA3CCAB5C}" type="pres">
      <dgm:prSet presAssocID="{9B4305C7-8729-4DAB-82A6-9E2F2B399F66}" presName="rootText2" presStyleLbl="alignAcc1" presStyleIdx="0" presStyleCnt="0" custLinFactNeighborX="4299">
        <dgm:presLayoutVars>
          <dgm:chPref val="3"/>
        </dgm:presLayoutVars>
      </dgm:prSet>
      <dgm:spPr/>
    </dgm:pt>
    <dgm:pt modelId="{B6AEC485-51E0-48C3-8707-627775569E01}" type="pres">
      <dgm:prSet presAssocID="{9B4305C7-8729-4DAB-82A6-9E2F2B399F66}" presName="topArc2" presStyleLbl="parChTrans1D1" presStyleIdx="6" presStyleCnt="8"/>
      <dgm:spPr>
        <a:ln>
          <a:solidFill>
            <a:srgbClr val="C80482"/>
          </a:solidFill>
        </a:ln>
      </dgm:spPr>
    </dgm:pt>
    <dgm:pt modelId="{71F8EDC1-3972-4220-AB3A-DDAF649830F3}" type="pres">
      <dgm:prSet presAssocID="{9B4305C7-8729-4DAB-82A6-9E2F2B399F66}" presName="bottomArc2" presStyleLbl="parChTrans1D1" presStyleIdx="7" presStyleCnt="8"/>
      <dgm:spPr>
        <a:ln>
          <a:solidFill>
            <a:srgbClr val="C80482"/>
          </a:solidFill>
        </a:ln>
      </dgm:spPr>
    </dgm:pt>
    <dgm:pt modelId="{4245E3E6-79C9-45A7-BEB1-54E84DD9095D}" type="pres">
      <dgm:prSet presAssocID="{9B4305C7-8729-4DAB-82A6-9E2F2B399F66}" presName="topConnNode2" presStyleLbl="node2" presStyleIdx="0" presStyleCnt="0"/>
      <dgm:spPr/>
    </dgm:pt>
    <dgm:pt modelId="{869DC5E8-D064-4BCC-9DAB-916EC5C2E038}" type="pres">
      <dgm:prSet presAssocID="{9B4305C7-8729-4DAB-82A6-9E2F2B399F66}" presName="hierChild4" presStyleCnt="0"/>
      <dgm:spPr/>
    </dgm:pt>
    <dgm:pt modelId="{2C109803-800D-4080-9F93-D1CA10FEFBE3}" type="pres">
      <dgm:prSet presAssocID="{9B4305C7-8729-4DAB-82A6-9E2F2B399F66}" presName="hierChild5" presStyleCnt="0"/>
      <dgm:spPr/>
    </dgm:pt>
    <dgm:pt modelId="{764323B4-D3B0-4161-BC68-A7D1437DAC11}" type="pres">
      <dgm:prSet presAssocID="{09073471-AE65-4A16-8013-42DB22ABC09C}" presName="hierChild3" presStyleCnt="0"/>
      <dgm:spPr/>
    </dgm:pt>
  </dgm:ptLst>
  <dgm:cxnLst>
    <dgm:cxn modelId="{6680201E-5F81-4DF8-9105-7533247D7D2A}" type="presOf" srcId="{215EF46C-36AB-4205-8370-E8A567FA030C}" destId="{567C68A3-1584-469B-AC8F-5025F2BDE425}" srcOrd="0" destOrd="0" presId="urn:microsoft.com/office/officeart/2008/layout/HalfCircleOrganizationChart"/>
    <dgm:cxn modelId="{BA1BBC26-C8E5-432A-810F-F96C56E270CA}" type="presOf" srcId="{D91AED56-EE77-4619-958A-D33BDBD31E5E}" destId="{1CE8DA25-548C-4866-9CEE-8B58F6EC3D54}" srcOrd="1" destOrd="0" presId="urn:microsoft.com/office/officeart/2008/layout/HalfCircleOrganizationChart"/>
    <dgm:cxn modelId="{FAB8C426-A339-468E-9F26-E08339FE68FD}" type="presOf" srcId="{49184F1A-2F53-42D3-9D37-2B20E851334E}" destId="{BE6D6929-BA07-4F1D-A047-00ACD834E33B}" srcOrd="0" destOrd="0" presId="urn:microsoft.com/office/officeart/2008/layout/HalfCircleOrganizationChart"/>
    <dgm:cxn modelId="{AD17D32B-5F67-4850-AD6E-B5C652527F7E}" type="presOf" srcId="{9B4305C7-8729-4DAB-82A6-9E2F2B399F66}" destId="{4245E3E6-79C9-45A7-BEB1-54E84DD9095D}" srcOrd="1" destOrd="0" presId="urn:microsoft.com/office/officeart/2008/layout/HalfCircleOrganizationChart"/>
    <dgm:cxn modelId="{212F5937-D9EF-48B7-8689-B4D0F21F3083}" type="presOf" srcId="{DA5782F5-3418-4F85-84EE-DD6D74CFEF57}" destId="{139D107E-6D2E-4306-A2C6-39C992A25DE3}" srcOrd="1" destOrd="0" presId="urn:microsoft.com/office/officeart/2008/layout/HalfCircleOrganizationChart"/>
    <dgm:cxn modelId="{AE52F85E-B3F0-4786-943B-B650D1C06324}" type="presOf" srcId="{DA5782F5-3418-4F85-84EE-DD6D74CFEF57}" destId="{733C0F2A-3816-4BAC-8B4D-E23F3E29E26C}" srcOrd="0" destOrd="0" presId="urn:microsoft.com/office/officeart/2008/layout/HalfCircleOrganizationChart"/>
    <dgm:cxn modelId="{EC4D3F6A-5259-4475-BB2E-5C3A7DBE0A07}" srcId="{09073471-AE65-4A16-8013-42DB22ABC09C}" destId="{9B4305C7-8729-4DAB-82A6-9E2F2B399F66}" srcOrd="2" destOrd="0" parTransId="{F6665D4D-F8A2-488B-8FE9-951AB5570506}" sibTransId="{48E2EA78-9F5D-4925-9A4D-B603A792568D}"/>
    <dgm:cxn modelId="{0CDD0677-1C9F-48D4-A470-96A8C902F58A}" type="presOf" srcId="{D91AED56-EE77-4619-958A-D33BDBD31E5E}" destId="{16D0EAD5-0155-4955-98D5-22620D7B680C}" srcOrd="0" destOrd="0" presId="urn:microsoft.com/office/officeart/2008/layout/HalfCircleOrganizationChart"/>
    <dgm:cxn modelId="{EAB6BC78-84A2-4325-8573-0B9312203C20}" srcId="{09073471-AE65-4A16-8013-42DB22ABC09C}" destId="{DA5782F5-3418-4F85-84EE-DD6D74CFEF57}" srcOrd="1" destOrd="0" parTransId="{215EF46C-36AB-4205-8370-E8A567FA030C}" sibTransId="{7B201A3E-4FC1-47DE-A6C0-D0D6231BB474}"/>
    <dgm:cxn modelId="{D55905A5-B73D-4332-BC07-F8F9AA417462}" type="presOf" srcId="{9B4305C7-8729-4DAB-82A6-9E2F2B399F66}" destId="{A7731729-B9CC-4979-814A-FBFEA3CCAB5C}" srcOrd="0" destOrd="0" presId="urn:microsoft.com/office/officeart/2008/layout/HalfCircleOrganizationChart"/>
    <dgm:cxn modelId="{70A813C1-90AD-4C69-B3F8-EC76ABC7B09F}" type="presOf" srcId="{09073471-AE65-4A16-8013-42DB22ABC09C}" destId="{7C4E05A0-D1BD-4A54-9BDD-874FF129E1E2}" srcOrd="0" destOrd="0" presId="urn:microsoft.com/office/officeart/2008/layout/HalfCircleOrganizationChart"/>
    <dgm:cxn modelId="{BCA28EC5-9FC4-442B-929A-0B82B69BF9EF}" srcId="{09073471-AE65-4A16-8013-42DB22ABC09C}" destId="{D91AED56-EE77-4619-958A-D33BDBD31E5E}" srcOrd="0" destOrd="0" parTransId="{49184F1A-2F53-42D3-9D37-2B20E851334E}" sibTransId="{8BAC78B3-CF2F-4508-B01D-00ABD0E5C232}"/>
    <dgm:cxn modelId="{55A565CC-563B-43F4-BC05-21BA22945BCD}" type="presOf" srcId="{09073471-AE65-4A16-8013-42DB22ABC09C}" destId="{BFC362A2-9EC3-42A0-83A6-1B311D3C7016}" srcOrd="1" destOrd="0" presId="urn:microsoft.com/office/officeart/2008/layout/HalfCircleOrganizationChart"/>
    <dgm:cxn modelId="{79AA56DB-6C91-4B05-92A6-4D1CEC73D108}" srcId="{D6700F6F-7269-477B-AB64-6279E381B3D7}" destId="{09073471-AE65-4A16-8013-42DB22ABC09C}" srcOrd="0" destOrd="0" parTransId="{76BB54B2-30EB-47C1-A2CB-18FDA9678282}" sibTransId="{631AB571-90A8-4217-BDDA-C07A896A7B6D}"/>
    <dgm:cxn modelId="{FA5142EB-57AF-4B1F-B297-033D2CEC6555}" type="presOf" srcId="{D6700F6F-7269-477B-AB64-6279E381B3D7}" destId="{E2B8D1A6-3D00-4F51-BFD6-318E777228D2}" srcOrd="0" destOrd="0" presId="urn:microsoft.com/office/officeart/2008/layout/HalfCircleOrganizationChart"/>
    <dgm:cxn modelId="{1641B6FB-2C07-495A-AF27-252950EFFD36}" type="presOf" srcId="{F6665D4D-F8A2-488B-8FE9-951AB5570506}" destId="{823F6323-0FC0-4972-933A-638971F09389}" srcOrd="0" destOrd="0" presId="urn:microsoft.com/office/officeart/2008/layout/HalfCircleOrganizationChart"/>
    <dgm:cxn modelId="{A2458CD8-0C3E-49BE-9F41-07BA1DAF8E1A}" type="presParOf" srcId="{E2B8D1A6-3D00-4F51-BFD6-318E777228D2}" destId="{1F9CD6E3-6D5B-43E8-9DE0-530A42DC179B}" srcOrd="0" destOrd="0" presId="urn:microsoft.com/office/officeart/2008/layout/HalfCircleOrganizationChart"/>
    <dgm:cxn modelId="{AB6C96A8-8CFC-4934-BA64-AF8161A14982}" type="presParOf" srcId="{1F9CD6E3-6D5B-43E8-9DE0-530A42DC179B}" destId="{C3432FFC-1F62-4DAC-8FE1-6E4140B4DAD1}" srcOrd="0" destOrd="0" presId="urn:microsoft.com/office/officeart/2008/layout/HalfCircleOrganizationChart"/>
    <dgm:cxn modelId="{C1D477FB-FF5E-4586-9AF6-771360B23BC2}" type="presParOf" srcId="{C3432FFC-1F62-4DAC-8FE1-6E4140B4DAD1}" destId="{7C4E05A0-D1BD-4A54-9BDD-874FF129E1E2}" srcOrd="0" destOrd="0" presId="urn:microsoft.com/office/officeart/2008/layout/HalfCircleOrganizationChart"/>
    <dgm:cxn modelId="{D72BEC8F-B8C6-4791-AB69-352021DDF733}" type="presParOf" srcId="{C3432FFC-1F62-4DAC-8FE1-6E4140B4DAD1}" destId="{1967C967-F228-46EB-89D9-643CD2BF12B9}" srcOrd="1" destOrd="0" presId="urn:microsoft.com/office/officeart/2008/layout/HalfCircleOrganizationChart"/>
    <dgm:cxn modelId="{09018DB1-2E88-47CF-A8D9-96C107D07DA5}" type="presParOf" srcId="{C3432FFC-1F62-4DAC-8FE1-6E4140B4DAD1}" destId="{09ADC717-3FCE-4BD5-A203-5CF99A82987F}" srcOrd="2" destOrd="0" presId="urn:microsoft.com/office/officeart/2008/layout/HalfCircleOrganizationChart"/>
    <dgm:cxn modelId="{EB0E864A-2DB6-4070-9442-9A93B5BFFDD1}" type="presParOf" srcId="{C3432FFC-1F62-4DAC-8FE1-6E4140B4DAD1}" destId="{BFC362A2-9EC3-42A0-83A6-1B311D3C7016}" srcOrd="3" destOrd="0" presId="urn:microsoft.com/office/officeart/2008/layout/HalfCircleOrganizationChart"/>
    <dgm:cxn modelId="{EC8EC737-4E07-488F-8DC6-AE14523ED316}" type="presParOf" srcId="{1F9CD6E3-6D5B-43E8-9DE0-530A42DC179B}" destId="{3696294B-ACB4-44B0-8840-06085C9860ED}" srcOrd="1" destOrd="0" presId="urn:microsoft.com/office/officeart/2008/layout/HalfCircleOrganizationChart"/>
    <dgm:cxn modelId="{CF3FE5E7-CF5A-43F2-90E6-148B5BF38941}" type="presParOf" srcId="{3696294B-ACB4-44B0-8840-06085C9860ED}" destId="{BE6D6929-BA07-4F1D-A047-00ACD834E33B}" srcOrd="0" destOrd="0" presId="urn:microsoft.com/office/officeart/2008/layout/HalfCircleOrganizationChart"/>
    <dgm:cxn modelId="{ECE84DA9-AA73-409E-9312-207DF27ABDDD}" type="presParOf" srcId="{3696294B-ACB4-44B0-8840-06085C9860ED}" destId="{E66E5A3C-16E7-4A52-B2E1-3913E53CB61A}" srcOrd="1" destOrd="0" presId="urn:microsoft.com/office/officeart/2008/layout/HalfCircleOrganizationChart"/>
    <dgm:cxn modelId="{DE1BEF42-CE55-4488-A763-62052301DBF1}" type="presParOf" srcId="{E66E5A3C-16E7-4A52-B2E1-3913E53CB61A}" destId="{457FEC1D-8954-441F-B5C9-6D6956A0540B}" srcOrd="0" destOrd="0" presId="urn:microsoft.com/office/officeart/2008/layout/HalfCircleOrganizationChart"/>
    <dgm:cxn modelId="{BF47114E-F2B8-4ABD-AEB0-B7BF59A2E7C7}" type="presParOf" srcId="{457FEC1D-8954-441F-B5C9-6D6956A0540B}" destId="{16D0EAD5-0155-4955-98D5-22620D7B680C}" srcOrd="0" destOrd="0" presId="urn:microsoft.com/office/officeart/2008/layout/HalfCircleOrganizationChart"/>
    <dgm:cxn modelId="{AA8B55E6-0810-4952-AB4A-ECAAABB9CABA}" type="presParOf" srcId="{457FEC1D-8954-441F-B5C9-6D6956A0540B}" destId="{D20761B3-999D-458D-9FFF-4DEA60E13DFC}" srcOrd="1" destOrd="0" presId="urn:microsoft.com/office/officeart/2008/layout/HalfCircleOrganizationChart"/>
    <dgm:cxn modelId="{E4B7193E-3E53-4E16-A3EE-53041790CF60}" type="presParOf" srcId="{457FEC1D-8954-441F-B5C9-6D6956A0540B}" destId="{EF23387C-E573-4E64-9380-C34516FCC0F6}" srcOrd="2" destOrd="0" presId="urn:microsoft.com/office/officeart/2008/layout/HalfCircleOrganizationChart"/>
    <dgm:cxn modelId="{C3575489-4B06-4AD0-9BCD-CFF97E2FC572}" type="presParOf" srcId="{457FEC1D-8954-441F-B5C9-6D6956A0540B}" destId="{1CE8DA25-548C-4866-9CEE-8B58F6EC3D54}" srcOrd="3" destOrd="0" presId="urn:microsoft.com/office/officeart/2008/layout/HalfCircleOrganizationChart"/>
    <dgm:cxn modelId="{DADA1104-6B2B-44B2-9CF3-199D2B9EC92A}" type="presParOf" srcId="{E66E5A3C-16E7-4A52-B2E1-3913E53CB61A}" destId="{B4FE63A9-9E95-498B-9436-BFDE7C392296}" srcOrd="1" destOrd="0" presId="urn:microsoft.com/office/officeart/2008/layout/HalfCircleOrganizationChart"/>
    <dgm:cxn modelId="{3865CFBF-22D3-43A7-8F01-A8AEA5037C99}" type="presParOf" srcId="{E66E5A3C-16E7-4A52-B2E1-3913E53CB61A}" destId="{33B36D85-6952-45E8-9B7D-08084726D438}" srcOrd="2" destOrd="0" presId="urn:microsoft.com/office/officeart/2008/layout/HalfCircleOrganizationChart"/>
    <dgm:cxn modelId="{ACB027A5-EE02-4D76-8BBC-DA333457E19F}" type="presParOf" srcId="{3696294B-ACB4-44B0-8840-06085C9860ED}" destId="{567C68A3-1584-469B-AC8F-5025F2BDE425}" srcOrd="2" destOrd="0" presId="urn:microsoft.com/office/officeart/2008/layout/HalfCircleOrganizationChart"/>
    <dgm:cxn modelId="{C3880AF2-9139-4F3B-B141-889E7C446B1F}" type="presParOf" srcId="{3696294B-ACB4-44B0-8840-06085C9860ED}" destId="{235C7914-71B6-4EA1-90C8-98F1B6B02F48}" srcOrd="3" destOrd="0" presId="urn:microsoft.com/office/officeart/2008/layout/HalfCircleOrganizationChart"/>
    <dgm:cxn modelId="{A7391FEB-8A9A-4687-BB1E-03E4D3F1011B}" type="presParOf" srcId="{235C7914-71B6-4EA1-90C8-98F1B6B02F48}" destId="{0B66B8DF-B444-492C-B462-4C1E43C8D02C}" srcOrd="0" destOrd="0" presId="urn:microsoft.com/office/officeart/2008/layout/HalfCircleOrganizationChart"/>
    <dgm:cxn modelId="{F2107F7D-7C56-410F-9B64-12031B63C87A}" type="presParOf" srcId="{0B66B8DF-B444-492C-B462-4C1E43C8D02C}" destId="{733C0F2A-3816-4BAC-8B4D-E23F3E29E26C}" srcOrd="0" destOrd="0" presId="urn:microsoft.com/office/officeart/2008/layout/HalfCircleOrganizationChart"/>
    <dgm:cxn modelId="{9023234F-4CDB-4067-A389-DE984E6E141B}" type="presParOf" srcId="{0B66B8DF-B444-492C-B462-4C1E43C8D02C}" destId="{F453EAA0-FBA8-4465-A92E-D4379F66E2E0}" srcOrd="1" destOrd="0" presId="urn:microsoft.com/office/officeart/2008/layout/HalfCircleOrganizationChart"/>
    <dgm:cxn modelId="{8EC40639-7850-4350-8BC1-A3BCA76BCC38}" type="presParOf" srcId="{0B66B8DF-B444-492C-B462-4C1E43C8D02C}" destId="{201D19CA-635C-4A98-A10E-6DA24AFB7CBA}" srcOrd="2" destOrd="0" presId="urn:microsoft.com/office/officeart/2008/layout/HalfCircleOrganizationChart"/>
    <dgm:cxn modelId="{8D30261A-E466-40F8-8524-4C987B58CD3A}" type="presParOf" srcId="{0B66B8DF-B444-492C-B462-4C1E43C8D02C}" destId="{139D107E-6D2E-4306-A2C6-39C992A25DE3}" srcOrd="3" destOrd="0" presId="urn:microsoft.com/office/officeart/2008/layout/HalfCircleOrganizationChart"/>
    <dgm:cxn modelId="{61A778D7-1B9C-4537-956E-B67A31DB294D}" type="presParOf" srcId="{235C7914-71B6-4EA1-90C8-98F1B6B02F48}" destId="{1C055D2C-7AD1-4005-8B8F-825F8356689D}" srcOrd="1" destOrd="0" presId="urn:microsoft.com/office/officeart/2008/layout/HalfCircleOrganizationChart"/>
    <dgm:cxn modelId="{40D3EC48-DE04-4887-A071-E87F48637FEE}" type="presParOf" srcId="{235C7914-71B6-4EA1-90C8-98F1B6B02F48}" destId="{2EAE7B27-8F6B-4784-ABDD-600391F0F9C9}" srcOrd="2" destOrd="0" presId="urn:microsoft.com/office/officeart/2008/layout/HalfCircleOrganizationChart"/>
    <dgm:cxn modelId="{5B7A3D97-0FA6-4DEF-9764-AC8AEF513B95}" type="presParOf" srcId="{3696294B-ACB4-44B0-8840-06085C9860ED}" destId="{823F6323-0FC0-4972-933A-638971F09389}" srcOrd="4" destOrd="0" presId="urn:microsoft.com/office/officeart/2008/layout/HalfCircleOrganizationChart"/>
    <dgm:cxn modelId="{8267CD31-2281-4CC7-BFED-C8B04E85D863}" type="presParOf" srcId="{3696294B-ACB4-44B0-8840-06085C9860ED}" destId="{DFC087F9-709C-472C-83BF-548773936213}" srcOrd="5" destOrd="0" presId="urn:microsoft.com/office/officeart/2008/layout/HalfCircleOrganizationChart"/>
    <dgm:cxn modelId="{9E3AC6FB-4955-4A1A-9EA9-B0E2C376D5CF}" type="presParOf" srcId="{DFC087F9-709C-472C-83BF-548773936213}" destId="{FAA1C227-3447-4F2C-8609-29257030E897}" srcOrd="0" destOrd="0" presId="urn:microsoft.com/office/officeart/2008/layout/HalfCircleOrganizationChart"/>
    <dgm:cxn modelId="{52D631AE-25F8-48B4-98F8-3B22AE6BC34E}" type="presParOf" srcId="{FAA1C227-3447-4F2C-8609-29257030E897}" destId="{A7731729-B9CC-4979-814A-FBFEA3CCAB5C}" srcOrd="0" destOrd="0" presId="urn:microsoft.com/office/officeart/2008/layout/HalfCircleOrganizationChart"/>
    <dgm:cxn modelId="{D506B4E9-E1DE-4EC7-9FA6-DA4449DA0B6C}" type="presParOf" srcId="{FAA1C227-3447-4F2C-8609-29257030E897}" destId="{B6AEC485-51E0-48C3-8707-627775569E01}" srcOrd="1" destOrd="0" presId="urn:microsoft.com/office/officeart/2008/layout/HalfCircleOrganizationChart"/>
    <dgm:cxn modelId="{9D1F7FE1-502D-4F5E-975A-E08CDC303E88}" type="presParOf" srcId="{FAA1C227-3447-4F2C-8609-29257030E897}" destId="{71F8EDC1-3972-4220-AB3A-DDAF649830F3}" srcOrd="2" destOrd="0" presId="urn:microsoft.com/office/officeart/2008/layout/HalfCircleOrganizationChart"/>
    <dgm:cxn modelId="{13912885-2F87-428C-9E0A-7BD8C4E643DE}" type="presParOf" srcId="{FAA1C227-3447-4F2C-8609-29257030E897}" destId="{4245E3E6-79C9-45A7-BEB1-54E84DD9095D}" srcOrd="3" destOrd="0" presId="urn:microsoft.com/office/officeart/2008/layout/HalfCircleOrganizationChart"/>
    <dgm:cxn modelId="{CEEC2D46-9FFE-4E6E-A6CD-AF4D479810DE}" type="presParOf" srcId="{DFC087F9-709C-472C-83BF-548773936213}" destId="{869DC5E8-D064-4BCC-9DAB-916EC5C2E038}" srcOrd="1" destOrd="0" presId="urn:microsoft.com/office/officeart/2008/layout/HalfCircleOrganizationChart"/>
    <dgm:cxn modelId="{DACB3420-1766-4B70-AF13-FD4B16B6E7E8}" type="presParOf" srcId="{DFC087F9-709C-472C-83BF-548773936213}" destId="{2C109803-800D-4080-9F93-D1CA10FEFBE3}" srcOrd="2" destOrd="0" presId="urn:microsoft.com/office/officeart/2008/layout/HalfCircleOrganizationChart"/>
    <dgm:cxn modelId="{79386605-B888-4D37-914B-E9B35CF0C529}" type="presParOf" srcId="{1F9CD6E3-6D5B-43E8-9DE0-530A42DC179B}" destId="{764323B4-D3B0-4161-BC68-A7D1437DAC11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F536BB-61C4-4149-8FA8-800058F4278F}" type="doc">
      <dgm:prSet loTypeId="urn:microsoft.com/office/officeart/2008/layout/HorizontalMultiLevelHierarchy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78BE8C-458E-4005-B8F1-BEA07978FA87}">
      <dgm:prSet phldrT="[Text]" custT="1"/>
      <dgm:spPr>
        <a:solidFill>
          <a:srgbClr val="EBFFFE"/>
        </a:solidFill>
      </dgm:spPr>
      <dgm:t>
        <a:bodyPr/>
        <a:lstStyle/>
        <a:p>
          <a:r>
            <a:rPr lang="en-US" sz="2600" dirty="0"/>
            <a:t>Physical Methods </a:t>
          </a:r>
        </a:p>
      </dgm:t>
    </dgm:pt>
    <dgm:pt modelId="{9AD94144-BDEE-48E3-83D6-B4324F3BF6AF}" type="parTrans" cxnId="{94EEAE03-B3D6-4DA6-8CF6-140F31CEB41F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77FBC621-1118-44BD-B157-FEE5B45702B2}" type="sibTrans" cxnId="{94EEAE03-B3D6-4DA6-8CF6-140F31CEB41F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EA2CC853-1E4C-4574-854D-6756846300E4}">
      <dgm:prSet phldrT="[Text]"/>
      <dgm:spPr>
        <a:solidFill>
          <a:srgbClr val="EBFFFE"/>
        </a:solidFill>
      </dgm:spPr>
      <dgm:t>
        <a:bodyPr/>
        <a:lstStyle/>
        <a:p>
          <a:r>
            <a:rPr lang="en-US"/>
            <a:t>Dipole Moments</a:t>
          </a:r>
          <a:endParaRPr lang="en-US" dirty="0"/>
        </a:p>
      </dgm:t>
    </dgm:pt>
    <dgm:pt modelId="{06C51B7B-C59C-4D3B-B93D-F7AEBD4AC31D}" type="parTrans" cxnId="{60BD6535-9306-4084-AE01-8C1DEE7D9BFB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757EB7FA-3392-49B3-B537-D311990B4B21}" type="sibTrans" cxnId="{60BD6535-9306-4084-AE01-8C1DEE7D9BFB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FC669BD8-8DA2-4291-92B4-C07EABE46AEE}">
      <dgm:prSet phldrT="[Text]"/>
      <dgm:spPr>
        <a:solidFill>
          <a:srgbClr val="EBFFFE"/>
        </a:solidFill>
      </dgm:spPr>
      <dgm:t>
        <a:bodyPr/>
        <a:lstStyle/>
        <a:p>
          <a:r>
            <a:rPr lang="en-US" dirty="0"/>
            <a:t>Melting Points</a:t>
          </a:r>
        </a:p>
      </dgm:t>
    </dgm:pt>
    <dgm:pt modelId="{DE53C340-EA4C-4853-9B4C-278EC3AFD62F}" type="parTrans" cxnId="{E4C84A47-68C0-46CF-BA97-3E225374A0D1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FFADDC71-6579-435A-93E2-808623270CAB}" type="sibTrans" cxnId="{E4C84A47-68C0-46CF-BA97-3E225374A0D1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0B12CD27-E157-4C99-97C3-CDD55AE28676}">
      <dgm:prSet phldrT="[Text]"/>
      <dgm:spPr>
        <a:solidFill>
          <a:srgbClr val="EBFFFE"/>
        </a:solidFill>
      </dgm:spPr>
      <dgm:t>
        <a:bodyPr/>
        <a:lstStyle/>
        <a:p>
          <a:r>
            <a:rPr lang="en-US"/>
            <a:t>UV-Vis spectra </a:t>
          </a:r>
          <a:endParaRPr lang="en-US" dirty="0"/>
        </a:p>
      </dgm:t>
    </dgm:pt>
    <dgm:pt modelId="{F347FD1F-7CAB-494B-82D9-C2362952E06F}" type="parTrans" cxnId="{2EC95288-4B43-48EE-9FA3-720C49E7000D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C99B799D-D6FA-4E8F-AC07-C9FE3DB01EB2}" type="sibTrans" cxnId="{2EC95288-4B43-48EE-9FA3-720C49E7000D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A7C87EC4-CD28-4381-B0F1-DBF8F7821DD1}">
      <dgm:prSet phldrT="[Text]"/>
      <dgm:spPr>
        <a:solidFill>
          <a:srgbClr val="EBFFFE"/>
        </a:solidFill>
      </dgm:spPr>
      <dgm:t>
        <a:bodyPr/>
        <a:lstStyle/>
        <a:p>
          <a:r>
            <a:rPr lang="en-US"/>
            <a:t>IR spectra</a:t>
          </a:r>
          <a:endParaRPr lang="en-US" dirty="0"/>
        </a:p>
      </dgm:t>
    </dgm:pt>
    <dgm:pt modelId="{797132B1-99D5-4C82-ABCA-F65C27479277}" type="parTrans" cxnId="{5BC24EDD-94F0-4703-91B8-0805B7AD43F5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8C170F34-2CA9-41A7-95E9-FD1693D388A1}" type="sibTrans" cxnId="{5BC24EDD-94F0-4703-91B8-0805B7AD43F5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53554704-833F-431B-B550-2D2307EE9197}">
      <dgm:prSet phldrT="[Text]"/>
      <dgm:spPr>
        <a:solidFill>
          <a:srgbClr val="EBFFFE"/>
        </a:solidFill>
      </dgm:spPr>
      <dgm:t>
        <a:bodyPr/>
        <a:lstStyle/>
        <a:p>
          <a:r>
            <a:rPr lang="en-US"/>
            <a:t>NMR spectra</a:t>
          </a:r>
          <a:endParaRPr lang="en-US" dirty="0"/>
        </a:p>
      </dgm:t>
    </dgm:pt>
    <dgm:pt modelId="{7352A4F0-CA31-4FFC-873C-52673CD50069}" type="parTrans" cxnId="{79AFF600-79FD-4EE9-920B-515300AD735C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94BC88F0-73CC-4DDC-B407-E750A66F6C6A}" type="sibTrans" cxnId="{79AFF600-79FD-4EE9-920B-515300AD735C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1BCF649B-B1B5-49B9-9F10-48A189FB913A}" type="pres">
      <dgm:prSet presAssocID="{6CF536BB-61C4-4149-8FA8-800058F4278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E2D9E29-BD82-4A70-8DA3-42D956CBA7F6}" type="pres">
      <dgm:prSet presAssocID="{3678BE8C-458E-4005-B8F1-BEA07978FA87}" presName="root1" presStyleCnt="0"/>
      <dgm:spPr/>
    </dgm:pt>
    <dgm:pt modelId="{0189E65C-5538-4B88-A28E-76ED31D65E45}" type="pres">
      <dgm:prSet presAssocID="{3678BE8C-458E-4005-B8F1-BEA07978FA87}" presName="LevelOneTextNode" presStyleLbl="node0" presStyleIdx="0" presStyleCnt="1" custScaleY="76464" custLinFactX="-8463" custLinFactNeighborX="-100000" custLinFactNeighborY="-1679">
        <dgm:presLayoutVars>
          <dgm:chPref val="3"/>
        </dgm:presLayoutVars>
      </dgm:prSet>
      <dgm:spPr/>
    </dgm:pt>
    <dgm:pt modelId="{BDF62B26-C587-40D3-B2F4-B0941BC7317C}" type="pres">
      <dgm:prSet presAssocID="{3678BE8C-458E-4005-B8F1-BEA07978FA87}" presName="level2hierChild" presStyleCnt="0"/>
      <dgm:spPr/>
    </dgm:pt>
    <dgm:pt modelId="{B937A5A0-C1AD-495A-9EAF-04F612ABDBA8}" type="pres">
      <dgm:prSet presAssocID="{06C51B7B-C59C-4D3B-B93D-F7AEBD4AC31D}" presName="conn2-1" presStyleLbl="parChTrans1D2" presStyleIdx="0" presStyleCnt="5"/>
      <dgm:spPr/>
    </dgm:pt>
    <dgm:pt modelId="{2B8E2790-011E-4B8B-84E0-53A55B7265FD}" type="pres">
      <dgm:prSet presAssocID="{06C51B7B-C59C-4D3B-B93D-F7AEBD4AC31D}" presName="connTx" presStyleLbl="parChTrans1D2" presStyleIdx="0" presStyleCnt="5"/>
      <dgm:spPr/>
    </dgm:pt>
    <dgm:pt modelId="{777115A2-7B46-4542-8362-94B9EFD5080D}" type="pres">
      <dgm:prSet presAssocID="{EA2CC853-1E4C-4574-854D-6756846300E4}" presName="root2" presStyleCnt="0"/>
      <dgm:spPr/>
    </dgm:pt>
    <dgm:pt modelId="{AFB854FC-338F-434C-9694-73CC73811803}" type="pres">
      <dgm:prSet presAssocID="{EA2CC853-1E4C-4574-854D-6756846300E4}" presName="LevelTwoTextNode" presStyleLbl="node2" presStyleIdx="0" presStyleCnt="5">
        <dgm:presLayoutVars>
          <dgm:chPref val="3"/>
        </dgm:presLayoutVars>
      </dgm:prSet>
      <dgm:spPr/>
    </dgm:pt>
    <dgm:pt modelId="{EBD713E3-E0BB-4174-AF79-F62ED001BC15}" type="pres">
      <dgm:prSet presAssocID="{EA2CC853-1E4C-4574-854D-6756846300E4}" presName="level3hierChild" presStyleCnt="0"/>
      <dgm:spPr/>
    </dgm:pt>
    <dgm:pt modelId="{8F8A2226-6712-4A89-AA89-99423857F862}" type="pres">
      <dgm:prSet presAssocID="{DE53C340-EA4C-4853-9B4C-278EC3AFD62F}" presName="conn2-1" presStyleLbl="parChTrans1D2" presStyleIdx="1" presStyleCnt="5"/>
      <dgm:spPr/>
    </dgm:pt>
    <dgm:pt modelId="{EE213BDB-EDF3-4E6B-B286-A61422F0F043}" type="pres">
      <dgm:prSet presAssocID="{DE53C340-EA4C-4853-9B4C-278EC3AFD62F}" presName="connTx" presStyleLbl="parChTrans1D2" presStyleIdx="1" presStyleCnt="5"/>
      <dgm:spPr/>
    </dgm:pt>
    <dgm:pt modelId="{01F440F6-ECF0-4485-9A72-F16D8E535CA2}" type="pres">
      <dgm:prSet presAssocID="{FC669BD8-8DA2-4291-92B4-C07EABE46AEE}" presName="root2" presStyleCnt="0"/>
      <dgm:spPr/>
    </dgm:pt>
    <dgm:pt modelId="{E80A7FD3-3E6A-455E-AE54-CC2F1B049922}" type="pres">
      <dgm:prSet presAssocID="{FC669BD8-8DA2-4291-92B4-C07EABE46AEE}" presName="LevelTwoTextNode" presStyleLbl="node2" presStyleIdx="1" presStyleCnt="5">
        <dgm:presLayoutVars>
          <dgm:chPref val="3"/>
        </dgm:presLayoutVars>
      </dgm:prSet>
      <dgm:spPr/>
    </dgm:pt>
    <dgm:pt modelId="{99574DCF-3F35-4393-8E95-0A0826BA9A9F}" type="pres">
      <dgm:prSet presAssocID="{FC669BD8-8DA2-4291-92B4-C07EABE46AEE}" presName="level3hierChild" presStyleCnt="0"/>
      <dgm:spPr/>
    </dgm:pt>
    <dgm:pt modelId="{B4648D66-4EEB-49EF-A1CA-4143CF84C044}" type="pres">
      <dgm:prSet presAssocID="{F347FD1F-7CAB-494B-82D9-C2362952E06F}" presName="conn2-1" presStyleLbl="parChTrans1D2" presStyleIdx="2" presStyleCnt="5"/>
      <dgm:spPr/>
    </dgm:pt>
    <dgm:pt modelId="{50E8A6C3-6A67-4452-837E-B2B22497CB99}" type="pres">
      <dgm:prSet presAssocID="{F347FD1F-7CAB-494B-82D9-C2362952E06F}" presName="connTx" presStyleLbl="parChTrans1D2" presStyleIdx="2" presStyleCnt="5"/>
      <dgm:spPr/>
    </dgm:pt>
    <dgm:pt modelId="{EFF5139B-C639-4826-9A6E-036EF9C538EE}" type="pres">
      <dgm:prSet presAssocID="{0B12CD27-E157-4C99-97C3-CDD55AE28676}" presName="root2" presStyleCnt="0"/>
      <dgm:spPr/>
    </dgm:pt>
    <dgm:pt modelId="{23E7FB76-C003-42DD-ACCD-3C995EF270D4}" type="pres">
      <dgm:prSet presAssocID="{0B12CD27-E157-4C99-97C3-CDD55AE28676}" presName="LevelTwoTextNode" presStyleLbl="node2" presStyleIdx="2" presStyleCnt="5" custLinFactNeighborY="-6265">
        <dgm:presLayoutVars>
          <dgm:chPref val="3"/>
        </dgm:presLayoutVars>
      </dgm:prSet>
      <dgm:spPr/>
    </dgm:pt>
    <dgm:pt modelId="{390081E6-C239-4E19-B3E8-2A4E9C8EBC05}" type="pres">
      <dgm:prSet presAssocID="{0B12CD27-E157-4C99-97C3-CDD55AE28676}" presName="level3hierChild" presStyleCnt="0"/>
      <dgm:spPr/>
    </dgm:pt>
    <dgm:pt modelId="{593B971A-B68F-4BD7-AAB3-D586D864518C}" type="pres">
      <dgm:prSet presAssocID="{797132B1-99D5-4C82-ABCA-F65C27479277}" presName="conn2-1" presStyleLbl="parChTrans1D2" presStyleIdx="3" presStyleCnt="5"/>
      <dgm:spPr/>
    </dgm:pt>
    <dgm:pt modelId="{4D30B183-3AB9-4C75-A059-8B7E71037FCB}" type="pres">
      <dgm:prSet presAssocID="{797132B1-99D5-4C82-ABCA-F65C27479277}" presName="connTx" presStyleLbl="parChTrans1D2" presStyleIdx="3" presStyleCnt="5"/>
      <dgm:spPr/>
    </dgm:pt>
    <dgm:pt modelId="{286A3298-313B-4B2E-97D7-26E19F89153B}" type="pres">
      <dgm:prSet presAssocID="{A7C87EC4-CD28-4381-B0F1-DBF8F7821DD1}" presName="root2" presStyleCnt="0"/>
      <dgm:spPr/>
    </dgm:pt>
    <dgm:pt modelId="{4795253D-AC19-4E87-896F-7E134F6081EC}" type="pres">
      <dgm:prSet presAssocID="{A7C87EC4-CD28-4381-B0F1-DBF8F7821DD1}" presName="LevelTwoTextNode" presStyleLbl="node2" presStyleIdx="3" presStyleCnt="5">
        <dgm:presLayoutVars>
          <dgm:chPref val="3"/>
        </dgm:presLayoutVars>
      </dgm:prSet>
      <dgm:spPr/>
    </dgm:pt>
    <dgm:pt modelId="{FDE2617F-D7E1-4DD4-AABF-6F8241AB0C11}" type="pres">
      <dgm:prSet presAssocID="{A7C87EC4-CD28-4381-B0F1-DBF8F7821DD1}" presName="level3hierChild" presStyleCnt="0"/>
      <dgm:spPr/>
    </dgm:pt>
    <dgm:pt modelId="{E93AC53E-A288-47CE-83F8-BC1C26FE8ADE}" type="pres">
      <dgm:prSet presAssocID="{7352A4F0-CA31-4FFC-873C-52673CD50069}" presName="conn2-1" presStyleLbl="parChTrans1D2" presStyleIdx="4" presStyleCnt="5"/>
      <dgm:spPr/>
    </dgm:pt>
    <dgm:pt modelId="{8D2E3736-1F03-48CA-A957-19F53CDBD44B}" type="pres">
      <dgm:prSet presAssocID="{7352A4F0-CA31-4FFC-873C-52673CD50069}" presName="connTx" presStyleLbl="parChTrans1D2" presStyleIdx="4" presStyleCnt="5"/>
      <dgm:spPr/>
    </dgm:pt>
    <dgm:pt modelId="{FA05D40C-A985-4199-8B2D-BF0788D93AEA}" type="pres">
      <dgm:prSet presAssocID="{53554704-833F-431B-B550-2D2307EE9197}" presName="root2" presStyleCnt="0"/>
      <dgm:spPr/>
    </dgm:pt>
    <dgm:pt modelId="{E09FF665-FC6A-4891-9999-B6D205B6071E}" type="pres">
      <dgm:prSet presAssocID="{53554704-833F-431B-B550-2D2307EE9197}" presName="LevelTwoTextNode" presStyleLbl="node2" presStyleIdx="4" presStyleCnt="5">
        <dgm:presLayoutVars>
          <dgm:chPref val="3"/>
        </dgm:presLayoutVars>
      </dgm:prSet>
      <dgm:spPr/>
    </dgm:pt>
    <dgm:pt modelId="{A724E266-E1D4-4060-9576-6D6B41F1076F}" type="pres">
      <dgm:prSet presAssocID="{53554704-833F-431B-B550-2D2307EE9197}" presName="level3hierChild" presStyleCnt="0"/>
      <dgm:spPr/>
    </dgm:pt>
  </dgm:ptLst>
  <dgm:cxnLst>
    <dgm:cxn modelId="{79AFF600-79FD-4EE9-920B-515300AD735C}" srcId="{3678BE8C-458E-4005-B8F1-BEA07978FA87}" destId="{53554704-833F-431B-B550-2D2307EE9197}" srcOrd="4" destOrd="0" parTransId="{7352A4F0-CA31-4FFC-873C-52673CD50069}" sibTransId="{94BC88F0-73CC-4DDC-B407-E750A66F6C6A}"/>
    <dgm:cxn modelId="{94EEAE03-B3D6-4DA6-8CF6-140F31CEB41F}" srcId="{6CF536BB-61C4-4149-8FA8-800058F4278F}" destId="{3678BE8C-458E-4005-B8F1-BEA07978FA87}" srcOrd="0" destOrd="0" parTransId="{9AD94144-BDEE-48E3-83D6-B4324F3BF6AF}" sibTransId="{77FBC621-1118-44BD-B157-FEE5B45702B2}"/>
    <dgm:cxn modelId="{C02FF30F-351F-4B0A-94E7-0FBF9BB05B93}" type="presOf" srcId="{7352A4F0-CA31-4FFC-873C-52673CD50069}" destId="{E93AC53E-A288-47CE-83F8-BC1C26FE8ADE}" srcOrd="0" destOrd="0" presId="urn:microsoft.com/office/officeart/2008/layout/HorizontalMultiLevelHierarchy"/>
    <dgm:cxn modelId="{BA4E7915-C2E2-4D92-B06A-BBC7234E8FCD}" type="presOf" srcId="{F347FD1F-7CAB-494B-82D9-C2362952E06F}" destId="{50E8A6C3-6A67-4452-837E-B2B22497CB99}" srcOrd="1" destOrd="0" presId="urn:microsoft.com/office/officeart/2008/layout/HorizontalMultiLevelHierarchy"/>
    <dgm:cxn modelId="{A2B2A71C-C829-4069-B3E6-739B1B03989D}" type="presOf" srcId="{06C51B7B-C59C-4D3B-B93D-F7AEBD4AC31D}" destId="{2B8E2790-011E-4B8B-84E0-53A55B7265FD}" srcOrd="1" destOrd="0" presId="urn:microsoft.com/office/officeart/2008/layout/HorizontalMultiLevelHierarchy"/>
    <dgm:cxn modelId="{5D97CE1D-27F6-432C-99BA-DF4BFB2E9654}" type="presOf" srcId="{DE53C340-EA4C-4853-9B4C-278EC3AFD62F}" destId="{8F8A2226-6712-4A89-AA89-99423857F862}" srcOrd="0" destOrd="0" presId="urn:microsoft.com/office/officeart/2008/layout/HorizontalMultiLevelHierarchy"/>
    <dgm:cxn modelId="{60BD6535-9306-4084-AE01-8C1DEE7D9BFB}" srcId="{3678BE8C-458E-4005-B8F1-BEA07978FA87}" destId="{EA2CC853-1E4C-4574-854D-6756846300E4}" srcOrd="0" destOrd="0" parTransId="{06C51B7B-C59C-4D3B-B93D-F7AEBD4AC31D}" sibTransId="{757EB7FA-3392-49B3-B537-D311990B4B21}"/>
    <dgm:cxn modelId="{2A2C5F3A-B4D3-4E56-99A4-13BF1E8FE8AD}" type="presOf" srcId="{3678BE8C-458E-4005-B8F1-BEA07978FA87}" destId="{0189E65C-5538-4B88-A28E-76ED31D65E45}" srcOrd="0" destOrd="0" presId="urn:microsoft.com/office/officeart/2008/layout/HorizontalMultiLevelHierarchy"/>
    <dgm:cxn modelId="{82AFE43D-C683-4CF0-BD1C-8943C3C68866}" type="presOf" srcId="{797132B1-99D5-4C82-ABCA-F65C27479277}" destId="{593B971A-B68F-4BD7-AAB3-D586D864518C}" srcOrd="0" destOrd="0" presId="urn:microsoft.com/office/officeart/2008/layout/HorizontalMultiLevelHierarchy"/>
    <dgm:cxn modelId="{E4C84A47-68C0-46CF-BA97-3E225374A0D1}" srcId="{3678BE8C-458E-4005-B8F1-BEA07978FA87}" destId="{FC669BD8-8DA2-4291-92B4-C07EABE46AEE}" srcOrd="1" destOrd="0" parTransId="{DE53C340-EA4C-4853-9B4C-278EC3AFD62F}" sibTransId="{FFADDC71-6579-435A-93E2-808623270CAB}"/>
    <dgm:cxn modelId="{F050C751-C1EF-484F-AA05-ACA4D4F2751F}" type="presOf" srcId="{7352A4F0-CA31-4FFC-873C-52673CD50069}" destId="{8D2E3736-1F03-48CA-A957-19F53CDBD44B}" srcOrd="1" destOrd="0" presId="urn:microsoft.com/office/officeart/2008/layout/HorizontalMultiLevelHierarchy"/>
    <dgm:cxn modelId="{3586C779-DB79-46D5-A31D-DB6DBF06B745}" type="presOf" srcId="{53554704-833F-431B-B550-2D2307EE9197}" destId="{E09FF665-FC6A-4891-9999-B6D205B6071E}" srcOrd="0" destOrd="0" presId="urn:microsoft.com/office/officeart/2008/layout/HorizontalMultiLevelHierarchy"/>
    <dgm:cxn modelId="{2FBBF87F-8849-4A0F-B6C1-74093A552804}" type="presOf" srcId="{EA2CC853-1E4C-4574-854D-6756846300E4}" destId="{AFB854FC-338F-434C-9694-73CC73811803}" srcOrd="0" destOrd="0" presId="urn:microsoft.com/office/officeart/2008/layout/HorizontalMultiLevelHierarchy"/>
    <dgm:cxn modelId="{2EC95288-4B43-48EE-9FA3-720C49E7000D}" srcId="{3678BE8C-458E-4005-B8F1-BEA07978FA87}" destId="{0B12CD27-E157-4C99-97C3-CDD55AE28676}" srcOrd="2" destOrd="0" parTransId="{F347FD1F-7CAB-494B-82D9-C2362952E06F}" sibTransId="{C99B799D-D6FA-4E8F-AC07-C9FE3DB01EB2}"/>
    <dgm:cxn modelId="{B5500B8F-AE43-4CF6-8166-7CA92A254775}" type="presOf" srcId="{06C51B7B-C59C-4D3B-B93D-F7AEBD4AC31D}" destId="{B937A5A0-C1AD-495A-9EAF-04F612ABDBA8}" srcOrd="0" destOrd="0" presId="urn:microsoft.com/office/officeart/2008/layout/HorizontalMultiLevelHierarchy"/>
    <dgm:cxn modelId="{F4A7D3A2-A9F2-4A4F-90DC-2B77DB85A4D6}" type="presOf" srcId="{797132B1-99D5-4C82-ABCA-F65C27479277}" destId="{4D30B183-3AB9-4C75-A059-8B7E71037FCB}" srcOrd="1" destOrd="0" presId="urn:microsoft.com/office/officeart/2008/layout/HorizontalMultiLevelHierarchy"/>
    <dgm:cxn modelId="{1A6939C8-C269-49FA-9FAC-C2C8D30FB353}" type="presOf" srcId="{0B12CD27-E157-4C99-97C3-CDD55AE28676}" destId="{23E7FB76-C003-42DD-ACCD-3C995EF270D4}" srcOrd="0" destOrd="0" presId="urn:microsoft.com/office/officeart/2008/layout/HorizontalMultiLevelHierarchy"/>
    <dgm:cxn modelId="{DAE19AC9-ABA7-427E-99FD-44C9DE9B3148}" type="presOf" srcId="{FC669BD8-8DA2-4291-92B4-C07EABE46AEE}" destId="{E80A7FD3-3E6A-455E-AE54-CC2F1B049922}" srcOrd="0" destOrd="0" presId="urn:microsoft.com/office/officeart/2008/layout/HorizontalMultiLevelHierarchy"/>
    <dgm:cxn modelId="{53E09DCD-5C4C-4012-B363-56DA964D41B5}" type="presOf" srcId="{A7C87EC4-CD28-4381-B0F1-DBF8F7821DD1}" destId="{4795253D-AC19-4E87-896F-7E134F6081EC}" srcOrd="0" destOrd="0" presId="urn:microsoft.com/office/officeart/2008/layout/HorizontalMultiLevelHierarchy"/>
    <dgm:cxn modelId="{16C005DB-DE9B-45F5-BD6E-A5E5BC0E7994}" type="presOf" srcId="{F347FD1F-7CAB-494B-82D9-C2362952E06F}" destId="{B4648D66-4EEB-49EF-A1CA-4143CF84C044}" srcOrd="0" destOrd="0" presId="urn:microsoft.com/office/officeart/2008/layout/HorizontalMultiLevelHierarchy"/>
    <dgm:cxn modelId="{5BC24EDD-94F0-4703-91B8-0805B7AD43F5}" srcId="{3678BE8C-458E-4005-B8F1-BEA07978FA87}" destId="{A7C87EC4-CD28-4381-B0F1-DBF8F7821DD1}" srcOrd="3" destOrd="0" parTransId="{797132B1-99D5-4C82-ABCA-F65C27479277}" sibTransId="{8C170F34-2CA9-41A7-95E9-FD1693D388A1}"/>
    <dgm:cxn modelId="{5A20BFF3-B776-4EBE-8112-1CA885B2243A}" type="presOf" srcId="{6CF536BB-61C4-4149-8FA8-800058F4278F}" destId="{1BCF649B-B1B5-49B9-9F10-48A189FB913A}" srcOrd="0" destOrd="0" presId="urn:microsoft.com/office/officeart/2008/layout/HorizontalMultiLevelHierarchy"/>
    <dgm:cxn modelId="{B2F108F6-73D7-4847-86AC-3C94373996CD}" type="presOf" srcId="{DE53C340-EA4C-4853-9B4C-278EC3AFD62F}" destId="{EE213BDB-EDF3-4E6B-B286-A61422F0F043}" srcOrd="1" destOrd="0" presId="urn:microsoft.com/office/officeart/2008/layout/HorizontalMultiLevelHierarchy"/>
    <dgm:cxn modelId="{459D9462-D0AB-43A4-BCC5-63C103AB48B5}" type="presParOf" srcId="{1BCF649B-B1B5-49B9-9F10-48A189FB913A}" destId="{DE2D9E29-BD82-4A70-8DA3-42D956CBA7F6}" srcOrd="0" destOrd="0" presId="urn:microsoft.com/office/officeart/2008/layout/HorizontalMultiLevelHierarchy"/>
    <dgm:cxn modelId="{879012FB-D816-42AF-AAFA-365CEE95EB0A}" type="presParOf" srcId="{DE2D9E29-BD82-4A70-8DA3-42D956CBA7F6}" destId="{0189E65C-5538-4B88-A28E-76ED31D65E45}" srcOrd="0" destOrd="0" presId="urn:microsoft.com/office/officeart/2008/layout/HorizontalMultiLevelHierarchy"/>
    <dgm:cxn modelId="{7194CF75-3C4E-40C4-B0DB-856E9FEA45FB}" type="presParOf" srcId="{DE2D9E29-BD82-4A70-8DA3-42D956CBA7F6}" destId="{BDF62B26-C587-40D3-B2F4-B0941BC7317C}" srcOrd="1" destOrd="0" presId="urn:microsoft.com/office/officeart/2008/layout/HorizontalMultiLevelHierarchy"/>
    <dgm:cxn modelId="{A81E1FCA-1AEC-4309-86E0-50DC234E3605}" type="presParOf" srcId="{BDF62B26-C587-40D3-B2F4-B0941BC7317C}" destId="{B937A5A0-C1AD-495A-9EAF-04F612ABDBA8}" srcOrd="0" destOrd="0" presId="urn:microsoft.com/office/officeart/2008/layout/HorizontalMultiLevelHierarchy"/>
    <dgm:cxn modelId="{54D78EE1-0B53-4533-8D6F-B0AD4E7C8905}" type="presParOf" srcId="{B937A5A0-C1AD-495A-9EAF-04F612ABDBA8}" destId="{2B8E2790-011E-4B8B-84E0-53A55B7265FD}" srcOrd="0" destOrd="0" presId="urn:microsoft.com/office/officeart/2008/layout/HorizontalMultiLevelHierarchy"/>
    <dgm:cxn modelId="{86F590FE-E080-4466-BD3E-5F0C053E3B7D}" type="presParOf" srcId="{BDF62B26-C587-40D3-B2F4-B0941BC7317C}" destId="{777115A2-7B46-4542-8362-94B9EFD5080D}" srcOrd="1" destOrd="0" presId="urn:microsoft.com/office/officeart/2008/layout/HorizontalMultiLevelHierarchy"/>
    <dgm:cxn modelId="{974E6989-6270-42BD-8980-13E45DE706D9}" type="presParOf" srcId="{777115A2-7B46-4542-8362-94B9EFD5080D}" destId="{AFB854FC-338F-434C-9694-73CC73811803}" srcOrd="0" destOrd="0" presId="urn:microsoft.com/office/officeart/2008/layout/HorizontalMultiLevelHierarchy"/>
    <dgm:cxn modelId="{BAE55294-5B13-4444-B466-888485637F98}" type="presParOf" srcId="{777115A2-7B46-4542-8362-94B9EFD5080D}" destId="{EBD713E3-E0BB-4174-AF79-F62ED001BC15}" srcOrd="1" destOrd="0" presId="urn:microsoft.com/office/officeart/2008/layout/HorizontalMultiLevelHierarchy"/>
    <dgm:cxn modelId="{A205FD9E-CF4C-48B8-B2B0-3FC2D8A64B40}" type="presParOf" srcId="{BDF62B26-C587-40D3-B2F4-B0941BC7317C}" destId="{8F8A2226-6712-4A89-AA89-99423857F862}" srcOrd="2" destOrd="0" presId="urn:microsoft.com/office/officeart/2008/layout/HorizontalMultiLevelHierarchy"/>
    <dgm:cxn modelId="{62EA026E-CC0D-4BCF-9D65-A88128A41273}" type="presParOf" srcId="{8F8A2226-6712-4A89-AA89-99423857F862}" destId="{EE213BDB-EDF3-4E6B-B286-A61422F0F043}" srcOrd="0" destOrd="0" presId="urn:microsoft.com/office/officeart/2008/layout/HorizontalMultiLevelHierarchy"/>
    <dgm:cxn modelId="{50C7F1C2-D259-4B50-A31B-9CEF08D42755}" type="presParOf" srcId="{BDF62B26-C587-40D3-B2F4-B0941BC7317C}" destId="{01F440F6-ECF0-4485-9A72-F16D8E535CA2}" srcOrd="3" destOrd="0" presId="urn:microsoft.com/office/officeart/2008/layout/HorizontalMultiLevelHierarchy"/>
    <dgm:cxn modelId="{5376D9F7-31E0-4464-A9CE-5468379EF3BC}" type="presParOf" srcId="{01F440F6-ECF0-4485-9A72-F16D8E535CA2}" destId="{E80A7FD3-3E6A-455E-AE54-CC2F1B049922}" srcOrd="0" destOrd="0" presId="urn:microsoft.com/office/officeart/2008/layout/HorizontalMultiLevelHierarchy"/>
    <dgm:cxn modelId="{792DFEA7-8947-43BC-8AE3-FB627A55A710}" type="presParOf" srcId="{01F440F6-ECF0-4485-9A72-F16D8E535CA2}" destId="{99574DCF-3F35-4393-8E95-0A0826BA9A9F}" srcOrd="1" destOrd="0" presId="urn:microsoft.com/office/officeart/2008/layout/HorizontalMultiLevelHierarchy"/>
    <dgm:cxn modelId="{75503CBA-9A90-4AFF-BB24-A4943F45CBA8}" type="presParOf" srcId="{BDF62B26-C587-40D3-B2F4-B0941BC7317C}" destId="{B4648D66-4EEB-49EF-A1CA-4143CF84C044}" srcOrd="4" destOrd="0" presId="urn:microsoft.com/office/officeart/2008/layout/HorizontalMultiLevelHierarchy"/>
    <dgm:cxn modelId="{BCF87A1B-2F82-4815-8917-6DDCB21E456F}" type="presParOf" srcId="{B4648D66-4EEB-49EF-A1CA-4143CF84C044}" destId="{50E8A6C3-6A67-4452-837E-B2B22497CB99}" srcOrd="0" destOrd="0" presId="urn:microsoft.com/office/officeart/2008/layout/HorizontalMultiLevelHierarchy"/>
    <dgm:cxn modelId="{3871A91E-5402-4E63-A26C-6A706458A2FC}" type="presParOf" srcId="{BDF62B26-C587-40D3-B2F4-B0941BC7317C}" destId="{EFF5139B-C639-4826-9A6E-036EF9C538EE}" srcOrd="5" destOrd="0" presId="urn:microsoft.com/office/officeart/2008/layout/HorizontalMultiLevelHierarchy"/>
    <dgm:cxn modelId="{9C4A79E6-8F61-4B4C-86C7-046846F5C698}" type="presParOf" srcId="{EFF5139B-C639-4826-9A6E-036EF9C538EE}" destId="{23E7FB76-C003-42DD-ACCD-3C995EF270D4}" srcOrd="0" destOrd="0" presId="urn:microsoft.com/office/officeart/2008/layout/HorizontalMultiLevelHierarchy"/>
    <dgm:cxn modelId="{F0E65BB4-12F5-4061-A09F-00EE7D5D3772}" type="presParOf" srcId="{EFF5139B-C639-4826-9A6E-036EF9C538EE}" destId="{390081E6-C239-4E19-B3E8-2A4E9C8EBC05}" srcOrd="1" destOrd="0" presId="urn:microsoft.com/office/officeart/2008/layout/HorizontalMultiLevelHierarchy"/>
    <dgm:cxn modelId="{D50EBA5C-0898-4529-B2E0-A130C886B14B}" type="presParOf" srcId="{BDF62B26-C587-40D3-B2F4-B0941BC7317C}" destId="{593B971A-B68F-4BD7-AAB3-D586D864518C}" srcOrd="6" destOrd="0" presId="urn:microsoft.com/office/officeart/2008/layout/HorizontalMultiLevelHierarchy"/>
    <dgm:cxn modelId="{B11E83FE-616B-4E8C-8668-2EFD7753D619}" type="presParOf" srcId="{593B971A-B68F-4BD7-AAB3-D586D864518C}" destId="{4D30B183-3AB9-4C75-A059-8B7E71037FCB}" srcOrd="0" destOrd="0" presId="urn:microsoft.com/office/officeart/2008/layout/HorizontalMultiLevelHierarchy"/>
    <dgm:cxn modelId="{E44825D9-CF55-4558-8AA4-16AC776E0EB7}" type="presParOf" srcId="{BDF62B26-C587-40D3-B2F4-B0941BC7317C}" destId="{286A3298-313B-4B2E-97D7-26E19F89153B}" srcOrd="7" destOrd="0" presId="urn:microsoft.com/office/officeart/2008/layout/HorizontalMultiLevelHierarchy"/>
    <dgm:cxn modelId="{391D8399-A76B-49D1-9985-7FF70CA7D819}" type="presParOf" srcId="{286A3298-313B-4B2E-97D7-26E19F89153B}" destId="{4795253D-AC19-4E87-896F-7E134F6081EC}" srcOrd="0" destOrd="0" presId="urn:microsoft.com/office/officeart/2008/layout/HorizontalMultiLevelHierarchy"/>
    <dgm:cxn modelId="{EF10C2EE-AE44-478F-B33E-95970543611B}" type="presParOf" srcId="{286A3298-313B-4B2E-97D7-26E19F89153B}" destId="{FDE2617F-D7E1-4DD4-AABF-6F8241AB0C11}" srcOrd="1" destOrd="0" presId="urn:microsoft.com/office/officeart/2008/layout/HorizontalMultiLevelHierarchy"/>
    <dgm:cxn modelId="{F472FA3E-3EF7-45F2-BBC4-9DA9021D0D87}" type="presParOf" srcId="{BDF62B26-C587-40D3-B2F4-B0941BC7317C}" destId="{E93AC53E-A288-47CE-83F8-BC1C26FE8ADE}" srcOrd="8" destOrd="0" presId="urn:microsoft.com/office/officeart/2008/layout/HorizontalMultiLevelHierarchy"/>
    <dgm:cxn modelId="{3B12F303-88D8-4152-A9E5-199A99B8509A}" type="presParOf" srcId="{E93AC53E-A288-47CE-83F8-BC1C26FE8ADE}" destId="{8D2E3736-1F03-48CA-A957-19F53CDBD44B}" srcOrd="0" destOrd="0" presId="urn:microsoft.com/office/officeart/2008/layout/HorizontalMultiLevelHierarchy"/>
    <dgm:cxn modelId="{FCEA95F4-081E-49DD-940D-215B36910C6B}" type="presParOf" srcId="{BDF62B26-C587-40D3-B2F4-B0941BC7317C}" destId="{FA05D40C-A985-4199-8B2D-BF0788D93AEA}" srcOrd="9" destOrd="0" presId="urn:microsoft.com/office/officeart/2008/layout/HorizontalMultiLevelHierarchy"/>
    <dgm:cxn modelId="{F7B8CC7E-2A30-407F-9922-052B300356AA}" type="presParOf" srcId="{FA05D40C-A985-4199-8B2D-BF0788D93AEA}" destId="{E09FF665-FC6A-4891-9999-B6D205B6071E}" srcOrd="0" destOrd="0" presId="urn:microsoft.com/office/officeart/2008/layout/HorizontalMultiLevelHierarchy"/>
    <dgm:cxn modelId="{400BA769-C549-4D52-B9CE-E2ED085470DF}" type="presParOf" srcId="{FA05D40C-A985-4199-8B2D-BF0788D93AEA}" destId="{A724E266-E1D4-4060-9576-6D6B41F1076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C2E59D-F992-4757-BA8C-A9663F251B7F}">
      <dsp:nvSpPr>
        <dsp:cNvPr id="0" name=""/>
        <dsp:cNvSpPr/>
      </dsp:nvSpPr>
      <dsp:spPr>
        <a:xfrm>
          <a:off x="177851" y="814720"/>
          <a:ext cx="2849154" cy="2385677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26DC7D-5B2D-4F29-89B6-B505491293FF}">
      <dsp:nvSpPr>
        <dsp:cNvPr id="0" name=""/>
        <dsp:cNvSpPr/>
      </dsp:nvSpPr>
      <dsp:spPr>
        <a:xfrm>
          <a:off x="1354417" y="824136"/>
          <a:ext cx="4050247" cy="232152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100" kern="1200" dirty="0">
              <a:latin typeface="Times New Roman" pitchFamily="18" charset="0"/>
              <a:cs typeface="Times New Roman" pitchFamily="18" charset="0"/>
            </a:rPr>
            <a:t>The chirality centers in I and II have the same </a:t>
          </a:r>
          <a:r>
            <a:rPr lang="en-US" sz="2100" b="1" kern="120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rPr>
            <a:t>relative configuration</a:t>
          </a:r>
          <a:r>
            <a:rPr lang="en-US" sz="2100" kern="1200" dirty="0">
              <a:latin typeface="Times New Roman" pitchFamily="18" charset="0"/>
              <a:cs typeface="Times New Roman" pitchFamily="18" charset="0"/>
            </a:rPr>
            <a:t>, because they share </a:t>
          </a:r>
          <a:r>
            <a:rPr lang="en-US" sz="2100" kern="1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same three groups </a:t>
          </a:r>
          <a:r>
            <a:rPr lang="en-US" sz="2100" kern="1200" dirty="0">
              <a:latin typeface="Times New Roman" pitchFamily="18" charset="0"/>
              <a:cs typeface="Times New Roman" pitchFamily="18" charset="0"/>
            </a:rPr>
            <a:t>and these groups with the central carbon can be superposed in a pyramidal arrangement.</a:t>
          </a:r>
        </a:p>
      </dsp:txBody>
      <dsp:txXfrm>
        <a:off x="1467744" y="937463"/>
        <a:ext cx="3823593" cy="20948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3F6323-0FC0-4972-933A-638971F09389}">
      <dsp:nvSpPr>
        <dsp:cNvPr id="0" name=""/>
        <dsp:cNvSpPr/>
      </dsp:nvSpPr>
      <dsp:spPr>
        <a:xfrm>
          <a:off x="3771900" y="1800423"/>
          <a:ext cx="2669153" cy="463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1576"/>
              </a:lnTo>
              <a:lnTo>
                <a:pt x="2669153" y="231576"/>
              </a:lnTo>
              <a:lnTo>
                <a:pt x="2669153" y="463153"/>
              </a:lnTo>
            </a:path>
          </a:pathLst>
        </a:cu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7C68A3-1584-469B-AC8F-5025F2BDE425}">
      <dsp:nvSpPr>
        <dsp:cNvPr id="0" name=""/>
        <dsp:cNvSpPr/>
      </dsp:nvSpPr>
      <dsp:spPr>
        <a:xfrm>
          <a:off x="3726180" y="1800423"/>
          <a:ext cx="91440" cy="4631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3153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6D6929-BA07-4F1D-A047-00ACD834E33B}">
      <dsp:nvSpPr>
        <dsp:cNvPr id="0" name=""/>
        <dsp:cNvSpPr/>
      </dsp:nvSpPr>
      <dsp:spPr>
        <a:xfrm>
          <a:off x="1103253" y="1800423"/>
          <a:ext cx="2668646" cy="463153"/>
        </a:xfrm>
        <a:custGeom>
          <a:avLst/>
          <a:gdLst/>
          <a:ahLst/>
          <a:cxnLst/>
          <a:rect l="0" t="0" r="0" b="0"/>
          <a:pathLst>
            <a:path>
              <a:moveTo>
                <a:pt x="2668646" y="0"/>
              </a:moveTo>
              <a:lnTo>
                <a:pt x="2668646" y="231576"/>
              </a:lnTo>
              <a:lnTo>
                <a:pt x="0" y="231576"/>
              </a:lnTo>
              <a:lnTo>
                <a:pt x="0" y="463153"/>
              </a:lnTo>
            </a:path>
          </a:pathLst>
        </a:cu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67C967-F228-46EB-89D9-643CD2BF12B9}">
      <dsp:nvSpPr>
        <dsp:cNvPr id="0" name=""/>
        <dsp:cNvSpPr/>
      </dsp:nvSpPr>
      <dsp:spPr>
        <a:xfrm>
          <a:off x="2923220" y="697676"/>
          <a:ext cx="1697358" cy="1102746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ADC717-3FCE-4BD5-A203-5CF99A82987F}">
      <dsp:nvSpPr>
        <dsp:cNvPr id="0" name=""/>
        <dsp:cNvSpPr/>
      </dsp:nvSpPr>
      <dsp:spPr>
        <a:xfrm>
          <a:off x="2923220" y="697676"/>
          <a:ext cx="1697358" cy="1102746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4E05A0-D1BD-4A54-9BDD-874FF129E1E2}">
      <dsp:nvSpPr>
        <dsp:cNvPr id="0" name=""/>
        <dsp:cNvSpPr/>
      </dsp:nvSpPr>
      <dsp:spPr>
        <a:xfrm>
          <a:off x="2074541" y="896170"/>
          <a:ext cx="3394717" cy="7057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Comic Sans MS" pitchFamily="66" charset="0"/>
              <a:cs typeface="Times New Roman" pitchFamily="18" charset="0"/>
            </a:rPr>
            <a:t>Chemical Methods</a:t>
          </a:r>
        </a:p>
      </dsp:txBody>
      <dsp:txXfrm>
        <a:off x="2074541" y="896170"/>
        <a:ext cx="3394717" cy="705757"/>
      </dsp:txXfrm>
    </dsp:sp>
    <dsp:sp modelId="{D20761B3-999D-458D-9FFF-4DEA60E13DFC}">
      <dsp:nvSpPr>
        <dsp:cNvPr id="0" name=""/>
        <dsp:cNvSpPr/>
      </dsp:nvSpPr>
      <dsp:spPr>
        <a:xfrm>
          <a:off x="551879" y="2263576"/>
          <a:ext cx="1102746" cy="1102746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23387C-E573-4E64-9380-C34516FCC0F6}">
      <dsp:nvSpPr>
        <dsp:cNvPr id="0" name=""/>
        <dsp:cNvSpPr/>
      </dsp:nvSpPr>
      <dsp:spPr>
        <a:xfrm>
          <a:off x="551879" y="2263576"/>
          <a:ext cx="1102746" cy="1102746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D0EAD5-0155-4955-98D5-22620D7B680C}">
      <dsp:nvSpPr>
        <dsp:cNvPr id="0" name=""/>
        <dsp:cNvSpPr/>
      </dsp:nvSpPr>
      <dsp:spPr>
        <a:xfrm>
          <a:off x="506" y="2462071"/>
          <a:ext cx="2205493" cy="7057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itchFamily="18" charset="0"/>
              <a:cs typeface="Times New Roman" pitchFamily="18" charset="0"/>
            </a:rPr>
            <a:t>Absolute method</a:t>
          </a:r>
        </a:p>
      </dsp:txBody>
      <dsp:txXfrm>
        <a:off x="506" y="2462071"/>
        <a:ext cx="2205493" cy="705757"/>
      </dsp:txXfrm>
    </dsp:sp>
    <dsp:sp modelId="{F453EAA0-FBA8-4465-A92E-D4379F66E2E0}">
      <dsp:nvSpPr>
        <dsp:cNvPr id="0" name=""/>
        <dsp:cNvSpPr/>
      </dsp:nvSpPr>
      <dsp:spPr>
        <a:xfrm>
          <a:off x="3220526" y="2263576"/>
          <a:ext cx="1102746" cy="1102746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1D19CA-635C-4A98-A10E-6DA24AFB7CBA}">
      <dsp:nvSpPr>
        <dsp:cNvPr id="0" name=""/>
        <dsp:cNvSpPr/>
      </dsp:nvSpPr>
      <dsp:spPr>
        <a:xfrm>
          <a:off x="3220526" y="2263576"/>
          <a:ext cx="1102746" cy="1102746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3C0F2A-3816-4BAC-8B4D-E23F3E29E26C}">
      <dsp:nvSpPr>
        <dsp:cNvPr id="0" name=""/>
        <dsp:cNvSpPr/>
      </dsp:nvSpPr>
      <dsp:spPr>
        <a:xfrm>
          <a:off x="2669153" y="2462071"/>
          <a:ext cx="2205493" cy="7057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rPr>
            <a:t>Correlative </a:t>
          </a:r>
          <a:r>
            <a:rPr lang="en-US" sz="26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method</a:t>
          </a:r>
        </a:p>
      </dsp:txBody>
      <dsp:txXfrm>
        <a:off x="2669153" y="2462071"/>
        <a:ext cx="2205493" cy="705757"/>
      </dsp:txXfrm>
    </dsp:sp>
    <dsp:sp modelId="{B6AEC485-51E0-48C3-8707-627775569E01}">
      <dsp:nvSpPr>
        <dsp:cNvPr id="0" name=""/>
        <dsp:cNvSpPr/>
      </dsp:nvSpPr>
      <dsp:spPr>
        <a:xfrm>
          <a:off x="5889680" y="2263576"/>
          <a:ext cx="1102746" cy="1102746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F8EDC1-3972-4220-AB3A-DDAF649830F3}">
      <dsp:nvSpPr>
        <dsp:cNvPr id="0" name=""/>
        <dsp:cNvSpPr/>
      </dsp:nvSpPr>
      <dsp:spPr>
        <a:xfrm>
          <a:off x="5889680" y="2263576"/>
          <a:ext cx="1102746" cy="1102746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731729-B9CC-4979-814A-FBFEA3CCAB5C}">
      <dsp:nvSpPr>
        <dsp:cNvPr id="0" name=""/>
        <dsp:cNvSpPr/>
      </dsp:nvSpPr>
      <dsp:spPr>
        <a:xfrm>
          <a:off x="5338306" y="2462071"/>
          <a:ext cx="2205493" cy="7057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itchFamily="18" charset="0"/>
              <a:cs typeface="Times New Roman" pitchFamily="18" charset="0"/>
            </a:rPr>
            <a:t>Mechanistic method</a:t>
          </a:r>
        </a:p>
      </dsp:txBody>
      <dsp:txXfrm>
        <a:off x="5338306" y="2462071"/>
        <a:ext cx="2205493" cy="7057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3AC53E-A288-47CE-83F8-BC1C26FE8ADE}">
      <dsp:nvSpPr>
        <dsp:cNvPr id="0" name=""/>
        <dsp:cNvSpPr/>
      </dsp:nvSpPr>
      <dsp:spPr>
        <a:xfrm>
          <a:off x="824191" y="1972161"/>
          <a:ext cx="1178664" cy="1752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89332" y="0"/>
              </a:lnTo>
              <a:lnTo>
                <a:pt x="589332" y="1752708"/>
              </a:lnTo>
              <a:lnTo>
                <a:pt x="1178664" y="17527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>
            <a:solidFill>
              <a:srgbClr val="000099"/>
            </a:solidFill>
          </a:endParaRPr>
        </a:p>
      </dsp:txBody>
      <dsp:txXfrm>
        <a:off x="1360719" y="2795711"/>
        <a:ext cx="105608" cy="105608"/>
      </dsp:txXfrm>
    </dsp:sp>
    <dsp:sp modelId="{593B971A-B68F-4BD7-AAB3-D586D864518C}">
      <dsp:nvSpPr>
        <dsp:cNvPr id="0" name=""/>
        <dsp:cNvSpPr/>
      </dsp:nvSpPr>
      <dsp:spPr>
        <a:xfrm>
          <a:off x="824191" y="1972161"/>
          <a:ext cx="1178664" cy="906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89332" y="0"/>
              </a:lnTo>
              <a:lnTo>
                <a:pt x="589332" y="906273"/>
              </a:lnTo>
              <a:lnTo>
                <a:pt x="1178664" y="906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0099"/>
            </a:solidFill>
          </a:endParaRPr>
        </a:p>
      </dsp:txBody>
      <dsp:txXfrm>
        <a:off x="1376353" y="2388128"/>
        <a:ext cx="74340" cy="74340"/>
      </dsp:txXfrm>
    </dsp:sp>
    <dsp:sp modelId="{B4648D66-4EEB-49EF-A1CA-4143CF84C044}">
      <dsp:nvSpPr>
        <dsp:cNvPr id="0" name=""/>
        <dsp:cNvSpPr/>
      </dsp:nvSpPr>
      <dsp:spPr>
        <a:xfrm>
          <a:off x="824191" y="1926441"/>
          <a:ext cx="1178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9332" y="45720"/>
              </a:lnTo>
              <a:lnTo>
                <a:pt x="589332" y="63135"/>
              </a:lnTo>
              <a:lnTo>
                <a:pt x="1178664" y="6313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0099"/>
            </a:solidFill>
          </a:endParaRPr>
        </a:p>
      </dsp:txBody>
      <dsp:txXfrm>
        <a:off x="1384053" y="1942691"/>
        <a:ext cx="58939" cy="58939"/>
      </dsp:txXfrm>
    </dsp:sp>
    <dsp:sp modelId="{8F8A2226-6712-4A89-AA89-99423857F862}">
      <dsp:nvSpPr>
        <dsp:cNvPr id="0" name=""/>
        <dsp:cNvSpPr/>
      </dsp:nvSpPr>
      <dsp:spPr>
        <a:xfrm>
          <a:off x="824191" y="1185564"/>
          <a:ext cx="1178664" cy="786596"/>
        </a:xfrm>
        <a:custGeom>
          <a:avLst/>
          <a:gdLst/>
          <a:ahLst/>
          <a:cxnLst/>
          <a:rect l="0" t="0" r="0" b="0"/>
          <a:pathLst>
            <a:path>
              <a:moveTo>
                <a:pt x="0" y="786596"/>
              </a:moveTo>
              <a:lnTo>
                <a:pt x="589332" y="786596"/>
              </a:lnTo>
              <a:lnTo>
                <a:pt x="589332" y="0"/>
              </a:lnTo>
              <a:lnTo>
                <a:pt x="117866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0099"/>
            </a:solidFill>
          </a:endParaRPr>
        </a:p>
      </dsp:txBody>
      <dsp:txXfrm>
        <a:off x="1378097" y="1543437"/>
        <a:ext cx="70851" cy="70851"/>
      </dsp:txXfrm>
    </dsp:sp>
    <dsp:sp modelId="{B937A5A0-C1AD-495A-9EAF-04F612ABDBA8}">
      <dsp:nvSpPr>
        <dsp:cNvPr id="0" name=""/>
        <dsp:cNvSpPr/>
      </dsp:nvSpPr>
      <dsp:spPr>
        <a:xfrm>
          <a:off x="824191" y="339129"/>
          <a:ext cx="1178664" cy="1633031"/>
        </a:xfrm>
        <a:custGeom>
          <a:avLst/>
          <a:gdLst/>
          <a:ahLst/>
          <a:cxnLst/>
          <a:rect l="0" t="0" r="0" b="0"/>
          <a:pathLst>
            <a:path>
              <a:moveTo>
                <a:pt x="0" y="1633031"/>
              </a:moveTo>
              <a:lnTo>
                <a:pt x="589332" y="1633031"/>
              </a:lnTo>
              <a:lnTo>
                <a:pt x="589332" y="0"/>
              </a:lnTo>
              <a:lnTo>
                <a:pt x="117866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>
            <a:solidFill>
              <a:srgbClr val="000099"/>
            </a:solidFill>
          </a:endParaRPr>
        </a:p>
      </dsp:txBody>
      <dsp:txXfrm>
        <a:off x="1363174" y="1105296"/>
        <a:ext cx="100698" cy="100698"/>
      </dsp:txXfrm>
    </dsp:sp>
    <dsp:sp modelId="{0189E65C-5538-4B88-A28E-76ED31D65E45}">
      <dsp:nvSpPr>
        <dsp:cNvPr id="0" name=""/>
        <dsp:cNvSpPr/>
      </dsp:nvSpPr>
      <dsp:spPr>
        <a:xfrm rot="16200000">
          <a:off x="-876947" y="1633587"/>
          <a:ext cx="2725129" cy="677148"/>
        </a:xfrm>
        <a:prstGeom prst="rect">
          <a:avLst/>
        </a:prstGeom>
        <a:solidFill>
          <a:srgbClr val="EBFFF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Physical Methods </a:t>
          </a:r>
        </a:p>
      </dsp:txBody>
      <dsp:txXfrm>
        <a:off x="-876947" y="1633587"/>
        <a:ext cx="2725129" cy="677148"/>
      </dsp:txXfrm>
    </dsp:sp>
    <dsp:sp modelId="{AFB854FC-338F-434C-9694-73CC73811803}">
      <dsp:nvSpPr>
        <dsp:cNvPr id="0" name=""/>
        <dsp:cNvSpPr/>
      </dsp:nvSpPr>
      <dsp:spPr>
        <a:xfrm>
          <a:off x="2002855" y="555"/>
          <a:ext cx="2221045" cy="677148"/>
        </a:xfrm>
        <a:prstGeom prst="rect">
          <a:avLst/>
        </a:prstGeom>
        <a:solidFill>
          <a:srgbClr val="EBFFF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Dipole Moments</a:t>
          </a:r>
          <a:endParaRPr lang="en-US" sz="2500" kern="1200" dirty="0"/>
        </a:p>
      </dsp:txBody>
      <dsp:txXfrm>
        <a:off x="2002855" y="555"/>
        <a:ext cx="2221045" cy="677148"/>
      </dsp:txXfrm>
    </dsp:sp>
    <dsp:sp modelId="{E80A7FD3-3E6A-455E-AE54-CC2F1B049922}">
      <dsp:nvSpPr>
        <dsp:cNvPr id="0" name=""/>
        <dsp:cNvSpPr/>
      </dsp:nvSpPr>
      <dsp:spPr>
        <a:xfrm>
          <a:off x="2002855" y="846990"/>
          <a:ext cx="2221045" cy="677148"/>
        </a:xfrm>
        <a:prstGeom prst="rect">
          <a:avLst/>
        </a:prstGeom>
        <a:solidFill>
          <a:srgbClr val="EBFFF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Melting Points</a:t>
          </a:r>
        </a:p>
      </dsp:txBody>
      <dsp:txXfrm>
        <a:off x="2002855" y="846990"/>
        <a:ext cx="2221045" cy="677148"/>
      </dsp:txXfrm>
    </dsp:sp>
    <dsp:sp modelId="{23E7FB76-C003-42DD-ACCD-3C995EF270D4}">
      <dsp:nvSpPr>
        <dsp:cNvPr id="0" name=""/>
        <dsp:cNvSpPr/>
      </dsp:nvSpPr>
      <dsp:spPr>
        <a:xfrm>
          <a:off x="2002855" y="1651002"/>
          <a:ext cx="2221045" cy="677148"/>
        </a:xfrm>
        <a:prstGeom prst="rect">
          <a:avLst/>
        </a:prstGeom>
        <a:solidFill>
          <a:srgbClr val="EBFFF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UV-Vis spectra </a:t>
          </a:r>
          <a:endParaRPr lang="en-US" sz="2500" kern="1200" dirty="0"/>
        </a:p>
      </dsp:txBody>
      <dsp:txXfrm>
        <a:off x="2002855" y="1651002"/>
        <a:ext cx="2221045" cy="677148"/>
      </dsp:txXfrm>
    </dsp:sp>
    <dsp:sp modelId="{4795253D-AC19-4E87-896F-7E134F6081EC}">
      <dsp:nvSpPr>
        <dsp:cNvPr id="0" name=""/>
        <dsp:cNvSpPr/>
      </dsp:nvSpPr>
      <dsp:spPr>
        <a:xfrm>
          <a:off x="2002855" y="2539861"/>
          <a:ext cx="2221045" cy="677148"/>
        </a:xfrm>
        <a:prstGeom prst="rect">
          <a:avLst/>
        </a:prstGeom>
        <a:solidFill>
          <a:srgbClr val="EBFFF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IR spectra</a:t>
          </a:r>
          <a:endParaRPr lang="en-US" sz="2500" kern="1200" dirty="0"/>
        </a:p>
      </dsp:txBody>
      <dsp:txXfrm>
        <a:off x="2002855" y="2539861"/>
        <a:ext cx="2221045" cy="677148"/>
      </dsp:txXfrm>
    </dsp:sp>
    <dsp:sp modelId="{E09FF665-FC6A-4891-9999-B6D205B6071E}">
      <dsp:nvSpPr>
        <dsp:cNvPr id="0" name=""/>
        <dsp:cNvSpPr/>
      </dsp:nvSpPr>
      <dsp:spPr>
        <a:xfrm>
          <a:off x="2002855" y="3386296"/>
          <a:ext cx="2221045" cy="677148"/>
        </a:xfrm>
        <a:prstGeom prst="rect">
          <a:avLst/>
        </a:prstGeom>
        <a:solidFill>
          <a:srgbClr val="EBFFF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NMR spectra</a:t>
          </a:r>
          <a:endParaRPr lang="en-US" sz="2500" kern="1200" dirty="0"/>
        </a:p>
      </dsp:txBody>
      <dsp:txXfrm>
        <a:off x="2002855" y="3386296"/>
        <a:ext cx="2221045" cy="677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D6A7B-5500-4495-AE41-A92BE20EB6D8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0D7B-28CF-412F-B790-13805F3982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2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80D7B-28CF-412F-B790-13805F3982C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80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B74CB-4A74-40B4-9827-E4014EAD1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2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BA6B6-A978-485A-95D4-418D3F5876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1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DA6F6-778F-4796-A5B0-385E366BB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8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33C12-B0ED-4EAF-9287-734E40E3B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5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BF0E7-2FC4-40E0-A3A1-5D1294158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7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B8A14-8812-42BE-A1A4-D8D036A6A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0B8AD-9BF6-41F4-96A2-938BD798F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1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02018-89FC-41EB-A79F-7A8ECB099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5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03932-386A-472D-BAAA-59DC2493FB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8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46019-8A5E-4A2F-ACB6-AC68C7DAC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6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6FFB9-1320-4111-BEBC-F13F2A6A9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5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12000">
              <a:srgbClr val="FFFFF3"/>
            </a:gs>
            <a:gs pos="1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8434F40-A5A5-40AB-B940-8543F87F6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wmf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wmf"/><Relationship Id="rId4" Type="http://schemas.openxmlformats.org/officeDocument/2006/relationships/oleObject" Target="../embeddings/oleObject3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wmf"/><Relationship Id="rId4" Type="http://schemas.openxmlformats.org/officeDocument/2006/relationships/oleObject" Target="../embeddings/oleObject4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wmf"/><Relationship Id="rId4" Type="http://schemas.openxmlformats.org/officeDocument/2006/relationships/oleObject" Target="../embeddings/oleObject5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wmf"/><Relationship Id="rId4" Type="http://schemas.openxmlformats.org/officeDocument/2006/relationships/oleObject" Target="../embeddings/oleObject6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wmf"/><Relationship Id="rId4" Type="http://schemas.openxmlformats.org/officeDocument/2006/relationships/oleObject" Target="../embeddings/oleObject7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wmf"/><Relationship Id="rId4" Type="http://schemas.openxmlformats.org/officeDocument/2006/relationships/oleObject" Target="../embeddings/oleObject8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gi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0" Type="http://schemas.openxmlformats.org/officeDocument/2006/relationships/image" Target="../media/image122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123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22.png"/><Relationship Id="rId4" Type="http://schemas.openxmlformats.org/officeDocument/2006/relationships/image" Target="../media/image11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7" Type="http://schemas.openxmlformats.org/officeDocument/2006/relationships/image" Target="../media/image121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25.png"/><Relationship Id="rId4" Type="http://schemas.openxmlformats.org/officeDocument/2006/relationships/image" Target="../media/image11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2" Type="http://schemas.openxmlformats.org/officeDocument/2006/relationships/image" Target="../media/image1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gi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9" Type="http://schemas.openxmlformats.org/officeDocument/2006/relationships/image" Target="../media/image144.gi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gif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39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10" Type="http://schemas.openxmlformats.org/officeDocument/2006/relationships/image" Target="../media/image157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16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69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jpe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3.wmf"/><Relationship Id="rId4" Type="http://schemas.openxmlformats.org/officeDocument/2006/relationships/oleObject" Target="../embeddings/oleObject13.bin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wmf"/><Relationship Id="rId7" Type="http://schemas.openxmlformats.org/officeDocument/2006/relationships/image" Target="../media/image19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94.wmf"/><Relationship Id="rId4" Type="http://schemas.openxmlformats.org/officeDocument/2006/relationships/oleObject" Target="../embeddings/oleObject15.bin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196.wmf"/><Relationship Id="rId7" Type="http://schemas.openxmlformats.org/officeDocument/2006/relationships/image" Target="../media/image198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97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199.w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20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5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oleObject" Target="../embeddings/oleObject22.bin"/><Relationship Id="rId7" Type="http://schemas.openxmlformats.org/officeDocument/2006/relationships/image" Target="../media/image209.wmf"/><Relationship Id="rId2" Type="http://schemas.openxmlformats.org/officeDocument/2006/relationships/image" Target="../media/image206.jpe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11.wmf"/><Relationship Id="rId5" Type="http://schemas.openxmlformats.org/officeDocument/2006/relationships/image" Target="../media/image208.png"/><Relationship Id="rId10" Type="http://schemas.openxmlformats.org/officeDocument/2006/relationships/oleObject" Target="../embeddings/oleObject25.bin"/><Relationship Id="rId4" Type="http://schemas.openxmlformats.org/officeDocument/2006/relationships/image" Target="../media/image207.wmf"/><Relationship Id="rId9" Type="http://schemas.openxmlformats.org/officeDocument/2006/relationships/image" Target="../media/image210.w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3" Type="http://schemas.openxmlformats.org/officeDocument/2006/relationships/image" Target="../media/image212.wmf"/><Relationship Id="rId7" Type="http://schemas.openxmlformats.org/officeDocument/2006/relationships/oleObject" Target="../embeddings/oleObject28.bin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jpeg"/><Relationship Id="rId5" Type="http://schemas.openxmlformats.org/officeDocument/2006/relationships/image" Target="../media/image213.wmf"/><Relationship Id="rId10" Type="http://schemas.openxmlformats.org/officeDocument/2006/relationships/image" Target="../media/image215.wmf"/><Relationship Id="rId4" Type="http://schemas.openxmlformats.org/officeDocument/2006/relationships/oleObject" Target="../embeddings/oleObject27.bin"/><Relationship Id="rId9" Type="http://schemas.openxmlformats.org/officeDocument/2006/relationships/oleObject" Target="../embeddings/oleObject29.bin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987F46-F22D-4314-B239-C75F94E3B83D}"/>
              </a:ext>
            </a:extLst>
          </p:cNvPr>
          <p:cNvSpPr txBox="1"/>
          <p:nvPr/>
        </p:nvSpPr>
        <p:spPr>
          <a:xfrm>
            <a:off x="7010401" y="190381"/>
            <a:ext cx="1904999" cy="44627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Chapter </a:t>
            </a:r>
            <a:r>
              <a:rPr lang="en-US" sz="2300" b="1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2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90381"/>
            <a:ext cx="31535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Advanced</a:t>
            </a:r>
          </a:p>
          <a:p>
            <a:pPr algn="ctr"/>
            <a:r>
              <a:rPr lang="en-US" sz="2300" b="1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Organic Chemistry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52620" y="2199216"/>
            <a:ext cx="5808280" cy="77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Stereo</a:t>
            </a:r>
            <a:r>
              <a:rPr 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chemistry</a:t>
            </a:r>
          </a:p>
        </p:txBody>
      </p:sp>
    </p:spTree>
    <p:extLst>
      <p:ext uri="{BB962C8B-B14F-4D97-AF65-F5344CB8AC3E}">
        <p14:creationId xmlns:p14="http://schemas.microsoft.com/office/powerpoint/2010/main" val="222973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57400" y="152400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Iso</a:t>
            </a:r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mers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990600"/>
            <a:ext cx="8138160" cy="2729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3724278"/>
            <a:ext cx="17430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3724278"/>
            <a:ext cx="184785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1000" y="2895603"/>
            <a:ext cx="13430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81000" y="4038603"/>
            <a:ext cx="136207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362200" y="3886203"/>
            <a:ext cx="132397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810000" y="3886203"/>
            <a:ext cx="13239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486400" y="4800600"/>
            <a:ext cx="107632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705600" y="4724400"/>
            <a:ext cx="119062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6705600" y="6252723"/>
            <a:ext cx="1645920" cy="376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4724400" y="6252723"/>
            <a:ext cx="1645920" cy="4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1066800"/>
            <a:ext cx="8534400" cy="9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lnSpc>
                <a:spcPts val="36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Restricted rotation of groups joined by a double bond causes a new type of isomerism: </a:t>
            </a:r>
            <a:r>
              <a:rPr lang="en-US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geometric isomerism.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8600"/>
            <a:ext cx="815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-Trans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Isomerism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362200"/>
            <a:ext cx="5181600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304800" y="5276671"/>
            <a:ext cx="8534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isomers are actually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diastereomers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because the two isomers differ only in the arrangement of their atoms in space and they </a:t>
            </a:r>
            <a:r>
              <a:rPr lang="en-US" dirty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are not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mirror images of each other.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4267200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Font typeface="Arial" pitchFamily="34" charset="0"/>
              <a:buChar char="•"/>
            </a:pPr>
            <a:r>
              <a:rPr lang="en-US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isomers </a:t>
            </a:r>
            <a:r>
              <a:rPr lang="en-US" dirty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are not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constitutional isomers, because the connectivity of the atoms is the same in each isomer.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09600" y="228600"/>
            <a:ext cx="815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-Trans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Isomerism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066801"/>
            <a:ext cx="1371600" cy="1243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61123" y="1066800"/>
            <a:ext cx="1463040" cy="1277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33600" y="4800600"/>
            <a:ext cx="1439561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98675" y="4800600"/>
            <a:ext cx="1525488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885950" y="2590800"/>
            <a:ext cx="20002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156323" y="2590800"/>
            <a:ext cx="22479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1346323" y="2971800"/>
            <a:ext cx="3073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isomerism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3923" y="2971800"/>
            <a:ext cx="3073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isomerism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00" y="3733800"/>
            <a:ext cx="8458200" cy="830997"/>
          </a:xfrm>
          <a:prstGeom prst="rect">
            <a:avLst/>
          </a:prstGeom>
          <a:noFill/>
          <a:ln>
            <a:solidFill>
              <a:srgbClr val="FFE1FF"/>
            </a:solidFill>
          </a:ln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isomerism of this type is not possible if one carbon atom of the double bond </a:t>
            </a:r>
            <a:r>
              <a:rPr lang="en-US" dirty="0">
                <a:solidFill>
                  <a:srgbClr val="FF21BA"/>
                </a:solidFill>
                <a:latin typeface="Times New Roman" pitchFamily="18" charset="0"/>
                <a:cs typeface="Times New Roman" pitchFamily="18" charset="0"/>
              </a:rPr>
              <a:t>bears two identical groups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828800" y="6296025"/>
            <a:ext cx="23145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953000" y="6296025"/>
            <a:ext cx="2552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9200" y="152400"/>
            <a:ext cx="6576980" cy="1317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The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(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E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)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(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Z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) System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for Designing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Alkene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Diastereomers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8600" y="1981200"/>
            <a:ext cx="838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If an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alkene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trisubstituted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tetrasubstituted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the terms </a:t>
            </a:r>
            <a:r>
              <a:rPr lang="en-US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are ambiguous or do not apply at all.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124200"/>
            <a:ext cx="670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 the case of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alkene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it is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impossible to decide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whether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without additional rules: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7162800" y="2743200"/>
            <a:ext cx="1676400" cy="1524000"/>
            <a:chOff x="7239000" y="2971800"/>
            <a:chExt cx="1676400" cy="1524000"/>
          </a:xfrm>
        </p:grpSpPr>
        <p:pic>
          <p:nvPicPr>
            <p:cNvPr id="2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315200" y="3066288"/>
              <a:ext cx="1463040" cy="1353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2" name="Rounded Rectangle 21"/>
            <p:cNvSpPr/>
            <p:nvPr/>
          </p:nvSpPr>
          <p:spPr bwMode="auto">
            <a:xfrm>
              <a:off x="7239000" y="2971800"/>
              <a:ext cx="1676400" cy="1524000"/>
            </a:xfrm>
            <a:prstGeom prst="roundRect">
              <a:avLst/>
            </a:prstGeom>
            <a:noFill/>
            <a:ln w="9525" cap="flat" cmpd="sng" algn="ctr">
              <a:solidFill>
                <a:srgbClr val="FFE1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</p:grpSp>
      <p:sp>
        <p:nvSpPr>
          <p:cNvPr id="25" name="Rectangle 24"/>
          <p:cNvSpPr/>
          <p:nvPr/>
        </p:nvSpPr>
        <p:spPr>
          <a:xfrm>
            <a:off x="228600" y="4600307"/>
            <a:ext cx="8458200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>
              <a:spcAft>
                <a:spcPts val="18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system that works in all cases is based on the priorities of groups in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Cahn–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Ingold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–Prelog convention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274320" indent="-274320" algn="just">
              <a:spcAft>
                <a:spcPts val="18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This system, called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system, applies to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alkene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diastereomers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of all types.</a:t>
            </a:r>
          </a:p>
        </p:txBody>
      </p:sp>
    </p:spTree>
    <p:extLst>
      <p:ext uri="{BB962C8B-B14F-4D97-AF65-F5344CB8AC3E}">
        <p14:creationId xmlns:p14="http://schemas.microsoft.com/office/powerpoint/2010/main" val="285065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219200" y="152400"/>
            <a:ext cx="6576980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How to use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(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E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)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(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Z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) System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200400"/>
            <a:ext cx="7680960" cy="2364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304800" y="1143000"/>
            <a:ext cx="841248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Aft>
                <a:spcPts val="1200"/>
              </a:spcAft>
              <a:buClr>
                <a:srgbClr val="FF0000"/>
              </a:buClr>
              <a:buFont typeface="+mj-lt"/>
              <a:buAutoNum type="arabicPeriod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Examine the two groups attached to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one carbon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atom of the double bond and decide which has higher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Cahn–</a:t>
            </a:r>
            <a:r>
              <a:rPr lang="en-US" sz="23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Ingold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–Prelog priority.</a:t>
            </a:r>
          </a:p>
          <a:p>
            <a:pPr marL="457200" indent="-457200" algn="just">
              <a:buClr>
                <a:srgbClr val="FF0000"/>
              </a:buClr>
              <a:buFont typeface="+mj-lt"/>
              <a:buAutoNum type="arabicPeriod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Repeat that operation at the other carbon atom:</a:t>
            </a:r>
          </a:p>
          <a:p>
            <a:pPr algn="just">
              <a:buClr>
                <a:srgbClr val="FF0000"/>
              </a:buClr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             </a:t>
            </a:r>
            <a:r>
              <a:rPr lang="en-US" sz="23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Priority setup and Cis trans setup: :vertically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800" y="5715000"/>
            <a:ext cx="841248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rgbClr val="FF0000"/>
              </a:buClr>
              <a:buFont typeface="+mj-lt"/>
              <a:buAutoNum type="arabicPeriod" startAt="3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If the two groups of higher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priorityare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on the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same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side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of the double bond, the alkene is designated (</a:t>
            </a:r>
            <a:r>
              <a:rPr lang="en-US" sz="23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39519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19200" y="152400"/>
            <a:ext cx="6576980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How to use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(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E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)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(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Z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) System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520" y="1219200"/>
            <a:ext cx="841248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rgbClr val="FF0000"/>
              </a:buClr>
              <a:buFont typeface="+mj-lt"/>
              <a:buAutoNum type="arabicPeriod" startAt="3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If the two groups of higher priority are on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opposite sides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the double bond, the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alkene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designated (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from the German word </a:t>
            </a:r>
            <a:r>
              <a:rPr lang="en-US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entgegen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meaning opposite.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895600"/>
            <a:ext cx="3383280" cy="1701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3352800"/>
            <a:ext cx="904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2971800"/>
            <a:ext cx="3108960" cy="1826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20000" y="3352800"/>
            <a:ext cx="102870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9071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9200" y="228600"/>
            <a:ext cx="65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Conformation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of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Cycloalkane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279210" y="1066800"/>
            <a:ext cx="857959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Aft>
                <a:spcPts val="1800"/>
              </a:spcAft>
            </a:pPr>
            <a:r>
              <a:rPr lang="en-US" altLang="en-US" sz="2600" b="1" dirty="0">
                <a:latin typeface="Comic Sans MS" panose="030F0702030302020204" pitchFamily="66" charset="0"/>
              </a:rPr>
              <a:t>The Shapes of </a:t>
            </a:r>
            <a:r>
              <a:rPr lang="en-US" altLang="en-US" sz="2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Cycloalkanes: </a:t>
            </a:r>
            <a:r>
              <a:rPr lang="en-US" altLang="en-US" sz="2600" b="1" dirty="0">
                <a:latin typeface="Comic Sans MS" panose="030F0702030302020204" pitchFamily="66" charset="0"/>
              </a:rPr>
              <a:t>Planar or Non-Planar?</a:t>
            </a:r>
          </a:p>
        </p:txBody>
      </p:sp>
      <p:sp>
        <p:nvSpPr>
          <p:cNvPr id="2" name="AutoShape 2" descr="Scientific inveStigationS of the nobel prize winner emil fiScher aS a launching pad for the development of biochemiStry: a brief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" y="1905000"/>
            <a:ext cx="1781175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2400" y="4545052"/>
            <a:ext cx="2465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Adolf  von Baeyer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Nobel laureate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(1905)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8412" y="1905000"/>
            <a:ext cx="6266743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Adolf von Baeyer assumed that cycloalkanes including cyclohexane,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 planar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benzene.</a:t>
            </a:r>
          </a:p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∠C-C-C bond angle of the sp</a:t>
            </a:r>
            <a:r>
              <a:rPr lang="en-US" sz="23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hybridized carbon chain is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109°28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cycloalkanes will suffer some strain if they are planar. 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625" y="4819471"/>
            <a:ext cx="6675120" cy="188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1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38200" y="228600"/>
            <a:ext cx="746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Cycloalkane: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Planar or Non-Planar?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219200"/>
            <a:ext cx="86868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Adolf von Baeyer proposed that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deviation of bond angle from </a:t>
            </a:r>
            <a:r>
              <a:rPr lang="en-US" sz="2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bond angle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(</a:t>
            </a:r>
            <a:r>
              <a:rPr lang="en-US" sz="2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109.5</a:t>
            </a:r>
            <a:r>
              <a:rPr lang="en-US" sz="2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will produce a strain in molecule (</a:t>
            </a:r>
            <a:r>
              <a:rPr lang="en-US" sz="2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Baeyer’s strain theory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this theory, all cycloalkanes, except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cyclopentane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become unstable because of this strain (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Baeyer’s strain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5715000"/>
            <a:ext cx="8686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Baeyer assumed that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stable cycloalkane is </a:t>
            </a:r>
            <a:r>
              <a:rPr lang="en-US" sz="23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cyclopentane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cyclohexane is the next.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62343" y="3505200"/>
            <a:ext cx="1905457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11758" y="3535680"/>
            <a:ext cx="1978324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85983" y="3581400"/>
            <a:ext cx="1853514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200" y="3581399"/>
            <a:ext cx="2737522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990600"/>
            <a:ext cx="8610600" cy="1431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36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this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Baeyer’s strain theory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the strain higher the instability : Higher strain produce increased reactivity and increases </a:t>
            </a:r>
            <a:r>
              <a:rPr lang="en-US" sz="23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 of combustion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186626"/>
              </p:ext>
            </p:extLst>
          </p:nvPr>
        </p:nvGraphicFramePr>
        <p:xfrm>
          <a:off x="228600" y="2750143"/>
          <a:ext cx="8686800" cy="3803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130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Size of the Ring</a:t>
                      </a:r>
                    </a:p>
                  </a:txBody>
                  <a:tcPr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33C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Heat</a:t>
                      </a:r>
                      <a:r>
                        <a:rPr lang="en-US" sz="1800" baseline="0" dirty="0">
                          <a:solidFill>
                            <a:srgbClr val="0033C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of Combustion</a:t>
                      </a:r>
                      <a:endParaRPr lang="en-US" sz="1800" dirty="0">
                        <a:solidFill>
                          <a:srgbClr val="0033C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Total Strain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Strain per CH</a:t>
                      </a:r>
                      <a:r>
                        <a:rPr lang="en-US" sz="1800" baseline="-250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247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sz="1700" i="1" dirty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(kcal/ mol</a:t>
                      </a:r>
                      <a:r>
                        <a:rPr lang="en-US" sz="1700" baseline="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(kJ /mol</a:t>
                      </a:r>
                      <a:r>
                        <a:rPr lang="en-US" sz="1700" baseline="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(kcal/mol</a:t>
                      </a:r>
                      <a:r>
                        <a:rPr lang="en-US" sz="1700" baseline="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(kJ/mol</a:t>
                      </a:r>
                      <a:r>
                        <a:rPr lang="en-US" sz="1700" baseline="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(kcal/mol</a:t>
                      </a:r>
                      <a:r>
                        <a:rPr lang="en-US" sz="1700" baseline="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(kJ/ mol</a:t>
                      </a:r>
                      <a:r>
                        <a:rPr lang="en-US" sz="1700" baseline="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9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499.83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2091.3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27.5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115.1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9.17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38.4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9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656.07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2745.0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26.3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110.1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6.58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27.5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95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793.40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3319.6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6.2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26.0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1.24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5.19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95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944.77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3952.9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0.09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9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1108.3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4637.3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6.2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26.2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0.89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3.74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9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1269.2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5310.3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9.7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40.5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1.21</a:t>
                      </a: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5.06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16572" y="177225"/>
            <a:ext cx="65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Shape of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Cycloalkane</a:t>
            </a:r>
          </a:p>
        </p:txBody>
      </p:sp>
    </p:spTree>
    <p:extLst>
      <p:ext uri="{BB962C8B-B14F-4D97-AF65-F5344CB8AC3E}">
        <p14:creationId xmlns:p14="http://schemas.microsoft.com/office/powerpoint/2010/main" val="300106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35156" y="1066800"/>
            <a:ext cx="835164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Baeyer,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cyclopentane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 have less angle strain than cyclohexane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if we look at the table, we can see that 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heat of combustion per CH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is less for cyclohexane than for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cyclopentane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Cyclohexane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less strain than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cyclopentane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056244"/>
              </p:ext>
            </p:extLst>
          </p:nvPr>
        </p:nvGraphicFramePr>
        <p:xfrm>
          <a:off x="228600" y="4191000"/>
          <a:ext cx="8686800" cy="2061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75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84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18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Size of the Ring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CC00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Heat</a:t>
                      </a:r>
                      <a:r>
                        <a:rPr lang="en-US" sz="1800" baseline="0" dirty="0">
                          <a:solidFill>
                            <a:srgbClr val="CC00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of Combustion</a:t>
                      </a:r>
                      <a:endParaRPr lang="en-US" sz="1800" dirty="0">
                        <a:solidFill>
                          <a:srgbClr val="CC0099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Total Strain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Strain per CH</a:t>
                      </a:r>
                      <a:r>
                        <a:rPr lang="en-US" sz="1800" baseline="-250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sz="1700" i="1" dirty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(kcal/ </a:t>
                      </a:r>
                      <a:r>
                        <a:rPr lang="en-US" sz="1700" dirty="0" err="1">
                          <a:latin typeface="Times New Roman" pitchFamily="18" charset="0"/>
                          <a:cs typeface="Times New Roman" pitchFamily="18" charset="0"/>
                        </a:rPr>
                        <a:t>mol</a:t>
                      </a:r>
                      <a:r>
                        <a:rPr lang="en-US" sz="1700" baseline="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(kJ/ </a:t>
                      </a:r>
                      <a:r>
                        <a:rPr lang="en-US" sz="1700" dirty="0" err="1">
                          <a:latin typeface="Times New Roman" pitchFamily="18" charset="0"/>
                          <a:cs typeface="Times New Roman" pitchFamily="18" charset="0"/>
                        </a:rPr>
                        <a:t>mol</a:t>
                      </a:r>
                      <a:r>
                        <a:rPr lang="en-US" sz="1700" baseline="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per CH</a:t>
                      </a:r>
                      <a:r>
                        <a:rPr lang="en-US" baseline="-25000" dirty="0">
                          <a:latin typeface="Times New Roman" pitchFamily="18" charset="0"/>
                          <a:cs typeface="Times New Roman" pitchFamily="18" charset="0"/>
                        </a:rPr>
                        <a:t>2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(kJ/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mol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en-US" baseline="-25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(kJ/ </a:t>
                      </a:r>
                      <a:r>
                        <a:rPr lang="en-US" sz="1700" dirty="0" err="1">
                          <a:latin typeface="Times New Roman" pitchFamily="18" charset="0"/>
                          <a:cs typeface="Times New Roman" pitchFamily="18" charset="0"/>
                        </a:rPr>
                        <a:t>mol</a:t>
                      </a:r>
                      <a:r>
                        <a:rPr lang="en-US" sz="1700" baseline="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(kcal/ </a:t>
                      </a:r>
                      <a:r>
                        <a:rPr lang="en-US" sz="1700" dirty="0" err="1">
                          <a:latin typeface="Times New Roman" pitchFamily="18" charset="0"/>
                          <a:cs typeface="Times New Roman" pitchFamily="18" charset="0"/>
                        </a:rPr>
                        <a:t>mol</a:t>
                      </a:r>
                      <a:r>
                        <a:rPr lang="en-US" sz="1700" baseline="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(kJ/ </a:t>
                      </a:r>
                      <a:r>
                        <a:rPr lang="en-US" sz="1700" dirty="0" err="1">
                          <a:latin typeface="Times New Roman" pitchFamily="18" charset="0"/>
                          <a:cs typeface="Times New Roman" pitchFamily="18" charset="0"/>
                        </a:rPr>
                        <a:t>mol</a:t>
                      </a:r>
                      <a:r>
                        <a:rPr lang="en-US" sz="1700" baseline="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14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C00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C00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793.40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C00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3319.6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C00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663.8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C00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26.0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C00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1.24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C00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14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944.77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3952.9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658.6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accent1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6572" y="177225"/>
            <a:ext cx="65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Shape of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Cycloalkane</a:t>
            </a:r>
          </a:p>
        </p:txBody>
      </p:sp>
    </p:spTree>
    <p:extLst>
      <p:ext uri="{BB962C8B-B14F-4D97-AF65-F5344CB8AC3E}">
        <p14:creationId xmlns:p14="http://schemas.microsoft.com/office/powerpoint/2010/main" val="1949768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1" y="990600"/>
            <a:ext cx="8610600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000099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Baeyer, the relative order of stability for some common cycloalkanes is as follows: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8141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Cyclopentane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Cyclohexane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Cyclobutane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Cyclopropane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228600" y="2773680"/>
            <a:ext cx="8839199" cy="1188720"/>
            <a:chOff x="228600" y="2773680"/>
            <a:chExt cx="8839199" cy="1188720"/>
          </a:xfrm>
        </p:grpSpPr>
        <p:sp>
          <p:nvSpPr>
            <p:cNvPr id="7" name="TextBox 6"/>
            <p:cNvSpPr txBox="1"/>
            <p:nvPr/>
          </p:nvSpPr>
          <p:spPr>
            <a:xfrm>
              <a:off x="228600" y="2845713"/>
              <a:ext cx="8839199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sz="2300" dirty="0">
                  <a:solidFill>
                    <a:srgbClr val="CC00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Actual observed order </a:t>
              </a:r>
              <a:r>
                <a: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 stability for these cycloalkanes is as follows: 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09600" y="3383280"/>
              <a:ext cx="81412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Cyclohexane &gt;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Cyclopentane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&gt;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Cyclobutane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&gt;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Cyclopropane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 bwMode="auto">
            <a:xfrm>
              <a:off x="228600" y="2773680"/>
              <a:ext cx="8763000" cy="1188720"/>
            </a:xfrm>
            <a:prstGeom prst="roundRect">
              <a:avLst/>
            </a:prstGeom>
            <a:noFill/>
            <a:ln w="3810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28600" y="4259759"/>
            <a:ext cx="8610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cyclohexane ring is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virtually strain free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>
                <a:solidFill>
                  <a:srgbClr val="C804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does not have a planar structure as assumed by Baeyer.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5257800"/>
            <a:ext cx="3474720" cy="1297532"/>
          </a:xfrm>
          <a:prstGeom prst="rect">
            <a:avLst/>
          </a:prstGeom>
          <a:ln>
            <a:solidFill>
              <a:schemeClr val="accent1">
                <a:lumMod val="90000"/>
              </a:schemeClr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228600" y="5343124"/>
            <a:ext cx="5029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Rather, the cyclohexane ring 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puckered (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chair or boat shaped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eliminate possible angle strain.</a:t>
            </a:r>
            <a:endParaRPr lang="en-US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1216572" y="177225"/>
            <a:ext cx="65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Shape of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Cycloalkane</a:t>
            </a:r>
          </a:p>
        </p:txBody>
      </p:sp>
    </p:spTree>
    <p:extLst>
      <p:ext uri="{BB962C8B-B14F-4D97-AF65-F5344CB8AC3E}">
        <p14:creationId xmlns:p14="http://schemas.microsoft.com/office/powerpoint/2010/main" val="276054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38400"/>
            <a:ext cx="3200400" cy="21762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81000" y="1260157"/>
            <a:ext cx="846174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 dirty="0">
                <a:ln w="1905"/>
                <a:solidFill>
                  <a:srgbClr val="CC00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Chair </a:t>
            </a:r>
            <a:r>
              <a:rPr lang="en-US" sz="26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600" b="1" dirty="0">
                <a:ln w="1905"/>
                <a:solidFill>
                  <a:srgbClr val="CC00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boat conformations – </a:t>
            </a:r>
            <a:r>
              <a:rPr lang="en-US" sz="26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which one is more stable?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2438400"/>
            <a:ext cx="3108960" cy="22003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049251" y="4724400"/>
            <a:ext cx="28328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Conformation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Cyclohexane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64484" y="4724400"/>
            <a:ext cx="26789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Conformation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Cyclohexane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572" y="253425"/>
            <a:ext cx="65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Conformations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Cyclohexane</a:t>
            </a:r>
          </a:p>
        </p:txBody>
      </p:sp>
    </p:spTree>
    <p:extLst>
      <p:ext uri="{BB962C8B-B14F-4D97-AF65-F5344CB8AC3E}">
        <p14:creationId xmlns:p14="http://schemas.microsoft.com/office/powerpoint/2010/main" val="3355292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52400" y="1107519"/>
            <a:ext cx="6629400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74320" indent="-274320" algn="just">
              <a:spcAft>
                <a:spcPts val="1200"/>
              </a:spcAft>
              <a:buClr>
                <a:srgbClr val="FF0000"/>
              </a:buClr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chair conformation of cyclohexane is free of strain.</a:t>
            </a:r>
          </a:p>
          <a:p>
            <a:pPr marL="274320" indent="-274320" algn="just">
              <a:spcAft>
                <a:spcPts val="1200"/>
              </a:spcAft>
              <a:buClr>
                <a:srgbClr val="FF0000"/>
              </a:buClr>
              <a:buFontTx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Chair </a:t>
            </a:r>
            <a:r>
              <a:rPr lang="en-US" altLang="en-US" sz="22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most stable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conformation of cyclohexane</a:t>
            </a:r>
          </a:p>
          <a:p>
            <a:pPr marL="274320" indent="-274320" algn="just">
              <a:spcAft>
                <a:spcPts val="1200"/>
              </a:spcAft>
              <a:buClr>
                <a:srgbClr val="FF0000"/>
              </a:buClr>
              <a:buFontTx/>
              <a:buChar char="•"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of the bonds are staggered and the bond angles at carbon are close to tetrahedral.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9745" y="6012359"/>
            <a:ext cx="25362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solidFill>
                  <a:srgbClr val="EA00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Chair Conformation 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Cyclohexane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1580" y="6002420"/>
            <a:ext cx="373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Newman Projection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Chair Conformer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541727"/>
            <a:ext cx="3566160" cy="2325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960" y="3546000"/>
            <a:ext cx="3749040" cy="215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575" y="1230778"/>
            <a:ext cx="2000027" cy="13600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914400" y="253425"/>
            <a:ext cx="73178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Chair Conformation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Cyclohexane</a:t>
            </a:r>
          </a:p>
        </p:txBody>
      </p:sp>
    </p:spTree>
    <p:extLst>
      <p:ext uri="{BB962C8B-B14F-4D97-AF65-F5344CB8AC3E}">
        <p14:creationId xmlns:p14="http://schemas.microsoft.com/office/powerpoint/2010/main" val="1368868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http://wps.prenhall.com/wps/media/objects/340/348272/Instructor_Resources/Chapter_03/Text_Images/FG03_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" y="990600"/>
            <a:ext cx="7498080" cy="5630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own Arrow 5"/>
          <p:cNvSpPr/>
          <p:nvPr/>
        </p:nvSpPr>
        <p:spPr bwMode="auto">
          <a:xfrm>
            <a:off x="2362200" y="3962400"/>
            <a:ext cx="304800" cy="381000"/>
          </a:xfrm>
          <a:prstGeom prst="downArrow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rgbClr val="FF85D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8" name="Down Arrow 7"/>
          <p:cNvSpPr/>
          <p:nvPr/>
        </p:nvSpPr>
        <p:spPr bwMode="auto">
          <a:xfrm rot="5400000" flipH="1" flipV="1">
            <a:off x="4229100" y="2171700"/>
            <a:ext cx="304800" cy="381000"/>
          </a:xfrm>
          <a:prstGeom prst="downArrow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rgbClr val="FF85D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876800" y="4343400"/>
            <a:ext cx="2362200" cy="2286000"/>
          </a:xfrm>
          <a:prstGeom prst="rect">
            <a:avLst/>
          </a:prstGeom>
          <a:noFill/>
          <a:ln w="9525" cap="flat" cmpd="sng" algn="ctr">
            <a:solidFill>
              <a:srgbClr val="FF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52400"/>
            <a:ext cx="73178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Boat Conformation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Cyclohexane</a:t>
            </a:r>
          </a:p>
        </p:txBody>
      </p:sp>
    </p:spTree>
    <p:extLst>
      <p:ext uri="{BB962C8B-B14F-4D97-AF65-F5344CB8AC3E}">
        <p14:creationId xmlns:p14="http://schemas.microsoft.com/office/powerpoint/2010/main" val="1111198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04p125b"/>
          <p:cNvSpPr>
            <a:spLocks noGrp="1" noChangeAspect="1" noChangeArrowheads="1"/>
          </p:cNvSpPr>
          <p:nvPr/>
        </p:nvSpPr>
        <p:spPr bwMode="auto">
          <a:xfrm>
            <a:off x="76200" y="3438557"/>
            <a:ext cx="8961120" cy="3190843"/>
          </a:xfrm>
          <a:prstGeom prst="rect">
            <a:avLst/>
          </a:prstGeom>
          <a:blipFill dpi="0" rotWithShape="1">
            <a:blip r:embed="rId2"/>
            <a:srcRect/>
            <a:stretch>
              <a:fillRect r="-21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8600" y="1009471"/>
            <a:ext cx="8610600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Times New Roman" pitchFamily="18" charset="0"/>
                <a:cs typeface="Times New Roman" pitchFamily="18" charset="0"/>
              </a:rPr>
              <a:t>Boat conformation is </a:t>
            </a:r>
            <a:r>
              <a:rPr lang="en-US" altLang="en-US" sz="2300" b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less stable </a:t>
            </a:r>
            <a:r>
              <a:rPr lang="en-US" altLang="en-US" sz="2300" dirty="0">
                <a:latin typeface="Times New Roman" pitchFamily="18" charset="0"/>
                <a:cs typeface="Times New Roman" pitchFamily="18" charset="0"/>
              </a:rPr>
              <a:t>than the chair.</a:t>
            </a:r>
          </a:p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All of the </a:t>
            </a:r>
            <a:r>
              <a:rPr lang="en-US" alt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bond angles are close to tetrahedral </a:t>
            </a:r>
            <a:r>
              <a:rPr lang="en-US" altLang="en-US" sz="23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but close contact between </a:t>
            </a:r>
            <a:r>
              <a:rPr lang="en-US" altLang="en-US" sz="23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flagpole hydrogens </a:t>
            </a:r>
            <a:r>
              <a:rPr lang="en-US" altLang="en-US" sz="23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causes strain in the boat.</a:t>
            </a:r>
          </a:p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No angle strain</a:t>
            </a:r>
            <a:r>
              <a:rPr lang="en-US" altLang="en-US" sz="2300" dirty="0">
                <a:latin typeface="Times New Roman" pitchFamily="18" charset="0"/>
                <a:cs typeface="Times New Roman" pitchFamily="18" charset="0"/>
              </a:rPr>
              <a:t>, but a large</a:t>
            </a:r>
            <a:r>
              <a:rPr lang="en-IN" altLang="en-US" sz="2300" dirty="0">
                <a:latin typeface="Times New Roman" pitchFamily="18" charset="0"/>
                <a:cs typeface="Times New Roman" pitchFamily="18" charset="0"/>
              </a:rPr>
              <a:t> number of eclipsing interactions (Torsional strain)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52400"/>
            <a:ext cx="73178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Boat Conformation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Cyclohexane</a:t>
            </a:r>
          </a:p>
        </p:txBody>
      </p:sp>
    </p:spTree>
    <p:extLst>
      <p:ext uri="{BB962C8B-B14F-4D97-AF65-F5344CB8AC3E}">
        <p14:creationId xmlns:p14="http://schemas.microsoft.com/office/powerpoint/2010/main" val="4024898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04_u02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14638"/>
            <a:ext cx="8574087" cy="373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9353" y="1364159"/>
            <a:ext cx="896844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Twist-boat conformation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cyclohexane </a:t>
            </a:r>
            <a:r>
              <a:rPr lang="en-I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somewhat more stable than a pure boat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conformation (</a:t>
            </a:r>
            <a:r>
              <a:rPr lang="en-US" alt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1,4 distance larger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1772" y="157766"/>
            <a:ext cx="73178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Twist-Boat Conformation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Cyclohexane</a:t>
            </a:r>
          </a:p>
        </p:txBody>
      </p:sp>
    </p:spTree>
    <p:extLst>
      <p:ext uri="{BB962C8B-B14F-4D97-AF65-F5344CB8AC3E}">
        <p14:creationId xmlns:p14="http://schemas.microsoft.com/office/powerpoint/2010/main" val="600024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" y="990600"/>
            <a:ext cx="8534400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 eaLnBrk="1" hangingPunct="1">
              <a:lnSpc>
                <a:spcPct val="9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altLang="en-US" b="1" dirty="0">
                <a:ln w="1905"/>
                <a:solidFill>
                  <a:srgbClr val="FF0066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Torsional</a:t>
            </a:r>
            <a:r>
              <a:rPr lang="en-US" altLang="en-US" b="1" dirty="0">
                <a:ln w="1905"/>
                <a:solidFill>
                  <a:srgbClr val="0033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strain</a:t>
            </a:r>
            <a:r>
              <a:rPr lang="en-US" altLang="en-US" b="1" dirty="0">
                <a:ln w="1905"/>
                <a:solidFill>
                  <a:srgbClr val="0033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b="1" dirty="0">
                <a:ln w="1905"/>
                <a:solidFill>
                  <a:srgbClr val="FF0066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Pitzer</a:t>
            </a:r>
            <a:r>
              <a:rPr lang="en-US" altLang="en-US" b="1" dirty="0">
                <a:ln w="1905"/>
                <a:solidFill>
                  <a:srgbClr val="0033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strain) :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 Strain that results from </a:t>
            </a:r>
            <a:r>
              <a:rPr lang="en-IN" altLang="en-US" dirty="0">
                <a:latin typeface="Times New Roman" pitchFamily="18" charset="0"/>
                <a:cs typeface="Times New Roman" pitchFamily="18" charset="0"/>
              </a:rPr>
              <a:t>eclipsing of bonds between neighbouring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atoms. (measure of the dihedral angle)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140803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 eaLnBrk="1" hangingPunct="1">
              <a:buFont typeface="Arial" pitchFamily="34" charset="0"/>
              <a:buChar char="•"/>
            </a:pPr>
            <a:r>
              <a:rPr lang="en-US" altLang="en-US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Steric</a:t>
            </a:r>
            <a:r>
              <a:rPr lang="en-US" altLang="en-US" b="1" dirty="0">
                <a:ln w="1905"/>
                <a:solidFill>
                  <a:srgbClr val="0033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strain</a:t>
            </a:r>
            <a:r>
              <a:rPr lang="en-US" altLang="en-US" b="1" dirty="0">
                <a:ln w="1905"/>
                <a:solidFill>
                  <a:srgbClr val="0033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 or </a:t>
            </a:r>
            <a:r>
              <a:rPr lang="en-US" altLang="en-US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Van der Waals </a:t>
            </a:r>
            <a:r>
              <a:rPr lang="en-US" altLang="en-US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strain</a:t>
            </a:r>
            <a:r>
              <a:rPr lang="en-US" altLang="en-US" b="1" dirty="0">
                <a:ln w="1905"/>
                <a:solidFill>
                  <a:srgbClr val="0033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Strain that results due </a:t>
            </a:r>
            <a:r>
              <a:rPr lang="en-IN" altLang="en-US" dirty="0">
                <a:latin typeface="Times New Roman" pitchFamily="18" charset="0"/>
                <a:cs typeface="Times New Roman" pitchFamily="18" charset="0"/>
              </a:rPr>
              <a:t>to repulsive interactions when atoms approach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each other too closely.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3055203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spcBef>
                <a:spcPts val="0"/>
              </a:spcBef>
              <a:buFont typeface="Arial" pitchFamily="34" charset="0"/>
              <a:buChar char="•"/>
            </a:pPr>
            <a:r>
              <a:rPr lang="en-US" altLang="en-US" b="1" dirty="0">
                <a:ln w="1905"/>
                <a:solidFill>
                  <a:srgbClr val="FF0066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Angle</a:t>
            </a:r>
            <a:r>
              <a:rPr lang="en-US" altLang="en-US" b="1" dirty="0">
                <a:ln w="1905"/>
                <a:solidFill>
                  <a:srgbClr val="0033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strain </a:t>
            </a:r>
            <a:r>
              <a:rPr lang="en-US" altLang="en-US" b="1" dirty="0">
                <a:ln w="1905"/>
                <a:solidFill>
                  <a:srgbClr val="0033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en-US" i="1" dirty="0">
                <a:solidFill>
                  <a:srgbClr val="FE9B0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Strain  results from distortion of bond angles from normal values, for a tetrahedron 109.5</a:t>
            </a:r>
            <a:r>
              <a:rPr lang="en-US" altLang="en-US" baseline="3000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9880" y="4065305"/>
            <a:ext cx="2103120" cy="2565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8400" y="4648200"/>
            <a:ext cx="4324350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6" name="Group 15"/>
          <p:cNvGrpSpPr/>
          <p:nvPr/>
        </p:nvGrpSpPr>
        <p:grpSpPr>
          <a:xfrm>
            <a:off x="205039" y="4114800"/>
            <a:ext cx="2209259" cy="2590800"/>
            <a:chOff x="128839" y="4114800"/>
            <a:chExt cx="2209259" cy="2590800"/>
          </a:xfrm>
        </p:grpSpPr>
        <p:sp>
          <p:nvSpPr>
            <p:cNvPr id="12" name="Rectangle 11"/>
            <p:cNvSpPr/>
            <p:nvPr/>
          </p:nvSpPr>
          <p:spPr bwMode="auto">
            <a:xfrm>
              <a:off x="152400" y="4114800"/>
              <a:ext cx="2057400" cy="2590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128839" y="4191000"/>
              <a:ext cx="2209259" cy="2502932"/>
              <a:chOff x="128839" y="4191000"/>
              <a:chExt cx="2209259" cy="2502932"/>
            </a:xfrm>
          </p:grpSpPr>
          <p:pic>
            <p:nvPicPr>
              <p:cNvPr id="13" name="Picture 4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457200" y="4191000"/>
                <a:ext cx="1645920" cy="20703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128839" y="6324600"/>
                <a:ext cx="22092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0066"/>
                    </a:solidFill>
                    <a:latin typeface="Times New Roman" pitchFamily="18" charset="0"/>
                    <a:cs typeface="Times New Roman" pitchFamily="18" charset="0"/>
                  </a:rPr>
                  <a:t>Angle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 strain : 24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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44′</a:t>
                </a:r>
              </a:p>
            </p:txBody>
          </p:sp>
        </p:grpSp>
      </p:grpSp>
      <p:sp>
        <p:nvSpPr>
          <p:cNvPr id="17" name="TextBox 16"/>
          <p:cNvSpPr txBox="1"/>
          <p:nvPr/>
        </p:nvSpPr>
        <p:spPr>
          <a:xfrm>
            <a:off x="913086" y="227423"/>
            <a:ext cx="73178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Types of 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Strain</a:t>
            </a:r>
          </a:p>
        </p:txBody>
      </p:sp>
    </p:spTree>
    <p:extLst>
      <p:ext uri="{BB962C8B-B14F-4D97-AF65-F5344CB8AC3E}">
        <p14:creationId xmlns:p14="http://schemas.microsoft.com/office/powerpoint/2010/main" val="2625241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lat cyclohe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219200"/>
            <a:ext cx="5303520" cy="1800568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6096000" y="1143000"/>
            <a:ext cx="2971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In solution, the flat conformation of 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cyclohexane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is generally of too high an energy to be observed.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76200" y="3657600"/>
            <a:ext cx="8991600" cy="2971800"/>
            <a:chOff x="76200" y="3657600"/>
            <a:chExt cx="8991600" cy="2971800"/>
          </a:xfrm>
        </p:grpSpPr>
        <p:sp>
          <p:nvSpPr>
            <p:cNvPr id="12" name="Rectangle 11"/>
            <p:cNvSpPr/>
            <p:nvPr/>
          </p:nvSpPr>
          <p:spPr bwMode="auto">
            <a:xfrm>
              <a:off x="76200" y="3657600"/>
              <a:ext cx="8991600" cy="2971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pic>
          <p:nvPicPr>
            <p:cNvPr id="13" name="Picture 10" descr="chai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8600" y="3886203"/>
              <a:ext cx="5760720" cy="2454178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6096000" y="3886200"/>
              <a:ext cx="2950536" cy="2569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74320" indent="-274320" algn="just">
                <a:buClr>
                  <a:srgbClr val="FF0000"/>
                </a:buClr>
                <a:buFont typeface="Arial" pitchFamily="34" charset="0"/>
                <a:buChar char="•"/>
              </a:pPr>
              <a:r>
                <a:rPr lang="en-US" sz="2300" dirty="0">
                  <a:latin typeface="Times New Roman" pitchFamily="18" charset="0"/>
                  <a:cs typeface="Times New Roman" pitchFamily="18" charset="0"/>
                </a:rPr>
                <a:t>Since it lacks ring strain and is of lowest energy, the chair conformation is the </a:t>
              </a:r>
              <a:r>
                <a:rPr lang="en-US" sz="2300" dirty="0">
                  <a:solidFill>
                    <a:srgbClr val="00B050"/>
                  </a:solidFill>
                  <a:latin typeface="Times New Roman" pitchFamily="18" charset="0"/>
                  <a:cs typeface="Times New Roman" pitchFamily="18" charset="0"/>
                </a:rPr>
                <a:t>dominant conformation </a:t>
              </a:r>
              <a:r>
                <a:rPr lang="en-US" sz="2300" dirty="0">
                  <a:latin typeface="Times New Roman" pitchFamily="18" charset="0"/>
                  <a:cs typeface="Times New Roman" pitchFamily="18" charset="0"/>
                </a:rPr>
                <a:t>in solution.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216572" y="253425"/>
            <a:ext cx="65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Conformations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Cyclohexane</a:t>
            </a:r>
          </a:p>
        </p:txBody>
      </p:sp>
    </p:spTree>
    <p:extLst>
      <p:ext uri="{BB962C8B-B14F-4D97-AF65-F5344CB8AC3E}">
        <p14:creationId xmlns:p14="http://schemas.microsoft.com/office/powerpoint/2010/main" val="61077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alfchai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" y="1447800"/>
            <a:ext cx="5212080" cy="24857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5" name="Picture 6" descr="boa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18760" y="1143000"/>
            <a:ext cx="3749040" cy="277626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90000"/>
              </a:schemeClr>
            </a:solidFill>
          </a:ln>
        </p:spPr>
      </p:pic>
      <p:pic>
        <p:nvPicPr>
          <p:cNvPr id="6" name="Picture 8" descr="twistboa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" y="4419600"/>
            <a:ext cx="8961120" cy="202725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90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216572" y="253425"/>
            <a:ext cx="65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Conformations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Cyclohexane</a:t>
            </a:r>
          </a:p>
        </p:txBody>
      </p:sp>
    </p:spTree>
    <p:extLst>
      <p:ext uri="{BB962C8B-B14F-4D97-AF65-F5344CB8AC3E}">
        <p14:creationId xmlns:p14="http://schemas.microsoft.com/office/powerpoint/2010/main" val="267960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23FA4A-B965-48F6-86A6-E90D3F6A4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18498"/>
            <a:ext cx="3639058" cy="2648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0B82D9-66CB-4A9E-9E85-A4F7ED7D8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18498"/>
            <a:ext cx="3477110" cy="2734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57FF81-017E-40E8-A72B-CFB2884F7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42" y="4428818"/>
            <a:ext cx="3572374" cy="2200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3004E5-DBE1-4BD3-83CE-D2D026673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315883"/>
            <a:ext cx="3905795" cy="2257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6572" y="228600"/>
            <a:ext cx="65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Conformations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Cyclohexane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8847" y="1662725"/>
            <a:ext cx="7680960" cy="50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329230" y="220356"/>
            <a:ext cx="65769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Potential Energy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Cyclohexane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0" y="833735"/>
            <a:ext cx="4634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anose="030F0702030302020204" pitchFamily="66" charset="0"/>
              </a:rPr>
              <a:t>as a function of conformation</a:t>
            </a:r>
          </a:p>
        </p:txBody>
      </p:sp>
    </p:spTree>
    <p:extLst>
      <p:ext uri="{BB962C8B-B14F-4D97-AF65-F5344CB8AC3E}">
        <p14:creationId xmlns:p14="http://schemas.microsoft.com/office/powerpoint/2010/main" val="2613628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987F46-F22D-4314-B239-C75F94E3B83D}"/>
              </a:ext>
            </a:extLst>
          </p:cNvPr>
          <p:cNvSpPr txBox="1"/>
          <p:nvPr/>
        </p:nvSpPr>
        <p:spPr>
          <a:xfrm>
            <a:off x="7010401" y="190381"/>
            <a:ext cx="1904999" cy="44627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Chapter </a:t>
            </a:r>
            <a:r>
              <a:rPr lang="en-US" sz="2300" b="1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2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90381"/>
            <a:ext cx="31535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Advanced</a:t>
            </a:r>
          </a:p>
          <a:p>
            <a:pPr algn="ctr"/>
            <a:r>
              <a:rPr lang="en-US" sz="2300" b="1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Organic Chemistry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52620" y="2199216"/>
            <a:ext cx="5808280" cy="77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Stereo</a:t>
            </a:r>
            <a:r>
              <a:rPr 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chemistry</a:t>
            </a:r>
          </a:p>
        </p:txBody>
      </p:sp>
    </p:spTree>
    <p:extLst>
      <p:ext uri="{BB962C8B-B14F-4D97-AF65-F5344CB8AC3E}">
        <p14:creationId xmlns:p14="http://schemas.microsoft.com/office/powerpoint/2010/main" val="3243627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284202"/>
            <a:ext cx="723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Cyclohexane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Chair Conformation</a:t>
            </a:r>
          </a:p>
        </p:txBody>
      </p:sp>
      <p:sp>
        <p:nvSpPr>
          <p:cNvPr id="3" name="Rectangle 3" descr="04p116b"/>
          <p:cNvSpPr>
            <a:spLocks noGrp="1" noChangeAspect="1" noChangeArrowheads="1"/>
          </p:cNvSpPr>
          <p:nvPr/>
        </p:nvSpPr>
        <p:spPr bwMode="auto">
          <a:xfrm>
            <a:off x="2333297" y="1412163"/>
            <a:ext cx="5029200" cy="148343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813694"/>
            <a:ext cx="4206240" cy="2760104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4998720" y="3331434"/>
            <a:ext cx="3840480" cy="3128665"/>
            <a:chOff x="4998720" y="3272135"/>
            <a:chExt cx="3840480" cy="312866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98720" y="3780228"/>
              <a:ext cx="3840480" cy="2620572"/>
            </a:xfrm>
            <a:prstGeom prst="rect">
              <a:avLst/>
            </a:prstGeom>
          </p:spPr>
        </p:pic>
        <p:sp>
          <p:nvSpPr>
            <p:cNvPr id="2" name="Oval 1"/>
            <p:cNvSpPr/>
            <p:nvPr/>
          </p:nvSpPr>
          <p:spPr bwMode="auto">
            <a:xfrm>
              <a:off x="4998720" y="4510686"/>
              <a:ext cx="3840480" cy="1204314"/>
            </a:xfrm>
            <a:prstGeom prst="ellipse">
              <a:avLst/>
            </a:prstGeom>
            <a:noFill/>
            <a:ln w="38100" cap="flat" cmpd="sng" algn="ctr">
              <a:solidFill>
                <a:srgbClr val="00B050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cxnSp>
          <p:nvCxnSpPr>
            <p:cNvPr id="10" name="Curved Connector 9"/>
            <p:cNvCxnSpPr/>
            <p:nvPr/>
          </p:nvCxnSpPr>
          <p:spPr bwMode="auto">
            <a:xfrm rot="5400000">
              <a:off x="6894567" y="3728760"/>
              <a:ext cx="776889" cy="571499"/>
            </a:xfrm>
            <a:prstGeom prst="curvedConnector3">
              <a:avLst>
                <a:gd name="adj1" fmla="val 35795"/>
              </a:avLst>
            </a:prstGeom>
            <a:solidFill>
              <a:schemeClr val="accent1"/>
            </a:solidFill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" name="TextBox 21"/>
            <p:cNvSpPr txBox="1"/>
            <p:nvPr/>
          </p:nvSpPr>
          <p:spPr>
            <a:xfrm>
              <a:off x="6918960" y="3272135"/>
              <a:ext cx="16786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itchFamily="18" charset="0"/>
                </a:rPr>
                <a:t>ring</a:t>
              </a:r>
              <a:r>
                <a:rPr lang="en-US" dirty="0">
                  <a:solidFill>
                    <a:srgbClr val="00B050"/>
                  </a:solidFill>
                  <a:latin typeface="Times New Roman" pitchFamily="18" charset="0"/>
                  <a:cs typeface="Times New Roman" pitchFamily="18" charset="0"/>
                </a:rPr>
                <a:t> equator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04_1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0"/>
            <a:ext cx="8686800" cy="431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57200" y="1143000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Ring-flip</a:t>
            </a:r>
            <a:r>
              <a:rPr lang="en-US" altLang="en-US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Interconversion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chair conformations, resulting in the rapid exchange of axial and equatorial positions</a:t>
            </a:r>
            <a:endParaRPr lang="en-CA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85532"/>
            <a:ext cx="7772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Conformational Mobility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of Cyclohexane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82950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8600" y="1828800"/>
            <a:ext cx="876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472" indent="-347472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When there is one substituent on the </a:t>
            </a:r>
            <a:r>
              <a:rPr lang="en-US" altLang="en-US" dirty="0" err="1">
                <a:latin typeface="Times New Roman" pitchFamily="18" charset="0"/>
                <a:cs typeface="Times New Roman" pitchFamily="18" charset="0"/>
              </a:rPr>
              <a:t>cyclohexane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 ring, the two chair conformations are no longer equivalent.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5165" y="5867400"/>
            <a:ext cx="8458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472" indent="-347472" algn="ctr"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Why does the equatorial chair </a:t>
            </a:r>
            <a:r>
              <a:rPr lang="en-US" alt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dominate the equilibrium?</a:t>
            </a:r>
            <a:endParaRPr lang="en-US" sz="2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936629"/>
              </p:ext>
            </p:extLst>
          </p:nvPr>
        </p:nvGraphicFramePr>
        <p:xfrm>
          <a:off x="553278" y="4014066"/>
          <a:ext cx="2926080" cy="1711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253520" imgH="734040" progId="ChemDraw.Document.6.0">
                  <p:embed/>
                </p:oleObj>
              </mc:Choice>
              <mc:Fallback>
                <p:oleObj name="CS ChemDraw Drawing" r:id="rId2" imgW="1253520" imgH="734040" progId="ChemDraw.Document.6.0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78" y="4014066"/>
                        <a:ext cx="2926080" cy="1711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752814"/>
              </p:ext>
            </p:extLst>
          </p:nvPr>
        </p:nvGraphicFramePr>
        <p:xfrm>
          <a:off x="5704398" y="4416033"/>
          <a:ext cx="3200400" cy="1603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425240" imgH="713880" progId="ChemDraw.Document.6.0">
                  <p:embed/>
                </p:oleObj>
              </mc:Choice>
              <mc:Fallback>
                <p:oleObj name="CS ChemDraw Drawing" r:id="rId4" imgW="1425240" imgH="713880" progId="ChemDraw.Document.6.0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4398" y="4416033"/>
                        <a:ext cx="3200400" cy="16037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Arrow Connector 9"/>
          <p:cNvCxnSpPr/>
          <p:nvPr/>
        </p:nvCxnSpPr>
        <p:spPr bwMode="auto">
          <a:xfrm>
            <a:off x="3982278" y="5233266"/>
            <a:ext cx="118872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3982278" y="5326867"/>
            <a:ext cx="73152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3913754" y="4678001"/>
            <a:ext cx="1311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Ring-flip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152400"/>
            <a:ext cx="723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Monosubstituted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Cyclohexane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62200" y="864053"/>
            <a:ext cx="4495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(</a:t>
            </a:r>
            <a:r>
              <a:rPr lang="en-US" sz="27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Methyl</a:t>
            </a:r>
            <a:r>
              <a:rPr lang="en-US" sz="27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cyclohexane</a:t>
            </a:r>
            <a:r>
              <a:rPr 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)</a:t>
            </a:r>
            <a:endParaRPr lang="en-US" sz="27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F74A4D-7461-38BE-E6CF-CAFBC2D44BB9}"/>
              </a:ext>
            </a:extLst>
          </p:cNvPr>
          <p:cNvSpPr txBox="1"/>
          <p:nvPr/>
        </p:nvSpPr>
        <p:spPr>
          <a:xfrm>
            <a:off x="241701" y="2753121"/>
            <a:ext cx="8763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CH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in the equatorial position is more stable because1,3-diaxial interaction occurs in axial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postion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Clr>
                <a:srgbClr val="FF0000"/>
              </a:buClr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230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457200" y="1524000"/>
            <a:ext cx="8077200" cy="5105400"/>
            <a:chOff x="457200" y="1143000"/>
            <a:chExt cx="8077200" cy="5105400"/>
          </a:xfrm>
        </p:grpSpPr>
        <p:sp>
          <p:nvSpPr>
            <p:cNvPr id="12" name="Rectangle 11"/>
            <p:cNvSpPr/>
            <p:nvPr/>
          </p:nvSpPr>
          <p:spPr bwMode="auto">
            <a:xfrm>
              <a:off x="457200" y="1143000"/>
              <a:ext cx="8077200" cy="51054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505200" y="2209796"/>
              <a:ext cx="1463040" cy="7079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334000" y="1864588"/>
              <a:ext cx="2926080" cy="15596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" name="Picture 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09600" y="1143000"/>
              <a:ext cx="2377440" cy="2281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3" name="TextBox 22"/>
          <p:cNvSpPr txBox="1"/>
          <p:nvPr/>
        </p:nvSpPr>
        <p:spPr>
          <a:xfrm>
            <a:off x="2133600" y="838200"/>
            <a:ext cx="5171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Equatorial Conformation </a:t>
            </a:r>
            <a:r>
              <a:rPr lang="en-US" altLang="en-US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is Preferred</a:t>
            </a:r>
            <a:endParaRPr lang="en-US" b="1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457200" y="4203141"/>
            <a:ext cx="8061960" cy="2502459"/>
            <a:chOff x="1998662" y="2544762"/>
            <a:chExt cx="8138160" cy="2502459"/>
          </a:xfrm>
        </p:grpSpPr>
        <p:pic>
          <p:nvPicPr>
            <p:cNvPr id="25" name="Picture 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998662" y="2589212"/>
              <a:ext cx="8138160" cy="2458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" name="Picture 8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2836863" y="2544762"/>
              <a:ext cx="990600" cy="889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7" name="TextBox 26"/>
          <p:cNvSpPr txBox="1"/>
          <p:nvPr/>
        </p:nvSpPr>
        <p:spPr>
          <a:xfrm>
            <a:off x="546994" y="3790890"/>
            <a:ext cx="2501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1,3-Diaxial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152400"/>
            <a:ext cx="723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Methyl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cyclohexane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243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228600" y="4191000"/>
            <a:ext cx="86868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550" tIns="41275" rIns="82550" bIns="41275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spcBef>
                <a:spcPts val="0"/>
              </a:spcBef>
              <a:spcAft>
                <a:spcPts val="1200"/>
              </a:spcAft>
              <a:buClr>
                <a:srgbClr val="CC0066"/>
              </a:buClr>
              <a:buSzTx/>
              <a:buFontTx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Chair-chair </a:t>
            </a:r>
            <a:r>
              <a:rPr kumimoji="0" lang="en-US" alt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interconversion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occurs, but at any instant 95% of the molecules have their methyl group equatorial.</a:t>
            </a:r>
          </a:p>
          <a:p>
            <a:pPr marL="342900" marR="0" lvl="0" indent="-342900" algn="just" defTabSz="914400" rtl="0" eaLnBrk="1" fontAlgn="base" latinLnBrk="0" hangingPunct="1">
              <a:spcBef>
                <a:spcPts val="0"/>
              </a:spcBef>
              <a:spcAft>
                <a:spcPts val="1200"/>
              </a:spcAft>
              <a:buClr>
                <a:srgbClr val="CC0066"/>
              </a:buClr>
              <a:buSzTx/>
              <a:buFontTx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An axial methyl group is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more crowded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than an equatorial one.</a:t>
            </a:r>
          </a:p>
          <a:p>
            <a:pPr marL="342900" marR="0" lvl="0" indent="-342900" algn="just" defTabSz="914400" rtl="0" eaLnBrk="1" fontAlgn="base" latinLnBrk="0" hangingPunct="1">
              <a:spcBef>
                <a:spcPts val="0"/>
              </a:spcBef>
              <a:spcAft>
                <a:spcPts val="1200"/>
              </a:spcAft>
              <a:buClr>
                <a:srgbClr val="CC0066"/>
              </a:buClr>
              <a:buSzTx/>
              <a:buFontTx/>
              <a:buChar char="•"/>
              <a:tabLst/>
              <a:defRPr/>
            </a:pPr>
            <a:r>
              <a:rPr lang="en-US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Hydrogen atoms closer than 2.4 Ǻ will cause </a:t>
            </a:r>
            <a:r>
              <a:rPr lang="en-US" alt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steric</a:t>
            </a:r>
            <a:r>
              <a:rPr lang="en-US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strain.</a:t>
            </a:r>
          </a:p>
          <a:p>
            <a:pPr marL="342900" marR="0" lvl="0" indent="-342900" algn="just" defTabSz="914400" rtl="0" eaLnBrk="1" fontAlgn="base" latinLnBrk="0" hangingPunct="1">
              <a:spcBef>
                <a:spcPts val="0"/>
              </a:spcBef>
              <a:spcAft>
                <a:spcPts val="1200"/>
              </a:spcAft>
              <a:buClr>
                <a:srgbClr val="CC0066"/>
              </a:buClr>
              <a:buSzTx/>
              <a:buFontTx/>
              <a:buChar char="•"/>
              <a:tabLst/>
              <a:defRPr/>
            </a:pP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This is called a "1,3-diaxial repulsion" a type of </a:t>
            </a:r>
            <a:r>
              <a:rPr lang="en-US" altLang="en-US" sz="2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van </a:t>
            </a:r>
            <a:r>
              <a:rPr lang="en-US" altLang="en-US" sz="2200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der</a:t>
            </a:r>
            <a:r>
              <a:rPr lang="en-US" altLang="en-US" sz="2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Waals strain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altLang="en-US" sz="2200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steric</a:t>
            </a:r>
            <a:r>
              <a:rPr lang="en-US" altLang="en-US" sz="2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strain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381000" y="990600"/>
            <a:ext cx="8534400" cy="3109913"/>
            <a:chOff x="381000" y="1143000"/>
            <a:chExt cx="8534400" cy="3109913"/>
          </a:xfrm>
        </p:grpSpPr>
        <p:sp>
          <p:nvSpPr>
            <p:cNvPr id="10" name="Rectangle 9"/>
            <p:cNvSpPr/>
            <p:nvPr/>
          </p:nvSpPr>
          <p:spPr bwMode="auto">
            <a:xfrm>
              <a:off x="381000" y="1143000"/>
              <a:ext cx="8534400" cy="2895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sp>
          <p:nvSpPr>
            <p:cNvPr id="11" name="Rectangle 2"/>
            <p:cNvSpPr>
              <a:spLocks noChangeArrowheads="1"/>
            </p:cNvSpPr>
            <p:nvPr/>
          </p:nvSpPr>
          <p:spPr bwMode="auto">
            <a:xfrm>
              <a:off x="1447800" y="3602038"/>
              <a:ext cx="630237" cy="628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7463" tIns="23813" rIns="17463" bIns="23813"/>
            <a:lstStyle>
              <a:lvl1pPr defTabSz="822325"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11163" defTabSz="822325"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822325" defTabSz="822325"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235075" defTabSz="822325"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646238" defTabSz="822325"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3500"/>
                </a:lnSpc>
                <a:defRPr/>
              </a:pPr>
              <a:r>
                <a:rPr lang="en-US" altLang="en-US" sz="2800" dirty="0">
                  <a:solidFill>
                    <a:srgbClr val="CC0066"/>
                  </a:solidFill>
                  <a:latin typeface="Times New Roman" pitchFamily="18" charset="0"/>
                  <a:cs typeface="Times New Roman" pitchFamily="18" charset="0"/>
                </a:rPr>
                <a:t>5%</a:t>
              </a:r>
            </a:p>
          </p:txBody>
        </p:sp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6248400" y="3624263"/>
              <a:ext cx="762000" cy="628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7463" tIns="23813" rIns="17463" bIns="23813"/>
            <a:lstStyle>
              <a:lvl1pPr defTabSz="822325"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11163" defTabSz="822325"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822325" defTabSz="822325"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235075" defTabSz="822325"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646238" defTabSz="822325"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tabLst>
                  <a:tab pos="411163" algn="l"/>
                  <a:tab pos="822325" algn="l"/>
                  <a:tab pos="12350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3500"/>
                </a:lnSpc>
                <a:defRPr/>
              </a:pPr>
              <a:r>
                <a:rPr lang="en-US" altLang="en-US" sz="2800" dirty="0">
                  <a:solidFill>
                    <a:srgbClr val="CC0066"/>
                  </a:solidFill>
                  <a:latin typeface="Times New Roman" pitchFamily="18" charset="0"/>
                  <a:cs typeface="Times New Roman" pitchFamily="18" charset="0"/>
                </a:rPr>
                <a:t>95%</a:t>
              </a:r>
            </a:p>
          </p:txBody>
        </p:sp>
        <p:pic>
          <p:nvPicPr>
            <p:cNvPr id="13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505200" y="2285996"/>
              <a:ext cx="1463040" cy="7079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334000" y="1940788"/>
              <a:ext cx="2926080" cy="15596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09600" y="1219200"/>
              <a:ext cx="2377440" cy="2281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8" name="TextBox 17"/>
          <p:cNvSpPr txBox="1"/>
          <p:nvPr/>
        </p:nvSpPr>
        <p:spPr>
          <a:xfrm>
            <a:off x="990600" y="152400"/>
            <a:ext cx="723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Methyl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cyclohexane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622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https://player.slideplayer.com/32/9906410/data/images/img5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" y="1371600"/>
            <a:ext cx="8503920" cy="3426553"/>
          </a:xfrm>
          <a:prstGeom prst="rect">
            <a:avLst/>
          </a:prstGeom>
          <a:noFill/>
          <a:ln>
            <a:solidFill>
              <a:schemeClr val="accent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228600" y="5217833"/>
            <a:ext cx="3352800" cy="80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550" tIns="41275" rIns="82550" bIns="41275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spcBef>
                <a:spcPts val="0"/>
              </a:spcBef>
              <a:spcAft>
                <a:spcPts val="1200"/>
              </a:spcAft>
              <a:buClr>
                <a:srgbClr val="CC0066"/>
              </a:buClr>
              <a:buSzTx/>
              <a:buFontTx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Gauche is 0.9 kcal/</a:t>
            </a:r>
            <a:r>
              <a:rPr kumimoji="0" lang="en-US" alt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mol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less stable than anti.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5181601" y="5217833"/>
            <a:ext cx="3657600" cy="80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550" tIns="41275" rIns="82550" bIns="41275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spcBef>
                <a:spcPts val="0"/>
              </a:spcBef>
              <a:spcAft>
                <a:spcPts val="1200"/>
              </a:spcAft>
              <a:buClr>
                <a:srgbClr val="CC0066"/>
              </a:buClr>
              <a:buSzTx/>
              <a:buFontTx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Axial is 1.8 kcal/</a:t>
            </a:r>
            <a:r>
              <a:rPr kumimoji="0" lang="en-US" alt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mol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en-US" b="0" i="0" u="none" strike="noStrike" kern="1200" cap="none" spc="0" normalizeH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less stable than equatorial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52400"/>
            <a:ext cx="723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Methyl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cyclohexane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657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http://wps.prenhall.com/wps/media/objects/340/348272/Instructor_Resources/Chapter_03/Text_Images/FG03_2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524000"/>
            <a:ext cx="6629400" cy="5319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8"/>
          <p:cNvSpPr>
            <a:spLocks noGrp="1" noChangeArrowheads="1"/>
          </p:cNvSpPr>
          <p:nvPr>
            <p:ph type="title"/>
          </p:nvPr>
        </p:nvSpPr>
        <p:spPr>
          <a:xfrm>
            <a:off x="1219200" y="838200"/>
            <a:ext cx="6553200" cy="4572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Axial methyl group is </a:t>
            </a:r>
            <a:r>
              <a:rPr lang="en-US" alt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Gauche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C</a:t>
            </a:r>
            <a:r>
              <a:rPr lang="en-US" altLang="en-US" sz="2400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in the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152400"/>
            <a:ext cx="723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Methyl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cyclohexane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995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://wps.prenhall.com/wps/media/objects/340/348272/Instructor_Resources/Chapter_03/Text_Images/FG03_2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360" y="1142999"/>
            <a:ext cx="7863840" cy="251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76200"/>
            <a:ext cx="8763000" cy="609600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Equatorial Methyl Group is </a:t>
            </a:r>
            <a:r>
              <a:rPr lang="en-US" altLang="en-US" sz="28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Anti to C</a:t>
            </a:r>
            <a:r>
              <a:rPr lang="en-US" altLang="en-US" sz="2800" b="1" baseline="-25000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3</a:t>
            </a:r>
            <a:r>
              <a:rPr lang="en-US" altLang="en-US" sz="28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 in the ring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39968" y="4205277"/>
            <a:ext cx="7726792" cy="2576523"/>
            <a:chOff x="639968" y="4205277"/>
            <a:chExt cx="7726792" cy="2576523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85800" y="4205277"/>
              <a:ext cx="7680960" cy="2576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TextBox 5"/>
            <p:cNvSpPr txBox="1"/>
            <p:nvPr/>
          </p:nvSpPr>
          <p:spPr>
            <a:xfrm>
              <a:off x="2077747" y="4781490"/>
              <a:ext cx="8178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CC0066"/>
                  </a:solidFill>
                  <a:latin typeface="Times New Roman" pitchFamily="18" charset="0"/>
                  <a:cs typeface="Times New Roman" pitchFamily="18" charset="0"/>
                </a:rPr>
                <a:t>Axial 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9968" y="6350913"/>
              <a:ext cx="240803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 err="1">
                  <a:latin typeface="Times New Roman" pitchFamily="18" charset="0"/>
                  <a:cs typeface="Times New Roman" pitchFamily="18" charset="0"/>
                </a:rPr>
                <a:t>Methylcyclohexane</a:t>
              </a:r>
              <a:endParaRPr lang="en-US" sz="2200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514600" y="2971800"/>
            <a:ext cx="1314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Equatorial 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304800" y="3810000"/>
            <a:ext cx="8534400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CC00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8834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3946811"/>
            <a:ext cx="7863840" cy="2668689"/>
          </a:xfrm>
          <a:prstGeom prst="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  <p:sp>
        <p:nvSpPr>
          <p:cNvPr id="6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52400"/>
            <a:ext cx="8534400" cy="685800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n w="1905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The Bigger The Group, </a:t>
            </a:r>
            <a:r>
              <a:rPr lang="en-US" alt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The Bigger The Strain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554480" y="1124109"/>
            <a:ext cx="6217920" cy="2468115"/>
            <a:chOff x="1219200" y="1124109"/>
            <a:chExt cx="6217920" cy="246811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9200" y="1124109"/>
              <a:ext cx="6217920" cy="2468115"/>
            </a:xfrm>
            <a:prstGeom prst="rect">
              <a:avLst/>
            </a:prstGeom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1923745" y="3043535"/>
              <a:ext cx="8194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0"/>
                  <a:solidFill>
                    <a:srgbClr val="0033CC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40%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347077" y="3043535"/>
              <a:ext cx="8194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spc="50" dirty="0">
                  <a:ln w="0"/>
                  <a:solidFill>
                    <a:srgbClr val="0033CC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60%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676400" y="6198264"/>
            <a:ext cx="659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pc="50" dirty="0">
                <a:ln w="0"/>
                <a:solidFill>
                  <a:srgbClr val="0033CC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7077" y="6198264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pc="50" dirty="0">
                <a:ln w="0"/>
                <a:solidFill>
                  <a:srgbClr val="0033CC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97%</a:t>
            </a:r>
          </a:p>
        </p:txBody>
      </p:sp>
    </p:spTree>
    <p:extLst>
      <p:ext uri="{BB962C8B-B14F-4D97-AF65-F5344CB8AC3E}">
        <p14:creationId xmlns:p14="http://schemas.microsoft.com/office/powerpoint/2010/main" val="3674798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1447802"/>
            <a:ext cx="7498080" cy="31904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200" y="4648201"/>
            <a:ext cx="40386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than 0.01%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serious 1,3-diaxial repulsions involving </a:t>
            </a:r>
            <a:r>
              <a:rPr lang="en-US" sz="2000" i="1" dirty="0" err="1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tert</a:t>
            </a:r>
            <a:r>
              <a:rPr lang="en-US" sz="2000" dirty="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-butyl group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0" y="4648200"/>
            <a:ext cx="40386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than 99.99%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Decreased </a:t>
            </a:r>
          </a:p>
          <a:p>
            <a:pPr algn="ctr"/>
            <a:r>
              <a:rPr lang="en-US" sz="2000" dirty="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 der Waals strain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447800" y="152400"/>
            <a:ext cx="618951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Aft>
                <a:spcPts val="1800"/>
              </a:spcAft>
            </a:pPr>
            <a:r>
              <a:rPr lang="en-US" alt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Monosubstituted</a:t>
            </a:r>
            <a:r>
              <a:rPr lang="en-US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Cyclohexane</a:t>
            </a:r>
            <a:endParaRPr lang="en-US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4600" y="762000"/>
            <a:ext cx="4407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spc="50" dirty="0" err="1">
                <a:ln w="0"/>
                <a:solidFill>
                  <a:srgbClr val="CC0066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tert</a:t>
            </a:r>
            <a:r>
              <a:rPr lang="en-US" b="1" spc="50" dirty="0">
                <a:ln w="0"/>
                <a:solidFill>
                  <a:srgbClr val="CC0066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-Butyl Group Is Very Bulky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019800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bulky groups like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isopropyl, phenyl and </a:t>
            </a:r>
            <a:r>
              <a:rPr lang="en-US" sz="2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-butyl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large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these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will not tolerate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conformational flip into an axial orientation.</a:t>
            </a:r>
          </a:p>
        </p:txBody>
      </p:sp>
      <p:sp>
        <p:nvSpPr>
          <p:cNvPr id="11" name="Down Arrow 10"/>
          <p:cNvSpPr/>
          <p:nvPr/>
        </p:nvSpPr>
        <p:spPr bwMode="auto">
          <a:xfrm>
            <a:off x="7391400" y="2819400"/>
            <a:ext cx="304800" cy="609600"/>
          </a:xfrm>
          <a:prstGeom prst="downArrow">
            <a:avLst/>
          </a:prstGeom>
          <a:solidFill>
            <a:srgbClr val="00B0EE">
              <a:alpha val="29020"/>
            </a:srgbClr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0" y="1600200"/>
            <a:ext cx="23622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an “</a:t>
            </a:r>
            <a:r>
              <a:rPr lang="en-US" sz="2000" dirty="0">
                <a:solidFill>
                  <a:srgbClr val="CC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anchor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algn="ctr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 the molecule in this conformation</a:t>
            </a:r>
          </a:p>
        </p:txBody>
      </p:sp>
    </p:spTree>
    <p:extLst>
      <p:ext uri="{BB962C8B-B14F-4D97-AF65-F5344CB8AC3E}">
        <p14:creationId xmlns:p14="http://schemas.microsoft.com/office/powerpoint/2010/main" val="3672772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353148"/>
            <a:ext cx="1920240" cy="1466252"/>
          </a:xfrm>
          <a:prstGeom prst="rect">
            <a:avLst/>
          </a:prstGeom>
        </p:spPr>
      </p:pic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1600200" y="122238"/>
            <a:ext cx="6248400" cy="715962"/>
          </a:xfrm>
        </p:spPr>
        <p:txBody>
          <a:bodyPr/>
          <a:lstStyle/>
          <a:p>
            <a:pPr eaLnBrk="1" hangingPunct="1"/>
            <a:r>
              <a:rPr lang="en-US" altLang="en-US" sz="3200" b="1" i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cis-</a:t>
            </a:r>
            <a:r>
              <a:rPr lang="en-US" altLang="en-US" sz="32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1,2-</a:t>
            </a:r>
            <a:r>
              <a:rPr lang="en-US" altLang="en-US" sz="3200" b="1" dirty="0">
                <a:ln w="1905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Dimethylcyclohexane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" y="3392667"/>
            <a:ext cx="6675120" cy="2169933"/>
          </a:xfrm>
          <a:prstGeom prst="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28600" y="5867400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conformations; each has one axial methyl group and one equatorial methyl group.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011680" y="1226773"/>
          <a:ext cx="1645920" cy="1516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766818" imgH="705959" progId="ChemDraw.Document.6.0">
                  <p:embed/>
                </p:oleObj>
              </mc:Choice>
              <mc:Fallback>
                <p:oleObj name="CS ChemDraw Drawing" r:id="rId4" imgW="766818" imgH="705959" progId="ChemDraw.Document.6.0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680" y="1226773"/>
                        <a:ext cx="1645920" cy="15164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4343400" y="1752600"/>
            <a:ext cx="381000" cy="152400"/>
            <a:chOff x="9753600" y="1905000"/>
            <a:chExt cx="381000" cy="152400"/>
          </a:xfrm>
        </p:grpSpPr>
        <p:cxnSp>
          <p:nvCxnSpPr>
            <p:cNvPr id="10" name="Straight Connector 9"/>
            <p:cNvCxnSpPr/>
            <p:nvPr/>
          </p:nvCxnSpPr>
          <p:spPr bwMode="auto">
            <a:xfrm>
              <a:off x="9753600" y="19050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Straight Connector 10"/>
            <p:cNvCxnSpPr/>
            <p:nvPr/>
          </p:nvCxnSpPr>
          <p:spPr bwMode="auto">
            <a:xfrm>
              <a:off x="9753600" y="19812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Straight Connector 11"/>
            <p:cNvCxnSpPr/>
            <p:nvPr/>
          </p:nvCxnSpPr>
          <p:spPr bwMode="auto">
            <a:xfrm>
              <a:off x="9753600" y="20574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00996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1295400" y="122238"/>
            <a:ext cx="6553200" cy="715962"/>
          </a:xfrm>
        </p:spPr>
        <p:txBody>
          <a:bodyPr/>
          <a:lstStyle/>
          <a:p>
            <a:pPr eaLnBrk="1" hangingPunct="1"/>
            <a:r>
              <a:rPr lang="en-US" altLang="en-US" sz="3200" b="1" i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trans-</a:t>
            </a:r>
            <a:r>
              <a:rPr lang="en-US" altLang="en-US" sz="32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1,2-</a:t>
            </a:r>
            <a:r>
              <a:rPr lang="en-US" altLang="en-US" sz="3200" b="1" dirty="0">
                <a:ln w="1905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Dimethylcyclohexane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407218"/>
            <a:ext cx="2011680" cy="14087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" y="3427045"/>
            <a:ext cx="6675120" cy="2135555"/>
          </a:xfrm>
          <a:prstGeom prst="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28600" y="5874603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conformations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not equivalent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the most stable conformation has both methyl groups equatorial.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874520" y="1327572"/>
          <a:ext cx="1554480" cy="1568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728781" imgH="734867" progId="ChemDraw.Document.6.0">
                  <p:embed/>
                </p:oleObj>
              </mc:Choice>
              <mc:Fallback>
                <p:oleObj name="CS ChemDraw Drawing" r:id="rId4" imgW="728781" imgH="734867" progId="ChemDraw.Document.6.0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520" y="1327572"/>
                        <a:ext cx="1554480" cy="15680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4419600" y="2035386"/>
            <a:ext cx="381000" cy="152400"/>
            <a:chOff x="9753600" y="1905000"/>
            <a:chExt cx="381000" cy="152400"/>
          </a:xfrm>
        </p:grpSpPr>
        <p:cxnSp>
          <p:nvCxnSpPr>
            <p:cNvPr id="10" name="Straight Connector 9"/>
            <p:cNvCxnSpPr/>
            <p:nvPr/>
          </p:nvCxnSpPr>
          <p:spPr bwMode="auto">
            <a:xfrm>
              <a:off x="9753600" y="19050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Straight Connector 10"/>
            <p:cNvCxnSpPr/>
            <p:nvPr/>
          </p:nvCxnSpPr>
          <p:spPr bwMode="auto">
            <a:xfrm>
              <a:off x="9753600" y="19812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Straight Connector 11"/>
            <p:cNvCxnSpPr/>
            <p:nvPr/>
          </p:nvCxnSpPr>
          <p:spPr bwMode="auto">
            <a:xfrm>
              <a:off x="9753600" y="20574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120CFF7-DD0D-48D4-B0A5-9CB211D6851B}"/>
              </a:ext>
            </a:extLst>
          </p:cNvPr>
          <p:cNvSpPr/>
          <p:nvPr/>
        </p:nvSpPr>
        <p:spPr bwMode="auto">
          <a:xfrm>
            <a:off x="3962400" y="4572000"/>
            <a:ext cx="1143000" cy="533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9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1600200" y="122238"/>
            <a:ext cx="6248400" cy="715962"/>
          </a:xfrm>
        </p:spPr>
        <p:txBody>
          <a:bodyPr/>
          <a:lstStyle/>
          <a:p>
            <a:pPr eaLnBrk="1" hangingPunct="1"/>
            <a:r>
              <a:rPr lang="en-US" altLang="en-US" sz="3200" b="1" i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cis</a:t>
            </a:r>
            <a:r>
              <a:rPr lang="en-US" altLang="en-US" sz="32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-1,2-</a:t>
            </a:r>
            <a:r>
              <a:rPr lang="en-US" altLang="en-US" sz="3200" b="1" dirty="0">
                <a:ln w="1905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Dimethylcyclohexane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295400"/>
            <a:ext cx="8869680" cy="5002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599148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" y="1295400"/>
            <a:ext cx="8869680" cy="531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1226820" y="198438"/>
            <a:ext cx="6629400" cy="715962"/>
          </a:xfrm>
        </p:spPr>
        <p:txBody>
          <a:bodyPr/>
          <a:lstStyle/>
          <a:p>
            <a:pPr eaLnBrk="1" hangingPunct="1"/>
            <a:r>
              <a:rPr lang="en-US" altLang="en-US" sz="3200" b="1" i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trans-</a:t>
            </a:r>
            <a:r>
              <a:rPr lang="en-US" altLang="en-US" sz="32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1,2-</a:t>
            </a:r>
            <a:r>
              <a:rPr lang="en-US" altLang="en-US" sz="3200" b="1" dirty="0">
                <a:ln w="1905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Dimethylcyclohexane</a:t>
            </a:r>
          </a:p>
        </p:txBody>
      </p:sp>
    </p:spTree>
    <p:extLst>
      <p:ext uri="{BB962C8B-B14F-4D97-AF65-F5344CB8AC3E}">
        <p14:creationId xmlns:p14="http://schemas.microsoft.com/office/powerpoint/2010/main" val="7248387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>
            <a:spLocks noGrp="1" noChangeArrowheads="1"/>
          </p:cNvSpPr>
          <p:nvPr>
            <p:ph type="title"/>
          </p:nvPr>
        </p:nvSpPr>
        <p:spPr>
          <a:xfrm>
            <a:off x="1226820" y="198438"/>
            <a:ext cx="6629400" cy="715962"/>
          </a:xfrm>
        </p:spPr>
        <p:txBody>
          <a:bodyPr/>
          <a:lstStyle/>
          <a:p>
            <a:pPr eaLnBrk="1" hangingPunct="1"/>
            <a:r>
              <a:rPr lang="en-US" altLang="en-US" sz="3200" b="1" i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trans-</a:t>
            </a:r>
            <a:r>
              <a:rPr lang="en-US" altLang="en-US" sz="32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1,3-</a:t>
            </a:r>
            <a:r>
              <a:rPr lang="en-US" altLang="en-US" sz="3200" b="1" dirty="0">
                <a:ln w="1905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Dimethylcyclohexane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440" y="1407832"/>
            <a:ext cx="2651760" cy="1378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398067"/>
            <a:ext cx="7132320" cy="2088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5867400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equivalent conformations; each has one axial methyl group and one equatorial methyl group.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358640" y="2020969"/>
            <a:ext cx="381000" cy="152400"/>
            <a:chOff x="9753600" y="1905000"/>
            <a:chExt cx="381000" cy="152400"/>
          </a:xfrm>
        </p:grpSpPr>
        <p:cxnSp>
          <p:nvCxnSpPr>
            <p:cNvPr id="10" name="Straight Connector 9"/>
            <p:cNvCxnSpPr/>
            <p:nvPr/>
          </p:nvCxnSpPr>
          <p:spPr bwMode="auto">
            <a:xfrm>
              <a:off x="9753600" y="19050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Straight Connector 10"/>
            <p:cNvCxnSpPr/>
            <p:nvPr/>
          </p:nvCxnSpPr>
          <p:spPr bwMode="auto">
            <a:xfrm>
              <a:off x="9753600" y="19812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Straight Connector 11"/>
            <p:cNvCxnSpPr/>
            <p:nvPr/>
          </p:nvCxnSpPr>
          <p:spPr bwMode="auto">
            <a:xfrm>
              <a:off x="9753600" y="20574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234440" y="1374938"/>
          <a:ext cx="1920240" cy="14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890057" imgH="669444" progId="ChemDraw.Document.6.0">
                  <p:embed/>
                </p:oleObj>
              </mc:Choice>
              <mc:Fallback>
                <p:oleObj name="CS ChemDraw Drawing" r:id="rId4" imgW="890057" imgH="669444" progId="ChemDraw.Document.6.0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4440" y="1374938"/>
                        <a:ext cx="1920240" cy="1444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018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41561"/>
            <a:ext cx="2468880" cy="15012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581400"/>
            <a:ext cx="6858000" cy="2011267"/>
          </a:xfrm>
          <a:prstGeom prst="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28600" y="5874603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conformations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not equivalent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the most stable conformation has both methyl groups equatorial.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title"/>
          </p:nvPr>
        </p:nvSpPr>
        <p:spPr>
          <a:xfrm>
            <a:off x="1226820" y="152400"/>
            <a:ext cx="6629400" cy="715962"/>
          </a:xfrm>
        </p:spPr>
        <p:txBody>
          <a:bodyPr/>
          <a:lstStyle/>
          <a:p>
            <a:pPr eaLnBrk="1" hangingPunct="1"/>
            <a:r>
              <a:rPr lang="en-US" altLang="en-US" sz="3200" b="1" i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cis-</a:t>
            </a:r>
            <a:r>
              <a:rPr lang="en-US" altLang="en-US" sz="32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1,3-</a:t>
            </a:r>
            <a:r>
              <a:rPr lang="en-US" altLang="en-US" sz="3200" b="1" dirty="0">
                <a:ln w="1905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Dimethylcyclohexane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600200" y="1288790"/>
          <a:ext cx="1645920" cy="1606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734867" imgH="718131" progId="ChemDraw.Document.6.0">
                  <p:embed/>
                </p:oleObj>
              </mc:Choice>
              <mc:Fallback>
                <p:oleObj name="CS ChemDraw Drawing" r:id="rId4" imgW="734867" imgH="718131" progId="ChemDraw.Document.6.0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288790"/>
                        <a:ext cx="1645920" cy="16068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962400" y="2015995"/>
            <a:ext cx="381000" cy="152400"/>
            <a:chOff x="9753600" y="1905000"/>
            <a:chExt cx="381000" cy="152400"/>
          </a:xfrm>
        </p:grpSpPr>
        <p:cxnSp>
          <p:nvCxnSpPr>
            <p:cNvPr id="9" name="Straight Connector 8"/>
            <p:cNvCxnSpPr/>
            <p:nvPr/>
          </p:nvCxnSpPr>
          <p:spPr bwMode="auto">
            <a:xfrm>
              <a:off x="9753600" y="19050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Straight Connector 9"/>
            <p:cNvCxnSpPr/>
            <p:nvPr/>
          </p:nvCxnSpPr>
          <p:spPr bwMode="auto">
            <a:xfrm>
              <a:off x="9753600" y="19812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Straight Connector 10"/>
            <p:cNvCxnSpPr/>
            <p:nvPr/>
          </p:nvCxnSpPr>
          <p:spPr bwMode="auto">
            <a:xfrm>
              <a:off x="9753600" y="20574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67330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3" descr="http://wps.prenhall.com/wps/media/objects/340/348272/Instructor_Resources/Chapter_03/Text_Images/FG03_2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178059"/>
            <a:ext cx="7132320" cy="2403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4"/>
          <p:cNvSpPr>
            <a:spLocks noGrp="1" noChangeArrowheads="1"/>
          </p:cNvSpPr>
          <p:nvPr>
            <p:ph type="title"/>
          </p:nvPr>
        </p:nvSpPr>
        <p:spPr>
          <a:xfrm>
            <a:off x="1600200" y="76200"/>
            <a:ext cx="6248400" cy="715962"/>
          </a:xfrm>
        </p:spPr>
        <p:txBody>
          <a:bodyPr/>
          <a:lstStyle/>
          <a:p>
            <a:pPr eaLnBrk="1" hangingPunct="1"/>
            <a:r>
              <a:rPr lang="en-US" altLang="en-US" sz="3200" b="1" i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cis-</a:t>
            </a:r>
            <a:r>
              <a:rPr lang="en-US" altLang="en-US" sz="32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1,3-</a:t>
            </a:r>
            <a:r>
              <a:rPr lang="en-US" altLang="en-US" sz="3200" b="1" dirty="0">
                <a:ln w="1905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Dimethylcyclohexane</a:t>
            </a:r>
          </a:p>
        </p:txBody>
      </p:sp>
      <p:pic>
        <p:nvPicPr>
          <p:cNvPr id="15" name="Picture 3" descr="http://wps.prenhall.com/wps/media/objects/340/348272/Instructor_Resources/Chapter_03/Text_Images/FG03_27-01UN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3965837"/>
            <a:ext cx="7315200" cy="2663563"/>
          </a:xfrm>
          <a:prstGeom prst="rect">
            <a:avLst/>
          </a:prstGeom>
          <a:noFill/>
          <a:ln w="9525">
            <a:solidFill>
              <a:srgbClr val="CC0066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1533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880" y="1703827"/>
            <a:ext cx="2743200" cy="1055082"/>
          </a:xfrm>
          <a:prstGeom prst="rect">
            <a:avLst/>
          </a:prstGeom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pPr eaLnBrk="1" hangingPunct="1"/>
            <a:r>
              <a:rPr lang="en-US" altLang="en-US" sz="3200" b="1" i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cis</a:t>
            </a:r>
            <a:r>
              <a:rPr lang="en-US" altLang="en-US" sz="32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-1,4-</a:t>
            </a:r>
            <a:r>
              <a:rPr lang="en-US" altLang="en-US" sz="3200" b="1" dirty="0">
                <a:ln w="1905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Disubstituted  </a:t>
            </a:r>
            <a:r>
              <a:rPr lang="en-US" altLang="en-US" sz="3200" b="1" dirty="0" err="1">
                <a:ln w="1905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Cyclohexanes</a:t>
            </a:r>
            <a:endParaRPr lang="en-US" altLang="en-US" sz="3200" b="1" dirty="0">
              <a:ln w="1905"/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" y="3581400"/>
            <a:ext cx="6766560" cy="1967581"/>
          </a:xfrm>
          <a:prstGeom prst="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228600" y="5867400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equivalent conformations; each has one axial methyl group and one equatorial methyl group.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038600" y="2155168"/>
            <a:ext cx="381000" cy="152400"/>
            <a:chOff x="9753600" y="1905000"/>
            <a:chExt cx="381000" cy="152400"/>
          </a:xfrm>
        </p:grpSpPr>
        <p:cxnSp>
          <p:nvCxnSpPr>
            <p:cNvPr id="11" name="Straight Connector 10"/>
            <p:cNvCxnSpPr/>
            <p:nvPr/>
          </p:nvCxnSpPr>
          <p:spPr bwMode="auto">
            <a:xfrm>
              <a:off x="9753600" y="19050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Straight Connector 11"/>
            <p:cNvCxnSpPr/>
            <p:nvPr/>
          </p:nvCxnSpPr>
          <p:spPr bwMode="auto">
            <a:xfrm>
              <a:off x="9753600" y="19812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Straight Connector 12"/>
            <p:cNvCxnSpPr/>
            <p:nvPr/>
          </p:nvCxnSpPr>
          <p:spPr bwMode="auto">
            <a:xfrm>
              <a:off x="9753600" y="20574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1767840" y="1262337"/>
          <a:ext cx="1280160" cy="193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27321" imgH="947817" progId="ChemDraw.Document.6.0">
                  <p:embed/>
                </p:oleObj>
              </mc:Choice>
              <mc:Fallback>
                <p:oleObj name="CS ChemDraw Drawing" r:id="rId4" imgW="627321" imgH="947817" progId="ChemDraw.Document.6.0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7840" y="1262337"/>
                        <a:ext cx="1280160" cy="193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911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0500"/>
            <a:ext cx="8229600" cy="571500"/>
          </a:xfrm>
        </p:spPr>
        <p:txBody>
          <a:bodyPr/>
          <a:lstStyle/>
          <a:p>
            <a:pPr eaLnBrk="1" hangingPunct="1"/>
            <a:r>
              <a:rPr lang="en-US" altLang="en-US" sz="3200" b="1" i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trans</a:t>
            </a:r>
            <a:r>
              <a:rPr lang="en-US" altLang="en-US" sz="32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-1,4-</a:t>
            </a:r>
            <a:r>
              <a:rPr lang="en-US" altLang="en-US" sz="3200" b="1" dirty="0">
                <a:ln w="1905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Disubstituted </a:t>
            </a:r>
            <a:r>
              <a:rPr lang="en-US" altLang="en-US" sz="3200" b="1" dirty="0" err="1">
                <a:ln w="1905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Cyclohexanes</a:t>
            </a:r>
            <a:endParaRPr lang="en-US" altLang="en-US" sz="3200" b="1" dirty="0">
              <a:ln w="1905"/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302524"/>
            <a:ext cx="6858000" cy="2145413"/>
          </a:xfrm>
          <a:prstGeom prst="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474621"/>
            <a:ext cx="2651760" cy="10390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5791200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conformations are not equivalent; the most stable conformation has both methyl groups equatorial.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600200" y="1055316"/>
          <a:ext cx="1463040" cy="1840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707481" imgH="890057" progId="ChemDraw.Document.6.0">
                  <p:embed/>
                </p:oleObj>
              </mc:Choice>
              <mc:Fallback>
                <p:oleObj name="CS ChemDraw Drawing" r:id="rId4" imgW="707481" imgH="890057" progId="ChemDraw.Document.6.0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055316"/>
                        <a:ext cx="1463040" cy="18402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3962400" y="1917949"/>
            <a:ext cx="381000" cy="152400"/>
            <a:chOff x="9753600" y="1905000"/>
            <a:chExt cx="381000" cy="152400"/>
          </a:xfrm>
        </p:grpSpPr>
        <p:cxnSp>
          <p:nvCxnSpPr>
            <p:cNvPr id="10" name="Straight Connector 9"/>
            <p:cNvCxnSpPr/>
            <p:nvPr/>
          </p:nvCxnSpPr>
          <p:spPr bwMode="auto">
            <a:xfrm>
              <a:off x="9753600" y="19050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Straight Connector 10"/>
            <p:cNvCxnSpPr/>
            <p:nvPr/>
          </p:nvCxnSpPr>
          <p:spPr bwMode="auto">
            <a:xfrm>
              <a:off x="9753600" y="19812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Straight Connector 11"/>
            <p:cNvCxnSpPr/>
            <p:nvPr/>
          </p:nvCxnSpPr>
          <p:spPr bwMode="auto">
            <a:xfrm>
              <a:off x="9753600" y="2057400"/>
              <a:ext cx="381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06009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s://player.slideplayer.com/32/9906410/data/images/img7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84839"/>
            <a:ext cx="7772400" cy="241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https://player.slideplayer.com/32/9906410/data/images/img7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218428"/>
            <a:ext cx="7772400" cy="248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4300"/>
            <a:ext cx="8229600" cy="57150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1,4-</a:t>
            </a:r>
            <a:r>
              <a:rPr lang="en-US" altLang="en-US" sz="3200" b="1" dirty="0">
                <a:ln w="1905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Disubstituted </a:t>
            </a:r>
            <a:r>
              <a:rPr lang="en-US" altLang="en-US" sz="3200" b="1" dirty="0" err="1">
                <a:ln w="1905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Cyclohexanes</a:t>
            </a:r>
            <a:endParaRPr lang="en-US" altLang="en-US" sz="3200" b="1" dirty="0">
              <a:ln w="1905"/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381000" y="3886200"/>
            <a:ext cx="8382000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CC00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3478813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315200" cy="91440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Conformations of </a:t>
            </a:r>
            <a:br>
              <a:rPr lang="en-US" altLang="en-US" sz="3200" b="1" dirty="0">
                <a:ln w="1905"/>
                <a:solidFill>
                  <a:srgbClr val="0033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</a:br>
            <a:r>
              <a:rPr lang="en-US" altLang="en-US" sz="3200" b="1" i="1" dirty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cis-</a:t>
            </a:r>
            <a:r>
              <a:rPr lang="en-US" altLang="en-US" sz="3200" b="1" dirty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1-Chloro-4-</a:t>
            </a:r>
            <a:r>
              <a:rPr lang="en-US" altLang="en-US" sz="3200" b="1" i="1" dirty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t</a:t>
            </a:r>
            <a:r>
              <a:rPr lang="en-US" altLang="en-US" sz="3200" b="1" dirty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-butylcyclohexane</a:t>
            </a:r>
          </a:p>
        </p:txBody>
      </p:sp>
      <p:sp>
        <p:nvSpPr>
          <p:cNvPr id="5" name="Rectangle 3" descr="04p124b"/>
          <p:cNvSpPr>
            <a:spLocks noGrp="1" noChangeAspect="1" noChangeArrowheads="1"/>
          </p:cNvSpPr>
          <p:nvPr/>
        </p:nvSpPr>
        <p:spPr bwMode="auto">
          <a:xfrm>
            <a:off x="335280" y="3790333"/>
            <a:ext cx="8503920" cy="283906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chemeClr val="bg2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eaLnBrk="1" hangingPunct="1"/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3368040" y="1428285"/>
          <a:ext cx="1645920" cy="2076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836805" imgH="1055896" progId="ChemDraw.Document.6.0">
                  <p:embed/>
                </p:oleObj>
              </mc:Choice>
              <mc:Fallback>
                <p:oleObj name="CS ChemDraw Drawing" r:id="rId3" imgW="836805" imgH="1055896" progId="ChemDraw.Document.6.0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040" y="1428285"/>
                        <a:ext cx="1645920" cy="20769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734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6401" y="188893"/>
            <a:ext cx="5943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pc="5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Heats of Combustion </a:t>
            </a:r>
            <a:r>
              <a:rPr lang="en-US" sz="2800" b="1" spc="50" dirty="0">
                <a:ln w="0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of Isomeric </a:t>
            </a:r>
            <a:r>
              <a:rPr lang="en-US" sz="2800" b="1" spc="50" dirty="0" err="1">
                <a:ln w="0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Dimethylcyclohexane</a:t>
            </a:r>
            <a:endParaRPr lang="en-US" sz="2800" b="1" spc="50" dirty="0">
              <a:ln w="0"/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35280" y="1676400"/>
            <a:ext cx="8549640" cy="4572000"/>
            <a:chOff x="335280" y="1676400"/>
            <a:chExt cx="8549640" cy="457200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520" y="1707000"/>
              <a:ext cx="7955280" cy="45414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7" name="Straight Connector 6"/>
            <p:cNvCxnSpPr/>
            <p:nvPr/>
          </p:nvCxnSpPr>
          <p:spPr bwMode="auto">
            <a:xfrm>
              <a:off x="335280" y="2286000"/>
              <a:ext cx="850392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C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Straight Connector 7"/>
            <p:cNvCxnSpPr/>
            <p:nvPr/>
          </p:nvCxnSpPr>
          <p:spPr bwMode="auto">
            <a:xfrm>
              <a:off x="335280" y="1676400"/>
              <a:ext cx="850392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C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Straight Connector 8"/>
            <p:cNvCxnSpPr/>
            <p:nvPr/>
          </p:nvCxnSpPr>
          <p:spPr bwMode="auto">
            <a:xfrm>
              <a:off x="381000" y="6248400"/>
              <a:ext cx="850392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CC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5187082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5" y="1293542"/>
            <a:ext cx="8869680" cy="33546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0" y="112693"/>
            <a:ext cx="84581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Axial and Equatorial Relationships </a:t>
            </a:r>
            <a:r>
              <a:rPr lang="en-US" sz="2800" b="1" spc="50" dirty="0">
                <a:ln w="0"/>
                <a:solidFill>
                  <a:srgbClr val="00009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in </a:t>
            </a:r>
            <a:r>
              <a:rPr lang="en-US" sz="2800" b="1" i="1" spc="50" dirty="0">
                <a:ln w="0"/>
                <a:solidFill>
                  <a:srgbClr val="00009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cis- </a:t>
            </a:r>
            <a:r>
              <a:rPr lang="en-US" sz="2800" b="1" spc="50" dirty="0">
                <a:ln w="0"/>
                <a:solidFill>
                  <a:srgbClr val="00009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and </a:t>
            </a:r>
            <a:r>
              <a:rPr lang="en-US" sz="2800" b="1" i="1" spc="50" dirty="0">
                <a:ln w="0"/>
                <a:solidFill>
                  <a:srgbClr val="00009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trans</a:t>
            </a:r>
            <a:r>
              <a:rPr lang="en-US" sz="2800" b="1" spc="50" dirty="0">
                <a:ln w="0"/>
                <a:solidFill>
                  <a:srgbClr val="00009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spc="50" dirty="0" err="1">
                <a:ln w="0"/>
                <a:solidFill>
                  <a:srgbClr val="00009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Disubstituted</a:t>
            </a:r>
            <a:r>
              <a:rPr lang="en-US" sz="2800" b="1" spc="50" dirty="0">
                <a:ln w="0"/>
                <a:solidFill>
                  <a:srgbClr val="00009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 Cyclohexane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80" y="4895371"/>
            <a:ext cx="4846320" cy="1810229"/>
          </a:xfrm>
          <a:prstGeom prst="rect">
            <a:avLst/>
          </a:prstGeom>
          <a:ln>
            <a:solidFill>
              <a:srgbClr val="0033CC"/>
            </a:solidFill>
          </a:ln>
        </p:spPr>
      </p:pic>
      <p:sp>
        <p:nvSpPr>
          <p:cNvPr id="8" name="Rectangle 7"/>
          <p:cNvSpPr/>
          <p:nvPr/>
        </p:nvSpPr>
        <p:spPr bwMode="auto">
          <a:xfrm>
            <a:off x="138545" y="2207942"/>
            <a:ext cx="8869680" cy="533400"/>
          </a:xfrm>
          <a:prstGeom prst="rect">
            <a:avLst/>
          </a:prstGeom>
          <a:noFill/>
          <a:ln w="9525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37295" y="6243935"/>
            <a:ext cx="739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a,a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6248400"/>
            <a:ext cx="739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e,e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4173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152400"/>
            <a:ext cx="723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Conformation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and </a:t>
            </a:r>
            <a:r>
              <a:rPr lang="en-US" sz="3000" b="1" dirty="0">
                <a:solidFill>
                  <a:srgbClr val="C804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Conformer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13314" name="Picture 2" descr="Chemistry 1B-AL Fall 2016 : Rotation around bonds acivity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901434"/>
            <a:ext cx="2926080" cy="2880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800" y="914400"/>
            <a:ext cx="8382000" cy="2866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90" dirty="0">
                <a:latin typeface="Times New Roman" pitchFamily="18" charset="0"/>
                <a:cs typeface="Times New Roman" pitchFamily="18" charset="0"/>
              </a:rPr>
              <a:t>Two groups bonded by only a single bond can undergo rotation about that bond with respect to each other. </a:t>
            </a:r>
          </a:p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90" dirty="0">
                <a:latin typeface="Times New Roman" pitchFamily="18" charset="0"/>
                <a:cs typeface="Times New Roman" pitchFamily="18" charset="0"/>
              </a:rPr>
              <a:t>Rotation about </a:t>
            </a:r>
            <a:r>
              <a:rPr lang="en-US" sz="229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90" dirty="0">
                <a:solidFill>
                  <a:srgbClr val="FF0000"/>
                </a:solidFill>
                <a:latin typeface="Times New Roman"/>
                <a:cs typeface="Times New Roman"/>
              </a:rPr>
              <a:t>‒</a:t>
            </a:r>
            <a:r>
              <a:rPr lang="en-US" sz="229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 single bonds </a:t>
            </a:r>
            <a:r>
              <a:rPr lang="en-US" sz="2290" dirty="0">
                <a:latin typeface="Times New Roman" pitchFamily="18" charset="0"/>
                <a:cs typeface="Times New Roman" pitchFamily="18" charset="0"/>
              </a:rPr>
              <a:t>allows a compound to adopt a variety of possible three-dimensional shapes, called </a:t>
            </a:r>
            <a:r>
              <a:rPr lang="en-US" sz="229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conformations</a:t>
            </a:r>
            <a:r>
              <a:rPr lang="en-US" sz="229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9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90" dirty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conformer</a:t>
            </a:r>
            <a:r>
              <a:rPr lang="en-US" sz="2290" dirty="0">
                <a:latin typeface="Times New Roman" pitchFamily="18" charset="0"/>
                <a:cs typeface="Times New Roman" pitchFamily="18" charset="0"/>
              </a:rPr>
              <a:t> is an isomer of a molecule that differs from another isomer by the rotation of a single bond in the molecule. A </a:t>
            </a:r>
            <a:r>
              <a:rPr lang="en-US" sz="2290" dirty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conformer</a:t>
            </a:r>
            <a:r>
              <a:rPr lang="en-US" sz="2290" dirty="0">
                <a:latin typeface="Times New Roman" pitchFamily="18" charset="0"/>
                <a:cs typeface="Times New Roman" pitchFamily="18" charset="0"/>
              </a:rPr>
              <a:t> is also known as a </a:t>
            </a:r>
            <a:r>
              <a:rPr lang="en-US" sz="2290" b="1" dirty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conformational isomer</a:t>
            </a:r>
            <a:r>
              <a:rPr lang="en-US" sz="229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5800" y="6320135"/>
            <a:ext cx="35528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Conformations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of Ethane</a:t>
            </a:r>
          </a:p>
        </p:txBody>
      </p:sp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998751"/>
            <a:ext cx="1762125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3905250"/>
            <a:ext cx="1933575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Straight Arrow Connector 10"/>
          <p:cNvCxnSpPr/>
          <p:nvPr/>
        </p:nvCxnSpPr>
        <p:spPr bwMode="auto">
          <a:xfrm>
            <a:off x="5334000" y="5108413"/>
            <a:ext cx="10668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5425612" y="4577060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152400"/>
            <a:ext cx="723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Newman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Projection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" y="2743047"/>
            <a:ext cx="8595360" cy="2667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7200" y="1161871"/>
            <a:ext cx="83743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 drawing conformations, we often use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Newman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projections,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way of drawing a molecule looking straight down the bond connecting two carbon atoms.</a:t>
            </a:r>
          </a:p>
        </p:txBody>
      </p:sp>
    </p:spTree>
    <p:extLst>
      <p:ext uri="{BB962C8B-B14F-4D97-AF65-F5344CB8AC3E}">
        <p14:creationId xmlns:p14="http://schemas.microsoft.com/office/powerpoint/2010/main" val="9860526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0600" y="208002"/>
            <a:ext cx="723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Staggered Conformations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of Ethane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141412"/>
            <a:ext cx="3291840" cy="221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1446212"/>
            <a:ext cx="3566160" cy="1729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28600" y="3657600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staggered conformation is the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most stable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because the maximum possible separation of the electron pairs in the C−H bonds occurs 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4800600"/>
            <a:ext cx="46482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staggered conformation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also possesses 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hyperconjugation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that involves a favorable interaction between an occupied, bonding MO and an unoccupied,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antibonding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MO. 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95925" y="4724400"/>
            <a:ext cx="311467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152400"/>
            <a:ext cx="723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Eclipsed Conformations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of Ethane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990600"/>
            <a:ext cx="6766560" cy="2818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3733800" y="4907340"/>
            <a:ext cx="5105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eclipsed conformation is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least stable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conformation, because electron clouds from the C−H bonds are closer and repel one another.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4983108"/>
            <a:ext cx="2194560" cy="1570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4381591"/>
            <a:ext cx="2743200" cy="419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979438"/>
            <a:ext cx="83820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An analysis of the energy changes that occur as a molecule undergoes rotations about single bonds is called a </a:t>
            </a:r>
            <a:r>
              <a:rPr lang="en-US" sz="2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conformational analysis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CA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08002"/>
            <a:ext cx="7772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What is 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Conformational Analysis?</a:t>
            </a:r>
          </a:p>
        </p:txBody>
      </p:sp>
      <p:pic>
        <p:nvPicPr>
          <p:cNvPr id="12290" name="Picture 2" descr="Selected Examples in 3D Analysis - Drug Design Org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60" y="2362200"/>
            <a:ext cx="6400800" cy="422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33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881319"/>
            <a:ext cx="4846320" cy="4748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09600" y="208002"/>
            <a:ext cx="7772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Conformational Analysis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Ethane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90600"/>
            <a:ext cx="38756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(Potential energy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Rotation)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533942"/>
            <a:ext cx="38862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energy difference  between the staggered &amp; eclipsed conformations is </a:t>
            </a:r>
            <a:r>
              <a:rPr lang="en-US" sz="2200" dirty="0">
                <a:solidFill>
                  <a:srgbClr val="BE308F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</a:t>
            </a:r>
            <a:r>
              <a:rPr lang="en-US" sz="2200" dirty="0">
                <a:solidFill>
                  <a:srgbClr val="BE308F"/>
                </a:solidFill>
                <a:latin typeface="Times New Roman" pitchFamily="18" charset="0"/>
                <a:cs typeface="Times New Roman" pitchFamily="18" charset="0"/>
              </a:rPr>
              <a:t> 12 kJ mol</a:t>
            </a:r>
            <a:r>
              <a:rPr lang="en-US" sz="2200" baseline="30000" dirty="0">
                <a:solidFill>
                  <a:srgbClr val="BE308F"/>
                </a:solidFill>
                <a:latin typeface="Times New Roman" pitchFamily="18" charset="0"/>
                <a:cs typeface="Times New Roman" pitchFamily="18" charset="0"/>
              </a:rPr>
              <a:t>−1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This small barrier to rotation is called the </a:t>
            </a:r>
            <a:r>
              <a:rPr lang="en-US" sz="2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torsional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barrier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the single bond.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05400" y="4038600"/>
            <a:ext cx="3810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At any given moment, unless the temperature is extremely low (−250 °C), most ethane molecules will have enough energy to undergo bond rotation from one conformation to another.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827938"/>
            <a:ext cx="7772400" cy="472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09600" y="208002"/>
            <a:ext cx="7772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Conformational Analysis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Ethane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98764" y="990600"/>
            <a:ext cx="47893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(Potential energy 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Dihedral angle)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905000" y="956046"/>
            <a:ext cx="51816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FF0000"/>
              </a:buClr>
            </a:pPr>
            <a:r>
              <a:rPr lang="en-US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Six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important conformers of butane: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08002"/>
            <a:ext cx="7772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Conformational Analysis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Butane</a:t>
            </a:r>
          </a:p>
        </p:txBody>
      </p:sp>
      <p:pic>
        <p:nvPicPr>
          <p:cNvPr id="1049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1752601"/>
            <a:ext cx="1463040" cy="1692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0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960" y="1752602"/>
            <a:ext cx="1737360" cy="1396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1" name="Picture 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880" y="1752600"/>
            <a:ext cx="1737360" cy="1642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2" name="Picture 2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752600"/>
            <a:ext cx="1463040" cy="1341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3" name="Picture 2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619500"/>
            <a:ext cx="13716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4" name="Picture 3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0" y="3619500"/>
            <a:ext cx="1352550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5" name="Picture 3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978" y="3619500"/>
            <a:ext cx="135255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6" name="Picture 3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232" y="3619500"/>
            <a:ext cx="1343025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7" name="Picture 3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953000"/>
            <a:ext cx="1920240" cy="1720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8" name="Picture 3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5257800"/>
            <a:ext cx="140017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9" name="Picture 3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993417"/>
            <a:ext cx="1828800" cy="1487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60" name="Picture 3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232" y="5257800"/>
            <a:ext cx="1400175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ight Arrow 1"/>
          <p:cNvSpPr/>
          <p:nvPr/>
        </p:nvSpPr>
        <p:spPr bwMode="auto">
          <a:xfrm>
            <a:off x="2133600" y="5629275"/>
            <a:ext cx="304800" cy="18394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28" name="Right Arrow 27"/>
          <p:cNvSpPr/>
          <p:nvPr/>
        </p:nvSpPr>
        <p:spPr bwMode="auto">
          <a:xfrm flipH="1">
            <a:off x="6781800" y="5629275"/>
            <a:ext cx="304800" cy="183948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63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208002"/>
            <a:ext cx="7772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Conformational Analysis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Butane</a:t>
            </a:r>
          </a:p>
        </p:txBody>
      </p:sp>
      <p:pic>
        <p:nvPicPr>
          <p:cNvPr id="5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1219200"/>
            <a:ext cx="1463040" cy="1692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086099"/>
            <a:ext cx="13716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ight Arrow 6"/>
          <p:cNvSpPr/>
          <p:nvPr/>
        </p:nvSpPr>
        <p:spPr bwMode="auto">
          <a:xfrm>
            <a:off x="2438400" y="1981200"/>
            <a:ext cx="609600" cy="27497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5200" y="1262152"/>
            <a:ext cx="533399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anti conformation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 does not have torsional strain from steric hindrance because the groups are staggered and the </a:t>
            </a:r>
            <a:r>
              <a:rPr lang="en-US" sz="2300" b="1" dirty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methyl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groups are far apart. The anti conformation is the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most stable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91000"/>
            <a:ext cx="4495800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300" dirty="0">
                <a:latin typeface="Times New Roman" pitchFamily="18" charset="0"/>
                <a:ea typeface="Yu Gothic Medium" pitchFamily="34" charset="-128"/>
                <a:cs typeface="Times New Roman" pitchFamily="18" charset="0"/>
              </a:rPr>
              <a:t>The </a:t>
            </a:r>
            <a:r>
              <a:rPr lang="en-US" sz="2300" b="1" dirty="0">
                <a:solidFill>
                  <a:srgbClr val="FF3399"/>
                </a:solidFill>
                <a:latin typeface="Times New Roman" pitchFamily="18" charset="0"/>
                <a:ea typeface="Yu Gothic Medium" pitchFamily="34" charset="-128"/>
                <a:cs typeface="Times New Roman" pitchFamily="18" charset="0"/>
              </a:rPr>
              <a:t>methyl</a:t>
            </a:r>
            <a:r>
              <a:rPr lang="en-US" sz="2300" dirty="0">
                <a:latin typeface="Times New Roman" pitchFamily="18" charset="0"/>
                <a:ea typeface="Yu Gothic Medium" pitchFamily="34" charset="-128"/>
                <a:cs typeface="Times New Roman" pitchFamily="18" charset="0"/>
              </a:rPr>
              <a:t> groups in the </a:t>
            </a:r>
            <a:r>
              <a:rPr lang="en-US" sz="2300" b="1" dirty="0">
                <a:latin typeface="Times New Roman" pitchFamily="18" charset="0"/>
                <a:ea typeface="Yu Gothic Medium" pitchFamily="34" charset="-128"/>
                <a:cs typeface="Times New Roman" pitchFamily="18" charset="0"/>
              </a:rPr>
              <a:t>gauche conformations III </a:t>
            </a:r>
            <a:r>
              <a:rPr lang="en-US" sz="2300" dirty="0">
                <a:latin typeface="Times New Roman" pitchFamily="18" charset="0"/>
                <a:ea typeface="Yu Gothic Medium" pitchFamily="34" charset="-128"/>
                <a:cs typeface="Times New Roman" pitchFamily="18" charset="0"/>
              </a:rPr>
              <a:t>and </a:t>
            </a:r>
            <a:r>
              <a:rPr lang="en-US" sz="2300" b="1" dirty="0">
                <a:latin typeface="Times New Roman" pitchFamily="18" charset="0"/>
                <a:ea typeface="Yu Gothic Medium" pitchFamily="34" charset="-128"/>
                <a:cs typeface="Times New Roman" pitchFamily="18" charset="0"/>
              </a:rPr>
              <a:t>V </a:t>
            </a:r>
            <a:r>
              <a:rPr lang="en-US" sz="2300" dirty="0">
                <a:latin typeface="Times New Roman" pitchFamily="18" charset="0"/>
                <a:ea typeface="Yu Gothic Medium" pitchFamily="34" charset="-128"/>
                <a:cs typeface="Times New Roman" pitchFamily="18" charset="0"/>
              </a:rPr>
              <a:t>are so close that they repel each other. This repulsion causes the gauche conformations to have ~ 3.8 kJ mol</a:t>
            </a:r>
            <a:r>
              <a:rPr lang="en-US" sz="2300" baseline="30000" dirty="0">
                <a:latin typeface="Times New Roman" pitchFamily="18" charset="0"/>
                <a:ea typeface="Yu Gothic Medium" pitchFamily="34" charset="-128"/>
                <a:cs typeface="Times New Roman" pitchFamily="18" charset="0"/>
              </a:rPr>
              <a:t>-1</a:t>
            </a:r>
            <a:r>
              <a:rPr lang="en-US" sz="2300" dirty="0">
                <a:latin typeface="Times New Roman" pitchFamily="18" charset="0"/>
                <a:ea typeface="Yu Gothic Medium" pitchFamily="34" charset="-128"/>
                <a:cs typeface="Times New Roman" pitchFamily="18" charset="0"/>
              </a:rPr>
              <a:t> more energy than the anti conformation.</a:t>
            </a:r>
          </a:p>
        </p:txBody>
      </p:sp>
      <p:pic>
        <p:nvPicPr>
          <p:cNvPr id="10" name="Picture 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80" y="4158406"/>
            <a:ext cx="1645920" cy="1556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408" y="4158406"/>
            <a:ext cx="1737360" cy="1556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050" y="5888658"/>
            <a:ext cx="135255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408" y="5888658"/>
            <a:ext cx="140017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082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208002"/>
            <a:ext cx="7772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Conformational Analysis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Butane</a:t>
            </a:r>
          </a:p>
        </p:txBody>
      </p:sp>
      <p:pic>
        <p:nvPicPr>
          <p:cNvPr id="5" name="Picture 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56615"/>
            <a:ext cx="1828800" cy="1469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295400"/>
            <a:ext cx="1828800" cy="1487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2933700"/>
            <a:ext cx="1352550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2895600"/>
            <a:ext cx="1400175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4572000" y="1387495"/>
            <a:ext cx="4267199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Eclipsed conformations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II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VI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have repulsive dispersion forces arising from the eclipsed </a:t>
            </a:r>
            <a:r>
              <a:rPr lang="en-US" sz="2300" b="1" dirty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methyl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groups and </a:t>
            </a:r>
            <a:r>
              <a:rPr lang="en-US" sz="23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hydrogen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atoms.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67200"/>
            <a:ext cx="5105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Eclipsed conformation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IV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has the greatest energy of all because of the added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large repulsive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dispersion forces between the eclipsed </a:t>
            </a:r>
            <a:r>
              <a:rPr lang="en-US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methyl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groups as compared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II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1" name="Picture 2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280" y="4130040"/>
            <a:ext cx="1645920" cy="1508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775" y="5869371"/>
            <a:ext cx="1343025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7719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81000" y="152400"/>
            <a:ext cx="8382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Energy Changes </a:t>
            </a:r>
            <a:r>
              <a:rPr 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that arise from 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Rotation about </a:t>
            </a:r>
            <a:r>
              <a:rPr 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the C2-C3 bond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21440"/>
            <a:ext cx="8869680" cy="5507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56426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09600" y="208002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Practice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Problem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2900" y="1066800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Draw the all possible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conformational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stereoisomers that result from the rotation about the C2</a:t>
            </a:r>
            <a:r>
              <a:rPr lang="en-US" dirty="0">
                <a:latin typeface="Times New Roman"/>
                <a:cs typeface="Times New Roman"/>
              </a:rPr>
              <a:t>‒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C3 bond of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-butane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answer the following questions: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514600"/>
            <a:ext cx="7810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Clr>
                <a:srgbClr val="FF0000"/>
              </a:buClr>
              <a:buFont typeface="+mj-lt"/>
              <a:buAutoNum type="romanL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How many of the carbon-carbon bonds in the compound have the </a:t>
            </a:r>
            <a:r>
              <a:rPr lang="en-US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staggered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conformations and how many of them are equally stable?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886200"/>
            <a:ext cx="7810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Clr>
                <a:srgbClr val="FF0000"/>
              </a:buClr>
              <a:buFont typeface="+mj-lt"/>
              <a:buAutoNum type="romanLcPeriod" startAt="2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How many of the carbon-carbon bonds in the compound have the </a:t>
            </a:r>
            <a:r>
              <a:rPr lang="en-US" b="1" dirty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eclipsed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conformations that are equally stable?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5029200"/>
            <a:ext cx="7810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Clr>
                <a:srgbClr val="FF0000"/>
              </a:buClr>
              <a:buFont typeface="+mj-lt"/>
              <a:buAutoNum type="romanLcPeriod" startAt="3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Draw a potential energy diagram for the rotation of the C2</a:t>
            </a:r>
            <a:r>
              <a:rPr lang="en-US" dirty="0">
                <a:latin typeface="Times New Roman"/>
                <a:cs typeface="Times New Roman"/>
              </a:rPr>
              <a:t>‒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C3 bond of </a:t>
            </a:r>
            <a:r>
              <a:rPr lang="en-US" b="1" i="1" dirty="0">
                <a:solidFill>
                  <a:srgbClr val="009E47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="1" dirty="0">
                <a:solidFill>
                  <a:srgbClr val="009E47"/>
                </a:solidFill>
                <a:latin typeface="Times New Roman" pitchFamily="18" charset="0"/>
                <a:cs typeface="Times New Roman" pitchFamily="18" charset="0"/>
              </a:rPr>
              <a:t>-pentane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through 360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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starting with the least stable conformer. </a:t>
            </a:r>
          </a:p>
        </p:txBody>
      </p:sp>
    </p:spTree>
    <p:extLst>
      <p:ext uri="{BB962C8B-B14F-4D97-AF65-F5344CB8AC3E}">
        <p14:creationId xmlns:p14="http://schemas.microsoft.com/office/powerpoint/2010/main" val="20384297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208002"/>
            <a:ext cx="7772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Conformational Analysis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</a:t>
            </a:r>
            <a:r>
              <a:rPr lang="en-US" sz="3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-Pentane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394" y="1232410"/>
            <a:ext cx="2103120" cy="2231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994" y="1284786"/>
            <a:ext cx="2560320" cy="2253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239710"/>
            <a:ext cx="2286000" cy="224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567" y="4132973"/>
            <a:ext cx="1828800" cy="2259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132973"/>
            <a:ext cx="2377440" cy="2322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760" y="4132973"/>
            <a:ext cx="1920240" cy="2271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85136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Solved Draw the conformers of the pentane from the rotation | Chegg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7223760" cy="328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8600"/>
            <a:ext cx="1554480" cy="1649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181600"/>
            <a:ext cx="1828800" cy="1609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1645920" cy="161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5252434"/>
            <a:ext cx="1280160" cy="1581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52400"/>
            <a:ext cx="1645920" cy="1607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4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440" y="5195062"/>
            <a:ext cx="1371600" cy="1622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74444"/>
            <a:ext cx="1554480" cy="1649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1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33600" y="284202"/>
            <a:ext cx="4953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Absolute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1143000"/>
            <a:ext cx="8382000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5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Absolute </a:t>
            </a:r>
            <a:r>
              <a:rPr lang="en-US" sz="2250" b="1" dirty="0">
                <a:latin typeface="Times New Roman" pitchFamily="18" charset="0"/>
                <a:cs typeface="Times New Roman" pitchFamily="18" charset="0"/>
              </a:rPr>
              <a:t>configuration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 refers to the spatial arrangement of atoms within a chiral molecule and its resultant </a:t>
            </a:r>
            <a:r>
              <a:rPr lang="en-US" sz="2250" dirty="0" err="1">
                <a:latin typeface="Times New Roman" pitchFamily="18" charset="0"/>
                <a:cs typeface="Times New Roman" pitchFamily="18" charset="0"/>
              </a:rPr>
              <a:t>stereochemical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 description.</a:t>
            </a:r>
          </a:p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5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absolute</a:t>
            </a:r>
            <a:r>
              <a:rPr lang="en-US" sz="2250" b="1" dirty="0">
                <a:latin typeface="Times New Roman" pitchFamily="18" charset="0"/>
                <a:cs typeface="Times New Roman" pitchFamily="18" charset="0"/>
              </a:rPr>
              <a:t> configuration 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of a chirality center is its (</a:t>
            </a:r>
            <a:r>
              <a:rPr lang="en-US" sz="2250" i="1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) or (</a:t>
            </a:r>
            <a:r>
              <a:rPr lang="en-US" sz="225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) designation, which is based on the Cahn–</a:t>
            </a:r>
            <a:r>
              <a:rPr lang="en-US" sz="2250" dirty="0" err="1">
                <a:latin typeface="Times New Roman" pitchFamily="18" charset="0"/>
                <a:cs typeface="Times New Roman" pitchFamily="18" charset="0"/>
              </a:rPr>
              <a:t>Ingold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–Prelog priority rules..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" y="3608692"/>
            <a:ext cx="7406640" cy="302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52600" y="208002"/>
            <a:ext cx="5943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Relative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Configuration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800" y="2414587"/>
            <a:ext cx="3276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Relative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configuration in stereochemistry is the arrangement of atoms or group of atoms that is described relative to other atoms or group of atoms in the molecule.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5334000"/>
            <a:ext cx="838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arrangement of atoms in an optically active molecule, based on </a:t>
            </a:r>
            <a:r>
              <a:rPr lang="en-US" sz="2200" dirty="0">
                <a:solidFill>
                  <a:srgbClr val="C80482"/>
                </a:solidFill>
                <a:latin typeface="Times New Roman" pitchFamily="18" charset="0"/>
                <a:cs typeface="Times New Roman" pitchFamily="18" charset="0"/>
              </a:rPr>
              <a:t>chemical </a:t>
            </a:r>
            <a:r>
              <a:rPr lang="en-US" sz="2200" dirty="0" err="1">
                <a:solidFill>
                  <a:srgbClr val="C80482"/>
                </a:solidFill>
                <a:latin typeface="Times New Roman" pitchFamily="18" charset="0"/>
                <a:cs typeface="Times New Roman" pitchFamily="18" charset="0"/>
              </a:rPr>
              <a:t>interconversion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from or to a known compound, is also a </a:t>
            </a:r>
            <a:r>
              <a:rPr lang="en-US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relative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configuration.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 descr="configur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656" y="2438400"/>
            <a:ext cx="5162550" cy="2619375"/>
          </a:xfrm>
          <a:prstGeom prst="rect">
            <a:avLst/>
          </a:prstGeom>
          <a:noFill/>
          <a:ln>
            <a:solidFill>
              <a:schemeClr val="accent5">
                <a:lumMod val="9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04800" y="1025604"/>
            <a:ext cx="86868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Relative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configuration can be applied within the same molecule (such as 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 or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-) or it can be applied to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intermolecularly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i.e.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pair of enantiomers have opposite configurations).</a:t>
            </a:r>
          </a:p>
        </p:txBody>
      </p:sp>
    </p:spTree>
    <p:extLst>
      <p:ext uri="{BB962C8B-B14F-4D97-AF65-F5344CB8AC3E}">
        <p14:creationId xmlns:p14="http://schemas.microsoft.com/office/powerpoint/2010/main" val="8123508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208002"/>
            <a:ext cx="723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Relative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" y="1066800"/>
            <a:ext cx="8374380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Before 1951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only </a:t>
            </a:r>
            <a:r>
              <a:rPr lang="en-US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relative</a:t>
            </a:r>
            <a:r>
              <a:rPr lang="en-US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configurations</a:t>
            </a:r>
            <a:r>
              <a:rPr lang="en-US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chiral molecules were known.</a:t>
            </a:r>
          </a:p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 one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prior to that time had been able to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determine the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absolute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configuration of an optically active compound.</a:t>
            </a:r>
          </a:p>
          <a:p>
            <a:pPr marL="342900" indent="-342900" algn="just">
              <a:spcAft>
                <a:spcPts val="6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configurations of chiral molecules were </a:t>
            </a:r>
            <a:r>
              <a:rPr lang="en-US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related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to each other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through reactions of known stereochemistry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10000"/>
            <a:ext cx="1828800" cy="2662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Diagram 2"/>
          <p:cNvGraphicFramePr/>
          <p:nvPr/>
        </p:nvGraphicFramePr>
        <p:xfrm>
          <a:off x="3200400" y="3276600"/>
          <a:ext cx="5791200" cy="345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99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Graphic spid="3" grpId="0">
        <p:bldAsOne/>
      </p:bldGraphic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" y="914400"/>
            <a:ext cx="861060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Prior to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any known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absolute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configurations, attempts were made to </a:t>
            </a:r>
            <a:r>
              <a:rPr lang="en-US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relate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all configurations to a single compound that had been chosen </a:t>
            </a:r>
            <a:r>
              <a:rPr lang="en-US" sz="2200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arbitrarily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 be the </a:t>
            </a:r>
            <a:r>
              <a:rPr lang="en-US" sz="2200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standard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which was glyceraldehyde.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2364624"/>
            <a:ext cx="1920240" cy="1347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364624"/>
            <a:ext cx="1828800" cy="130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364623"/>
            <a:ext cx="1188720" cy="1188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640" y="2364624"/>
            <a:ext cx="1280160" cy="1115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140" y="2362200"/>
            <a:ext cx="274320" cy="1145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2286000" y="2898024"/>
            <a:ext cx="365760" cy="152399"/>
            <a:chOff x="9677400" y="3429001"/>
            <a:chExt cx="365760" cy="152399"/>
          </a:xfrm>
        </p:grpSpPr>
        <p:cxnSp>
          <p:nvCxnSpPr>
            <p:cNvPr id="8" name="Straight Connector 7"/>
            <p:cNvCxnSpPr/>
            <p:nvPr/>
          </p:nvCxnSpPr>
          <p:spPr bwMode="auto">
            <a:xfrm>
              <a:off x="9677400" y="3429001"/>
              <a:ext cx="3657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Straight Connector 13"/>
            <p:cNvCxnSpPr/>
            <p:nvPr/>
          </p:nvCxnSpPr>
          <p:spPr bwMode="auto">
            <a:xfrm>
              <a:off x="9677400" y="3505201"/>
              <a:ext cx="3657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Straight Connector 14"/>
            <p:cNvCxnSpPr/>
            <p:nvPr/>
          </p:nvCxnSpPr>
          <p:spPr bwMode="auto">
            <a:xfrm>
              <a:off x="9677400" y="3581400"/>
              <a:ext cx="3657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7" name="Group 16"/>
          <p:cNvGrpSpPr/>
          <p:nvPr/>
        </p:nvGrpSpPr>
        <p:grpSpPr>
          <a:xfrm>
            <a:off x="6492240" y="2898024"/>
            <a:ext cx="365760" cy="152399"/>
            <a:chOff x="9677400" y="3429001"/>
            <a:chExt cx="365760" cy="152399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9677400" y="3429001"/>
              <a:ext cx="3657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Straight Connector 18"/>
            <p:cNvCxnSpPr/>
            <p:nvPr/>
          </p:nvCxnSpPr>
          <p:spPr bwMode="auto">
            <a:xfrm>
              <a:off x="9677400" y="3505201"/>
              <a:ext cx="3657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Straight Connector 19"/>
            <p:cNvCxnSpPr/>
            <p:nvPr/>
          </p:nvCxnSpPr>
          <p:spPr bwMode="auto">
            <a:xfrm>
              <a:off x="9677400" y="3581400"/>
              <a:ext cx="3657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840" y="3926311"/>
            <a:ext cx="3474720" cy="311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52400" y="4648200"/>
            <a:ext cx="6446520" cy="80021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In 1888, the two enantiomers of glyceraldehyde [(+)- and (–)] had been isolated and characterized.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" y="208002"/>
            <a:ext cx="723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Relative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Configuration</a:t>
            </a:r>
          </a:p>
        </p:txBody>
      </p:sp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" y="3926312"/>
            <a:ext cx="3566160" cy="271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152400" y="5638800"/>
            <a:ext cx="644652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Before 1951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 one was sure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however, whether (+)-glyceraldehyde was (</a:t>
            </a:r>
            <a:r>
              <a:rPr lang="en-US" sz="23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 or </a:t>
            </a:r>
            <a:r>
              <a:rPr lang="en-US" sz="2300" i="1" dirty="0">
                <a:latin typeface="Times New Roman" pitchFamily="18" charset="0"/>
                <a:cs typeface="Times New Roman" pitchFamily="18" charset="0"/>
              </a:rPr>
              <a:t>(S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)!</a:t>
            </a:r>
          </a:p>
        </p:txBody>
      </p:sp>
      <p:pic>
        <p:nvPicPr>
          <p:cNvPr id="5135" name="Picture 15" descr="Mickey Mouse Question Mark Sticker - Mickey Mouse Question Mark No Idea -  Discover &amp; Share GIFs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760" y="4718713"/>
            <a:ext cx="2103120" cy="192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46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" y="208002"/>
            <a:ext cx="883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Relative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Configuration : Emil Fischer’s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Big Guess!</a:t>
            </a: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562350"/>
            <a:ext cx="2571750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 descr="Mickey Idea GIF - Mickey Idea Lightbulb GIFs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729739"/>
            <a:ext cx="4297680" cy="322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3814549" y="2092404"/>
            <a:ext cx="4800599" cy="115416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Emil Fischer arbitrarily to assign the (</a:t>
            </a:r>
            <a:r>
              <a:rPr lang="en-US" sz="23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 configuration to the (+)-enantiomer of glyceraldehyde: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5574521"/>
            <a:ext cx="8682251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Then, configurations of other molecules were </a:t>
            </a:r>
            <a:r>
              <a:rPr lang="en-US" sz="225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related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225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one glyceraldehyde enantiomer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 or</a:t>
            </a:r>
            <a:r>
              <a:rPr lang="en-US" sz="225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the other 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through reactions of known stereochemistry. 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1074003"/>
            <a:ext cx="86060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Since there’s no simple correlation between the configuration of a chiral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centre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and optical rotation, Emil Fischer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chose to guess!</a:t>
            </a: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880" y="3553343"/>
            <a:ext cx="1188720" cy="1188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6581917" y="4086744"/>
            <a:ext cx="365760" cy="152399"/>
            <a:chOff x="9677400" y="3429001"/>
            <a:chExt cx="365760" cy="152399"/>
          </a:xfrm>
        </p:grpSpPr>
        <p:cxnSp>
          <p:nvCxnSpPr>
            <p:cNvPr id="12" name="Straight Connector 11"/>
            <p:cNvCxnSpPr/>
            <p:nvPr/>
          </p:nvCxnSpPr>
          <p:spPr bwMode="auto">
            <a:xfrm>
              <a:off x="9677400" y="3429001"/>
              <a:ext cx="3657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Straight Connector 12"/>
            <p:cNvCxnSpPr/>
            <p:nvPr/>
          </p:nvCxnSpPr>
          <p:spPr bwMode="auto">
            <a:xfrm>
              <a:off x="9677400" y="3505201"/>
              <a:ext cx="3657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Straight Connector 15"/>
            <p:cNvCxnSpPr/>
            <p:nvPr/>
          </p:nvCxnSpPr>
          <p:spPr bwMode="auto">
            <a:xfrm>
              <a:off x="9677400" y="3581400"/>
              <a:ext cx="3657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Group 5"/>
          <p:cNvGrpSpPr/>
          <p:nvPr/>
        </p:nvGrpSpPr>
        <p:grpSpPr>
          <a:xfrm>
            <a:off x="6934200" y="4931057"/>
            <a:ext cx="1972101" cy="257175"/>
            <a:chOff x="6934200" y="4931057"/>
            <a:chExt cx="1972101" cy="257175"/>
          </a:xfrm>
        </p:grpSpPr>
        <p:pic>
          <p:nvPicPr>
            <p:cNvPr id="9220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1801" y="4953000"/>
              <a:ext cx="17145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221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200" y="4931057"/>
              <a:ext cx="228600" cy="257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7801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3149" y="914400"/>
            <a:ext cx="8682251" cy="11310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configuration of (-)-lactic acid can </a:t>
            </a:r>
            <a:r>
              <a:rPr lang="en-US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be related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 (+)-glyceraldehyde through the following sequence of reactions in which </a:t>
            </a:r>
            <a:r>
              <a:rPr lang="en-US" sz="2200" b="1" dirty="0">
                <a:solidFill>
                  <a:srgbClr val="049673"/>
                </a:solidFill>
                <a:latin typeface="Times New Roman" pitchFamily="18" charset="0"/>
                <a:cs typeface="Times New Roman" pitchFamily="18" charset="0"/>
              </a:rPr>
              <a:t>no bond to the chirality center is broken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08002"/>
            <a:ext cx="723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Relative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Configuration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209800"/>
            <a:ext cx="2743200" cy="1507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2519042"/>
            <a:ext cx="731520" cy="50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21" y="3999791"/>
            <a:ext cx="2011680" cy="7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040" y="5194655"/>
            <a:ext cx="1737360" cy="292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335280" y="2272335"/>
            <a:ext cx="4922520" cy="1381993"/>
            <a:chOff x="106680" y="2500935"/>
            <a:chExt cx="4922520" cy="1381993"/>
          </a:xfrm>
        </p:grpSpPr>
        <p:pic>
          <p:nvPicPr>
            <p:cNvPr id="6155" name="Picture 1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" y="2500935"/>
              <a:ext cx="4754880" cy="13819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" name="Picture 10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" y="3641008"/>
              <a:ext cx="1920240" cy="2419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6156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6560" y="4114800"/>
            <a:ext cx="1463040" cy="1051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233148" y="5867400"/>
            <a:ext cx="868225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Because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none of the bonds to the chirality center has been broken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during the sequence, its original 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)-configuration is retained.</a:t>
            </a:r>
          </a:p>
        </p:txBody>
      </p:sp>
      <p:pic>
        <p:nvPicPr>
          <p:cNvPr id="6157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114800"/>
            <a:ext cx="3200400" cy="1522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8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760" y="4430768"/>
            <a:ext cx="1005840" cy="384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768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208002"/>
            <a:ext cx="723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Relative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25604"/>
            <a:ext cx="83058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A reaction is said to proceed with </a:t>
            </a:r>
            <a:r>
              <a:rPr lang="en-US" sz="225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retention of </a:t>
            </a:r>
            <a:r>
              <a:rPr lang="en-US" sz="2250" b="1" dirty="0">
                <a:latin typeface="Times New Roman" pitchFamily="18" charset="0"/>
                <a:cs typeface="Times New Roman" pitchFamily="18" charset="0"/>
              </a:rPr>
              <a:t>configuration 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at a chirality center </a:t>
            </a:r>
            <a:r>
              <a:rPr lang="en-US" sz="2250" b="1" dirty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if no bonds to the chirality center are broken</a:t>
            </a:r>
            <a:r>
              <a:rPr lang="en-US" sz="2250" dirty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2016204"/>
            <a:ext cx="8305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The following reaction occurs with retention of configuration and that also retains the same </a:t>
            </a:r>
            <a:r>
              <a:rPr lang="en-US" sz="225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250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designation in the product as in the reactant, because </a:t>
            </a:r>
            <a:r>
              <a:rPr lang="en-US" sz="2250" b="1" dirty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none of the bonds at the chirality center are broken.</a:t>
            </a:r>
            <a:endParaRPr lang="en-US" sz="225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949601"/>
            <a:ext cx="7955280" cy="2374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57955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152400"/>
            <a:ext cx="723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Absolute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Configuration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– How to Determine it?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8620" y="1524000"/>
            <a:ext cx="83743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Before 1951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No One had been able to determine the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absolute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configuration of an optically active compound.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" y="2590800"/>
            <a:ext cx="837438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usual methods for determining the structure of molecules, such as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ordinary X-ray diffraction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do not distinguish between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enanriomers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" y="4038600"/>
            <a:ext cx="8341398" cy="1887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3500"/>
              </a:lnSpc>
              <a:buClr>
                <a:srgbClr val="D60093"/>
              </a:buClr>
              <a:buFont typeface="Arial" pitchFamily="34" charset="0"/>
              <a:buChar char="•"/>
            </a:pPr>
            <a:r>
              <a:rPr lang="en-US" dirty="0">
                <a:solidFill>
                  <a:srgbClr val="C80482"/>
                </a:solidFill>
                <a:latin typeface="Times New Roman" pitchFamily="18" charset="0"/>
                <a:cs typeface="Times New Roman" pitchFamily="18" charset="0"/>
              </a:rPr>
              <a:t>It was only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 1951 </a:t>
            </a:r>
            <a:r>
              <a:rPr lang="en-US" dirty="0">
                <a:solidFill>
                  <a:srgbClr val="C80482"/>
                </a:solidFill>
                <a:latin typeface="Times New Roman" pitchFamily="18" charset="0"/>
                <a:cs typeface="Times New Roman" pitchFamily="18" charset="0"/>
              </a:rPr>
              <a:t>that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first experimental determination </a:t>
            </a:r>
            <a:r>
              <a:rPr lang="en-US" b="1" dirty="0">
                <a:solidFill>
                  <a:srgbClr val="C80482"/>
                </a:solidFill>
                <a:latin typeface="Times New Roman" pitchFamily="18" charset="0"/>
                <a:cs typeface="Times New Roman" pitchFamily="18" charset="0"/>
              </a:rPr>
              <a:t>of the absolute configuration of any chiral molecule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was achieved by using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anomalous scattering </a:t>
            </a:r>
            <a:r>
              <a:rPr lang="en-US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in single crystal X-ray analysis</a:t>
            </a:r>
            <a:r>
              <a:rPr lang="en-US" dirty="0">
                <a:solidFill>
                  <a:srgbClr val="C80482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456635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4202"/>
            <a:ext cx="8458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Determination of 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Absolute Configuration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4800" y="1143000"/>
            <a:ext cx="8458200" cy="1505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700"/>
              </a:lnSpc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1951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J. M. 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Bijvoet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the director of the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van’t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Hoff Laboratory of the University of Utrecht in the Netherlands,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first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determined the absolute configuration of 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(2R,3R)-(+)-tartaric acid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by using the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anomalous scattering effect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heavy atoms in X-ray diffraction experiments.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2743200"/>
            <a:ext cx="848435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700"/>
              </a:lnSpc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Bijvoet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coworkers were able to study a single crystal of sodium rubidium 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(+)-tartrate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tetrahydrate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with a type of X-ray diffraction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505200"/>
            <a:ext cx="2438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which involved the use of X-rays of a wavelength that just excites a single heavy atom — in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Bijvoet's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case, rubidium—to extract phase information.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370" y="3670300"/>
            <a:ext cx="5664200" cy="303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Rectangle 17"/>
          <p:cNvSpPr/>
          <p:nvPr/>
        </p:nvSpPr>
        <p:spPr bwMode="auto">
          <a:xfrm>
            <a:off x="3230880" y="3594020"/>
            <a:ext cx="5760720" cy="3111580"/>
          </a:xfrm>
          <a:prstGeom prst="rect">
            <a:avLst/>
          </a:prstGeom>
          <a:noFill/>
          <a:ln w="9525" cap="flat" cmpd="sng" algn="ctr">
            <a:solidFill>
              <a:schemeClr val="accent5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6773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603" y="381000"/>
            <a:ext cx="1554480" cy="1912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664" y="817127"/>
            <a:ext cx="1188720" cy="255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123" y="401984"/>
            <a:ext cx="2468880" cy="1623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79" y="817128"/>
            <a:ext cx="13716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 bwMode="auto">
          <a:xfrm>
            <a:off x="1976679" y="1213554"/>
            <a:ext cx="59592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4325203" y="1162306"/>
            <a:ext cx="155448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/>
          <p:cNvSpPr txBox="1"/>
          <p:nvPr/>
        </p:nvSpPr>
        <p:spPr>
          <a:xfrm>
            <a:off x="3029803" y="685800"/>
            <a:ext cx="69602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crystal</a:t>
            </a:r>
          </a:p>
        </p:txBody>
      </p:sp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40" y="2743200"/>
            <a:ext cx="2651760" cy="260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0" name="Straight Arrow Connector 19"/>
          <p:cNvCxnSpPr/>
          <p:nvPr/>
        </p:nvCxnSpPr>
        <p:spPr bwMode="auto">
          <a:xfrm rot="5400000">
            <a:off x="6976963" y="2375876"/>
            <a:ext cx="4572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528" y="3126352"/>
            <a:ext cx="1828800" cy="272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258875"/>
            <a:ext cx="4297680" cy="2532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4" name="Straight Arrow Connector 23"/>
          <p:cNvCxnSpPr/>
          <p:nvPr/>
        </p:nvCxnSpPr>
        <p:spPr bwMode="auto">
          <a:xfrm rot="5400000">
            <a:off x="6965135" y="3318230"/>
            <a:ext cx="4572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603" y="3711244"/>
            <a:ext cx="1645920" cy="422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TextBox 27"/>
          <p:cNvSpPr txBox="1"/>
          <p:nvPr/>
        </p:nvSpPr>
        <p:spPr>
          <a:xfrm>
            <a:off x="229030" y="5707559"/>
            <a:ext cx="4096173" cy="7694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These reflections are known as 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Bijvoet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pairs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090" y="2754559"/>
            <a:ext cx="4079114" cy="28007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absolute structure of a chiral crystal is determined from the intensity differences of pairs of diffraction spots (reflections) that are related by an inversion symmetry (the intensities are called </a:t>
            </a:r>
            <a:r>
              <a:rPr lang="en-US" sz="2200" b="1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="1" i="1" baseline="-250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baseline="-25000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hkl</a:t>
            </a:r>
            <a:r>
              <a:rPr lang="en-US" sz="2200" b="1" i="1" baseline="-250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="1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(-h</a:t>
            </a:r>
            <a:r>
              <a:rPr lang="en-US" sz="22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200" b="1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200" b="1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2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64476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28600"/>
            <a:ext cx="8458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Determination of 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Absolute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90600"/>
            <a:ext cx="8229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Emil Fischer arbitrarily proposed that 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(+)-tartaric acid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had the 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i="1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200" i="1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)-configuration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(also L-configuration) relating to the  configuration of glyceraldehyde.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209800"/>
            <a:ext cx="8229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Nearly </a:t>
            </a:r>
            <a:r>
              <a:rPr lang="en-US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60 years later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Bijvoet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was able to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confirm conclusively that 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(+)-tartaric acid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indeed had the 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i="1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200" i="1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)-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absolute configuration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!!!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3429000"/>
            <a:ext cx="83452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This meant that the Fischer’s original arbitrary assignment of the configurations of (</a:t>
            </a:r>
            <a:r>
              <a:rPr lang="en-US" sz="2200" i="1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)-(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)- and 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)-(</a:t>
            </a:r>
            <a:r>
              <a:rPr lang="en-US" sz="2200" dirty="0">
                <a:latin typeface="Times New Roman"/>
                <a:cs typeface="Times New Roman"/>
              </a:rPr>
              <a:t>‒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)-glyceraldehyde was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also correct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!!!</a:t>
            </a:r>
          </a:p>
        </p:txBody>
      </p:sp>
      <p:pic>
        <p:nvPicPr>
          <p:cNvPr id="8" name="Picture 2" descr="Mickey Mouse Dance GIF | GIFDB.com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664" y="4782296"/>
            <a:ext cx="2194560" cy="1911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327947" y="4419600"/>
            <a:ext cx="2601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Segoe Print" pitchFamily="2" charset="0"/>
              </a:rPr>
              <a:t>What a </a:t>
            </a:r>
            <a:r>
              <a:rPr lang="en-US" sz="1800" b="1" dirty="0">
                <a:solidFill>
                  <a:srgbClr val="FF0000"/>
                </a:solidFill>
                <a:latin typeface="Segoe Print" pitchFamily="2" charset="0"/>
              </a:rPr>
              <a:t>Lucky Guess</a:t>
            </a:r>
            <a:r>
              <a:rPr lang="en-US" sz="1800" b="1" dirty="0">
                <a:solidFill>
                  <a:srgbClr val="000099"/>
                </a:solidFill>
                <a:latin typeface="Segoe Print" pitchFamily="2" charset="0"/>
              </a:rPr>
              <a:t>!</a:t>
            </a: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777240" y="4941332"/>
          <a:ext cx="2194560" cy="1002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1859040" imgH="848520" progId="ChemDraw.Document.6.0">
                  <p:embed/>
                </p:oleObj>
              </mc:Choice>
              <mc:Fallback>
                <p:oleObj name="CS ChemDraw Drawing" r:id="rId3" imgW="1859040" imgH="848520" progId="ChemDraw.Document.6.0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7240" y="4941332"/>
                        <a:ext cx="2194560" cy="1002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4008120" y="4788932"/>
          <a:ext cx="1097280" cy="1331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973800" imgH="1181520" progId="ChemDraw.Document.6.0">
                  <p:embed/>
                </p:oleObj>
              </mc:Choice>
              <mc:Fallback>
                <p:oleObj name="CS ChemDraw Drawing" r:id="rId5" imgW="973800" imgH="1181520" progId="ChemDraw.Document.6.0">
                  <p:embed/>
                  <p:pic>
                    <p:nvPicPr>
                      <p:cNvPr id="14" name="Object 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8120" y="4788932"/>
                        <a:ext cx="1097280" cy="13317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533400" y="6110645"/>
            <a:ext cx="2667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i="1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200" i="1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)-(+)-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tartaric acid</a:t>
            </a:r>
            <a:endParaRPr lang="en-US" sz="22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3291840" y="5405168"/>
            <a:ext cx="365760" cy="152399"/>
            <a:chOff x="9677400" y="3429001"/>
            <a:chExt cx="365760" cy="152399"/>
          </a:xfrm>
        </p:grpSpPr>
        <p:cxnSp>
          <p:nvCxnSpPr>
            <p:cNvPr id="17" name="Straight Connector 16"/>
            <p:cNvCxnSpPr/>
            <p:nvPr/>
          </p:nvCxnSpPr>
          <p:spPr bwMode="auto">
            <a:xfrm>
              <a:off x="9677400" y="3429001"/>
              <a:ext cx="3657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Straight Connector 17"/>
            <p:cNvCxnSpPr/>
            <p:nvPr/>
          </p:nvCxnSpPr>
          <p:spPr bwMode="auto">
            <a:xfrm>
              <a:off x="9677400" y="3505201"/>
              <a:ext cx="3657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Straight Connector 18"/>
            <p:cNvCxnSpPr/>
            <p:nvPr/>
          </p:nvCxnSpPr>
          <p:spPr bwMode="auto">
            <a:xfrm>
              <a:off x="9677400" y="3581400"/>
              <a:ext cx="3657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0" name="Rectangle 19"/>
          <p:cNvSpPr/>
          <p:nvPr/>
        </p:nvSpPr>
        <p:spPr>
          <a:xfrm>
            <a:off x="3719763" y="6110645"/>
            <a:ext cx="191903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L-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tartaric acid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15041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5212080" cy="647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 bwMode="auto">
          <a:xfrm>
            <a:off x="5791200" y="228600"/>
            <a:ext cx="3048000" cy="6474536"/>
          </a:xfrm>
          <a:prstGeom prst="rect">
            <a:avLst/>
          </a:prstGeom>
          <a:solidFill>
            <a:srgbClr val="FEEBD2"/>
          </a:solidFill>
          <a:ln w="9525" cap="flat" cmpd="sng" algn="ctr">
            <a:solidFill>
              <a:srgbClr val="FBC78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77562" y="997887"/>
            <a:ext cx="24752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First page of the famous 1951 Article of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Bijvoet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Nature.</a:t>
            </a:r>
          </a:p>
        </p:txBody>
      </p:sp>
      <p:pic>
        <p:nvPicPr>
          <p:cNvPr id="4102" name="Picture 6" descr="Johannes Martin Bijvo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080" y="3048000"/>
            <a:ext cx="2103120" cy="2941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92662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4202"/>
            <a:ext cx="8458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Determination of 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Absolute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143000"/>
            <a:ext cx="82296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Bijvoet’s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pioneering work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which uses anomalous scattering in single crystal X-ray analysis, introduced a system for the determination of absolute configuration of </a:t>
            </a:r>
            <a:r>
              <a:rPr lang="en-US" sz="2300" dirty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other chiral molecules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334" y="2514600"/>
            <a:ext cx="821026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 pertinent example of the original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Bijvoet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method is shown below where the absolute configuration of (‒)-2-(1-naphthyl)propane-1,2-diol was determined by anomalous X-ray crystallography of its (‒)-p-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bromobenzoate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derivative.   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" y="4572000"/>
            <a:ext cx="4754880" cy="1768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710114"/>
            <a:ext cx="3383280" cy="1492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423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304800"/>
            <a:ext cx="8458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Methods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for Determination of 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Absolute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2595771"/>
            <a:ext cx="5061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Limitations of the </a:t>
            </a:r>
            <a:r>
              <a:rPr lang="en-US" b="1" dirty="0" err="1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Bijvoet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method: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246229"/>
            <a:ext cx="66294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1800"/>
              </a:spcAft>
              <a:buClr>
                <a:srgbClr val="FF0000"/>
              </a:buClr>
              <a:buFont typeface="+mj-lt"/>
              <a:buAutoNum type="romanL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incorporation of heavy atoms is necessary</a:t>
            </a:r>
          </a:p>
          <a:p>
            <a:pPr marL="514350" indent="-514350">
              <a:spcAft>
                <a:spcPts val="1800"/>
              </a:spcAft>
              <a:buClr>
                <a:srgbClr val="FF0000"/>
              </a:buClr>
              <a:buFont typeface="+mj-lt"/>
              <a:buAutoNum type="romanL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compounds must then be crystallized.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1681371"/>
            <a:ext cx="8229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Bijvoet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method is one of the most common methods of determining the absolute chirality of chiral compounds.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588" y="4653171"/>
            <a:ext cx="8366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Other </a:t>
            </a:r>
            <a:r>
              <a:rPr lang="en-US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methods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for determination of absolute configuration: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5415171"/>
            <a:ext cx="80772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1800"/>
              </a:spcAft>
              <a:buClr>
                <a:srgbClr val="FF0000"/>
              </a:buClr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CD (Circular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Dichroism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Exciton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Chirality Method</a:t>
            </a:r>
          </a:p>
          <a:p>
            <a:pPr marL="514350" indent="-514350">
              <a:spcAft>
                <a:spcPts val="1800"/>
              </a:spcAft>
              <a:buClr>
                <a:srgbClr val="FF0000"/>
              </a:buClr>
              <a:buFont typeface="Wingdings" pitchFamily="2" charset="2"/>
              <a:buChar char="ü"/>
            </a:pP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initio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MO Calculation of CD or VCD.</a:t>
            </a:r>
          </a:p>
        </p:txBody>
      </p:sp>
    </p:spTree>
    <p:extLst>
      <p:ext uri="{BB962C8B-B14F-4D97-AF65-F5344CB8AC3E}">
        <p14:creationId xmlns:p14="http://schemas.microsoft.com/office/powerpoint/2010/main" val="376170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304800"/>
            <a:ext cx="8458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Methods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for Determination of </a:t>
            </a:r>
            <a:r>
              <a:rPr lang="en-US" sz="3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Relative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40" y="2743200"/>
            <a:ext cx="80772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365760">
              <a:spcAft>
                <a:spcPts val="1800"/>
              </a:spcAft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X-ray structure analysis. </a:t>
            </a:r>
          </a:p>
          <a:p>
            <a:pPr marL="274320" indent="-365760">
              <a:spcAft>
                <a:spcPts val="1800"/>
              </a:spcAft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Chemical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interconversion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sz="2300" i="1" dirty="0">
                <a:latin typeface="Times New Roman" pitchFamily="18" charset="0"/>
                <a:cs typeface="Times New Roman" pitchFamily="18" charset="0"/>
              </a:rPr>
              <a:t> affecting bonds to the chiral atom</a:t>
            </a:r>
          </a:p>
          <a:p>
            <a:pPr marL="274320" indent="-365760">
              <a:spcAft>
                <a:spcPts val="1800"/>
              </a:spcAft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Methods based on symmetry properties</a:t>
            </a:r>
          </a:p>
          <a:p>
            <a:pPr marL="274320" indent="-365760">
              <a:spcAft>
                <a:spcPts val="1800"/>
              </a:spcAft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Correlation via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diastereomers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marL="274320" indent="-365760">
              <a:spcAft>
                <a:spcPts val="1800"/>
              </a:spcAft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Chemical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interconversion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i="1" dirty="0">
                <a:latin typeface="Times New Roman" pitchFamily="18" charset="0"/>
                <a:cs typeface="Times New Roman" pitchFamily="18" charset="0"/>
              </a:rPr>
              <a:t>affecting bonds to a chiral atom in a </a:t>
            </a:r>
            <a:r>
              <a:rPr lang="en-US" sz="23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“known” </a:t>
            </a:r>
            <a:r>
              <a:rPr lang="en-US" sz="2300" i="1" dirty="0">
                <a:latin typeface="Times New Roman" pitchFamily="18" charset="0"/>
                <a:cs typeface="Times New Roman" pitchFamily="18" charset="0"/>
              </a:rPr>
              <a:t>way. </a:t>
            </a:r>
          </a:p>
          <a:p>
            <a:pPr marL="274320" indent="-365760">
              <a:spcAft>
                <a:spcPts val="1800"/>
              </a:spcAft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3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H NMR</a:t>
            </a:r>
            <a:r>
              <a:rPr lang="en-US" sz="23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Diamagnetic Anisotropy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681371"/>
            <a:ext cx="8229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There are many methods to determine relative configuration of chiral compounds:</a:t>
            </a:r>
          </a:p>
        </p:txBody>
      </p:sp>
    </p:spTree>
    <p:extLst>
      <p:ext uri="{BB962C8B-B14F-4D97-AF65-F5344CB8AC3E}">
        <p14:creationId xmlns:p14="http://schemas.microsoft.com/office/powerpoint/2010/main" val="336411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28600"/>
            <a:ext cx="845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Chemical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Interconversion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not affecting Bonds to the Chiral Atom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1447800"/>
            <a:ext cx="84582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If a compound </a:t>
            </a:r>
            <a:r>
              <a:rPr lang="en-US" sz="2300" b="1" dirty="0" err="1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3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abd</a:t>
            </a:r>
            <a:r>
              <a:rPr lang="en-US" sz="2300" b="1" dirty="0" err="1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can be converted to </a:t>
            </a:r>
            <a:r>
              <a:rPr lang="en-US" sz="2300" b="1" dirty="0" err="1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3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abd</a:t>
            </a:r>
            <a:r>
              <a:rPr lang="en-US" sz="2300" b="1" dirty="0" err="1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without breaking bond to the chiral atom, then the configurations of both are unequivocally correlated.   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559" y="2743200"/>
            <a:ext cx="5852160" cy="173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7056120" y="2743200"/>
            <a:ext cx="1249680" cy="1587421"/>
            <a:chOff x="7056120" y="2743200"/>
            <a:chExt cx="1249680" cy="1587421"/>
          </a:xfrm>
        </p:grpSpPr>
        <p:pic>
          <p:nvPicPr>
            <p:cNvPr id="6148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6120" y="2886498"/>
              <a:ext cx="1097280" cy="1444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Rounded Rectangle 4"/>
            <p:cNvSpPr/>
            <p:nvPr/>
          </p:nvSpPr>
          <p:spPr bwMode="auto">
            <a:xfrm>
              <a:off x="7056120" y="2743200"/>
              <a:ext cx="1249680" cy="1587421"/>
            </a:xfrm>
            <a:prstGeom prst="roundRect">
              <a:avLst/>
            </a:prstGeom>
            <a:noFill/>
            <a:ln w="9525" cap="flat" cmpd="sng" algn="ctr">
              <a:solidFill>
                <a:srgbClr val="FBC78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810000" y="4941499"/>
            <a:ext cx="5029200" cy="1535501"/>
            <a:chOff x="3810000" y="4724400"/>
            <a:chExt cx="5029200" cy="1535501"/>
          </a:xfrm>
        </p:grpSpPr>
        <p:pic>
          <p:nvPicPr>
            <p:cNvPr id="6152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0" y="4804054"/>
              <a:ext cx="5029200" cy="14558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Rounded Rectangle 10"/>
            <p:cNvSpPr/>
            <p:nvPr/>
          </p:nvSpPr>
          <p:spPr bwMode="auto">
            <a:xfrm>
              <a:off x="3810000" y="4724400"/>
              <a:ext cx="1005840" cy="1535501"/>
            </a:xfrm>
            <a:prstGeom prst="roundRect">
              <a:avLst/>
            </a:prstGeom>
            <a:noFill/>
            <a:ln w="9525" cap="flat" cmpd="sng" algn="ctr">
              <a:solidFill>
                <a:srgbClr val="FBC78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</p:grpSp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017699"/>
            <a:ext cx="1280160" cy="135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280" y="5194260"/>
            <a:ext cx="685800" cy="33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6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219306"/>
            <a:ext cx="777240" cy="328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7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" y="5035844"/>
            <a:ext cx="1005840" cy="142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455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09600" y="208002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Practice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Problem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2900" y="1066800"/>
            <a:ext cx="84201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3000"/>
              </a:lnSpc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Define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absolute and relative configuration</a:t>
            </a:r>
            <a:r>
              <a:rPr lang="en-US" sz="23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300" dirty="0">
                <a:solidFill>
                  <a:srgbClr val="C80482"/>
                </a:solidFill>
                <a:latin typeface="Times New Roman" pitchFamily="18" charset="0"/>
                <a:cs typeface="Times New Roman" pitchFamily="18" charset="0"/>
              </a:rPr>
              <a:t>How can you determine absolute configuration?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2133600"/>
            <a:ext cx="84201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3000"/>
              </a:lnSpc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Name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methods for the determination of relative configuration. </a:t>
            </a:r>
            <a:r>
              <a:rPr lang="en-US" sz="2300" dirty="0">
                <a:solidFill>
                  <a:srgbClr val="C80482"/>
                </a:solidFill>
                <a:latin typeface="Times New Roman" pitchFamily="18" charset="0"/>
                <a:cs typeface="Times New Roman" pitchFamily="18" charset="0"/>
              </a:rPr>
              <a:t>Discuss the correlation method of chemical </a:t>
            </a:r>
            <a:r>
              <a:rPr lang="en-US" sz="2300" dirty="0" err="1">
                <a:solidFill>
                  <a:srgbClr val="C80482"/>
                </a:solidFill>
                <a:latin typeface="Times New Roman" pitchFamily="18" charset="0"/>
                <a:cs typeface="Times New Roman" pitchFamily="18" charset="0"/>
              </a:rPr>
              <a:t>interconversion</a:t>
            </a:r>
            <a:r>
              <a:rPr lang="en-US" sz="2300" dirty="0">
                <a:solidFill>
                  <a:srgbClr val="C80482"/>
                </a:solidFill>
                <a:latin typeface="Times New Roman" pitchFamily="18" charset="0"/>
                <a:cs typeface="Times New Roman" pitchFamily="18" charset="0"/>
              </a:rPr>
              <a:t> not affecting bonds to the asymmetric atom.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3581400"/>
            <a:ext cx="81113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3000"/>
              </a:lnSpc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Show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determination of configuration of (+)-glyceraldehyde, (</a:t>
            </a:r>
            <a:r>
              <a:rPr lang="en-US" sz="2300" dirty="0">
                <a:latin typeface="Times New Roman"/>
                <a:cs typeface="Times New Roman"/>
              </a:rPr>
              <a:t>‒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)-lactic acid,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(+)-malic acid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with respect to (+)-tartaric acid. </a:t>
            </a:r>
            <a:endParaRPr lang="en-US" sz="23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0086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990600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When (</a:t>
            </a:r>
            <a:r>
              <a:rPr lang="en-US" sz="23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)-1-bromo-2-butanol reacts with KI in acetone the product is 1-iodo-2-butanol. Would the product be (</a:t>
            </a:r>
            <a:r>
              <a:rPr lang="en-US" sz="23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 or (</a:t>
            </a:r>
            <a:r>
              <a:rPr lang="en-US" sz="23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)?</a:t>
            </a:r>
            <a:endParaRPr lang="en-CA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08002"/>
            <a:ext cx="7772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Problem 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Solution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762500"/>
            <a:ext cx="24479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762500"/>
            <a:ext cx="22098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37" y="3695700"/>
            <a:ext cx="16954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788" y="3729251"/>
            <a:ext cx="149542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916907"/>
            <a:ext cx="866775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09601" y="19812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Solution: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1000" y="2590800"/>
            <a:ext cx="8458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No bonds to the chirality center would be broken, so we can reason that the product would be the following: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5410200"/>
            <a:ext cx="8610601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configuration of the product would still be (</a:t>
            </a:r>
            <a:r>
              <a:rPr lang="en-US" sz="23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 because replacing the bromine at C1 with an iodine atom does not change the relative priority of C1.</a:t>
            </a:r>
          </a:p>
        </p:txBody>
      </p:sp>
    </p:spTree>
    <p:extLst>
      <p:ext uri="{BB962C8B-B14F-4D97-AF65-F5344CB8AC3E}">
        <p14:creationId xmlns:p14="http://schemas.microsoft.com/office/powerpoint/2010/main" val="343416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43000" y="284202"/>
            <a:ext cx="685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Dermination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Configuration of </a:t>
            </a:r>
            <a:r>
              <a:rPr lang="en-US" sz="30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3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trans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isomers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09600" y="2336800"/>
            <a:ext cx="7543800" cy="4292600"/>
            <a:chOff x="609600" y="2336800"/>
            <a:chExt cx="7543800" cy="4292600"/>
          </a:xfrm>
        </p:grpSpPr>
        <p:graphicFrame>
          <p:nvGraphicFramePr>
            <p:cNvPr id="3" name="Diagram 2"/>
            <p:cNvGraphicFramePr/>
            <p:nvPr/>
          </p:nvGraphicFramePr>
          <p:xfrm>
            <a:off x="609600" y="2336800"/>
            <a:ext cx="7543800" cy="40640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4" name="TextBox 3"/>
            <p:cNvSpPr txBox="1"/>
            <p:nvPr/>
          </p:nvSpPr>
          <p:spPr>
            <a:xfrm>
              <a:off x="2362200" y="5798403"/>
              <a:ext cx="3952669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dirty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not affecting 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the configuration of </a:t>
              </a:r>
              <a:r>
                <a:rPr lang="en-US" dirty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double bond</a:t>
              </a:r>
              <a:r>
                <a:rPr lang="en-US" b="1" dirty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81000" y="1600200"/>
            <a:ext cx="83820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25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configuration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50" dirty="0" err="1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-trans isomers can be determined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09800"/>
            <a:ext cx="60960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  <a:buClr>
                <a:srgbClr val="FF0000"/>
              </a:buClr>
            </a:pPr>
            <a:r>
              <a:rPr lang="en-US" sz="225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(i) 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Physical Methods and </a:t>
            </a:r>
            <a:r>
              <a:rPr lang="en-US" sz="225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(ii) 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Chemical 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8231" y="1447800"/>
            <a:ext cx="847476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Absolute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methods rest on the fact that isomers in which functional or reactive groups are located </a:t>
            </a:r>
            <a:r>
              <a:rPr lang="en-US" sz="2300" b="1" i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3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to each other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can sometimes be converted to cyclic lactones, </a:t>
            </a:r>
            <a:r>
              <a:rPr lang="en-US" sz="23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anhydrides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amides, and so on, whereas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corresponding </a:t>
            </a:r>
            <a:r>
              <a:rPr lang="en-US" sz="23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isomer cannot.  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0" y="3195348"/>
            <a:ext cx="6583680" cy="2214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88230" y="5737367"/>
            <a:ext cx="8474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maleic acid [</a:t>
            </a:r>
            <a:r>
              <a:rPr lang="en-US" b="1" i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isomer] is converted, by gentle heating, into its cyclic anhydride.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8893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Absolute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Methods for </a:t>
            </a:r>
            <a:r>
              <a:rPr lang="en-US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trans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Configuration Determination</a:t>
            </a:r>
          </a:p>
        </p:txBody>
      </p:sp>
    </p:spTree>
    <p:extLst>
      <p:ext uri="{BB962C8B-B14F-4D97-AF65-F5344CB8AC3E}">
        <p14:creationId xmlns:p14="http://schemas.microsoft.com/office/powerpoint/2010/main" val="33108228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2209800"/>
            <a:ext cx="8595360" cy="2007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04800" y="1371600"/>
            <a:ext cx="8458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5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trans-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isomer, </a:t>
            </a:r>
            <a:r>
              <a:rPr lang="en-US" sz="2250" dirty="0" err="1">
                <a:latin typeface="Times New Roman" pitchFamily="18" charset="0"/>
                <a:cs typeface="Times New Roman" pitchFamily="18" charset="0"/>
              </a:rPr>
              <a:t>fumaric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 acid can not be converted into the cyclic anhydride at  100 </a:t>
            </a:r>
            <a:r>
              <a:rPr lang="en-US" sz="2250" dirty="0">
                <a:latin typeface="Times New Roman" pitchFamily="18" charset="0"/>
                <a:cs typeface="Times New Roman" pitchFamily="18" charset="0"/>
                <a:sym typeface="Symbol"/>
              </a:rPr>
              <a:t>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C.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8893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Absolute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Methods for </a:t>
            </a:r>
            <a:r>
              <a:rPr lang="en-US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trans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Configuration Determination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181600"/>
            <a:ext cx="1463040" cy="1261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Straight Arrow Connector 9"/>
          <p:cNvCxnSpPr/>
          <p:nvPr/>
        </p:nvCxnSpPr>
        <p:spPr bwMode="auto">
          <a:xfrm>
            <a:off x="2682922" y="5851753"/>
            <a:ext cx="82296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2682922" y="6004153"/>
            <a:ext cx="82296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2695369" y="5436513"/>
            <a:ext cx="9781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100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/>
              </a:rPr>
              <a:t>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9417" y="6001878"/>
            <a:ext cx="6864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047" y="4953000"/>
            <a:ext cx="1280160" cy="166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5029200" y="3627244"/>
            <a:ext cx="3886200" cy="969496"/>
          </a:xfrm>
          <a:prstGeom prst="rect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SzPct val="80000"/>
              <a:buFont typeface="Times New Roman" pitchFamily="18" charset="0"/>
              <a:buChar char="▲"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A very high temperature is required  to convert </a:t>
            </a: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fumaric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acid to the cyclic anhydride.</a:t>
            </a:r>
          </a:p>
        </p:txBody>
      </p:sp>
      <p:cxnSp>
        <p:nvCxnSpPr>
          <p:cNvPr id="17" name="Straight Arrow Connector 16"/>
          <p:cNvCxnSpPr/>
          <p:nvPr/>
        </p:nvCxnSpPr>
        <p:spPr bwMode="auto">
          <a:xfrm flipH="1">
            <a:off x="5349922" y="5812332"/>
            <a:ext cx="82296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Isosceles Triangle 13"/>
          <p:cNvSpPr>
            <a:spLocks noChangeAspect="1"/>
          </p:cNvSpPr>
          <p:nvPr/>
        </p:nvSpPr>
        <p:spPr bwMode="auto">
          <a:xfrm>
            <a:off x="5578522" y="5557345"/>
            <a:ext cx="182880" cy="157655"/>
          </a:xfrm>
          <a:prstGeom prst="triangl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9" name="Isosceles Triangle 18"/>
          <p:cNvSpPr>
            <a:spLocks noChangeAspect="1"/>
          </p:cNvSpPr>
          <p:nvPr/>
        </p:nvSpPr>
        <p:spPr bwMode="auto">
          <a:xfrm>
            <a:off x="5807122" y="5557345"/>
            <a:ext cx="182880" cy="157655"/>
          </a:xfrm>
          <a:prstGeom prst="triangl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722" y="5105400"/>
            <a:ext cx="1920240" cy="1241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ounded Rectangle 14"/>
          <p:cNvSpPr/>
          <p:nvPr/>
        </p:nvSpPr>
        <p:spPr bwMode="auto">
          <a:xfrm>
            <a:off x="685800" y="4800600"/>
            <a:ext cx="7772400" cy="1905000"/>
          </a:xfrm>
          <a:prstGeom prst="roundRect">
            <a:avLst/>
          </a:prstGeom>
          <a:noFill/>
          <a:ln w="9525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03189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188893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Correlative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Methods for </a:t>
            </a:r>
            <a:r>
              <a:rPr lang="en-US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trans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Configuration Determination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" y="1371600"/>
            <a:ext cx="8763000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Sometimes it is possible to determine the configurations of pairs of geometrical isomers by converting them into compounds of known configurations.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" y="2590800"/>
            <a:ext cx="8763000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There are two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trichlorocrotonic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acids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(I)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(II)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one of which can be hydrolyzed to 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fumaric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acid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Therefore this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trichlorocrotonic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acid must be the </a:t>
            </a:r>
            <a:r>
              <a:rPr lang="en-US" sz="2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-isomer or </a:t>
            </a:r>
            <a:r>
              <a:rPr lang="en-US" sz="2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isomer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consequently the other isomer is the </a:t>
            </a:r>
            <a:r>
              <a:rPr lang="en-US" sz="2200" b="1" i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-isomer or </a:t>
            </a:r>
            <a:r>
              <a:rPr lang="en-US" sz="2200" b="1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-isomer </a:t>
            </a:r>
            <a:r>
              <a:rPr lang="en-US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(II).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53440" y="4343400"/>
          <a:ext cx="4937760" cy="196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747880" imgH="1091880" progId="ChemDraw.Document.6.0">
                  <p:embed/>
                </p:oleObj>
              </mc:Choice>
              <mc:Fallback>
                <p:oleObj name="CS ChemDraw Drawing" r:id="rId2" imgW="2747880" imgH="1091880" progId="ChemDraw.Document.6.0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" y="4343400"/>
                        <a:ext cx="4937760" cy="1962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62439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2439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62439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6902501" y="4343400"/>
          <a:ext cx="1463040" cy="2005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796320" imgH="1091880" progId="ChemDraw.Document.6.0">
                  <p:embed/>
                </p:oleObj>
              </mc:Choice>
              <mc:Fallback>
                <p:oleObj name="CS ChemDraw Drawing" r:id="rId4" imgW="796320" imgH="1091880" progId="ChemDraw.Document.6.0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501" y="4343400"/>
                        <a:ext cx="1463040" cy="20051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774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/>
      <p:bldP spid="1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188893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Correlative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Methods for </a:t>
            </a:r>
            <a:r>
              <a:rPr lang="en-US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trans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Configuration Determination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" y="1371600"/>
            <a:ext cx="8763000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Sometimes it is possible to determine the configurations of pairs of geometrical isomers by converting them into compounds of known configurations.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" y="2514600"/>
            <a:ext cx="8763000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There are two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trichlorocrotonic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acids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(I)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(II)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one of which can be hydrolyzed to 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fumaric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acid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Therefore this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trichlorocrotonic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acid must be the </a:t>
            </a:r>
            <a:r>
              <a:rPr lang="en-US" sz="2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-isomer or </a:t>
            </a:r>
            <a:r>
              <a:rPr lang="en-US" sz="2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isomer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consequently the other isomer is the </a:t>
            </a:r>
            <a:r>
              <a:rPr lang="en-US" sz="2200" b="1" i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-isomer or </a:t>
            </a:r>
            <a:r>
              <a:rPr lang="en-US" sz="2200" b="1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-isomer </a:t>
            </a:r>
            <a:r>
              <a:rPr lang="en-US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(II).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2439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62439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62439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6902501" y="4343400"/>
          <a:ext cx="1463040" cy="2005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796320" imgH="1091880" progId="ChemDraw.Document.6.0">
                  <p:embed/>
                </p:oleObj>
              </mc:Choice>
              <mc:Fallback>
                <p:oleObj name="CS ChemDraw Drawing" r:id="rId2" imgW="796320" imgH="1091880" progId="ChemDraw.Document.6.0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501" y="4343400"/>
                        <a:ext cx="1463040" cy="20051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3733800" y="4343400"/>
          <a:ext cx="2286000" cy="1985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257120" imgH="1091880" progId="ChemDraw.Document.6.0">
                  <p:embed/>
                </p:oleObj>
              </mc:Choice>
              <mc:Fallback>
                <p:oleObj name="CS ChemDraw Drawing" r:id="rId4" imgW="1257120" imgH="1091880" progId="ChemDraw.Document.6.0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343400"/>
                        <a:ext cx="2286000" cy="19858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960120" y="4343399"/>
          <a:ext cx="3017520" cy="1620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676880" imgH="900360" progId="ChemDraw.Document.6.0">
                  <p:embed/>
                </p:oleObj>
              </mc:Choice>
              <mc:Fallback>
                <p:oleObj name="CS ChemDraw Drawing" r:id="rId6" imgW="1676880" imgH="900360" progId="ChemDraw.Document.6.0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" y="4343399"/>
                        <a:ext cx="3017520" cy="16202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845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981200" y="1671678"/>
          <a:ext cx="1737360" cy="1681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932400" imgH="901080" progId="ChemDraw.Document.6.0">
                  <p:embed/>
                </p:oleObj>
              </mc:Choice>
              <mc:Fallback>
                <p:oleObj name="CS ChemDraw Drawing" r:id="rId2" imgW="932400" imgH="901080" progId="ChemDraw.Document.6.0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671678"/>
                        <a:ext cx="1737360" cy="16811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3400" y="2052678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941394" y="3531638"/>
          <a:ext cx="1737360" cy="2863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911880" imgH="1501560" progId="ChemDraw.Document.6.0">
                  <p:embed/>
                </p:oleObj>
              </mc:Choice>
              <mc:Fallback>
                <p:oleObj name="CS ChemDraw Drawing" r:id="rId4" imgW="911880" imgH="1501560" progId="ChemDraw.Document.6.0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394" y="3531638"/>
                        <a:ext cx="1737360" cy="28633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181600" y="1600200"/>
          <a:ext cx="1554480" cy="175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796680" imgH="901080" progId="ChemDraw.Document.6.0">
                  <p:embed/>
                </p:oleObj>
              </mc:Choice>
              <mc:Fallback>
                <p:oleObj name="CS ChemDraw Drawing" r:id="rId6" imgW="796680" imgH="901080" progId="ChemDraw.Document.6.0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600200"/>
                        <a:ext cx="1554480" cy="17588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989394" y="3455438"/>
          <a:ext cx="1828800" cy="294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933120" imgH="1503000" progId="ChemDraw.Document.6.0">
                  <p:embed/>
                </p:oleObj>
              </mc:Choice>
              <mc:Fallback>
                <p:oleObj name="CS ChemDraw Drawing" r:id="rId8" imgW="933120" imgH="1503000" progId="ChemDraw.Document.6.0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9394" y="3455438"/>
                        <a:ext cx="1828800" cy="2945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75394" y="2034397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5055638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5394" y="5031949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88893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Correlative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Methods for </a:t>
            </a:r>
            <a:r>
              <a:rPr lang="en-US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trans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Configuration Determination</a:t>
            </a:r>
          </a:p>
        </p:txBody>
      </p:sp>
    </p:spTree>
    <p:extLst>
      <p:ext uri="{BB962C8B-B14F-4D97-AF65-F5344CB8AC3E}">
        <p14:creationId xmlns:p14="http://schemas.microsoft.com/office/powerpoint/2010/main" val="290610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5423" y="1062335"/>
            <a:ext cx="8305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Show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configurational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correlation of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crotonic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acid with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fumaric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acid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8893"/>
            <a:ext cx="685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Problem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945" y="2129135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Solution: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190" y="48723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7190" y="48723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7590" y="48723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81000" y="2895600"/>
          <a:ext cx="8412480" cy="186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215960" imgH="937080" progId="ChemDraw.Document.6.0">
                  <p:embed/>
                </p:oleObj>
              </mc:Choice>
              <mc:Fallback>
                <p:oleObj name="CS ChemDraw Drawing" r:id="rId2" imgW="4215960" imgH="937080" progId="ChemDraw.Document.6.0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895600"/>
                        <a:ext cx="8412480" cy="1868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88120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171833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Physical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Methods for </a:t>
            </a:r>
            <a:r>
              <a:rPr lang="en-US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trans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Configuration Determination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" y="1371600"/>
            <a:ext cx="8763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Since </a:t>
            </a:r>
            <a:r>
              <a:rPr lang="en-US" sz="2300" i="1" dirty="0" err="1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300" i="1" dirty="0"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isomers are </a:t>
            </a:r>
            <a:r>
              <a:rPr lang="en-US" sz="23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diastereomers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they will generally differ in physical properties.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762000" y="2514600"/>
          <a:ext cx="5105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5733" y="2362200"/>
            <a:ext cx="2103120" cy="1530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604" y="4495800"/>
            <a:ext cx="2011680" cy="1753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535534" y="3962400"/>
            <a:ext cx="146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0845" y="6171138"/>
            <a:ext cx="1774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-isomer</a:t>
            </a:r>
          </a:p>
        </p:txBody>
      </p:sp>
    </p:spTree>
    <p:extLst>
      <p:ext uri="{BB962C8B-B14F-4D97-AF65-F5344CB8AC3E}">
        <p14:creationId xmlns:p14="http://schemas.microsoft.com/office/powerpoint/2010/main" val="214230111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171833"/>
            <a:ext cx="685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Dipole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Moments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025" y="4829175"/>
            <a:ext cx="482917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28600" y="1143000"/>
            <a:ext cx="4191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isomers have normally less dipole moments than their corresponding </a:t>
            </a:r>
            <a:r>
              <a:rPr lang="en-US" sz="2200" b="1" i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124200"/>
            <a:ext cx="85648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However, if one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substitueent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electron-donating and the other electron-withdrawing, the bond moments are fully additive in </a:t>
            </a:r>
            <a:r>
              <a:rPr lang="en-US" sz="2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-isomer. In this case,  </a:t>
            </a:r>
            <a:r>
              <a:rPr lang="en-US" sz="2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isomers have higher dipole moments than their corresponding </a:t>
            </a:r>
            <a:r>
              <a:rPr lang="en-US" sz="2200" b="1" i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isomers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087853"/>
            <a:ext cx="1828800" cy="184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087854"/>
            <a:ext cx="1554480" cy="1810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244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2520" y="171833"/>
            <a:ext cx="685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Melting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38200"/>
            <a:ext cx="8625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general, a </a:t>
            </a:r>
            <a:r>
              <a:rPr lang="en-US" sz="2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isomer has greater symmetry than the corresponding 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isomer. Thus it packs more easily in the crystal lattice and hence has a higher melting point. </a:t>
            </a:r>
          </a:p>
        </p:txBody>
      </p:sp>
      <p:pic>
        <p:nvPicPr>
          <p:cNvPr id="12292" name="Picture 4" descr="X-ray topographic study of growth defects of trans-stilbene crystals grown  from solutions - ScienceDir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320" y="2290506"/>
            <a:ext cx="3840480" cy="190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130490" y="4572000"/>
          <a:ext cx="2011680" cy="1210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1171800" imgH="704880" progId="ChemDraw.Document.6.0">
                  <p:embed/>
                </p:oleObj>
              </mc:Choice>
              <mc:Fallback>
                <p:oleObj name="CS ChemDraw Drawing" r:id="rId3" imgW="1171800" imgH="704880" progId="ChemDraw.Document.6.0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490" y="4572000"/>
                        <a:ext cx="2011680" cy="12102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5699" y="6019800"/>
            <a:ext cx="35377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Stilbene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[crystal,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m.p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123 – 125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/>
              </a:rPr>
              <a:t>C]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7056120" y="2386773"/>
            <a:ext cx="1554480" cy="1708153"/>
            <a:chOff x="6705600" y="2462973"/>
            <a:chExt cx="1554480" cy="1708153"/>
          </a:xfrm>
        </p:grpSpPr>
        <p:pic>
          <p:nvPicPr>
            <p:cNvPr id="12290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462973"/>
              <a:ext cx="1554480" cy="1708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6829425" y="2667000"/>
            <a:ext cx="1171575" cy="704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6" imgW="1171800" imgH="704880" progId="ChemDraw.Document.6.0">
                    <p:embed/>
                  </p:oleObj>
                </mc:Choice>
                <mc:Fallback>
                  <p:oleObj name="CS ChemDraw Drawing" r:id="rId6" imgW="1171800" imgH="704880" progId="ChemDraw.Document.6.0">
                    <p:embed/>
                    <p:pic>
                      <p:nvPicPr>
                        <p:cNvPr id="1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29425" y="2667000"/>
                          <a:ext cx="1171575" cy="704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5913120" y="4572000"/>
          <a:ext cx="1645920" cy="1269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978840" imgH="755280" progId="ChemDraw.Document.6.0">
                  <p:embed/>
                </p:oleObj>
              </mc:Choice>
              <mc:Fallback>
                <p:oleObj name="CS ChemDraw Drawing" r:id="rId8" imgW="978840" imgH="755280" progId="ChemDraw.Document.6.0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3120" y="4572000"/>
                        <a:ext cx="1645920" cy="12697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502920" y="2514600"/>
          <a:ext cx="2011680" cy="1209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1171800" imgH="704880" progId="ChemDraw.Document.6.0">
                  <p:embed/>
                </p:oleObj>
              </mc:Choice>
              <mc:Fallback>
                <p:oleObj name="CS ChemDraw Drawing" r:id="rId10" imgW="1171800" imgH="704880" progId="ChemDraw.Document.6.0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" y="2514600"/>
                        <a:ext cx="2011680" cy="12098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07940" y="3767132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Stilbene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289560" y="2133600"/>
            <a:ext cx="8625840" cy="2209800"/>
          </a:xfrm>
          <a:prstGeom prst="roundRect">
            <a:avLst/>
          </a:prstGeom>
          <a:noFill/>
          <a:ln w="9525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78902" y="6019800"/>
            <a:ext cx="25506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-Stilbene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[liquid,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b.p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82 – 84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/>
              </a:rPr>
              <a:t>C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5232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12520" y="171833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UV-Vis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Spectra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4738827" y="4648200"/>
          <a:ext cx="2011680" cy="1103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224000" imgH="671760" progId="ChemDraw.Document.6.0">
                  <p:embed/>
                </p:oleObj>
              </mc:Choice>
              <mc:Fallback>
                <p:oleObj name="CS ChemDraw Drawing" r:id="rId2" imgW="1224000" imgH="671760" progId="ChemDraw.Document.6.0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8827" y="4648200"/>
                        <a:ext cx="2011680" cy="11036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011836" y="4648200"/>
          <a:ext cx="1828800" cy="999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074960" imgH="587520" progId="ChemDraw.Document.6.0">
                  <p:embed/>
                </p:oleObj>
              </mc:Choice>
              <mc:Fallback>
                <p:oleObj name="CS ChemDraw Drawing" r:id="rId4" imgW="1074960" imgH="587520" progId="ChemDraw.Document.6.0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1836" y="4648200"/>
                        <a:ext cx="1828800" cy="9994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76800" y="5867400"/>
            <a:ext cx="1991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azobenzene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66203" y="5867400"/>
            <a:ext cx="1749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1" dirty="0" err="1">
                <a:solidFill>
                  <a:srgbClr val="B94707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-azobenzene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2401" y="914400"/>
            <a:ext cx="8625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Normally a </a:t>
            </a:r>
            <a:r>
              <a:rPr lang="en-US" sz="2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isomer absorbs at higher wavelength than the corresponding </a:t>
            </a:r>
            <a:r>
              <a:rPr lang="en-US" sz="2200" b="1" i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isomer in UV-Vis spectroscopy.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1" y="3311604"/>
            <a:ext cx="8762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Coplanarity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is needed for the most effective overlap of the  -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orbitals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and increased ease of the   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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* transition. The 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-stilbene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forced into a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nonplanar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conformation due to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steric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effects.</a:t>
            </a:r>
            <a:endParaRPr lang="en-US" sz="2200" dirty="0"/>
          </a:p>
        </p:txBody>
      </p:sp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6200" y="4611655"/>
            <a:ext cx="4503737" cy="2093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717070" y="2209800"/>
            <a:ext cx="164513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trans-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stilbene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algn="ctr">
              <a:spcAft>
                <a:spcPts val="1200"/>
              </a:spcAft>
            </a:pP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0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max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295 nm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7010400" y="1981200"/>
            <a:ext cx="164660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000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cis-</a:t>
            </a:r>
            <a:r>
              <a:rPr lang="en-US" sz="20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stilbene</a:t>
            </a:r>
            <a:endParaRPr lang="en-US" sz="20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algn="ctr">
              <a:spcAft>
                <a:spcPts val="1200"/>
              </a:spcAft>
            </a:pP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000" baseline="-25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max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280 nm</a:t>
            </a:r>
            <a:endParaRPr lang="en-US" sz="2000" dirty="0">
              <a:solidFill>
                <a:srgbClr val="0000FF"/>
              </a:solidFill>
            </a:endParaRPr>
          </a:p>
        </p:txBody>
      </p:sp>
      <p:graphicFrame>
        <p:nvGraphicFramePr>
          <p:cNvPr id="13324" name="Object 12"/>
          <p:cNvGraphicFramePr>
            <a:graphicFrameLocks noChangeAspect="1"/>
          </p:cNvGraphicFramePr>
          <p:nvPr/>
        </p:nvGraphicFramePr>
        <p:xfrm>
          <a:off x="2560320" y="1905000"/>
          <a:ext cx="2011680" cy="1209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1171800" imgH="704880" progId="ChemDraw.Document.6.0">
                  <p:embed/>
                </p:oleObj>
              </mc:Choice>
              <mc:Fallback>
                <p:oleObj name="CS ChemDraw Drawing" r:id="rId7" imgW="1171800" imgH="704880" progId="ChemDraw.Document.6.0">
                  <p:embed/>
                  <p:pic>
                    <p:nvPicPr>
                      <p:cNvPr id="133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320" y="1905000"/>
                        <a:ext cx="2011680" cy="12095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5" name="Object 13"/>
          <p:cNvGraphicFramePr>
            <a:graphicFrameLocks noChangeAspect="1"/>
          </p:cNvGraphicFramePr>
          <p:nvPr/>
        </p:nvGraphicFramePr>
        <p:xfrm>
          <a:off x="5067300" y="1866900"/>
          <a:ext cx="1645920" cy="1263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978840" imgH="755280" progId="ChemDraw.Document.6.0">
                  <p:embed/>
                </p:oleObj>
              </mc:Choice>
              <mc:Fallback>
                <p:oleObj name="CS ChemDraw Drawing" r:id="rId9" imgW="978840" imgH="755280" progId="ChemDraw.Document.6.0">
                  <p:embed/>
                  <p:pic>
                    <p:nvPicPr>
                      <p:cNvPr id="133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0" y="1866900"/>
                        <a:ext cx="1645920" cy="12631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982795" y="6305490"/>
            <a:ext cx="1646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max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320 nm</a:t>
            </a:r>
            <a:endParaRPr 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7192595" y="6305490"/>
            <a:ext cx="1646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max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281 nm</a:t>
            </a:r>
            <a:endParaRPr lang="en-US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16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3" grpId="0"/>
      <p:bldP spid="21" grpId="0"/>
      <p:bldP spid="2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0600" y="171833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Home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Work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447800"/>
            <a:ext cx="56537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74320" indent="-274320">
              <a:buFont typeface="Arial" pitchFamily="34" charset="0"/>
              <a:buChar char="•"/>
            </a:pP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Interconversion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iosmers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895600"/>
            <a:ext cx="2743200" cy="32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505200" y="2971800"/>
            <a:ext cx="5495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74320" indent="-27432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Stereochemistry of Organic Compounds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400" y="4226749"/>
            <a:ext cx="2485168" cy="1031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74320" indent="-274320">
              <a:spcAft>
                <a:spcPts val="18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Ernest L.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Eliel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marL="274320" indent="-27432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Samuel H.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Wilen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92582" y="3505200"/>
            <a:ext cx="479618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74320" indent="-274320">
              <a:buClr>
                <a:srgbClr val="FF0000"/>
              </a:buClr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by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10485</TotalTime>
  <Words>3820</Words>
  <Application>Microsoft Office PowerPoint</Application>
  <PresentationFormat>On-screen Show (4:3)</PresentationFormat>
  <Paragraphs>418</Paragraphs>
  <Slides>90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9" baseType="lpstr">
      <vt:lpstr>Arial</vt:lpstr>
      <vt:lpstr>Calibri</vt:lpstr>
      <vt:lpstr>Comic Sans MS</vt:lpstr>
      <vt:lpstr>Segoe Print</vt:lpstr>
      <vt:lpstr>Times</vt:lpstr>
      <vt:lpstr>Times New Roman</vt:lpstr>
      <vt:lpstr>Wingdings</vt:lpstr>
      <vt:lpstr>Blank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Axial methyl group is Gauche to C3 in the ring</vt:lpstr>
      <vt:lpstr>Equatorial Methyl Group is Anti to C3 in the ring</vt:lpstr>
      <vt:lpstr>The Bigger The Group, The Bigger The Strain</vt:lpstr>
      <vt:lpstr>PowerPoint Presentation</vt:lpstr>
      <vt:lpstr>cis-1,2-Dimethylcyclohexane</vt:lpstr>
      <vt:lpstr>trans-1,2-Dimethylcyclohexane</vt:lpstr>
      <vt:lpstr>cis-1,2-Dimethylcyclohexane</vt:lpstr>
      <vt:lpstr>trans-1,2-Dimethylcyclohexane</vt:lpstr>
      <vt:lpstr>trans-1,3-Dimethylcyclohexane</vt:lpstr>
      <vt:lpstr>cis-1,3-Dimethylcyclohexane</vt:lpstr>
      <vt:lpstr>cis-1,3-Dimethylcyclohexane</vt:lpstr>
      <vt:lpstr>cis-1,4-Disubstituted  Cyclohexanes</vt:lpstr>
      <vt:lpstr>trans-1,4-Disubstituted Cyclohexanes</vt:lpstr>
      <vt:lpstr>1,4-Disubstituted Cyclohexanes</vt:lpstr>
      <vt:lpstr>Conformations of  cis-1-Chloro-4-t-butylcyclohexane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Tahmina Haque</dc:creator>
  <cp:lastModifiedBy>Muhaiminul islam sreejon</cp:lastModifiedBy>
  <cp:revision>1611</cp:revision>
  <dcterms:created xsi:type="dcterms:W3CDTF">2006-02-07T16:59:36Z</dcterms:created>
  <dcterms:modified xsi:type="dcterms:W3CDTF">2023-11-18T17:33:33Z</dcterms:modified>
</cp:coreProperties>
</file>