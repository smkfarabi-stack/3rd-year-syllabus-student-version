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5"/>
  </p:notesMasterIdLst>
  <p:sldIdLst>
    <p:sldId id="691" r:id="rId2"/>
    <p:sldId id="697" r:id="rId3"/>
    <p:sldId id="692" r:id="rId4"/>
    <p:sldId id="699" r:id="rId5"/>
    <p:sldId id="700" r:id="rId6"/>
    <p:sldId id="701" r:id="rId7"/>
    <p:sldId id="693" r:id="rId8"/>
    <p:sldId id="702" r:id="rId9"/>
    <p:sldId id="703" r:id="rId10"/>
    <p:sldId id="706" r:id="rId11"/>
    <p:sldId id="704" r:id="rId12"/>
    <p:sldId id="707" r:id="rId13"/>
    <p:sldId id="705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198C"/>
    <a:srgbClr val="0033CC"/>
    <a:srgbClr val="CC0099"/>
    <a:srgbClr val="FFFFF3"/>
    <a:srgbClr val="FFE9E5"/>
    <a:srgbClr val="7604A4"/>
    <a:srgbClr val="FFBDDE"/>
    <a:srgbClr val="FCC5BA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90929"/>
  </p:normalViewPr>
  <p:slideViewPr>
    <p:cSldViewPr>
      <p:cViewPr>
        <p:scale>
          <a:sx n="70" d="100"/>
          <a:sy n="70" d="100"/>
        </p:scale>
        <p:origin x="-5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D6A7B-5500-4495-AE41-A92BE20EB6D8}" type="datetimeFigureOut">
              <a:rPr lang="en-US" smtClean="0"/>
              <a:pPr/>
              <a:t>5/25/2023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80D7B-28CF-412F-B790-13805F3982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27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80D7B-28CF-412F-B790-13805F3982C2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80D7B-28CF-412F-B790-13805F3982C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04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80D7B-28CF-412F-B790-13805F3982C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051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B74CB-4A74-40B4-9827-E4014EAD1B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2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ABA6B6-A978-485A-95D4-418D3F5876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1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DA6F6-778F-4796-A5B0-385E366BB0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88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33C12-B0ED-4EAF-9287-734E40E3B4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5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BF0E7-2FC4-40E0-A3A1-5D12941582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75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B8A14-8812-42BE-A1A4-D8D036A6AF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0B8AD-9BF6-41F4-96A2-938BD798F5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1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02018-89FC-41EB-A79F-7A8ECB099F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5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03932-386A-472D-BAAA-59DC2493FB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8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46019-8A5E-4A2F-ACB6-AC68C7DACD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668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6FFB9-1320-4111-BEBC-F13F2A6A94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158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12000">
              <a:srgbClr val="FFFFF3"/>
            </a:gs>
            <a:gs pos="1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8434F40-A5A5-40AB-B940-8543F87F66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10749" y="2133600"/>
            <a:ext cx="62616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baseline="300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anose="030F0702030302020204" pitchFamily="66" charset="0"/>
              </a:rPr>
              <a:t>1</a:t>
            </a:r>
            <a:r>
              <a:rPr lang="en-US" sz="4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anose="030F0702030302020204" pitchFamily="66" charset="0"/>
              </a:rPr>
              <a:t>H NMR </a:t>
            </a:r>
            <a:r>
              <a:rPr lang="en-US" sz="44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S</a:t>
            </a:r>
            <a:r>
              <a:rPr lang="en-US" sz="4400" b="1" dirty="0" smtClean="0">
                <a:solidFill>
                  <a:srgbClr val="FF6600"/>
                </a:solidFill>
                <a:latin typeface="Comic Sans MS" panose="030F0702030302020204" pitchFamily="66" charset="0"/>
              </a:rPr>
              <a:t>p</a:t>
            </a:r>
            <a:r>
              <a:rPr lang="en-US" sz="4400" b="1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e</a:t>
            </a:r>
            <a:r>
              <a:rPr lang="en-US" sz="4400" b="1" dirty="0" smtClean="0">
                <a:solidFill>
                  <a:srgbClr val="00B050"/>
                </a:solidFill>
                <a:latin typeface="Comic Sans MS" panose="030F0702030302020204" pitchFamily="66" charset="0"/>
              </a:rPr>
              <a:t>c</a:t>
            </a:r>
            <a:r>
              <a:rPr lang="en-US" sz="4400" b="1" dirty="0" smtClean="0">
                <a:solidFill>
                  <a:srgbClr val="00B0F0"/>
                </a:solidFill>
                <a:latin typeface="Comic Sans MS" panose="030F0702030302020204" pitchFamily="66" charset="0"/>
              </a:rPr>
              <a:t>t</a:t>
            </a:r>
            <a:r>
              <a:rPr lang="en-US" sz="4400" b="1" dirty="0" smtClean="0">
                <a:solidFill>
                  <a:srgbClr val="0000FF"/>
                </a:solidFill>
                <a:latin typeface="Comic Sans MS" panose="030F0702030302020204" pitchFamily="66" charset="0"/>
              </a:rPr>
              <a:t>r</a:t>
            </a:r>
            <a:r>
              <a:rPr lang="en-US" sz="4400" b="1" dirty="0" smtClean="0">
                <a:solidFill>
                  <a:srgbClr val="CC0099"/>
                </a:solidFill>
                <a:latin typeface="Comic Sans MS" panose="030F0702030302020204" pitchFamily="66" charset="0"/>
              </a:rPr>
              <a:t>o</a:t>
            </a:r>
            <a:r>
              <a:rPr lang="en-US" sz="4400" b="1" dirty="0" smtClean="0">
                <a:solidFill>
                  <a:srgbClr val="FF5050"/>
                </a:solidFill>
                <a:latin typeface="Comic Sans MS" panose="030F0702030302020204" pitchFamily="66" charset="0"/>
              </a:rPr>
              <a:t>s</a:t>
            </a:r>
            <a:r>
              <a:rPr lang="en-US" sz="44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copy</a:t>
            </a:r>
            <a:endParaRPr lang="en-US" sz="44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7987F46-F22D-4314-B239-C75F94E3B83D}"/>
              </a:ext>
            </a:extLst>
          </p:cNvPr>
          <p:cNvSpPr txBox="1"/>
          <p:nvPr/>
        </p:nvSpPr>
        <p:spPr>
          <a:xfrm>
            <a:off x="6934201" y="433626"/>
            <a:ext cx="1904999" cy="4770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Chapter </a:t>
            </a:r>
            <a:r>
              <a:rPr lang="en-US" sz="2500" b="1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1</a:t>
            </a:r>
            <a:endParaRPr lang="en-US" sz="25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" y="433626"/>
            <a:ext cx="315350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Advanced</a:t>
            </a:r>
          </a:p>
          <a:p>
            <a:pPr algn="ctr"/>
            <a:r>
              <a:rPr lang="en-US" sz="2500" b="1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Organic Chemistry</a:t>
            </a:r>
            <a:endParaRPr lang="en-US" sz="25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03" y="3752836"/>
            <a:ext cx="8412480" cy="2495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973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3565330"/>
            <a:ext cx="8610600" cy="3125030"/>
          </a:xfrm>
          <a:prstGeom prst="rect">
            <a:avLst/>
          </a:prstGeom>
          <a:noFill/>
          <a:ln w="9525">
            <a:solidFill>
              <a:schemeClr val="accent2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04800" y="1192798"/>
            <a:ext cx="8534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stronger the applied magnetic field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2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the greater the energy difference between the possible spin states, thus higher the frequency for proton resonance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4800" y="2335798"/>
            <a:ext cx="8534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stronger magnetic field hold the nuclear magnetic dipole more tightly in its more stable state, so more energy (higher frequency) is required to flip the nucleus.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1752600" y="137160"/>
            <a:ext cx="5562600" cy="1087159"/>
            <a:chOff x="1676400" y="152400"/>
            <a:chExt cx="5562600" cy="1087159"/>
          </a:xfrm>
        </p:grpSpPr>
        <p:sp>
          <p:nvSpPr>
            <p:cNvPr id="7" name="TextBox 6"/>
            <p:cNvSpPr txBox="1"/>
            <p:nvPr/>
          </p:nvSpPr>
          <p:spPr>
            <a:xfrm>
              <a:off x="1752600" y="434369"/>
              <a:ext cx="246413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 smtClean="0">
                  <a:sym typeface="Symbol"/>
                </a:rPr>
                <a:t></a:t>
              </a:r>
              <a:r>
                <a:rPr lang="en-US" sz="2800" i="1" dirty="0" smtClean="0">
                  <a:latin typeface="Times New Roman" pitchFamily="18" charset="0"/>
                  <a:cs typeface="Times New Roman" pitchFamily="18" charset="0"/>
                  <a:sym typeface="Symbol"/>
                </a:rPr>
                <a:t>E</a:t>
              </a:r>
              <a:r>
                <a:rPr lang="en-US" sz="2800" dirty="0" smtClean="0">
                  <a:latin typeface="Times New Roman" pitchFamily="18" charset="0"/>
                  <a:cs typeface="Times New Roman" pitchFamily="18" charset="0"/>
                  <a:sym typeface="Symbol"/>
                </a:rPr>
                <a:t> = 2</a:t>
              </a:r>
              <a:r>
                <a:rPr lang="en-US" sz="2800" i="1" dirty="0" smtClean="0">
                  <a:latin typeface="Times New Roman" pitchFamily="18" charset="0"/>
                  <a:cs typeface="Times New Roman" pitchFamily="18" charset="0"/>
                  <a:sym typeface="Symbol"/>
                </a:rPr>
                <a:t>H</a:t>
              </a:r>
              <a:r>
                <a:rPr lang="en-US" sz="2800" baseline="-25000" dirty="0" smtClean="0">
                  <a:latin typeface="Times New Roman" pitchFamily="18" charset="0"/>
                  <a:cs typeface="Times New Roman" pitchFamily="18" charset="0"/>
                  <a:sym typeface="Symbol"/>
                </a:rPr>
                <a:t>0 </a:t>
              </a:r>
              <a:r>
                <a:rPr lang="en-US" sz="2800" dirty="0" smtClean="0">
                  <a:latin typeface="Times New Roman" pitchFamily="18" charset="0"/>
                  <a:cs typeface="Times New Roman" pitchFamily="18" charset="0"/>
                  <a:sym typeface="Symbol"/>
                </a:rPr>
                <a:t>= </a:t>
              </a:r>
              <a:r>
                <a:rPr lang="en-US" sz="2800" i="1" dirty="0" smtClean="0">
                  <a:latin typeface="Times New Roman" pitchFamily="18" charset="0"/>
                  <a:cs typeface="Times New Roman" pitchFamily="18" charset="0"/>
                  <a:sym typeface="Symbol"/>
                </a:rPr>
                <a:t>h</a:t>
              </a:r>
              <a:r>
                <a:rPr lang="el-GR" sz="2800" i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ν</a:t>
              </a:r>
              <a:endParaRPr lang="en-US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" name="Group 7"/>
            <p:cNvGrpSpPr/>
            <p:nvPr/>
          </p:nvGrpSpPr>
          <p:grpSpPr>
            <a:xfrm>
              <a:off x="5334000" y="152400"/>
              <a:ext cx="1828800" cy="1087159"/>
              <a:chOff x="457200" y="2905780"/>
              <a:chExt cx="1828800" cy="1087159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457200" y="3164919"/>
                <a:ext cx="635110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l-GR" sz="2800" i="1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Symbol"/>
                  </a:rPr>
                  <a:t>ν</a:t>
                </a:r>
                <a:r>
                  <a:rPr lang="el-GR" sz="2800" i="1" dirty="0" smtClean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  <a:sym typeface="Symbol"/>
                  </a:rPr>
                  <a:t> </a:t>
                </a:r>
                <a:r>
                  <a:rPr lang="en-US" sz="2800" dirty="0" smtClean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  <a:sym typeface="Symbol"/>
                  </a:rPr>
                  <a:t>=</a:t>
                </a:r>
                <a:endParaRPr lang="en-US" sz="2800" baseline="-25000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10" name="Straight Connector 9"/>
              <p:cNvCxnSpPr/>
              <p:nvPr/>
            </p:nvCxnSpPr>
            <p:spPr bwMode="auto">
              <a:xfrm>
                <a:off x="1143000" y="3469719"/>
                <a:ext cx="1143000" cy="158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1" name="Rectangle 10"/>
              <p:cNvSpPr/>
              <p:nvPr/>
            </p:nvSpPr>
            <p:spPr>
              <a:xfrm>
                <a:off x="1295400" y="2905780"/>
                <a:ext cx="95090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 smtClean="0">
                    <a:latin typeface="Times New Roman" pitchFamily="18" charset="0"/>
                    <a:cs typeface="Times New Roman" pitchFamily="18" charset="0"/>
                    <a:sym typeface="Symbol"/>
                  </a:rPr>
                  <a:t>2</a:t>
                </a:r>
                <a:r>
                  <a:rPr lang="en-US" sz="2800" i="1" dirty="0" smtClean="0">
                    <a:latin typeface="Times New Roman" pitchFamily="18" charset="0"/>
                    <a:cs typeface="Times New Roman" pitchFamily="18" charset="0"/>
                    <a:sym typeface="Symbol"/>
                  </a:rPr>
                  <a:t>H</a:t>
                </a:r>
                <a:r>
                  <a:rPr lang="en-US" sz="2800" baseline="-25000" dirty="0" smtClean="0">
                    <a:latin typeface="Times New Roman" pitchFamily="18" charset="0"/>
                    <a:cs typeface="Times New Roman" pitchFamily="18" charset="0"/>
                    <a:sym typeface="Symbol"/>
                  </a:rPr>
                  <a:t>0</a:t>
                </a:r>
                <a:endParaRPr lang="en-US" sz="280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1524000" y="3469719"/>
                <a:ext cx="36420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i="1" dirty="0" smtClean="0">
                    <a:latin typeface="Times New Roman" pitchFamily="18" charset="0"/>
                    <a:cs typeface="Times New Roman" pitchFamily="18" charset="0"/>
                  </a:rPr>
                  <a:t>h</a:t>
                </a:r>
                <a:endParaRPr lang="en-US" sz="28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3" name="Right Arrow 12"/>
            <p:cNvSpPr/>
            <p:nvPr/>
          </p:nvSpPr>
          <p:spPr bwMode="auto">
            <a:xfrm>
              <a:off x="4572000" y="581679"/>
              <a:ext cx="457200" cy="228600"/>
            </a:xfrm>
            <a:prstGeom prst="rightArrow">
              <a:avLst/>
            </a:prstGeom>
            <a:noFill/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1676400" y="152400"/>
              <a:ext cx="5562600" cy="990600"/>
            </a:xfrm>
            <a:prstGeom prst="rect">
              <a:avLst/>
            </a:prstGeom>
            <a:noFill/>
            <a:ln w="9525" cap="flat" cmpd="sng" algn="ctr">
              <a:solidFill>
                <a:schemeClr val="accent2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5922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152400"/>
            <a:ext cx="6553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NMR</a:t>
            </a:r>
            <a:r>
              <a:rPr lang="en-US" altLang="zh-TW" sz="2800" b="1" dirty="0" smtClean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altLang="zh-TW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Spectrometer</a:t>
            </a:r>
            <a:endParaRPr lang="en-US" altLang="zh-TW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43" name="Text Box 38"/>
          <p:cNvSpPr txBox="1">
            <a:spLocks noChangeArrowheads="1"/>
          </p:cNvSpPr>
          <p:nvPr/>
        </p:nvSpPr>
        <p:spPr bwMode="auto">
          <a:xfrm>
            <a:off x="4400550" y="715962"/>
            <a:ext cx="7696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sz="1600">
              <a:latin typeface="Comic Sans MS" pitchFamily="66" charset="0"/>
            </a:endParaRPr>
          </a:p>
        </p:txBody>
      </p:sp>
      <p:pic>
        <p:nvPicPr>
          <p:cNvPr id="2050" name="Picture 2" descr="https://upload.wikimedia.org/wikipedia/commons/f/f9/HWB-NMR_-_900MHz_-_21.2_Tesl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941584"/>
            <a:ext cx="4267200" cy="576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67640" y="903515"/>
            <a:ext cx="423291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most common way to obtain an </a:t>
            </a:r>
            <a:r>
              <a:rPr lang="en-US" sz="2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NMR spectrum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to dissolve a small amount of a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compound in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about 0.5 mL of </a:t>
            </a:r>
            <a:r>
              <a:rPr lang="en-US" sz="2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deuterated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solvent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41556" y="3542437"/>
            <a:ext cx="1726044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 900 MHz NMR </a:t>
            </a:r>
            <a:r>
              <a:rPr lang="en-US" sz="17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instrument</a:t>
            </a:r>
            <a:endParaRPr lang="en-US" sz="1700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5275" y="2924175"/>
            <a:ext cx="1000125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371600" y="4996696"/>
            <a:ext cx="3200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solution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 a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NMR tube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is then placed within a powerful magnetic field.</a:t>
            </a: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380" y="2855599"/>
            <a:ext cx="1097280" cy="975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828800" y="4001869"/>
            <a:ext cx="2294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deuterated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Chloroform</a:t>
            </a:r>
          </a:p>
          <a:p>
            <a:pPr algn="ctr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(C</a:t>
            </a:r>
            <a:r>
              <a:rPr lang="en-US" sz="1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Cl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78122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12"/>
          <p:cNvSpPr>
            <a:spLocks noChangeArrowheads="1"/>
          </p:cNvSpPr>
          <p:nvPr/>
        </p:nvSpPr>
        <p:spPr bwMode="auto">
          <a:xfrm>
            <a:off x="228600" y="5943600"/>
            <a:ext cx="2667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6200" y="914400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 NMR spectrometer can be designed so that the radiofrequency is kept constant 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e.g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. at 60 MHz and the magnetic field is varied.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" y="1752600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As </a:t>
            </a:r>
            <a:r>
              <a:rPr lang="en-US" sz="2300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300" baseline="-250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3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varies, so does </a:t>
            </a:r>
            <a:r>
              <a:rPr lang="en-US" sz="2300" dirty="0" smtClean="0">
                <a:solidFill>
                  <a:srgbClr val="FF0000"/>
                </a:solidFill>
                <a:sym typeface="Symbol"/>
              </a:rPr>
              <a:t></a:t>
            </a:r>
            <a:r>
              <a:rPr lang="en-US" sz="23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E.</a:t>
            </a:r>
            <a:endParaRPr lang="en-US" sz="23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" y="2362200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When the applied magnetic field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3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reaches the </a:t>
            </a:r>
            <a:r>
              <a:rPr lang="en-US" sz="23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correct strength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i.e.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3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l-GR" sz="23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ν</a:t>
            </a:r>
            <a:r>
              <a:rPr lang="en-US" sz="23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/2</a:t>
            </a:r>
            <a:r>
              <a:rPr lang="en-US" sz="23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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Symbol"/>
              </a:rPr>
              <a:t>), </a:t>
            </a:r>
            <a:r>
              <a:rPr lang="en-US" sz="2300" dirty="0" smtClean="0">
                <a:solidFill>
                  <a:srgbClr val="FF0000"/>
                </a:solidFill>
                <a:sym typeface="Symbol"/>
              </a:rPr>
              <a:t></a:t>
            </a:r>
            <a:r>
              <a:rPr lang="en-US" sz="23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E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Symbol"/>
              </a:rPr>
              <a:t>the matches the energy of the incident radiation.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200" y="3429000"/>
            <a:ext cx="48768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At this field strength, absorption of energy from the incident radiation will take place and transition from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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Symbol"/>
              </a:rPr>
              <a:t>-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spin state to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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Symbol"/>
              </a:rPr>
              <a:t>-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spin state will occur.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200" y="5121295"/>
            <a:ext cx="49530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This causes </a:t>
            </a:r>
            <a:r>
              <a:rPr lang="en-US" sz="23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tiny electrical current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to flow in a coil surrounding the sample tube. The instrument amplifies this current which is displayed  as a signal.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56662" y="1748135"/>
            <a:ext cx="2358338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sym typeface="Symbol"/>
              </a:rPr>
              <a:t>[</a:t>
            </a:r>
            <a:r>
              <a:rPr 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E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= 2</a:t>
            </a:r>
            <a:r>
              <a:rPr lang="en-US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H</a:t>
            </a:r>
            <a:r>
              <a:rPr lang="en-US" baseline="-250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0 </a:t>
            </a:r>
            <a:r>
              <a:rPr lang="en-US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= </a:t>
            </a:r>
            <a:r>
              <a:rPr lang="en-US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h</a:t>
            </a:r>
            <a:r>
              <a:rPr lang="el-GR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ν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]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" name="Picture 4" descr=" 13-17.jpg                                                      002D3952Fausto                         BA94C69E: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05400" y="3954104"/>
            <a:ext cx="3931920" cy="2294296"/>
          </a:xfrm>
          <a:prstGeom prst="rect">
            <a:avLst/>
          </a:prstGeom>
          <a:noFill/>
          <a:ln w="9525">
            <a:solidFill>
              <a:srgbClr val="920092"/>
            </a:solidFill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860882" y="152400"/>
            <a:ext cx="7196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The Working of the </a:t>
            </a:r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NMR Spectrometer</a:t>
            </a:r>
            <a:endParaRPr lang="en-US" sz="28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029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60882" y="254169"/>
            <a:ext cx="7196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The Working of the </a:t>
            </a:r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NMR Spectrometer</a:t>
            </a:r>
            <a:endParaRPr lang="en-US" sz="28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9" name="Picture 4" descr=" 13-17.jpg                                                      002D3952Fausto                         BA94C69E: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676400"/>
            <a:ext cx="8138160" cy="474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32944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" y="965299"/>
            <a:ext cx="88392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modern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instruments called pulsed 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ourier 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ransform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spectrometers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magnetic field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is held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constant and an </a:t>
            </a:r>
            <a:r>
              <a:rPr lang="en-US" sz="22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adio </a:t>
            </a:r>
            <a:r>
              <a:rPr lang="en-US" sz="22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requency (</a:t>
            </a:r>
            <a:r>
              <a:rPr lang="en-US" sz="2200" b="1" dirty="0" err="1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rf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 pulse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of short duration excites all the protons simultaneously.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b="1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rf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pulse covers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range of frequencies, so each nucleus can absorb the frequency it requires to come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into resonance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(flip its spin) and produce a signal—called a free induction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decay (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FID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 —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at a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frequency corresponding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 ∆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35646" y="254169"/>
            <a:ext cx="42466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FT-</a:t>
            </a:r>
            <a:r>
              <a:rPr lang="en-US" sz="2800" b="1" dirty="0" smtClean="0">
                <a:ln w="1905"/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NMR Spectrometer</a:t>
            </a:r>
            <a:endParaRPr lang="en-US" sz="2800" b="1" dirty="0">
              <a:ln w="1905"/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494176"/>
            <a:ext cx="4663440" cy="3170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6200" y="3657600"/>
            <a:ext cx="438278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computer measures the change in intensity over time and converts it into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intensity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frequency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data, in a mathematical operation known as a </a:t>
            </a:r>
            <a:r>
              <a:rPr lang="en-US" sz="2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ourier </a:t>
            </a:r>
            <a:r>
              <a:rPr lang="en-US" sz="2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ransform,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 produce a spectrum called a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Fourier transform NMR (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FT–</a:t>
            </a:r>
            <a:r>
              <a:rPr lang="en-US" sz="22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NMR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) spectrum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526335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71600" y="152400"/>
            <a:ext cx="6553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800" b="1" baseline="30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1</a:t>
            </a:r>
            <a:r>
              <a:rPr lang="en-US" altLang="zh-TW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H NMR</a:t>
            </a:r>
            <a:r>
              <a:rPr lang="en-US" altLang="zh-TW" sz="2800" b="1" dirty="0" smtClean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altLang="zh-TW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Spectrum</a:t>
            </a:r>
            <a:endParaRPr lang="en-US" altLang="zh-TW" sz="28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4800" y="990600"/>
            <a:ext cx="85344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3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spectrum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produced by </a:t>
            </a:r>
            <a:r>
              <a:rPr lang="en-US" sz="2300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H NMR spectroscopy is generally rich with information that can be interpreted 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 determine a molecular structure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E9EEF1"/>
              </a:clrFrom>
              <a:clrTo>
                <a:srgbClr val="E9EEF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09800"/>
            <a:ext cx="8412480" cy="2548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609600" y="2533735"/>
            <a:ext cx="4648200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To Be Able to Go From This:</a:t>
            </a:r>
          </a:p>
        </p:txBody>
      </p:sp>
      <p:sp>
        <p:nvSpPr>
          <p:cNvPr id="11" name="Curved Right Arrow 10"/>
          <p:cNvSpPr/>
          <p:nvPr/>
        </p:nvSpPr>
        <p:spPr bwMode="auto">
          <a:xfrm>
            <a:off x="304800" y="3276600"/>
            <a:ext cx="1219200" cy="2590800"/>
          </a:xfrm>
          <a:prstGeom prst="curvedRightArrow">
            <a:avLst>
              <a:gd name="adj1" fmla="val 7814"/>
              <a:gd name="adj2" fmla="val 16021"/>
              <a:gd name="adj3" fmla="val 20739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FF198C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1676400" y="5560367"/>
            <a:ext cx="1676400" cy="46166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To This</a:t>
            </a:r>
            <a:r>
              <a:rPr lang="en-US" altLang="en-US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: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9EEF1"/>
              </a:clrFrom>
              <a:clrTo>
                <a:srgbClr val="E9EEF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5139397"/>
            <a:ext cx="1371600" cy="1456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440" y="5202357"/>
            <a:ext cx="1280160" cy="135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277060" y="5554612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</a:t>
            </a:r>
            <a:endParaRPr lang="en-US" sz="36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11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238780"/>
            <a:ext cx="6553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Magnetic Shielding </a:t>
            </a:r>
            <a:r>
              <a:rPr lang="en-US" altLang="zh-TW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by Electron</a:t>
            </a:r>
            <a:endParaRPr lang="en-US" altLang="zh-TW" sz="28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592940"/>
            <a:ext cx="3657600" cy="3188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52400" y="3829377"/>
            <a:ext cx="4876800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Luckily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this is not the case, as nuclei are surrounded by electrons</a:t>
            </a:r>
            <a:r>
              <a:rPr lang="en-US" sz="23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presence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of an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external magnetic field, the electron density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circulates, which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produces a local (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induced) magnetic field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that opposes the external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magnetic field.</a:t>
            </a:r>
            <a:endParaRPr lang="en-US" sz="23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" y="990600"/>
            <a:ext cx="86868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5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frequency of an NMR signal </a:t>
            </a:r>
            <a:r>
              <a:rPr lang="en-US" sz="225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depends on </a:t>
            </a:r>
            <a:r>
              <a:rPr lang="en-US" sz="2250" dirty="0" smtClean="0">
                <a:latin typeface="Times New Roman" pitchFamily="18" charset="0"/>
                <a:cs typeface="Times New Roman" pitchFamily="18" charset="0"/>
              </a:rPr>
              <a:t>the strength 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of the magnetic field experienced by the </a:t>
            </a:r>
            <a:r>
              <a:rPr lang="en-US" sz="2250" dirty="0" smtClean="0">
                <a:latin typeface="Times New Roman" pitchFamily="18" charset="0"/>
                <a:cs typeface="Times New Roman" pitchFamily="18" charset="0"/>
              </a:rPr>
              <a:t>nucleus.</a:t>
            </a:r>
          </a:p>
          <a:p>
            <a:pPr marL="342900" indent="-342900" algn="just">
              <a:spcAft>
                <a:spcPts val="18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5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sz="22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all </a:t>
            </a:r>
            <a:r>
              <a:rPr lang="en-US" sz="225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50" dirty="0" err="1" smtClean="0">
                <a:latin typeface="Times New Roman" pitchFamily="18" charset="0"/>
                <a:cs typeface="Times New Roman" pitchFamily="18" charset="0"/>
              </a:rPr>
              <a:t>hydrogens</a:t>
            </a:r>
            <a:r>
              <a:rPr lang="en-US" sz="22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in a compound were to experience </a:t>
            </a:r>
            <a:r>
              <a:rPr lang="en-US" sz="2250" dirty="0" smtClean="0">
                <a:latin typeface="Times New Roman" pitchFamily="18" charset="0"/>
                <a:cs typeface="Times New Roman" pitchFamily="18" charset="0"/>
              </a:rPr>
              <a:t>the same 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magnetic field, they would all give signals of the same frequency</a:t>
            </a:r>
            <a:r>
              <a:rPr lang="en-US" sz="225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" y="2720370"/>
            <a:ext cx="85344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5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sz="22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this were the case, </a:t>
            </a:r>
            <a:r>
              <a:rPr lang="en-US" sz="2250" dirty="0" smtClean="0">
                <a:latin typeface="Times New Roman" pitchFamily="18" charset="0"/>
                <a:cs typeface="Times New Roman" pitchFamily="18" charset="0"/>
              </a:rPr>
              <a:t>all </a:t>
            </a:r>
            <a:r>
              <a:rPr lang="en-US" sz="2250" baseline="30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50" dirty="0" smtClean="0">
                <a:latin typeface="Times New Roman" pitchFamily="18" charset="0"/>
                <a:cs typeface="Times New Roman" pitchFamily="18" charset="0"/>
              </a:rPr>
              <a:t>H </a:t>
            </a:r>
            <a:r>
              <a:rPr lang="en-US" sz="2250" dirty="0">
                <a:latin typeface="Times New Roman" pitchFamily="18" charset="0"/>
                <a:cs typeface="Times New Roman" pitchFamily="18" charset="0"/>
              </a:rPr>
              <a:t>NMR spectra would consist of one signal, which would tell us nothing about the structure of </a:t>
            </a:r>
            <a:r>
              <a:rPr lang="en-US" sz="2250" dirty="0" smtClean="0">
                <a:latin typeface="Times New Roman" pitchFamily="18" charset="0"/>
                <a:cs typeface="Times New Roman" pitchFamily="18" charset="0"/>
              </a:rPr>
              <a:t>the compound.</a:t>
            </a:r>
          </a:p>
        </p:txBody>
      </p:sp>
    </p:spTree>
    <p:extLst>
      <p:ext uri="{BB962C8B-B14F-4D97-AF65-F5344CB8AC3E}">
        <p14:creationId xmlns:p14="http://schemas.microsoft.com/office/powerpoint/2010/main" val="124303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71600" y="238780"/>
            <a:ext cx="6553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Magnetic Shielding </a:t>
            </a:r>
            <a:r>
              <a:rPr lang="en-US" altLang="zh-TW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by Electron</a:t>
            </a:r>
            <a:endParaRPr lang="en-US" altLang="zh-TW" sz="28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8600" y="5029200"/>
            <a:ext cx="83058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This effect is called local diamagnetic 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shielding.</a:t>
            </a: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274320" indent="-27432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shielding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varies for different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hydrogens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 a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molecule.</a:t>
            </a:r>
          </a:p>
          <a:p>
            <a:pPr marL="274320" indent="-27432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So,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all the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hydrogens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do not experience the same magnetic field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 descr="Image result for H NMR shielding and deshieldi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246549"/>
            <a:ext cx="7589520" cy="34778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84480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066802"/>
            <a:ext cx="3657600" cy="3171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7096" y="990601"/>
            <a:ext cx="3657600" cy="3126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9EEF1"/>
              </a:clrFrom>
              <a:clrTo>
                <a:srgbClr val="E9EEF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343400"/>
            <a:ext cx="8229600" cy="2423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371600" y="152400"/>
            <a:ext cx="6553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800" b="1" dirty="0" err="1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Deshielding</a:t>
            </a:r>
            <a:r>
              <a:rPr lang="en-US" altLang="zh-TW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altLang="zh-TW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and Shielding Effect</a:t>
            </a:r>
            <a:endParaRPr lang="en-US" altLang="zh-TW" sz="28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s3-us-west-2.amazonaws.com/courses-images/wp-content/uploads/sites/1518/2017/10/10143650/NMR2_Range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3602326"/>
            <a:ext cx="8961120" cy="3179474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28600" y="979438"/>
            <a:ext cx="86868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In nuclear magnetic resonance (NMR) spectroscopy, the </a:t>
            </a:r>
            <a:r>
              <a:rPr lang="en-US" sz="23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chemical shift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 is the resonant frequency of a nucleus relative to a standard (TMS) in a magnetic field.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369403"/>
            <a:ext cx="662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Tetramethylsilane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, (CH</a:t>
            </a:r>
            <a:r>
              <a:rPr lang="en-US" sz="23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3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Si, is the standard for </a:t>
            </a:r>
            <a:r>
              <a:rPr lang="en-US" sz="2300" baseline="30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H NMR which is set at 0.00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ppm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5" name="Picture 5" descr="Image result for Tetramethylsilan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39000" y="2238232"/>
            <a:ext cx="1371600" cy="962168"/>
          </a:xfrm>
          <a:prstGeom prst="rect">
            <a:avLst/>
          </a:prstGeom>
          <a:noFill/>
          <a:ln>
            <a:solidFill>
              <a:srgbClr val="660066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1371600" y="152400"/>
            <a:ext cx="6553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  <a:cs typeface="Times New Roman" pitchFamily="18" charset="0"/>
              </a:rPr>
              <a:t>Chemical Shift </a:t>
            </a:r>
            <a:r>
              <a:rPr lang="en-US" altLang="zh-TW" sz="28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  <a:cs typeface="Times New Roman" pitchFamily="18" charset="0"/>
              </a:rPr>
              <a:t>(ppm)</a:t>
            </a:r>
            <a:endParaRPr lang="en-US" altLang="zh-TW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5240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7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  <a:cs typeface="Times New Roman" pitchFamily="18" charset="0"/>
              </a:rPr>
              <a:t>Correlation of </a:t>
            </a:r>
            <a:r>
              <a:rPr lang="en-US" altLang="zh-TW" sz="2700" b="1" baseline="30000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  <a:cs typeface="Times New Roman" pitchFamily="18" charset="0"/>
              </a:rPr>
              <a:t>1</a:t>
            </a:r>
            <a:r>
              <a:rPr lang="en-US" altLang="zh-TW" sz="27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  <a:cs typeface="Times New Roman" pitchFamily="18" charset="0"/>
              </a:rPr>
              <a:t>H Chemical Shift </a:t>
            </a:r>
            <a:r>
              <a:rPr lang="en-US" altLang="zh-TW" sz="27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  <a:cs typeface="Times New Roman" pitchFamily="18" charset="0"/>
              </a:rPr>
              <a:t>with Environment</a:t>
            </a:r>
            <a:endParaRPr lang="en-US" altLang="zh-TW" sz="27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914400"/>
            <a:ext cx="4480560" cy="1717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3360" y="2819400"/>
            <a:ext cx="4206240" cy="3942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0" y="2819400"/>
            <a:ext cx="4480560" cy="3964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76200" y="990600"/>
            <a:ext cx="4267200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In general, protons bonded to saturated, </a:t>
            </a:r>
            <a:r>
              <a:rPr lang="en-US" sz="1900" i="1" dirty="0" smtClean="0">
                <a:latin typeface="Times New Roman" pitchFamily="18" charset="0"/>
                <a:cs typeface="Times New Roman" pitchFamily="18" charset="0"/>
              </a:rPr>
              <a:t>sp</a:t>
            </a:r>
            <a:r>
              <a:rPr lang="en-US" sz="1900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-hybridized carbons absorb at higher fields, whereas protons bonded to </a:t>
            </a:r>
            <a:r>
              <a:rPr lang="en-US" sz="1900" i="1" dirty="0" smtClean="0">
                <a:latin typeface="Times New Roman" pitchFamily="18" charset="0"/>
                <a:cs typeface="Times New Roman" pitchFamily="18" charset="0"/>
              </a:rPr>
              <a:t>sp</a:t>
            </a:r>
            <a:r>
              <a:rPr lang="en-US" sz="19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-hybridized carbons absorb at lower </a:t>
            </a:r>
            <a:br>
              <a:rPr lang="en-US" sz="19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fields.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371600" y="152400"/>
            <a:ext cx="6553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  <a:cs typeface="Times New Roman" pitchFamily="18" charset="0"/>
              </a:rPr>
              <a:t>Chemical Shift </a:t>
            </a:r>
            <a:r>
              <a:rPr lang="en-US" altLang="zh-TW" sz="28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  <a:cs typeface="Times New Roman" pitchFamily="18" charset="0"/>
              </a:rPr>
              <a:t>(ppm)</a:t>
            </a:r>
            <a:endParaRPr lang="en-US" altLang="zh-TW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304800" y="1612226"/>
            <a:ext cx="8534400" cy="4407574"/>
            <a:chOff x="381000" y="1281113"/>
            <a:chExt cx="8534400" cy="4407574"/>
          </a:xfrm>
        </p:grpSpPr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8175" y="1281113"/>
              <a:ext cx="7867650" cy="4295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Rectangle 9"/>
            <p:cNvSpPr/>
            <p:nvPr/>
          </p:nvSpPr>
          <p:spPr bwMode="auto">
            <a:xfrm>
              <a:off x="685800" y="3200400"/>
              <a:ext cx="838200" cy="4572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81000" y="3226713"/>
              <a:ext cx="1524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 smtClean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(1.1 ppm)</a:t>
              </a:r>
              <a:endPara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2209800" y="5181600"/>
              <a:ext cx="1066800" cy="4572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057400" y="5221897"/>
              <a:ext cx="1524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 smtClean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(2.6 ppm)</a:t>
              </a:r>
              <a:endPara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5181600" y="5257800"/>
              <a:ext cx="914400" cy="381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76800" y="5257800"/>
              <a:ext cx="1524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 smtClean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(2.7 ppm)</a:t>
              </a:r>
              <a:endPara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7696200" y="3139440"/>
              <a:ext cx="685800" cy="36576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391400" y="3124200"/>
              <a:ext cx="1524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 smtClean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(3.3 ppm)</a:t>
              </a:r>
              <a:endPara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6553200" y="1752600"/>
              <a:ext cx="685800" cy="4572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400800" y="1778913"/>
              <a:ext cx="1524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b="1" dirty="0" smtClean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(3.7 ppm)</a:t>
              </a:r>
              <a:endParaRPr lang="en-U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543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7477</TotalTime>
  <Words>683</Words>
  <Application>Microsoft Office PowerPoint</Application>
  <PresentationFormat>On-screen Show (4:3)</PresentationFormat>
  <Paragraphs>58</Paragraphs>
  <Slides>13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Blank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Tahmina Haque</dc:creator>
  <cp:lastModifiedBy>Class room</cp:lastModifiedBy>
  <cp:revision>1235</cp:revision>
  <dcterms:created xsi:type="dcterms:W3CDTF">2006-02-07T16:59:36Z</dcterms:created>
  <dcterms:modified xsi:type="dcterms:W3CDTF">2023-05-25T06:02:38Z</dcterms:modified>
</cp:coreProperties>
</file>