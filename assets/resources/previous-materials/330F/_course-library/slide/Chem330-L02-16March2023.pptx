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sldIdLst>
    <p:sldId id="691" r:id="rId2"/>
    <p:sldId id="730" r:id="rId3"/>
    <p:sldId id="693" r:id="rId4"/>
    <p:sldId id="707" r:id="rId5"/>
    <p:sldId id="722" r:id="rId6"/>
    <p:sldId id="723" r:id="rId7"/>
    <p:sldId id="725" r:id="rId8"/>
    <p:sldId id="724" r:id="rId9"/>
    <p:sldId id="700" r:id="rId10"/>
    <p:sldId id="705" r:id="rId11"/>
    <p:sldId id="721" r:id="rId12"/>
    <p:sldId id="732" r:id="rId13"/>
    <p:sldId id="728" r:id="rId14"/>
    <p:sldId id="729" r:id="rId15"/>
    <p:sldId id="714" r:id="rId16"/>
    <p:sldId id="734" r:id="rId17"/>
    <p:sldId id="727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99"/>
    <a:srgbClr val="FF0066"/>
    <a:srgbClr val="A20078"/>
    <a:srgbClr val="D60093"/>
    <a:srgbClr val="FFCDFF"/>
    <a:srgbClr val="A3E331"/>
    <a:srgbClr val="4FE719"/>
    <a:srgbClr val="00FF00"/>
    <a:srgbClr val="FBFBFB"/>
    <a:srgbClr val="FFFF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500" autoAdjust="0"/>
    <p:restoredTop sz="90929"/>
  </p:normalViewPr>
  <p:slideViewPr>
    <p:cSldViewPr>
      <p:cViewPr>
        <p:scale>
          <a:sx n="60" d="100"/>
          <a:sy n="60" d="100"/>
        </p:scale>
        <p:origin x="-882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16-Mar-23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80D7B-28CF-412F-B790-13805F3982C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CEF"/>
            </a:gs>
            <a:gs pos="22000">
              <a:srgbClr val="FBFBFB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Image:Twisting.gif" TargetMode="External"/><Relationship Id="rId13" Type="http://schemas.openxmlformats.org/officeDocument/2006/relationships/image" Target="http://upload.wikimedia.org/wikipedia/commons/8/84/Wagging.gif" TargetMode="External"/><Relationship Id="rId18" Type="http://schemas.openxmlformats.org/officeDocument/2006/relationships/image" Target="../media/image20.gif"/><Relationship Id="rId3" Type="http://schemas.openxmlformats.org/officeDocument/2006/relationships/image" Target="../media/image15.gif"/><Relationship Id="rId7" Type="http://schemas.openxmlformats.org/officeDocument/2006/relationships/image" Target="http://upload.wikimedia.org/wikipedia/commons/6/60/Scissoring.gif" TargetMode="External"/><Relationship Id="rId12" Type="http://schemas.openxmlformats.org/officeDocument/2006/relationships/image" Target="../media/image18.gif"/><Relationship Id="rId17" Type="http://schemas.openxmlformats.org/officeDocument/2006/relationships/hyperlink" Target="http://en.wikipedia.org/wiki/Image:Asymmetrical_stretching.gif" TargetMode="External"/><Relationship Id="rId2" Type="http://schemas.openxmlformats.org/officeDocument/2006/relationships/hyperlink" Target="http://en.wikipedia.org/wiki/Image:Symmetrical_stretching.gif" TargetMode="External"/><Relationship Id="rId16" Type="http://schemas.openxmlformats.org/officeDocument/2006/relationships/image" Target="http://upload.wikimedia.org/wikipedia/commons/6/6a/Rocking.gif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gif"/><Relationship Id="rId11" Type="http://schemas.openxmlformats.org/officeDocument/2006/relationships/hyperlink" Target="http://en.wikipedia.org/wiki/Image:Wagging.gif" TargetMode="External"/><Relationship Id="rId5" Type="http://schemas.openxmlformats.org/officeDocument/2006/relationships/hyperlink" Target="http://en.wikipedia.org/wiki/Image:Scissoring.gif" TargetMode="External"/><Relationship Id="rId15" Type="http://schemas.openxmlformats.org/officeDocument/2006/relationships/image" Target="../media/image19.gif"/><Relationship Id="rId10" Type="http://schemas.openxmlformats.org/officeDocument/2006/relationships/image" Target="http://upload.wikimedia.org/wikipedia/commons/4/40/Twisting.gif" TargetMode="External"/><Relationship Id="rId19" Type="http://schemas.openxmlformats.org/officeDocument/2006/relationships/image" Target="http://upload.wikimedia.org/wikipedia/commons/0/0c/Asymmetrical_stretching.gif" TargetMode="External"/><Relationship Id="rId4" Type="http://schemas.openxmlformats.org/officeDocument/2006/relationships/image" Target="http://upload.wikimedia.org/wikipedia/commons/0/0e/Symmetrical_stretching.gif" TargetMode="External"/><Relationship Id="rId9" Type="http://schemas.openxmlformats.org/officeDocument/2006/relationships/image" Target="../media/image17.gif"/><Relationship Id="rId14" Type="http://schemas.openxmlformats.org/officeDocument/2006/relationships/hyperlink" Target="http://en.wikipedia.org/wiki/Image:Rocking.gi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971577" y="3657600"/>
            <a:ext cx="37914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US" sz="4400" b="1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p</a:t>
            </a:r>
            <a:r>
              <a:rPr lang="en-US" sz="4400" b="1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e</a:t>
            </a:r>
            <a:r>
              <a:rPr lang="en-US" sz="4400" b="1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c</a:t>
            </a:r>
            <a:r>
              <a:rPr lang="en-US" sz="4400" b="1" dirty="0" smtClean="0">
                <a:solidFill>
                  <a:srgbClr val="00B0F0"/>
                </a:solidFill>
                <a:latin typeface="Comic Sans MS" panose="030F0702030302020204" pitchFamily="66" charset="0"/>
              </a:rPr>
              <a:t>t</a:t>
            </a:r>
            <a:r>
              <a:rPr lang="en-US" sz="4400" b="1" dirty="0" smtClean="0">
                <a:solidFill>
                  <a:srgbClr val="0000FF"/>
                </a:solidFill>
                <a:latin typeface="Comic Sans MS" panose="030F0702030302020204" pitchFamily="66" charset="0"/>
              </a:rPr>
              <a:t>r</a:t>
            </a:r>
            <a:r>
              <a:rPr lang="en-US" sz="4400" b="1" dirty="0" smtClean="0">
                <a:solidFill>
                  <a:srgbClr val="CC0099"/>
                </a:solidFill>
                <a:latin typeface="Comic Sans MS" panose="030F0702030302020204" pitchFamily="66" charset="0"/>
              </a:rPr>
              <a:t>o</a:t>
            </a:r>
            <a:r>
              <a:rPr lang="en-US" sz="4400" b="1" dirty="0" smtClean="0">
                <a:solidFill>
                  <a:srgbClr val="FF5050"/>
                </a:solidFill>
                <a:latin typeface="Comic Sans MS" panose="030F0702030302020204" pitchFamily="66" charset="0"/>
              </a:rPr>
              <a:t>s</a:t>
            </a:r>
            <a:r>
              <a:rPr lang="en-US" sz="44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copy</a:t>
            </a:r>
            <a:endParaRPr lang="en-US" sz="4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7987F46-F22D-4314-B239-C75F94E3B83D}"/>
              </a:ext>
            </a:extLst>
          </p:cNvPr>
          <p:cNvSpPr txBox="1"/>
          <p:nvPr/>
        </p:nvSpPr>
        <p:spPr>
          <a:xfrm>
            <a:off x="6934201" y="204984"/>
            <a:ext cx="2209799" cy="4770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5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1</a:t>
            </a:r>
            <a:endParaRPr lang="en-US" sz="25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204984"/>
            <a:ext cx="31535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5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5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911816"/>
            <a:ext cx="4114800" cy="239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2297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83763" y="381000"/>
            <a:ext cx="44374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Infrared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Spectroscopy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" y="1219200"/>
            <a:ext cx="8595361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infrared (IR)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region of the electromagnetic spectrum covers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range from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just above the visible (7.8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10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‒5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⁓10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‒2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cm,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but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only 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midportion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from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2.5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‒4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2.5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‒3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used by organic chemists.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Clr>
                <a:srgbClr val="FF0000"/>
              </a:buClr>
              <a:buFont typeface="Arial" pitchFamily="34" charset="0"/>
              <a:buChar char="•"/>
            </a:pPr>
            <a:r>
              <a:rPr lang="en-US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So, the </a:t>
            </a:r>
            <a:r>
              <a:rPr lang="en-US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useful</a:t>
            </a:r>
            <a:r>
              <a:rPr lang="en-US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IR region is 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from 4000 to </a:t>
            </a:r>
            <a:r>
              <a:rPr lang="en-US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400 cm</a:t>
            </a:r>
            <a:r>
              <a:rPr lang="en-US" b="1" baseline="300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‒1</a:t>
            </a:r>
            <a:r>
              <a:rPr lang="en-US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" y="3887444"/>
            <a:ext cx="8869680" cy="2818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71438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152400" y="4038600"/>
            <a:ext cx="8778240" cy="2667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" y="1286232"/>
            <a:ext cx="85344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Aft>
                <a:spcPts val="2400"/>
              </a:spcAft>
              <a:buClr>
                <a:srgbClr val="FF0066"/>
              </a:buClr>
              <a:buSzPct val="120000"/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infrared light radiations between 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4000 – 400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</a:rPr>
              <a:t>-1 </a:t>
            </a:r>
            <a:r>
              <a:rPr lang="en-US" sz="2300" baseline="30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passed through a sample of an organic compound, some of these radiations are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absorbed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by the sample and are </a:t>
            </a:r>
            <a:r>
              <a:rPr lang="en-US" sz="23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converted into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energy of molecular vibrations. 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pPr marL="274320" indent="-274320" algn="just">
              <a:spcAft>
                <a:spcPts val="2400"/>
              </a:spcAft>
              <a:buClr>
                <a:srgbClr val="FF0066"/>
              </a:buClr>
              <a:buSzPct val="120000"/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When the radiant energy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matches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energy of a specific molecular vibration,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absorption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occurs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 descr="Best Infrared Spectroscopy GIFs | Gfycat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973290"/>
            <a:ext cx="4572000" cy="257991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383763" y="381000"/>
            <a:ext cx="443743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Infrared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Spectroscopy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02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0" y="203109"/>
            <a:ext cx="601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IR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Absorbance 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Spectrum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6700" y="914400"/>
            <a:ext cx="85725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600"/>
              </a:spcAft>
              <a:buClr>
                <a:srgbClr val="FF0066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 IR spectrometer measures the percent transmittance as a function of frequency.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spcAft>
                <a:spcPts val="600"/>
              </a:spcAft>
              <a:buClr>
                <a:srgbClr val="FF0066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 plot of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% transmittance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against </a:t>
            </a:r>
            <a:r>
              <a:rPr lang="en-US" sz="2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wavenumber (cm</a:t>
            </a:r>
            <a:r>
              <a:rPr lang="en-US" sz="2200" baseline="300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‒1</a:t>
            </a:r>
            <a:r>
              <a:rPr lang="en-US" sz="2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called the infrared spectrum of the compound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buClr>
                <a:srgbClr val="FF0066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presence of such 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characteristic vibrational bands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an infrared spectrum indicates the presence of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specific bonds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 the sample under investigation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744763"/>
            <a:ext cx="8686800" cy="288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87308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CEF"/>
            </a:gs>
            <a:gs pos="22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://www.dynamicscience.com.au/tester/solutions1/chemistry/analytical%20chem/irstretchethanol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60" y="2438400"/>
            <a:ext cx="4663440" cy="42748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9480560"/>
              </p:ext>
            </p:extLst>
          </p:nvPr>
        </p:nvGraphicFramePr>
        <p:xfrm>
          <a:off x="7040880" y="2574574"/>
          <a:ext cx="1645920" cy="1386972"/>
        </p:xfrm>
        <a:graphic>
          <a:graphicData uri="http://schemas.openxmlformats.org/presentationml/2006/ole">
            <p:oleObj spid="_x0000_s18476" name="CS ChemDraw Drawing" r:id="rId4" imgW="736560" imgH="621000" progId="ChemDraw.Document.6.0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6226" y="1135559"/>
            <a:ext cx="8229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66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Lets have a look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at the molecular structure of ethanol and how it generates an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spectrum.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" y="203109"/>
            <a:ext cx="601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IR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Absorbance 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Spectrum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6226" y="2133600"/>
            <a:ext cx="35337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Ethanol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has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number of different types of covalent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bonds, namely: </a:t>
            </a:r>
            <a:endParaRPr lang="en-US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733426" y="3352800"/>
            <a:ext cx="13096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—H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C—H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C—C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C—</a:t>
            </a:r>
            <a:r>
              <a:rPr lang="en-US" sz="2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endParaRPr lang="en-US" sz="22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6226" y="4953000"/>
            <a:ext cx="35337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66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Each bond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has its characteristic wavelength which it absorbs in order to </a:t>
            </a:r>
            <a:r>
              <a:rPr lang="en-US" sz="22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200" b="1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264164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90600" y="203109"/>
            <a:ext cx="685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Stretching</a:t>
            </a:r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</a:t>
            </a:r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solidFill>
                  <a:srgbClr val="A200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Bending</a:t>
            </a:r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Vibration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990600"/>
            <a:ext cx="7756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 bond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vibrates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 both </a:t>
            </a:r>
            <a:r>
              <a:rPr lang="en-US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motions: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769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66"/>
              </a:buClr>
              <a:buSzPct val="80000"/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i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 vibration occurring along the line of the bond; a stretching vibration </a:t>
            </a:r>
            <a:r>
              <a:rPr lang="en-US" sz="22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changes </a:t>
            </a:r>
            <a:r>
              <a:rPr lang="en-US" sz="22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the bond length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8400"/>
            <a:ext cx="769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A20078"/>
              </a:buClr>
              <a:buSzPct val="80000"/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b="1" i="1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 vibration that does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not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occur along the line of the bond; a bending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vibration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changes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bond angle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80" y="3471032"/>
            <a:ext cx="2103120" cy="1405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04800" y="3447871"/>
            <a:ext cx="5715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diatomic molecule such as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H—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Cl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can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undergo only a </a:t>
            </a:r>
            <a:r>
              <a:rPr lang="en-US" sz="22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vibration</a:t>
            </a:r>
            <a:r>
              <a:rPr lang="en-US" sz="22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because it has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no bond angles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pic>
        <p:nvPicPr>
          <p:cNvPr id="20484" name="Picture 4" descr="https://specac.com/wp-content/uploads/2022/05/Animation-Fig-5a1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648200" y="525780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 descr="https://specac.com/wp-content/uploads/2022/05/Animation-Fig-5b.gif"/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073140" y="525780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8" name="Picture 8" descr="https://specac.com/wp-content/uploads/2022/05/Animation-Fig-5c.gif"/>
          <p:cNvPicPr>
            <a:picLocks noChangeAspect="1" noChangeArrowheads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498080" y="525780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04800" y="5227319"/>
            <a:ext cx="39395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(triatomic molecule) can undergo both </a:t>
            </a:r>
            <a:r>
              <a:rPr lang="en-US" sz="22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b="1" dirty="0" smtClean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2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vibrations.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9667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CEF"/>
            </a:gs>
            <a:gs pos="22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1143000"/>
            <a:ext cx="8458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So, the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vibrations of a molecule containing </a:t>
            </a:r>
            <a:r>
              <a:rPr lang="en-US" sz="23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three or more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atoms are more complex because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they include </a:t>
            </a:r>
            <a:r>
              <a:rPr lang="en-US" sz="23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300" b="1" dirty="0" smtClean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03109"/>
            <a:ext cx="6858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smtClean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Stretching</a:t>
            </a:r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</a:t>
            </a:r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solidFill>
                  <a:srgbClr val="A200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Bending</a:t>
            </a:r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Vibration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3581"/>
          <a:stretch/>
        </p:blipFill>
        <p:spPr bwMode="auto">
          <a:xfrm>
            <a:off x="381000" y="4052888"/>
            <a:ext cx="4114800" cy="2119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486358"/>
            <a:ext cx="1097280" cy="1121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960" y="4486357"/>
            <a:ext cx="1097280" cy="1105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36"/>
          <p:cNvSpPr txBox="1">
            <a:spLocks noChangeArrowheads="1"/>
          </p:cNvSpPr>
          <p:nvPr/>
        </p:nvSpPr>
        <p:spPr bwMode="auto">
          <a:xfrm>
            <a:off x="4876800" y="3429000"/>
            <a:ext cx="1981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Symmetric</a:t>
            </a:r>
          </a:p>
          <a:p>
            <a:pPr algn="ctr">
              <a:spcBef>
                <a:spcPts val="0"/>
              </a:spcBef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Stretch.</a:t>
            </a:r>
            <a:endParaRPr lang="en-US" sz="22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Box 36"/>
          <p:cNvSpPr txBox="1">
            <a:spLocks noChangeArrowheads="1"/>
          </p:cNvSpPr>
          <p:nvPr/>
        </p:nvSpPr>
        <p:spPr bwMode="auto">
          <a:xfrm>
            <a:off x="7086600" y="3429000"/>
            <a:ext cx="1752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2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Asymmetric</a:t>
            </a:r>
          </a:p>
          <a:p>
            <a:pPr algn="ctr">
              <a:spcBef>
                <a:spcPts val="0"/>
              </a:spcBef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Stretch.</a:t>
            </a:r>
            <a:endParaRPr lang="en-US" sz="2200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57800" y="5772090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⁓2872 cm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‒1</a:t>
            </a:r>
            <a:endParaRPr lang="en-US" sz="20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62800" y="5772090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⁓2962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‒1</a:t>
            </a:r>
            <a:endParaRPr lang="en-US" sz="20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Box 41"/>
          <p:cNvSpPr txBox="1">
            <a:spLocks noChangeArrowheads="1"/>
          </p:cNvSpPr>
          <p:nvPr/>
        </p:nvSpPr>
        <p:spPr bwMode="auto">
          <a:xfrm>
            <a:off x="838200" y="3424535"/>
            <a:ext cx="33147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dirty="0" smtClean="0">
                <a:ln w="1905"/>
                <a:solidFill>
                  <a:srgbClr val="FF0066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Stretching</a:t>
            </a:r>
            <a:r>
              <a:rPr lang="en-US" sz="2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Vibrations</a:t>
            </a:r>
            <a:endParaRPr lang="en-US" sz="22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2095381"/>
            <a:ext cx="8458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b="1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vibrations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moreover,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can be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symmetric or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asymmetric.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700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CEF"/>
            </a:gs>
            <a:gs pos="22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0999" y="1176516"/>
            <a:ext cx="8458201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300" b="1" dirty="0" smtClean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vibrations can be either </a:t>
            </a:r>
            <a:r>
              <a:rPr lang="en-US" sz="23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in-plane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out-of-plane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ts val="3000"/>
              </a:lnSpc>
              <a:buFont typeface="Arial" pitchFamily="34" charset="0"/>
              <a:buChar char="•"/>
            </a:pPr>
            <a:r>
              <a:rPr lang="en-US" sz="2300" b="1" dirty="0" smtClean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vibrations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are often referred to by the terms </a:t>
            </a:r>
            <a:r>
              <a:rPr lang="en-US" sz="2300" b="1" i="1" dirty="0">
                <a:latin typeface="Times New Roman" pitchFamily="18" charset="0"/>
                <a:cs typeface="Times New Roman" pitchFamily="18" charset="0"/>
              </a:rPr>
              <a:t>rock, scissor, wag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3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b="1" i="1" dirty="0">
                <a:latin typeface="Times New Roman" pitchFamily="18" charset="0"/>
                <a:cs typeface="Times New Roman" pitchFamily="18" charset="0"/>
              </a:rPr>
              <a:t>twist</a:t>
            </a:r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3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4859"/>
          <a:stretch/>
        </p:blipFill>
        <p:spPr bwMode="auto">
          <a:xfrm>
            <a:off x="121920" y="4024663"/>
            <a:ext cx="8869680" cy="2452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 Box 41"/>
          <p:cNvSpPr txBox="1">
            <a:spLocks noChangeArrowheads="1"/>
          </p:cNvSpPr>
          <p:nvPr/>
        </p:nvSpPr>
        <p:spPr bwMode="auto">
          <a:xfrm>
            <a:off x="2933700" y="3119437"/>
            <a:ext cx="29718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600" b="1" dirty="0" smtClean="0">
                <a:ln w="1905"/>
                <a:solidFill>
                  <a:srgbClr val="A20078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 Vibrations</a:t>
            </a:r>
            <a:endParaRPr lang="en-US" sz="26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203109"/>
            <a:ext cx="6858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smtClean="0">
                <a:ln w="1905"/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Stretching</a:t>
            </a:r>
            <a:r>
              <a:rPr lang="en-US" sz="2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</a:t>
            </a:r>
            <a:r>
              <a:rPr lang="en-US" sz="2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ln w="1905"/>
                <a:solidFill>
                  <a:srgbClr val="A200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Bending</a:t>
            </a:r>
            <a:r>
              <a:rPr lang="en-US" sz="2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Vibration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933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2425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2" name="Picture 11" descr="symmetrical stretching">
            <a:hlinkClick r:id="rId2" tooltip="&quot;symmetrical stretching&quot;"/>
          </p:cNvPr>
          <p:cNvPicPr>
            <a:picLocks noChangeAspect="1" noChangeArrowheads="1"/>
          </p:cNvPicPr>
          <p:nvPr/>
        </p:nvPicPr>
        <p:blipFill>
          <a:blip r:embed="rId3" r:link="rId4"/>
          <a:srcRect/>
          <a:stretch>
            <a:fillRect/>
          </a:stretch>
        </p:blipFill>
        <p:spPr bwMode="auto">
          <a:xfrm>
            <a:off x="975360" y="2083713"/>
            <a:ext cx="2377440" cy="169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scissoring">
            <a:hlinkClick r:id="rId5" tooltip="scissoring"/>
          </p:cNvPr>
          <p:cNvPicPr>
            <a:picLocks noChangeAspect="1" noChangeArrowheads="1"/>
          </p:cNvPicPr>
          <p:nvPr/>
        </p:nvPicPr>
        <p:blipFill>
          <a:blip r:embed="rId6" r:link="rId7"/>
          <a:srcRect/>
          <a:stretch>
            <a:fillRect/>
          </a:stretch>
        </p:blipFill>
        <p:spPr bwMode="auto">
          <a:xfrm>
            <a:off x="4419600" y="2083713"/>
            <a:ext cx="20002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twisting">
            <a:hlinkClick r:id="rId8" tooltip="twisting"/>
          </p:cNvPr>
          <p:cNvPicPr>
            <a:picLocks noChangeAspect="1" noChangeArrowheads="1"/>
          </p:cNvPicPr>
          <p:nvPr/>
        </p:nvPicPr>
        <p:blipFill>
          <a:blip r:embed="rId9" r:link="rId10"/>
          <a:srcRect/>
          <a:stretch>
            <a:fillRect/>
          </a:stretch>
        </p:blipFill>
        <p:spPr bwMode="auto">
          <a:xfrm>
            <a:off x="4495800" y="4729163"/>
            <a:ext cx="20002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wagging">
            <a:hlinkClick r:id="rId11" tooltip="wagging"/>
          </p:cNvPr>
          <p:cNvPicPr>
            <a:picLocks noChangeAspect="1" noChangeArrowheads="1"/>
          </p:cNvPicPr>
          <p:nvPr/>
        </p:nvPicPr>
        <p:blipFill>
          <a:blip r:embed="rId12" r:link="rId13"/>
          <a:srcRect/>
          <a:stretch>
            <a:fillRect/>
          </a:stretch>
        </p:blipFill>
        <p:spPr bwMode="auto">
          <a:xfrm>
            <a:off x="6781800" y="4733925"/>
            <a:ext cx="20002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6" descr="rocking">
            <a:hlinkClick r:id="rId14" tooltip="rocking"/>
          </p:cNvPr>
          <p:cNvPicPr>
            <a:picLocks noChangeAspect="1" noChangeArrowheads="1"/>
          </p:cNvPicPr>
          <p:nvPr/>
        </p:nvPicPr>
        <p:blipFill>
          <a:blip r:embed="rId15" r:link="rId16"/>
          <a:srcRect/>
          <a:stretch>
            <a:fillRect/>
          </a:stretch>
        </p:blipFill>
        <p:spPr bwMode="auto">
          <a:xfrm>
            <a:off x="6781800" y="2159913"/>
            <a:ext cx="20002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" name="Text Box 36"/>
          <p:cNvSpPr txBox="1">
            <a:spLocks noChangeArrowheads="1"/>
          </p:cNvSpPr>
          <p:nvPr/>
        </p:nvSpPr>
        <p:spPr bwMode="auto">
          <a:xfrm>
            <a:off x="762000" y="1805226"/>
            <a:ext cx="32004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(a) Symmetric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09600" y="4267200"/>
            <a:ext cx="3429000" cy="1996848"/>
            <a:chOff x="609600" y="4267200"/>
            <a:chExt cx="3429000" cy="1996848"/>
          </a:xfrm>
        </p:grpSpPr>
        <p:pic>
          <p:nvPicPr>
            <p:cNvPr id="13" name="Picture 12" descr="asymmetrical stretching">
              <a:hlinkClick r:id="rId17" tooltip="&quot;asymmetrical stretching&quot;"/>
            </p:cNvPr>
            <p:cNvPicPr>
              <a:picLocks noChangeAspect="1" noChangeArrowheads="1"/>
            </p:cNvPicPr>
            <p:nvPr/>
          </p:nvPicPr>
          <p:blipFill>
            <a:blip r:embed="rId18" r:link="rId19"/>
            <a:srcRect/>
            <a:stretch>
              <a:fillRect/>
            </a:stretch>
          </p:blipFill>
          <p:spPr bwMode="auto">
            <a:xfrm>
              <a:off x="938213" y="4648200"/>
              <a:ext cx="2262187" cy="16158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Text Box 37"/>
            <p:cNvSpPr txBox="1">
              <a:spLocks noChangeArrowheads="1"/>
            </p:cNvSpPr>
            <p:nvPr/>
          </p:nvSpPr>
          <p:spPr bwMode="auto">
            <a:xfrm>
              <a:off x="609600" y="4267200"/>
              <a:ext cx="342900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 dirty="0" smtClean="0">
                  <a:latin typeface="Times New Roman" pitchFamily="18" charset="0"/>
                  <a:cs typeface="Times New Roman" pitchFamily="18" charset="0"/>
                </a:rPr>
                <a:t>(b) Asymmetric </a:t>
              </a:r>
              <a:r>
                <a:rPr lang="en-US" sz="2200" dirty="0">
                  <a:solidFill>
                    <a:srgbClr val="FF0066"/>
                  </a:solidFill>
                  <a:latin typeface="Times New Roman" pitchFamily="18" charset="0"/>
                  <a:cs typeface="Times New Roman" pitchFamily="18" charset="0"/>
                </a:rPr>
                <a:t>stretching</a:t>
              </a:r>
            </a:p>
          </p:txBody>
        </p:sp>
      </p:grpSp>
      <p:sp>
        <p:nvSpPr>
          <p:cNvPr id="25" name="Text Box 38"/>
          <p:cNvSpPr txBox="1">
            <a:spLocks noChangeArrowheads="1"/>
          </p:cNvSpPr>
          <p:nvPr/>
        </p:nvSpPr>
        <p:spPr bwMode="auto">
          <a:xfrm>
            <a:off x="609600" y="1088350"/>
            <a:ext cx="3352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Stretching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Vibrations</a:t>
            </a:r>
          </a:p>
        </p:txBody>
      </p:sp>
      <p:sp>
        <p:nvSpPr>
          <p:cNvPr id="27" name="Text Box 41"/>
          <p:cNvSpPr txBox="1">
            <a:spLocks noChangeArrowheads="1"/>
          </p:cNvSpPr>
          <p:nvPr/>
        </p:nvSpPr>
        <p:spPr bwMode="auto">
          <a:xfrm>
            <a:off x="5257800" y="1088350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400" dirty="0" smtClean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Vibrations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Box 42"/>
          <p:cNvSpPr txBox="1">
            <a:spLocks noChangeArrowheads="1"/>
          </p:cNvSpPr>
          <p:nvPr/>
        </p:nvSpPr>
        <p:spPr bwMode="auto">
          <a:xfrm>
            <a:off x="5353050" y="1805226"/>
            <a:ext cx="26670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In-plane </a:t>
            </a:r>
            <a:r>
              <a:rPr lang="en-US" sz="2200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</a:p>
        </p:txBody>
      </p:sp>
      <p:sp>
        <p:nvSpPr>
          <p:cNvPr id="29" name="Text Box 43"/>
          <p:cNvSpPr txBox="1">
            <a:spLocks noChangeArrowheads="1"/>
          </p:cNvSpPr>
          <p:nvPr/>
        </p:nvSpPr>
        <p:spPr bwMode="auto">
          <a:xfrm>
            <a:off x="4667250" y="3683913"/>
            <a:ext cx="17526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dirty="0" smtClean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Scissoring </a:t>
            </a:r>
            <a:endParaRPr lang="en-US" sz="2200" b="1" dirty="0">
              <a:solidFill>
                <a:srgbClr val="D6009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7029450" y="3683913"/>
            <a:ext cx="14478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dirty="0" smtClean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Rocking </a:t>
            </a:r>
            <a:endParaRPr lang="en-US" sz="2200" b="1" dirty="0">
              <a:solidFill>
                <a:srgbClr val="D6009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4953000" y="6248400"/>
            <a:ext cx="131445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b="1" dirty="0" smtClean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Twisting</a:t>
            </a:r>
            <a:endParaRPr lang="en-US" sz="2200" b="1" dirty="0">
              <a:solidFill>
                <a:srgbClr val="D6009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Box 46"/>
          <p:cNvSpPr txBox="1">
            <a:spLocks noChangeArrowheads="1"/>
          </p:cNvSpPr>
          <p:nvPr/>
        </p:nvSpPr>
        <p:spPr bwMode="auto">
          <a:xfrm>
            <a:off x="7162800" y="6248400"/>
            <a:ext cx="13716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b="1" dirty="0" smtClean="0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Wagging </a:t>
            </a:r>
            <a:endParaRPr lang="en-US" sz="2200" b="1" dirty="0">
              <a:solidFill>
                <a:srgbClr val="D6009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Box 47"/>
          <p:cNvSpPr txBox="1">
            <a:spLocks noChangeArrowheads="1"/>
          </p:cNvSpPr>
          <p:nvPr/>
        </p:nvSpPr>
        <p:spPr bwMode="auto">
          <a:xfrm>
            <a:off x="5276850" y="4267200"/>
            <a:ext cx="320040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Out-of-plane </a:t>
            </a:r>
            <a:r>
              <a:rPr lang="en-US" sz="2200" dirty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600" y="203109"/>
            <a:ext cx="6858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smtClean="0">
                <a:ln w="1905"/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Stretching</a:t>
            </a:r>
            <a:r>
              <a:rPr lang="en-US" sz="2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and</a:t>
            </a:r>
            <a:r>
              <a:rPr lang="en-US" sz="2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ln w="1905"/>
                <a:solidFill>
                  <a:srgbClr val="A200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Bending</a:t>
            </a:r>
            <a:r>
              <a:rPr lang="en-US" sz="2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Vibration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cxnSp>
        <p:nvCxnSpPr>
          <p:cNvPr id="26" name="Straight Connector 25"/>
          <p:cNvCxnSpPr/>
          <p:nvPr/>
        </p:nvCxnSpPr>
        <p:spPr bwMode="auto">
          <a:xfrm>
            <a:off x="624840" y="1626513"/>
            <a:ext cx="310896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Connector 36"/>
          <p:cNvCxnSpPr/>
          <p:nvPr/>
        </p:nvCxnSpPr>
        <p:spPr bwMode="auto">
          <a:xfrm>
            <a:off x="4941570" y="1626513"/>
            <a:ext cx="356616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="" xmlns:p14="http://schemas.microsoft.com/office/powerpoint/2010/main" val="409277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90600"/>
            <a:ext cx="8686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just">
              <a:spcAft>
                <a:spcPts val="1200"/>
              </a:spcAft>
              <a:buClr>
                <a:srgbClr val="FF0000"/>
              </a:buClr>
              <a:buSzPct val="81000"/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Molecular vibrations which will lead to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change in the dipole moment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of the molecule will give rise to absorption bands in the infrared.</a:t>
            </a:r>
          </a:p>
          <a:p>
            <a:pPr marL="274320" indent="-274320" algn="just">
              <a:buClr>
                <a:srgbClr val="FF0000"/>
              </a:buClr>
              <a:buSzPct val="81000"/>
              <a:buFont typeface="Wingdings" pitchFamily="2" charset="2"/>
              <a:buChar char="Ø"/>
            </a:pP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Symmetric bonds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such as those of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aseline="-250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2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Cl</a:t>
            </a:r>
            <a:r>
              <a:rPr lang="en-US" sz="2200" baseline="-25000" dirty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do not absorb infrared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radiation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8821" y="3352800"/>
            <a:ext cx="5760720" cy="3361972"/>
          </a:xfrm>
          <a:prstGeom prst="rect">
            <a:avLst/>
          </a:prstGeom>
          <a:noFill/>
          <a:ln w="9525">
            <a:solidFill>
              <a:srgbClr val="FF99CC"/>
            </a:solidFill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67000" y="2568714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Asymmetric Stretch.</a:t>
            </a:r>
            <a:endParaRPr lang="en-US" sz="2000" b="1" dirty="0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43400" y="2568714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Symmetric Stretch.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0" y="2644914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A20078"/>
                </a:solidFill>
                <a:latin typeface="Times New Roman" pitchFamily="18" charset="0"/>
                <a:cs typeface="Times New Roman" pitchFamily="18" charset="0"/>
              </a:rPr>
              <a:t>Bending</a:t>
            </a:r>
            <a:endParaRPr lang="en-US" sz="2000" b="1" dirty="0">
              <a:solidFill>
                <a:srgbClr val="A20078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0600" y="203109"/>
            <a:ext cx="73914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Not All Bond 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Vibrations are IR Active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9447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1F4FD"/>
              </a:clrFrom>
              <a:clrTo>
                <a:srgbClr val="E1F4FD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28800"/>
            <a:ext cx="8869680" cy="42146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219200" y="228600"/>
            <a:ext cx="6705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latin typeface="Comic Sans MS" pitchFamily="66" charset="0"/>
              </a:rPr>
              <a:t>Characteristic Infrared Absorptions </a:t>
            </a:r>
            <a:r>
              <a:rPr lang="en-US" sz="2900" b="1" dirty="0">
                <a:latin typeface="Comic Sans MS" pitchFamily="66" charset="0"/>
              </a:rPr>
              <a:t>of Some Functional Groups</a:t>
            </a:r>
            <a:r>
              <a:rPr lang="en-US" sz="2900" dirty="0">
                <a:latin typeface="Comic Sans MS" pitchFamily="66" charset="0"/>
              </a:rPr>
              <a:t> 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5776769"/>
            <a:ext cx="5619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9092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19200" y="228600"/>
            <a:ext cx="67056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rgbClr val="FF0000"/>
                </a:solidFill>
                <a:latin typeface="Comic Sans MS" pitchFamily="66" charset="0"/>
              </a:rPr>
              <a:t>Characteristic Infrared Absorptions </a:t>
            </a:r>
            <a:r>
              <a:rPr lang="en-US" sz="2900" b="1" dirty="0">
                <a:latin typeface="Comic Sans MS" pitchFamily="66" charset="0"/>
              </a:rPr>
              <a:t>of Some Functional Groups</a:t>
            </a:r>
            <a:r>
              <a:rPr lang="en-US" sz="2900" dirty="0">
                <a:latin typeface="Comic Sans MS" pitchFamily="66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4800" y="1600200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stretching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frequencies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groups such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C-H, N-H,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O-H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all occur at relatively high frequencies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2438400"/>
            <a:ext cx="6162675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4800" y="4267200"/>
            <a:ext cx="79592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triple bonds vibrate at higher frequencies than double bonds: 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4837367"/>
            <a:ext cx="603885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10134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28600" y="991850"/>
            <a:ext cx="8686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stretching frequency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of a bond can be approximated by Hooke’s Law. In this approximation, two atoms and the connecting bond are treated as a simple harmonic oscillator composed of 2 masses (atoms) joined by a spring: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2612869"/>
            <a:ext cx="2295041" cy="739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28600" y="3687395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According to Hooke’s law, 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natural frequency of vibration of a bond</a:t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given by the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equation: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00120" y="228600"/>
            <a:ext cx="3200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Hooke’s 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Law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800600"/>
            <a:ext cx="2468880" cy="1587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4038600" y="4724400"/>
            <a:ext cx="4831772" cy="1723549"/>
            <a:chOff x="4495800" y="4754195"/>
            <a:chExt cx="4831772" cy="1723549"/>
          </a:xfrm>
        </p:grpSpPr>
        <p:sp>
          <p:nvSpPr>
            <p:cNvPr id="14" name="TextBox 13"/>
            <p:cNvSpPr txBox="1"/>
            <p:nvPr/>
          </p:nvSpPr>
          <p:spPr>
            <a:xfrm>
              <a:off x="4495800" y="4754195"/>
              <a:ext cx="4831772" cy="1723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where</a:t>
              </a:r>
              <a:r>
                <a:rPr lang="en-US" i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</a:p>
            <a:p>
              <a:r>
                <a:rPr lang="en-US" b="1" i="1" dirty="0" smtClean="0">
                  <a:latin typeface="Times New Roman" pitchFamily="18" charset="0"/>
                  <a:cs typeface="Times New Roman" pitchFamily="18" charset="0"/>
                </a:rPr>
                <a:t>K  =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the force constant</a:t>
              </a:r>
            </a:p>
            <a:p>
              <a:pPr>
                <a:spcAft>
                  <a:spcPts val="600"/>
                </a:spcAft>
              </a:pPr>
              <a:r>
                <a:rPr lang="el-GR" b="1" i="1" dirty="0" smtClean="0">
                  <a:latin typeface="Times New Roman" pitchFamily="18" charset="0"/>
                  <a:cs typeface="Times New Roman" pitchFamily="18" charset="0"/>
                </a:rPr>
                <a:t>μ</a:t>
              </a:r>
              <a:r>
                <a:rPr lang="en-US" b="1" i="1" dirty="0" smtClean="0">
                  <a:latin typeface="Times New Roman" pitchFamily="18" charset="0"/>
                  <a:cs typeface="Times New Roman" pitchFamily="18" charset="0"/>
                </a:rPr>
                <a:t>   = </a:t>
              </a:r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the reduced mass</a:t>
              </a:r>
            </a:p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   =  the wavenumber of the vibration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1945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5800" y="6029324"/>
              <a:ext cx="274320" cy="327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Rounded Rectangle 1"/>
          <p:cNvSpPr/>
          <p:nvPr/>
        </p:nvSpPr>
        <p:spPr bwMode="auto">
          <a:xfrm>
            <a:off x="533400" y="4800600"/>
            <a:ext cx="2895600" cy="1587139"/>
          </a:xfrm>
          <a:prstGeom prst="roundRect">
            <a:avLst/>
          </a:prstGeom>
          <a:noFill/>
          <a:ln w="9525" cap="flat" cmpd="sng" algn="ctr">
            <a:solidFill>
              <a:srgbClr val="FFCDFF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464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83159"/>
            <a:ext cx="8763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Hooke’s Law expression given earlier may be transformed into a very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useful equation as follows: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3733800" y="2209800"/>
            <a:ext cx="5038241" cy="762000"/>
            <a:chOff x="3962400" y="1981200"/>
            <a:chExt cx="5038241" cy="762000"/>
          </a:xfrm>
        </p:grpSpPr>
        <p:pic>
          <p:nvPicPr>
            <p:cNvPr id="5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962400" y="1981200"/>
              <a:ext cx="2493816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705600" y="1981200"/>
              <a:ext cx="2295041" cy="7399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8" name="TextBox 7"/>
          <p:cNvSpPr txBox="1"/>
          <p:nvPr/>
        </p:nvSpPr>
        <p:spPr>
          <a:xfrm>
            <a:off x="838200" y="3505200"/>
            <a:ext cx="976358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0120" y="228600"/>
            <a:ext cx="3200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Hooke’s </a:t>
            </a:r>
            <a:r>
              <a:rPr lang="en-US" sz="2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Law</a:t>
            </a:r>
            <a:endParaRPr lang="en-US" sz="2900" b="1" dirty="0">
              <a:ln w="1905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45" y="2019300"/>
            <a:ext cx="19716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Group 19"/>
          <p:cNvGrpSpPr/>
          <p:nvPr/>
        </p:nvGrpSpPr>
        <p:grpSpPr>
          <a:xfrm>
            <a:off x="932058" y="4171702"/>
            <a:ext cx="5675664" cy="461665"/>
            <a:chOff x="4283491" y="4754195"/>
            <a:chExt cx="5675664" cy="461665"/>
          </a:xfrm>
        </p:grpSpPr>
        <p:sp>
          <p:nvSpPr>
            <p:cNvPr id="21" name="TextBox 20"/>
            <p:cNvSpPr txBox="1"/>
            <p:nvPr/>
          </p:nvSpPr>
          <p:spPr>
            <a:xfrm>
              <a:off x="4495800" y="4754195"/>
              <a:ext cx="54633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Times New Roman" pitchFamily="18" charset="0"/>
                  <a:cs typeface="Times New Roman" pitchFamily="18" charset="0"/>
                </a:rPr>
                <a:t> =  the wavenumber of the vibration (</a:t>
              </a:r>
              <a:r>
                <a:rPr lang="en-US" dirty="0" smtClean="0">
                  <a:solidFill>
                    <a:srgbClr val="FF0066"/>
                  </a:solidFill>
                  <a:latin typeface="Times New Roman" pitchFamily="18" charset="0"/>
                  <a:cs typeface="Times New Roman" pitchFamily="18" charset="0"/>
                </a:rPr>
                <a:t>cm</a:t>
              </a:r>
              <a:r>
                <a:rPr lang="en-US" baseline="30000" dirty="0" smtClean="0">
                  <a:solidFill>
                    <a:srgbClr val="FF0066"/>
                  </a:solidFill>
                  <a:latin typeface="Times New Roman" pitchFamily="18" charset="0"/>
                  <a:cs typeface="Times New Roman" pitchFamily="18" charset="0"/>
                </a:rPr>
                <a:t>‒1</a:t>
              </a:r>
              <a:r>
                <a:rPr lang="en-US" dirty="0" smtClean="0">
                  <a:solidFill>
                    <a:srgbClr val="FF0066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22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491" y="4795916"/>
              <a:ext cx="274320" cy="327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5" name="TextBox 24"/>
          <p:cNvSpPr txBox="1"/>
          <p:nvPr/>
        </p:nvSpPr>
        <p:spPr>
          <a:xfrm>
            <a:off x="914400" y="4742527"/>
            <a:ext cx="5112297" cy="9079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force constant (</a:t>
            </a:r>
            <a:r>
              <a:rPr lang="en-US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dynes/cm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spcAft>
                <a:spcPts val="12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 = the velocity of light = 3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/>
              </a:rPr>
              <a:t> 10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10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cm/s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734050"/>
            <a:ext cx="51054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03989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7194" y="299591"/>
            <a:ext cx="815960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9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The Functional Group </a:t>
            </a:r>
            <a:r>
              <a:rPr lang="en-US" sz="29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&amp; </a:t>
            </a:r>
            <a:r>
              <a:rPr lang="en-US" sz="2900" b="1" dirty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Fingerprint</a:t>
            </a:r>
            <a:r>
              <a:rPr lang="en-US" sz="2900" b="1" dirty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Regions </a:t>
            </a:r>
          </a:p>
        </p:txBody>
      </p:sp>
      <p:sp>
        <p:nvSpPr>
          <p:cNvPr id="3" name="Rectangle 2"/>
          <p:cNvSpPr/>
          <p:nvPr/>
        </p:nvSpPr>
        <p:spPr>
          <a:xfrm>
            <a:off x="231240" y="1066800"/>
            <a:ext cx="8607960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 infrared spectrum can be divided into </a:t>
            </a:r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two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areas:</a:t>
            </a:r>
          </a:p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area on the left (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4000‒1400 </a:t>
            </a:r>
            <a:r>
              <a:rPr lang="en-US" dirty="0"/>
              <a:t>cm</a:t>
            </a:r>
            <a:r>
              <a:rPr lang="en-US" baseline="30000" dirty="0"/>
              <a:t>‒1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is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where most of the functional groups show absorption bands. This is called the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functional group </a:t>
            </a:r>
            <a:r>
              <a:rPr lang="en-US" sz="2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region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area on the right (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1400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‒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600 </a:t>
            </a:r>
            <a:r>
              <a:rPr lang="en-US" dirty="0"/>
              <a:t>cm</a:t>
            </a:r>
            <a:r>
              <a:rPr lang="en-US" baseline="30000" dirty="0"/>
              <a:t>‒1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called the </a:t>
            </a:r>
            <a:r>
              <a:rPr lang="en-US" sz="22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fingerprint </a:t>
            </a:r>
            <a:r>
              <a:rPr lang="en-US" sz="2200" b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region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389376"/>
            <a:ext cx="6400800" cy="3392424"/>
          </a:xfrm>
          <a:prstGeom prst="rect">
            <a:avLst/>
          </a:prstGeom>
          <a:noFill/>
          <a:ln w="9525">
            <a:solidFill>
              <a:srgbClr val="FF99CC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8916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19972"/>
            <a:ext cx="7680960" cy="3733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4800" y="1161871"/>
            <a:ext cx="838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fingerprint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region</a:t>
            </a: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IR spectrum is characteristic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the compound as a whole, just as a fingerprint is characteristic of an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individual.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92902" y="299591"/>
            <a:ext cx="462819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900" b="1" dirty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The</a:t>
            </a:r>
            <a:r>
              <a:rPr lang="en-US" sz="29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 smtClean="0">
                <a:ln w="1905"/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Fingerprint</a:t>
            </a:r>
            <a:r>
              <a:rPr lang="en-US" sz="2900" b="1" dirty="0" smtClean="0">
                <a:ln w="1905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 </a:t>
            </a:r>
            <a:r>
              <a:rPr lang="en-US" sz="2900" b="1" dirty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Regions </a:t>
            </a:r>
          </a:p>
        </p:txBody>
      </p:sp>
    </p:spTree>
    <p:extLst>
      <p:ext uri="{BB962C8B-B14F-4D97-AF65-F5344CB8AC3E}">
        <p14:creationId xmlns="" xmlns:p14="http://schemas.microsoft.com/office/powerpoint/2010/main" val="2849224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" y="1495690"/>
            <a:ext cx="7680960" cy="2619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92121"/>
            <a:ext cx="7680960" cy="2589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52400" y="299591"/>
            <a:ext cx="8839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latin typeface="Comic Sans MS" pitchFamily="66" charset="0"/>
              </a:rPr>
              <a:t>Even if </a:t>
            </a:r>
            <a:r>
              <a:rPr lang="en-US" sz="25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Two Different Molecules </a:t>
            </a:r>
            <a:r>
              <a:rPr lang="en-US" sz="2500" dirty="0" smtClean="0">
                <a:latin typeface="Comic Sans MS" pitchFamily="66" charset="0"/>
              </a:rPr>
              <a:t>have </a:t>
            </a:r>
            <a:r>
              <a:rPr lang="en-US" sz="2500" dirty="0">
                <a:latin typeface="Comic Sans MS" pitchFamily="66" charset="0"/>
              </a:rPr>
              <a:t>the </a:t>
            </a:r>
            <a:r>
              <a:rPr lang="en-US" sz="2500" b="1" dirty="0">
                <a:latin typeface="Comic Sans MS" pitchFamily="66" charset="0"/>
              </a:rPr>
              <a:t>same</a:t>
            </a:r>
            <a:r>
              <a:rPr lang="en-US" sz="2500" dirty="0">
                <a:latin typeface="Comic Sans MS" pitchFamily="66" charset="0"/>
              </a:rPr>
              <a:t> functional groups, their </a:t>
            </a:r>
            <a:r>
              <a:rPr lang="en-US" sz="25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IR </a:t>
            </a:r>
            <a:r>
              <a:rPr lang="en-US" sz="25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Spectra will </a:t>
            </a:r>
            <a:r>
              <a:rPr lang="en-US" sz="25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not be </a:t>
            </a:r>
            <a:r>
              <a:rPr lang="en-US" sz="25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Identical </a:t>
            </a:r>
            <a:endParaRPr lang="en-US" sz="2500" b="1" dirty="0">
              <a:ln w="1905"/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008002179"/>
              </p:ext>
            </p:extLst>
          </p:nvPr>
        </p:nvGraphicFramePr>
        <p:xfrm>
          <a:off x="3048000" y="2590800"/>
          <a:ext cx="1828800" cy="653141"/>
        </p:xfrm>
        <a:graphic>
          <a:graphicData uri="http://schemas.openxmlformats.org/presentationml/2006/ole">
            <p:oleObj spid="_x0000_s22566" name="CS ChemDraw Drawing" r:id="rId5" imgW="1177200" imgH="420120" progId="ChemDraw.Document.6.0">
              <p:embed/>
            </p:oleObj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2274536935"/>
              </p:ext>
            </p:extLst>
          </p:nvPr>
        </p:nvGraphicFramePr>
        <p:xfrm>
          <a:off x="3124200" y="5334000"/>
          <a:ext cx="1828800" cy="638357"/>
        </p:xfrm>
        <a:graphic>
          <a:graphicData uri="http://schemas.openxmlformats.org/presentationml/2006/ole">
            <p:oleObj spid="_x0000_s22567" name="CS ChemDraw Drawing" r:id="rId6" imgW="1177200" imgH="410400" progId="ChemDraw.Document.6.0">
              <p:embed/>
            </p:oleObj>
          </a:graphicData>
        </a:graphic>
      </p:graphicFrame>
      <p:sp>
        <p:nvSpPr>
          <p:cNvPr id="8" name="Right Arrow 7"/>
          <p:cNvSpPr>
            <a:spLocks noChangeAspect="1"/>
          </p:cNvSpPr>
          <p:nvPr/>
        </p:nvSpPr>
        <p:spPr bwMode="auto">
          <a:xfrm rot="12947661">
            <a:off x="6431642" y="3410646"/>
            <a:ext cx="539075" cy="279552"/>
          </a:xfrm>
          <a:prstGeom prst="rightArrow">
            <a:avLst/>
          </a:prstGeom>
          <a:gradFill flip="none" rotWithShape="1">
            <a:gsLst>
              <a:gs pos="0">
                <a:srgbClr val="D60093">
                  <a:tint val="66000"/>
                  <a:satMod val="160000"/>
                </a:srgbClr>
              </a:gs>
              <a:gs pos="50000">
                <a:srgbClr val="D60093">
                  <a:tint val="44500"/>
                  <a:satMod val="160000"/>
                </a:srgbClr>
              </a:gs>
              <a:gs pos="100000">
                <a:srgbClr val="D60093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1" name="Right Arrow 10"/>
          <p:cNvSpPr>
            <a:spLocks noChangeAspect="1"/>
          </p:cNvSpPr>
          <p:nvPr/>
        </p:nvSpPr>
        <p:spPr bwMode="auto">
          <a:xfrm rot="12947661">
            <a:off x="6796753" y="6074846"/>
            <a:ext cx="539075" cy="279552"/>
          </a:xfrm>
          <a:prstGeom prst="rightArrow">
            <a:avLst/>
          </a:prstGeom>
          <a:gradFill flip="none" rotWithShape="1">
            <a:gsLst>
              <a:gs pos="0">
                <a:srgbClr val="D60093">
                  <a:tint val="66000"/>
                  <a:satMod val="160000"/>
                </a:srgbClr>
              </a:gs>
              <a:gs pos="50000">
                <a:srgbClr val="D60093">
                  <a:tint val="44500"/>
                  <a:satMod val="160000"/>
                </a:srgbClr>
              </a:gs>
              <a:gs pos="100000">
                <a:srgbClr val="D60093">
                  <a:tint val="23500"/>
                  <a:satMod val="160000"/>
                </a:srgbClr>
              </a:gs>
            </a:gsLst>
            <a:lin ang="5400000" scaled="1"/>
            <a:tileRect/>
          </a:gradFill>
          <a:ln w="9525" cap="flat" cmpd="sng" algn="ctr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5905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6956</TotalTime>
  <Words>761</Words>
  <Application>Microsoft Office PowerPoint</Application>
  <PresentationFormat>On-screen Show (4:3)</PresentationFormat>
  <Paragraphs>84</Paragraphs>
  <Slides>17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Blank</vt:lpstr>
      <vt:lpstr>CS ChemDraw Drawing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User</cp:lastModifiedBy>
  <cp:revision>1089</cp:revision>
  <dcterms:created xsi:type="dcterms:W3CDTF">2006-02-07T16:59:36Z</dcterms:created>
  <dcterms:modified xsi:type="dcterms:W3CDTF">2023-03-16T05:15:22Z</dcterms:modified>
</cp:coreProperties>
</file>