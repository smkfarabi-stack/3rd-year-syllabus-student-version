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5"/>
  </p:notesMasterIdLst>
  <p:sldIdLst>
    <p:sldId id="691" r:id="rId2"/>
    <p:sldId id="722" r:id="rId3"/>
    <p:sldId id="727" r:id="rId4"/>
    <p:sldId id="724" r:id="rId5"/>
    <p:sldId id="735" r:id="rId6"/>
    <p:sldId id="721" r:id="rId7"/>
    <p:sldId id="732" r:id="rId8"/>
    <p:sldId id="728" r:id="rId9"/>
    <p:sldId id="729" r:id="rId10"/>
    <p:sldId id="730" r:id="rId11"/>
    <p:sldId id="731" r:id="rId12"/>
    <p:sldId id="733" r:id="rId13"/>
    <p:sldId id="734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4A8E2"/>
    <a:srgbClr val="0033CC"/>
    <a:srgbClr val="0CB3DA"/>
    <a:srgbClr val="00CCFF"/>
    <a:srgbClr val="0CBBE4"/>
    <a:srgbClr val="000099"/>
    <a:srgbClr val="FF198C"/>
    <a:srgbClr val="CC0099"/>
    <a:srgbClr val="FFFFF3"/>
    <a:srgbClr val="FFE9E5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2787"/>
    <p:restoredTop sz="90929"/>
  </p:normalViewPr>
  <p:slideViewPr>
    <p:cSldViewPr>
      <p:cViewPr>
        <p:scale>
          <a:sx n="60" d="100"/>
          <a:sy n="60" d="100"/>
        </p:scale>
        <p:origin x="-396" y="-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D6A7B-5500-4495-AE41-A92BE20EB6D8}" type="datetimeFigureOut">
              <a:rPr lang="en-US" smtClean="0"/>
              <a:pPr/>
              <a:t>06-Jul-23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80D7B-28CF-412F-B790-13805F3982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6727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B74CB-4A74-40B4-9827-E4014EAD1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402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ABA6B6-A978-485A-95D4-418D3F5876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404106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CDA6F6-778F-4796-A5B0-385E366BB0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42588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33C12-B0ED-4EAF-9287-734E40E3B4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6895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BF0E7-2FC4-40E0-A3A1-5D12941582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00575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5B8A14-8812-42BE-A1A4-D8D036A6AF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3854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80B8AD-9BF6-41F4-96A2-938BD798F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34717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02018-89FC-41EB-A79F-7A8ECB099F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9525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03932-386A-472D-BAAA-59DC2493FBF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91482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46019-8A5E-4A2F-ACB6-AC68C7DACD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9266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6FFB9-1320-4111-BEBC-F13F2A6A94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90158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12000">
              <a:srgbClr val="FFFFF3"/>
            </a:gs>
            <a:gs pos="16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8434F40-A5A5-40AB-B940-8543F87F6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13625" y="1548825"/>
            <a:ext cx="46105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1</a:t>
            </a:r>
            <a:r>
              <a:rPr lang="en-US" sz="32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anose="030F0702030302020204" pitchFamily="66" charset="0"/>
              </a:rPr>
              <a:t>H NMR </a:t>
            </a:r>
            <a:r>
              <a:rPr 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 smtClean="0">
                <a:solidFill>
                  <a:srgbClr val="FF6600"/>
                </a:solidFill>
                <a:latin typeface="Comic Sans MS" panose="030F0702030302020204" pitchFamily="66" charset="0"/>
              </a:rPr>
              <a:t>p</a:t>
            </a:r>
            <a:r>
              <a:rPr lang="en-US" sz="3200" b="1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e</a:t>
            </a:r>
            <a:r>
              <a:rPr lang="en-US" sz="3200" b="1" dirty="0" smtClean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200" b="1" dirty="0" smtClean="0">
                <a:solidFill>
                  <a:srgbClr val="00B0F0"/>
                </a:solidFill>
                <a:latin typeface="Comic Sans MS" panose="030F0702030302020204" pitchFamily="66" charset="0"/>
              </a:rPr>
              <a:t>t</a:t>
            </a:r>
            <a:r>
              <a:rPr lang="en-US" sz="3200" b="1" dirty="0" smtClean="0">
                <a:solidFill>
                  <a:srgbClr val="0000FF"/>
                </a:solidFill>
                <a:latin typeface="Comic Sans MS" panose="030F0702030302020204" pitchFamily="66" charset="0"/>
              </a:rPr>
              <a:t>r</a:t>
            </a:r>
            <a:r>
              <a:rPr lang="en-US" sz="3200" b="1" dirty="0" smtClean="0">
                <a:solidFill>
                  <a:srgbClr val="CC0099"/>
                </a:solidFill>
                <a:latin typeface="Comic Sans MS" panose="030F0702030302020204" pitchFamily="66" charset="0"/>
              </a:rPr>
              <a:t>o</a:t>
            </a:r>
            <a:r>
              <a:rPr lang="en-US" sz="3200" b="1" dirty="0" smtClean="0">
                <a:solidFill>
                  <a:srgbClr val="FF5050"/>
                </a:solidFill>
                <a:latin typeface="Comic Sans MS" panose="030F0702030302020204" pitchFamily="66" charset="0"/>
              </a:rPr>
              <a:t>s</a:t>
            </a:r>
            <a:r>
              <a:rPr lang="en-US" sz="3200" b="1" dirty="0" smtClean="0">
                <a:solidFill>
                  <a:srgbClr val="FF0000"/>
                </a:solidFill>
                <a:latin typeface="Comic Sans MS" panose="030F0702030302020204" pitchFamily="66" charset="0"/>
              </a:rPr>
              <a:t>copy</a:t>
            </a:r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07987F46-F22D-4314-B239-C75F94E3B83D}"/>
              </a:ext>
            </a:extLst>
          </p:cNvPr>
          <p:cNvSpPr txBox="1"/>
          <p:nvPr/>
        </p:nvSpPr>
        <p:spPr>
          <a:xfrm>
            <a:off x="6934201" y="114181"/>
            <a:ext cx="1904999" cy="446276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Chapter </a:t>
            </a:r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1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114181"/>
            <a:ext cx="315350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 smtClean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Advanced</a:t>
            </a:r>
          </a:p>
          <a:p>
            <a:pPr algn="ctr"/>
            <a:r>
              <a:rPr lang="en-US" sz="2300" b="1" dirty="0" smtClean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omic Sans MS" panose="030F0702030302020204" pitchFamily="66" charset="0"/>
                <a:ea typeface="Calibri" panose="020F0502020204030204" pitchFamily="34" charset="0"/>
              </a:rPr>
              <a:t>Organic Chemistry</a:t>
            </a:r>
            <a:endParaRPr lang="en-US" sz="2300" b="1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14600"/>
            <a:ext cx="7406640" cy="3997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229737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362200"/>
            <a:ext cx="8595360" cy="40936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990600" y="265093"/>
            <a:ext cx="7315200" cy="1080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Multiplicity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 Indicates The Number of</a:t>
            </a:r>
            <a:b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</a:b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Comic Sans MS" pitchFamily="66" charset="0"/>
              </a:rPr>
              <a:t>Neighboring Protons</a:t>
            </a:r>
            <a:endParaRPr lang="en-US" sz="2800" b="1" dirty="0">
              <a:ln w="1905"/>
              <a:solidFill>
                <a:srgbClr val="FF0000"/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90600" y="304800"/>
            <a:ext cx="6781800" cy="1041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Characteristic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Splitting Pattern 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for an isolated ethyl group </a:t>
            </a:r>
            <a:endParaRPr lang="en-US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072640" y="2133600"/>
            <a:ext cx="4937760" cy="3233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09600" y="5791200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Symbol" pitchFamily="18" charset="2"/>
              <a:buChar char="*"/>
            </a:pPr>
            <a:r>
              <a:rPr lang="en-US" b="1" i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Times New Roman" pitchFamily="18" charset="0"/>
                <a:cs typeface="Times New Roman" pitchFamily="18" charset="0"/>
              </a:rPr>
              <a:t>isolated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means that the C</a:t>
            </a:r>
            <a:r>
              <a:rPr lang="en-US" b="1" dirty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protons are only being split by the C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protons </a:t>
            </a:r>
          </a:p>
        </p:txBody>
      </p:sp>
    </p:spTree>
    <p:extLst>
      <p:ext uri="{BB962C8B-B14F-4D97-AF65-F5344CB8AC3E}">
        <p14:creationId xmlns:p14="http://schemas.microsoft.com/office/powerpoint/2010/main" xmlns="" val="414792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90600" y="304800"/>
            <a:ext cx="6781800" cy="538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3700"/>
              </a:lnSpc>
            </a:pP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The Characteristic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</a:rPr>
              <a:t>Splitting Pattern</a:t>
            </a:r>
            <a:endParaRPr lang="en-US" sz="28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8934" y="2570569"/>
            <a:ext cx="3566160" cy="2138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3"/>
          <p:cNvGrpSpPr/>
          <p:nvPr/>
        </p:nvGrpSpPr>
        <p:grpSpPr>
          <a:xfrm>
            <a:off x="3962400" y="1752600"/>
            <a:ext cx="5029200" cy="2991419"/>
            <a:chOff x="3886200" y="2209800"/>
            <a:chExt cx="5029200" cy="2991419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86200" y="2209800"/>
              <a:ext cx="5029200" cy="29914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3" name="Rectangle 2"/>
            <p:cNvSpPr/>
            <p:nvPr/>
          </p:nvSpPr>
          <p:spPr bwMode="auto">
            <a:xfrm>
              <a:off x="3962400" y="2209800"/>
              <a:ext cx="4937760" cy="2991419"/>
            </a:xfrm>
            <a:prstGeom prst="rect">
              <a:avLst/>
            </a:prstGeom>
            <a:noFill/>
            <a:ln w="9525" cap="flat" cmpd="sng" algn="ctr">
              <a:solidFill>
                <a:schemeClr val="accent5">
                  <a:lumMod val="9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</a:endParaRPr>
            </a:p>
          </p:txBody>
        </p:sp>
      </p:grpSp>
      <p:sp>
        <p:nvSpPr>
          <p:cNvPr id="11" name="Rectangle 10"/>
          <p:cNvSpPr/>
          <p:nvPr/>
        </p:nvSpPr>
        <p:spPr bwMode="auto">
          <a:xfrm>
            <a:off x="76200" y="1752600"/>
            <a:ext cx="3749040" cy="2991419"/>
          </a:xfrm>
          <a:prstGeom prst="rect">
            <a:avLst/>
          </a:prstGeom>
          <a:noFill/>
          <a:ln w="9525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3259" y="5105400"/>
            <a:ext cx="3722494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characteristic splitting</a:t>
            </a:r>
            <a:br>
              <a:rPr lang="en-US" sz="2300" dirty="0">
                <a:latin typeface="Times New Roman" pitchFamily="18" charset="0"/>
                <a:cs typeface="Times New Roman" pitchFamily="18" charset="0"/>
              </a:rPr>
            </a:b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pattern for a </a:t>
            </a:r>
            <a:r>
              <a:rPr lang="en-US" sz="23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tert</a:t>
            </a:r>
            <a:r>
              <a:rPr lang="en-US" sz="23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-butyl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group. 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5105400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characteristic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splitting pattern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for an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isolated </a:t>
            </a:r>
            <a:r>
              <a:rPr lang="en-US" sz="2300" b="1" dirty="0" smtClean="0">
                <a:solidFill>
                  <a:srgbClr val="0CB3DA"/>
                </a:solidFill>
                <a:latin typeface="Times New Roman" pitchFamily="18" charset="0"/>
                <a:cs typeface="Times New Roman" pitchFamily="18" charset="0"/>
              </a:rPr>
              <a:t>isopropyl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group.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581400"/>
            <a:ext cx="4429125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25640" y="4800600"/>
            <a:ext cx="1280160" cy="872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5500" y="3533198"/>
            <a:ext cx="1645920" cy="81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97522" y="5742998"/>
            <a:ext cx="1645920" cy="810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38200" y="5484519"/>
            <a:ext cx="1463040" cy="790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326077"/>
            <a:ext cx="1554480" cy="812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ounded Rectangle 7"/>
          <p:cNvSpPr/>
          <p:nvPr/>
        </p:nvSpPr>
        <p:spPr bwMode="auto">
          <a:xfrm>
            <a:off x="609600" y="3413760"/>
            <a:ext cx="7848600" cy="3291840"/>
          </a:xfrm>
          <a:prstGeom prst="roundRect">
            <a:avLst/>
          </a:prstGeom>
          <a:noFill/>
          <a:ln w="9525" cap="flat" cmpd="sng" algn="ctr">
            <a:solidFill>
              <a:schemeClr val="accent5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52600" y="228600"/>
            <a:ext cx="52036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baseline="3000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1</a:t>
            </a:r>
            <a:r>
              <a:rPr lang="en-US" sz="28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H NMR: </a:t>
            </a:r>
            <a:r>
              <a:rPr lang="en-US" sz="28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Spin-Spin Splitting</a:t>
            </a:r>
            <a:endParaRPr lang="en-US" sz="28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143000" y="1696572"/>
            <a:ext cx="2011680" cy="1125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983480" y="1620372"/>
            <a:ext cx="2926080" cy="1351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Group 11"/>
          <p:cNvGrpSpPr/>
          <p:nvPr/>
        </p:nvGrpSpPr>
        <p:grpSpPr>
          <a:xfrm>
            <a:off x="3992880" y="2229972"/>
            <a:ext cx="274320" cy="182880"/>
            <a:chOff x="4876800" y="5181600"/>
            <a:chExt cx="457200" cy="228600"/>
          </a:xfrm>
        </p:grpSpPr>
        <p:cxnSp>
          <p:nvCxnSpPr>
            <p:cNvPr id="13" name="Straight Connector 12"/>
            <p:cNvCxnSpPr/>
            <p:nvPr/>
          </p:nvCxnSpPr>
          <p:spPr bwMode="auto">
            <a:xfrm>
              <a:off x="4876800" y="5181600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4" name="Straight Connector 13"/>
            <p:cNvCxnSpPr/>
            <p:nvPr/>
          </p:nvCxnSpPr>
          <p:spPr bwMode="auto">
            <a:xfrm>
              <a:off x="4876800" y="5295106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5" name="Straight Connector 14"/>
            <p:cNvCxnSpPr/>
            <p:nvPr/>
          </p:nvCxnSpPr>
          <p:spPr bwMode="auto">
            <a:xfrm>
              <a:off x="4876800" y="5408612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6" name="Straight Arrow Connector 15"/>
          <p:cNvCxnSpPr/>
          <p:nvPr/>
        </p:nvCxnSpPr>
        <p:spPr bwMode="auto">
          <a:xfrm>
            <a:off x="2819400" y="1681332"/>
            <a:ext cx="0" cy="5486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2324325" y="1158707"/>
            <a:ext cx="12570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  <a:latin typeface="Gabriola" pitchFamily="82" charset="0"/>
              </a:rPr>
              <a:t>No</a:t>
            </a:r>
            <a:r>
              <a:rPr lang="en-US" dirty="0" smtClean="0">
                <a:latin typeface="Gabriola" pitchFamily="82" charset="0"/>
              </a:rPr>
              <a:t>  proton </a:t>
            </a:r>
            <a:endParaRPr lang="en-US" dirty="0">
              <a:latin typeface="Gabriola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3928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282302"/>
            <a:ext cx="8382000" cy="927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400"/>
              </a:lnSpc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each of the following compounds, determine the multiplicity of each signal in the expected 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 NMR spectrum: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971800"/>
            <a:ext cx="2286000" cy="1079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5212" y="2948935"/>
            <a:ext cx="2194560" cy="110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2920749"/>
            <a:ext cx="2194560" cy="1130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400" y="4876799"/>
            <a:ext cx="2468880" cy="1156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0" name="Group 9"/>
          <p:cNvGrpSpPr/>
          <p:nvPr/>
        </p:nvGrpSpPr>
        <p:grpSpPr>
          <a:xfrm>
            <a:off x="3660085" y="4938684"/>
            <a:ext cx="3655115" cy="1233516"/>
            <a:chOff x="4041085" y="4862484"/>
            <a:chExt cx="3655115" cy="1233516"/>
          </a:xfrm>
        </p:grpSpPr>
        <p:pic>
          <p:nvPicPr>
            <p:cNvPr id="25606" name="Picture 6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4587240" y="4862484"/>
              <a:ext cx="3108960" cy="12335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TextBox 8"/>
            <p:cNvSpPr txBox="1"/>
            <p:nvPr/>
          </p:nvSpPr>
          <p:spPr>
            <a:xfrm>
              <a:off x="4041085" y="5588913"/>
              <a:ext cx="513282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100" b="1" dirty="0" smtClean="0">
                  <a:latin typeface="Arial" pitchFamily="34" charset="0"/>
                  <a:cs typeface="Arial" pitchFamily="34" charset="0"/>
                </a:rPr>
                <a:t>(e)</a:t>
              </a:r>
              <a:endParaRPr lang="en-US" sz="2100" b="1" dirty="0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74520" y="3710079"/>
            <a:ext cx="4754880" cy="291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1143000"/>
            <a:ext cx="8382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When signal splitting occurs, the distance between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individual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peaks of a signal is called the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coupling constant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or </a:t>
            </a:r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value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and is measured in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hertz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coupling constant (J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is the same for both signals because these signals are splitting each other.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3792" y="284202"/>
            <a:ext cx="34211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Coupling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Constant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31856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23405" y="284202"/>
            <a:ext cx="340189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Complex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Splitting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4800" y="1302603"/>
            <a:ext cx="83058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Complex splitting occurs when a proton has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two different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kinds of neighboring protons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42999" y="2590800"/>
            <a:ext cx="2377440" cy="150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4526280" y="3276600"/>
            <a:ext cx="274320" cy="182880"/>
            <a:chOff x="4876800" y="5181600"/>
            <a:chExt cx="457200" cy="228600"/>
          </a:xfrm>
        </p:grpSpPr>
        <p:cxnSp>
          <p:nvCxnSpPr>
            <p:cNvPr id="6" name="Straight Connector 5"/>
            <p:cNvCxnSpPr/>
            <p:nvPr/>
          </p:nvCxnSpPr>
          <p:spPr bwMode="auto">
            <a:xfrm>
              <a:off x="4876800" y="5181600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" name="Straight Connector 6"/>
            <p:cNvCxnSpPr/>
            <p:nvPr/>
          </p:nvCxnSpPr>
          <p:spPr bwMode="auto">
            <a:xfrm>
              <a:off x="4876800" y="5295106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4876800" y="5408612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" name="TextBox 3"/>
          <p:cNvSpPr txBox="1"/>
          <p:nvPr/>
        </p:nvSpPr>
        <p:spPr>
          <a:xfrm>
            <a:off x="5334000" y="3113513"/>
            <a:ext cx="2981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sz="28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‒C</a:t>
            </a:r>
            <a:r>
              <a:rPr lang="en-US" sz="2800" b="1" dirty="0" smtClean="0">
                <a:solidFill>
                  <a:srgbClr val="0CB3DA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‒C</a:t>
            </a:r>
            <a:r>
              <a:rPr lang="en-US" sz="2800" b="1" dirty="0" smtClean="0">
                <a:solidFill>
                  <a:srgbClr val="92D050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US" sz="2800" baseline="-25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‒</a:t>
            </a:r>
            <a:r>
              <a:rPr lang="en-US" sz="2800" dirty="0" smtClean="0">
                <a:latin typeface="Arial" pitchFamily="34" charset="0"/>
                <a:cs typeface="Arial" pitchFamily="34" charset="0"/>
              </a:rPr>
              <a:t>X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4800" y="4724400"/>
            <a:ext cx="830580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 err="1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proton has CH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protons on one side and CH</a:t>
            </a:r>
            <a:r>
              <a:rPr lang="en-US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protons on the other side. </a:t>
            </a:r>
          </a:p>
          <a:p>
            <a:pPr marL="342900" indent="-342900" algn="just">
              <a:spcAft>
                <a:spcPts val="18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appearance of the signal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will depend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greatly on 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values. </a:t>
            </a:r>
          </a:p>
        </p:txBody>
      </p:sp>
    </p:spTree>
    <p:extLst>
      <p:ext uri="{BB962C8B-B14F-4D97-AF65-F5344CB8AC3E}">
        <p14:creationId xmlns:p14="http://schemas.microsoft.com/office/powerpoint/2010/main" xmlns="" val="175763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781800" y="5106277"/>
            <a:ext cx="1920240" cy="949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>
            <a:off x="5638800" y="5898178"/>
            <a:ext cx="838200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4A8E2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" name="Rectangle 4"/>
          <p:cNvSpPr/>
          <p:nvPr/>
        </p:nvSpPr>
        <p:spPr>
          <a:xfrm>
            <a:off x="6324600" y="6274713"/>
            <a:ext cx="2667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quartet of triplets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143000" y="152400"/>
            <a:ext cx="6699270" cy="817841"/>
            <a:chOff x="1256159" y="522982"/>
            <a:chExt cx="6699270" cy="817841"/>
          </a:xfrm>
        </p:grpSpPr>
        <p:sp>
          <p:nvSpPr>
            <p:cNvPr id="8" name="TextBox 7"/>
            <p:cNvSpPr txBox="1"/>
            <p:nvPr/>
          </p:nvSpPr>
          <p:spPr>
            <a:xfrm>
              <a:off x="1256159" y="522982"/>
              <a:ext cx="66992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b="1" dirty="0" smtClean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itchFamily="66" charset="0"/>
                  <a:cs typeface="Times New Roman" pitchFamily="18" charset="0"/>
                </a:rPr>
                <a:t>Complex </a:t>
              </a:r>
              <a:r>
                <a:rPr lang="en-US" sz="3000" b="1" dirty="0" smtClean="0">
                  <a:ln w="1905"/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itchFamily="66" charset="0"/>
                  <a:cs typeface="Times New Roman" pitchFamily="18" charset="0"/>
                </a:rPr>
                <a:t>Splitting:  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C</a:t>
              </a:r>
              <a:r>
                <a:rPr lang="en-US" sz="28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3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‒C</a:t>
              </a:r>
              <a:r>
                <a:rPr lang="en-US" sz="2800" b="1" dirty="0" smtClean="0">
                  <a:solidFill>
                    <a:srgbClr val="0CB3DA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‒C</a:t>
              </a:r>
              <a:r>
                <a:rPr lang="en-US" sz="2800" b="1" dirty="0" smtClean="0">
                  <a:solidFill>
                    <a:srgbClr val="92D050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‒X</a:t>
              </a:r>
              <a:endParaRPr 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317878" y="9407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</a:t>
              </a:r>
              <a:endPara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180982" y="940713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04A8E2"/>
                  </a:solidFill>
                  <a:latin typeface="Arial" pitchFamily="34" charset="0"/>
                  <a:cs typeface="Arial" pitchFamily="34" charset="0"/>
                </a:rPr>
                <a:t>b</a:t>
              </a:r>
              <a:endParaRPr lang="en-US" sz="2000" b="1" dirty="0">
                <a:solidFill>
                  <a:srgbClr val="04A8E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018548" y="9407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92D050"/>
                  </a:solidFill>
                  <a:latin typeface="Arial" pitchFamily="34" charset="0"/>
                  <a:cs typeface="Arial" pitchFamily="34" charset="0"/>
                </a:rPr>
                <a:t>c</a:t>
              </a:r>
              <a:endParaRPr lang="en-US" sz="2000" b="1" dirty="0">
                <a:solidFill>
                  <a:srgbClr val="92D05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940998" y="990600"/>
            <a:ext cx="53742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6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is much greater than </a:t>
            </a:r>
            <a:r>
              <a:rPr lang="en-US" sz="2600" b="1" i="1" dirty="0" err="1" smtClean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600" b="1" baseline="-25000" dirty="0" err="1" smtClean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1828800"/>
            <a:ext cx="86868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signal for </a:t>
            </a:r>
            <a:r>
              <a:rPr lang="en-US" sz="2300" b="1" dirty="0" err="1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err="1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is being split into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a quartet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because of the nearby </a:t>
            </a:r>
            <a:r>
              <a:rPr lang="en-US" sz="23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protons, and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then it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is being split into a triplet because of the nearby </a:t>
            </a:r>
            <a:r>
              <a:rPr lang="en-US" sz="2300" b="1" dirty="0" err="1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err="1" smtClean="0">
                <a:solidFill>
                  <a:srgbClr val="92D05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protons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. The signal will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be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comprised of 12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peaks.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411480" y="3195935"/>
            <a:ext cx="4846320" cy="2934882"/>
            <a:chOff x="411480" y="3195935"/>
            <a:chExt cx="4846320" cy="2934882"/>
          </a:xfrm>
        </p:grpSpPr>
        <p:grpSp>
          <p:nvGrpSpPr>
            <p:cNvPr id="16" name="Group 15"/>
            <p:cNvGrpSpPr/>
            <p:nvPr/>
          </p:nvGrpSpPr>
          <p:grpSpPr>
            <a:xfrm>
              <a:off x="411480" y="3195935"/>
              <a:ext cx="4846320" cy="2934882"/>
              <a:chOff x="411480" y="3195935"/>
              <a:chExt cx="4846320" cy="2934882"/>
            </a:xfrm>
          </p:grpSpPr>
          <p:pic>
            <p:nvPicPr>
              <p:cNvPr id="4098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1480" y="3429000"/>
                <a:ext cx="4846320" cy="27018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5" name="TextBox 14"/>
              <p:cNvSpPr txBox="1"/>
              <p:nvPr/>
            </p:nvSpPr>
            <p:spPr>
              <a:xfrm>
                <a:off x="2586873" y="3195935"/>
                <a:ext cx="53732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b="1" dirty="0" err="1">
                    <a:solidFill>
                      <a:srgbClr val="04A8E2"/>
                    </a:solidFill>
                    <a:latin typeface="Times New Roman" pitchFamily="18" charset="0"/>
                    <a:cs typeface="Times New Roman" pitchFamily="18" charset="0"/>
                  </a:rPr>
                  <a:t>H</a:t>
                </a:r>
                <a:r>
                  <a:rPr lang="en-US" b="1" baseline="-25000" dirty="0" err="1">
                    <a:solidFill>
                      <a:srgbClr val="04A8E2"/>
                    </a:solidFill>
                    <a:latin typeface="Times New Roman" pitchFamily="18" charset="0"/>
                    <a:cs typeface="Times New Roman" pitchFamily="18" charset="0"/>
                  </a:rPr>
                  <a:t>b</a:t>
                </a:r>
                <a:endParaRPr lang="en-US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1290614" y="4595242"/>
              <a:ext cx="4619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J</a:t>
              </a:r>
              <a:r>
                <a:rPr lang="en-US" sz="1800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ab</a:t>
              </a:r>
              <a:endParaRPr lang="en-US" sz="1800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662214" y="4595242"/>
              <a:ext cx="4619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J</a:t>
              </a:r>
              <a:r>
                <a:rPr lang="en-US" sz="1800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ab</a:t>
              </a:r>
              <a:endParaRPr lang="en-US" sz="18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86200" y="4595242"/>
              <a:ext cx="46198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b="1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J</a:t>
              </a:r>
              <a:r>
                <a:rPr lang="en-US" sz="1800" b="1" baseline="-250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ab</a:t>
              </a:r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495346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086600" y="5358810"/>
            <a:ext cx="1828800" cy="767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 bwMode="auto">
          <a:xfrm>
            <a:off x="6202680" y="5974378"/>
            <a:ext cx="731520" cy="0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tangle 5"/>
          <p:cNvSpPr/>
          <p:nvPr/>
        </p:nvSpPr>
        <p:spPr>
          <a:xfrm>
            <a:off x="6553200" y="6279178"/>
            <a:ext cx="25908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triplet of quartets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905000" y="1066800"/>
            <a:ext cx="55647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600" b="1" i="1" dirty="0" err="1" smtClean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600" b="1" baseline="-25000" dirty="0" err="1" smtClean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is much greater than 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6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1143000" y="152400"/>
            <a:ext cx="6699270" cy="817841"/>
            <a:chOff x="1256159" y="522982"/>
            <a:chExt cx="6699270" cy="817841"/>
          </a:xfrm>
        </p:grpSpPr>
        <p:sp>
          <p:nvSpPr>
            <p:cNvPr id="14" name="TextBox 13"/>
            <p:cNvSpPr txBox="1"/>
            <p:nvPr/>
          </p:nvSpPr>
          <p:spPr>
            <a:xfrm>
              <a:off x="1256159" y="522982"/>
              <a:ext cx="66992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b="1" dirty="0" smtClean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itchFamily="66" charset="0"/>
                  <a:cs typeface="Times New Roman" pitchFamily="18" charset="0"/>
                </a:rPr>
                <a:t>Complex </a:t>
              </a:r>
              <a:r>
                <a:rPr lang="en-US" sz="3000" b="1" dirty="0" smtClean="0">
                  <a:ln w="1905"/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itchFamily="66" charset="0"/>
                  <a:cs typeface="Times New Roman" pitchFamily="18" charset="0"/>
                </a:rPr>
                <a:t>Splitting:  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C</a:t>
              </a:r>
              <a:r>
                <a:rPr lang="en-US" sz="28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3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‒C</a:t>
              </a:r>
              <a:r>
                <a:rPr lang="en-US" sz="2800" b="1" dirty="0" smtClean="0">
                  <a:solidFill>
                    <a:srgbClr val="0CB3DA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‒C</a:t>
              </a:r>
              <a:r>
                <a:rPr lang="en-US" sz="2800" b="1" dirty="0" smtClean="0">
                  <a:solidFill>
                    <a:srgbClr val="92D050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‒X</a:t>
              </a:r>
              <a:endParaRPr 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317878" y="9407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</a:t>
              </a:r>
              <a:endPara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180982" y="940713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04A8E2"/>
                  </a:solidFill>
                  <a:latin typeface="Arial" pitchFamily="34" charset="0"/>
                  <a:cs typeface="Arial" pitchFamily="34" charset="0"/>
                </a:rPr>
                <a:t>b</a:t>
              </a:r>
              <a:endParaRPr lang="en-US" sz="2000" b="1" dirty="0">
                <a:solidFill>
                  <a:srgbClr val="04A8E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18548" y="9407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92D050"/>
                  </a:solidFill>
                  <a:latin typeface="Arial" pitchFamily="34" charset="0"/>
                  <a:cs typeface="Arial" pitchFamily="34" charset="0"/>
                </a:rPr>
                <a:t>c</a:t>
              </a:r>
              <a:endParaRPr lang="en-US" sz="2000" b="1" dirty="0">
                <a:solidFill>
                  <a:srgbClr val="92D05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28600" y="1905000"/>
            <a:ext cx="85344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 signal for </a:t>
            </a:r>
            <a:r>
              <a:rPr lang="en-US" sz="2300" b="1" dirty="0" err="1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300" b="1" baseline="-25000" dirty="0" err="1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is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first split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into a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triplet, and then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then it is being split into a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quartet. So, the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signal will appear as a triplet of 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quartets.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52400" y="2971800"/>
            <a:ext cx="5852160" cy="3307378"/>
            <a:chOff x="152400" y="2971800"/>
            <a:chExt cx="5852160" cy="3307378"/>
          </a:xfrm>
        </p:grpSpPr>
        <p:grpSp>
          <p:nvGrpSpPr>
            <p:cNvPr id="12" name="Group 11"/>
            <p:cNvGrpSpPr/>
            <p:nvPr/>
          </p:nvGrpSpPr>
          <p:grpSpPr>
            <a:xfrm>
              <a:off x="152400" y="3151531"/>
              <a:ext cx="5852160" cy="3127647"/>
              <a:chOff x="152400" y="3151531"/>
              <a:chExt cx="5852160" cy="3127647"/>
            </a:xfrm>
          </p:grpSpPr>
          <p:pic>
            <p:nvPicPr>
              <p:cNvPr id="5122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2400" y="3151531"/>
                <a:ext cx="5852160" cy="312764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20" name="TextBox 19"/>
              <p:cNvSpPr txBox="1"/>
              <p:nvPr/>
            </p:nvSpPr>
            <p:spPr>
              <a:xfrm>
                <a:off x="1678015" y="4431268"/>
                <a:ext cx="4539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b="1" i="1" dirty="0" err="1" smtClean="0">
                    <a:solidFill>
                      <a:srgbClr val="04A8E2"/>
                    </a:solidFill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sz="1800" b="1" baseline="-25000" dirty="0" err="1" smtClean="0">
                    <a:solidFill>
                      <a:srgbClr val="04A8E2"/>
                    </a:solidFill>
                    <a:latin typeface="Times New Roman" pitchFamily="18" charset="0"/>
                    <a:cs typeface="Times New Roman" pitchFamily="18" charset="0"/>
                  </a:rPr>
                  <a:t>bc</a:t>
                </a:r>
                <a:endParaRPr lang="en-US" sz="1800" dirty="0">
                  <a:solidFill>
                    <a:srgbClr val="04A8E2"/>
                  </a:solidFill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3988741" y="4431268"/>
                <a:ext cx="45397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800" b="1" i="1" dirty="0" err="1" smtClean="0">
                    <a:solidFill>
                      <a:srgbClr val="04A8E2"/>
                    </a:solidFill>
                    <a:latin typeface="Times New Roman" pitchFamily="18" charset="0"/>
                    <a:cs typeface="Times New Roman" pitchFamily="18" charset="0"/>
                  </a:rPr>
                  <a:t>J</a:t>
                </a:r>
                <a:r>
                  <a:rPr lang="en-US" sz="1800" b="1" baseline="-25000" dirty="0" err="1" smtClean="0">
                    <a:solidFill>
                      <a:srgbClr val="04A8E2"/>
                    </a:solidFill>
                    <a:latin typeface="Times New Roman" pitchFamily="18" charset="0"/>
                    <a:cs typeface="Times New Roman" pitchFamily="18" charset="0"/>
                  </a:rPr>
                  <a:t>bc</a:t>
                </a:r>
                <a:endParaRPr lang="en-US" sz="1800" dirty="0">
                  <a:solidFill>
                    <a:srgbClr val="04A8E2"/>
                  </a:solidFill>
                </a:endParaRPr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2855536" y="2971800"/>
              <a:ext cx="53732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rgbClr val="04A8E2"/>
                  </a:solidFill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b="1" baseline="-25000" dirty="0" err="1">
                  <a:solidFill>
                    <a:srgbClr val="04A8E2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550884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05000" y="1066800"/>
            <a:ext cx="5564702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When </a:t>
            </a:r>
            <a:r>
              <a:rPr lang="en-US" sz="2600" b="1" i="1" dirty="0" err="1" smtClean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600" b="1" baseline="-25000" dirty="0" err="1" smtClean="0">
                <a:solidFill>
                  <a:srgbClr val="04A8E2"/>
                </a:solidFill>
                <a:latin typeface="Times New Roman" pitchFamily="18" charset="0"/>
                <a:cs typeface="Times New Roman" pitchFamily="18" charset="0"/>
              </a:rPr>
              <a:t>bc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similar to </a:t>
            </a:r>
            <a:r>
              <a:rPr lang="en-US" sz="26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2600" b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) 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143000" y="152400"/>
            <a:ext cx="6699270" cy="817841"/>
            <a:chOff x="1256159" y="522982"/>
            <a:chExt cx="6699270" cy="817841"/>
          </a:xfrm>
        </p:grpSpPr>
        <p:sp>
          <p:nvSpPr>
            <p:cNvPr id="4" name="TextBox 3"/>
            <p:cNvSpPr txBox="1"/>
            <p:nvPr/>
          </p:nvSpPr>
          <p:spPr>
            <a:xfrm>
              <a:off x="1256159" y="522982"/>
              <a:ext cx="6699270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000" b="1" dirty="0" smtClean="0">
                  <a:ln w="1905"/>
                  <a:gradFill>
                    <a:gsLst>
                      <a:gs pos="0">
                        <a:schemeClr val="accent6">
                          <a:shade val="20000"/>
                          <a:satMod val="200000"/>
                        </a:schemeClr>
                      </a:gs>
                      <a:gs pos="78000">
                        <a:schemeClr val="accent6">
                          <a:tint val="90000"/>
                          <a:shade val="89000"/>
                          <a:satMod val="220000"/>
                        </a:schemeClr>
                      </a:gs>
                      <a:gs pos="100000">
                        <a:schemeClr val="accent6">
                          <a:tint val="12000"/>
                          <a:satMod val="255000"/>
                        </a:schemeClr>
                      </a:gs>
                    </a:gsLst>
                    <a:lin ang="5400000"/>
                  </a:gra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itchFamily="66" charset="0"/>
                  <a:cs typeface="Times New Roman" pitchFamily="18" charset="0"/>
                </a:rPr>
                <a:t>Complex </a:t>
              </a:r>
              <a:r>
                <a:rPr lang="en-US" sz="3000" b="1" dirty="0" smtClean="0">
                  <a:ln w="1905"/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itchFamily="66" charset="0"/>
                  <a:cs typeface="Times New Roman" pitchFamily="18" charset="0"/>
                </a:rPr>
                <a:t>Splitting:  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C</a:t>
              </a:r>
              <a:r>
                <a:rPr lang="en-US" sz="28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3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‒C</a:t>
              </a:r>
              <a:r>
                <a:rPr lang="en-US" sz="2800" b="1" dirty="0" smtClean="0">
                  <a:solidFill>
                    <a:srgbClr val="0CB3DA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‒C</a:t>
              </a:r>
              <a:r>
                <a:rPr lang="en-US" sz="2800" b="1" dirty="0" smtClean="0">
                  <a:solidFill>
                    <a:srgbClr val="92D050"/>
                  </a:solidFill>
                  <a:latin typeface="Arial" pitchFamily="34" charset="0"/>
                  <a:cs typeface="Arial" pitchFamily="34" charset="0"/>
                </a:rPr>
                <a:t>H</a:t>
              </a:r>
              <a:r>
                <a:rPr lang="en-US" sz="2800" baseline="-25000" dirty="0" smtClean="0">
                  <a:latin typeface="Arial" pitchFamily="34" charset="0"/>
                  <a:cs typeface="Arial" pitchFamily="34" charset="0"/>
                </a:rPr>
                <a:t>2</a:t>
              </a:r>
              <a:r>
                <a:rPr lang="en-US" sz="2800" dirty="0" smtClean="0">
                  <a:latin typeface="Arial" pitchFamily="34" charset="0"/>
                  <a:cs typeface="Arial" pitchFamily="34" charset="0"/>
                </a:rPr>
                <a:t>‒X</a:t>
              </a:r>
              <a:endParaRPr lang="en-US" sz="2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317878" y="9407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FF0000"/>
                  </a:solidFill>
                  <a:latin typeface="Arial" pitchFamily="34" charset="0"/>
                  <a:cs typeface="Arial" pitchFamily="34" charset="0"/>
                </a:rPr>
                <a:t>a</a:t>
              </a:r>
              <a:endParaRPr lang="en-US" sz="20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180982" y="940713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04A8E2"/>
                  </a:solidFill>
                  <a:latin typeface="Arial" pitchFamily="34" charset="0"/>
                  <a:cs typeface="Arial" pitchFamily="34" charset="0"/>
                </a:rPr>
                <a:t>b</a:t>
              </a:r>
              <a:endParaRPr lang="en-US" sz="2000" b="1" dirty="0">
                <a:solidFill>
                  <a:srgbClr val="04A8E2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018548" y="940713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smtClean="0">
                  <a:solidFill>
                    <a:srgbClr val="92D050"/>
                  </a:solidFill>
                  <a:latin typeface="Arial" pitchFamily="34" charset="0"/>
                  <a:cs typeface="Arial" pitchFamily="34" charset="0"/>
                </a:rPr>
                <a:t>c</a:t>
              </a:r>
              <a:endParaRPr lang="en-US" sz="2000" b="1" dirty="0">
                <a:solidFill>
                  <a:srgbClr val="92D05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54034" y="2107324"/>
            <a:ext cx="838516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 most cases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J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values will be fairly similar, and we will observe neither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clean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quartet of triplets nor a clean triplet of quartets.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often, several of the peaks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will overlap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producing a signal that requires a more detailed analysis and is called a </a:t>
            </a:r>
            <a:r>
              <a:rPr lang="en-US" b="1" dirty="0" err="1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multiplet</a:t>
            </a:r>
            <a:r>
              <a:rPr lang="en-US" dirty="0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572000"/>
            <a:ext cx="3474720" cy="1875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 bwMode="auto">
          <a:xfrm>
            <a:off x="2743200" y="4572000"/>
            <a:ext cx="3667062" cy="2057400"/>
          </a:xfrm>
          <a:prstGeom prst="rect">
            <a:avLst/>
          </a:prstGeom>
          <a:noFill/>
          <a:ln w="9525" cap="flat" cmpd="sng" algn="ctr">
            <a:solidFill>
              <a:schemeClr val="accent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73929" y="5509624"/>
            <a:ext cx="190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 err="1" smtClean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multiplet</a:t>
            </a:r>
            <a:endParaRPr lang="en-US" dirty="0">
              <a:solidFill>
                <a:srgbClr val="0033CC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6627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1143000"/>
            <a:ext cx="840326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rgbClr val="FF0000"/>
              </a:buClr>
              <a:buFont typeface="Arial" pitchFamily="34" charset="0"/>
              <a:buChar char="•"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Draw the expected </a:t>
            </a:r>
            <a:r>
              <a:rPr lang="en-US" sz="2600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H NMR spectrum of isopropyl 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acetate.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1560"/>
            <a:ext cx="1737360" cy="1044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981200"/>
            <a:ext cx="2286000" cy="1297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4221480" y="2667000"/>
            <a:ext cx="274320" cy="182880"/>
            <a:chOff x="4876800" y="5181600"/>
            <a:chExt cx="457200" cy="228600"/>
          </a:xfrm>
        </p:grpSpPr>
        <p:cxnSp>
          <p:nvCxnSpPr>
            <p:cNvPr id="7" name="Straight Connector 6"/>
            <p:cNvCxnSpPr/>
            <p:nvPr/>
          </p:nvCxnSpPr>
          <p:spPr bwMode="auto">
            <a:xfrm>
              <a:off x="4876800" y="5181600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7"/>
            <p:cNvCxnSpPr/>
            <p:nvPr/>
          </p:nvCxnSpPr>
          <p:spPr bwMode="auto">
            <a:xfrm>
              <a:off x="4876800" y="5295106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4876800" y="5408612"/>
              <a:ext cx="457200" cy="158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81000" y="3733800"/>
            <a:ext cx="8503920" cy="2920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04210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268611"/>
            <a:ext cx="8382000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organic compound, C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NO has the following spectral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data: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b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3410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b="1" dirty="0">
                <a:solidFill>
                  <a:srgbClr val="0033CC"/>
                </a:solidFill>
                <a:latin typeface="Times New Roman" pitchFamily="18" charset="0"/>
                <a:cs typeface="Times New Roman" pitchFamily="18" charset="0"/>
              </a:rPr>
              <a:t>3360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3065, 2980, 2865,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1697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1600, 1500 cm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–1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  <a:sym typeface="Symbol" panose="05050102010706020507" pitchFamily="18" charset="2"/>
              </a:rPr>
              <a:t>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= 7.72 (2H, d), 7.60 (2H, d), 4.9 (2H, s,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2.2 (2H, q), 1.0 (3H, t).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7472" indent="-347472" algn="just">
              <a:spcAft>
                <a:spcPts val="1200"/>
              </a:spcAft>
              <a:buClr>
                <a:srgbClr val="FF0000"/>
              </a:buClr>
              <a:buFont typeface="Arial" pitchFamily="34" charset="0"/>
              <a:buChar char="•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Deduce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the structure of the compound with proper explanation.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79508" y="228600"/>
            <a:ext cx="328968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Practice </a:t>
            </a:r>
            <a:r>
              <a:rPr lang="en-US" sz="3000" b="1" dirty="0" smtClean="0">
                <a:ln w="1905"/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itchFamily="66" charset="0"/>
                <a:cs typeface="Times New Roman" pitchFamily="18" charset="0"/>
              </a:rPr>
              <a:t>Problem</a:t>
            </a:r>
            <a:endParaRPr lang="en-US" sz="3000" b="1" dirty="0">
              <a:ln w="1905"/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itchFamily="66" charset="0"/>
              <a:cs typeface="Times New Roman" pitchFamily="18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8193078"/>
              </p:ext>
            </p:extLst>
          </p:nvPr>
        </p:nvGraphicFramePr>
        <p:xfrm>
          <a:off x="2225040" y="4648200"/>
          <a:ext cx="4846320" cy="1464505"/>
        </p:xfrm>
        <a:graphic>
          <a:graphicData uri="http://schemas.openxmlformats.org/presentationml/2006/ole">
            <p:oleObj spid="_x0000_s9231" name="CS ChemDraw Drawing" r:id="rId3" imgW="1665720" imgH="503280" progId="ChemDraw.Document.6.0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59423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anose="02020603050405020304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8273</TotalTime>
  <Words>469</Words>
  <Application>Microsoft Office PowerPoint</Application>
  <PresentationFormat>On-screen Show (4:3)</PresentationFormat>
  <Paragraphs>59</Paragraphs>
  <Slides>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Blank</vt:lpstr>
      <vt:lpstr>CS ChemDraw Drawing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Tahmina Haque</dc:creator>
  <cp:lastModifiedBy>User</cp:lastModifiedBy>
  <cp:revision>1385</cp:revision>
  <dcterms:created xsi:type="dcterms:W3CDTF">2006-02-07T16:59:36Z</dcterms:created>
  <dcterms:modified xsi:type="dcterms:W3CDTF">2023-07-06T05:11:11Z</dcterms:modified>
</cp:coreProperties>
</file>