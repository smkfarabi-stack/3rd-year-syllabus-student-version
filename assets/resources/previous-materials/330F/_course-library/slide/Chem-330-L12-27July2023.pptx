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sldIdLst>
    <p:sldId id="691" r:id="rId2"/>
    <p:sldId id="692" r:id="rId3"/>
    <p:sldId id="693" r:id="rId4"/>
    <p:sldId id="694" r:id="rId5"/>
    <p:sldId id="695" r:id="rId6"/>
    <p:sldId id="708" r:id="rId7"/>
    <p:sldId id="709" r:id="rId8"/>
    <p:sldId id="697" r:id="rId9"/>
    <p:sldId id="698" r:id="rId10"/>
    <p:sldId id="710" r:id="rId11"/>
    <p:sldId id="702" r:id="rId12"/>
    <p:sldId id="707" r:id="rId13"/>
    <p:sldId id="703" r:id="rId14"/>
    <p:sldId id="704" r:id="rId15"/>
    <p:sldId id="705" r:id="rId16"/>
    <p:sldId id="706" r:id="rId17"/>
    <p:sldId id="711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33CC"/>
    <a:srgbClr val="FFB27D"/>
    <a:srgbClr val="4C4CC4"/>
    <a:srgbClr val="9999FF"/>
    <a:srgbClr val="9900FF"/>
    <a:srgbClr val="000099"/>
    <a:srgbClr val="800080"/>
    <a:srgbClr val="CC0099"/>
    <a:srgbClr val="04A8E2"/>
    <a:srgbClr val="0CB3D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294" autoAdjust="0"/>
    <p:restoredTop sz="90929"/>
  </p:normalViewPr>
  <p:slideViewPr>
    <p:cSldViewPr>
      <p:cViewPr>
        <p:scale>
          <a:sx n="60" d="100"/>
          <a:sy n="60" d="100"/>
        </p:scale>
        <p:origin x="-798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27-Jul-23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8.png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png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0" y="1752600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UV-Vis</a:t>
            </a:r>
            <a:r>
              <a:rPr lang="en-US" sz="3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</a:t>
            </a:r>
            <a:r>
              <a:rPr lang="en-US" sz="3600" b="1" dirty="0" smtClean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</a:t>
            </a:r>
            <a:r>
              <a:rPr lang="en-US" sz="3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</a:t>
            </a:r>
            <a:r>
              <a:rPr lang="en-US" sz="36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</a:t>
            </a:r>
            <a:r>
              <a:rPr lang="en-US" sz="36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</a:t>
            </a:r>
            <a:r>
              <a:rPr lang="en-US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</a:t>
            </a:r>
            <a:r>
              <a:rPr lang="en-US" sz="3600" b="1" dirty="0" smtClean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</a:t>
            </a:r>
            <a:r>
              <a:rPr lang="en-US" sz="3600" b="1" dirty="0" smtClean="0">
                <a:solidFill>
                  <a:srgbClr val="FF5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copy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7987F46-F22D-4314-B239-C75F94E3B83D}"/>
              </a:ext>
            </a:extLst>
          </p:cNvPr>
          <p:cNvSpPr txBox="1"/>
          <p:nvPr/>
        </p:nvSpPr>
        <p:spPr>
          <a:xfrm>
            <a:off x="7010401" y="1903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903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" y="2971800"/>
            <a:ext cx="8046720" cy="333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22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990600"/>
            <a:ext cx="86868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Since the absorption of ultraviolet or visible radiation by a molecule leads 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transition among electronic energy levels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of the molecule, it is also often called as electronic spectroscopy.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04800" y="2286000"/>
            <a:ext cx="8610600" cy="4343400"/>
            <a:chOff x="304800" y="2972038"/>
            <a:chExt cx="8610600" cy="4343400"/>
          </a:xfrm>
          <a:noFill/>
        </p:grpSpPr>
        <p:sp>
          <p:nvSpPr>
            <p:cNvPr id="6" name="Rectangle 5"/>
            <p:cNvSpPr/>
            <p:nvPr/>
          </p:nvSpPr>
          <p:spPr bwMode="auto">
            <a:xfrm>
              <a:off x="304800" y="2972038"/>
              <a:ext cx="8610600" cy="43434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81000" y="3165902"/>
              <a:ext cx="8382000" cy="201593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74320" indent="-274320" algn="just">
                <a:spcAft>
                  <a:spcPts val="1200"/>
                </a:spcAft>
                <a:buClr>
                  <a:srgbClr val="FF99CC"/>
                </a:buClr>
                <a:buFont typeface="Wingdings" pitchFamily="2" charset="2"/>
                <a:buChar char="ü"/>
              </a:pP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These transitions are quantized and depend on the electronic structure of the molecule.</a:t>
              </a:r>
            </a:p>
            <a:p>
              <a:pPr marL="274320" indent="-274320" algn="just">
                <a:spcAft>
                  <a:spcPts val="1200"/>
                </a:spcAft>
                <a:buClr>
                  <a:srgbClr val="FF99CC"/>
                </a:buClr>
                <a:buFont typeface="Wingdings" pitchFamily="2" charset="2"/>
                <a:buChar char="ü"/>
              </a:pP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The most probable transitions is from the </a:t>
              </a:r>
              <a:r>
                <a:rPr lang="en-US" sz="23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ighest </a:t>
              </a:r>
              <a:r>
                <a:rPr lang="en-US" sz="23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ccupied </a:t>
              </a:r>
              <a:r>
                <a:rPr lang="en-US" sz="23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olecular </a:t>
              </a:r>
              <a:r>
                <a:rPr lang="en-US" sz="23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rbital (</a:t>
              </a:r>
              <a:r>
                <a:rPr lang="en-US" sz="23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HOMO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) to the </a:t>
              </a:r>
              <a:r>
                <a:rPr lang="en-US" sz="2300" b="1" dirty="0" smtClean="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owest </a:t>
              </a:r>
              <a:r>
                <a:rPr lang="en-US" sz="2300" b="1" dirty="0" smtClean="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noccupied </a:t>
              </a:r>
              <a:r>
                <a:rPr lang="en-US" sz="2300" b="1" dirty="0" smtClean="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olecular </a:t>
              </a:r>
              <a:r>
                <a:rPr lang="en-US" sz="2300" b="1" dirty="0" smtClean="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rbital (</a:t>
              </a:r>
              <a:r>
                <a:rPr lang="en-US" sz="2300" dirty="0" smtClean="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</a:rPr>
                <a:t>LUMO</a:t>
              </a:r>
              <a:r>
                <a:rPr lang="en-US" sz="2300" dirty="0" smtClean="0">
                  <a:latin typeface="Times New Roman" pitchFamily="18" charset="0"/>
                  <a:cs typeface="Times New Roman" pitchFamily="18" charset="0"/>
                </a:rPr>
                <a:t>).</a:t>
              </a:r>
              <a:endParaRPr lang="en-US" sz="2300" dirty="0"/>
            </a:p>
          </p:txBody>
        </p:sp>
        <p:pic>
          <p:nvPicPr>
            <p:cNvPr id="8" name="Picture 2" descr="uv spectroscopy electron transition এর ছবি ফলাফল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22577" y="5410438"/>
              <a:ext cx="7030823" cy="1905000"/>
            </a:xfrm>
            <a:prstGeom prst="rect">
              <a:avLst/>
            </a:prstGeom>
            <a:grpFill/>
            <a:ln>
              <a:solidFill>
                <a:srgbClr val="FF99CC"/>
              </a:solidFill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2451884" y="208002"/>
            <a:ext cx="41392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UV-Vis</a:t>
            </a:r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30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Spectroscopy</a:t>
            </a:r>
            <a:endParaRPr lang="en-US" sz="3000" b="1" dirty="0">
              <a:ln w="1905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919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7728" y="208002"/>
            <a:ext cx="79464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Principles of UV Absorption </a:t>
            </a:r>
            <a:r>
              <a:rPr lang="en-US" sz="30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Spectroscopy</a:t>
            </a:r>
            <a:endParaRPr lang="en-US" sz="3000" b="1" dirty="0">
              <a:ln w="1905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599" y="1178004"/>
            <a:ext cx="84582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When electromagnetic radiations of ultraviolet and visible wavelengths are passed through the compound with multiple bonds, a portion of radiation is normally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absorbed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4191000"/>
            <a:ext cx="3048000" cy="495300"/>
          </a:xfrm>
          <a:prstGeom prst="rect">
            <a:avLst/>
          </a:prstGeom>
          <a:noFill/>
          <a:ln w="9525">
            <a:solidFill>
              <a:srgbClr val="FF99CC"/>
            </a:solidFill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28600" y="5410200"/>
            <a:ext cx="3886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 = </a:t>
            </a:r>
            <a:r>
              <a:rPr lang="en-US" sz="2100" dirty="0" smtClean="0">
                <a:solidFill>
                  <a:srgbClr val="9900FF"/>
                </a:solidFill>
                <a:latin typeface="Times New Roman" pitchFamily="18" charset="0"/>
                <a:cs typeface="Times New Roman" pitchFamily="18" charset="0"/>
              </a:rPr>
              <a:t>absorbance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algn="just">
              <a:lnSpc>
                <a:spcPts val="3000"/>
              </a:lnSpc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1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= intensity of  </a:t>
            </a:r>
            <a:r>
              <a:rPr lang="en-US" sz="21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incident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light,</a:t>
            </a:r>
          </a:p>
          <a:p>
            <a:pPr algn="just">
              <a:lnSpc>
                <a:spcPts val="3000"/>
              </a:lnSpc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  =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intensity of  </a:t>
            </a:r>
            <a:r>
              <a:rPr lang="en-US" sz="21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transmitted</a:t>
            </a:r>
            <a:r>
              <a:rPr lang="en-US" sz="21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light 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599" y="2667000"/>
            <a:ext cx="6400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amount of light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absorbed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by the sample is explained by the following empirical expression, known as the Beer-Lambert Law,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0" y="2209800"/>
            <a:ext cx="2057400" cy="2983718"/>
          </a:xfrm>
          <a:prstGeom prst="rect">
            <a:avLst/>
          </a:prstGeom>
          <a:noFill/>
          <a:ln w="9525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191000" y="5410200"/>
            <a:ext cx="4648200" cy="1246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ε = </a:t>
            </a:r>
            <a:r>
              <a:rPr lang="en-US" sz="2100" dirty="0" smtClean="0">
                <a:solidFill>
                  <a:srgbClr val="F509B7"/>
                </a:solidFill>
                <a:latin typeface="Times New Roman" pitchFamily="18" charset="0"/>
                <a:cs typeface="Times New Roman" pitchFamily="18" charset="0"/>
              </a:rPr>
              <a:t>molar </a:t>
            </a:r>
            <a:r>
              <a:rPr lang="en-US" sz="2100" dirty="0" err="1" smtClean="0">
                <a:solidFill>
                  <a:srgbClr val="F509B7"/>
                </a:solidFill>
                <a:latin typeface="Times New Roman" pitchFamily="18" charset="0"/>
                <a:cs typeface="Times New Roman" pitchFamily="18" charset="0"/>
              </a:rPr>
              <a:t>absorptivity</a:t>
            </a:r>
            <a:r>
              <a:rPr lang="en-US" sz="2100" dirty="0" smtClean="0">
                <a:solidFill>
                  <a:srgbClr val="F509B7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 L mol</a:t>
            </a:r>
            <a:r>
              <a:rPr lang="en-US" sz="2100" baseline="30000" dirty="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 cm</a:t>
            </a:r>
            <a:r>
              <a:rPr lang="en-US" sz="2100" baseline="30000" dirty="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100" dirty="0" smtClean="0">
                <a:solidFill>
                  <a:srgbClr val="FF6699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ts val="3000"/>
              </a:lnSpc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= molar concentration of solute,</a:t>
            </a:r>
          </a:p>
          <a:p>
            <a:pPr algn="just">
              <a:lnSpc>
                <a:spcPts val="3000"/>
              </a:lnSpc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l = length of the sample cell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996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62200" y="76200"/>
            <a:ext cx="365997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Beer-Lambert</a:t>
            </a:r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30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Law</a:t>
            </a:r>
            <a:endParaRPr lang="en-US" sz="3000" b="1" dirty="0">
              <a:ln w="1905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1771626"/>
            <a:ext cx="883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That means, the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absorbance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of light is directly proportional to the thickness of the media through which the light is being transmitted multiplied by the concentration of absorbing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chromophore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898422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Beer-Lambert Law states that the fraction of incident radiation absorbed is proportional to the number of absorbing  molecules in its path.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7897" name="Picture 9" descr="Beer-Lambert Law graph এর ছবি ফলাফল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599" y="3108222"/>
            <a:ext cx="4648201" cy="3673578"/>
          </a:xfrm>
          <a:prstGeom prst="rect">
            <a:avLst/>
          </a:prstGeom>
          <a:noFill/>
        </p:spPr>
      </p:pic>
      <p:pic>
        <p:nvPicPr>
          <p:cNvPr id="37901" name="Picture 13" descr="Beer lambert law scheme এর ছবি ফলাফল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305" y="3641622"/>
            <a:ext cx="4254647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14580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73053" y="228600"/>
            <a:ext cx="5565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Absorbance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8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 Transmittance</a:t>
            </a:r>
            <a:endParaRPr lang="en-US" sz="2800" b="1" dirty="0">
              <a:ln w="1905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835" y="6167735"/>
            <a:ext cx="4294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Abs = 0;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100% light transmitted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05578" y="6167735"/>
            <a:ext cx="4063933" cy="46166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Abs = 1;  10% light transmitted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1" y="990600"/>
            <a:ext cx="8839199" cy="83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lnSpc>
                <a:spcPts val="3000"/>
              </a:lnSpc>
              <a:buClr>
                <a:srgbClr val="0000FF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ratio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of intensity of transmitted light (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the intensity of incident light 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(I</a:t>
            </a:r>
            <a:r>
              <a:rPr lang="en-US" sz="2200" b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 known as 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transmittance 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 = 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I/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" y="2057400"/>
            <a:ext cx="14398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Therefore,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62200" y="2092404"/>
            <a:ext cx="3624197" cy="1216487"/>
          </a:xfrm>
          <a:prstGeom prst="rect">
            <a:avLst/>
          </a:prstGeom>
          <a:noFill/>
          <a:ln>
            <a:solidFill>
              <a:srgbClr val="FF99CC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it-IT" sz="2200" dirty="0" smtClean="0">
                <a:latin typeface="Times New Roman" pitchFamily="18" charset="0"/>
                <a:cs typeface="Times New Roman" pitchFamily="18" charset="0"/>
              </a:rPr>
              <a:t>      - Log I / I</a:t>
            </a:r>
            <a:r>
              <a:rPr lang="it-IT" sz="22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it-IT" sz="2200" dirty="0" smtClean="0">
                <a:latin typeface="Times New Roman" pitchFamily="18" charset="0"/>
                <a:cs typeface="Times New Roman" pitchFamily="18" charset="0"/>
              </a:rPr>
              <a:t> = - log T = ε c l</a:t>
            </a:r>
            <a:br>
              <a:rPr lang="it-IT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it-IT" sz="2200" dirty="0" smtClean="0">
                <a:latin typeface="Times New Roman" pitchFamily="18" charset="0"/>
                <a:cs typeface="Times New Roman" pitchFamily="18" charset="0"/>
              </a:rPr>
              <a:t>and   Log I</a:t>
            </a:r>
            <a:r>
              <a:rPr lang="it-IT" sz="22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it-IT" sz="2200" dirty="0" smtClean="0">
                <a:latin typeface="Times New Roman" pitchFamily="18" charset="0"/>
                <a:cs typeface="Times New Roman" pitchFamily="18" charset="0"/>
              </a:rPr>
              <a:t> / I = A = ε c l</a:t>
            </a:r>
            <a:br>
              <a:rPr lang="it-IT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it-IT" sz="2200" dirty="0" smtClean="0">
                <a:latin typeface="Times New Roman" pitchFamily="18" charset="0"/>
                <a:cs typeface="Times New Roman" pitchFamily="18" charset="0"/>
              </a:rPr>
              <a:t>or      A </a:t>
            </a:r>
            <a:r>
              <a:rPr lang="it-IT" sz="2200" dirty="0" smtClean="0">
                <a:latin typeface="Times New Roman" pitchFamily="18" charset="0"/>
                <a:cs typeface="Times New Roman" pitchFamily="18" charset="0"/>
              </a:rPr>
              <a:t>= - log T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240" y="3600911"/>
            <a:ext cx="7680960" cy="2342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16151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7" name="Rectangle 11"/>
          <p:cNvSpPr>
            <a:spLocks noChangeArrowheads="1"/>
          </p:cNvSpPr>
          <p:nvPr/>
        </p:nvSpPr>
        <p:spPr bwMode="auto">
          <a:xfrm>
            <a:off x="152400" y="1100316"/>
            <a:ext cx="8686800" cy="12618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r>
              <a:rPr lang="en-US" sz="28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800" b="1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max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US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wavelength </a:t>
            </a:r>
            <a:r>
              <a:rPr lang="en-US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of light corresponding to maximum absorption </a:t>
            </a:r>
            <a:r>
              <a:rPr lang="en-US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and </a:t>
            </a:r>
            <a:r>
              <a:rPr lang="en-US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can be read directly from the horizontal axis of the </a:t>
            </a:r>
            <a:r>
              <a:rPr lang="en-US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spectrum.</a:t>
            </a:r>
            <a:endParaRPr lang="en-US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23229" y="152400"/>
            <a:ext cx="8963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3200" b="1" i="1" baseline="-25000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max</a:t>
            </a:r>
            <a:endParaRPr lang="en-US" sz="32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20018" y="2569919"/>
            <a:ext cx="6126480" cy="417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406819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438906" y="3423142"/>
            <a:ext cx="5578475" cy="3065463"/>
            <a:chOff x="2246" y="2245"/>
            <a:chExt cx="3514" cy="1931"/>
          </a:xfrm>
        </p:grpSpPr>
        <p:pic>
          <p:nvPicPr>
            <p:cNvPr id="56334" name="Picture 18" descr="isopren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246" y="2245"/>
              <a:ext cx="3514" cy="1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335" name="Line 21"/>
            <p:cNvSpPr>
              <a:spLocks noChangeShapeType="1"/>
            </p:cNvSpPr>
            <p:nvPr/>
          </p:nvSpPr>
          <p:spPr bwMode="auto">
            <a:xfrm>
              <a:off x="3224" y="2592"/>
              <a:ext cx="0" cy="120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6336" name="Rectangle 22"/>
            <p:cNvSpPr>
              <a:spLocks noChangeArrowheads="1"/>
            </p:cNvSpPr>
            <p:nvPr/>
          </p:nvSpPr>
          <p:spPr bwMode="auto">
            <a:xfrm>
              <a:off x="3958" y="2400"/>
              <a:ext cx="746" cy="192"/>
            </a:xfrm>
            <a:prstGeom prst="rect">
              <a:avLst/>
            </a:prstGeom>
            <a:solidFill>
              <a:srgbClr val="00FFF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 dirty="0">
                  <a:solidFill>
                    <a:srgbClr val="FF0066"/>
                  </a:solidFill>
                  <a:latin typeface="Arial" charset="0"/>
                  <a:sym typeface="Symbol" pitchFamily="18" charset="2"/>
                </a:rPr>
                <a:t></a:t>
              </a:r>
              <a:r>
                <a:rPr lang="en-US" sz="1400" baseline="-25000" dirty="0">
                  <a:solidFill>
                    <a:srgbClr val="FF0066"/>
                  </a:solidFill>
                  <a:latin typeface="Arial" charset="0"/>
                  <a:sym typeface="Symbol" pitchFamily="18" charset="2"/>
                </a:rPr>
                <a:t>max</a:t>
              </a:r>
              <a:r>
                <a:rPr lang="en-US" sz="1400" dirty="0">
                  <a:solidFill>
                    <a:srgbClr val="000066"/>
                  </a:solidFill>
                  <a:latin typeface="Arial" charset="0"/>
                  <a:sym typeface="Symbol" pitchFamily="18" charset="2"/>
                </a:rPr>
                <a:t> =</a:t>
              </a:r>
              <a:r>
                <a:rPr lang="en-US" sz="1400" dirty="0">
                  <a:solidFill>
                    <a:srgbClr val="000066"/>
                  </a:solidFill>
                  <a:latin typeface="Arial" charset="0"/>
                </a:rPr>
                <a:t> 20000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475584" y="238780"/>
            <a:ext cx="4001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sym typeface="Symbol" pitchFamily="18" charset="2"/>
              </a:rPr>
              <a:t>Molar Absorptivity (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sym typeface="Symbol" pitchFamily="18" charset="2"/>
              </a:rPr>
              <a:t>)</a:t>
            </a:r>
            <a:endParaRPr lang="en-US" sz="2800" b="1" dirty="0">
              <a:ln w="1905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25" descr="beerlambert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604427"/>
            <a:ext cx="1143000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1676400" y="1528227"/>
            <a:ext cx="7086600" cy="1138773"/>
          </a:xfrm>
          <a:prstGeom prst="rect">
            <a:avLst/>
          </a:prstGeom>
          <a:noFill/>
          <a:ln>
            <a:solidFill>
              <a:srgbClr val="FF99CC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 smtClean="0">
                <a:solidFill>
                  <a:srgbClr val="FF0000"/>
                </a:solidFill>
                <a:latin typeface="Arial" charset="0"/>
                <a:sym typeface="Symbol" pitchFamily="18" charset="2"/>
              </a:rPr>
              <a:t></a:t>
            </a:r>
            <a:r>
              <a:rPr lang="en-US" sz="2000" dirty="0" smtClean="0">
                <a:solidFill>
                  <a:srgbClr val="FF0066"/>
                </a:solidFill>
                <a:latin typeface="Arial" charset="0"/>
                <a:sym typeface="Symbol" pitchFamily="18" charset="2"/>
              </a:rPr>
              <a:t>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 a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constant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 is a characteristic of a given absorbing species (molecule or ion) in a particular solvent at a particular wavelength.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773256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360402"/>
            <a:ext cx="75600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Electronic Energy Levels </a:t>
            </a:r>
            <a:r>
              <a:rPr lang="en-US" sz="30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 Transition</a:t>
            </a:r>
            <a:endParaRPr lang="en-US" sz="3000" b="1" dirty="0">
              <a:ln w="1905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4868" y="1524000"/>
            <a:ext cx="8686800" cy="4758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13888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62691" y="152400"/>
            <a:ext cx="58576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Types of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Electronic Transition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1026" name="Picture 2" descr="Ultraviolet visible spectroscopy (uv vis) theory for electronic transition from sigma and n to sigma star and pi to pi st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79658" y="1143000"/>
            <a:ext cx="7040880" cy="563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1944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Text Box 2"/>
          <p:cNvSpPr txBox="1">
            <a:spLocks noChangeArrowheads="1"/>
          </p:cNvSpPr>
          <p:nvPr/>
        </p:nvSpPr>
        <p:spPr bwMode="auto">
          <a:xfrm>
            <a:off x="76200" y="949404"/>
            <a:ext cx="8839200" cy="121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algn="just">
              <a:lnSpc>
                <a:spcPts val="3000"/>
              </a:lnSpc>
              <a:spcBef>
                <a:spcPct val="0"/>
              </a:spcBef>
              <a:buClr>
                <a:srgbClr val="FF0000"/>
              </a:buClr>
              <a:buFontTx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From the molecular orbital diagram it is clear that,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all compounds other than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alkanes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there are several possible electronic transitions that can occur with different energies.</a:t>
            </a:r>
          </a:p>
        </p:txBody>
      </p:sp>
      <p:grpSp>
        <p:nvGrpSpPr>
          <p:cNvPr id="2" name="Group 43"/>
          <p:cNvGrpSpPr>
            <a:grpSpLocks noChangeAspect="1"/>
          </p:cNvGrpSpPr>
          <p:nvPr/>
        </p:nvGrpSpPr>
        <p:grpSpPr>
          <a:xfrm>
            <a:off x="259080" y="2590800"/>
            <a:ext cx="3474720" cy="3083111"/>
            <a:chOff x="243001" y="2862262"/>
            <a:chExt cx="3816237" cy="3386138"/>
          </a:xfrm>
        </p:grpSpPr>
        <p:sp>
          <p:nvSpPr>
            <p:cNvPr id="80903" name="Line 4"/>
            <p:cNvSpPr>
              <a:spLocks noChangeShapeType="1"/>
            </p:cNvSpPr>
            <p:nvPr/>
          </p:nvSpPr>
          <p:spPr bwMode="auto">
            <a:xfrm flipV="1">
              <a:off x="1231900" y="2862262"/>
              <a:ext cx="0" cy="32083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4" name="Text Box 5"/>
            <p:cNvSpPr txBox="1">
              <a:spLocks noChangeArrowheads="1"/>
            </p:cNvSpPr>
            <p:nvPr/>
          </p:nvSpPr>
          <p:spPr bwMode="auto">
            <a:xfrm>
              <a:off x="243001" y="4248150"/>
              <a:ext cx="920637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Energy</a:t>
              </a:r>
            </a:p>
          </p:txBody>
        </p:sp>
        <p:sp>
          <p:nvSpPr>
            <p:cNvPr id="80905" name="Line 6"/>
            <p:cNvSpPr>
              <a:spLocks noChangeShapeType="1"/>
            </p:cNvSpPr>
            <p:nvPr/>
          </p:nvSpPr>
          <p:spPr bwMode="auto">
            <a:xfrm>
              <a:off x="1376363" y="4467225"/>
              <a:ext cx="50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6" name="Line 7"/>
            <p:cNvSpPr>
              <a:spLocks noChangeShapeType="1"/>
            </p:cNvSpPr>
            <p:nvPr/>
          </p:nvSpPr>
          <p:spPr bwMode="auto">
            <a:xfrm flipV="1">
              <a:off x="1884363" y="3008312"/>
              <a:ext cx="434975" cy="145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7" name="Line 8"/>
            <p:cNvSpPr>
              <a:spLocks noChangeShapeType="1"/>
            </p:cNvSpPr>
            <p:nvPr/>
          </p:nvSpPr>
          <p:spPr bwMode="auto">
            <a:xfrm>
              <a:off x="2319338" y="3008312"/>
              <a:ext cx="796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8" name="Line 9"/>
            <p:cNvSpPr>
              <a:spLocks noChangeShapeType="1"/>
            </p:cNvSpPr>
            <p:nvPr/>
          </p:nvSpPr>
          <p:spPr bwMode="auto">
            <a:xfrm>
              <a:off x="3116263" y="3008312"/>
              <a:ext cx="434975" cy="145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9" name="Line 10"/>
            <p:cNvSpPr>
              <a:spLocks noChangeShapeType="1"/>
            </p:cNvSpPr>
            <p:nvPr/>
          </p:nvSpPr>
          <p:spPr bwMode="auto">
            <a:xfrm>
              <a:off x="1884363" y="4467225"/>
              <a:ext cx="434975" cy="1457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0" name="Line 11"/>
            <p:cNvSpPr>
              <a:spLocks noChangeShapeType="1"/>
            </p:cNvSpPr>
            <p:nvPr/>
          </p:nvSpPr>
          <p:spPr bwMode="auto">
            <a:xfrm flipH="1">
              <a:off x="3189288" y="4467225"/>
              <a:ext cx="361950" cy="1457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1" name="Line 12"/>
            <p:cNvSpPr>
              <a:spLocks noChangeShapeType="1"/>
            </p:cNvSpPr>
            <p:nvPr/>
          </p:nvSpPr>
          <p:spPr bwMode="auto">
            <a:xfrm>
              <a:off x="2319338" y="5924550"/>
              <a:ext cx="869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2" name="Line 13"/>
            <p:cNvSpPr>
              <a:spLocks noChangeShapeType="1"/>
            </p:cNvSpPr>
            <p:nvPr/>
          </p:nvSpPr>
          <p:spPr bwMode="auto">
            <a:xfrm>
              <a:off x="3551238" y="4467225"/>
              <a:ext cx="50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3" name="Line 14"/>
            <p:cNvSpPr>
              <a:spLocks noChangeShapeType="1"/>
            </p:cNvSpPr>
            <p:nvPr/>
          </p:nvSpPr>
          <p:spPr bwMode="auto">
            <a:xfrm flipV="1">
              <a:off x="1884363" y="3517900"/>
              <a:ext cx="508000" cy="949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4" name="Line 15"/>
            <p:cNvSpPr>
              <a:spLocks noChangeShapeType="1"/>
            </p:cNvSpPr>
            <p:nvPr/>
          </p:nvSpPr>
          <p:spPr bwMode="auto">
            <a:xfrm flipH="1" flipV="1">
              <a:off x="3044825" y="3517900"/>
              <a:ext cx="506413" cy="949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5" name="Line 16"/>
            <p:cNvSpPr>
              <a:spLocks noChangeShapeType="1"/>
            </p:cNvSpPr>
            <p:nvPr/>
          </p:nvSpPr>
          <p:spPr bwMode="auto">
            <a:xfrm>
              <a:off x="2392363" y="3517900"/>
              <a:ext cx="6524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6" name="Line 17"/>
            <p:cNvSpPr>
              <a:spLocks noChangeShapeType="1"/>
            </p:cNvSpPr>
            <p:nvPr/>
          </p:nvSpPr>
          <p:spPr bwMode="auto">
            <a:xfrm>
              <a:off x="1884363" y="4467225"/>
              <a:ext cx="508000" cy="947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7" name="Line 18"/>
            <p:cNvSpPr>
              <a:spLocks noChangeShapeType="1"/>
            </p:cNvSpPr>
            <p:nvPr/>
          </p:nvSpPr>
          <p:spPr bwMode="auto">
            <a:xfrm flipH="1">
              <a:off x="3116263" y="4467225"/>
              <a:ext cx="434975" cy="947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8" name="Line 19"/>
            <p:cNvSpPr>
              <a:spLocks noChangeShapeType="1"/>
            </p:cNvSpPr>
            <p:nvPr/>
          </p:nvSpPr>
          <p:spPr bwMode="auto">
            <a:xfrm>
              <a:off x="2392363" y="5414962"/>
              <a:ext cx="723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9" name="Line 20"/>
            <p:cNvSpPr>
              <a:spLocks noChangeShapeType="1"/>
            </p:cNvSpPr>
            <p:nvPr/>
          </p:nvSpPr>
          <p:spPr bwMode="auto">
            <a:xfrm>
              <a:off x="2101850" y="4467225"/>
              <a:ext cx="1160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20" name="Text Box 21"/>
            <p:cNvSpPr txBox="1">
              <a:spLocks noChangeArrowheads="1"/>
            </p:cNvSpPr>
            <p:nvPr/>
          </p:nvSpPr>
          <p:spPr bwMode="auto">
            <a:xfrm>
              <a:off x="2514600" y="2935287"/>
              <a:ext cx="465138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2000" dirty="0">
                  <a:solidFill>
                    <a:srgbClr val="FF0000"/>
                  </a:solidFill>
                  <a:latin typeface="Symbol" pitchFamily="18" charset="2"/>
                </a:rPr>
                <a:t>s*</a:t>
              </a:r>
            </a:p>
          </p:txBody>
        </p:sp>
        <p:sp>
          <p:nvSpPr>
            <p:cNvPr id="80921" name="Text Box 22"/>
            <p:cNvSpPr txBox="1">
              <a:spLocks noChangeArrowheads="1"/>
            </p:cNvSpPr>
            <p:nvPr/>
          </p:nvSpPr>
          <p:spPr bwMode="auto">
            <a:xfrm>
              <a:off x="2593975" y="5341937"/>
              <a:ext cx="32385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2000" dirty="0">
                  <a:latin typeface="Symbol" pitchFamily="18" charset="2"/>
                </a:rPr>
                <a:t>p</a:t>
              </a:r>
            </a:p>
          </p:txBody>
        </p:sp>
        <p:sp>
          <p:nvSpPr>
            <p:cNvPr id="80922" name="Text Box 23"/>
            <p:cNvSpPr txBox="1">
              <a:spLocks noChangeArrowheads="1"/>
            </p:cNvSpPr>
            <p:nvPr/>
          </p:nvSpPr>
          <p:spPr bwMode="auto">
            <a:xfrm>
              <a:off x="2592388" y="5851525"/>
              <a:ext cx="338137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2000">
                  <a:latin typeface="Symbol" pitchFamily="18" charset="2"/>
                </a:rPr>
                <a:t>s</a:t>
              </a:r>
            </a:p>
          </p:txBody>
        </p:sp>
        <p:sp>
          <p:nvSpPr>
            <p:cNvPr id="80923" name="Text Box 24"/>
            <p:cNvSpPr txBox="1">
              <a:spLocks noChangeArrowheads="1"/>
            </p:cNvSpPr>
            <p:nvPr/>
          </p:nvSpPr>
          <p:spPr bwMode="auto">
            <a:xfrm>
              <a:off x="2514600" y="3444875"/>
              <a:ext cx="45085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2000" dirty="0">
                  <a:solidFill>
                    <a:srgbClr val="FF0000"/>
                  </a:solidFill>
                  <a:latin typeface="Symbol" pitchFamily="18" charset="2"/>
                </a:rPr>
                <a:t>p*</a:t>
              </a:r>
            </a:p>
          </p:txBody>
        </p:sp>
        <p:sp>
          <p:nvSpPr>
            <p:cNvPr id="80924" name="Text Box 25"/>
            <p:cNvSpPr txBox="1">
              <a:spLocks noChangeArrowheads="1"/>
            </p:cNvSpPr>
            <p:nvPr/>
          </p:nvSpPr>
          <p:spPr bwMode="auto">
            <a:xfrm>
              <a:off x="2533482" y="4394200"/>
              <a:ext cx="312906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2000" b="0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</a:p>
          </p:txBody>
        </p:sp>
      </p:grpSp>
      <p:grpSp>
        <p:nvGrpSpPr>
          <p:cNvPr id="3" name="Group 44"/>
          <p:cNvGrpSpPr/>
          <p:nvPr/>
        </p:nvGrpSpPr>
        <p:grpSpPr>
          <a:xfrm>
            <a:off x="3962400" y="2362200"/>
            <a:ext cx="5230014" cy="3970318"/>
            <a:chOff x="4203700" y="2819400"/>
            <a:chExt cx="5230014" cy="3970318"/>
          </a:xfrm>
        </p:grpSpPr>
        <p:sp>
          <p:nvSpPr>
            <p:cNvPr id="80925" name="Text Box 33"/>
            <p:cNvSpPr txBox="1">
              <a:spLocks noChangeArrowheads="1"/>
            </p:cNvSpPr>
            <p:nvPr/>
          </p:nvSpPr>
          <p:spPr bwMode="auto">
            <a:xfrm>
              <a:off x="4203700" y="2819400"/>
              <a:ext cx="368300" cy="34163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dirty="0">
                  <a:latin typeface="Symbol" pitchFamily="18" charset="2"/>
                </a:rPr>
                <a:t>s</a:t>
              </a:r>
            </a:p>
            <a:p>
              <a:pPr algn="r">
                <a:spcBef>
                  <a:spcPct val="0"/>
                </a:spcBef>
              </a:pPr>
              <a:endParaRPr lang="en-US" dirty="0">
                <a:latin typeface="Symbol" pitchFamily="18" charset="2"/>
              </a:endParaRPr>
            </a:p>
            <a:p>
              <a:pPr algn="r">
                <a:spcBef>
                  <a:spcPct val="0"/>
                </a:spcBef>
              </a:pPr>
              <a:r>
                <a:rPr lang="en-US" dirty="0">
                  <a:latin typeface="Symbol" pitchFamily="18" charset="2"/>
                </a:rPr>
                <a:t>s</a:t>
              </a:r>
            </a:p>
            <a:p>
              <a:pPr algn="r">
                <a:spcBef>
                  <a:spcPct val="0"/>
                </a:spcBef>
              </a:pPr>
              <a:endParaRPr lang="en-US" dirty="0">
                <a:latin typeface="Symbol" pitchFamily="18" charset="2"/>
              </a:endParaRPr>
            </a:p>
            <a:p>
              <a:pPr algn="r">
                <a:spcBef>
                  <a:spcPct val="0"/>
                </a:spcBef>
              </a:pPr>
              <a:r>
                <a:rPr lang="en-US" dirty="0">
                  <a:latin typeface="Symbol" pitchFamily="18" charset="2"/>
                </a:rPr>
                <a:t>p</a:t>
              </a:r>
            </a:p>
            <a:p>
              <a:pPr algn="r">
                <a:spcBef>
                  <a:spcPct val="0"/>
                </a:spcBef>
              </a:pPr>
              <a:endParaRPr lang="en-US" dirty="0">
                <a:solidFill>
                  <a:schemeClr val="accent2"/>
                </a:solidFill>
                <a:latin typeface="Symbol" pitchFamily="18" charset="2"/>
              </a:endParaRPr>
            </a:p>
            <a:p>
              <a:pPr algn="r">
                <a:spcBef>
                  <a:spcPct val="0"/>
                </a:spcBef>
              </a:pPr>
              <a:r>
                <a:rPr lang="en-US" b="0" dirty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</a:p>
            <a:p>
              <a:pPr algn="r">
                <a:spcBef>
                  <a:spcPct val="0"/>
                </a:spcBef>
              </a:pPr>
              <a:endParaRPr lang="en-US" b="0" i="1" dirty="0">
                <a:solidFill>
                  <a:schemeClr val="accent2"/>
                </a:solidFill>
              </a:endParaRPr>
            </a:p>
            <a:p>
              <a:pPr algn="r">
                <a:spcBef>
                  <a:spcPct val="0"/>
                </a:spcBef>
              </a:pPr>
              <a:r>
                <a:rPr lang="en-US" b="0" dirty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</a:p>
          </p:txBody>
        </p:sp>
        <p:sp>
          <p:nvSpPr>
            <p:cNvPr id="80926" name="Text Box 34"/>
            <p:cNvSpPr txBox="1">
              <a:spLocks noChangeArrowheads="1"/>
            </p:cNvSpPr>
            <p:nvPr/>
          </p:nvSpPr>
          <p:spPr bwMode="auto">
            <a:xfrm>
              <a:off x="4953000" y="2819400"/>
              <a:ext cx="4480714" cy="39703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Symbol" pitchFamily="18" charset="2"/>
                </a:rPr>
                <a:t>s</a:t>
              </a:r>
              <a:r>
                <a:rPr lang="en-US" baseline="30000" dirty="0" smtClean="0">
                  <a:solidFill>
                    <a:srgbClr val="FF0000"/>
                  </a:solidFill>
                  <a:latin typeface="Symbol" pitchFamily="18" charset="2"/>
                </a:rPr>
                <a:t>*</a:t>
              </a:r>
              <a:r>
                <a:rPr lang="en-US" dirty="0" smtClean="0">
                  <a:solidFill>
                    <a:srgbClr val="FF0000"/>
                  </a:solidFill>
                  <a:latin typeface="Symbol" pitchFamily="18" charset="2"/>
                </a:rPr>
                <a:t> </a:t>
              </a:r>
              <a:r>
                <a:rPr lang="en-US" sz="2000" dirty="0" err="1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alkanes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(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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150 nm</a:t>
              </a:r>
              <a:r>
                <a:rPr lang="en-US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) </a:t>
              </a:r>
              <a:r>
                <a:rPr lang="en-US" baseline="30000" dirty="0" smtClean="0">
                  <a:solidFill>
                    <a:schemeClr val="accent2"/>
                  </a:solidFill>
                  <a:latin typeface="Symbol" pitchFamily="18" charset="2"/>
                </a:rPr>
                <a:t> </a:t>
              </a:r>
            </a:p>
            <a:p>
              <a:pPr>
                <a:spcBef>
                  <a:spcPct val="0"/>
                </a:spcBef>
              </a:pPr>
              <a:endParaRPr lang="en-US" dirty="0">
                <a:solidFill>
                  <a:schemeClr val="accent2"/>
                </a:solidFill>
                <a:latin typeface="Symbol" pitchFamily="18" charset="2"/>
              </a:endParaRPr>
            </a:p>
            <a:p>
              <a:r>
                <a:rPr lang="en-US" dirty="0">
                  <a:solidFill>
                    <a:srgbClr val="FF0000"/>
                  </a:solidFill>
                  <a:latin typeface="Symbol" pitchFamily="18" charset="2"/>
                </a:rPr>
                <a:t>p</a:t>
              </a:r>
              <a:r>
                <a:rPr lang="en-US" baseline="30000" dirty="0" smtClean="0">
                  <a:solidFill>
                    <a:srgbClr val="FF0000"/>
                  </a:solidFill>
                  <a:latin typeface="Symbol" pitchFamily="18" charset="2"/>
                </a:rPr>
                <a:t>* </a:t>
              </a:r>
              <a:r>
                <a:rPr lang="en-US" sz="2000" baseline="30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carbonyls (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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170 nm)</a:t>
              </a:r>
              <a:endParaRPr lang="en-US" sz="2000" baseline="30000" dirty="0">
                <a:solidFill>
                  <a:schemeClr val="accent2"/>
                </a:solidFill>
                <a:latin typeface="Symbol" pitchFamily="18" charset="2"/>
              </a:endParaRPr>
            </a:p>
            <a:p>
              <a:pPr>
                <a:spcBef>
                  <a:spcPct val="0"/>
                </a:spcBef>
              </a:pPr>
              <a:endParaRPr lang="en-US" dirty="0">
                <a:solidFill>
                  <a:schemeClr val="accent2"/>
                </a:solidFill>
                <a:latin typeface="Symbol" pitchFamily="18" charset="2"/>
              </a:endParaRPr>
            </a:p>
            <a:p>
              <a:r>
                <a:rPr lang="en-US" dirty="0">
                  <a:solidFill>
                    <a:srgbClr val="FF0000"/>
                  </a:solidFill>
                  <a:latin typeface="Symbol" pitchFamily="18" charset="2"/>
                </a:rPr>
                <a:t>p</a:t>
              </a:r>
              <a:r>
                <a:rPr lang="en-US" baseline="30000" dirty="0" smtClean="0">
                  <a:solidFill>
                    <a:srgbClr val="FF0000"/>
                  </a:solidFill>
                  <a:latin typeface="Symbol" pitchFamily="18" charset="2"/>
                </a:rPr>
                <a:t>*  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unsaturated compounds (170-190 nm</a:t>
              </a:r>
              <a:r>
                <a:rPr lang="en-US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baseline="30000" dirty="0">
                <a:solidFill>
                  <a:schemeClr val="accent2"/>
                </a:solidFill>
                <a:latin typeface="Symbol" pitchFamily="18" charset="2"/>
              </a:endParaRPr>
            </a:p>
            <a:p>
              <a:pPr>
                <a:spcBef>
                  <a:spcPct val="0"/>
                </a:spcBef>
              </a:pPr>
              <a:endParaRPr lang="en-US" dirty="0">
                <a:solidFill>
                  <a:schemeClr val="accent2"/>
                </a:solidFill>
                <a:latin typeface="Symbol" pitchFamily="18" charset="2"/>
              </a:endParaRPr>
            </a:p>
            <a:p>
              <a:r>
                <a:rPr lang="en-US" dirty="0" smtClean="0">
                  <a:solidFill>
                    <a:srgbClr val="FF0000"/>
                  </a:solidFill>
                  <a:latin typeface="Symbol" pitchFamily="18" charset="2"/>
                </a:rPr>
                <a:t>s</a:t>
              </a:r>
              <a:r>
                <a:rPr lang="en-US" baseline="30000" dirty="0" smtClean="0">
                  <a:solidFill>
                    <a:srgbClr val="FF0000"/>
                  </a:solidFill>
                  <a:latin typeface="Symbol" pitchFamily="18" charset="2"/>
                </a:rPr>
                <a:t>* 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halide, alcohol, amine, carbonyls etc </a:t>
              </a:r>
              <a:endParaRPr lang="en-US" dirty="0">
                <a:solidFill>
                  <a:schemeClr val="accent2"/>
                </a:solidFill>
                <a:latin typeface="Symbol" pitchFamily="18" charset="2"/>
              </a:endParaRPr>
            </a:p>
            <a:p>
              <a:pPr>
                <a:spcBef>
                  <a:spcPct val="0"/>
                </a:spcBef>
              </a:pPr>
              <a:endParaRPr lang="en-US" dirty="0">
                <a:solidFill>
                  <a:schemeClr val="accent2"/>
                </a:solidFill>
                <a:latin typeface="Symbol" pitchFamily="18" charset="2"/>
              </a:endParaRPr>
            </a:p>
            <a:p>
              <a:r>
                <a:rPr lang="en-US" dirty="0">
                  <a:solidFill>
                    <a:srgbClr val="FF0000"/>
                  </a:solidFill>
                  <a:latin typeface="Symbol" pitchFamily="18" charset="2"/>
                </a:rPr>
                <a:t>p</a:t>
              </a:r>
              <a:r>
                <a:rPr lang="en-US" baseline="30000" dirty="0" smtClean="0">
                  <a:solidFill>
                    <a:srgbClr val="FF0000"/>
                  </a:solidFill>
                  <a:latin typeface="Symbol" pitchFamily="18" charset="2"/>
                </a:rPr>
                <a:t>* 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carbonyls (sat. aliphatic </a:t>
              </a:r>
              <a:r>
                <a:rPr lang="en-US" sz="2000" dirty="0" err="1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ketone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</a:p>
            <a:p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                       </a:t>
              </a:r>
              <a:r>
                <a:rPr lang="en-US" sz="2000" dirty="0" smtClean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 280 nm)</a:t>
              </a:r>
              <a:endParaRPr lang="en-US" sz="20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>
                <a:spcBef>
                  <a:spcPct val="0"/>
                </a:spcBef>
              </a:pPr>
              <a:endParaRPr lang="en-US" baseline="30000" dirty="0">
                <a:solidFill>
                  <a:schemeClr val="accent2"/>
                </a:solidFill>
                <a:latin typeface="Symbol" pitchFamily="18" charset="2"/>
              </a:endParaRPr>
            </a:p>
          </p:txBody>
        </p:sp>
        <p:sp>
          <p:nvSpPr>
            <p:cNvPr id="80927" name="Line 35"/>
            <p:cNvSpPr>
              <a:spLocks noChangeShapeType="1"/>
            </p:cNvSpPr>
            <p:nvPr/>
          </p:nvSpPr>
          <p:spPr bwMode="auto">
            <a:xfrm>
              <a:off x="4572000" y="312420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28" name="Line 36"/>
            <p:cNvSpPr>
              <a:spLocks noChangeShapeType="1"/>
            </p:cNvSpPr>
            <p:nvPr/>
          </p:nvSpPr>
          <p:spPr bwMode="auto">
            <a:xfrm>
              <a:off x="4567238" y="381000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29" name="Line 37"/>
            <p:cNvSpPr>
              <a:spLocks noChangeShapeType="1"/>
            </p:cNvSpPr>
            <p:nvPr/>
          </p:nvSpPr>
          <p:spPr bwMode="auto">
            <a:xfrm>
              <a:off x="4572000" y="457200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0" name="Line 38"/>
            <p:cNvSpPr>
              <a:spLocks noChangeShapeType="1"/>
            </p:cNvSpPr>
            <p:nvPr/>
          </p:nvSpPr>
          <p:spPr bwMode="auto">
            <a:xfrm>
              <a:off x="4572000" y="533400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1" name="Line 39"/>
            <p:cNvSpPr>
              <a:spLocks noChangeShapeType="1"/>
            </p:cNvSpPr>
            <p:nvPr/>
          </p:nvSpPr>
          <p:spPr bwMode="auto">
            <a:xfrm>
              <a:off x="4572000" y="601980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" name="Rectangle 43"/>
          <p:cNvSpPr>
            <a:spLocks noChangeArrowheads="1"/>
          </p:cNvSpPr>
          <p:nvPr/>
        </p:nvSpPr>
        <p:spPr bwMode="auto">
          <a:xfrm>
            <a:off x="170171" y="6248400"/>
            <a:ext cx="889762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8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Energy required for various transitions obey the order</a:t>
            </a:r>
            <a:r>
              <a:rPr lang="en-US" sz="18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:</a:t>
            </a:r>
            <a:r>
              <a:rPr lang="en-US" sz="18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800" dirty="0">
                <a:solidFill>
                  <a:srgbClr val="000066"/>
                </a:solidFill>
                <a:latin typeface="Arial" charset="0"/>
                <a:sym typeface="Symbol" pitchFamily="18" charset="2"/>
              </a:rPr>
              <a:t>  </a:t>
            </a:r>
            <a:r>
              <a:rPr lang="en-US" sz="1800" dirty="0">
                <a:solidFill>
                  <a:srgbClr val="FF0000"/>
                </a:solidFill>
                <a:latin typeface="Arial" charset="0"/>
                <a:sym typeface="Symbol" pitchFamily="18" charset="2"/>
              </a:rPr>
              <a:t>* </a:t>
            </a:r>
            <a:r>
              <a:rPr lang="en-US" sz="1800" dirty="0">
                <a:solidFill>
                  <a:srgbClr val="000066"/>
                </a:solidFill>
                <a:latin typeface="Arial" charset="0"/>
                <a:sym typeface="Symbol" pitchFamily="18" charset="2"/>
              </a:rPr>
              <a:t>&gt; n  </a:t>
            </a:r>
            <a:r>
              <a:rPr lang="en-US" sz="1800" dirty="0">
                <a:solidFill>
                  <a:srgbClr val="FF0000"/>
                </a:solidFill>
                <a:latin typeface="Arial" charset="0"/>
                <a:sym typeface="Symbol" pitchFamily="18" charset="2"/>
              </a:rPr>
              <a:t>* </a:t>
            </a:r>
            <a:r>
              <a:rPr lang="en-US" sz="1800" dirty="0">
                <a:solidFill>
                  <a:srgbClr val="000066"/>
                </a:solidFill>
                <a:latin typeface="Arial" charset="0"/>
                <a:sym typeface="Symbol" pitchFamily="18" charset="2"/>
              </a:rPr>
              <a:t>&gt;   </a:t>
            </a:r>
            <a:r>
              <a:rPr lang="en-US" sz="1800" dirty="0">
                <a:solidFill>
                  <a:srgbClr val="FF0000"/>
                </a:solidFill>
                <a:latin typeface="Arial" charset="0"/>
                <a:sym typeface="Symbol" pitchFamily="18" charset="2"/>
              </a:rPr>
              <a:t>*</a:t>
            </a:r>
            <a:r>
              <a:rPr lang="en-US" sz="1800" dirty="0">
                <a:solidFill>
                  <a:srgbClr val="000066"/>
                </a:solidFill>
                <a:latin typeface="Arial" charset="0"/>
                <a:sym typeface="Symbol" pitchFamily="18" charset="2"/>
              </a:rPr>
              <a:t>&gt; n  </a:t>
            </a:r>
            <a:r>
              <a:rPr lang="en-US" sz="1800" dirty="0">
                <a:solidFill>
                  <a:srgbClr val="FF0000"/>
                </a:solidFill>
                <a:latin typeface="Arial" charset="0"/>
                <a:sym typeface="Symbol" pitchFamily="18" charset="2"/>
              </a:rPr>
              <a:t>*</a:t>
            </a:r>
            <a:r>
              <a:rPr lang="en-US" sz="1800" dirty="0">
                <a:solidFill>
                  <a:srgbClr val="000066"/>
                </a:solidFill>
                <a:latin typeface="Arial" charset="0"/>
                <a:sym typeface="Symbol" pitchFamily="18" charset="2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2691" y="152400"/>
            <a:ext cx="58576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Types of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Electronic Transition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5772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43" name="Text Box 2"/>
          <p:cNvSpPr txBox="1">
            <a:spLocks noChangeArrowheads="1"/>
          </p:cNvSpPr>
          <p:nvPr/>
        </p:nvSpPr>
        <p:spPr bwMode="auto">
          <a:xfrm>
            <a:off x="533400" y="990600"/>
            <a:ext cx="7772400" cy="100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800"/>
              </a:spcAft>
              <a:buClr>
                <a:srgbClr val="FF0000"/>
              </a:buClr>
              <a:buFontTx/>
              <a:buChar char="•"/>
            </a:pPr>
            <a:r>
              <a:rPr lang="en-US" sz="2200" dirty="0">
                <a:latin typeface="Arial" charset="0"/>
                <a:sym typeface="Symbol" pitchFamily="18" charset="2"/>
              </a:rPr>
              <a:t>  *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occur in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170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/>
              </a:rPr>
              <a:t> 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190 nm range in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unconjugated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alkenes.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457200" indent="-457200" algn="just">
              <a:spcBef>
                <a:spcPct val="0"/>
              </a:spcBef>
              <a:spcAft>
                <a:spcPts val="1200"/>
              </a:spcAft>
              <a:buClr>
                <a:srgbClr val="FF0000"/>
              </a:buClr>
              <a:buFontTx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Molar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absorptivity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: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High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</a:t>
            </a:r>
            <a:r>
              <a:rPr lang="en-US" sz="2200" dirty="0" smtClean="0">
                <a:latin typeface="Arial" charset="0"/>
                <a:sym typeface="Symbol" pitchFamily="18" charset="2"/>
              </a:rPr>
              <a:t></a:t>
            </a:r>
            <a:r>
              <a:rPr lang="en-US" sz="2200" baseline="-25000" dirty="0">
                <a:latin typeface="Arial" charset="0"/>
                <a:sym typeface="Symbol" pitchFamily="18" charset="2"/>
              </a:rPr>
              <a:t>max</a:t>
            </a:r>
            <a:r>
              <a:rPr lang="en-US" sz="2200" dirty="0">
                <a:latin typeface="Arial" charset="0"/>
                <a:sym typeface="Symbol" pitchFamily="18" charset="2"/>
              </a:rPr>
              <a:t> 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1000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10000]</a:t>
            </a:r>
            <a:r>
              <a:rPr lang="en-US" sz="2200" dirty="0">
                <a:latin typeface="Arial" charset="0"/>
                <a:sym typeface="Symbol" pitchFamily="18" charset="2"/>
              </a:rPr>
              <a:t>	</a:t>
            </a:r>
          </a:p>
        </p:txBody>
      </p:sp>
      <p:sp>
        <p:nvSpPr>
          <p:cNvPr id="33" name="Rectangle 17"/>
          <p:cNvSpPr>
            <a:spLocks noChangeArrowheads="1"/>
          </p:cNvSpPr>
          <p:nvPr/>
        </p:nvSpPr>
        <p:spPr bwMode="auto">
          <a:xfrm>
            <a:off x="3089305" y="152400"/>
            <a:ext cx="308289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sym typeface="Symbol" pitchFamily="18" charset="2"/>
              </a:rPr>
              <a:t>  * 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sym typeface="Symbol" pitchFamily="18" charset="2"/>
              </a:rPr>
              <a:t>Transition</a:t>
            </a:r>
            <a:endParaRPr lang="en-US" sz="28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sym typeface="Symbol" pitchFamily="18" charset="2"/>
            </a:endParaRPr>
          </a:p>
        </p:txBody>
      </p:sp>
      <p:sp>
        <p:nvSpPr>
          <p:cNvPr id="34" name="Rectangle 36"/>
          <p:cNvSpPr>
            <a:spLocks noChangeArrowheads="1"/>
          </p:cNvSpPr>
          <p:nvPr/>
        </p:nvSpPr>
        <p:spPr bwMode="auto">
          <a:xfrm>
            <a:off x="533400" y="2133600"/>
            <a:ext cx="8077200" cy="11079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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is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high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because the  and *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orbitals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are in same plane and consequently the probability of jump of an electron from   * orbital is very high.	</a:t>
            </a: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1120" y="3505200"/>
            <a:ext cx="2926080" cy="277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0" name="Group 19"/>
          <p:cNvGrpSpPr/>
          <p:nvPr/>
        </p:nvGrpSpPr>
        <p:grpSpPr>
          <a:xfrm>
            <a:off x="5657850" y="3486150"/>
            <a:ext cx="2495550" cy="3067050"/>
            <a:chOff x="4819650" y="3486150"/>
            <a:chExt cx="2495550" cy="3067050"/>
          </a:xfrm>
        </p:grpSpPr>
        <p:pic>
          <p:nvPicPr>
            <p:cNvPr id="8201" name="Picture 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19650" y="3486150"/>
              <a:ext cx="2495550" cy="30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9" name="TextBox 18"/>
            <p:cNvSpPr txBox="1"/>
            <p:nvPr/>
          </p:nvSpPr>
          <p:spPr>
            <a:xfrm>
              <a:off x="5638800" y="3715435"/>
              <a:ext cx="84830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 smtClean="0">
                  <a:solidFill>
                    <a:srgbClr val="4C4CC4"/>
                  </a:solidFill>
                  <a:latin typeface="Arial" pitchFamily="34" charset="0"/>
                  <a:cs typeface="Arial" pitchFamily="34" charset="0"/>
                </a:rPr>
                <a:t>343 nm</a:t>
              </a:r>
              <a:endParaRPr lang="en-US" sz="1500" b="1" dirty="0">
                <a:solidFill>
                  <a:srgbClr val="4C4CC4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89823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2960" y="2133600"/>
            <a:ext cx="7406640" cy="4584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643473" y="228600"/>
            <a:ext cx="3978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Effect of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Conjugation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000" y="997803"/>
            <a:ext cx="8275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value of </a:t>
            </a:r>
            <a:r>
              <a:rPr lang="en-US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a particular compound is highly dependent on the extent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conjugation.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1109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43473" y="228600"/>
            <a:ext cx="3978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Effect of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Conjugation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50203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effect of increasing conjugation is to shift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absorption maximum to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longer wavelengths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764280" y="2615640"/>
            <a:ext cx="5303520" cy="3861360"/>
            <a:chOff x="3764280" y="2615640"/>
            <a:chExt cx="5303520" cy="3861360"/>
          </a:xfrm>
        </p:grpSpPr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4280" y="2881957"/>
              <a:ext cx="5303520" cy="35950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6146" name="Object 2"/>
            <p:cNvGraphicFramePr>
              <a:graphicFrameLocks noChangeAspect="1"/>
            </p:cNvGraphicFramePr>
            <p:nvPr/>
          </p:nvGraphicFramePr>
          <p:xfrm>
            <a:off x="7010400" y="2615640"/>
            <a:ext cx="1828800" cy="451219"/>
          </p:xfrm>
          <a:graphic>
            <a:graphicData uri="http://schemas.openxmlformats.org/presentationml/2006/ole">
              <p:oleObj spid="_x0000_s6146" name="CS ChemDraw Drawing" r:id="rId4" imgW="848880" imgH="209880" progId="ChemDraw.Document.6.0">
                <p:embed/>
              </p:oleObj>
            </a:graphicData>
          </a:graphic>
        </p:graphicFrame>
        <p:graphicFrame>
          <p:nvGraphicFramePr>
            <p:cNvPr id="6149" name="Object 5"/>
            <p:cNvGraphicFramePr>
              <a:graphicFrameLocks noChangeAspect="1"/>
            </p:cNvGraphicFramePr>
            <p:nvPr/>
          </p:nvGraphicFramePr>
          <p:xfrm>
            <a:off x="5486400" y="2615640"/>
            <a:ext cx="1097280" cy="432360"/>
          </p:xfrm>
          <a:graphic>
            <a:graphicData uri="http://schemas.openxmlformats.org/presentationml/2006/ole">
              <p:oleObj spid="_x0000_s6149" name="CS ChemDraw Drawing" r:id="rId5" imgW="532080" imgH="209880" progId="ChemDraw.Document.6.0">
                <p:embed/>
              </p:oleObj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91440" y="2337434"/>
            <a:ext cx="3566160" cy="3890508"/>
            <a:chOff x="91440" y="2337434"/>
            <a:chExt cx="3566160" cy="3890508"/>
          </a:xfrm>
        </p:grpSpPr>
        <p:pic>
          <p:nvPicPr>
            <p:cNvPr id="6145" name="Picture 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91440" y="2438400"/>
              <a:ext cx="3566160" cy="3789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148" name="Picture 4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981200" y="2337434"/>
              <a:ext cx="1645920" cy="4057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150" name="Picture 6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81000" y="2337434"/>
              <a:ext cx="1096963" cy="4318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xmlns="" val="87892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32EE89-EC11-4296-BCA7-4F9501F33ADC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155684" name="Text Box 2"/>
          <p:cNvSpPr txBox="1">
            <a:spLocks noChangeArrowheads="1"/>
          </p:cNvSpPr>
          <p:nvPr/>
        </p:nvSpPr>
        <p:spPr bwMode="auto">
          <a:xfrm>
            <a:off x="76200" y="753814"/>
            <a:ext cx="5943600" cy="846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880" indent="-182880" algn="just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  *  occur in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200  ̶  700 nm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range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</a:t>
            </a:r>
            <a:endParaRPr lang="en-US" sz="21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182880" indent="-182880" algn="just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Molar </a:t>
            </a:r>
            <a:r>
              <a:rPr lang="en-US" sz="21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absorptivity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: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1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Low [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</a:t>
            </a:r>
            <a:r>
              <a:rPr lang="en-US" sz="2100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=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10  ̶  100 ]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</p:txBody>
      </p:sp>
      <p:sp>
        <p:nvSpPr>
          <p:cNvPr id="155685" name="Text Box 2"/>
          <p:cNvSpPr txBox="1">
            <a:spLocks noChangeArrowheads="1"/>
          </p:cNvSpPr>
          <p:nvPr/>
        </p:nvSpPr>
        <p:spPr bwMode="auto">
          <a:xfrm>
            <a:off x="76200" y="1650593"/>
            <a:ext cx="6324600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Examples:</a:t>
            </a:r>
          </a:p>
          <a:p>
            <a:pPr marL="914400" lvl="1" indent="-457200" algn="just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Compounds with double bonds involving unshared pair(s) of electrons [ C=O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C=S, N=O etc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.]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71800" y="86380"/>
            <a:ext cx="3313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sym typeface="Symbol" pitchFamily="18" charset="2"/>
              </a:rPr>
              <a:t>n  *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sym typeface="Symbol" pitchFamily="18" charset="2"/>
              </a:rPr>
              <a:t>Transition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25" name="Picture 2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68911" y="911816"/>
            <a:ext cx="2422689" cy="2381627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</p:pic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76200" y="2819400"/>
            <a:ext cx="6172200" cy="13849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880" indent="-182880" algn="just">
              <a:buFontTx/>
              <a:buChar char="•"/>
            </a:pPr>
            <a:r>
              <a:rPr lang="en-US" sz="2100" b="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  * transition is always less </a:t>
            </a:r>
            <a:r>
              <a:rPr lang="en-US" sz="2100" b="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intense  because the </a:t>
            </a:r>
            <a:r>
              <a:rPr lang="en-US" sz="2100" b="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electrons in the n-</a:t>
            </a:r>
            <a:r>
              <a:rPr lang="en-US" sz="2100" b="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orbitals</a:t>
            </a:r>
            <a:r>
              <a:rPr lang="en-US" sz="2100" b="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are </a:t>
            </a:r>
            <a:r>
              <a:rPr lang="en-US" sz="21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situated </a:t>
            </a:r>
            <a:r>
              <a:rPr lang="en-US" sz="21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perpendicular </a:t>
            </a:r>
            <a:r>
              <a:rPr lang="en-US" sz="2100" b="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to </a:t>
            </a:r>
            <a:r>
              <a:rPr lang="en-US" sz="2100" b="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plane of  bond and hence to the plane of * orbital.</a:t>
            </a:r>
          </a:p>
        </p:txBody>
      </p:sp>
      <p:pic>
        <p:nvPicPr>
          <p:cNvPr id="28" name="Picture 4" descr="http://www.cem.msu.edu/~reusch/VirtualText/Spectrpy/Images/enone2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0800" y="3429000"/>
            <a:ext cx="2667000" cy="3325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11"/>
          <p:cNvGrpSpPr/>
          <p:nvPr/>
        </p:nvGrpSpPr>
        <p:grpSpPr>
          <a:xfrm>
            <a:off x="838200" y="4343400"/>
            <a:ext cx="5029200" cy="2438400"/>
            <a:chOff x="838200" y="4343400"/>
            <a:chExt cx="5029200" cy="2438400"/>
          </a:xfrm>
        </p:grpSpPr>
        <p:sp>
          <p:nvSpPr>
            <p:cNvPr id="10" name="Rectangle 9"/>
            <p:cNvSpPr/>
            <p:nvPr/>
          </p:nvSpPr>
          <p:spPr bwMode="auto">
            <a:xfrm>
              <a:off x="838200" y="4343400"/>
              <a:ext cx="5029200" cy="2438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pic>
          <p:nvPicPr>
            <p:cNvPr id="11" name="Picture 28" descr="overlap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90600" y="4343400"/>
              <a:ext cx="4812632" cy="2286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xmlns="" val="405500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Text Box 2"/>
          <p:cNvSpPr txBox="1">
            <a:spLocks noChangeArrowheads="1"/>
          </p:cNvSpPr>
          <p:nvPr/>
        </p:nvSpPr>
        <p:spPr bwMode="auto">
          <a:xfrm>
            <a:off x="76200" y="919371"/>
            <a:ext cx="8991600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algn="just">
              <a:spcBef>
                <a:spcPct val="0"/>
              </a:spcBef>
              <a:buFontTx/>
              <a:buChar char="•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The absorption bands in the UV - Visible spectrum may be designated either by using electronic transitions [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  *,   *,   *, n  *, n  *] or the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letter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designation as given below.  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6200" y="2057399"/>
            <a:ext cx="8915400" cy="2319339"/>
            <a:chOff x="48" y="1162"/>
            <a:chExt cx="5616" cy="1461"/>
          </a:xfrm>
        </p:grpSpPr>
        <p:sp>
          <p:nvSpPr>
            <p:cNvPr id="86027" name="Text Box 5"/>
            <p:cNvSpPr txBox="1">
              <a:spLocks noChangeArrowheads="1"/>
            </p:cNvSpPr>
            <p:nvPr/>
          </p:nvSpPr>
          <p:spPr bwMode="auto">
            <a:xfrm>
              <a:off x="48" y="1162"/>
              <a:ext cx="2112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2200" b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R – </a:t>
              </a:r>
              <a:r>
                <a:rPr lang="en-GB" sz="2200" b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bands:</a:t>
              </a:r>
              <a:endParaRPr lang="en-GB" sz="2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028" name="Text Box 2"/>
            <p:cNvSpPr txBox="1">
              <a:spLocks noChangeArrowheads="1"/>
            </p:cNvSpPr>
            <p:nvPr/>
          </p:nvSpPr>
          <p:spPr bwMode="auto">
            <a:xfrm>
              <a:off x="384" y="1450"/>
              <a:ext cx="5280" cy="1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457200" indent="-457200" algn="just">
                <a:spcBef>
                  <a:spcPct val="0"/>
                </a:spcBef>
                <a:spcAft>
                  <a:spcPts val="600"/>
                </a:spcAft>
                <a:buClr>
                  <a:srgbClr val="0000FF"/>
                </a:buClr>
                <a:buFontTx/>
                <a:buChar char="•"/>
              </a:pPr>
              <a:r>
                <a:rPr lang="en-US" sz="2100" dirty="0">
                  <a:latin typeface="Times New Roman" pitchFamily="18" charset="0"/>
                  <a:cs typeface="Times New Roman" pitchFamily="18" charset="0"/>
                </a:rPr>
                <a:t>The bands due to 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n * transitions of single </a:t>
              </a:r>
              <a:r>
                <a:rPr lang="en-US" sz="2100" dirty="0" err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chromophoric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groups are referred to as the </a:t>
              </a:r>
              <a:r>
                <a:rPr lang="en-US" sz="21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R </a:t>
              </a:r>
              <a:r>
                <a:rPr lang="en-US" sz="21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– </a:t>
              </a:r>
              <a:r>
                <a:rPr lang="en-US" sz="21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Bands</a:t>
              </a:r>
              <a:r>
                <a:rPr lang="en-US" sz="2100" dirty="0" smtClean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.</a:t>
              </a:r>
              <a:endPara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  <a:p>
              <a:pPr marL="457200" indent="-457200" algn="just">
                <a:spcBef>
                  <a:spcPct val="0"/>
                </a:spcBef>
                <a:spcAft>
                  <a:spcPts val="600"/>
                </a:spcAft>
                <a:buClr>
                  <a:srgbClr val="0000FF"/>
                </a:buClr>
                <a:buFontTx/>
                <a:buChar char="•"/>
              </a:pP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Example: Carbonyl group, Nitro </a:t>
              </a:r>
              <a:r>
                <a:rPr lang="en-US" sz="2100" dirty="0" smtClean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group</a:t>
              </a:r>
              <a:endParaRPr lang="en-US" sz="2100" dirty="0">
                <a:latin typeface="Times New Roman" pitchFamily="18" charset="0"/>
                <a:cs typeface="Times New Roman" pitchFamily="18" charset="0"/>
              </a:endParaRPr>
            </a:p>
            <a:p>
              <a:pPr marL="457200" indent="-457200" algn="just">
                <a:spcBef>
                  <a:spcPct val="0"/>
                </a:spcBef>
                <a:spcAft>
                  <a:spcPts val="600"/>
                </a:spcAft>
                <a:buClr>
                  <a:srgbClr val="0000FF"/>
                </a:buClr>
                <a:buFontTx/>
                <a:buChar char="•"/>
              </a:pPr>
              <a:r>
                <a:rPr lang="en-US" sz="2100" dirty="0">
                  <a:latin typeface="Times New Roman" pitchFamily="18" charset="0"/>
                  <a:cs typeface="Times New Roman" pitchFamily="18" charset="0"/>
                </a:rPr>
                <a:t>Shows low molar </a:t>
              </a:r>
              <a:r>
                <a:rPr lang="en-US" sz="2100" dirty="0" err="1">
                  <a:latin typeface="Times New Roman" pitchFamily="18" charset="0"/>
                  <a:cs typeface="Times New Roman" pitchFamily="18" charset="0"/>
                </a:rPr>
                <a:t>absorptivity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</a:rPr>
                <a:t> (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</a:t>
              </a:r>
              <a:r>
                <a:rPr lang="en-US" sz="2100" baseline="-250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max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&lt;100) and </a:t>
              </a:r>
              <a:r>
                <a:rPr lang="en-US" sz="2100" dirty="0" err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hypsochromic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shift with an increase in solvent polarity.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76200" y="4557712"/>
            <a:ext cx="8686800" cy="2071688"/>
            <a:chOff x="48" y="846"/>
            <a:chExt cx="5472" cy="1305"/>
          </a:xfrm>
        </p:grpSpPr>
        <p:sp>
          <p:nvSpPr>
            <p:cNvPr id="86025" name="Text Box 5"/>
            <p:cNvSpPr txBox="1">
              <a:spLocks noChangeArrowheads="1"/>
            </p:cNvSpPr>
            <p:nvPr/>
          </p:nvSpPr>
          <p:spPr bwMode="auto">
            <a:xfrm>
              <a:off x="48" y="846"/>
              <a:ext cx="2112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22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K – </a:t>
              </a:r>
              <a:r>
                <a:rPr lang="en-GB" sz="22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bands:</a:t>
              </a:r>
              <a:endParaRPr lang="en-GB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026" name="Text Box 2"/>
            <p:cNvSpPr txBox="1">
              <a:spLocks noChangeArrowheads="1"/>
            </p:cNvSpPr>
            <p:nvPr/>
          </p:nvSpPr>
          <p:spPr bwMode="auto">
            <a:xfrm>
              <a:off x="384" y="1182"/>
              <a:ext cx="5136" cy="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457200" indent="-457200" algn="just">
                <a:spcBef>
                  <a:spcPct val="0"/>
                </a:spcBef>
                <a:spcAft>
                  <a:spcPts val="600"/>
                </a:spcAft>
                <a:buClr>
                  <a:srgbClr val="FF0000"/>
                </a:buClr>
                <a:buFontTx/>
                <a:buChar char="•"/>
              </a:pPr>
              <a:r>
                <a:rPr lang="en-US" sz="2100" dirty="0">
                  <a:latin typeface="Times New Roman" pitchFamily="18" charset="0"/>
                  <a:cs typeface="Times New Roman" pitchFamily="18" charset="0"/>
                </a:rPr>
                <a:t>The bands due to 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 * transitions in molecules containing conjugated  systems are referred to as the </a:t>
              </a:r>
              <a:r>
                <a:rPr lang="en-US" sz="21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K – Bands</a:t>
              </a:r>
              <a:r>
                <a:rPr lang="en-US" sz="2100" dirty="0" smtClean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.</a:t>
              </a:r>
              <a:endParaRPr lang="en-US" sz="2100" dirty="0"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  <a:p>
              <a:pPr marL="457200" indent="-457200" algn="just">
                <a:spcBef>
                  <a:spcPct val="0"/>
                </a:spcBef>
                <a:spcAft>
                  <a:spcPts val="600"/>
                </a:spcAft>
                <a:buClr>
                  <a:srgbClr val="FF0000"/>
                </a:buClr>
                <a:buFontTx/>
                <a:buChar char="•"/>
              </a:pP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Example: Butadiene, </a:t>
              </a:r>
              <a:r>
                <a:rPr lang="en-US" sz="2100" dirty="0" err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mesityl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</a:t>
              </a:r>
              <a:r>
                <a:rPr lang="en-US" sz="2100" dirty="0" smtClean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oxide</a:t>
              </a:r>
              <a:endParaRPr lang="en-US" sz="2100" dirty="0">
                <a:latin typeface="Times New Roman" pitchFamily="18" charset="0"/>
                <a:cs typeface="Times New Roman" pitchFamily="18" charset="0"/>
              </a:endParaRPr>
            </a:p>
            <a:p>
              <a:pPr marL="457200" indent="-457200" algn="just">
                <a:spcBef>
                  <a:spcPct val="0"/>
                </a:spcBef>
                <a:spcAft>
                  <a:spcPts val="600"/>
                </a:spcAft>
                <a:buClr>
                  <a:srgbClr val="FF0000"/>
                </a:buClr>
                <a:buFontTx/>
                <a:buChar char="•"/>
              </a:pPr>
              <a:r>
                <a:rPr lang="en-US" sz="2100" dirty="0">
                  <a:latin typeface="Times New Roman" pitchFamily="18" charset="0"/>
                  <a:cs typeface="Times New Roman" pitchFamily="18" charset="0"/>
                </a:rPr>
                <a:t>They show high molar </a:t>
              </a:r>
              <a:r>
                <a:rPr lang="en-US" sz="2100" dirty="0" err="1">
                  <a:latin typeface="Times New Roman" pitchFamily="18" charset="0"/>
                  <a:cs typeface="Times New Roman" pitchFamily="18" charset="0"/>
                </a:rPr>
                <a:t>absorptivity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</a:rPr>
                <a:t> (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</a:t>
              </a:r>
              <a:r>
                <a:rPr lang="en-US" sz="2100" baseline="-250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max</a:t>
              </a:r>
              <a:r>
                <a:rPr lang="en-US" sz="21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&lt;10,000).</a:t>
              </a:r>
            </a:p>
          </p:txBody>
        </p:sp>
      </p:grp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057400" y="162580"/>
            <a:ext cx="502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</a:pPr>
            <a:r>
              <a:rPr 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Designation of 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UV bands</a:t>
            </a:r>
          </a:p>
        </p:txBody>
      </p:sp>
    </p:spTree>
    <p:extLst>
      <p:ext uri="{BB962C8B-B14F-4D97-AF65-F5344CB8AC3E}">
        <p14:creationId xmlns:p14="http://schemas.microsoft.com/office/powerpoint/2010/main" xmlns="" val="2921499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6" name="Text Box 5"/>
          <p:cNvSpPr txBox="1">
            <a:spLocks noChangeArrowheads="1"/>
          </p:cNvSpPr>
          <p:nvPr/>
        </p:nvSpPr>
        <p:spPr bwMode="auto">
          <a:xfrm>
            <a:off x="76200" y="609600"/>
            <a:ext cx="3048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and E </a:t>
            </a:r>
            <a:r>
              <a:rPr lang="en-GB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 bands:</a:t>
            </a:r>
            <a:endParaRPr lang="en-GB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047" name="Text Box 2"/>
          <p:cNvSpPr txBox="1">
            <a:spLocks noChangeArrowheads="1"/>
          </p:cNvSpPr>
          <p:nvPr/>
        </p:nvSpPr>
        <p:spPr bwMode="auto">
          <a:xfrm>
            <a:off x="114300" y="1197114"/>
            <a:ext cx="8915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74320" indent="-274320" algn="just">
              <a:spcBef>
                <a:spcPct val="0"/>
              </a:spcBef>
              <a:buClr>
                <a:srgbClr val="FF0000"/>
              </a:buClr>
              <a:buSzPct val="130000"/>
              <a:buFontTx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B and E bands are characteristic of the spectra of aromatic 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heteroaromatic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molecules.</a:t>
            </a:r>
          </a:p>
        </p:txBody>
      </p:sp>
      <p:pic>
        <p:nvPicPr>
          <p:cNvPr id="87048" name="Picture 3" descr="Untitled                                                       00011DA7Macintosh HD                   B9159EDD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75338" y="2057399"/>
            <a:ext cx="3192462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049" name="Text Box 2"/>
          <p:cNvSpPr txBox="1">
            <a:spLocks noChangeArrowheads="1"/>
          </p:cNvSpPr>
          <p:nvPr/>
        </p:nvSpPr>
        <p:spPr bwMode="auto">
          <a:xfrm>
            <a:off x="114300" y="1905000"/>
            <a:ext cx="56769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4320" indent="-274320" algn="just"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130000"/>
              <a:buFontTx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All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benzenoid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compounds exhibit E and B bands representing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  *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transitions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274320" indent="-274320" algn="just"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130000"/>
              <a:buFontTx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 benzene, E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and E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bands occur near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180 nm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200 nm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respectively and their molar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absorptivity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varies between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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2000 to 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14000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).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274320" indent="-274320" algn="just"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130000"/>
              <a:buFontTx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B-band occurs in the region from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250 nm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255 nm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as a broad band containing multiple fine structure and represents a symmetry-forbidden transition which has finite but low probability due to forbidden transitions in high symmetrical benzene molecule.</a:t>
            </a:r>
          </a:p>
          <a:p>
            <a:pPr marL="274320" indent="-274320" algn="just"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130000"/>
              <a:buFontTx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vibrational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fine structure appears only in the B-band and disappears frequently in the more polar solvents.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057400" y="162580"/>
            <a:ext cx="502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</a:pPr>
            <a:r>
              <a:rPr 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Designation of 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UV bands</a:t>
            </a:r>
          </a:p>
        </p:txBody>
      </p:sp>
    </p:spTree>
    <p:extLst>
      <p:ext uri="{BB962C8B-B14F-4D97-AF65-F5344CB8AC3E}">
        <p14:creationId xmlns:p14="http://schemas.microsoft.com/office/powerpoint/2010/main" xmlns="" val="33881939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256461"/>
            <a:ext cx="5486400" cy="522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524000" y="238780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 and E – Bands 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of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Aniline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9013</TotalTime>
  <Words>937</Words>
  <Application>Microsoft Office PowerPoint</Application>
  <PresentationFormat>On-screen Show (4:3)</PresentationFormat>
  <Paragraphs>95</Paragraphs>
  <Slides>17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Blank</vt:lpstr>
      <vt:lpstr>CS ChemDraw Drawing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User</cp:lastModifiedBy>
  <cp:revision>1473</cp:revision>
  <dcterms:created xsi:type="dcterms:W3CDTF">2006-02-07T16:59:36Z</dcterms:created>
  <dcterms:modified xsi:type="dcterms:W3CDTF">2023-07-27T05:11:06Z</dcterms:modified>
</cp:coreProperties>
</file>