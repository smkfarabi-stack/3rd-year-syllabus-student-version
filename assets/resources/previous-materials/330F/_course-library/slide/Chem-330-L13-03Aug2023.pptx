
<file path=[Content_Types].xml><?xml version="1.0" encoding="utf-8"?>
<Types xmlns="http://schemas.openxmlformats.org/package/2006/content-types">
  <Default Extension="png" ContentType="image/png"/>
  <Default Extension="bin" ContentType="application/vnd.openxmlformats-officedocument.oleObject"/>
  <Default Extension="wmf" ContentType="image/x-wmf"/>
  <Default Extension="jpeg" ContentType="image/jpeg"/>
  <Default Extension="rels" ContentType="application/vnd.openxmlformats-package.relationships+xml"/>
  <Default Extension="xml" ContentType="application/xml"/>
  <Default Extension="gif" ContentType="image/gif"/>
  <Default Extension="vml" ContentType="application/vnd.openxmlformats-officedocument.vmlDrawin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saveSubsetFonts="1">
  <p:sldMasterIdLst>
    <p:sldMasterId id="2147483648" r:id="rId1"/>
  </p:sldMasterIdLst>
  <p:notesMasterIdLst>
    <p:notesMasterId r:id="rId21"/>
  </p:notesMasterIdLst>
  <p:sldIdLst>
    <p:sldId id="691" r:id="rId2"/>
    <p:sldId id="693" r:id="rId3"/>
    <p:sldId id="694" r:id="rId4"/>
    <p:sldId id="695" r:id="rId5"/>
    <p:sldId id="722" r:id="rId6"/>
    <p:sldId id="697" r:id="rId7"/>
    <p:sldId id="699" r:id="rId8"/>
    <p:sldId id="700" r:id="rId9"/>
    <p:sldId id="721" r:id="rId10"/>
    <p:sldId id="701" r:id="rId11"/>
    <p:sldId id="703" r:id="rId12"/>
    <p:sldId id="709" r:id="rId13"/>
    <p:sldId id="711" r:id="rId14"/>
    <p:sldId id="712" r:id="rId15"/>
    <p:sldId id="713" r:id="rId16"/>
    <p:sldId id="714" r:id="rId17"/>
    <p:sldId id="715" r:id="rId18"/>
    <p:sldId id="716" r:id="rId19"/>
    <p:sldId id="717" r:id="rId20"/>
  </p:sldIdLst>
  <p:sldSz cx="9144000" cy="6858000" type="screen4x3"/>
  <p:notesSz cx="6858000" cy="9144000"/>
  <p:defaultTextStyle>
    <a:defPPr>
      <a:defRPr lang="en-US"/>
    </a:defPPr>
    <a:lvl1pPr algn="l" rtl="0" eaLnBrk="0" fontAlgn="base" hangingPunct="0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" panose="02020603050405020304" pitchFamily="18" charset="0"/>
        <a:ea typeface="+mn-ea"/>
        <a:cs typeface="+mn-cs"/>
      </a:defRPr>
    </a:lvl1pPr>
    <a:lvl2pPr marL="457200" algn="l" rtl="0" eaLnBrk="0" fontAlgn="base" hangingPunct="0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" panose="02020603050405020304" pitchFamily="18" charset="0"/>
        <a:ea typeface="+mn-ea"/>
        <a:cs typeface="+mn-cs"/>
      </a:defRPr>
    </a:lvl2pPr>
    <a:lvl3pPr marL="914400" algn="l" rtl="0" eaLnBrk="0" fontAlgn="base" hangingPunct="0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" panose="02020603050405020304" pitchFamily="18" charset="0"/>
        <a:ea typeface="+mn-ea"/>
        <a:cs typeface="+mn-cs"/>
      </a:defRPr>
    </a:lvl3pPr>
    <a:lvl4pPr marL="1371600" algn="l" rtl="0" eaLnBrk="0" fontAlgn="base" hangingPunct="0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" panose="02020603050405020304" pitchFamily="18" charset="0"/>
        <a:ea typeface="+mn-ea"/>
        <a:cs typeface="+mn-cs"/>
      </a:defRPr>
    </a:lvl4pPr>
    <a:lvl5pPr marL="1828800" algn="l" rtl="0" eaLnBrk="0" fontAlgn="base" hangingPunct="0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" panose="02020603050405020304" pitchFamily="18" charset="0"/>
        <a:ea typeface="+mn-ea"/>
        <a:cs typeface="+mn-cs"/>
      </a:defRPr>
    </a:lvl5pPr>
    <a:lvl6pPr marL="2286000" algn="l" defTabSz="914400" rtl="0" eaLnBrk="1" latinLnBrk="0" hangingPunct="1">
      <a:defRPr sz="2400" kern="1200">
        <a:solidFill>
          <a:schemeClr val="tx1"/>
        </a:solidFill>
        <a:latin typeface="Times" panose="02020603050405020304" pitchFamily="18" charset="0"/>
        <a:ea typeface="+mn-ea"/>
        <a:cs typeface="+mn-cs"/>
      </a:defRPr>
    </a:lvl6pPr>
    <a:lvl7pPr marL="2743200" algn="l" defTabSz="914400" rtl="0" eaLnBrk="1" latinLnBrk="0" hangingPunct="1">
      <a:defRPr sz="2400" kern="1200">
        <a:solidFill>
          <a:schemeClr val="tx1"/>
        </a:solidFill>
        <a:latin typeface="Times" panose="02020603050405020304" pitchFamily="18" charset="0"/>
        <a:ea typeface="+mn-ea"/>
        <a:cs typeface="+mn-cs"/>
      </a:defRPr>
    </a:lvl7pPr>
    <a:lvl8pPr marL="3200400" algn="l" defTabSz="914400" rtl="0" eaLnBrk="1" latinLnBrk="0" hangingPunct="1">
      <a:defRPr sz="2400" kern="1200">
        <a:solidFill>
          <a:schemeClr val="tx1"/>
        </a:solidFill>
        <a:latin typeface="Times" panose="02020603050405020304" pitchFamily="18" charset="0"/>
        <a:ea typeface="+mn-ea"/>
        <a:cs typeface="+mn-cs"/>
      </a:defRPr>
    </a:lvl8pPr>
    <a:lvl9pPr marL="3657600" algn="l" defTabSz="914400" rtl="0" eaLnBrk="1" latinLnBrk="0" hangingPunct="1">
      <a:defRPr sz="2400" kern="1200">
        <a:solidFill>
          <a:schemeClr val="tx1"/>
        </a:solidFill>
        <a:latin typeface="Times" panose="02020603050405020304" pitchFamily="18" charset="0"/>
        <a:ea typeface="+mn-ea"/>
        <a:cs typeface="+mn-cs"/>
      </a:defRPr>
    </a:lvl9pPr>
  </p:defaultTextStyle>
  <p:extLst>
    <p:ext uri="{EFAFB233-063F-42B5-8137-9DF3F51BA10A}">
      <p15:sldGuideLst xmlns=""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srgbClr val="FF0000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0099"/>
    <a:srgbClr val="0000FF"/>
    <a:srgbClr val="0033CC"/>
    <a:srgbClr val="FFB27D"/>
    <a:srgbClr val="4C4CC4"/>
    <a:srgbClr val="9999FF"/>
    <a:srgbClr val="9900FF"/>
    <a:srgbClr val="800080"/>
    <a:srgbClr val="CC0099"/>
    <a:srgbClr val="04A8E2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=""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294" autoAdjust="0"/>
    <p:restoredTop sz="90929"/>
  </p:normalViewPr>
  <p:slideViewPr>
    <p:cSldViewPr>
      <p:cViewPr>
        <p:scale>
          <a:sx n="60" d="100"/>
          <a:sy n="60" d="100"/>
        </p:scale>
        <p:origin x="-798" y="-228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notesMaster" Target="notesMasters/notesMaster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presProps" Target="presProps.xml"/></Relationships>
</file>

<file path=ppt/drawings/_rels/vmlDrawing1.vml.rels><?xml version="1.0" encoding="UTF-8" standalone="yes"?>
<Relationships xmlns="http://schemas.openxmlformats.org/package/2006/relationships"><Relationship Id="rId1" Type="http://schemas.openxmlformats.org/officeDocument/2006/relationships/image" Target="../media/image18.wmf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86D6A7B-5500-4495-AE41-A92BE20EB6D8}" type="datetimeFigureOut">
              <a:rPr lang="en-US" smtClean="0"/>
              <a:pPr/>
              <a:t>8/4/2023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0BC80D7B-28CF-412F-B790-13805F3982C2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3672782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BC80D7B-28CF-412F-B790-13805F3982C2}" type="slidenum">
              <a:rPr lang="en-US" smtClean="0"/>
              <a:pPr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68531412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BC80D7B-28CF-412F-B790-13805F3982C2}" type="slidenum">
              <a:rPr lang="en-US" smtClean="0"/>
              <a:pPr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3529538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143000" y="1122363"/>
            <a:ext cx="6858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43000" y="3602038"/>
            <a:ext cx="6858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BEDB74CB-4A74-40B4-9827-E4014EAD1BD2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7402667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78ABA6B6-A978-485A-95D4-418D3F5876BE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4041060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3888" y="1709738"/>
            <a:ext cx="78867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3888" y="4589463"/>
            <a:ext cx="7886700" cy="1500187"/>
          </a:xfrm>
        </p:spPr>
        <p:txBody>
          <a:bodyPr/>
          <a:lstStyle>
            <a:lvl1pPr marL="0" indent="0">
              <a:buNone/>
              <a:defRPr sz="2400"/>
            </a:lvl1pPr>
            <a:lvl2pPr marL="457200" indent="0">
              <a:buNone/>
              <a:defRPr sz="2000"/>
            </a:lvl2pPr>
            <a:lvl3pPr marL="914400" indent="0">
              <a:buNone/>
              <a:defRPr sz="18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6DCDA6F6-778F-4796-A5B0-385E366BB06E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4258897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85800" y="1981200"/>
            <a:ext cx="3810000" cy="4114800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981200"/>
            <a:ext cx="3810000" cy="4114800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3B233C12-B0ED-4EAF-9287-734E40E3B42B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6895041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30238" y="365125"/>
            <a:ext cx="7886700" cy="1325563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30238" y="1681163"/>
            <a:ext cx="386873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30238" y="2505075"/>
            <a:ext cx="3868737" cy="368458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29150" y="1681163"/>
            <a:ext cx="38877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29150" y="2505075"/>
            <a:ext cx="3887788" cy="368458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8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9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2CBF0E7-2FC4-40E0-A3A1-5D1294158225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0057585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4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65B8A14-8812-42BE-A1A4-D8D036A6AFFF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854167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3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4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E80B8AD-9BF6-41F4-96A2-938BD798F596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3471749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30238" y="457200"/>
            <a:ext cx="2949575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87788" y="987425"/>
            <a:ext cx="462915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30238" y="2057400"/>
            <a:ext cx="2949575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79B02018-89FC-41EB-A79F-7A8ECB099FD1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9525265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30238" y="457200"/>
            <a:ext cx="2949575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3887788" y="987425"/>
            <a:ext cx="462915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en-US" noProof="0" smtClean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30238" y="2057400"/>
            <a:ext cx="2949575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4B903932-386A-472D-BAAA-59DC2493FBFD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9148211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44646019-8A5E-4A2F-ACB6-AC68C7DACD5B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9266821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15100" y="609600"/>
            <a:ext cx="1943100" cy="5486400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85800" y="609600"/>
            <a:ext cx="5676900" cy="5486400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A4C6FFB9-1320-4111-BEBC-F13F2A6A94F6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90158070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objOnly">
  <p:cSld name="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/>
          <p:cNvSpPr>
            <a:spLocks noGrp="1"/>
          </p:cNvSpPr>
          <p:nvPr>
            <p:ph/>
          </p:nvPr>
        </p:nvSpPr>
        <p:spPr>
          <a:xfrm>
            <a:off x="457200" y="274638"/>
            <a:ext cx="8229600" cy="5851525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3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9AD42A11-BBCA-4BBD-8736-68C10C8B12CE}" type="datetime1">
              <a:rPr lang="en-US"/>
              <a:pPr>
                <a:defRPr/>
              </a:pPr>
              <a:t>8/4/2023</a:t>
            </a:fld>
            <a:endParaRPr lang="en-US"/>
          </a:p>
        </p:txBody>
      </p:sp>
      <p:sp>
        <p:nvSpPr>
          <p:cNvPr id="4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971FF55A-575A-40E2-8FE2-4F1A13222039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gradFill flip="none" rotWithShape="0">
          <a:gsLst>
            <a:gs pos="12000">
              <a:srgbClr val="FFFFF3"/>
            </a:gs>
            <a:gs pos="16000">
              <a:schemeClr val="bg1"/>
            </a:gs>
          </a:gsLst>
          <a:lin ang="5400000" scaled="1"/>
          <a:tileRect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685800" y="609600"/>
            <a:ext cx="7772400" cy="1143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US" smtClean="0"/>
              <a:t>Click to edit Master title style</a:t>
            </a:r>
          </a:p>
        </p:txBody>
      </p:sp>
      <p:sp>
        <p:nvSpPr>
          <p:cNvPr id="1027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685800" y="1981200"/>
            <a:ext cx="7772400" cy="41148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US" smtClean="0"/>
              <a:t>Click to edit Master text styles</a:t>
            </a:r>
          </a:p>
          <a:p>
            <a:pPr lvl="1"/>
            <a:r>
              <a:rPr lang="en-US" altLang="en-US" smtClean="0"/>
              <a:t>Second level</a:t>
            </a:r>
          </a:p>
          <a:p>
            <a:pPr lvl="2"/>
            <a:r>
              <a:rPr lang="en-US" altLang="en-US" smtClean="0"/>
              <a:t>Third level</a:t>
            </a:r>
          </a:p>
          <a:p>
            <a:pPr lvl="3"/>
            <a:r>
              <a:rPr lang="en-US" altLang="en-US" smtClean="0"/>
              <a:t>Fourth level</a:t>
            </a:r>
          </a:p>
          <a:p>
            <a:pPr lvl="4"/>
            <a:r>
              <a:rPr lang="en-US" altLang="en-US" smtClean="0"/>
              <a:t>Fifth level</a:t>
            </a:r>
          </a:p>
        </p:txBody>
      </p:sp>
      <p:sp>
        <p:nvSpPr>
          <p:cNvPr id="1028" name="Rectangle 4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685800" y="6248400"/>
            <a:ext cx="1905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400"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1029" name="Rectangle 5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248400"/>
            <a:ext cx="28956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ctr">
              <a:defRPr sz="1400"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1030" name="Rectangle 6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553200" y="6248400"/>
            <a:ext cx="1905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400"/>
            </a:lvl1pPr>
          </a:lstStyle>
          <a:p>
            <a:pPr>
              <a:defRPr/>
            </a:pPr>
            <a:fld id="{08434F40-A5A5-40AB-B940-8543F87F66C1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txStyles>
    <p:titleStyle>
      <a:lvl1pPr algn="ctr" rtl="0" eaLnBrk="0" fontAlgn="base" hangingPunct="0">
        <a:spcBef>
          <a:spcPct val="0"/>
        </a:spcBef>
        <a:spcAft>
          <a:spcPct val="0"/>
        </a:spcAft>
        <a:defRPr sz="4400" kern="1200">
          <a:solidFill>
            <a:schemeClr val="tx2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" panose="02020603050405020304" pitchFamily="18" charset="0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" panose="02020603050405020304" pitchFamily="18" charset="0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" panose="02020603050405020304" pitchFamily="18" charset="0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" panose="02020603050405020304" pitchFamily="18" charset="0"/>
        </a:defRPr>
      </a:lvl5pPr>
      <a:lvl6pPr marL="4572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" panose="02020603050405020304" pitchFamily="18" charset="0"/>
        </a:defRPr>
      </a:lvl6pPr>
      <a:lvl7pPr marL="9144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" panose="02020603050405020304" pitchFamily="18" charset="0"/>
        </a:defRPr>
      </a:lvl7pPr>
      <a:lvl8pPr marL="13716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" panose="02020603050405020304" pitchFamily="18" charset="0"/>
        </a:defRPr>
      </a:lvl8pPr>
      <a:lvl9pPr marL="18288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" panose="02020603050405020304" pitchFamily="18" charset="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4.png"/><Relationship Id="rId4" Type="http://schemas.openxmlformats.org/officeDocument/2006/relationships/image" Target="../media/image7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gif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1.png"/><Relationship Id="rId4" Type="http://schemas.openxmlformats.org/officeDocument/2006/relationships/image" Target="../media/image10.png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5.png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1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1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.bin"/><Relationship Id="rId2" Type="http://schemas.openxmlformats.org/officeDocument/2006/relationships/slideLayout" Target="../slideLayouts/slideLayout7.xml"/><Relationship Id="rId1" Type="http://schemas.openxmlformats.org/officeDocument/2006/relationships/vmlDrawing" Target="../drawings/vmlDrawing1.vml"/><Relationship Id="rId4" Type="http://schemas.openxmlformats.org/officeDocument/2006/relationships/image" Target="../media/image18.wmf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4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jpeg"/><Relationship Id="rId2" Type="http://schemas.openxmlformats.org/officeDocument/2006/relationships/image" Target="../media/image20.jpe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26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png"/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29.png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0.png"/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2.png"/><Relationship Id="rId2" Type="http://schemas.openxmlformats.org/officeDocument/2006/relationships/image" Target="../media/image31.png"/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3.png"/><Relationship Id="rId1" Type="http://schemas.openxmlformats.org/officeDocument/2006/relationships/slideLayout" Target="../slideLayouts/slideLayout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/>
        </p:nvSpPr>
        <p:spPr>
          <a:xfrm>
            <a:off x="1981200" y="1752600"/>
            <a:ext cx="548640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600" b="1" dirty="0" smtClean="0">
                <a:ln w="1905"/>
                <a:solidFill>
                  <a:srgbClr val="000099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mic Sans MS" panose="030F0702030302020204" pitchFamily="66" charset="0"/>
              </a:rPr>
              <a:t>UV-Vis</a:t>
            </a:r>
            <a:r>
              <a:rPr lang="en-US" sz="3600" b="1" dirty="0" smtClean="0">
                <a:ln w="1905"/>
                <a:gradFill>
                  <a:gsLst>
                    <a:gs pos="0">
                      <a:schemeClr val="accent6">
                        <a:shade val="20000"/>
                        <a:satMod val="200000"/>
                      </a:schemeClr>
                    </a:gs>
                    <a:gs pos="78000">
                      <a:schemeClr val="accent6">
                        <a:tint val="90000"/>
                        <a:shade val="89000"/>
                        <a:satMod val="220000"/>
                      </a:schemeClr>
                    </a:gs>
                    <a:gs pos="100000">
                      <a:schemeClr val="accent6">
                        <a:tint val="12000"/>
                        <a:satMod val="255000"/>
                      </a:schemeClr>
                    </a:gs>
                  </a:gsLst>
                  <a:lin ang="5400000"/>
                </a:gra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mic Sans MS" panose="030F0702030302020204" pitchFamily="66" charset="0"/>
              </a:rPr>
              <a:t> </a:t>
            </a:r>
            <a:r>
              <a:rPr lang="en-US" sz="3600" b="1" dirty="0" smtClean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mic Sans MS" panose="030F0702030302020204" pitchFamily="66" charset="0"/>
              </a:rPr>
              <a:t>S</a:t>
            </a:r>
            <a:r>
              <a:rPr lang="en-US" sz="3600" b="1" dirty="0" smtClean="0">
                <a:solidFill>
                  <a:srgbClr val="FF66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mic Sans MS" panose="030F0702030302020204" pitchFamily="66" charset="0"/>
              </a:rPr>
              <a:t>p</a:t>
            </a:r>
            <a:r>
              <a:rPr lang="en-US" sz="3600" b="1" dirty="0" smtClean="0">
                <a:solidFill>
                  <a:srgbClr val="FFC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mic Sans MS" panose="030F0702030302020204" pitchFamily="66" charset="0"/>
              </a:rPr>
              <a:t>e</a:t>
            </a:r>
            <a:r>
              <a:rPr lang="en-US" sz="3600" b="1" dirty="0" smtClean="0">
                <a:solidFill>
                  <a:srgbClr val="00B05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mic Sans MS" panose="030F0702030302020204" pitchFamily="66" charset="0"/>
              </a:rPr>
              <a:t>c</a:t>
            </a:r>
            <a:r>
              <a:rPr lang="en-US" sz="3600" b="1" dirty="0" smtClean="0">
                <a:solidFill>
                  <a:srgbClr val="00B0F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mic Sans MS" panose="030F0702030302020204" pitchFamily="66" charset="0"/>
              </a:rPr>
              <a:t>t</a:t>
            </a:r>
            <a:r>
              <a:rPr lang="en-US" sz="3600" b="1" dirty="0" smtClean="0">
                <a:solidFill>
                  <a:srgbClr val="0000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mic Sans MS" panose="030F0702030302020204" pitchFamily="66" charset="0"/>
              </a:rPr>
              <a:t>r</a:t>
            </a:r>
            <a:r>
              <a:rPr lang="en-US" sz="3600" b="1" dirty="0" smtClean="0">
                <a:solidFill>
                  <a:srgbClr val="CC0099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mic Sans MS" panose="030F0702030302020204" pitchFamily="66" charset="0"/>
              </a:rPr>
              <a:t>o</a:t>
            </a:r>
            <a:r>
              <a:rPr lang="en-US" sz="3600" b="1" dirty="0" smtClean="0">
                <a:solidFill>
                  <a:srgbClr val="FF505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mic Sans MS" panose="030F0702030302020204" pitchFamily="66" charset="0"/>
              </a:rPr>
              <a:t>s</a:t>
            </a:r>
            <a:r>
              <a:rPr lang="en-US" sz="3600" b="1" dirty="0" smtClean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mic Sans MS" panose="030F0702030302020204" pitchFamily="66" charset="0"/>
              </a:rPr>
              <a:t>copy</a:t>
            </a:r>
            <a:endParaRPr lang="en-US" sz="3600" b="1" dirty="0">
              <a:solidFill>
                <a:srgbClr val="FF00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Comic Sans MS" panose="030F0702030302020204" pitchFamily="66" charset="0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xmlns="" id="{07987F46-F22D-4314-B239-C75F94E3B83D}"/>
              </a:ext>
            </a:extLst>
          </p:cNvPr>
          <p:cNvSpPr txBox="1"/>
          <p:nvPr/>
        </p:nvSpPr>
        <p:spPr>
          <a:xfrm>
            <a:off x="7010401" y="190381"/>
            <a:ext cx="1904999" cy="446276"/>
          </a:xfrm>
          <a:prstGeom prst="rect">
            <a:avLst/>
          </a:prstGeom>
          <a:noFill/>
          <a:ln>
            <a:noFill/>
          </a:ln>
          <a:effectLst>
            <a:outerShdw blurRad="44450" dist="27940" dir="5400000" algn="ctr">
              <a:srgbClr val="000000">
                <a:alpha val="32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  <a:sp3d>
            <a:bevelT w="190500" h="38100"/>
          </a:sp3d>
        </p:spPr>
        <p:txBody>
          <a:bodyPr wrap="square" rtlCol="0">
            <a:spAutoFit/>
          </a:bodyPr>
          <a:lstStyle/>
          <a:p>
            <a:pPr algn="ctr"/>
            <a:r>
              <a:rPr lang="en-US" sz="2300" b="1" dirty="0" smtClean="0">
                <a:ln w="0"/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Comic Sans MS" panose="030F0702030302020204" pitchFamily="66" charset="0"/>
                <a:ea typeface="Calibri" panose="020F0502020204030204" pitchFamily="34" charset="0"/>
              </a:rPr>
              <a:t>Chapter </a:t>
            </a:r>
            <a:r>
              <a:rPr lang="en-US" sz="2300" b="1" dirty="0" smtClean="0">
                <a:ln w="0"/>
                <a:solidFill>
                  <a:srgbClr val="FF0000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Comic Sans MS" panose="030F0702030302020204" pitchFamily="66" charset="0"/>
                <a:ea typeface="Calibri" panose="020F0502020204030204" pitchFamily="34" charset="0"/>
              </a:rPr>
              <a:t>1</a:t>
            </a:r>
            <a:endParaRPr lang="en-US" sz="2300" b="1" dirty="0">
              <a:ln w="0"/>
              <a:solidFill>
                <a:srgbClr val="FF0000"/>
              </a:solidFill>
              <a:effectLst>
                <a:outerShdw blurRad="38100" dist="25400" dir="5400000" algn="ctr" rotWithShape="0">
                  <a:srgbClr val="6E747A">
                    <a:alpha val="43000"/>
                  </a:srgbClr>
                </a:outerShdw>
              </a:effectLst>
              <a:latin typeface="Comic Sans MS" panose="030F0702030302020204" pitchFamily="66" charset="0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228600" y="190381"/>
            <a:ext cx="3153508" cy="80021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300" b="1" dirty="0" smtClean="0">
                <a:ln w="0"/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Advanced</a:t>
            </a:r>
          </a:p>
          <a:p>
            <a:pPr algn="ctr"/>
            <a:r>
              <a:rPr lang="en-US" sz="2300" b="1" dirty="0" smtClean="0">
                <a:ln w="0"/>
                <a:solidFill>
                  <a:srgbClr val="FF0000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Comic Sans MS" panose="030F0702030302020204" pitchFamily="66" charset="0"/>
                <a:ea typeface="Calibri" panose="020F0502020204030204" pitchFamily="34" charset="0"/>
              </a:rPr>
              <a:t>Organic Chemistry</a:t>
            </a:r>
            <a:endParaRPr lang="en-US" sz="2300" b="1" dirty="0">
              <a:ln w="0"/>
              <a:solidFill>
                <a:srgbClr val="FF0000"/>
              </a:solidFill>
              <a:effectLst>
                <a:outerShdw blurRad="38100" dist="25400" dir="5400000" algn="ctr" rotWithShape="0">
                  <a:srgbClr val="6E747A">
                    <a:alpha val="43000"/>
                  </a:srgbClr>
                </a:outerShdw>
              </a:effectLst>
              <a:latin typeface="Comic Sans MS" panose="030F0702030302020204" pitchFamily="66" charset="0"/>
            </a:endParaRPr>
          </a:p>
        </p:txBody>
      </p:sp>
      <p:pic>
        <p:nvPicPr>
          <p:cNvPr id="8195" name="Picture 3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304800" y="3251163"/>
            <a:ext cx="8595360" cy="299723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  <p:extLst>
      <p:ext uri="{BB962C8B-B14F-4D97-AF65-F5344CB8AC3E}">
        <p14:creationId xmlns:p14="http://schemas.microsoft.com/office/powerpoint/2010/main" val="222973725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ext Box 2"/>
          <p:cNvSpPr txBox="1">
            <a:spLocks noChangeArrowheads="1"/>
          </p:cNvSpPr>
          <p:nvPr/>
        </p:nvSpPr>
        <p:spPr bwMode="auto">
          <a:xfrm>
            <a:off x="2819400" y="101025"/>
            <a:ext cx="3505200" cy="5847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marL="457200" indent="-457200" algn="ctr">
              <a:spcBef>
                <a:spcPct val="0"/>
              </a:spcBef>
            </a:pPr>
            <a:r>
              <a:rPr lang="en-US" sz="3200" b="1" dirty="0" err="1" smtClean="0">
                <a:ln w="1905"/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mic Sans MS" pitchFamily="66" charset="0"/>
              </a:rPr>
              <a:t>Chromo</a:t>
            </a:r>
            <a:r>
              <a:rPr lang="en-US" sz="3200" b="1" dirty="0" err="1" smtClean="0">
                <a:ln w="1905"/>
                <a:gradFill>
                  <a:gsLst>
                    <a:gs pos="0">
                      <a:schemeClr val="accent6">
                        <a:shade val="20000"/>
                        <a:satMod val="200000"/>
                      </a:schemeClr>
                    </a:gs>
                    <a:gs pos="78000">
                      <a:schemeClr val="accent6">
                        <a:tint val="90000"/>
                        <a:shade val="89000"/>
                        <a:satMod val="220000"/>
                      </a:schemeClr>
                    </a:gs>
                    <a:gs pos="100000">
                      <a:schemeClr val="accent6">
                        <a:tint val="12000"/>
                        <a:satMod val="255000"/>
                      </a:schemeClr>
                    </a:gs>
                  </a:gsLst>
                  <a:lin ang="5400000"/>
                </a:gra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mic Sans MS" pitchFamily="66" charset="0"/>
              </a:rPr>
              <a:t>phore</a:t>
            </a:r>
            <a:endParaRPr lang="en-US" sz="3200" b="1" dirty="0">
              <a:ln w="1905"/>
              <a:gradFill>
                <a:gsLst>
                  <a:gs pos="0">
                    <a:schemeClr val="accent6">
                      <a:shade val="20000"/>
                      <a:satMod val="200000"/>
                    </a:schemeClr>
                  </a:gs>
                  <a:gs pos="78000">
                    <a:schemeClr val="accent6">
                      <a:tint val="90000"/>
                      <a:shade val="89000"/>
                      <a:satMod val="220000"/>
                    </a:schemeClr>
                  </a:gs>
                  <a:gs pos="100000">
                    <a:schemeClr val="accent6">
                      <a:tint val="12000"/>
                      <a:satMod val="255000"/>
                    </a:schemeClr>
                  </a:gs>
                </a:gsLst>
                <a:lin ang="5400000"/>
              </a:gra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Comic Sans MS" pitchFamily="66" charset="0"/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304800" y="933271"/>
            <a:ext cx="8382000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74320" indent="-274320" algn="just">
              <a:buClr>
                <a:srgbClr val="FF0000"/>
              </a:buClr>
              <a:buFont typeface="Arial" pitchFamily="34" charset="0"/>
              <a:buChar char="•"/>
            </a:pPr>
            <a:r>
              <a:rPr lang="en-US" dirty="0" smtClean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A </a:t>
            </a:r>
            <a:r>
              <a:rPr lang="en-US" dirty="0" err="1" smtClean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chromophore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 is the part (unsaturated  group) of a molecule  that is responsible for electronic absorption and thus imparts color to the molecule.</a:t>
            </a:r>
            <a:endParaRPr lang="en-US" dirty="0">
              <a:latin typeface="Times New Roman" pitchFamily="18" charset="0"/>
              <a:cs typeface="Times New Roman" pitchFamily="18" charset="0"/>
            </a:endParaRPr>
          </a:p>
        </p:txBody>
      </p:sp>
      <p:graphicFrame>
        <p:nvGraphicFramePr>
          <p:cNvPr id="15" name="Group 245"/>
          <p:cNvGraphicFramePr>
            <a:graphicFrameLocks noGrp="1"/>
          </p:cNvGraphicFramePr>
          <p:nvPr>
            <p:ph/>
          </p:nvPr>
        </p:nvGraphicFramePr>
        <p:xfrm>
          <a:off x="838200" y="2634295"/>
          <a:ext cx="7543800" cy="3918905"/>
        </p:xfrm>
        <a:graphic>
          <a:graphicData uri="http://schemas.openxmlformats.org/drawingml/2006/table">
            <a:tbl>
              <a:tblPr/>
              <a:tblGrid>
                <a:gridCol w="1905000"/>
                <a:gridCol w="1524001"/>
                <a:gridCol w="1371599"/>
                <a:gridCol w="1447800"/>
                <a:gridCol w="1295400"/>
              </a:tblGrid>
              <a:tr h="912813"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200" b="1" i="0" u="none" strike="noStrike" cap="none" normalizeH="0" baseline="0" dirty="0" err="1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itchFamily="18" charset="0"/>
                          <a:ea typeface="Times New Roman" pitchFamily="18" charset="0"/>
                          <a:cs typeface="Times New Roman" pitchFamily="18" charset="0"/>
                        </a:rPr>
                        <a:t>Chromophore</a:t>
                      </a:r>
                      <a:endParaRPr kumimoji="0" lang="en-US" sz="2200" b="1" i="0" u="none" strike="noStrike" cap="none" normalizeH="0" baseline="0" dirty="0" smtClean="0">
                        <a:ln>
                          <a:noFill/>
                        </a:ln>
                        <a:solidFill>
                          <a:srgbClr val="FFFF00"/>
                        </a:solidFill>
                        <a:effectLst/>
                        <a:latin typeface="Times New Roman" pitchFamily="18" charset="0"/>
                        <a:ea typeface="Times New Roman" pitchFamily="18" charset="0"/>
                        <a:cs typeface="Times New Roman" pitchFamily="18" charset="0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accent2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accent2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2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itchFamily="18" charset="0"/>
                          <a:ea typeface="Times New Roman" pitchFamily="18" charset="0"/>
                          <a:cs typeface="Times New Roman" pitchFamily="18" charset="0"/>
                        </a:rPr>
                        <a:t>Excitation</a:t>
                      </a:r>
                      <a:endParaRPr kumimoji="0" lang="en-US" sz="2200" b="1" i="0" u="none" strike="noStrike" cap="none" normalizeH="0" baseline="0" dirty="0" smtClean="0">
                        <a:ln>
                          <a:noFill/>
                        </a:ln>
                        <a:solidFill>
                          <a:srgbClr val="FFFF00"/>
                        </a:solidFill>
                        <a:effectLst/>
                        <a:latin typeface="Times New Roman" pitchFamily="18" charset="0"/>
                        <a:ea typeface="Times New Roman" pitchFamily="18" charset="0"/>
                        <a:cs typeface="Times New Roman" pitchFamily="18" charset="0"/>
                      </a:endParaRPr>
                    </a:p>
                  </a:txBody>
                  <a:tcPr anchor="ctr" horzOverflow="overflow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accent2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accent2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200" b="1" i="0" u="none" strike="noStrike" cap="none" normalizeH="0" baseline="0" dirty="0" err="1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itchFamily="18" charset="0"/>
                          <a:ea typeface="Times New Roman" pitchFamily="18" charset="0"/>
                          <a:cs typeface="Times New Roman" pitchFamily="18" charset="0"/>
                        </a:rPr>
                        <a:t>λ</a:t>
                      </a:r>
                      <a:r>
                        <a:rPr kumimoji="0" lang="en-US" sz="2200" b="1" i="0" u="none" strike="noStrike" cap="none" normalizeH="0" baseline="-30000" dirty="0" err="1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itchFamily="18" charset="0"/>
                          <a:ea typeface="Times New Roman" pitchFamily="18" charset="0"/>
                          <a:cs typeface="Times New Roman" pitchFamily="18" charset="0"/>
                        </a:rPr>
                        <a:t>max</a:t>
                      </a:r>
                      <a:r>
                        <a:rPr kumimoji="0" lang="en-US" sz="22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itchFamily="18" charset="0"/>
                          <a:ea typeface="Times New Roman" pitchFamily="18" charset="0"/>
                          <a:cs typeface="Times New Roman" pitchFamily="18" charset="0"/>
                        </a:rPr>
                        <a:t> (nm)</a:t>
                      </a:r>
                      <a:endParaRPr kumimoji="0" lang="en-US" sz="2200" b="1" i="0" u="none" strike="noStrike" cap="none" normalizeH="0" baseline="0" dirty="0" smtClean="0">
                        <a:ln>
                          <a:noFill/>
                        </a:ln>
                        <a:solidFill>
                          <a:srgbClr val="FFFF00"/>
                        </a:solidFill>
                        <a:effectLst/>
                        <a:latin typeface="Times New Roman" pitchFamily="18" charset="0"/>
                        <a:ea typeface="Times New Roman" pitchFamily="18" charset="0"/>
                        <a:cs typeface="Times New Roman" pitchFamily="18" charset="0"/>
                      </a:endParaRPr>
                    </a:p>
                  </a:txBody>
                  <a:tcPr anchor="ctr" horzOverflow="overflow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accent2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accent2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2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itchFamily="18" charset="0"/>
                          <a:ea typeface="Times New Roman" pitchFamily="18" charset="0"/>
                          <a:cs typeface="Times New Roman" pitchFamily="18" charset="0"/>
                        </a:rPr>
                        <a:t>ε</a:t>
                      </a:r>
                      <a:endParaRPr kumimoji="0" lang="en-US" sz="2200" b="1" i="0" u="none" strike="noStrike" cap="none" normalizeH="0" baseline="0" dirty="0" smtClean="0">
                        <a:ln>
                          <a:noFill/>
                        </a:ln>
                        <a:solidFill>
                          <a:srgbClr val="FFFF00"/>
                        </a:solidFill>
                        <a:effectLst/>
                        <a:latin typeface="Times New Roman" pitchFamily="18" charset="0"/>
                        <a:ea typeface="Times New Roman" pitchFamily="18" charset="0"/>
                        <a:cs typeface="Times New Roman" pitchFamily="18" charset="0"/>
                      </a:endParaRPr>
                    </a:p>
                  </a:txBody>
                  <a:tcPr anchor="ctr" horzOverflow="overflow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accent2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accent2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2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itchFamily="18" charset="0"/>
                          <a:ea typeface="Times New Roman" pitchFamily="18" charset="0"/>
                          <a:cs typeface="Times New Roman" pitchFamily="18" charset="0"/>
                        </a:rPr>
                        <a:t>Solvent</a:t>
                      </a:r>
                      <a:endParaRPr kumimoji="0" lang="en-US" sz="2200" b="1" i="0" u="none" strike="noStrike" cap="none" normalizeH="0" baseline="0" dirty="0" smtClean="0">
                        <a:ln>
                          <a:noFill/>
                        </a:ln>
                        <a:solidFill>
                          <a:srgbClr val="FFFF00"/>
                        </a:solidFill>
                        <a:effectLst/>
                        <a:latin typeface="Times New Roman" pitchFamily="18" charset="0"/>
                        <a:ea typeface="Times New Roman" pitchFamily="18" charset="0"/>
                        <a:cs typeface="Times New Roman" pitchFamily="18" charset="0"/>
                      </a:endParaRPr>
                    </a:p>
                  </a:txBody>
                  <a:tcPr anchor="ctr" horzOverflow="overflow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accent2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accent2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</a:tr>
              <a:tr h="550863"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itchFamily="18" charset="0"/>
                          <a:ea typeface="Times New Roman" pitchFamily="18" charset="0"/>
                          <a:cs typeface="Times New Roman" pitchFamily="18" charset="0"/>
                        </a:rPr>
                        <a:t>C=C</a:t>
                      </a:r>
                      <a:endParaRPr kumimoji="0" lang="en-US" sz="2000" b="1" i="0" u="none" strike="noStrike" cap="none" normalizeH="0" baseline="0" dirty="0" smtClean="0">
                        <a:ln>
                          <a:noFill/>
                        </a:ln>
                        <a:solidFill>
                          <a:srgbClr val="FFFF00"/>
                        </a:solidFill>
                        <a:effectLst/>
                        <a:latin typeface="Times New Roman" pitchFamily="18" charset="0"/>
                        <a:ea typeface="Times New Roman" pitchFamily="18" charset="0"/>
                        <a:cs typeface="Times New Roman" pitchFamily="18" charset="0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accent2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l-GR" sz="20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Times New Roman" pitchFamily="18" charset="0"/>
                          <a:ea typeface="Times New Roman" pitchFamily="18" charset="0"/>
                          <a:cs typeface="Times New Roman" pitchFamily="18" charset="0"/>
                        </a:rPr>
                        <a:t>π</a:t>
                      </a:r>
                      <a:r>
                        <a:rPr kumimoji="0" lang="en-US" sz="20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Times New Roman" pitchFamily="18" charset="0"/>
                          <a:ea typeface="Times New Roman" pitchFamily="18" charset="0"/>
                          <a:cs typeface="Times New Roman" pitchFamily="18" charset="0"/>
                        </a:rPr>
                        <a:t> </a:t>
                      </a:r>
                      <a:r>
                        <a:rPr lang="en-US" sz="2000" dirty="0" smtClean="0">
                          <a:solidFill>
                            <a:srgbClr val="FF0000"/>
                          </a:solidFill>
                          <a:latin typeface="Times New Roman" pitchFamily="18" charset="0"/>
                          <a:cs typeface="Times New Roman" pitchFamily="18" charset="0"/>
                          <a:sym typeface="Symbol" pitchFamily="18" charset="2"/>
                        </a:rPr>
                        <a:t></a:t>
                      </a:r>
                      <a:r>
                        <a:rPr kumimoji="0" lang="en-US" sz="20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Times New Roman" pitchFamily="18" charset="0"/>
                          <a:ea typeface="Times New Roman" pitchFamily="18" charset="0"/>
                          <a:cs typeface="Times New Roman" pitchFamily="18" charset="0"/>
                        </a:rPr>
                        <a:t> </a:t>
                      </a:r>
                      <a:r>
                        <a:rPr kumimoji="0" lang="el-GR" sz="20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Times New Roman" pitchFamily="18" charset="0"/>
                          <a:ea typeface="Times New Roman" pitchFamily="18" charset="0"/>
                          <a:cs typeface="Times New Roman" pitchFamily="18" charset="0"/>
                        </a:rPr>
                        <a:t>π</a:t>
                      </a:r>
                      <a:r>
                        <a:rPr kumimoji="0" lang="en-US" sz="20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Times New Roman" pitchFamily="18" charset="0"/>
                          <a:ea typeface="Times New Roman" pitchFamily="18" charset="0"/>
                          <a:cs typeface="Times New Roman" pitchFamily="18" charset="0"/>
                        </a:rPr>
                        <a:t>*</a:t>
                      </a:r>
                    </a:p>
                  </a:txBody>
                  <a:tcPr anchor="ctr" horzOverflow="overflow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accent2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b="1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itchFamily="18" charset="0"/>
                          <a:ea typeface="Times New Roman" pitchFamily="18" charset="0"/>
                          <a:cs typeface="Times New Roman" pitchFamily="18" charset="0"/>
                        </a:rPr>
                        <a:t>171</a:t>
                      </a:r>
                      <a:endParaRPr kumimoji="0" lang="en-US" sz="2000" b="1" i="0" u="none" strike="noStrike" cap="none" normalizeH="0" baseline="0" smtClean="0">
                        <a:ln>
                          <a:noFill/>
                        </a:ln>
                        <a:solidFill>
                          <a:srgbClr val="FFFF00"/>
                        </a:solidFill>
                        <a:effectLst/>
                        <a:latin typeface="Times New Roman" pitchFamily="18" charset="0"/>
                        <a:ea typeface="Times New Roman" pitchFamily="18" charset="0"/>
                        <a:cs typeface="Times New Roman" pitchFamily="18" charset="0"/>
                      </a:endParaRPr>
                    </a:p>
                  </a:txBody>
                  <a:tcPr anchor="ctr" horzOverflow="overflow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accent2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b="1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itchFamily="18" charset="0"/>
                          <a:ea typeface="Times New Roman" pitchFamily="18" charset="0"/>
                          <a:cs typeface="Times New Roman" pitchFamily="18" charset="0"/>
                        </a:rPr>
                        <a:t>15,000</a:t>
                      </a:r>
                      <a:endParaRPr kumimoji="0" lang="en-US" sz="2000" b="1" i="0" u="none" strike="noStrike" cap="none" normalizeH="0" baseline="0" smtClean="0">
                        <a:ln>
                          <a:noFill/>
                        </a:ln>
                        <a:solidFill>
                          <a:srgbClr val="FFFF00"/>
                        </a:solidFill>
                        <a:effectLst/>
                        <a:latin typeface="Times New Roman" pitchFamily="18" charset="0"/>
                        <a:ea typeface="Times New Roman" pitchFamily="18" charset="0"/>
                        <a:cs typeface="Times New Roman" pitchFamily="18" charset="0"/>
                      </a:endParaRPr>
                    </a:p>
                  </a:txBody>
                  <a:tcPr anchor="ctr" horzOverflow="overflow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accent2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b="1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itchFamily="18" charset="0"/>
                          <a:ea typeface="Times New Roman" pitchFamily="18" charset="0"/>
                          <a:cs typeface="Times New Roman" pitchFamily="18" charset="0"/>
                        </a:rPr>
                        <a:t>hexane</a:t>
                      </a:r>
                      <a:endParaRPr kumimoji="0" lang="en-US" sz="2000" b="1" i="0" u="none" strike="noStrike" cap="none" normalizeH="0" baseline="0" smtClean="0">
                        <a:ln>
                          <a:noFill/>
                        </a:ln>
                        <a:solidFill>
                          <a:srgbClr val="FFFF00"/>
                        </a:solidFill>
                        <a:effectLst/>
                        <a:latin typeface="Times New Roman" pitchFamily="18" charset="0"/>
                        <a:ea typeface="Times New Roman" pitchFamily="18" charset="0"/>
                        <a:cs typeface="Times New Roman" pitchFamily="18" charset="0"/>
                      </a:endParaRPr>
                    </a:p>
                  </a:txBody>
                  <a:tcPr anchor="ctr" horzOverflow="overflow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accent2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</a:tr>
              <a:tr h="623253"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itchFamily="18" charset="0"/>
                          <a:ea typeface="Times New Roman" pitchFamily="18" charset="0"/>
                          <a:cs typeface="Times New Roman" pitchFamily="18" charset="0"/>
                        </a:rPr>
                        <a:t>C≡C</a:t>
                      </a:r>
                      <a:endParaRPr kumimoji="0" lang="en-US" sz="2000" b="1" i="0" u="none" strike="noStrike" cap="none" normalizeH="0" baseline="0" dirty="0" smtClean="0">
                        <a:ln>
                          <a:noFill/>
                        </a:ln>
                        <a:solidFill>
                          <a:srgbClr val="FFFF00"/>
                        </a:solidFill>
                        <a:effectLst/>
                        <a:latin typeface="Times New Roman" pitchFamily="18" charset="0"/>
                        <a:ea typeface="Times New Roman" pitchFamily="18" charset="0"/>
                        <a:cs typeface="Times New Roman" pitchFamily="18" charset="0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l-GR" sz="20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Times New Roman" pitchFamily="18" charset="0"/>
                          <a:ea typeface="Times New Roman" pitchFamily="18" charset="0"/>
                          <a:cs typeface="Times New Roman" pitchFamily="18" charset="0"/>
                        </a:rPr>
                        <a:t>π</a:t>
                      </a:r>
                      <a:r>
                        <a:rPr kumimoji="0" lang="en-US" sz="20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Times New Roman" pitchFamily="18" charset="0"/>
                          <a:ea typeface="Times New Roman" pitchFamily="18" charset="0"/>
                          <a:cs typeface="Times New Roman" pitchFamily="18" charset="0"/>
                        </a:rPr>
                        <a:t> </a:t>
                      </a:r>
                      <a:r>
                        <a:rPr lang="en-US" sz="2000" dirty="0" smtClean="0">
                          <a:solidFill>
                            <a:srgbClr val="FF0000"/>
                          </a:solidFill>
                          <a:latin typeface="Times New Roman" pitchFamily="18" charset="0"/>
                          <a:cs typeface="Times New Roman" pitchFamily="18" charset="0"/>
                          <a:sym typeface="Symbol" pitchFamily="18" charset="2"/>
                        </a:rPr>
                        <a:t></a:t>
                      </a:r>
                      <a:r>
                        <a:rPr kumimoji="0" lang="en-US" sz="20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Times New Roman" pitchFamily="18" charset="0"/>
                          <a:ea typeface="Times New Roman" pitchFamily="18" charset="0"/>
                          <a:cs typeface="Times New Roman" pitchFamily="18" charset="0"/>
                        </a:rPr>
                        <a:t> </a:t>
                      </a:r>
                      <a:r>
                        <a:rPr kumimoji="0" lang="el-GR" sz="20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Times New Roman" pitchFamily="18" charset="0"/>
                          <a:ea typeface="Times New Roman" pitchFamily="18" charset="0"/>
                          <a:cs typeface="Times New Roman" pitchFamily="18" charset="0"/>
                        </a:rPr>
                        <a:t>π</a:t>
                      </a:r>
                      <a:r>
                        <a:rPr kumimoji="0" lang="en-US" sz="20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Times New Roman" pitchFamily="18" charset="0"/>
                          <a:ea typeface="Times New Roman" pitchFamily="18" charset="0"/>
                          <a:cs typeface="Times New Roman" pitchFamily="18" charset="0"/>
                        </a:rPr>
                        <a:t>*</a:t>
                      </a:r>
                    </a:p>
                  </a:txBody>
                  <a:tcPr anchor="ctr" horzOverflow="overflow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b="1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itchFamily="18" charset="0"/>
                          <a:ea typeface="Times New Roman" pitchFamily="18" charset="0"/>
                          <a:cs typeface="Times New Roman" pitchFamily="18" charset="0"/>
                        </a:rPr>
                        <a:t>180</a:t>
                      </a:r>
                      <a:endParaRPr kumimoji="0" lang="en-US" sz="2000" b="1" i="0" u="none" strike="noStrike" cap="none" normalizeH="0" baseline="0" smtClean="0">
                        <a:ln>
                          <a:noFill/>
                        </a:ln>
                        <a:solidFill>
                          <a:srgbClr val="FFFF00"/>
                        </a:solidFill>
                        <a:effectLst/>
                        <a:latin typeface="Times New Roman" pitchFamily="18" charset="0"/>
                        <a:ea typeface="Times New Roman" pitchFamily="18" charset="0"/>
                        <a:cs typeface="Times New Roman" pitchFamily="18" charset="0"/>
                      </a:endParaRPr>
                    </a:p>
                  </a:txBody>
                  <a:tcPr anchor="ctr" horzOverflow="overflow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b="1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itchFamily="18" charset="0"/>
                          <a:ea typeface="Times New Roman" pitchFamily="18" charset="0"/>
                          <a:cs typeface="Times New Roman" pitchFamily="18" charset="0"/>
                        </a:rPr>
                        <a:t>10,000</a:t>
                      </a:r>
                      <a:endParaRPr kumimoji="0" lang="en-US" sz="2000" b="1" i="0" u="none" strike="noStrike" cap="none" normalizeH="0" baseline="0" smtClean="0">
                        <a:ln>
                          <a:noFill/>
                        </a:ln>
                        <a:solidFill>
                          <a:srgbClr val="FFFF00"/>
                        </a:solidFill>
                        <a:effectLst/>
                        <a:latin typeface="Times New Roman" pitchFamily="18" charset="0"/>
                        <a:ea typeface="Times New Roman" pitchFamily="18" charset="0"/>
                        <a:cs typeface="Times New Roman" pitchFamily="18" charset="0"/>
                      </a:endParaRPr>
                    </a:p>
                  </a:txBody>
                  <a:tcPr anchor="ctr" horzOverflow="overflow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b="1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itchFamily="18" charset="0"/>
                          <a:ea typeface="Times New Roman" pitchFamily="18" charset="0"/>
                          <a:cs typeface="Times New Roman" pitchFamily="18" charset="0"/>
                        </a:rPr>
                        <a:t>hexane</a:t>
                      </a:r>
                      <a:endParaRPr kumimoji="0" lang="en-US" sz="2000" b="1" i="0" u="none" strike="noStrike" cap="none" normalizeH="0" baseline="0" smtClean="0">
                        <a:ln>
                          <a:noFill/>
                        </a:ln>
                        <a:solidFill>
                          <a:srgbClr val="FFFF00"/>
                        </a:solidFill>
                        <a:effectLst/>
                        <a:latin typeface="Times New Roman" pitchFamily="18" charset="0"/>
                        <a:ea typeface="Times New Roman" pitchFamily="18" charset="0"/>
                        <a:cs typeface="Times New Roman" pitchFamily="18" charset="0"/>
                      </a:endParaRPr>
                    </a:p>
                  </a:txBody>
                  <a:tcPr anchor="ctr" horzOverflow="overflow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</a:tr>
              <a:tr h="915988"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itchFamily="18" charset="0"/>
                          <a:ea typeface="Times New Roman" pitchFamily="18" charset="0"/>
                          <a:cs typeface="Times New Roman" pitchFamily="18" charset="0"/>
                        </a:rPr>
                        <a:t>C=O</a:t>
                      </a:r>
                      <a:endParaRPr kumimoji="0" lang="en-US" sz="2000" b="1" i="0" u="none" strike="noStrike" cap="none" normalizeH="0" baseline="0" dirty="0" smtClean="0">
                        <a:ln>
                          <a:noFill/>
                        </a:ln>
                        <a:solidFill>
                          <a:srgbClr val="FFFF00"/>
                        </a:solidFill>
                        <a:effectLst/>
                        <a:latin typeface="Times New Roman" pitchFamily="18" charset="0"/>
                        <a:ea typeface="Times New Roman" pitchFamily="18" charset="0"/>
                        <a:cs typeface="Times New Roman" pitchFamily="18" charset="0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20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00FF"/>
                          </a:solidFill>
                          <a:effectLst/>
                          <a:latin typeface="Times New Roman" pitchFamily="18" charset="0"/>
                          <a:ea typeface="Times New Roman" pitchFamily="18" charset="0"/>
                          <a:cs typeface="Times New Roman" pitchFamily="18" charset="0"/>
                        </a:rPr>
                        <a:t>n </a:t>
                      </a:r>
                      <a:r>
                        <a:rPr lang="en-US" sz="2000" dirty="0" smtClean="0">
                          <a:solidFill>
                            <a:srgbClr val="0000FF"/>
                          </a:solidFill>
                          <a:latin typeface="Times New Roman" pitchFamily="18" charset="0"/>
                          <a:cs typeface="Times New Roman" pitchFamily="18" charset="0"/>
                          <a:sym typeface="Symbol" pitchFamily="18" charset="2"/>
                        </a:rPr>
                        <a:t></a:t>
                      </a:r>
                      <a:r>
                        <a:rPr kumimoji="0" lang="en-US" sz="20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00FF"/>
                          </a:solidFill>
                          <a:effectLst/>
                          <a:latin typeface="Times New Roman" pitchFamily="18" charset="0"/>
                          <a:ea typeface="Times New Roman" pitchFamily="18" charset="0"/>
                          <a:cs typeface="Times New Roman" pitchFamily="18" charset="0"/>
                        </a:rPr>
                        <a:t> </a:t>
                      </a:r>
                      <a:r>
                        <a:rPr kumimoji="0" lang="el-GR" sz="20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00FF"/>
                          </a:solidFill>
                          <a:effectLst/>
                          <a:latin typeface="Times New Roman" pitchFamily="18" charset="0"/>
                          <a:ea typeface="Times New Roman" pitchFamily="18" charset="0"/>
                          <a:cs typeface="Times New Roman" pitchFamily="18" charset="0"/>
                        </a:rPr>
                        <a:t>π</a:t>
                      </a:r>
                      <a:r>
                        <a:rPr kumimoji="0" lang="en-US" sz="20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00FF"/>
                          </a:solidFill>
                          <a:effectLst/>
                          <a:latin typeface="Times New Roman" pitchFamily="18" charset="0"/>
                          <a:ea typeface="Times New Roman" pitchFamily="18" charset="0"/>
                          <a:cs typeface="Times New Roman" pitchFamily="18" charset="0"/>
                        </a:rPr>
                        <a:t>*</a:t>
                      </a:r>
                    </a:p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l-GR" sz="20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Times New Roman" pitchFamily="18" charset="0"/>
                          <a:ea typeface="Times New Roman" pitchFamily="18" charset="0"/>
                          <a:cs typeface="Times New Roman" pitchFamily="18" charset="0"/>
                        </a:rPr>
                        <a:t>π</a:t>
                      </a:r>
                      <a:r>
                        <a:rPr kumimoji="0" lang="en-US" sz="20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Times New Roman" pitchFamily="18" charset="0"/>
                          <a:ea typeface="Times New Roman" pitchFamily="18" charset="0"/>
                          <a:cs typeface="Times New Roman" pitchFamily="18" charset="0"/>
                        </a:rPr>
                        <a:t> </a:t>
                      </a:r>
                      <a:r>
                        <a:rPr lang="en-US" sz="2000" dirty="0" smtClean="0">
                          <a:solidFill>
                            <a:srgbClr val="FF0000"/>
                          </a:solidFill>
                          <a:latin typeface="Times New Roman" pitchFamily="18" charset="0"/>
                          <a:cs typeface="Times New Roman" pitchFamily="18" charset="0"/>
                          <a:sym typeface="Symbol" pitchFamily="18" charset="2"/>
                        </a:rPr>
                        <a:t></a:t>
                      </a:r>
                      <a:r>
                        <a:rPr kumimoji="0" lang="en-US" sz="20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Times New Roman" pitchFamily="18" charset="0"/>
                          <a:ea typeface="Times New Roman" pitchFamily="18" charset="0"/>
                          <a:cs typeface="Times New Roman" pitchFamily="18" charset="0"/>
                        </a:rPr>
                        <a:t> </a:t>
                      </a:r>
                      <a:r>
                        <a:rPr kumimoji="0" lang="el-GR" sz="20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Times New Roman" pitchFamily="18" charset="0"/>
                          <a:ea typeface="Times New Roman" pitchFamily="18" charset="0"/>
                          <a:cs typeface="Times New Roman" pitchFamily="18" charset="0"/>
                        </a:rPr>
                        <a:t>π</a:t>
                      </a:r>
                      <a:r>
                        <a:rPr kumimoji="0" lang="en-US" sz="20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Times New Roman" pitchFamily="18" charset="0"/>
                          <a:ea typeface="Times New Roman" pitchFamily="18" charset="0"/>
                          <a:cs typeface="Times New Roman" pitchFamily="18" charset="0"/>
                        </a:rPr>
                        <a:t>*</a:t>
                      </a:r>
                    </a:p>
                  </a:txBody>
                  <a:tcPr anchor="ctr" horzOverflow="overflow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b="1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itchFamily="18" charset="0"/>
                          <a:ea typeface="Times New Roman" pitchFamily="18" charset="0"/>
                          <a:cs typeface="Times New Roman" pitchFamily="18" charset="0"/>
                        </a:rPr>
                        <a:t>290</a:t>
                      </a:r>
                      <a:br>
                        <a:rPr kumimoji="0" lang="en-US" sz="2000" b="1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itchFamily="18" charset="0"/>
                          <a:ea typeface="Times New Roman" pitchFamily="18" charset="0"/>
                          <a:cs typeface="Times New Roman" pitchFamily="18" charset="0"/>
                        </a:rPr>
                      </a:br>
                      <a:r>
                        <a:rPr kumimoji="0" lang="en-US" sz="2000" b="1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itchFamily="18" charset="0"/>
                          <a:ea typeface="Times New Roman" pitchFamily="18" charset="0"/>
                          <a:cs typeface="Times New Roman" pitchFamily="18" charset="0"/>
                        </a:rPr>
                        <a:t>180</a:t>
                      </a:r>
                      <a:endParaRPr kumimoji="0" lang="en-US" sz="2000" b="1" i="0" u="none" strike="noStrike" cap="none" normalizeH="0" baseline="0" smtClean="0">
                        <a:ln>
                          <a:noFill/>
                        </a:ln>
                        <a:solidFill>
                          <a:srgbClr val="FFFF00"/>
                        </a:solidFill>
                        <a:effectLst/>
                        <a:latin typeface="Times New Roman" pitchFamily="18" charset="0"/>
                        <a:ea typeface="Times New Roman" pitchFamily="18" charset="0"/>
                        <a:cs typeface="Times New Roman" pitchFamily="18" charset="0"/>
                      </a:endParaRPr>
                    </a:p>
                  </a:txBody>
                  <a:tcPr anchor="ctr" horzOverflow="overflow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b="1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itchFamily="18" charset="0"/>
                          <a:ea typeface="Times New Roman" pitchFamily="18" charset="0"/>
                          <a:cs typeface="Times New Roman" pitchFamily="18" charset="0"/>
                        </a:rPr>
                        <a:t>15</a:t>
                      </a:r>
                      <a:br>
                        <a:rPr kumimoji="0" lang="en-US" sz="2000" b="1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itchFamily="18" charset="0"/>
                          <a:ea typeface="Times New Roman" pitchFamily="18" charset="0"/>
                          <a:cs typeface="Times New Roman" pitchFamily="18" charset="0"/>
                        </a:rPr>
                      </a:br>
                      <a:r>
                        <a:rPr kumimoji="0" lang="en-US" sz="2000" b="1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itchFamily="18" charset="0"/>
                          <a:ea typeface="Times New Roman" pitchFamily="18" charset="0"/>
                          <a:cs typeface="Times New Roman" pitchFamily="18" charset="0"/>
                        </a:rPr>
                        <a:t>10,000</a:t>
                      </a:r>
                      <a:endParaRPr kumimoji="0" lang="en-US" sz="2000" b="1" i="0" u="none" strike="noStrike" cap="none" normalizeH="0" baseline="0" smtClean="0">
                        <a:ln>
                          <a:noFill/>
                        </a:ln>
                        <a:solidFill>
                          <a:srgbClr val="FFFF00"/>
                        </a:solidFill>
                        <a:effectLst/>
                        <a:latin typeface="Times New Roman" pitchFamily="18" charset="0"/>
                        <a:ea typeface="Times New Roman" pitchFamily="18" charset="0"/>
                        <a:cs typeface="Times New Roman" pitchFamily="18" charset="0"/>
                      </a:endParaRPr>
                    </a:p>
                  </a:txBody>
                  <a:tcPr anchor="ctr" horzOverflow="overflow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b="1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itchFamily="18" charset="0"/>
                          <a:ea typeface="Times New Roman" pitchFamily="18" charset="0"/>
                          <a:cs typeface="Times New Roman" pitchFamily="18" charset="0"/>
                        </a:rPr>
                        <a:t>hexane</a:t>
                      </a:r>
                      <a:br>
                        <a:rPr kumimoji="0" lang="en-US" sz="2000" b="1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itchFamily="18" charset="0"/>
                          <a:ea typeface="Times New Roman" pitchFamily="18" charset="0"/>
                          <a:cs typeface="Times New Roman" pitchFamily="18" charset="0"/>
                        </a:rPr>
                      </a:br>
                      <a:r>
                        <a:rPr kumimoji="0" lang="en-US" sz="2000" b="1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itchFamily="18" charset="0"/>
                          <a:ea typeface="Times New Roman" pitchFamily="18" charset="0"/>
                          <a:cs typeface="Times New Roman" pitchFamily="18" charset="0"/>
                        </a:rPr>
                        <a:t>hexane</a:t>
                      </a:r>
                      <a:endParaRPr kumimoji="0" lang="en-US" sz="2000" b="1" i="0" u="none" strike="noStrike" cap="none" normalizeH="0" baseline="0" smtClean="0">
                        <a:ln>
                          <a:noFill/>
                        </a:ln>
                        <a:solidFill>
                          <a:srgbClr val="FFFF00"/>
                        </a:solidFill>
                        <a:effectLst/>
                        <a:latin typeface="Times New Roman" pitchFamily="18" charset="0"/>
                        <a:ea typeface="Times New Roman" pitchFamily="18" charset="0"/>
                        <a:cs typeface="Times New Roman" pitchFamily="18" charset="0"/>
                      </a:endParaRPr>
                    </a:p>
                  </a:txBody>
                  <a:tcPr anchor="ctr" horzOverflow="overflow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</a:tr>
              <a:tr h="915988"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itchFamily="18" charset="0"/>
                          <a:ea typeface="Times New Roman" pitchFamily="18" charset="0"/>
                          <a:cs typeface="Times New Roman" pitchFamily="18" charset="0"/>
                        </a:rPr>
                        <a:t>N=O</a:t>
                      </a:r>
                      <a:endParaRPr kumimoji="0" lang="en-US" sz="2000" b="1" i="0" u="none" strike="noStrike" cap="none" normalizeH="0" baseline="0" dirty="0" smtClean="0">
                        <a:ln>
                          <a:noFill/>
                        </a:ln>
                        <a:solidFill>
                          <a:srgbClr val="FFFF00"/>
                        </a:solidFill>
                        <a:effectLst/>
                        <a:latin typeface="Times New Roman" pitchFamily="18" charset="0"/>
                        <a:ea typeface="Times New Roman" pitchFamily="18" charset="0"/>
                        <a:cs typeface="Times New Roman" pitchFamily="18" charset="0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accent2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20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00FF"/>
                          </a:solidFill>
                          <a:effectLst/>
                          <a:latin typeface="Times New Roman" pitchFamily="18" charset="0"/>
                          <a:ea typeface="Times New Roman" pitchFamily="18" charset="0"/>
                          <a:cs typeface="Times New Roman" pitchFamily="18" charset="0"/>
                        </a:rPr>
                        <a:t>n </a:t>
                      </a:r>
                      <a:r>
                        <a:rPr lang="en-US" sz="2000" dirty="0" smtClean="0">
                          <a:solidFill>
                            <a:srgbClr val="0000FF"/>
                          </a:solidFill>
                          <a:latin typeface="Times New Roman" pitchFamily="18" charset="0"/>
                          <a:cs typeface="Times New Roman" pitchFamily="18" charset="0"/>
                          <a:sym typeface="Symbol" pitchFamily="18" charset="2"/>
                        </a:rPr>
                        <a:t></a:t>
                      </a:r>
                      <a:r>
                        <a:rPr kumimoji="0" lang="en-US" sz="20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00FF"/>
                          </a:solidFill>
                          <a:effectLst/>
                          <a:latin typeface="Times New Roman" pitchFamily="18" charset="0"/>
                          <a:ea typeface="Times New Roman" pitchFamily="18" charset="0"/>
                          <a:cs typeface="Times New Roman" pitchFamily="18" charset="0"/>
                        </a:rPr>
                        <a:t> </a:t>
                      </a:r>
                      <a:r>
                        <a:rPr kumimoji="0" lang="el-GR" sz="20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00FF"/>
                          </a:solidFill>
                          <a:effectLst/>
                          <a:latin typeface="Times New Roman" pitchFamily="18" charset="0"/>
                          <a:ea typeface="Times New Roman" pitchFamily="18" charset="0"/>
                          <a:cs typeface="Times New Roman" pitchFamily="18" charset="0"/>
                        </a:rPr>
                        <a:t>π</a:t>
                      </a:r>
                      <a:r>
                        <a:rPr kumimoji="0" lang="en-US" sz="20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00FF"/>
                          </a:solidFill>
                          <a:effectLst/>
                          <a:latin typeface="Times New Roman" pitchFamily="18" charset="0"/>
                          <a:ea typeface="Times New Roman" pitchFamily="18" charset="0"/>
                          <a:cs typeface="Times New Roman" pitchFamily="18" charset="0"/>
                        </a:rPr>
                        <a:t>*</a:t>
                      </a:r>
                    </a:p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l-GR" sz="20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Times New Roman" pitchFamily="18" charset="0"/>
                          <a:ea typeface="Times New Roman" pitchFamily="18" charset="0"/>
                          <a:cs typeface="Times New Roman" pitchFamily="18" charset="0"/>
                        </a:rPr>
                        <a:t>π</a:t>
                      </a:r>
                      <a:r>
                        <a:rPr kumimoji="0" lang="en-US" sz="20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Times New Roman" pitchFamily="18" charset="0"/>
                          <a:ea typeface="Times New Roman" pitchFamily="18" charset="0"/>
                          <a:cs typeface="Times New Roman" pitchFamily="18" charset="0"/>
                        </a:rPr>
                        <a:t> </a:t>
                      </a:r>
                      <a:r>
                        <a:rPr lang="en-US" sz="2000" dirty="0" smtClean="0">
                          <a:solidFill>
                            <a:srgbClr val="FF0000"/>
                          </a:solidFill>
                          <a:latin typeface="Times New Roman" pitchFamily="18" charset="0"/>
                          <a:cs typeface="Times New Roman" pitchFamily="18" charset="0"/>
                          <a:sym typeface="Symbol" pitchFamily="18" charset="2"/>
                        </a:rPr>
                        <a:t></a:t>
                      </a:r>
                      <a:r>
                        <a:rPr kumimoji="0" lang="en-US" sz="20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Times New Roman" pitchFamily="18" charset="0"/>
                          <a:ea typeface="Times New Roman" pitchFamily="18" charset="0"/>
                          <a:cs typeface="Times New Roman" pitchFamily="18" charset="0"/>
                        </a:rPr>
                        <a:t> </a:t>
                      </a:r>
                      <a:r>
                        <a:rPr kumimoji="0" lang="el-GR" sz="20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Times New Roman" pitchFamily="18" charset="0"/>
                          <a:ea typeface="Times New Roman" pitchFamily="18" charset="0"/>
                          <a:cs typeface="Times New Roman" pitchFamily="18" charset="0"/>
                        </a:rPr>
                        <a:t>π</a:t>
                      </a:r>
                      <a:r>
                        <a:rPr kumimoji="0" lang="en-US" sz="20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Times New Roman" pitchFamily="18" charset="0"/>
                          <a:ea typeface="Times New Roman" pitchFamily="18" charset="0"/>
                          <a:cs typeface="Times New Roman" pitchFamily="18" charset="0"/>
                        </a:rPr>
                        <a:t>*</a:t>
                      </a:r>
                    </a:p>
                  </a:txBody>
                  <a:tcPr anchor="ctr" horzOverflow="overflow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accent2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b="1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itchFamily="18" charset="0"/>
                          <a:ea typeface="Times New Roman" pitchFamily="18" charset="0"/>
                          <a:cs typeface="Times New Roman" pitchFamily="18" charset="0"/>
                        </a:rPr>
                        <a:t>275</a:t>
                      </a:r>
                      <a:br>
                        <a:rPr kumimoji="0" lang="en-US" sz="2000" b="1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itchFamily="18" charset="0"/>
                          <a:ea typeface="Times New Roman" pitchFamily="18" charset="0"/>
                          <a:cs typeface="Times New Roman" pitchFamily="18" charset="0"/>
                        </a:rPr>
                      </a:br>
                      <a:r>
                        <a:rPr kumimoji="0" lang="en-US" sz="2000" b="1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itchFamily="18" charset="0"/>
                          <a:ea typeface="Times New Roman" pitchFamily="18" charset="0"/>
                          <a:cs typeface="Times New Roman" pitchFamily="18" charset="0"/>
                        </a:rPr>
                        <a:t>200</a:t>
                      </a:r>
                      <a:endParaRPr kumimoji="0" lang="en-US" sz="2000" b="1" i="0" u="none" strike="noStrike" cap="none" normalizeH="0" baseline="0" smtClean="0">
                        <a:ln>
                          <a:noFill/>
                        </a:ln>
                        <a:solidFill>
                          <a:srgbClr val="FFFF00"/>
                        </a:solidFill>
                        <a:effectLst/>
                        <a:latin typeface="Times New Roman" pitchFamily="18" charset="0"/>
                        <a:ea typeface="Times New Roman" pitchFamily="18" charset="0"/>
                        <a:cs typeface="Times New Roman" pitchFamily="18" charset="0"/>
                      </a:endParaRPr>
                    </a:p>
                  </a:txBody>
                  <a:tcPr anchor="ctr" horzOverflow="overflow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accent2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b="1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itchFamily="18" charset="0"/>
                          <a:ea typeface="Times New Roman" pitchFamily="18" charset="0"/>
                          <a:cs typeface="Times New Roman" pitchFamily="18" charset="0"/>
                        </a:rPr>
                        <a:t>17</a:t>
                      </a:r>
                      <a:br>
                        <a:rPr kumimoji="0" lang="en-US" sz="2000" b="1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itchFamily="18" charset="0"/>
                          <a:ea typeface="Times New Roman" pitchFamily="18" charset="0"/>
                          <a:cs typeface="Times New Roman" pitchFamily="18" charset="0"/>
                        </a:rPr>
                      </a:br>
                      <a:r>
                        <a:rPr kumimoji="0" lang="en-US" sz="2000" b="1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itchFamily="18" charset="0"/>
                          <a:ea typeface="Times New Roman" pitchFamily="18" charset="0"/>
                          <a:cs typeface="Times New Roman" pitchFamily="18" charset="0"/>
                        </a:rPr>
                        <a:t>5,000</a:t>
                      </a:r>
                      <a:endParaRPr kumimoji="0" lang="en-US" sz="2000" b="1" i="0" u="none" strike="noStrike" cap="none" normalizeH="0" baseline="0" smtClean="0">
                        <a:ln>
                          <a:noFill/>
                        </a:ln>
                        <a:solidFill>
                          <a:srgbClr val="FFFF00"/>
                        </a:solidFill>
                        <a:effectLst/>
                        <a:latin typeface="Times New Roman" pitchFamily="18" charset="0"/>
                        <a:ea typeface="Times New Roman" pitchFamily="18" charset="0"/>
                        <a:cs typeface="Times New Roman" pitchFamily="18" charset="0"/>
                      </a:endParaRPr>
                    </a:p>
                  </a:txBody>
                  <a:tcPr anchor="ctr" horzOverflow="overflow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accent2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itchFamily="18" charset="0"/>
                          <a:ea typeface="Times New Roman" pitchFamily="18" charset="0"/>
                          <a:cs typeface="Times New Roman" pitchFamily="18" charset="0"/>
                        </a:rPr>
                        <a:t>ethanol</a:t>
                      </a:r>
                      <a:br>
                        <a:rPr kumimoji="0" lang="en-US" sz="20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itchFamily="18" charset="0"/>
                          <a:ea typeface="Times New Roman" pitchFamily="18" charset="0"/>
                          <a:cs typeface="Times New Roman" pitchFamily="18" charset="0"/>
                        </a:rPr>
                      </a:br>
                      <a:r>
                        <a:rPr kumimoji="0" lang="en-US" sz="20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itchFamily="18" charset="0"/>
                          <a:ea typeface="Times New Roman" pitchFamily="18" charset="0"/>
                          <a:cs typeface="Times New Roman" pitchFamily="18" charset="0"/>
                        </a:rPr>
                        <a:t>ethanol</a:t>
                      </a:r>
                      <a:endParaRPr kumimoji="0" lang="en-US" sz="2000" b="1" i="0" u="none" strike="noStrike" cap="none" normalizeH="0" baseline="0" dirty="0" smtClean="0">
                        <a:ln>
                          <a:noFill/>
                        </a:ln>
                        <a:solidFill>
                          <a:srgbClr val="FFFF00"/>
                        </a:solidFill>
                        <a:effectLst/>
                        <a:latin typeface="Times New Roman" pitchFamily="18" charset="0"/>
                        <a:ea typeface="Times New Roman" pitchFamily="18" charset="0"/>
                        <a:cs typeface="Times New Roman" pitchFamily="18" charset="0"/>
                      </a:endParaRPr>
                    </a:p>
                  </a:txBody>
                  <a:tcPr anchor="ctr" horzOverflow="overflow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accent2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70735354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914400"/>
            <a:ext cx="8138160" cy="1641501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152400" y="2743200"/>
            <a:ext cx="8839200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 algn="just">
              <a:spcAft>
                <a:spcPts val="1200"/>
              </a:spcAft>
              <a:buClr>
                <a:srgbClr val="FF0000"/>
              </a:buClr>
              <a:buFont typeface="Arial" panose="020B0604020202020204" pitchFamily="34" charset="0"/>
              <a:buChar char="•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 compound with absorption at 335 nm would still be </a:t>
            </a:r>
            <a:r>
              <a:rPr lang="en-US" sz="2000" dirty="0" smtClean="0">
                <a:solidFill>
                  <a:srgbClr val="0033C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colorless</a:t>
            </a:r>
            <a:r>
              <a:rPr lang="en-US" sz="2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since it is in the </a:t>
            </a:r>
            <a:r>
              <a:rPr lang="en-US" sz="2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UV region 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(not observed by our eyes</a:t>
            </a:r>
            <a:r>
              <a:rPr lang="en-US" sz="2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).</a:t>
            </a:r>
          </a:p>
        </p:txBody>
      </p:sp>
      <p:pic>
        <p:nvPicPr>
          <p:cNvPr id="7" name="Picture 6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26720" y="4913941"/>
            <a:ext cx="7223760" cy="1519255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152400" y="3505200"/>
            <a:ext cx="8839200" cy="10618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 algn="just">
              <a:buClr>
                <a:srgbClr val="FF0000"/>
              </a:buClr>
              <a:buFont typeface="Arial" panose="020B0604020202020204" pitchFamily="34" charset="0"/>
              <a:buChar char="•"/>
            </a:pPr>
            <a:r>
              <a:rPr lang="en-US" sz="21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If </a:t>
            </a:r>
            <a:r>
              <a:rPr lang="en-US" sz="2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we continue to </a:t>
            </a:r>
            <a:r>
              <a:rPr lang="en-US" sz="21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increase the number of conjugated C=C bonds</a:t>
            </a:r>
            <a:r>
              <a:rPr lang="en-US" sz="2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then eventually </a:t>
            </a:r>
            <a:r>
              <a:rPr lang="en-US" sz="21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we reach </a:t>
            </a:r>
            <a:r>
              <a:rPr lang="en-US" sz="2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 point where the compound will absorb visible light (β-carotene ~475 nm</a:t>
            </a:r>
            <a:r>
              <a:rPr lang="en-US" sz="21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).</a:t>
            </a:r>
            <a:endParaRPr lang="en-US" sz="21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4097" name="Picture 1"/>
          <p:cNvPicPr>
            <a:picLocks noChangeAspect="1" noChangeArrowheads="1"/>
          </p:cNvPicPr>
          <p:nvPr/>
        </p:nvPicPr>
        <p:blipFill>
          <a:blip r:embed="rId4"/>
          <a:srcRect/>
          <a:stretch>
            <a:fillRect/>
          </a:stretch>
        </p:blipFill>
        <p:spPr bwMode="auto">
          <a:xfrm>
            <a:off x="7848600" y="4655524"/>
            <a:ext cx="1097280" cy="205007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10" name="Text Box 2"/>
          <p:cNvSpPr txBox="1">
            <a:spLocks noChangeArrowheads="1"/>
          </p:cNvSpPr>
          <p:nvPr/>
        </p:nvSpPr>
        <p:spPr bwMode="auto">
          <a:xfrm>
            <a:off x="2819400" y="101025"/>
            <a:ext cx="3505200" cy="5847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marL="457200" indent="-457200" algn="ctr">
              <a:spcBef>
                <a:spcPct val="0"/>
              </a:spcBef>
            </a:pPr>
            <a:r>
              <a:rPr lang="en-US" sz="3200" b="1" dirty="0" err="1" smtClean="0">
                <a:ln w="1905"/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mic Sans MS" pitchFamily="66" charset="0"/>
              </a:rPr>
              <a:t>Chromo</a:t>
            </a:r>
            <a:r>
              <a:rPr lang="en-US" sz="3200" b="1" dirty="0" err="1" smtClean="0">
                <a:ln w="1905"/>
                <a:gradFill>
                  <a:gsLst>
                    <a:gs pos="0">
                      <a:schemeClr val="accent6">
                        <a:shade val="20000"/>
                        <a:satMod val="200000"/>
                      </a:schemeClr>
                    </a:gs>
                    <a:gs pos="78000">
                      <a:schemeClr val="accent6">
                        <a:tint val="90000"/>
                        <a:shade val="89000"/>
                        <a:satMod val="220000"/>
                      </a:schemeClr>
                    </a:gs>
                    <a:gs pos="100000">
                      <a:schemeClr val="accent6">
                        <a:tint val="12000"/>
                        <a:satMod val="255000"/>
                      </a:schemeClr>
                    </a:gs>
                  </a:gsLst>
                  <a:lin ang="5400000"/>
                </a:gra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mic Sans MS" pitchFamily="66" charset="0"/>
              </a:rPr>
              <a:t>phore</a:t>
            </a:r>
            <a:endParaRPr lang="en-US" sz="3200" b="1" dirty="0">
              <a:ln w="1905"/>
              <a:gradFill>
                <a:gsLst>
                  <a:gs pos="0">
                    <a:schemeClr val="accent6">
                      <a:shade val="20000"/>
                      <a:satMod val="200000"/>
                    </a:schemeClr>
                  </a:gs>
                  <a:gs pos="78000">
                    <a:schemeClr val="accent6">
                      <a:tint val="90000"/>
                      <a:shade val="89000"/>
                      <a:satMod val="220000"/>
                    </a:schemeClr>
                  </a:gs>
                  <a:gs pos="100000">
                    <a:schemeClr val="accent6">
                      <a:tint val="12000"/>
                      <a:satMod val="255000"/>
                    </a:schemeClr>
                  </a:gs>
                </a:gsLst>
                <a:lin ang="5400000"/>
              </a:gra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Comic Sans MS" pitchFamily="66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14052732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20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" dur="2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04800" y="2740414"/>
            <a:ext cx="5029200" cy="3888986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3505200" y="123833"/>
            <a:ext cx="259080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b="1" dirty="0" smtClean="0">
                <a:ln w="1905"/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mic Sans MS" panose="030F0702030302020204" pitchFamily="66" charset="0"/>
                <a:cs typeface="Times New Roman" panose="02020603050405020304" pitchFamily="18" charset="0"/>
              </a:rPr>
              <a:t>β-Caro</a:t>
            </a:r>
            <a:r>
              <a:rPr lang="en-US" sz="3200" b="1" dirty="0" smtClean="0">
                <a:ln w="1905"/>
                <a:gradFill>
                  <a:gsLst>
                    <a:gs pos="0">
                      <a:schemeClr val="accent6">
                        <a:shade val="20000"/>
                        <a:satMod val="200000"/>
                      </a:schemeClr>
                    </a:gs>
                    <a:gs pos="78000">
                      <a:schemeClr val="accent6">
                        <a:tint val="90000"/>
                        <a:shade val="89000"/>
                        <a:satMod val="220000"/>
                      </a:schemeClr>
                    </a:gs>
                    <a:gs pos="100000">
                      <a:schemeClr val="accent6">
                        <a:tint val="12000"/>
                        <a:satMod val="255000"/>
                      </a:schemeClr>
                    </a:gs>
                  </a:gsLst>
                  <a:lin ang="5400000"/>
                </a:gra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mic Sans MS" panose="030F0702030302020204" pitchFamily="66" charset="0"/>
                <a:cs typeface="Times New Roman" panose="02020603050405020304" pitchFamily="18" charset="0"/>
              </a:rPr>
              <a:t>tene</a:t>
            </a:r>
            <a:endParaRPr lang="en-US" sz="3200" b="1" dirty="0">
              <a:ln w="1905"/>
              <a:gradFill>
                <a:gsLst>
                  <a:gs pos="0">
                    <a:schemeClr val="accent6">
                      <a:shade val="20000"/>
                      <a:satMod val="200000"/>
                    </a:schemeClr>
                  </a:gs>
                  <a:gs pos="78000">
                    <a:schemeClr val="accent6">
                      <a:tint val="90000"/>
                      <a:shade val="89000"/>
                      <a:satMod val="220000"/>
                    </a:schemeClr>
                  </a:gs>
                  <a:gs pos="100000">
                    <a:schemeClr val="accent6">
                      <a:tint val="12000"/>
                      <a:satMod val="255000"/>
                    </a:schemeClr>
                  </a:gs>
                </a:gsLst>
                <a:lin ang="5400000"/>
              </a:gra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Comic Sans MS" panose="030F0702030302020204" pitchFamily="66" charset="0"/>
            </a:endParaRPr>
          </a:p>
        </p:txBody>
      </p:sp>
      <p:pic>
        <p:nvPicPr>
          <p:cNvPr id="3073" name="Picture 1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853440" y="990600"/>
            <a:ext cx="7223760" cy="139784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3074" name="Picture 2"/>
          <p:cNvPicPr>
            <a:picLocks noChangeAspect="1" noChangeArrowheads="1"/>
          </p:cNvPicPr>
          <p:nvPr/>
        </p:nvPicPr>
        <p:blipFill>
          <a:blip r:embed="rId4" cstate="print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rcRect/>
          <a:stretch>
            <a:fillRect/>
          </a:stretch>
        </p:blipFill>
        <p:spPr bwMode="auto">
          <a:xfrm>
            <a:off x="6096000" y="2895600"/>
            <a:ext cx="2286000" cy="32092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3075" name="Picture 3"/>
          <p:cNvPicPr>
            <a:picLocks noChangeAspect="1" noChangeArrowheads="1"/>
          </p:cNvPicPr>
          <p:nvPr/>
        </p:nvPicPr>
        <p:blipFill>
          <a:blip r:embed="rId5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rcRect/>
          <a:stretch>
            <a:fillRect/>
          </a:stretch>
        </p:blipFill>
        <p:spPr bwMode="auto">
          <a:xfrm>
            <a:off x="7818120" y="2133600"/>
            <a:ext cx="1097280" cy="205007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  <p:extLst>
      <p:ext uri="{BB962C8B-B14F-4D97-AF65-F5344CB8AC3E}">
        <p14:creationId xmlns:p14="http://schemas.microsoft.com/office/powerpoint/2010/main" val="408094344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oup 3"/>
          <p:cNvGrpSpPr/>
          <p:nvPr/>
        </p:nvGrpSpPr>
        <p:grpSpPr>
          <a:xfrm>
            <a:off x="134465" y="3657601"/>
            <a:ext cx="8887615" cy="2994047"/>
            <a:chOff x="134465" y="3657601"/>
            <a:chExt cx="8887615" cy="2994047"/>
          </a:xfrm>
        </p:grpSpPr>
        <p:sp>
          <p:nvSpPr>
            <p:cNvPr id="5" name="TextBox 4"/>
            <p:cNvSpPr txBox="1"/>
            <p:nvPr/>
          </p:nvSpPr>
          <p:spPr>
            <a:xfrm>
              <a:off x="134465" y="3733800"/>
              <a:ext cx="4437535" cy="276998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342900" indent="-342900" algn="just">
                <a:spcAft>
                  <a:spcPts val="1200"/>
                </a:spcAft>
                <a:buClr>
                  <a:srgbClr val="FF0000"/>
                </a:buClr>
                <a:buFont typeface="Arial" panose="020B0604020202020204" pitchFamily="34" charset="0"/>
                <a:buChar char="•"/>
              </a:pPr>
              <a:r>
                <a:rPr lang="en-US" sz="22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The UV absorption spectrum of chlorophyll is shown on the </a:t>
              </a:r>
              <a:r>
                <a:rPr lang="en-US" sz="2200" dirty="0" smtClean="0">
                  <a:latin typeface="Times New Roman" panose="02020603050405020304" pitchFamily="18" charset="0"/>
                  <a:cs typeface="Times New Roman" panose="02020603050405020304" pitchFamily="18" charset="0"/>
                </a:rPr>
                <a:t>right.</a:t>
              </a:r>
            </a:p>
            <a:p>
              <a:pPr marL="342900" indent="-342900" algn="just">
                <a:spcAft>
                  <a:spcPts val="1200"/>
                </a:spcAft>
                <a:buClr>
                  <a:srgbClr val="FF0000"/>
                </a:buClr>
                <a:buFont typeface="Arial" panose="020B0604020202020204" pitchFamily="34" charset="0"/>
                <a:buChar char="•"/>
              </a:pPr>
              <a:r>
                <a:rPr lang="en-US" sz="2200" dirty="0" smtClean="0">
                  <a:latin typeface="Times New Roman" panose="02020603050405020304" pitchFamily="18" charset="0"/>
                  <a:cs typeface="Times New Roman" panose="02020603050405020304" pitchFamily="18" charset="0"/>
                </a:rPr>
                <a:t>Notice </a:t>
              </a:r>
              <a:r>
                <a:rPr lang="en-US" sz="22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it absorbs mostly blue (450 nm) and red (650 nm). </a:t>
              </a:r>
              <a:endParaRPr lang="en-US" sz="2200" dirty="0" smtClean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  <a:p>
              <a:pPr marL="342900" indent="-342900" algn="just">
                <a:spcAft>
                  <a:spcPts val="1200"/>
                </a:spcAft>
                <a:buClr>
                  <a:srgbClr val="FF0000"/>
                </a:buClr>
                <a:buFont typeface="Arial" panose="020B0604020202020204" pitchFamily="34" charset="0"/>
                <a:buChar char="•"/>
              </a:pPr>
              <a:r>
                <a:rPr lang="en-US" sz="2200" dirty="0" smtClean="0">
                  <a:latin typeface="Times New Roman" panose="02020603050405020304" pitchFamily="18" charset="0"/>
                  <a:cs typeface="Times New Roman" panose="02020603050405020304" pitchFamily="18" charset="0"/>
                </a:rPr>
                <a:t>In </a:t>
              </a:r>
              <a:r>
                <a:rPr lang="en-US" sz="22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the absence of blue and red the transmitted radiation appears green.</a:t>
              </a:r>
            </a:p>
          </p:txBody>
        </p:sp>
        <p:grpSp>
          <p:nvGrpSpPr>
            <p:cNvPr id="6" name="Group 12"/>
            <p:cNvGrpSpPr/>
            <p:nvPr/>
          </p:nvGrpSpPr>
          <p:grpSpPr>
            <a:xfrm>
              <a:off x="4724400" y="3657601"/>
              <a:ext cx="4297680" cy="2994047"/>
              <a:chOff x="4724400" y="3657601"/>
              <a:chExt cx="4297680" cy="2994047"/>
            </a:xfrm>
          </p:grpSpPr>
          <p:pic>
            <p:nvPicPr>
              <p:cNvPr id="7" name="Picture 2" descr="http://www.dynamicscience.com.au/tester/solutions1/chemistry/analytical%20chem/chlorabs.gif"/>
              <p:cNvPicPr>
                <a:picLocks noChangeAspect="1" noChangeArrowheads="1"/>
              </p:cNvPicPr>
              <p:nvPr/>
            </p:nvPicPr>
            <p:blipFill>
              <a:blip r:embed="rId2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4724400" y="3657601"/>
                <a:ext cx="4297680" cy="2994047"/>
              </a:xfrm>
              <a:prstGeom prst="rect">
                <a:avLst/>
              </a:prstGeom>
              <a:noFill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</p:pic>
          <p:pic>
            <p:nvPicPr>
              <p:cNvPr id="8" name="Picture 7"/>
              <p:cNvPicPr>
                <a:picLocks noChangeAspect="1"/>
              </p:cNvPicPr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6324600" y="3969224"/>
                <a:ext cx="1920240" cy="1634248"/>
              </a:xfrm>
              <a:prstGeom prst="rect">
                <a:avLst/>
              </a:prstGeom>
            </p:spPr>
          </p:pic>
        </p:grpSp>
      </p:grpSp>
      <p:sp>
        <p:nvSpPr>
          <p:cNvPr id="9" name="TextBox 8"/>
          <p:cNvSpPr txBox="1"/>
          <p:nvPr/>
        </p:nvSpPr>
        <p:spPr>
          <a:xfrm>
            <a:off x="1981200" y="152400"/>
            <a:ext cx="5450531" cy="55399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000" b="1" spc="50" dirty="0" smtClean="0">
                <a:ln w="0"/>
                <a:solidFill>
                  <a:srgbClr val="000099"/>
                </a:solidFill>
                <a:effectLst>
                  <a:innerShdw blurRad="63500" dist="50800" dir="13500000">
                    <a:srgbClr val="000000">
                      <a:alpha val="50000"/>
                    </a:srgbClr>
                  </a:innerShdw>
                </a:effectLst>
                <a:latin typeface="Comic Sans MS" panose="030F0702030302020204" pitchFamily="66" charset="0"/>
              </a:rPr>
              <a:t>Why</a:t>
            </a:r>
            <a:r>
              <a:rPr lang="en-US" sz="3000" b="1" spc="50" dirty="0" smtClean="0">
                <a:ln w="0"/>
                <a:solidFill>
                  <a:srgbClr val="FF0000"/>
                </a:solidFill>
                <a:effectLst>
                  <a:innerShdw blurRad="63500" dist="50800" dir="13500000">
                    <a:srgbClr val="000000">
                      <a:alpha val="50000"/>
                    </a:srgbClr>
                  </a:innerShdw>
                </a:effectLst>
                <a:latin typeface="Comic Sans MS" panose="030F0702030302020204" pitchFamily="66" charset="0"/>
              </a:rPr>
              <a:t> Chlorophyll </a:t>
            </a:r>
            <a:r>
              <a:rPr lang="en-US" sz="3000" b="1" spc="50" dirty="0" smtClean="0">
                <a:ln w="0"/>
                <a:solidFill>
                  <a:srgbClr val="000099"/>
                </a:solidFill>
                <a:effectLst>
                  <a:innerShdw blurRad="63500" dist="50800" dir="13500000">
                    <a:srgbClr val="000000">
                      <a:alpha val="50000"/>
                    </a:srgbClr>
                  </a:innerShdw>
                </a:effectLst>
                <a:latin typeface="Comic Sans MS" panose="030F0702030302020204" pitchFamily="66" charset="0"/>
              </a:rPr>
              <a:t>is</a:t>
            </a:r>
            <a:r>
              <a:rPr lang="en-US" sz="3000" b="1" spc="50" dirty="0" smtClean="0">
                <a:ln w="0"/>
                <a:solidFill>
                  <a:srgbClr val="FF0000"/>
                </a:solidFill>
                <a:effectLst>
                  <a:innerShdw blurRad="63500" dist="50800" dir="13500000">
                    <a:srgbClr val="000000">
                      <a:alpha val="50000"/>
                    </a:srgbClr>
                  </a:innerShdw>
                </a:effectLst>
                <a:latin typeface="Comic Sans MS" panose="030F0702030302020204" pitchFamily="66" charset="0"/>
              </a:rPr>
              <a:t> </a:t>
            </a:r>
            <a:r>
              <a:rPr lang="en-US" sz="3000" b="1" spc="50" dirty="0" smtClean="0">
                <a:ln w="0"/>
                <a:solidFill>
                  <a:srgbClr val="00B050"/>
                </a:solidFill>
                <a:effectLst>
                  <a:innerShdw blurRad="63500" dist="50800" dir="13500000">
                    <a:srgbClr val="000000">
                      <a:alpha val="50000"/>
                    </a:srgbClr>
                  </a:innerShdw>
                </a:effectLst>
                <a:latin typeface="Comic Sans MS" panose="030F0702030302020204" pitchFamily="66" charset="0"/>
              </a:rPr>
              <a:t>Green</a:t>
            </a:r>
            <a:r>
              <a:rPr lang="en-US" sz="3000" b="1" spc="50" dirty="0" smtClean="0">
                <a:ln w="0"/>
                <a:solidFill>
                  <a:srgbClr val="FF0000"/>
                </a:solidFill>
                <a:effectLst>
                  <a:innerShdw blurRad="63500" dist="50800" dir="13500000">
                    <a:srgbClr val="000000">
                      <a:alpha val="50000"/>
                    </a:srgbClr>
                  </a:innerShdw>
                </a:effectLst>
                <a:latin typeface="Comic Sans MS" panose="030F0702030302020204" pitchFamily="66" charset="0"/>
              </a:rPr>
              <a:t>? </a:t>
            </a:r>
            <a:endParaRPr lang="en-US" sz="3000" b="1" spc="50" dirty="0">
              <a:ln w="0"/>
              <a:solidFill>
                <a:srgbClr val="FF0000"/>
              </a:solidFill>
              <a:effectLst>
                <a:innerShdw blurRad="63500" dist="50800" dir="13500000">
                  <a:srgbClr val="000000">
                    <a:alpha val="50000"/>
                  </a:srgbClr>
                </a:innerShdw>
              </a:effectLst>
              <a:latin typeface="Comic Sans MS" panose="030F0702030302020204" pitchFamily="66" charset="0"/>
            </a:endParaRPr>
          </a:p>
        </p:txBody>
      </p:sp>
      <p:pic>
        <p:nvPicPr>
          <p:cNvPr id="50178" name="Picture 2"/>
          <p:cNvPicPr>
            <a:picLocks noChangeAspect="1" noChangeArrowheads="1"/>
          </p:cNvPicPr>
          <p:nvPr/>
        </p:nvPicPr>
        <p:blipFill>
          <a:blip r:embed="rId4"/>
          <a:srcRect/>
          <a:stretch>
            <a:fillRect/>
          </a:stretch>
        </p:blipFill>
        <p:spPr bwMode="auto">
          <a:xfrm>
            <a:off x="5257800" y="1066800"/>
            <a:ext cx="3383280" cy="225727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50179" name="Picture 3"/>
          <p:cNvPicPr>
            <a:picLocks noChangeAspect="1" noChangeArrowheads="1"/>
          </p:cNvPicPr>
          <p:nvPr/>
        </p:nvPicPr>
        <p:blipFill>
          <a:blip r:embed="rId5"/>
          <a:srcRect/>
          <a:stretch>
            <a:fillRect/>
          </a:stretch>
        </p:blipFill>
        <p:spPr bwMode="auto">
          <a:xfrm>
            <a:off x="1219200" y="1119419"/>
            <a:ext cx="2377440" cy="238578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1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5017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TextBox 35"/>
          <p:cNvSpPr txBox="1"/>
          <p:nvPr/>
        </p:nvSpPr>
        <p:spPr>
          <a:xfrm>
            <a:off x="152400" y="838200"/>
            <a:ext cx="8839200" cy="11079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en-US" sz="2200" dirty="0" smtClean="0">
                <a:solidFill>
                  <a:srgbClr val="000099"/>
                </a:solidFill>
                <a:latin typeface="Times New Roman" pitchFamily="18" charset="0"/>
                <a:cs typeface="Times New Roman" pitchFamily="18" charset="0"/>
              </a:rPr>
              <a:t>The </a:t>
            </a:r>
            <a:r>
              <a:rPr lang="en-US" sz="2200" dirty="0" err="1" smtClean="0">
                <a:solidFill>
                  <a:srgbClr val="000099"/>
                </a:solidFill>
                <a:latin typeface="Times New Roman" pitchFamily="18" charset="0"/>
                <a:cs typeface="Times New Roman" pitchFamily="18" charset="0"/>
              </a:rPr>
              <a:t>substituents</a:t>
            </a:r>
            <a:r>
              <a:rPr lang="en-US" sz="2200" dirty="0" smtClean="0">
                <a:solidFill>
                  <a:srgbClr val="000099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200" dirty="0" smtClean="0">
                <a:latin typeface="Times New Roman" pitchFamily="18" charset="0"/>
                <a:cs typeface="Times New Roman" pitchFamily="18" charset="0"/>
              </a:rPr>
              <a:t>that themselves do not absorb ultraviolet radiations but their presence shifts the absorption maximum to longer wavelength are called </a:t>
            </a:r>
            <a:r>
              <a:rPr lang="en-US" sz="2200" dirty="0" err="1" smtClean="0">
                <a:solidFill>
                  <a:srgbClr val="000099"/>
                </a:solidFill>
                <a:latin typeface="Times New Roman" pitchFamily="18" charset="0"/>
                <a:cs typeface="Times New Roman" pitchFamily="18" charset="0"/>
              </a:rPr>
              <a:t>auxochromes</a:t>
            </a:r>
            <a:r>
              <a:rPr lang="en-US" sz="2200" dirty="0" smtClean="0">
                <a:solidFill>
                  <a:srgbClr val="000099"/>
                </a:solidFill>
                <a:latin typeface="Times New Roman" pitchFamily="18" charset="0"/>
                <a:cs typeface="Times New Roman" pitchFamily="18" charset="0"/>
              </a:rPr>
              <a:t>.</a:t>
            </a:r>
            <a:endParaRPr lang="en-US" sz="2200" dirty="0">
              <a:solidFill>
                <a:srgbClr val="000099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37" name="Rectangle 4"/>
          <p:cNvSpPr>
            <a:spLocks noChangeArrowheads="1"/>
          </p:cNvSpPr>
          <p:nvPr/>
        </p:nvSpPr>
        <p:spPr bwMode="auto">
          <a:xfrm>
            <a:off x="0" y="2057400"/>
            <a:ext cx="8763000" cy="1031051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</p:spPr>
        <p:txBody>
          <a:bodyPr anchor="ctr">
            <a:spAutoFit/>
          </a:bodyPr>
          <a:lstStyle/>
          <a:p>
            <a:pPr marL="457200" indent="-457200" algn="just" eaLnBrk="0" hangingPunct="0">
              <a:spcBef>
                <a:spcPct val="0"/>
              </a:spcBef>
              <a:spcAft>
                <a:spcPts val="1800"/>
              </a:spcAft>
              <a:buFont typeface="Arial" pitchFamily="34" charset="0"/>
              <a:buChar char="•"/>
            </a:pPr>
            <a:r>
              <a:rPr lang="en-US" sz="2200" dirty="0" smtClean="0">
                <a:solidFill>
                  <a:srgbClr val="000099"/>
                </a:solidFill>
                <a:latin typeface="Times New Roman" pitchFamily="18" charset="0"/>
                <a:cs typeface="Times New Roman" pitchFamily="18" charset="0"/>
              </a:rPr>
              <a:t>Examples</a:t>
            </a:r>
            <a:r>
              <a:rPr lang="en-US" sz="2200" dirty="0">
                <a:solidFill>
                  <a:srgbClr val="000099"/>
                </a:solidFill>
                <a:latin typeface="Times New Roman" pitchFamily="18" charset="0"/>
                <a:cs typeface="Times New Roman" pitchFamily="18" charset="0"/>
              </a:rPr>
              <a:t>: </a:t>
            </a:r>
            <a:r>
              <a:rPr lang="en-US" sz="2200" dirty="0">
                <a:solidFill>
                  <a:srgbClr val="000066"/>
                </a:solidFill>
                <a:latin typeface="Times New Roman" pitchFamily="18" charset="0"/>
                <a:cs typeface="Times New Roman" pitchFamily="18" charset="0"/>
              </a:rPr>
              <a:t>NH</a:t>
            </a:r>
            <a:r>
              <a:rPr lang="en-US" sz="2200" baseline="-25000" dirty="0">
                <a:solidFill>
                  <a:srgbClr val="000066"/>
                </a:solidFill>
                <a:latin typeface="Times New Roman" pitchFamily="18" charset="0"/>
                <a:cs typeface="Times New Roman" pitchFamily="18" charset="0"/>
              </a:rPr>
              <a:t>2</a:t>
            </a:r>
            <a:r>
              <a:rPr lang="en-US" sz="2200" dirty="0">
                <a:solidFill>
                  <a:srgbClr val="000066"/>
                </a:solidFill>
                <a:latin typeface="Times New Roman" pitchFamily="18" charset="0"/>
                <a:cs typeface="Times New Roman" pitchFamily="18" charset="0"/>
              </a:rPr>
              <a:t>, NHR and NR</a:t>
            </a:r>
            <a:r>
              <a:rPr lang="en-US" sz="2200" baseline="-25000" dirty="0">
                <a:solidFill>
                  <a:srgbClr val="000066"/>
                </a:solidFill>
                <a:latin typeface="Times New Roman" pitchFamily="18" charset="0"/>
                <a:cs typeface="Times New Roman" pitchFamily="18" charset="0"/>
              </a:rPr>
              <a:t>2</a:t>
            </a:r>
            <a:r>
              <a:rPr lang="en-US" sz="2200" dirty="0">
                <a:solidFill>
                  <a:srgbClr val="000066"/>
                </a:solidFill>
                <a:latin typeface="Times New Roman" pitchFamily="18" charset="0"/>
                <a:cs typeface="Times New Roman" pitchFamily="18" charset="0"/>
              </a:rPr>
              <a:t>, </a:t>
            </a:r>
            <a:r>
              <a:rPr lang="en-US" sz="2200" dirty="0" smtClean="0">
                <a:solidFill>
                  <a:srgbClr val="000066"/>
                </a:solidFill>
                <a:latin typeface="Times New Roman" pitchFamily="18" charset="0"/>
                <a:cs typeface="Times New Roman" pitchFamily="18" charset="0"/>
              </a:rPr>
              <a:t>OH and OR groups.</a:t>
            </a:r>
            <a:endParaRPr lang="en-US" sz="2200" dirty="0">
              <a:solidFill>
                <a:srgbClr val="000066"/>
              </a:solidFill>
              <a:latin typeface="Times New Roman" pitchFamily="18" charset="0"/>
              <a:cs typeface="Times New Roman" pitchFamily="18" charset="0"/>
            </a:endParaRPr>
          </a:p>
          <a:p>
            <a:pPr marL="457200" indent="-457200" algn="just">
              <a:buFont typeface="Arial" pitchFamily="34" charset="0"/>
              <a:buChar char="•"/>
            </a:pPr>
            <a:r>
              <a:rPr lang="en-US" dirty="0" smtClean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Properties </a:t>
            </a:r>
            <a:r>
              <a:rPr lang="en-US" dirty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of an </a:t>
            </a:r>
            <a:r>
              <a:rPr lang="en-US" dirty="0" err="1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auxochromic</a:t>
            </a:r>
            <a:r>
              <a:rPr lang="en-US" dirty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 group</a:t>
            </a:r>
            <a:r>
              <a:rPr lang="en-US" dirty="0" smtClean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:</a:t>
            </a:r>
            <a:endParaRPr lang="en-US" dirty="0">
              <a:solidFill>
                <a:srgbClr val="FF0000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38" name="TextBox 37"/>
          <p:cNvSpPr txBox="1"/>
          <p:nvPr/>
        </p:nvSpPr>
        <p:spPr>
          <a:xfrm>
            <a:off x="533400" y="3200400"/>
            <a:ext cx="8305800" cy="186204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74320" indent="-274320" algn="just">
              <a:spcAft>
                <a:spcPts val="1200"/>
              </a:spcAft>
              <a:buClr>
                <a:srgbClr val="FF0000"/>
              </a:buClr>
              <a:buSzPct val="85000"/>
              <a:buFont typeface="Wingdings" pitchFamily="2" charset="2"/>
              <a:buChar char="ü"/>
            </a:pPr>
            <a:r>
              <a:rPr lang="en-US" sz="2100" dirty="0" smtClean="0">
                <a:latin typeface="Times New Roman" pitchFamily="18" charset="0"/>
                <a:cs typeface="Times New Roman" pitchFamily="18" charset="0"/>
              </a:rPr>
              <a:t> Provides additional opportunity for charge delocalization and thus provides smaller  energy increments for transition to excited states.</a:t>
            </a:r>
          </a:p>
          <a:p>
            <a:pPr marL="274320" indent="-274320" algn="just">
              <a:spcAft>
                <a:spcPts val="1200"/>
              </a:spcAft>
              <a:buClr>
                <a:srgbClr val="FF0000"/>
              </a:buClr>
              <a:buSzPct val="85000"/>
              <a:buFont typeface="Wingdings" pitchFamily="2" charset="2"/>
              <a:buChar char="ü"/>
            </a:pPr>
            <a:r>
              <a:rPr lang="en-US" sz="2100" dirty="0" smtClean="0">
                <a:latin typeface="Times New Roman" pitchFamily="18" charset="0"/>
                <a:cs typeface="Times New Roman" pitchFamily="18" charset="0"/>
              </a:rPr>
              <a:t> The </a:t>
            </a:r>
            <a:r>
              <a:rPr lang="en-US" sz="2100" dirty="0" err="1" smtClean="0">
                <a:latin typeface="Times New Roman" pitchFamily="18" charset="0"/>
                <a:cs typeface="Times New Roman" pitchFamily="18" charset="0"/>
              </a:rPr>
              <a:t>auxochromic</a:t>
            </a:r>
            <a:r>
              <a:rPr lang="en-US" sz="2100" dirty="0" smtClean="0">
                <a:latin typeface="Times New Roman" pitchFamily="18" charset="0"/>
                <a:cs typeface="Times New Roman" pitchFamily="18" charset="0"/>
              </a:rPr>
              <a:t> groups have at least one pair of non-bonding electrons (lone pair)  that can interact with the </a:t>
            </a:r>
            <a:r>
              <a:rPr lang="en-US" sz="2100" dirty="0" smtClean="0">
                <a:latin typeface="Times New Roman" pitchFamily="18" charset="0"/>
                <a:cs typeface="Times New Roman" pitchFamily="18" charset="0"/>
                <a:sym typeface="Symbol" pitchFamily="18" charset="2"/>
              </a:rPr>
              <a:t> electrons and stabilizes the </a:t>
            </a:r>
            <a:r>
              <a:rPr lang="en-US" sz="2100" baseline="30000" dirty="0" smtClean="0">
                <a:latin typeface="Times New Roman" pitchFamily="18" charset="0"/>
                <a:cs typeface="Times New Roman" pitchFamily="18" charset="0"/>
                <a:sym typeface="Symbol" pitchFamily="18" charset="2"/>
              </a:rPr>
              <a:t>*</a:t>
            </a:r>
            <a:r>
              <a:rPr lang="en-US" sz="2100" dirty="0" smtClean="0">
                <a:latin typeface="Times New Roman" pitchFamily="18" charset="0"/>
                <a:cs typeface="Times New Roman" pitchFamily="18" charset="0"/>
                <a:sym typeface="Symbol" pitchFamily="18" charset="2"/>
              </a:rPr>
              <a:t> state</a:t>
            </a:r>
            <a:r>
              <a:rPr lang="en-US" sz="2100" dirty="0" smtClean="0">
                <a:latin typeface="Times New Roman" pitchFamily="18" charset="0"/>
                <a:cs typeface="Times New Roman" pitchFamily="18" charset="0"/>
              </a:rPr>
              <a:t> .</a:t>
            </a:r>
            <a:endParaRPr lang="en-US" sz="2100" dirty="0"/>
          </a:p>
        </p:txBody>
      </p:sp>
      <p:sp>
        <p:nvSpPr>
          <p:cNvPr id="39" name="Text Box 2"/>
          <p:cNvSpPr txBox="1">
            <a:spLocks noChangeArrowheads="1"/>
          </p:cNvSpPr>
          <p:nvPr/>
        </p:nvSpPr>
        <p:spPr bwMode="auto">
          <a:xfrm>
            <a:off x="2590800" y="101025"/>
            <a:ext cx="3429000" cy="5847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marL="457200" indent="-457200" algn="ctr">
              <a:spcBef>
                <a:spcPct val="0"/>
              </a:spcBef>
            </a:pPr>
            <a:r>
              <a:rPr lang="en-US" sz="3200" b="1" dirty="0" err="1">
                <a:ln w="1905"/>
                <a:gradFill>
                  <a:gsLst>
                    <a:gs pos="0">
                      <a:schemeClr val="accent6">
                        <a:shade val="20000"/>
                        <a:satMod val="200000"/>
                      </a:schemeClr>
                    </a:gs>
                    <a:gs pos="78000">
                      <a:schemeClr val="accent6">
                        <a:tint val="90000"/>
                        <a:shade val="89000"/>
                        <a:satMod val="220000"/>
                      </a:schemeClr>
                    </a:gs>
                    <a:gs pos="100000">
                      <a:schemeClr val="accent6">
                        <a:tint val="12000"/>
                        <a:satMod val="255000"/>
                      </a:schemeClr>
                    </a:gs>
                  </a:gsLst>
                  <a:lin ang="5400000"/>
                </a:gra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mic Sans MS" pitchFamily="66" charset="0"/>
              </a:rPr>
              <a:t>Auxo</a:t>
            </a:r>
            <a:r>
              <a:rPr lang="en-US" sz="3200" b="1" dirty="0" err="1">
                <a:ln w="1905"/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mic Sans MS" pitchFamily="66" charset="0"/>
              </a:rPr>
              <a:t>chromes</a:t>
            </a:r>
            <a:r>
              <a:rPr lang="en-US" sz="3200" b="1" dirty="0">
                <a:ln w="1905"/>
                <a:gradFill>
                  <a:gsLst>
                    <a:gs pos="0">
                      <a:schemeClr val="accent6">
                        <a:shade val="20000"/>
                        <a:satMod val="200000"/>
                      </a:schemeClr>
                    </a:gs>
                    <a:gs pos="78000">
                      <a:schemeClr val="accent6">
                        <a:tint val="90000"/>
                        <a:shade val="89000"/>
                        <a:satMod val="220000"/>
                      </a:schemeClr>
                    </a:gs>
                    <a:gs pos="100000">
                      <a:schemeClr val="accent6">
                        <a:tint val="12000"/>
                        <a:satMod val="255000"/>
                      </a:schemeClr>
                    </a:gs>
                  </a:gsLst>
                  <a:lin ang="5400000"/>
                </a:gra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mic Sans MS" pitchFamily="66" charset="0"/>
              </a:rPr>
              <a:t> </a:t>
            </a:r>
          </a:p>
        </p:txBody>
      </p:sp>
      <p:pic>
        <p:nvPicPr>
          <p:cNvPr id="40" name="Picture 3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228600" y="5181600"/>
            <a:ext cx="8662988" cy="1569316"/>
          </a:xfrm>
          <a:prstGeom prst="rect">
            <a:avLst/>
          </a:prstGeom>
          <a:noFill/>
          <a:ln w="9525">
            <a:solidFill>
              <a:srgbClr val="FF99CC"/>
            </a:solidFill>
            <a:miter lim="800000"/>
            <a:headEnd/>
            <a:tailEnd/>
          </a:ln>
          <a:effectLst/>
        </p:spPr>
      </p:pic>
    </p:spTree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3555" name="Picture 3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381000" y="2535617"/>
            <a:ext cx="6309360" cy="386518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23556" name="Picture 4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6934200" y="3450015"/>
            <a:ext cx="1828800" cy="258183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23557" name="Picture 5"/>
          <p:cNvPicPr>
            <a:picLocks noChangeAspect="1" noChangeArrowheads="1"/>
          </p:cNvPicPr>
          <p:nvPr/>
        </p:nvPicPr>
        <p:blipFill>
          <a:blip r:embed="rId4"/>
          <a:srcRect/>
          <a:stretch>
            <a:fillRect/>
          </a:stretch>
        </p:blipFill>
        <p:spPr bwMode="auto">
          <a:xfrm>
            <a:off x="2362200" y="1429787"/>
            <a:ext cx="4389120" cy="3990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6" name="Text Box 2"/>
          <p:cNvSpPr txBox="1">
            <a:spLocks noChangeArrowheads="1"/>
          </p:cNvSpPr>
          <p:nvPr/>
        </p:nvSpPr>
        <p:spPr bwMode="auto">
          <a:xfrm>
            <a:off x="914400" y="253425"/>
            <a:ext cx="7391400" cy="5847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marL="457200" indent="-457200" algn="ctr"/>
            <a:r>
              <a:rPr lang="en-US" sz="3200" b="1" dirty="0" err="1" smtClean="0">
                <a:ln w="1905"/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mic Sans MS" pitchFamily="66" charset="0"/>
              </a:rPr>
              <a:t>Chromo</a:t>
            </a:r>
            <a:r>
              <a:rPr lang="en-US" sz="3200" b="1" dirty="0" err="1" smtClean="0">
                <a:ln w="1905"/>
                <a:gradFill>
                  <a:gsLst>
                    <a:gs pos="0">
                      <a:schemeClr val="accent6">
                        <a:shade val="20000"/>
                        <a:satMod val="200000"/>
                      </a:schemeClr>
                    </a:gs>
                    <a:gs pos="78000">
                      <a:schemeClr val="accent6">
                        <a:tint val="90000"/>
                        <a:shade val="89000"/>
                        <a:satMod val="220000"/>
                      </a:schemeClr>
                    </a:gs>
                    <a:gs pos="100000">
                      <a:schemeClr val="accent6">
                        <a:tint val="12000"/>
                        <a:satMod val="255000"/>
                      </a:schemeClr>
                    </a:gs>
                  </a:gsLst>
                  <a:lin ang="5400000"/>
                </a:gra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mic Sans MS" pitchFamily="66" charset="0"/>
              </a:rPr>
              <a:t>phore</a:t>
            </a:r>
            <a:r>
              <a:rPr lang="en-US" sz="3200" b="1" dirty="0" smtClean="0">
                <a:ln w="1905"/>
                <a:gradFill>
                  <a:gsLst>
                    <a:gs pos="0">
                      <a:schemeClr val="accent6">
                        <a:shade val="20000"/>
                        <a:satMod val="200000"/>
                      </a:schemeClr>
                    </a:gs>
                    <a:gs pos="78000">
                      <a:schemeClr val="accent6">
                        <a:tint val="90000"/>
                        <a:shade val="89000"/>
                        <a:satMod val="220000"/>
                      </a:schemeClr>
                    </a:gs>
                    <a:gs pos="100000">
                      <a:schemeClr val="accent6">
                        <a:tint val="12000"/>
                        <a:satMod val="255000"/>
                      </a:schemeClr>
                    </a:gs>
                  </a:gsLst>
                  <a:lin ang="5400000"/>
                </a:gra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mic Sans MS" pitchFamily="66" charset="0"/>
              </a:rPr>
              <a:t> </a:t>
            </a:r>
            <a:r>
              <a:rPr lang="en-US" sz="3200" b="1" dirty="0" smtClean="0">
                <a:ln w="1905"/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mic Sans MS" pitchFamily="66" charset="0"/>
              </a:rPr>
              <a:t>and</a:t>
            </a:r>
            <a:r>
              <a:rPr lang="en-US" sz="3200" b="1" dirty="0" smtClean="0">
                <a:ln w="1905"/>
                <a:gradFill>
                  <a:gsLst>
                    <a:gs pos="0">
                      <a:schemeClr val="accent6">
                        <a:shade val="20000"/>
                        <a:satMod val="200000"/>
                      </a:schemeClr>
                    </a:gs>
                    <a:gs pos="78000">
                      <a:schemeClr val="accent6">
                        <a:tint val="90000"/>
                        <a:shade val="89000"/>
                        <a:satMod val="220000"/>
                      </a:schemeClr>
                    </a:gs>
                    <a:gs pos="100000">
                      <a:schemeClr val="accent6">
                        <a:tint val="12000"/>
                        <a:satMod val="255000"/>
                      </a:schemeClr>
                    </a:gs>
                  </a:gsLst>
                  <a:lin ang="5400000"/>
                </a:gra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mic Sans MS" pitchFamily="66" charset="0"/>
              </a:rPr>
              <a:t> </a:t>
            </a:r>
            <a:r>
              <a:rPr lang="en-US" sz="3200" b="1" dirty="0" err="1" smtClean="0">
                <a:ln w="1905"/>
                <a:gradFill>
                  <a:gsLst>
                    <a:gs pos="0">
                      <a:schemeClr val="accent6">
                        <a:shade val="20000"/>
                        <a:satMod val="200000"/>
                      </a:schemeClr>
                    </a:gs>
                    <a:gs pos="78000">
                      <a:schemeClr val="accent6">
                        <a:tint val="90000"/>
                        <a:shade val="89000"/>
                        <a:satMod val="220000"/>
                      </a:schemeClr>
                    </a:gs>
                    <a:gs pos="100000">
                      <a:schemeClr val="accent6">
                        <a:tint val="12000"/>
                        <a:satMod val="255000"/>
                      </a:schemeClr>
                    </a:gs>
                  </a:gsLst>
                  <a:lin ang="5400000"/>
                </a:gra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mic Sans MS" pitchFamily="66" charset="0"/>
              </a:rPr>
              <a:t>Auxo</a:t>
            </a:r>
            <a:r>
              <a:rPr lang="en-US" sz="3200" b="1" dirty="0" err="1" smtClean="0">
                <a:ln w="1905"/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mic Sans MS" pitchFamily="66" charset="0"/>
              </a:rPr>
              <a:t>chromes</a:t>
            </a:r>
            <a:r>
              <a:rPr lang="en-US" sz="3200" b="1" dirty="0" smtClean="0">
                <a:ln w="1905"/>
                <a:gradFill>
                  <a:gsLst>
                    <a:gs pos="0">
                      <a:schemeClr val="accent6">
                        <a:shade val="20000"/>
                        <a:satMod val="200000"/>
                      </a:schemeClr>
                    </a:gs>
                    <a:gs pos="78000">
                      <a:schemeClr val="accent6">
                        <a:tint val="90000"/>
                        <a:shade val="89000"/>
                        <a:satMod val="220000"/>
                      </a:schemeClr>
                    </a:gs>
                    <a:gs pos="100000">
                      <a:schemeClr val="accent6">
                        <a:tint val="12000"/>
                        <a:satMod val="255000"/>
                      </a:schemeClr>
                    </a:gs>
                  </a:gsLst>
                  <a:lin ang="5400000"/>
                </a:gra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mic Sans MS" pitchFamily="66" charset="0"/>
              </a:rPr>
              <a:t> </a:t>
            </a:r>
            <a:endParaRPr lang="en-US" sz="3200" b="1" dirty="0">
              <a:ln w="1905"/>
              <a:gradFill>
                <a:gsLst>
                  <a:gs pos="0">
                    <a:schemeClr val="accent6">
                      <a:shade val="20000"/>
                      <a:satMod val="200000"/>
                    </a:schemeClr>
                  </a:gs>
                  <a:gs pos="78000">
                    <a:schemeClr val="accent6">
                      <a:tint val="90000"/>
                      <a:shade val="89000"/>
                      <a:satMod val="220000"/>
                    </a:schemeClr>
                  </a:gs>
                  <a:gs pos="100000">
                    <a:schemeClr val="accent6">
                      <a:tint val="12000"/>
                      <a:satMod val="255000"/>
                    </a:schemeClr>
                  </a:gs>
                </a:gsLst>
                <a:lin ang="5400000"/>
              </a:gra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Comic Sans MS" pitchFamily="66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64" name="Text Box 2"/>
          <p:cNvSpPr txBox="1">
            <a:spLocks noChangeArrowheads="1"/>
          </p:cNvSpPr>
          <p:nvPr/>
        </p:nvSpPr>
        <p:spPr bwMode="auto">
          <a:xfrm>
            <a:off x="1143000" y="228600"/>
            <a:ext cx="6781800" cy="5847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marL="457200" indent="-457200" algn="ctr">
              <a:spcBef>
                <a:spcPct val="0"/>
              </a:spcBef>
            </a:pPr>
            <a:r>
              <a:rPr lang="en-US" sz="3200" b="1" dirty="0" err="1" smtClean="0">
                <a:ln w="1905"/>
                <a:solidFill>
                  <a:srgbClr val="FF0000"/>
                </a:solidFill>
                <a:effectLst>
                  <a:innerShdw blurRad="69850" dist="43180" dir="5400000">
                    <a:srgbClr val="000000">
                      <a:alpha val="65000"/>
                    </a:srgbClr>
                  </a:innerShdw>
                </a:effectLst>
                <a:latin typeface="Comic Sans MS" pitchFamily="66" charset="0"/>
              </a:rPr>
              <a:t>Bathochromic</a:t>
            </a:r>
            <a:r>
              <a:rPr lang="en-US" sz="3200" b="1" dirty="0" smtClean="0">
                <a:ln w="1905"/>
                <a:gradFill>
                  <a:gsLst>
                    <a:gs pos="0">
                      <a:schemeClr val="accent6">
                        <a:shade val="20000"/>
                        <a:satMod val="200000"/>
                      </a:schemeClr>
                    </a:gs>
                    <a:gs pos="78000">
                      <a:schemeClr val="accent6">
                        <a:tint val="90000"/>
                        <a:shade val="89000"/>
                        <a:satMod val="220000"/>
                      </a:schemeClr>
                    </a:gs>
                    <a:gs pos="100000">
                      <a:schemeClr val="accent6">
                        <a:tint val="12000"/>
                        <a:satMod val="255000"/>
                      </a:schemeClr>
                    </a:gs>
                  </a:gsLst>
                  <a:lin ang="5400000"/>
                </a:gradFill>
                <a:effectLst>
                  <a:innerShdw blurRad="69850" dist="43180" dir="5400000">
                    <a:srgbClr val="000000">
                      <a:alpha val="65000"/>
                    </a:srgbClr>
                  </a:innerShdw>
                </a:effectLst>
                <a:latin typeface="Comic Sans MS" pitchFamily="66" charset="0"/>
              </a:rPr>
              <a:t> Shift (</a:t>
            </a:r>
            <a:r>
              <a:rPr lang="en-US" sz="3200" b="1" dirty="0" smtClean="0">
                <a:ln w="1905"/>
                <a:solidFill>
                  <a:srgbClr val="FF0000"/>
                </a:solidFill>
                <a:effectLst>
                  <a:innerShdw blurRad="69850" dist="43180" dir="5400000">
                    <a:srgbClr val="000000">
                      <a:alpha val="65000"/>
                    </a:srgbClr>
                  </a:innerShdw>
                </a:effectLst>
                <a:latin typeface="Comic Sans MS" pitchFamily="66" charset="0"/>
              </a:rPr>
              <a:t>Red </a:t>
            </a:r>
            <a:r>
              <a:rPr lang="en-US" sz="3200" b="1" dirty="0" smtClean="0">
                <a:ln w="1905"/>
                <a:gradFill>
                  <a:gsLst>
                    <a:gs pos="0">
                      <a:schemeClr val="accent6">
                        <a:shade val="20000"/>
                        <a:satMod val="200000"/>
                      </a:schemeClr>
                    </a:gs>
                    <a:gs pos="78000">
                      <a:schemeClr val="accent6">
                        <a:tint val="90000"/>
                        <a:shade val="89000"/>
                        <a:satMod val="220000"/>
                      </a:schemeClr>
                    </a:gs>
                    <a:gs pos="100000">
                      <a:schemeClr val="accent6">
                        <a:tint val="12000"/>
                        <a:satMod val="255000"/>
                      </a:schemeClr>
                    </a:gs>
                  </a:gsLst>
                  <a:lin ang="5400000"/>
                </a:gradFill>
                <a:effectLst>
                  <a:innerShdw blurRad="69850" dist="43180" dir="5400000">
                    <a:srgbClr val="000000">
                      <a:alpha val="65000"/>
                    </a:srgbClr>
                  </a:innerShdw>
                </a:effectLst>
                <a:latin typeface="Comic Sans MS" pitchFamily="66" charset="0"/>
              </a:rPr>
              <a:t>Shift)</a:t>
            </a:r>
            <a:endParaRPr lang="en-US" sz="3200" b="1" dirty="0">
              <a:ln w="1905"/>
              <a:gradFill>
                <a:gsLst>
                  <a:gs pos="0">
                    <a:schemeClr val="accent6">
                      <a:shade val="20000"/>
                      <a:satMod val="200000"/>
                    </a:schemeClr>
                  </a:gs>
                  <a:gs pos="78000">
                    <a:schemeClr val="accent6">
                      <a:tint val="90000"/>
                      <a:shade val="89000"/>
                      <a:satMod val="220000"/>
                    </a:schemeClr>
                  </a:gs>
                  <a:gs pos="100000">
                    <a:schemeClr val="accent6">
                      <a:tint val="12000"/>
                      <a:satMod val="255000"/>
                    </a:schemeClr>
                  </a:gs>
                </a:gsLst>
                <a:lin ang="5400000"/>
              </a:gradFill>
              <a:effectLst>
                <a:innerShdw blurRad="69850" dist="43180" dir="5400000">
                  <a:srgbClr val="000000">
                    <a:alpha val="65000"/>
                  </a:srgbClr>
                </a:innerShdw>
              </a:effectLst>
              <a:latin typeface="Comic Sans MS" pitchFamily="66" charset="0"/>
            </a:endParaRPr>
          </a:p>
        </p:txBody>
      </p:sp>
      <p:sp>
        <p:nvSpPr>
          <p:cNvPr id="92165" name="Rectangle 37"/>
          <p:cNvSpPr>
            <a:spLocks noChangeArrowheads="1"/>
          </p:cNvSpPr>
          <p:nvPr/>
        </p:nvSpPr>
        <p:spPr bwMode="auto">
          <a:xfrm>
            <a:off x="228600" y="990600"/>
            <a:ext cx="8686800" cy="800219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</p:spPr>
        <p:txBody>
          <a:bodyPr wrap="square" anchor="ctr">
            <a:spAutoFit/>
          </a:bodyPr>
          <a:lstStyle/>
          <a:p>
            <a:pPr algn="just" eaLnBrk="0" hangingPunct="0">
              <a:spcBef>
                <a:spcPct val="0"/>
              </a:spcBef>
            </a:pPr>
            <a:r>
              <a:rPr lang="en-US" sz="2300" dirty="0">
                <a:solidFill>
                  <a:srgbClr val="000066"/>
                </a:solidFill>
                <a:latin typeface="Times New Roman" pitchFamily="18" charset="0"/>
                <a:cs typeface="Times New Roman" pitchFamily="18" charset="0"/>
              </a:rPr>
              <a:t>Shift of an absorption maximum to </a:t>
            </a:r>
            <a:r>
              <a:rPr lang="en-US" sz="2300" dirty="0">
                <a:solidFill>
                  <a:srgbClr val="FF3300"/>
                </a:solidFill>
                <a:latin typeface="Times New Roman" pitchFamily="18" charset="0"/>
                <a:cs typeface="Times New Roman" pitchFamily="18" charset="0"/>
              </a:rPr>
              <a:t>longer wavelength</a:t>
            </a:r>
            <a:r>
              <a:rPr lang="en-US" sz="2300" dirty="0">
                <a:solidFill>
                  <a:srgbClr val="000066"/>
                </a:solidFill>
                <a:latin typeface="Times New Roman" pitchFamily="18" charset="0"/>
                <a:cs typeface="Times New Roman" pitchFamily="18" charset="0"/>
              </a:rPr>
              <a:t> is called </a:t>
            </a:r>
            <a:r>
              <a:rPr lang="en-US" sz="2300" dirty="0" err="1">
                <a:latin typeface="Times New Roman" pitchFamily="18" charset="0"/>
                <a:cs typeface="Times New Roman" pitchFamily="18" charset="0"/>
              </a:rPr>
              <a:t>bathochromic</a:t>
            </a:r>
            <a:r>
              <a:rPr lang="en-US" sz="2300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300" dirty="0" smtClean="0">
                <a:solidFill>
                  <a:srgbClr val="000066"/>
                </a:solidFill>
                <a:latin typeface="Times New Roman" pitchFamily="18" charset="0"/>
                <a:cs typeface="Times New Roman" pitchFamily="18" charset="0"/>
              </a:rPr>
              <a:t>shift (</a:t>
            </a:r>
            <a:r>
              <a:rPr lang="en-US" sz="2300" dirty="0" smtClean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red</a:t>
            </a:r>
            <a:r>
              <a:rPr lang="en-US" sz="2300" dirty="0" smtClean="0">
                <a:solidFill>
                  <a:srgbClr val="000066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300" dirty="0" smtClean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shift</a:t>
            </a:r>
            <a:r>
              <a:rPr lang="en-US" sz="2300" dirty="0" smtClean="0">
                <a:solidFill>
                  <a:srgbClr val="000066"/>
                </a:solidFill>
                <a:latin typeface="Times New Roman" pitchFamily="18" charset="0"/>
                <a:cs typeface="Times New Roman" pitchFamily="18" charset="0"/>
              </a:rPr>
              <a:t>).</a:t>
            </a:r>
            <a:endParaRPr lang="en-US" sz="2300" dirty="0">
              <a:solidFill>
                <a:srgbClr val="000066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8" name="Rectangle 7"/>
          <p:cNvSpPr/>
          <p:nvPr/>
        </p:nvSpPr>
        <p:spPr bwMode="auto">
          <a:xfrm>
            <a:off x="5257800" y="1981200"/>
            <a:ext cx="3733800" cy="4648200"/>
          </a:xfrm>
          <a:prstGeom prst="rect">
            <a:avLst/>
          </a:prstGeom>
          <a:solidFill>
            <a:schemeClr val="bg1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>
            <a:outerShdw blurRad="190500" dist="228600" dir="2700000" algn="ctr">
              <a:srgbClr val="000000">
                <a:alpha val="30000"/>
              </a:srgbClr>
            </a:outerShdw>
          </a:effectLst>
          <a:scene3d>
            <a:camera prst="orthographicFront">
              <a:rot lat="0" lon="0" rev="0"/>
            </a:camera>
            <a:lightRig rig="glow" dir="t">
              <a:rot lat="0" lon="0" rev="4800000"/>
            </a:lightRig>
          </a:scene3d>
          <a:sp3d prstMaterial="matte">
            <a:bevelT w="127000" h="63500"/>
          </a:sp3d>
          <a:ex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2400" b="0" i="0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Times" panose="02020603050405020304" pitchFamily="18" charset="0"/>
            </a:endParaRPr>
          </a:p>
        </p:txBody>
      </p:sp>
      <p:sp>
        <p:nvSpPr>
          <p:cNvPr id="12" name="Rectangle 11"/>
          <p:cNvSpPr/>
          <p:nvPr/>
        </p:nvSpPr>
        <p:spPr bwMode="auto">
          <a:xfrm>
            <a:off x="76200" y="2286000"/>
            <a:ext cx="5029200" cy="4343400"/>
          </a:xfrm>
          <a:prstGeom prst="rect">
            <a:avLst/>
          </a:prstGeom>
          <a:solidFill>
            <a:schemeClr val="bg1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  <a:scene3d>
            <a:camera prst="orthographicFront">
              <a:rot lat="0" lon="0" rev="0"/>
            </a:camera>
            <a:lightRig rig="glow" dir="t">
              <a:rot lat="0" lon="0" rev="4800000"/>
            </a:lightRig>
          </a:scene3d>
          <a:sp3d prstMaterial="matte">
            <a:bevelT w="127000" h="63500"/>
          </a:sp3d>
          <a:ex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2400" b="0" i="0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Times" panose="02020603050405020304" pitchFamily="18" charset="0"/>
            </a:endParaRPr>
          </a:p>
        </p:txBody>
      </p:sp>
      <p:grpSp>
        <p:nvGrpSpPr>
          <p:cNvPr id="2" name="Group 12"/>
          <p:cNvGrpSpPr/>
          <p:nvPr/>
        </p:nvGrpSpPr>
        <p:grpSpPr>
          <a:xfrm>
            <a:off x="76200" y="2372380"/>
            <a:ext cx="4876800" cy="4061162"/>
            <a:chOff x="76200" y="2219980"/>
            <a:chExt cx="4876800" cy="4061162"/>
          </a:xfrm>
        </p:grpSpPr>
        <p:sp>
          <p:nvSpPr>
            <p:cNvPr id="14" name="TextBox 13"/>
            <p:cNvSpPr txBox="1"/>
            <p:nvPr/>
          </p:nvSpPr>
          <p:spPr>
            <a:xfrm>
              <a:off x="152400" y="2219980"/>
              <a:ext cx="3200400" cy="52322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274320" indent="-274320" algn="just">
                <a:buFont typeface="Arial" pitchFamily="34" charset="0"/>
                <a:buChar char="•"/>
              </a:pPr>
              <a:r>
                <a:rPr lang="en-US" sz="2800" dirty="0" smtClean="0">
                  <a:solidFill>
                    <a:srgbClr val="FF0000"/>
                  </a:solidFill>
                  <a:latin typeface="Times New Roman" pitchFamily="18" charset="0"/>
                  <a:cs typeface="Times New Roman" pitchFamily="18" charset="0"/>
                </a:rPr>
                <a:t>Red </a:t>
              </a:r>
              <a:r>
                <a:rPr lang="en-US" sz="2800" dirty="0" smtClean="0">
                  <a:latin typeface="Times New Roman" pitchFamily="18" charset="0"/>
                  <a:cs typeface="Times New Roman" pitchFamily="18" charset="0"/>
                </a:rPr>
                <a:t>shift</a:t>
              </a:r>
              <a:r>
                <a:rPr lang="en-US" sz="2800" dirty="0" smtClean="0">
                  <a:solidFill>
                    <a:srgbClr val="FF0000"/>
                  </a:solidFill>
                  <a:latin typeface="Times New Roman" pitchFamily="18" charset="0"/>
                  <a:cs typeface="Times New Roman" pitchFamily="18" charset="0"/>
                </a:rPr>
                <a:t> occurs</a:t>
              </a:r>
              <a:endParaRPr lang="en-US" sz="2800" dirty="0">
                <a:solidFill>
                  <a:srgbClr val="FF0000"/>
                </a:solidFill>
              </a:endParaRPr>
            </a:p>
          </p:txBody>
        </p:sp>
        <p:sp>
          <p:nvSpPr>
            <p:cNvPr id="15" name="TextBox 14"/>
            <p:cNvSpPr txBox="1"/>
            <p:nvPr/>
          </p:nvSpPr>
          <p:spPr>
            <a:xfrm>
              <a:off x="76200" y="2895600"/>
              <a:ext cx="4876800" cy="338554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514350" indent="-514350" algn="just">
                <a:spcAft>
                  <a:spcPts val="1800"/>
                </a:spcAft>
                <a:buClr>
                  <a:srgbClr val="FF0000"/>
                </a:buClr>
                <a:buAutoNum type="romanLcParenBoth"/>
              </a:pPr>
              <a:r>
                <a:rPr lang="en-US" sz="2300" dirty="0" smtClean="0">
                  <a:solidFill>
                    <a:srgbClr val="2D1585"/>
                  </a:solidFill>
                  <a:latin typeface="Times New Roman" pitchFamily="18" charset="0"/>
                  <a:cs typeface="Times New Roman" pitchFamily="18" charset="0"/>
                  <a:sym typeface="Symbol" pitchFamily="18" charset="2"/>
                </a:rPr>
                <a:t>due to extension of conjugation.</a:t>
              </a:r>
            </a:p>
            <a:p>
              <a:pPr marL="514350" indent="-514350" algn="just">
                <a:spcAft>
                  <a:spcPts val="1800"/>
                </a:spcAft>
                <a:buClr>
                  <a:srgbClr val="FF0000"/>
                </a:buClr>
                <a:buAutoNum type="romanLcParenBoth"/>
              </a:pPr>
              <a:r>
                <a:rPr lang="en-US" sz="2300" dirty="0" smtClean="0">
                  <a:solidFill>
                    <a:srgbClr val="2D1585"/>
                  </a:solidFill>
                  <a:latin typeface="Times New Roman" pitchFamily="18" charset="0"/>
                  <a:cs typeface="Times New Roman" pitchFamily="18" charset="0"/>
                </a:rPr>
                <a:t>due to change of medium (</a:t>
              </a:r>
              <a:r>
                <a:rPr lang="en-US" sz="2300" dirty="0" smtClean="0">
                  <a:solidFill>
                    <a:srgbClr val="2D1585"/>
                  </a:solidFill>
                  <a:latin typeface="Times New Roman" pitchFamily="18" charset="0"/>
                  <a:cs typeface="Times New Roman" pitchFamily="18" charset="0"/>
                  <a:sym typeface="Symbol" pitchFamily="18" charset="2"/>
                </a:rPr>
                <a:t></a:t>
              </a:r>
              <a:r>
                <a:rPr lang="en-US" sz="2300" dirty="0" smtClean="0">
                  <a:solidFill>
                    <a:srgbClr val="2D1585"/>
                  </a:solidFill>
                  <a:latin typeface="Times New Roman" pitchFamily="18" charset="0"/>
                  <a:cs typeface="Times New Roman" pitchFamily="18" charset="0"/>
                </a:rPr>
                <a:t> </a:t>
              </a:r>
              <a:r>
                <a:rPr lang="en-US" sz="2300" dirty="0" smtClean="0">
                  <a:solidFill>
                    <a:srgbClr val="2D1585"/>
                  </a:solidFill>
                  <a:latin typeface="Times New Roman" pitchFamily="18" charset="0"/>
                  <a:cs typeface="Times New Roman" pitchFamily="18" charset="0"/>
                  <a:sym typeface="Symbol" pitchFamily="18" charset="2"/>
                </a:rPr>
                <a:t></a:t>
              </a:r>
              <a:r>
                <a:rPr lang="en-US" sz="2300" dirty="0" smtClean="0">
                  <a:solidFill>
                    <a:srgbClr val="2D1585"/>
                  </a:solidFill>
                  <a:latin typeface="Times New Roman" pitchFamily="18" charset="0"/>
                  <a:cs typeface="Times New Roman" pitchFamily="18" charset="0"/>
                </a:rPr>
                <a:t> </a:t>
              </a:r>
              <a:r>
                <a:rPr lang="en-US" sz="2300" dirty="0" smtClean="0">
                  <a:solidFill>
                    <a:srgbClr val="2D1585"/>
                  </a:solidFill>
                  <a:latin typeface="Times New Roman" pitchFamily="18" charset="0"/>
                  <a:cs typeface="Times New Roman" pitchFamily="18" charset="0"/>
                  <a:sym typeface="Symbol" pitchFamily="18" charset="2"/>
                </a:rPr>
                <a:t></a:t>
              </a:r>
              <a:r>
                <a:rPr lang="en-US" sz="2300" dirty="0" smtClean="0">
                  <a:solidFill>
                    <a:srgbClr val="2D1585"/>
                  </a:solidFill>
                  <a:latin typeface="Times New Roman" pitchFamily="18" charset="0"/>
                  <a:cs typeface="Times New Roman" pitchFamily="18" charset="0"/>
                </a:rPr>
                <a:t>*</a:t>
              </a:r>
              <a:r>
                <a:rPr lang="en-US" sz="2300" dirty="0" smtClean="0">
                  <a:solidFill>
                    <a:srgbClr val="2D1585"/>
                  </a:solidFill>
                  <a:latin typeface="Times New Roman" pitchFamily="18" charset="0"/>
                  <a:cs typeface="Times New Roman" pitchFamily="18" charset="0"/>
                  <a:sym typeface="Symbol" pitchFamily="18" charset="2"/>
                </a:rPr>
                <a:t> transitions undergo bathochromic shift with an increase in the polarity of the solvent). </a:t>
              </a:r>
            </a:p>
            <a:p>
              <a:pPr marL="514350" lvl="0" indent="-514350" algn="just">
                <a:spcAft>
                  <a:spcPts val="1800"/>
                </a:spcAft>
                <a:buClr>
                  <a:srgbClr val="FF0000"/>
                </a:buClr>
                <a:buFontTx/>
                <a:buAutoNum type="romanLcParenBoth"/>
              </a:pPr>
              <a:r>
                <a:rPr lang="en-US" sz="2300" dirty="0" smtClean="0">
                  <a:solidFill>
                    <a:srgbClr val="2D1585"/>
                  </a:solidFill>
                  <a:latin typeface="Times New Roman" pitchFamily="18" charset="0"/>
                  <a:cs typeface="Times New Roman" pitchFamily="18" charset="0"/>
                  <a:sym typeface="Symbol" pitchFamily="18" charset="2"/>
                </a:rPr>
                <a:t>when an </a:t>
              </a:r>
              <a:r>
                <a:rPr lang="en-US" sz="2300" dirty="0" err="1" smtClean="0">
                  <a:solidFill>
                    <a:srgbClr val="FF0000"/>
                  </a:solidFill>
                  <a:latin typeface="Times New Roman" pitchFamily="18" charset="0"/>
                  <a:cs typeface="Times New Roman" pitchFamily="18" charset="0"/>
                  <a:sym typeface="Symbol" pitchFamily="18" charset="2"/>
                </a:rPr>
                <a:t>auxochrome</a:t>
              </a:r>
              <a:r>
                <a:rPr lang="en-US" sz="2300" dirty="0" smtClean="0">
                  <a:solidFill>
                    <a:srgbClr val="2D1585"/>
                  </a:solidFill>
                  <a:latin typeface="Times New Roman" pitchFamily="18" charset="0"/>
                  <a:cs typeface="Times New Roman" pitchFamily="18" charset="0"/>
                  <a:sym typeface="Symbol" pitchFamily="18" charset="2"/>
                </a:rPr>
                <a:t> is attached to a carbon-carbon double bond (</a:t>
              </a:r>
              <a:r>
                <a:rPr lang="en-US" sz="2300" b="1" dirty="0" smtClean="0">
                  <a:solidFill>
                    <a:srgbClr val="2D1585"/>
                  </a:solidFill>
                  <a:latin typeface="Times New Roman" pitchFamily="18" charset="0"/>
                  <a:ea typeface="Times New Roman" pitchFamily="18" charset="0"/>
                  <a:cs typeface="Times New Roman" pitchFamily="18" charset="0"/>
                </a:rPr>
                <a:t>C=C). </a:t>
              </a:r>
              <a:endParaRPr lang="en-US" sz="2300" dirty="0" smtClean="0">
                <a:solidFill>
                  <a:srgbClr val="2D1585"/>
                </a:solidFill>
                <a:latin typeface="Times New Roman" pitchFamily="18" charset="0"/>
                <a:cs typeface="Times New Roman" pitchFamily="18" charset="0"/>
                <a:sym typeface="Symbol" pitchFamily="18" charset="2"/>
              </a:endParaRPr>
            </a:p>
          </p:txBody>
        </p:sp>
      </p:grpSp>
      <p:pic>
        <p:nvPicPr>
          <p:cNvPr id="3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63871" y="2057400"/>
            <a:ext cx="3627729" cy="448056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7890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1447800" y="2138680"/>
            <a:ext cx="6217920" cy="449072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4" name="Text Box 2"/>
          <p:cNvSpPr txBox="1">
            <a:spLocks noChangeArrowheads="1"/>
          </p:cNvSpPr>
          <p:nvPr/>
        </p:nvSpPr>
        <p:spPr bwMode="auto">
          <a:xfrm>
            <a:off x="1143000" y="228600"/>
            <a:ext cx="6781800" cy="5847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marL="457200" indent="-457200" algn="ctr">
              <a:spcBef>
                <a:spcPct val="0"/>
              </a:spcBef>
            </a:pPr>
            <a:r>
              <a:rPr lang="en-US" sz="3200" b="1" dirty="0" err="1" smtClean="0">
                <a:ln w="1905"/>
                <a:solidFill>
                  <a:srgbClr val="FF0000"/>
                </a:solidFill>
                <a:effectLst>
                  <a:innerShdw blurRad="69850" dist="43180" dir="5400000">
                    <a:srgbClr val="000000">
                      <a:alpha val="65000"/>
                    </a:srgbClr>
                  </a:innerShdw>
                </a:effectLst>
                <a:latin typeface="Comic Sans MS" pitchFamily="66" charset="0"/>
              </a:rPr>
              <a:t>Bathochromic</a:t>
            </a:r>
            <a:r>
              <a:rPr lang="en-US" sz="3200" b="1" dirty="0" smtClean="0">
                <a:ln w="1905"/>
                <a:gradFill>
                  <a:gsLst>
                    <a:gs pos="0">
                      <a:schemeClr val="accent6">
                        <a:shade val="20000"/>
                        <a:satMod val="200000"/>
                      </a:schemeClr>
                    </a:gs>
                    <a:gs pos="78000">
                      <a:schemeClr val="accent6">
                        <a:tint val="90000"/>
                        <a:shade val="89000"/>
                        <a:satMod val="220000"/>
                      </a:schemeClr>
                    </a:gs>
                    <a:gs pos="100000">
                      <a:schemeClr val="accent6">
                        <a:tint val="12000"/>
                        <a:satMod val="255000"/>
                      </a:schemeClr>
                    </a:gs>
                  </a:gsLst>
                  <a:lin ang="5400000"/>
                </a:gradFill>
                <a:effectLst>
                  <a:innerShdw blurRad="69850" dist="43180" dir="5400000">
                    <a:srgbClr val="000000">
                      <a:alpha val="65000"/>
                    </a:srgbClr>
                  </a:innerShdw>
                </a:effectLst>
                <a:latin typeface="Comic Sans MS" pitchFamily="66" charset="0"/>
              </a:rPr>
              <a:t> Shift (</a:t>
            </a:r>
            <a:r>
              <a:rPr lang="en-US" sz="3200" b="1" dirty="0" smtClean="0">
                <a:ln w="1905"/>
                <a:solidFill>
                  <a:srgbClr val="FF0000"/>
                </a:solidFill>
                <a:effectLst>
                  <a:innerShdw blurRad="69850" dist="43180" dir="5400000">
                    <a:srgbClr val="000000">
                      <a:alpha val="65000"/>
                    </a:srgbClr>
                  </a:innerShdw>
                </a:effectLst>
                <a:latin typeface="Comic Sans MS" pitchFamily="66" charset="0"/>
              </a:rPr>
              <a:t>Red </a:t>
            </a:r>
            <a:r>
              <a:rPr lang="en-US" sz="3200" b="1" dirty="0" smtClean="0">
                <a:ln w="1905"/>
                <a:gradFill>
                  <a:gsLst>
                    <a:gs pos="0">
                      <a:schemeClr val="accent6">
                        <a:shade val="20000"/>
                        <a:satMod val="200000"/>
                      </a:schemeClr>
                    </a:gs>
                    <a:gs pos="78000">
                      <a:schemeClr val="accent6">
                        <a:tint val="90000"/>
                        <a:shade val="89000"/>
                        <a:satMod val="220000"/>
                      </a:schemeClr>
                    </a:gs>
                    <a:gs pos="100000">
                      <a:schemeClr val="accent6">
                        <a:tint val="12000"/>
                        <a:satMod val="255000"/>
                      </a:schemeClr>
                    </a:gs>
                  </a:gsLst>
                  <a:lin ang="5400000"/>
                </a:gradFill>
                <a:effectLst>
                  <a:innerShdw blurRad="69850" dist="43180" dir="5400000">
                    <a:srgbClr val="000000">
                      <a:alpha val="65000"/>
                    </a:srgbClr>
                  </a:innerShdw>
                </a:effectLst>
                <a:latin typeface="Comic Sans MS" pitchFamily="66" charset="0"/>
              </a:rPr>
              <a:t>Shift)</a:t>
            </a:r>
            <a:endParaRPr lang="en-US" sz="3200" b="1" dirty="0">
              <a:ln w="1905"/>
              <a:gradFill>
                <a:gsLst>
                  <a:gs pos="0">
                    <a:schemeClr val="accent6">
                      <a:shade val="20000"/>
                      <a:satMod val="200000"/>
                    </a:schemeClr>
                  </a:gs>
                  <a:gs pos="78000">
                    <a:schemeClr val="accent6">
                      <a:tint val="90000"/>
                      <a:shade val="89000"/>
                      <a:satMod val="220000"/>
                    </a:schemeClr>
                  </a:gs>
                  <a:gs pos="100000">
                    <a:schemeClr val="accent6">
                      <a:tint val="12000"/>
                      <a:satMod val="255000"/>
                    </a:schemeClr>
                  </a:gs>
                </a:gsLst>
                <a:lin ang="5400000"/>
              </a:gradFill>
              <a:effectLst>
                <a:innerShdw blurRad="69850" dist="43180" dir="5400000">
                  <a:srgbClr val="000000">
                    <a:alpha val="65000"/>
                  </a:srgbClr>
                </a:innerShdw>
              </a:effectLst>
              <a:latin typeface="Comic Sans MS" pitchFamily="66" charset="0"/>
            </a:endParaRPr>
          </a:p>
        </p:txBody>
      </p:sp>
      <p:sp>
        <p:nvSpPr>
          <p:cNvPr id="5" name="Rectangle 4"/>
          <p:cNvSpPr/>
          <p:nvPr/>
        </p:nvSpPr>
        <p:spPr>
          <a:xfrm>
            <a:off x="2100826" y="990600"/>
            <a:ext cx="4833374" cy="492443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2600" b="1" dirty="0" smtClean="0">
                <a:ln w="1905"/>
                <a:gradFill>
                  <a:gsLst>
                    <a:gs pos="0">
                      <a:schemeClr val="accent6">
                        <a:shade val="20000"/>
                        <a:satMod val="200000"/>
                      </a:schemeClr>
                    </a:gs>
                    <a:gs pos="78000">
                      <a:schemeClr val="accent6">
                        <a:tint val="90000"/>
                        <a:shade val="89000"/>
                        <a:satMod val="220000"/>
                      </a:schemeClr>
                    </a:gs>
                    <a:gs pos="100000">
                      <a:schemeClr val="accent6">
                        <a:tint val="12000"/>
                        <a:satMod val="255000"/>
                      </a:schemeClr>
                    </a:gs>
                  </a:gsLst>
                  <a:lin ang="5400000"/>
                </a:gradFill>
                <a:effectLst>
                  <a:innerShdw blurRad="69850" dist="43180" dir="5400000">
                    <a:srgbClr val="000000">
                      <a:alpha val="65000"/>
                    </a:srgbClr>
                  </a:innerShdw>
                </a:effectLst>
                <a:latin typeface="Times New Roman" pitchFamily="18" charset="0"/>
                <a:cs typeface="Times New Roman" pitchFamily="18" charset="0"/>
                <a:sym typeface="Symbol" pitchFamily="18" charset="2"/>
              </a:rPr>
              <a:t>(due to extension of conjugation)</a:t>
            </a:r>
            <a:endParaRPr lang="en-US" sz="2600" b="1" dirty="0">
              <a:ln w="1905"/>
              <a:gradFill>
                <a:gsLst>
                  <a:gs pos="0">
                    <a:schemeClr val="accent6">
                      <a:shade val="20000"/>
                      <a:satMod val="200000"/>
                    </a:schemeClr>
                  </a:gs>
                  <a:gs pos="78000">
                    <a:schemeClr val="accent6">
                      <a:tint val="90000"/>
                      <a:shade val="89000"/>
                      <a:satMod val="220000"/>
                    </a:schemeClr>
                  </a:gs>
                  <a:gs pos="100000">
                    <a:schemeClr val="accent6">
                      <a:tint val="12000"/>
                      <a:satMod val="255000"/>
                    </a:schemeClr>
                  </a:gs>
                </a:gsLst>
                <a:lin ang="5400000"/>
              </a:gradFill>
              <a:effectLst>
                <a:innerShdw blurRad="69850" dist="43180" dir="5400000">
                  <a:srgbClr val="000000">
                    <a:alpha val="65000"/>
                  </a:srgbClr>
                </a:innerShdw>
              </a:effectLst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188" name="Text Box 2"/>
          <p:cNvSpPr txBox="1">
            <a:spLocks noChangeArrowheads="1"/>
          </p:cNvSpPr>
          <p:nvPr/>
        </p:nvSpPr>
        <p:spPr bwMode="auto">
          <a:xfrm>
            <a:off x="990600" y="329625"/>
            <a:ext cx="6705600" cy="5847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marL="457200" indent="-457200" algn="ctr">
              <a:spcBef>
                <a:spcPct val="0"/>
              </a:spcBef>
            </a:pPr>
            <a:r>
              <a:rPr lang="en-US" sz="3200" b="1" dirty="0" err="1" smtClean="0">
                <a:ln w="1905"/>
                <a:solidFill>
                  <a:srgbClr val="0033CC"/>
                </a:solidFill>
                <a:effectLst>
                  <a:innerShdw blurRad="69850" dist="43180" dir="5400000">
                    <a:srgbClr val="000000">
                      <a:alpha val="65000"/>
                    </a:srgbClr>
                  </a:innerShdw>
                </a:effectLst>
                <a:latin typeface="Comic Sans MS" pitchFamily="66" charset="0"/>
              </a:rPr>
              <a:t>Hypsochromic</a:t>
            </a:r>
            <a:r>
              <a:rPr lang="en-US" sz="3200" b="1" dirty="0" smtClean="0">
                <a:ln w="1905"/>
                <a:gradFill>
                  <a:gsLst>
                    <a:gs pos="0">
                      <a:schemeClr val="accent6">
                        <a:shade val="20000"/>
                        <a:satMod val="200000"/>
                      </a:schemeClr>
                    </a:gs>
                    <a:gs pos="78000">
                      <a:schemeClr val="accent6">
                        <a:tint val="90000"/>
                        <a:shade val="89000"/>
                        <a:satMod val="220000"/>
                      </a:schemeClr>
                    </a:gs>
                    <a:gs pos="100000">
                      <a:schemeClr val="accent6">
                        <a:tint val="12000"/>
                        <a:satMod val="255000"/>
                      </a:schemeClr>
                    </a:gs>
                  </a:gsLst>
                  <a:lin ang="5400000"/>
                </a:gradFill>
                <a:effectLst>
                  <a:innerShdw blurRad="69850" dist="43180" dir="5400000">
                    <a:srgbClr val="000000">
                      <a:alpha val="65000"/>
                    </a:srgbClr>
                  </a:innerShdw>
                </a:effectLst>
                <a:latin typeface="Comic Sans MS" pitchFamily="66" charset="0"/>
              </a:rPr>
              <a:t> </a:t>
            </a:r>
            <a:r>
              <a:rPr lang="en-US" sz="3200" b="1" dirty="0" smtClean="0">
                <a:ln w="1905"/>
                <a:solidFill>
                  <a:srgbClr val="FF0000"/>
                </a:solidFill>
                <a:effectLst>
                  <a:innerShdw blurRad="69850" dist="43180" dir="5400000">
                    <a:srgbClr val="000000">
                      <a:alpha val="65000"/>
                    </a:srgbClr>
                  </a:innerShdw>
                </a:effectLst>
                <a:latin typeface="Comic Sans MS" pitchFamily="66" charset="0"/>
              </a:rPr>
              <a:t>Shift</a:t>
            </a:r>
            <a:r>
              <a:rPr lang="en-US" sz="3200" b="1" dirty="0" smtClean="0">
                <a:ln w="1905"/>
                <a:gradFill>
                  <a:gsLst>
                    <a:gs pos="0">
                      <a:schemeClr val="accent6">
                        <a:shade val="20000"/>
                        <a:satMod val="200000"/>
                      </a:schemeClr>
                    </a:gs>
                    <a:gs pos="78000">
                      <a:schemeClr val="accent6">
                        <a:tint val="90000"/>
                        <a:shade val="89000"/>
                        <a:satMod val="220000"/>
                      </a:schemeClr>
                    </a:gs>
                    <a:gs pos="100000">
                      <a:schemeClr val="accent6">
                        <a:tint val="12000"/>
                        <a:satMod val="255000"/>
                      </a:schemeClr>
                    </a:gs>
                  </a:gsLst>
                  <a:lin ang="5400000"/>
                </a:gradFill>
                <a:effectLst>
                  <a:innerShdw blurRad="69850" dist="43180" dir="5400000">
                    <a:srgbClr val="000000">
                      <a:alpha val="65000"/>
                    </a:srgbClr>
                  </a:innerShdw>
                </a:effectLst>
                <a:latin typeface="Comic Sans MS" pitchFamily="66" charset="0"/>
              </a:rPr>
              <a:t> (</a:t>
            </a:r>
            <a:r>
              <a:rPr lang="en-US" sz="3200" b="1" dirty="0" smtClean="0">
                <a:ln w="1905"/>
                <a:solidFill>
                  <a:srgbClr val="0033CC"/>
                </a:solidFill>
                <a:effectLst>
                  <a:innerShdw blurRad="69850" dist="43180" dir="5400000">
                    <a:srgbClr val="000000">
                      <a:alpha val="65000"/>
                    </a:srgbClr>
                  </a:innerShdw>
                </a:effectLst>
                <a:latin typeface="Comic Sans MS" pitchFamily="66" charset="0"/>
              </a:rPr>
              <a:t>Blue</a:t>
            </a:r>
            <a:r>
              <a:rPr lang="en-US" sz="3200" b="1" dirty="0" smtClean="0">
                <a:ln w="1905"/>
                <a:gradFill>
                  <a:gsLst>
                    <a:gs pos="0">
                      <a:schemeClr val="accent6">
                        <a:shade val="20000"/>
                        <a:satMod val="200000"/>
                      </a:schemeClr>
                    </a:gs>
                    <a:gs pos="78000">
                      <a:schemeClr val="accent6">
                        <a:tint val="90000"/>
                        <a:shade val="89000"/>
                        <a:satMod val="220000"/>
                      </a:schemeClr>
                    </a:gs>
                    <a:gs pos="100000">
                      <a:schemeClr val="accent6">
                        <a:tint val="12000"/>
                        <a:satMod val="255000"/>
                      </a:schemeClr>
                    </a:gs>
                  </a:gsLst>
                  <a:lin ang="5400000"/>
                </a:gradFill>
                <a:effectLst>
                  <a:innerShdw blurRad="69850" dist="43180" dir="5400000">
                    <a:srgbClr val="000000">
                      <a:alpha val="65000"/>
                    </a:srgbClr>
                  </a:innerShdw>
                </a:effectLst>
                <a:latin typeface="Comic Sans MS" pitchFamily="66" charset="0"/>
              </a:rPr>
              <a:t> </a:t>
            </a:r>
            <a:r>
              <a:rPr lang="en-US" sz="3200" b="1" dirty="0" smtClean="0">
                <a:ln w="1905"/>
                <a:solidFill>
                  <a:srgbClr val="FF0000"/>
                </a:solidFill>
                <a:effectLst>
                  <a:innerShdw blurRad="69850" dist="43180" dir="5400000">
                    <a:srgbClr val="000000">
                      <a:alpha val="65000"/>
                    </a:srgbClr>
                  </a:innerShdw>
                </a:effectLst>
                <a:latin typeface="Comic Sans MS" pitchFamily="66" charset="0"/>
              </a:rPr>
              <a:t>Shift</a:t>
            </a:r>
            <a:r>
              <a:rPr lang="en-US" sz="3200" b="1" dirty="0" smtClean="0">
                <a:ln w="1905"/>
                <a:gradFill>
                  <a:gsLst>
                    <a:gs pos="0">
                      <a:schemeClr val="accent6">
                        <a:shade val="20000"/>
                        <a:satMod val="200000"/>
                      </a:schemeClr>
                    </a:gs>
                    <a:gs pos="78000">
                      <a:schemeClr val="accent6">
                        <a:tint val="90000"/>
                        <a:shade val="89000"/>
                        <a:satMod val="220000"/>
                      </a:schemeClr>
                    </a:gs>
                    <a:gs pos="100000">
                      <a:schemeClr val="accent6">
                        <a:tint val="12000"/>
                        <a:satMod val="255000"/>
                      </a:schemeClr>
                    </a:gs>
                  </a:gsLst>
                  <a:lin ang="5400000"/>
                </a:gradFill>
                <a:effectLst>
                  <a:innerShdw blurRad="69850" dist="43180" dir="5400000">
                    <a:srgbClr val="000000">
                      <a:alpha val="65000"/>
                    </a:srgbClr>
                  </a:innerShdw>
                </a:effectLst>
                <a:latin typeface="Comic Sans MS" pitchFamily="66" charset="0"/>
              </a:rPr>
              <a:t>)</a:t>
            </a:r>
            <a:endParaRPr lang="en-US" sz="3200" b="1" dirty="0">
              <a:ln w="1905"/>
              <a:gradFill>
                <a:gsLst>
                  <a:gs pos="0">
                    <a:schemeClr val="accent6">
                      <a:shade val="20000"/>
                      <a:satMod val="200000"/>
                    </a:schemeClr>
                  </a:gs>
                  <a:gs pos="78000">
                    <a:schemeClr val="accent6">
                      <a:tint val="90000"/>
                      <a:shade val="89000"/>
                      <a:satMod val="220000"/>
                    </a:schemeClr>
                  </a:gs>
                  <a:gs pos="100000">
                    <a:schemeClr val="accent6">
                      <a:tint val="12000"/>
                      <a:satMod val="255000"/>
                    </a:schemeClr>
                  </a:gs>
                </a:gsLst>
                <a:lin ang="5400000"/>
              </a:gradFill>
              <a:effectLst>
                <a:innerShdw blurRad="69850" dist="43180" dir="5400000">
                  <a:srgbClr val="000000">
                    <a:alpha val="65000"/>
                  </a:srgbClr>
                </a:innerShdw>
              </a:effectLst>
              <a:latin typeface="Comic Sans MS" pitchFamily="66" charset="0"/>
            </a:endParaRPr>
          </a:p>
        </p:txBody>
      </p:sp>
      <p:sp>
        <p:nvSpPr>
          <p:cNvPr id="93189" name="Rectangle 4"/>
          <p:cNvSpPr>
            <a:spLocks noChangeArrowheads="1"/>
          </p:cNvSpPr>
          <p:nvPr/>
        </p:nvSpPr>
        <p:spPr bwMode="auto">
          <a:xfrm>
            <a:off x="457200" y="1302603"/>
            <a:ext cx="8382000" cy="830997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</p:spPr>
        <p:txBody>
          <a:bodyPr wrap="square" anchor="ctr">
            <a:spAutoFit/>
          </a:bodyPr>
          <a:lstStyle/>
          <a:p>
            <a:pPr algn="just" eaLnBrk="0" hangingPunct="0">
              <a:spcBef>
                <a:spcPct val="0"/>
              </a:spcBef>
            </a:pPr>
            <a:r>
              <a:rPr lang="en-US" dirty="0">
                <a:solidFill>
                  <a:srgbClr val="000066"/>
                </a:solidFill>
                <a:latin typeface="Times New Roman" pitchFamily="18" charset="0"/>
                <a:cs typeface="Times New Roman" pitchFamily="18" charset="0"/>
              </a:rPr>
              <a:t>Shift of absorption maximum to </a:t>
            </a:r>
            <a:r>
              <a:rPr lang="en-US" dirty="0">
                <a:solidFill>
                  <a:srgbClr val="0033CC"/>
                </a:solidFill>
                <a:latin typeface="Times New Roman" pitchFamily="18" charset="0"/>
                <a:cs typeface="Times New Roman" pitchFamily="18" charset="0"/>
              </a:rPr>
              <a:t>shorter wavelength </a:t>
            </a:r>
            <a:r>
              <a:rPr lang="en-US" dirty="0">
                <a:solidFill>
                  <a:srgbClr val="000066"/>
                </a:solidFill>
                <a:latin typeface="Times New Roman" pitchFamily="18" charset="0"/>
                <a:cs typeface="Times New Roman" pitchFamily="18" charset="0"/>
              </a:rPr>
              <a:t>is known as </a:t>
            </a:r>
            <a:r>
              <a:rPr lang="en-US" dirty="0" err="1">
                <a:solidFill>
                  <a:srgbClr val="000066"/>
                </a:solidFill>
                <a:latin typeface="Times New Roman" pitchFamily="18" charset="0"/>
                <a:cs typeface="Times New Roman" pitchFamily="18" charset="0"/>
              </a:rPr>
              <a:t>hypsochromic</a:t>
            </a:r>
            <a:r>
              <a:rPr lang="en-US" dirty="0">
                <a:solidFill>
                  <a:srgbClr val="000066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 smtClean="0">
                <a:solidFill>
                  <a:srgbClr val="000066"/>
                </a:solidFill>
                <a:latin typeface="Times New Roman" pitchFamily="18" charset="0"/>
                <a:cs typeface="Times New Roman" pitchFamily="18" charset="0"/>
              </a:rPr>
              <a:t>shift (</a:t>
            </a:r>
            <a:r>
              <a:rPr lang="en-US" dirty="0" smtClean="0">
                <a:solidFill>
                  <a:srgbClr val="0033CC"/>
                </a:solidFill>
                <a:latin typeface="Times New Roman" pitchFamily="18" charset="0"/>
                <a:cs typeface="Times New Roman" pitchFamily="18" charset="0"/>
              </a:rPr>
              <a:t>blue shift</a:t>
            </a:r>
            <a:r>
              <a:rPr lang="en-US" dirty="0" smtClean="0">
                <a:solidFill>
                  <a:srgbClr val="000066"/>
                </a:solidFill>
                <a:latin typeface="Times New Roman" pitchFamily="18" charset="0"/>
                <a:cs typeface="Times New Roman" pitchFamily="18" charset="0"/>
              </a:rPr>
              <a:t>).  </a:t>
            </a:r>
            <a:endParaRPr lang="en-US" dirty="0">
              <a:solidFill>
                <a:srgbClr val="000066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9" name="Rectangle 8"/>
          <p:cNvSpPr/>
          <p:nvPr/>
        </p:nvSpPr>
        <p:spPr bwMode="auto">
          <a:xfrm>
            <a:off x="457200" y="2590800"/>
            <a:ext cx="8382000" cy="3657600"/>
          </a:xfrm>
          <a:prstGeom prst="rect">
            <a:avLst/>
          </a:prstGeom>
          <a:solidFill>
            <a:schemeClr val="bg1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  <a:scene3d>
            <a:camera prst="orthographicFront">
              <a:rot lat="0" lon="0" rev="0"/>
            </a:camera>
            <a:lightRig rig="glow" dir="t">
              <a:rot lat="0" lon="0" rev="4800000"/>
            </a:lightRig>
          </a:scene3d>
          <a:sp3d prstMaterial="matte">
            <a:bevelT w="127000" h="63500"/>
          </a:sp3d>
          <a:ex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2400" b="0" i="0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Times" panose="02020603050405020304" pitchFamily="18" charset="0"/>
            </a:endParaRPr>
          </a:p>
        </p:txBody>
      </p:sp>
      <p:grpSp>
        <p:nvGrpSpPr>
          <p:cNvPr id="2" name="Group 9"/>
          <p:cNvGrpSpPr/>
          <p:nvPr/>
        </p:nvGrpSpPr>
        <p:grpSpPr>
          <a:xfrm>
            <a:off x="533400" y="2743200"/>
            <a:ext cx="7848600" cy="2921407"/>
            <a:chOff x="533400" y="2600980"/>
            <a:chExt cx="7921951" cy="2921407"/>
          </a:xfrm>
        </p:grpSpPr>
        <p:sp>
          <p:nvSpPr>
            <p:cNvPr id="11" name="TextBox 10"/>
            <p:cNvSpPr txBox="1"/>
            <p:nvPr/>
          </p:nvSpPr>
          <p:spPr>
            <a:xfrm>
              <a:off x="533400" y="2600980"/>
              <a:ext cx="3276600" cy="52322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274320" indent="-274320" algn="just">
                <a:buFont typeface="Arial" pitchFamily="34" charset="0"/>
                <a:buChar char="•"/>
              </a:pPr>
              <a:r>
                <a:rPr lang="en-US" sz="2800" dirty="0" smtClean="0">
                  <a:solidFill>
                    <a:srgbClr val="0000FF"/>
                  </a:solidFill>
                  <a:latin typeface="Times New Roman" pitchFamily="18" charset="0"/>
                  <a:cs typeface="Times New Roman" pitchFamily="18" charset="0"/>
                </a:rPr>
                <a:t>Blue shift </a:t>
              </a:r>
              <a:r>
                <a:rPr lang="en-US" sz="2800" dirty="0" smtClean="0">
                  <a:solidFill>
                    <a:srgbClr val="000066"/>
                  </a:solidFill>
                  <a:latin typeface="Times New Roman" pitchFamily="18" charset="0"/>
                  <a:cs typeface="Times New Roman" pitchFamily="18" charset="0"/>
                </a:rPr>
                <a:t>occurs:</a:t>
              </a:r>
            </a:p>
          </p:txBody>
        </p:sp>
        <p:sp>
          <p:nvSpPr>
            <p:cNvPr id="12" name="TextBox 11"/>
            <p:cNvSpPr txBox="1"/>
            <p:nvPr/>
          </p:nvSpPr>
          <p:spPr>
            <a:xfrm>
              <a:off x="838200" y="3352562"/>
              <a:ext cx="7617151" cy="216982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514350" indent="-514350" algn="just">
                <a:spcAft>
                  <a:spcPts val="1800"/>
                </a:spcAft>
                <a:buClr>
                  <a:srgbClr val="0000FF"/>
                </a:buClr>
                <a:buAutoNum type="romanLcParenBoth"/>
              </a:pPr>
              <a:r>
                <a:rPr lang="en-US" dirty="0" smtClean="0">
                  <a:solidFill>
                    <a:srgbClr val="2D1585"/>
                  </a:solidFill>
                  <a:latin typeface="Times New Roman" pitchFamily="18" charset="0"/>
                  <a:cs typeface="Times New Roman" pitchFamily="18" charset="0"/>
                </a:rPr>
                <a:t>due to change of medium (n </a:t>
              </a:r>
              <a:r>
                <a:rPr lang="en-US" dirty="0" smtClean="0">
                  <a:solidFill>
                    <a:srgbClr val="2D1585"/>
                  </a:solidFill>
                  <a:latin typeface="Times New Roman" pitchFamily="18" charset="0"/>
                  <a:cs typeface="Times New Roman" pitchFamily="18" charset="0"/>
                  <a:sym typeface="Symbol" pitchFamily="18" charset="2"/>
                </a:rPr>
                <a:t></a:t>
              </a:r>
              <a:r>
                <a:rPr lang="en-US" dirty="0" smtClean="0">
                  <a:solidFill>
                    <a:srgbClr val="2D1585"/>
                  </a:solidFill>
                  <a:latin typeface="Times New Roman" pitchFamily="18" charset="0"/>
                  <a:cs typeface="Times New Roman" pitchFamily="18" charset="0"/>
                </a:rPr>
                <a:t> </a:t>
              </a:r>
              <a:r>
                <a:rPr lang="en-US" dirty="0" smtClean="0">
                  <a:solidFill>
                    <a:srgbClr val="2D1585"/>
                  </a:solidFill>
                  <a:latin typeface="Times New Roman" pitchFamily="18" charset="0"/>
                  <a:cs typeface="Times New Roman" pitchFamily="18" charset="0"/>
                  <a:sym typeface="Symbol" pitchFamily="18" charset="2"/>
                </a:rPr>
                <a:t></a:t>
              </a:r>
              <a:r>
                <a:rPr lang="en-US" dirty="0" smtClean="0">
                  <a:solidFill>
                    <a:srgbClr val="2D1585"/>
                  </a:solidFill>
                  <a:latin typeface="Times New Roman" pitchFamily="18" charset="0"/>
                  <a:cs typeface="Times New Roman" pitchFamily="18" charset="0"/>
                </a:rPr>
                <a:t>* transitions undergo </a:t>
              </a:r>
              <a:r>
                <a:rPr lang="en-US" dirty="0" err="1" smtClean="0">
                  <a:solidFill>
                    <a:srgbClr val="2D1585"/>
                  </a:solidFill>
                  <a:latin typeface="Times New Roman" pitchFamily="18" charset="0"/>
                  <a:cs typeface="Times New Roman" pitchFamily="18" charset="0"/>
                </a:rPr>
                <a:t>hypsochromic</a:t>
              </a:r>
              <a:r>
                <a:rPr lang="en-US" dirty="0" smtClean="0">
                  <a:solidFill>
                    <a:srgbClr val="2D1585"/>
                  </a:solidFill>
                  <a:latin typeface="Times New Roman" pitchFamily="18" charset="0"/>
                  <a:cs typeface="Times New Roman" pitchFamily="18" charset="0"/>
                </a:rPr>
                <a:t> shift with an increase in the polarity of solvent)</a:t>
              </a:r>
            </a:p>
            <a:p>
              <a:pPr marL="514350" indent="-514350" algn="just">
                <a:spcAft>
                  <a:spcPts val="1800"/>
                </a:spcAft>
                <a:buClr>
                  <a:srgbClr val="0000FF"/>
                </a:buClr>
                <a:buAutoNum type="romanLcParenBoth"/>
              </a:pPr>
              <a:r>
                <a:rPr lang="en-US" dirty="0" smtClean="0">
                  <a:solidFill>
                    <a:srgbClr val="2D1585"/>
                  </a:solidFill>
                  <a:latin typeface="Times New Roman" pitchFamily="18" charset="0"/>
                  <a:cs typeface="Times New Roman" pitchFamily="18" charset="0"/>
                </a:rPr>
                <a:t>when an </a:t>
              </a:r>
              <a:r>
                <a:rPr lang="en-US" dirty="0" err="1" smtClean="0">
                  <a:solidFill>
                    <a:srgbClr val="2D1585"/>
                  </a:solidFill>
                  <a:latin typeface="Times New Roman" pitchFamily="18" charset="0"/>
                  <a:cs typeface="Times New Roman" pitchFamily="18" charset="0"/>
                </a:rPr>
                <a:t>auxochrome</a:t>
              </a:r>
              <a:r>
                <a:rPr lang="en-US" dirty="0" smtClean="0">
                  <a:solidFill>
                    <a:srgbClr val="2D1585"/>
                  </a:solidFill>
                  <a:latin typeface="Times New Roman" pitchFamily="18" charset="0"/>
                  <a:cs typeface="Times New Roman" pitchFamily="18" charset="0"/>
                </a:rPr>
                <a:t> is attached to double bonds where n electrons (</a:t>
              </a:r>
              <a:r>
                <a:rPr lang="en-US" dirty="0" err="1" smtClean="0">
                  <a:solidFill>
                    <a:srgbClr val="2D1585"/>
                  </a:solidFill>
                  <a:latin typeface="Times New Roman" pitchFamily="18" charset="0"/>
                  <a:cs typeface="Times New Roman" pitchFamily="18" charset="0"/>
                </a:rPr>
                <a:t>eg</a:t>
              </a:r>
              <a:r>
                <a:rPr lang="en-US" dirty="0" smtClean="0">
                  <a:solidFill>
                    <a:srgbClr val="2D1585"/>
                  </a:solidFill>
                  <a:latin typeface="Times New Roman" pitchFamily="18" charset="0"/>
                  <a:cs typeface="Times New Roman" pitchFamily="18" charset="0"/>
                </a:rPr>
                <a:t>: C=O) are available.</a:t>
              </a:r>
              <a:endParaRPr lang="en-US" dirty="0">
                <a:solidFill>
                  <a:srgbClr val="2D1585"/>
                </a:solidFill>
              </a:endParaRPr>
            </a:p>
          </p:txBody>
        </p:sp>
      </p:grp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3" name="Text Box 2"/>
          <p:cNvSpPr txBox="1">
            <a:spLocks noChangeArrowheads="1"/>
          </p:cNvSpPr>
          <p:nvPr/>
        </p:nvSpPr>
        <p:spPr bwMode="auto">
          <a:xfrm>
            <a:off x="228600" y="159603"/>
            <a:ext cx="8686800" cy="830997"/>
          </a:xfrm>
          <a:prstGeom prst="rect">
            <a:avLst/>
          </a:prstGeom>
          <a:noFill/>
          <a:ln w="38100">
            <a:solidFill>
              <a:schemeClr val="bg1"/>
            </a:solidFill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algn="ctr"/>
            <a:r>
              <a:rPr lang="en-US" b="0" dirty="0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For </a:t>
            </a:r>
            <a:r>
              <a:rPr lang="en-US" b="0" dirty="0" err="1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auxochromic</a:t>
            </a:r>
            <a:r>
              <a:rPr lang="en-US" b="0" dirty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 substitution on the </a:t>
            </a:r>
            <a:r>
              <a:rPr lang="en-US" b="0" dirty="0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carbonyl compound, </a:t>
            </a:r>
            <a:r>
              <a:rPr lang="en-US" dirty="0" err="1" smtClean="0">
                <a:solidFill>
                  <a:srgbClr val="0000FF"/>
                </a:solidFill>
                <a:latin typeface="Times New Roman" pitchFamily="18" charset="0"/>
                <a:cs typeface="Times New Roman" pitchFamily="18" charset="0"/>
              </a:rPr>
              <a:t>hypsochromic</a:t>
            </a:r>
            <a:r>
              <a:rPr lang="en-US" dirty="0" smtClean="0">
                <a:solidFill>
                  <a:srgbClr val="0000FF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>
                <a:solidFill>
                  <a:srgbClr val="0000FF"/>
                </a:solidFill>
                <a:latin typeface="Times New Roman" pitchFamily="18" charset="0"/>
                <a:cs typeface="Times New Roman" pitchFamily="18" charset="0"/>
              </a:rPr>
              <a:t>(blue) shifts</a:t>
            </a:r>
            <a:r>
              <a:rPr lang="en-US" b="0" dirty="0">
                <a:solidFill>
                  <a:srgbClr val="0000FF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b="0" dirty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are observed for the </a:t>
            </a:r>
            <a:r>
              <a:rPr lang="en-US" b="0" i="1" dirty="0">
                <a:solidFill>
                  <a:srgbClr val="0000FF"/>
                </a:solidFill>
                <a:latin typeface="Times New Roman" pitchFamily="18" charset="0"/>
                <a:cs typeface="Times New Roman" pitchFamily="18" charset="0"/>
              </a:rPr>
              <a:t>n</a:t>
            </a:r>
            <a:r>
              <a:rPr lang="en-US" b="0" dirty="0">
                <a:solidFill>
                  <a:srgbClr val="0000FF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 smtClean="0">
                <a:solidFill>
                  <a:srgbClr val="0000FF"/>
                </a:solidFill>
                <a:latin typeface="Times New Roman" pitchFamily="18" charset="0"/>
                <a:cs typeface="Times New Roman" pitchFamily="18" charset="0"/>
                <a:sym typeface="Symbol" pitchFamily="18" charset="2"/>
              </a:rPr>
              <a:t> </a:t>
            </a:r>
            <a:r>
              <a:rPr lang="en-US" b="0" dirty="0" smtClean="0">
                <a:solidFill>
                  <a:srgbClr val="0000FF"/>
                </a:solidFill>
                <a:latin typeface="Times New Roman" pitchFamily="18" charset="0"/>
                <a:cs typeface="Times New Roman" pitchFamily="18" charset="0"/>
                <a:sym typeface="Symbol"/>
              </a:rPr>
              <a:t></a:t>
            </a:r>
            <a:r>
              <a:rPr lang="en-US" b="0" dirty="0" smtClean="0">
                <a:solidFill>
                  <a:srgbClr val="0000FF"/>
                </a:solidFill>
                <a:latin typeface="Times New Roman" pitchFamily="18" charset="0"/>
                <a:cs typeface="Times New Roman" pitchFamily="18" charset="0"/>
                <a:sym typeface="Wingdings" pitchFamily="2" charset="2"/>
              </a:rPr>
              <a:t>* </a:t>
            </a:r>
            <a:r>
              <a:rPr lang="en-US" b="0" dirty="0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  <a:sym typeface="Wingdings" pitchFamily="2" charset="2"/>
              </a:rPr>
              <a:t>transition</a:t>
            </a:r>
            <a:endParaRPr lang="en-US" b="0" dirty="0">
              <a:solidFill>
                <a:schemeClr val="tx1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17415" name="Text Box 22"/>
          <p:cNvSpPr txBox="1">
            <a:spLocks noChangeArrowheads="1"/>
          </p:cNvSpPr>
          <p:nvPr/>
        </p:nvSpPr>
        <p:spPr bwMode="auto">
          <a:xfrm>
            <a:off x="3962400" y="1678662"/>
            <a:ext cx="5105400" cy="4493538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marL="274320" indent="-274320" algn="just">
              <a:buClr>
                <a:srgbClr val="0000FF"/>
              </a:buClr>
              <a:buFont typeface="Arial" pitchFamily="34" charset="0"/>
              <a:buChar char="•"/>
            </a:pPr>
            <a:r>
              <a:rPr lang="en-US" sz="2200" b="0" dirty="0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In this case, when the carbonyl group is substituted by an </a:t>
            </a:r>
            <a:r>
              <a:rPr lang="en-US" sz="2200" b="0" dirty="0" err="1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auxochrome</a:t>
            </a:r>
            <a:r>
              <a:rPr lang="en-US" sz="2200" b="0" dirty="0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, the </a:t>
            </a:r>
            <a:r>
              <a:rPr lang="en-US" sz="2200" dirty="0" smtClean="0">
                <a:latin typeface="Times New Roman" pitchFamily="18" charset="0"/>
                <a:cs typeface="Times New Roman" pitchFamily="18" charset="0"/>
                <a:sym typeface="Symbol"/>
              </a:rPr>
              <a:t></a:t>
            </a:r>
            <a:r>
              <a:rPr lang="en-US" sz="2200" dirty="0" smtClean="0">
                <a:latin typeface="Times New Roman" pitchFamily="18" charset="0"/>
                <a:cs typeface="Times New Roman" pitchFamily="18" charset="0"/>
                <a:sym typeface="Wingdings" pitchFamily="2" charset="2"/>
              </a:rPr>
              <a:t>* orbital is raised, but the n level of the lone pair is left largely unaltered. So the </a:t>
            </a:r>
            <a:r>
              <a:rPr lang="en-US" sz="2000" i="1" dirty="0" smtClean="0">
                <a:solidFill>
                  <a:srgbClr val="0000FF"/>
                </a:solidFill>
                <a:latin typeface="Times New Roman" pitchFamily="18" charset="0"/>
                <a:cs typeface="Times New Roman" pitchFamily="18" charset="0"/>
              </a:rPr>
              <a:t>n</a:t>
            </a:r>
            <a:r>
              <a:rPr lang="en-US" sz="2000" dirty="0" smtClean="0">
                <a:solidFill>
                  <a:srgbClr val="0000FF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000" dirty="0" smtClean="0">
                <a:solidFill>
                  <a:srgbClr val="0000FF"/>
                </a:solidFill>
                <a:latin typeface="Times New Roman" pitchFamily="18" charset="0"/>
                <a:cs typeface="Times New Roman" pitchFamily="18" charset="0"/>
                <a:sym typeface="Symbol" pitchFamily="18" charset="2"/>
              </a:rPr>
              <a:t> </a:t>
            </a:r>
            <a:r>
              <a:rPr lang="en-US" sz="2000" dirty="0" smtClean="0">
                <a:solidFill>
                  <a:srgbClr val="0000FF"/>
                </a:solidFill>
                <a:latin typeface="Times New Roman" pitchFamily="18" charset="0"/>
                <a:cs typeface="Times New Roman" pitchFamily="18" charset="0"/>
                <a:sym typeface="Symbol"/>
              </a:rPr>
              <a:t></a:t>
            </a:r>
            <a:r>
              <a:rPr lang="en-US" sz="2000" dirty="0" smtClean="0">
                <a:solidFill>
                  <a:srgbClr val="0000FF"/>
                </a:solidFill>
                <a:latin typeface="Times New Roman" pitchFamily="18" charset="0"/>
                <a:cs typeface="Times New Roman" pitchFamily="18" charset="0"/>
                <a:sym typeface="Wingdings" pitchFamily="2" charset="2"/>
              </a:rPr>
              <a:t>*</a:t>
            </a:r>
            <a:r>
              <a:rPr lang="en-US" sz="2200" dirty="0" smtClean="0">
                <a:solidFill>
                  <a:srgbClr val="0000FF"/>
                </a:solidFill>
                <a:latin typeface="Times New Roman" pitchFamily="18" charset="0"/>
                <a:cs typeface="Times New Roman" pitchFamily="18" charset="0"/>
                <a:sym typeface="Wingdings" pitchFamily="2" charset="2"/>
              </a:rPr>
              <a:t> </a:t>
            </a:r>
            <a:r>
              <a:rPr lang="en-US" sz="2200" dirty="0" smtClean="0">
                <a:latin typeface="Times New Roman" pitchFamily="18" charset="0"/>
                <a:cs typeface="Times New Roman" pitchFamily="18" charset="0"/>
                <a:sym typeface="Wingdings" pitchFamily="2" charset="2"/>
              </a:rPr>
              <a:t>transition  is shifted to shorter wavelength (200-220 nm) range</a:t>
            </a:r>
          </a:p>
          <a:p>
            <a:pPr marL="274320" indent="-274320" algn="just">
              <a:buClr>
                <a:srgbClr val="FF0000"/>
              </a:buClr>
              <a:buFont typeface="Arial" pitchFamily="34" charset="0"/>
              <a:buChar char="•"/>
            </a:pPr>
            <a:endParaRPr lang="en-US" sz="2200" dirty="0">
              <a:solidFill>
                <a:srgbClr val="FF3300"/>
              </a:solidFill>
              <a:latin typeface="Times New Roman" pitchFamily="18" charset="0"/>
              <a:cs typeface="Times New Roman" pitchFamily="18" charset="0"/>
            </a:endParaRPr>
          </a:p>
          <a:p>
            <a:pPr marL="274320" indent="-274320" algn="just">
              <a:spcBef>
                <a:spcPct val="0"/>
              </a:spcBef>
              <a:buClr>
                <a:srgbClr val="FF0000"/>
              </a:buClr>
              <a:buFont typeface="Arial" pitchFamily="34" charset="0"/>
              <a:buChar char="•"/>
            </a:pPr>
            <a:endParaRPr lang="en-US" sz="2200" dirty="0">
              <a:solidFill>
                <a:srgbClr val="FF3300"/>
              </a:solidFill>
              <a:latin typeface="Times New Roman" pitchFamily="18" charset="0"/>
              <a:cs typeface="Times New Roman" pitchFamily="18" charset="0"/>
            </a:endParaRPr>
          </a:p>
          <a:p>
            <a:pPr marL="274320" indent="-274320" algn="just">
              <a:buClr>
                <a:srgbClr val="FF0000"/>
              </a:buClr>
              <a:buFont typeface="Arial" pitchFamily="34" charset="0"/>
              <a:buChar char="•"/>
            </a:pPr>
            <a:r>
              <a:rPr lang="en-US" sz="2200" b="0" dirty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It is important to note </a:t>
            </a:r>
            <a:r>
              <a:rPr lang="en-US" sz="2200" b="0" dirty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this is different </a:t>
            </a:r>
            <a:r>
              <a:rPr lang="en-US" sz="2200" b="0" dirty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from the </a:t>
            </a:r>
            <a:r>
              <a:rPr lang="en-US" sz="2200" b="0" dirty="0" err="1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auxochromic</a:t>
            </a:r>
            <a:r>
              <a:rPr lang="en-US" sz="2200" b="0" dirty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 effect on </a:t>
            </a:r>
            <a:r>
              <a:rPr lang="en-US" sz="2200" dirty="0" smtClean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  <a:sym typeface="Symbol"/>
              </a:rPr>
              <a:t></a:t>
            </a:r>
            <a:r>
              <a:rPr lang="en-US" sz="2200" b="0" dirty="0" smtClean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000" dirty="0" smtClean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  <a:sym typeface="Symbol" pitchFamily="18" charset="2"/>
              </a:rPr>
              <a:t> </a:t>
            </a:r>
            <a:r>
              <a:rPr lang="en-US" sz="2200" dirty="0" smtClean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  <a:sym typeface="Symbol"/>
              </a:rPr>
              <a:t></a:t>
            </a:r>
            <a:r>
              <a:rPr lang="en-US" sz="2200" b="0" dirty="0" smtClean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  <a:sym typeface="Wingdings" pitchFamily="2" charset="2"/>
              </a:rPr>
              <a:t>* </a:t>
            </a:r>
            <a:r>
              <a:rPr lang="en-US" sz="2200" b="0" dirty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  <a:sym typeface="Wingdings" pitchFamily="2" charset="2"/>
              </a:rPr>
              <a:t>which extends conjugation and causes a </a:t>
            </a:r>
            <a:r>
              <a:rPr lang="en-US" sz="2200" b="0" dirty="0" err="1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  <a:sym typeface="Wingdings" pitchFamily="2" charset="2"/>
              </a:rPr>
              <a:t>bathochromic</a:t>
            </a:r>
            <a:r>
              <a:rPr lang="en-US" sz="2200" b="0" dirty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  <a:sym typeface="Wingdings" pitchFamily="2" charset="2"/>
              </a:rPr>
              <a:t> shift </a:t>
            </a:r>
          </a:p>
          <a:p>
            <a:pPr marL="274320" indent="-274320" algn="just">
              <a:spcBef>
                <a:spcPct val="0"/>
              </a:spcBef>
              <a:buClr>
                <a:srgbClr val="FF0000"/>
              </a:buClr>
              <a:buFont typeface="Arial" pitchFamily="34" charset="0"/>
              <a:buChar char="•"/>
            </a:pPr>
            <a:endParaRPr lang="en-US" sz="2200" b="0" dirty="0">
              <a:solidFill>
                <a:schemeClr val="tx1"/>
              </a:solidFill>
              <a:latin typeface="Times New Roman" pitchFamily="18" charset="0"/>
              <a:cs typeface="Times New Roman" pitchFamily="18" charset="0"/>
              <a:sym typeface="Wingdings" pitchFamily="2" charset="2"/>
            </a:endParaRPr>
          </a:p>
        </p:txBody>
      </p:sp>
      <p:sp>
        <p:nvSpPr>
          <p:cNvPr id="14" name="Rectangle 13"/>
          <p:cNvSpPr/>
          <p:nvPr/>
        </p:nvSpPr>
        <p:spPr bwMode="auto">
          <a:xfrm>
            <a:off x="76200" y="1371600"/>
            <a:ext cx="3810000" cy="5257800"/>
          </a:xfrm>
          <a:prstGeom prst="rect">
            <a:avLst/>
          </a:prstGeom>
          <a:solidFill>
            <a:schemeClr val="bg1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>
            <a:outerShdw blurRad="190500" dist="228600" dir="2700000" algn="ctr">
              <a:srgbClr val="000000">
                <a:alpha val="30000"/>
              </a:srgbClr>
            </a:outerShdw>
          </a:effectLst>
          <a:scene3d>
            <a:camera prst="orthographicFront">
              <a:rot lat="0" lon="0" rev="0"/>
            </a:camera>
            <a:lightRig rig="glow" dir="t">
              <a:rot lat="0" lon="0" rev="4800000"/>
            </a:lightRig>
          </a:scene3d>
          <a:sp3d prstMaterial="matte">
            <a:bevelT w="127000" h="63500"/>
          </a:sp3d>
          <a:ex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2400" b="0" i="0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Times" panose="02020603050405020304" pitchFamily="18" charset="0"/>
            </a:endParaRPr>
          </a:p>
        </p:txBody>
      </p:sp>
      <p:grpSp>
        <p:nvGrpSpPr>
          <p:cNvPr id="2" name="Group 14"/>
          <p:cNvGrpSpPr/>
          <p:nvPr/>
        </p:nvGrpSpPr>
        <p:grpSpPr>
          <a:xfrm>
            <a:off x="152399" y="1295400"/>
            <a:ext cx="3733801" cy="5276850"/>
            <a:chOff x="152399" y="1295400"/>
            <a:chExt cx="3733801" cy="5276850"/>
          </a:xfrm>
        </p:grpSpPr>
        <p:grpSp>
          <p:nvGrpSpPr>
            <p:cNvPr id="3" name="Group 8"/>
            <p:cNvGrpSpPr>
              <a:grpSpLocks/>
            </p:cNvGrpSpPr>
            <p:nvPr/>
          </p:nvGrpSpPr>
          <p:grpSpPr bwMode="auto">
            <a:xfrm>
              <a:off x="2133600" y="1981200"/>
              <a:ext cx="1109663" cy="4190269"/>
              <a:chOff x="1248" y="993"/>
              <a:chExt cx="699" cy="2381"/>
            </a:xfrm>
          </p:grpSpPr>
          <p:sp>
            <p:nvSpPr>
              <p:cNvPr id="22" name="Text Box 25"/>
              <p:cNvSpPr txBox="1">
                <a:spLocks noChangeArrowheads="1"/>
              </p:cNvSpPr>
              <p:nvPr/>
            </p:nvSpPr>
            <p:spPr bwMode="auto">
              <a:xfrm>
                <a:off x="1248" y="993"/>
                <a:ext cx="699" cy="245"/>
              </a:xfrm>
              <a:prstGeom prst="rect">
                <a:avLst/>
              </a:prstGeom>
              <a:noFill/>
              <a:ln w="9525" algn="ctr">
                <a:noFill/>
                <a:miter lim="800000"/>
                <a:headEnd/>
                <a:tailEnd/>
              </a:ln>
            </p:spPr>
            <p:txBody>
              <a:bodyPr wrap="none">
                <a:spAutoFit/>
              </a:bodyPr>
              <a:lstStyle/>
              <a:p>
                <a:pPr algn="l">
                  <a:spcBef>
                    <a:spcPct val="0"/>
                  </a:spcBef>
                </a:pPr>
                <a:r>
                  <a:rPr lang="en-US" sz="2200" dirty="0">
                    <a:latin typeface="Times New Roman" pitchFamily="18" charset="0"/>
                    <a:cs typeface="Times New Roman" pitchFamily="18" charset="0"/>
                  </a:rPr>
                  <a:t>293 </a:t>
                </a:r>
                <a:r>
                  <a:rPr lang="en-US" sz="2200" dirty="0" smtClean="0">
                    <a:latin typeface="Times New Roman" pitchFamily="18" charset="0"/>
                    <a:cs typeface="Times New Roman" pitchFamily="18" charset="0"/>
                  </a:rPr>
                  <a:t>nm </a:t>
                </a:r>
                <a:endParaRPr lang="en-US" sz="2200" dirty="0">
                  <a:latin typeface="Times New Roman" pitchFamily="18" charset="0"/>
                  <a:cs typeface="Times New Roman" pitchFamily="18" charset="0"/>
                </a:endParaRPr>
              </a:p>
            </p:txBody>
          </p:sp>
          <p:sp>
            <p:nvSpPr>
              <p:cNvPr id="23" name="Text Box 26"/>
              <p:cNvSpPr txBox="1">
                <a:spLocks noChangeArrowheads="1"/>
              </p:cNvSpPr>
              <p:nvPr/>
            </p:nvSpPr>
            <p:spPr bwMode="auto">
              <a:xfrm>
                <a:off x="1248" y="1657"/>
                <a:ext cx="655" cy="245"/>
              </a:xfrm>
              <a:prstGeom prst="rect">
                <a:avLst/>
              </a:prstGeom>
              <a:noFill/>
              <a:ln w="9525" algn="ctr">
                <a:noFill/>
                <a:miter lim="800000"/>
                <a:headEnd/>
                <a:tailEnd/>
              </a:ln>
            </p:spPr>
            <p:txBody>
              <a:bodyPr wrap="none">
                <a:spAutoFit/>
              </a:bodyPr>
              <a:lstStyle/>
              <a:p>
                <a:pPr algn="l">
                  <a:spcBef>
                    <a:spcPct val="0"/>
                  </a:spcBef>
                </a:pPr>
                <a:r>
                  <a:rPr lang="en-US" sz="2200" dirty="0" smtClean="0">
                    <a:latin typeface="Times New Roman" pitchFamily="18" charset="0"/>
                    <a:cs typeface="Times New Roman" pitchFamily="18" charset="0"/>
                  </a:rPr>
                  <a:t>220 </a:t>
                </a:r>
                <a:r>
                  <a:rPr lang="en-US" sz="2200" dirty="0">
                    <a:latin typeface="Times New Roman" pitchFamily="18" charset="0"/>
                    <a:cs typeface="Times New Roman" pitchFamily="18" charset="0"/>
                  </a:rPr>
                  <a:t>nm</a:t>
                </a:r>
              </a:p>
            </p:txBody>
          </p:sp>
          <p:sp>
            <p:nvSpPr>
              <p:cNvPr id="24" name="Text Box 27"/>
              <p:cNvSpPr txBox="1">
                <a:spLocks noChangeArrowheads="1"/>
              </p:cNvSpPr>
              <p:nvPr/>
            </p:nvSpPr>
            <p:spPr bwMode="auto">
              <a:xfrm>
                <a:off x="1248" y="2393"/>
                <a:ext cx="655" cy="245"/>
              </a:xfrm>
              <a:prstGeom prst="rect">
                <a:avLst/>
              </a:prstGeom>
              <a:noFill/>
              <a:ln w="9525" algn="ctr">
                <a:noFill/>
                <a:miter lim="800000"/>
                <a:headEnd/>
                <a:tailEnd/>
              </a:ln>
            </p:spPr>
            <p:txBody>
              <a:bodyPr wrap="none">
                <a:spAutoFit/>
              </a:bodyPr>
              <a:lstStyle/>
              <a:p>
                <a:pPr algn="l">
                  <a:spcBef>
                    <a:spcPct val="0"/>
                  </a:spcBef>
                </a:pPr>
                <a:r>
                  <a:rPr lang="en-US" sz="2200" dirty="0" smtClean="0">
                    <a:latin typeface="Times New Roman" pitchFamily="18" charset="0"/>
                    <a:cs typeface="Times New Roman" pitchFamily="18" charset="0"/>
                  </a:rPr>
                  <a:t>207 </a:t>
                </a:r>
                <a:r>
                  <a:rPr lang="en-US" sz="2200" dirty="0">
                    <a:latin typeface="Times New Roman" pitchFamily="18" charset="0"/>
                    <a:cs typeface="Times New Roman" pitchFamily="18" charset="0"/>
                  </a:rPr>
                  <a:t>nm</a:t>
                </a:r>
              </a:p>
            </p:txBody>
          </p:sp>
          <p:sp>
            <p:nvSpPr>
              <p:cNvPr id="25" name="Text Box 28"/>
              <p:cNvSpPr txBox="1">
                <a:spLocks noChangeArrowheads="1"/>
              </p:cNvSpPr>
              <p:nvPr/>
            </p:nvSpPr>
            <p:spPr bwMode="auto">
              <a:xfrm>
                <a:off x="1248" y="3129"/>
                <a:ext cx="655" cy="245"/>
              </a:xfrm>
              <a:prstGeom prst="rect">
                <a:avLst/>
              </a:prstGeom>
              <a:noFill/>
              <a:ln w="9525" algn="ctr">
                <a:noFill/>
                <a:miter lim="800000"/>
                <a:headEnd/>
                <a:tailEnd/>
              </a:ln>
            </p:spPr>
            <p:txBody>
              <a:bodyPr wrap="none">
                <a:spAutoFit/>
              </a:bodyPr>
              <a:lstStyle/>
              <a:p>
                <a:pPr algn="l">
                  <a:spcBef>
                    <a:spcPct val="0"/>
                  </a:spcBef>
                </a:pPr>
                <a:r>
                  <a:rPr lang="en-US" sz="2200" dirty="0" smtClean="0">
                    <a:latin typeface="Times New Roman" pitchFamily="18" charset="0"/>
                    <a:cs typeface="Times New Roman" pitchFamily="18" charset="0"/>
                  </a:rPr>
                  <a:t>204 </a:t>
                </a:r>
                <a:r>
                  <a:rPr lang="en-US" sz="2200" dirty="0">
                    <a:latin typeface="Times New Roman" pitchFamily="18" charset="0"/>
                    <a:cs typeface="Times New Roman" pitchFamily="18" charset="0"/>
                  </a:rPr>
                  <a:t>nm</a:t>
                </a:r>
              </a:p>
            </p:txBody>
          </p:sp>
        </p:grpSp>
        <p:sp>
          <p:nvSpPr>
            <p:cNvPr id="17" name="Rectangle 17"/>
            <p:cNvSpPr>
              <a:spLocks noChangeArrowheads="1"/>
            </p:cNvSpPr>
            <p:nvPr/>
          </p:nvSpPr>
          <p:spPr bwMode="auto">
            <a:xfrm>
              <a:off x="2057400" y="1295400"/>
              <a:ext cx="1219200" cy="523875"/>
            </a:xfrm>
            <a:prstGeom prst="rect">
              <a:avLst/>
            </a:prstGeom>
            <a:noFill/>
            <a:ln w="9525" algn="ctr">
              <a:solidFill>
                <a:schemeClr val="bg1"/>
              </a:solidFill>
              <a:miter lim="800000"/>
              <a:headEnd/>
              <a:tailEnd/>
            </a:ln>
          </p:spPr>
          <p:txBody>
            <a:bodyPr wrap="square">
              <a:spAutoFit/>
            </a:bodyPr>
            <a:lstStyle/>
            <a:p>
              <a:pPr algn="ctr"/>
              <a:r>
                <a:rPr lang="en-US" sz="2800" dirty="0">
                  <a:solidFill>
                    <a:srgbClr val="0000FF"/>
                  </a:solidFill>
                  <a:sym typeface="Symbol" pitchFamily="18" charset="2"/>
                </a:rPr>
                <a:t></a:t>
              </a:r>
              <a:r>
                <a:rPr lang="en-US" sz="2800" baseline="-25000" dirty="0">
                  <a:solidFill>
                    <a:srgbClr val="0000FF"/>
                  </a:solidFill>
                  <a:sym typeface="Wingdings" pitchFamily="2" charset="2"/>
                </a:rPr>
                <a:t>max</a:t>
              </a:r>
            </a:p>
          </p:txBody>
        </p:sp>
        <p:sp>
          <p:nvSpPr>
            <p:cNvPr id="18" name="Rectangle 18"/>
            <p:cNvSpPr>
              <a:spLocks noChangeArrowheads="1"/>
            </p:cNvSpPr>
            <p:nvPr/>
          </p:nvSpPr>
          <p:spPr bwMode="auto">
            <a:xfrm>
              <a:off x="2667000" y="6172200"/>
              <a:ext cx="1219200" cy="400050"/>
            </a:xfrm>
            <a:prstGeom prst="rect">
              <a:avLst/>
            </a:prstGeom>
            <a:noFill/>
            <a:ln w="9525" algn="ctr">
              <a:noFill/>
              <a:miter lim="800000"/>
              <a:headEnd/>
              <a:tailEnd/>
            </a:ln>
          </p:spPr>
          <p:txBody>
            <a:bodyPr>
              <a:spAutoFit/>
            </a:bodyPr>
            <a:lstStyle/>
            <a:p>
              <a:r>
                <a:rPr lang="en-US" sz="2000" dirty="0">
                  <a:solidFill>
                    <a:srgbClr val="0000FF"/>
                  </a:solidFill>
                  <a:latin typeface="Times New Roman" pitchFamily="18" charset="0"/>
                  <a:cs typeface="Times New Roman" pitchFamily="18" charset="0"/>
                </a:rPr>
                <a:t>Blue </a:t>
              </a:r>
              <a:r>
                <a:rPr lang="en-US" sz="2000" dirty="0" smtClean="0">
                  <a:solidFill>
                    <a:srgbClr val="0000FF"/>
                  </a:solidFill>
                  <a:latin typeface="Times New Roman" pitchFamily="18" charset="0"/>
                  <a:cs typeface="Times New Roman" pitchFamily="18" charset="0"/>
                </a:rPr>
                <a:t>Shift</a:t>
              </a:r>
              <a:endParaRPr lang="en-US" sz="2000" dirty="0">
                <a:solidFill>
                  <a:srgbClr val="0000FF"/>
                </a:solidFill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19" name="Down Arrow 18"/>
            <p:cNvSpPr/>
            <p:nvPr/>
          </p:nvSpPr>
          <p:spPr bwMode="auto">
            <a:xfrm>
              <a:off x="3352800" y="1828800"/>
              <a:ext cx="228600" cy="4191000"/>
            </a:xfrm>
            <a:prstGeom prst="downArrow">
              <a:avLst/>
            </a:prstGeom>
            <a:solidFill>
              <a:schemeClr val="accent1"/>
            </a:solidFill>
            <a:ln w="9525" cap="flat" cmpd="sng" algn="ctr">
              <a:solidFill>
                <a:srgbClr val="0000FF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en-US" sz="2400" b="0" i="0" u="none" strike="noStrike" cap="none" normalizeH="0" baseline="0" smtClean="0">
                <a:ln>
                  <a:noFill/>
                </a:ln>
                <a:solidFill>
                  <a:schemeClr val="tx1"/>
                </a:solidFill>
                <a:effectLst/>
                <a:latin typeface="Times" panose="02020603050405020304" pitchFamily="18" charset="0"/>
              </a:endParaRPr>
            </a:p>
          </p:txBody>
        </p:sp>
        <p:graphicFrame>
          <p:nvGraphicFramePr>
            <p:cNvPr id="21" name="Object 3"/>
            <p:cNvGraphicFramePr>
              <a:graphicFrameLocks noChangeAspect="1"/>
            </p:cNvGraphicFramePr>
            <p:nvPr/>
          </p:nvGraphicFramePr>
          <p:xfrm>
            <a:off x="152399" y="1650400"/>
            <a:ext cx="1981201" cy="45218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24580" name="CS ChemDraw Drawing" r:id="rId3" imgW="1080516" imgH="2465832" progId="ChemDraw.Document.6.0">
                    <p:embed/>
                  </p:oleObj>
                </mc:Choice>
                <mc:Fallback>
                  <p:oleObj name="CS ChemDraw Drawing" r:id="rId3" imgW="1080516" imgH="2465832" progId="ChemDraw.Document.6.0">
                    <p:embed/>
                    <p:pic>
                      <p:nvPicPr>
                        <p:cNvPr id="0" name="Picture 2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4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152399" y="1650400"/>
                          <a:ext cx="1981201" cy="4521800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chemeClr val="accent1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chemeClr val="tx1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chemeClr val="bg2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</p:spTree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2770" name="Picture 2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1752600" y="2057400"/>
            <a:ext cx="5303520" cy="3824560"/>
          </a:xfrm>
          <a:prstGeom prst="rect">
            <a:avLst/>
          </a:prstGeom>
          <a:gradFill>
            <a:gsLst>
              <a:gs pos="0">
                <a:schemeClr val="accent1">
                  <a:shade val="30000"/>
                  <a:satMod val="115000"/>
                </a:schemeClr>
              </a:gs>
              <a:gs pos="50000">
                <a:schemeClr val="accent1">
                  <a:shade val="67500"/>
                  <a:satMod val="115000"/>
                </a:schemeClr>
              </a:gs>
              <a:gs pos="100000">
                <a:schemeClr val="accent1">
                  <a:shade val="100000"/>
                  <a:satMod val="115000"/>
                </a:schemeClr>
              </a:gs>
            </a:gsLst>
            <a:lin ang="5400000" scaled="0"/>
          </a:gradFill>
          <a:ln w="9525">
            <a:noFill/>
            <a:miter lim="800000"/>
            <a:headEnd/>
            <a:tailEnd/>
          </a:ln>
          <a:effectLst/>
        </p:spPr>
      </p:pic>
      <p:sp>
        <p:nvSpPr>
          <p:cNvPr id="8" name="TextBox 7"/>
          <p:cNvSpPr txBox="1"/>
          <p:nvPr/>
        </p:nvSpPr>
        <p:spPr>
          <a:xfrm>
            <a:off x="1143610" y="6096000"/>
            <a:ext cx="6857390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2800" i="1" dirty="0" smtClean="0">
                <a:latin typeface="Times New Roman" pitchFamily="18" charset="0"/>
                <a:cs typeface="Times New Roman" pitchFamily="18" charset="0"/>
              </a:rPr>
              <a:t>UV-spectra of acetone in hexane and in water </a:t>
            </a:r>
            <a:endParaRPr lang="en-US" sz="2800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10" name="Left Arrow 9"/>
          <p:cNvSpPr/>
          <p:nvPr/>
        </p:nvSpPr>
        <p:spPr bwMode="auto">
          <a:xfrm>
            <a:off x="3048000" y="1905000"/>
            <a:ext cx="1524000" cy="152400"/>
          </a:xfrm>
          <a:prstGeom prst="leftArrow">
            <a:avLst/>
          </a:prstGeom>
          <a:solidFill>
            <a:schemeClr val="bg2">
              <a:lumMod val="20000"/>
              <a:lumOff val="80000"/>
            </a:schemeClr>
          </a:solidFill>
          <a:ln w="9525" cap="flat" cmpd="sng" algn="ctr">
            <a:solidFill>
              <a:srgbClr val="0000FF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2400" b="0" i="0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Times" panose="02020603050405020304" pitchFamily="18" charset="0"/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3124200" y="1447800"/>
            <a:ext cx="1492716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 smtClean="0">
                <a:solidFill>
                  <a:srgbClr val="0000FF"/>
                </a:solidFill>
                <a:latin typeface="Times New Roman" pitchFamily="18" charset="0"/>
                <a:cs typeface="Times New Roman" pitchFamily="18" charset="0"/>
              </a:rPr>
              <a:t>Blue Shift</a:t>
            </a:r>
            <a:endParaRPr lang="en-US" b="1" dirty="0">
              <a:solidFill>
                <a:srgbClr val="0000FF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7" name="Rectangle 6"/>
          <p:cNvSpPr/>
          <p:nvPr/>
        </p:nvSpPr>
        <p:spPr>
          <a:xfrm>
            <a:off x="533400" y="304800"/>
            <a:ext cx="8382000" cy="83099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74320" indent="-274320" algn="just">
              <a:buFont typeface="Arial" pitchFamily="34" charset="0"/>
              <a:buChar char="•"/>
            </a:pPr>
            <a:r>
              <a:rPr lang="en-US" b="1" dirty="0" smtClean="0">
                <a:ln w="1905"/>
                <a:effectLst>
                  <a:innerShdw blurRad="69850" dist="43180" dir="5400000">
                    <a:srgbClr val="000000">
                      <a:alpha val="65000"/>
                    </a:srgbClr>
                  </a:innerShdw>
                </a:effectLst>
                <a:latin typeface="Times New Roman" pitchFamily="18" charset="0"/>
                <a:cs typeface="Times New Roman" pitchFamily="18" charset="0"/>
              </a:rPr>
              <a:t>The n </a:t>
            </a:r>
            <a:r>
              <a:rPr lang="en-US" b="1" dirty="0" smtClean="0">
                <a:ln w="1905"/>
                <a:effectLst>
                  <a:innerShdw blurRad="69850" dist="43180" dir="5400000">
                    <a:srgbClr val="000000">
                      <a:alpha val="65000"/>
                    </a:srgbClr>
                  </a:innerShdw>
                </a:effectLst>
                <a:latin typeface="Times New Roman" pitchFamily="18" charset="0"/>
                <a:cs typeface="Times New Roman" pitchFamily="18" charset="0"/>
                <a:sym typeface="Symbol" pitchFamily="18" charset="2"/>
              </a:rPr>
              <a:t></a:t>
            </a:r>
            <a:r>
              <a:rPr lang="en-US" b="1" dirty="0" smtClean="0">
                <a:ln w="1905"/>
                <a:effectLst>
                  <a:innerShdw blurRad="69850" dist="43180" dir="5400000">
                    <a:srgbClr val="000000">
                      <a:alpha val="65000"/>
                    </a:srgbClr>
                  </a:innerShdw>
                </a:effectLst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b="1" dirty="0" smtClean="0">
                <a:ln w="1905"/>
                <a:effectLst>
                  <a:innerShdw blurRad="69850" dist="43180" dir="5400000">
                    <a:srgbClr val="000000">
                      <a:alpha val="65000"/>
                    </a:srgbClr>
                  </a:innerShdw>
                </a:effectLst>
                <a:latin typeface="Times New Roman" pitchFamily="18" charset="0"/>
                <a:cs typeface="Times New Roman" pitchFamily="18" charset="0"/>
                <a:sym typeface="Symbol" pitchFamily="18" charset="2"/>
              </a:rPr>
              <a:t></a:t>
            </a:r>
            <a:r>
              <a:rPr lang="en-US" b="1" dirty="0" smtClean="0">
                <a:ln w="1905"/>
                <a:effectLst>
                  <a:innerShdw blurRad="69850" dist="43180" dir="5400000">
                    <a:srgbClr val="000000">
                      <a:alpha val="65000"/>
                    </a:srgbClr>
                  </a:innerShdw>
                </a:effectLst>
                <a:latin typeface="Times New Roman" pitchFamily="18" charset="0"/>
                <a:cs typeface="Times New Roman" pitchFamily="18" charset="0"/>
              </a:rPr>
              <a:t>* transitions undergo </a:t>
            </a:r>
            <a:r>
              <a:rPr lang="en-US" b="1" dirty="0" err="1" smtClean="0">
                <a:ln w="1905"/>
                <a:solidFill>
                  <a:srgbClr val="0000FF"/>
                </a:solidFill>
                <a:effectLst>
                  <a:innerShdw blurRad="69850" dist="43180" dir="5400000">
                    <a:srgbClr val="000000">
                      <a:alpha val="65000"/>
                    </a:srgbClr>
                  </a:innerShdw>
                </a:effectLst>
                <a:latin typeface="Times New Roman" pitchFamily="18" charset="0"/>
                <a:cs typeface="Times New Roman" pitchFamily="18" charset="0"/>
              </a:rPr>
              <a:t>hypsochromic</a:t>
            </a:r>
            <a:r>
              <a:rPr lang="en-US" b="1" dirty="0" smtClean="0">
                <a:ln w="1905"/>
                <a:solidFill>
                  <a:srgbClr val="0000FF"/>
                </a:solidFill>
                <a:effectLst>
                  <a:innerShdw blurRad="69850" dist="43180" dir="5400000">
                    <a:srgbClr val="000000">
                      <a:alpha val="65000"/>
                    </a:srgbClr>
                  </a:innerShdw>
                </a:effectLst>
                <a:latin typeface="Times New Roman" pitchFamily="18" charset="0"/>
                <a:cs typeface="Times New Roman" pitchFamily="18" charset="0"/>
              </a:rPr>
              <a:t> shift </a:t>
            </a:r>
            <a:r>
              <a:rPr lang="en-US" b="1" dirty="0" smtClean="0">
                <a:ln w="1905"/>
                <a:solidFill>
                  <a:srgbClr val="0033CC"/>
                </a:solidFill>
                <a:effectLst>
                  <a:innerShdw blurRad="69850" dist="43180" dir="5400000">
                    <a:srgbClr val="000000">
                      <a:alpha val="65000"/>
                    </a:srgbClr>
                  </a:innerShdw>
                </a:effectLst>
                <a:latin typeface="Times New Roman" pitchFamily="18" charset="0"/>
                <a:cs typeface="Times New Roman" pitchFamily="18" charset="0"/>
              </a:rPr>
              <a:t>(</a:t>
            </a:r>
            <a:r>
              <a:rPr lang="en-US" b="1" dirty="0" smtClean="0">
                <a:ln w="1905"/>
                <a:solidFill>
                  <a:srgbClr val="0000FF"/>
                </a:solidFill>
                <a:effectLst>
                  <a:innerShdw blurRad="69850" dist="43180" dir="5400000">
                    <a:srgbClr val="000000">
                      <a:alpha val="65000"/>
                    </a:srgbClr>
                  </a:innerShdw>
                </a:effectLst>
                <a:latin typeface="Times New Roman" pitchFamily="18" charset="0"/>
                <a:cs typeface="Times New Roman" pitchFamily="18" charset="0"/>
              </a:rPr>
              <a:t>blue shift</a:t>
            </a:r>
            <a:r>
              <a:rPr lang="en-US" b="1" dirty="0" smtClean="0">
                <a:ln w="1905"/>
                <a:solidFill>
                  <a:srgbClr val="0033CC"/>
                </a:solidFill>
                <a:effectLst>
                  <a:innerShdw blurRad="69850" dist="43180" dir="5400000">
                    <a:srgbClr val="000000">
                      <a:alpha val="65000"/>
                    </a:srgbClr>
                  </a:innerShdw>
                </a:effectLst>
                <a:latin typeface="Times New Roman" pitchFamily="18" charset="0"/>
                <a:cs typeface="Times New Roman" pitchFamily="18" charset="0"/>
              </a:rPr>
              <a:t>) </a:t>
            </a:r>
            <a:r>
              <a:rPr lang="en-US" b="1" dirty="0" smtClean="0">
                <a:ln w="1905"/>
                <a:effectLst>
                  <a:innerShdw blurRad="69850" dist="43180" dir="5400000">
                    <a:srgbClr val="000000">
                      <a:alpha val="65000"/>
                    </a:srgbClr>
                  </a:innerShdw>
                </a:effectLst>
                <a:latin typeface="Times New Roman" pitchFamily="18" charset="0"/>
                <a:cs typeface="Times New Roman" pitchFamily="18" charset="0"/>
              </a:rPr>
              <a:t>with an increase in the polarity of solvent</a:t>
            </a:r>
            <a:endParaRPr lang="en-US" b="1" dirty="0">
              <a:ln w="1905"/>
              <a:effectLst>
                <a:innerShdw blurRad="69850" dist="43180" dir="5400000">
                  <a:srgbClr val="000000">
                    <a:alpha val="65000"/>
                  </a:srgbClr>
                </a:innerShdw>
              </a:effectLst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50" name="Picture 2" descr="https://vlab.amrita.edu/userfiles/1/image/woodward.JP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129326" y="1097280"/>
            <a:ext cx="1756874" cy="2103120"/>
          </a:xfrm>
          <a:prstGeom prst="rect">
            <a:avLst/>
          </a:prstGeom>
          <a:noFill/>
          <a:ln w="28575">
            <a:solidFill>
              <a:schemeClr val="accent1"/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52" name="Picture 4" descr="https://vlab.amrita.edu/userfiles/1/image/fieser(1).jpg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944078" y="1097280"/>
            <a:ext cx="1718401" cy="2103120"/>
          </a:xfrm>
          <a:prstGeom prst="rect">
            <a:avLst/>
          </a:prstGeom>
          <a:noFill/>
          <a:ln w="28575">
            <a:solidFill>
              <a:schemeClr val="accent1"/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Rectangle 3"/>
          <p:cNvSpPr/>
          <p:nvPr/>
        </p:nvSpPr>
        <p:spPr>
          <a:xfrm>
            <a:off x="2209800" y="177225"/>
            <a:ext cx="4826962" cy="58477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3200" b="1" dirty="0">
                <a:solidFill>
                  <a:srgbClr val="FF0000"/>
                </a:solidFill>
                <a:latin typeface="Comic Sans MS" pitchFamily="66" charset="0"/>
              </a:rPr>
              <a:t>Woodward–</a:t>
            </a:r>
            <a:r>
              <a:rPr lang="en-US" sz="3200" b="1" dirty="0" err="1">
                <a:solidFill>
                  <a:srgbClr val="FF0000"/>
                </a:solidFill>
                <a:latin typeface="Comic Sans MS" pitchFamily="66" charset="0"/>
              </a:rPr>
              <a:t>Fieser</a:t>
            </a:r>
            <a:r>
              <a:rPr lang="en-US" sz="3200" b="1" dirty="0">
                <a:solidFill>
                  <a:srgbClr val="FF0000"/>
                </a:solidFill>
                <a:latin typeface="Comic Sans MS" pitchFamily="66" charset="0"/>
              </a:rPr>
              <a:t> </a:t>
            </a:r>
            <a:r>
              <a:rPr lang="en-US" sz="3200" b="1" dirty="0">
                <a:solidFill>
                  <a:srgbClr val="000099"/>
                </a:solidFill>
                <a:latin typeface="Comic Sans MS" pitchFamily="66" charset="0"/>
              </a:rPr>
              <a:t>Rules</a:t>
            </a:r>
            <a:endParaRPr lang="en-US" sz="3200" dirty="0">
              <a:solidFill>
                <a:srgbClr val="000099"/>
              </a:solidFill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147754" y="1764119"/>
            <a:ext cx="1909646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Robert Burns Woodward   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705600" y="1764119"/>
            <a:ext cx="2133600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Louis Frederick </a:t>
            </a:r>
            <a:r>
              <a:rPr lang="en-US" sz="2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Fieser</a:t>
            </a:r>
            <a:endParaRPr lang="en-US" sz="2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228600" y="3642479"/>
            <a:ext cx="8649627" cy="31393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 algn="just">
              <a:spcAft>
                <a:spcPts val="1800"/>
              </a:spcAft>
              <a:buClr>
                <a:srgbClr val="FF0000"/>
              </a:buClr>
              <a:buFont typeface="Arial" panose="020B0604020202020204" pitchFamily="34" charset="0"/>
              <a:buChar char="•"/>
            </a:pPr>
            <a:r>
              <a:rPr lang="en-US" sz="23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 </a:t>
            </a:r>
            <a:r>
              <a:rPr lang="en-US" sz="23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1945</a:t>
            </a:r>
            <a:r>
              <a:rPr lang="en-US" sz="23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Robert Burns Woodward gave certain rules for correlating </a:t>
            </a:r>
            <a:r>
              <a:rPr lang="en-US" sz="23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λ</a:t>
            </a:r>
            <a:r>
              <a:rPr lang="en-US" sz="2300" baseline="-25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max</a:t>
            </a:r>
            <a:r>
              <a:rPr lang="en-US" sz="2300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 </a:t>
            </a:r>
            <a:r>
              <a:rPr lang="en-US" sz="23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with molecular structure. </a:t>
            </a:r>
            <a:endParaRPr lang="en-US" sz="2300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 algn="just">
              <a:spcAft>
                <a:spcPts val="1800"/>
              </a:spcAft>
              <a:buClr>
                <a:srgbClr val="FF0000"/>
              </a:buClr>
              <a:buFont typeface="Arial" panose="020B0604020202020204" pitchFamily="34" charset="0"/>
              <a:buChar char="•"/>
            </a:pPr>
            <a:r>
              <a:rPr lang="en-US" sz="23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In </a:t>
            </a:r>
            <a:r>
              <a:rPr lang="en-US" sz="23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1959</a:t>
            </a:r>
            <a:r>
              <a:rPr lang="en-US" sz="23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Louis Frederick </a:t>
            </a:r>
            <a:r>
              <a:rPr lang="en-US" sz="23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Fieser</a:t>
            </a:r>
            <a:r>
              <a:rPr lang="en-US" sz="23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modified these rules with more experimental data, and the modified rule is known as Woodward-</a:t>
            </a:r>
            <a:r>
              <a:rPr lang="en-US" sz="23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Fieser</a:t>
            </a:r>
            <a:r>
              <a:rPr lang="en-US" sz="23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Rules. </a:t>
            </a:r>
            <a:endParaRPr lang="en-US" sz="2300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 algn="just">
              <a:spcAft>
                <a:spcPts val="1800"/>
              </a:spcAft>
              <a:buClr>
                <a:srgbClr val="FF0000"/>
              </a:buClr>
              <a:buFont typeface="Arial" panose="020B0604020202020204" pitchFamily="34" charset="0"/>
              <a:buChar char="•"/>
            </a:pPr>
            <a:r>
              <a:rPr lang="en-US" sz="23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It </a:t>
            </a:r>
            <a:r>
              <a:rPr lang="en-US" sz="23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is used to calculate the position and </a:t>
            </a:r>
            <a:r>
              <a:rPr lang="en-US" sz="2300" dirty="0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λ</a:t>
            </a:r>
            <a:r>
              <a:rPr lang="en-US" sz="2300" baseline="-25000" dirty="0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max</a:t>
            </a:r>
            <a:r>
              <a:rPr lang="en-US" sz="23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 for a given structure by relating the position and degree of substitution of </a:t>
            </a:r>
            <a:r>
              <a:rPr lang="en-US" sz="23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chromophore</a:t>
            </a:r>
            <a:r>
              <a:rPr lang="en-US" sz="23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255066881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1492143" y="162580"/>
            <a:ext cx="6051657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b="1" dirty="0" smtClean="0">
                <a:solidFill>
                  <a:srgbClr val="FF0000"/>
                </a:solidFill>
                <a:latin typeface="Comic Sans MS" pitchFamily="66" charset="0"/>
              </a:rPr>
              <a:t>Woodward–</a:t>
            </a:r>
            <a:r>
              <a:rPr lang="en-US" sz="2800" b="1" dirty="0" err="1" smtClean="0">
                <a:solidFill>
                  <a:srgbClr val="FF0000"/>
                </a:solidFill>
                <a:latin typeface="Comic Sans MS" pitchFamily="66" charset="0"/>
              </a:rPr>
              <a:t>Fieser</a:t>
            </a:r>
            <a:r>
              <a:rPr lang="en-US" sz="2800" b="1" dirty="0" smtClean="0">
                <a:solidFill>
                  <a:srgbClr val="FF0000"/>
                </a:solidFill>
                <a:latin typeface="Comic Sans MS" pitchFamily="66" charset="0"/>
              </a:rPr>
              <a:t> </a:t>
            </a:r>
            <a:r>
              <a:rPr lang="en-US" sz="2800" b="1" dirty="0" smtClean="0">
                <a:solidFill>
                  <a:srgbClr val="000099"/>
                </a:solidFill>
                <a:latin typeface="Comic Sans MS" pitchFamily="66" charset="0"/>
              </a:rPr>
              <a:t>Rules for </a:t>
            </a:r>
            <a:r>
              <a:rPr lang="en-US" sz="2800" b="1" dirty="0" err="1" smtClean="0">
                <a:solidFill>
                  <a:srgbClr val="FF0000"/>
                </a:solidFill>
                <a:latin typeface="Comic Sans MS" pitchFamily="66" charset="0"/>
              </a:rPr>
              <a:t>Diene</a:t>
            </a:r>
            <a:endParaRPr lang="en-US" sz="2800" b="1" dirty="0">
              <a:solidFill>
                <a:srgbClr val="FF0000"/>
              </a:solidFill>
              <a:latin typeface="Comic Sans MS" pitchFamily="66" charset="0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304800" y="838200"/>
            <a:ext cx="853440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en-US" sz="2300" dirty="0" smtClean="0">
                <a:latin typeface="Times New Roman" pitchFamily="18" charset="0"/>
                <a:cs typeface="Times New Roman" pitchFamily="18" charset="0"/>
              </a:rPr>
              <a:t>Woodward (1941) predicted </a:t>
            </a:r>
            <a:r>
              <a:rPr lang="en-US" sz="2300" dirty="0" err="1" smtClean="0">
                <a:latin typeface="Times New Roman" pitchFamily="18" charset="0"/>
                <a:cs typeface="Times New Roman" pitchFamily="18" charset="0"/>
              </a:rPr>
              <a:t>λ</a:t>
            </a:r>
            <a:r>
              <a:rPr lang="en-US" sz="2300" baseline="-25000" dirty="0" err="1" smtClean="0">
                <a:latin typeface="Times New Roman" pitchFamily="18" charset="0"/>
                <a:cs typeface="Times New Roman" pitchFamily="18" charset="0"/>
              </a:rPr>
              <a:t>max</a:t>
            </a:r>
            <a:r>
              <a:rPr lang="en-US" sz="2300" dirty="0" smtClean="0">
                <a:latin typeface="Times New Roman" pitchFamily="18" charset="0"/>
                <a:cs typeface="Times New Roman" pitchFamily="18" charset="0"/>
              </a:rPr>
              <a:t> values only for the energy transition (π </a:t>
            </a:r>
            <a:r>
              <a:rPr lang="en-US" sz="2300" dirty="0" smtClean="0">
                <a:latin typeface="Times New Roman"/>
                <a:cs typeface="Times New Roman"/>
                <a:sym typeface="Wingdings"/>
              </a:rPr>
              <a:t>→</a:t>
            </a:r>
            <a:r>
              <a:rPr lang="en-US" sz="2300" dirty="0" smtClean="0">
                <a:latin typeface="Times New Roman" pitchFamily="18" charset="0"/>
                <a:cs typeface="Times New Roman" pitchFamily="18" charset="0"/>
              </a:rPr>
              <a:t>π*) from HOMO to LUMO.</a:t>
            </a:r>
            <a:endParaRPr lang="en-US" sz="2300" dirty="0">
              <a:latin typeface="Times New Roman" pitchFamily="18" charset="0"/>
              <a:cs typeface="Times New Roman" pitchFamily="18" charset="0"/>
            </a:endParaRPr>
          </a:p>
        </p:txBody>
      </p:sp>
      <p:pic>
        <p:nvPicPr>
          <p:cNvPr id="1028" name="Picture 4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1752600" y="4267200"/>
            <a:ext cx="7167785" cy="2514600"/>
          </a:xfrm>
          <a:prstGeom prst="rect">
            <a:avLst/>
          </a:prstGeom>
          <a:noFill/>
          <a:ln w="9525">
            <a:solidFill>
              <a:schemeClr val="accent1"/>
            </a:solidFill>
            <a:miter lim="800000"/>
            <a:headEnd/>
            <a:tailEnd/>
          </a:ln>
          <a:effectLst/>
        </p:spPr>
      </p:pic>
      <p:pic>
        <p:nvPicPr>
          <p:cNvPr id="1029" name="Picture 5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685800" y="3200400"/>
            <a:ext cx="8281102" cy="9239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grpSp>
        <p:nvGrpSpPr>
          <p:cNvPr id="4" name="Group 14"/>
          <p:cNvGrpSpPr/>
          <p:nvPr/>
        </p:nvGrpSpPr>
        <p:grpSpPr>
          <a:xfrm>
            <a:off x="76200" y="1828800"/>
            <a:ext cx="8986080" cy="1219200"/>
            <a:chOff x="76200" y="2057400"/>
            <a:chExt cx="8986080" cy="1219200"/>
          </a:xfrm>
        </p:grpSpPr>
        <p:sp>
          <p:nvSpPr>
            <p:cNvPr id="5" name="TextBox 4"/>
            <p:cNvSpPr txBox="1"/>
            <p:nvPr/>
          </p:nvSpPr>
          <p:spPr>
            <a:xfrm>
              <a:off x="76200" y="2057400"/>
              <a:ext cx="7086600" cy="76944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182880" indent="-182880" algn="just">
                <a:buClr>
                  <a:srgbClr val="0000FF"/>
                </a:buClr>
                <a:buFont typeface="Arial" pitchFamily="34" charset="0"/>
                <a:buChar char="•"/>
              </a:pPr>
              <a:r>
                <a:rPr lang="en-US" sz="2200" dirty="0" smtClean="0">
                  <a:latin typeface="Times New Roman" pitchFamily="18" charset="0"/>
                  <a:cs typeface="Times New Roman" pitchFamily="18" charset="0"/>
                </a:rPr>
                <a:t>Base value for an </a:t>
              </a:r>
              <a:r>
                <a:rPr lang="en-US" sz="2200" dirty="0" err="1" smtClean="0">
                  <a:latin typeface="Times New Roman" pitchFamily="18" charset="0"/>
                  <a:cs typeface="Times New Roman" pitchFamily="18" charset="0"/>
                </a:rPr>
                <a:t>unsubstituted</a:t>
              </a:r>
              <a:r>
                <a:rPr lang="en-US" sz="2200" dirty="0" smtClean="0">
                  <a:latin typeface="Times New Roman" pitchFamily="18" charset="0"/>
                  <a:cs typeface="Times New Roman" pitchFamily="18" charset="0"/>
                </a:rPr>
                <a:t>, conjugated, acyclic or </a:t>
              </a:r>
              <a:r>
                <a:rPr lang="en-US" sz="2200" dirty="0" err="1" smtClean="0">
                  <a:solidFill>
                    <a:srgbClr val="FF0000"/>
                  </a:solidFill>
                  <a:latin typeface="Times New Roman" pitchFamily="18" charset="0"/>
                  <a:cs typeface="Times New Roman" pitchFamily="18" charset="0"/>
                </a:rPr>
                <a:t>heteroannular</a:t>
              </a:r>
              <a:r>
                <a:rPr lang="en-US" sz="2200" dirty="0" smtClean="0">
                  <a:solidFill>
                    <a:srgbClr val="FF0000"/>
                  </a:solidFill>
                  <a:latin typeface="Times New Roman" pitchFamily="18" charset="0"/>
                  <a:cs typeface="Times New Roman" pitchFamily="18" charset="0"/>
                </a:rPr>
                <a:t> </a:t>
              </a:r>
              <a:r>
                <a:rPr lang="en-US" sz="2200" dirty="0" err="1" smtClean="0">
                  <a:latin typeface="Times New Roman" pitchFamily="18" charset="0"/>
                  <a:cs typeface="Times New Roman" pitchFamily="18" charset="0"/>
                </a:rPr>
                <a:t>diene</a:t>
              </a:r>
              <a:endParaRPr lang="en-US" sz="2200" dirty="0"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6" name="TextBox 5"/>
            <p:cNvSpPr txBox="1"/>
            <p:nvPr/>
          </p:nvSpPr>
          <p:spPr>
            <a:xfrm>
              <a:off x="76200" y="2819400"/>
              <a:ext cx="7691208" cy="43088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marL="182880" indent="-182880" algn="just">
                <a:buClr>
                  <a:srgbClr val="0000FF"/>
                </a:buClr>
                <a:buFont typeface="Arial" pitchFamily="34" charset="0"/>
                <a:buChar char="•"/>
              </a:pPr>
              <a:r>
                <a:rPr lang="en-US" sz="2200" dirty="0" smtClean="0">
                  <a:latin typeface="Times New Roman" pitchFamily="18" charset="0"/>
                  <a:cs typeface="Times New Roman" pitchFamily="18" charset="0"/>
                </a:rPr>
                <a:t>Base value for an </a:t>
              </a:r>
              <a:r>
                <a:rPr lang="en-US" sz="2200" dirty="0" err="1" smtClean="0">
                  <a:latin typeface="Times New Roman" pitchFamily="18" charset="0"/>
                  <a:cs typeface="Times New Roman" pitchFamily="18" charset="0"/>
                </a:rPr>
                <a:t>unsubstituted</a:t>
              </a:r>
              <a:r>
                <a:rPr lang="en-US" sz="2200" dirty="0" smtClean="0">
                  <a:latin typeface="Times New Roman" pitchFamily="18" charset="0"/>
                  <a:cs typeface="Times New Roman" pitchFamily="18" charset="0"/>
                </a:rPr>
                <a:t>, conjugated, </a:t>
              </a:r>
              <a:r>
                <a:rPr lang="en-US" sz="2200" dirty="0" err="1" smtClean="0">
                  <a:solidFill>
                    <a:srgbClr val="0000FF"/>
                  </a:solidFill>
                  <a:latin typeface="Times New Roman" pitchFamily="18" charset="0"/>
                  <a:cs typeface="Times New Roman" pitchFamily="18" charset="0"/>
                </a:rPr>
                <a:t>homoannular</a:t>
              </a:r>
              <a:r>
                <a:rPr lang="en-US" sz="2200" dirty="0" smtClean="0">
                  <a:latin typeface="Times New Roman" pitchFamily="18" charset="0"/>
                  <a:cs typeface="Times New Roman" pitchFamily="18" charset="0"/>
                </a:rPr>
                <a:t> </a:t>
              </a:r>
              <a:r>
                <a:rPr lang="en-US" sz="2200" dirty="0" err="1" smtClean="0">
                  <a:latin typeface="Times New Roman" pitchFamily="18" charset="0"/>
                  <a:cs typeface="Times New Roman" pitchFamily="18" charset="0"/>
                </a:rPr>
                <a:t>diene</a:t>
              </a:r>
              <a:endParaRPr lang="en-US" sz="2200" dirty="0"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11" name="TextBox 10"/>
            <p:cNvSpPr txBox="1"/>
            <p:nvPr/>
          </p:nvSpPr>
          <p:spPr>
            <a:xfrm>
              <a:off x="7696200" y="2057400"/>
              <a:ext cx="1366080" cy="4616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 smtClean="0">
                  <a:solidFill>
                    <a:srgbClr val="0000FF"/>
                  </a:solidFill>
                  <a:latin typeface="Times New Roman" pitchFamily="18" charset="0"/>
                  <a:cs typeface="Times New Roman" pitchFamily="18" charset="0"/>
                </a:rPr>
                <a:t>= 214 nm</a:t>
              </a:r>
              <a:endParaRPr lang="en-US" dirty="0">
                <a:solidFill>
                  <a:srgbClr val="0000FF"/>
                </a:solidFill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14" name="TextBox 13"/>
            <p:cNvSpPr txBox="1"/>
            <p:nvPr/>
          </p:nvSpPr>
          <p:spPr>
            <a:xfrm>
              <a:off x="7696200" y="2814935"/>
              <a:ext cx="1366080" cy="4616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 smtClean="0">
                  <a:solidFill>
                    <a:srgbClr val="0000FF"/>
                  </a:solidFill>
                  <a:latin typeface="Times New Roman" pitchFamily="18" charset="0"/>
                  <a:cs typeface="Times New Roman" pitchFamily="18" charset="0"/>
                </a:rPr>
                <a:t>= 253 nm</a:t>
              </a:r>
              <a:endParaRPr lang="en-US" dirty="0">
                <a:solidFill>
                  <a:srgbClr val="0000FF"/>
                </a:solidFill>
                <a:latin typeface="Times New Roman" pitchFamily="18" charset="0"/>
                <a:cs typeface="Times New Roman" pitchFamily="18" charset="0"/>
              </a:endParaRPr>
            </a:p>
          </p:txBody>
        </p:sp>
      </p:grp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1447800" y="76200"/>
            <a:ext cx="6051657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b="1" dirty="0" smtClean="0">
                <a:solidFill>
                  <a:srgbClr val="FF0000"/>
                </a:solidFill>
                <a:latin typeface="Comic Sans MS" pitchFamily="66" charset="0"/>
              </a:rPr>
              <a:t>Woodward–</a:t>
            </a:r>
            <a:r>
              <a:rPr lang="en-US" sz="2800" b="1" dirty="0" err="1" smtClean="0">
                <a:solidFill>
                  <a:srgbClr val="FF0000"/>
                </a:solidFill>
                <a:latin typeface="Comic Sans MS" pitchFamily="66" charset="0"/>
              </a:rPr>
              <a:t>Fieser</a:t>
            </a:r>
            <a:r>
              <a:rPr lang="en-US" sz="2800" b="1" dirty="0" smtClean="0">
                <a:solidFill>
                  <a:srgbClr val="FF0000"/>
                </a:solidFill>
                <a:latin typeface="Comic Sans MS" pitchFamily="66" charset="0"/>
              </a:rPr>
              <a:t> </a:t>
            </a:r>
            <a:r>
              <a:rPr lang="en-US" sz="2800" b="1" dirty="0" smtClean="0">
                <a:solidFill>
                  <a:srgbClr val="000099"/>
                </a:solidFill>
                <a:latin typeface="Comic Sans MS" pitchFamily="66" charset="0"/>
              </a:rPr>
              <a:t>Rules for </a:t>
            </a:r>
            <a:r>
              <a:rPr lang="en-US" sz="2800" b="1" dirty="0" err="1" smtClean="0">
                <a:solidFill>
                  <a:srgbClr val="FF0000"/>
                </a:solidFill>
                <a:latin typeface="Comic Sans MS" pitchFamily="66" charset="0"/>
              </a:rPr>
              <a:t>Diene</a:t>
            </a:r>
            <a:endParaRPr lang="en-US" sz="2800" dirty="0">
              <a:solidFill>
                <a:srgbClr val="FF0000"/>
              </a:solidFill>
              <a:latin typeface="Comic Sans MS" pitchFamily="66" charset="0"/>
            </a:endParaRPr>
          </a:p>
        </p:txBody>
      </p:sp>
      <p:pic>
        <p:nvPicPr>
          <p:cNvPr id="2052" name="Picture 4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102230" y="2694034"/>
            <a:ext cx="8918596" cy="1914525"/>
          </a:xfrm>
          <a:prstGeom prst="rect">
            <a:avLst/>
          </a:prstGeom>
          <a:noFill/>
          <a:ln w="38100">
            <a:solidFill>
              <a:srgbClr val="FF99CC"/>
            </a:solidFill>
            <a:miter lim="800000"/>
            <a:headEnd/>
            <a:tailEnd/>
          </a:ln>
          <a:effectLst/>
        </p:spPr>
      </p:pic>
      <p:pic>
        <p:nvPicPr>
          <p:cNvPr id="2053" name="Picture 5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131122" y="4915879"/>
            <a:ext cx="8860812" cy="1588155"/>
          </a:xfrm>
          <a:prstGeom prst="rect">
            <a:avLst/>
          </a:prstGeom>
          <a:noFill/>
          <a:ln w="38100">
            <a:solidFill>
              <a:schemeClr val="accent1"/>
            </a:solidFill>
            <a:miter lim="800000"/>
            <a:headEnd/>
            <a:tailEnd/>
          </a:ln>
          <a:effectLst/>
        </p:spPr>
      </p:pic>
      <p:pic>
        <p:nvPicPr>
          <p:cNvPr id="2054" name="Picture 6"/>
          <p:cNvPicPr>
            <a:picLocks noChangeAspect="1" noChangeArrowheads="1"/>
          </p:cNvPicPr>
          <p:nvPr/>
        </p:nvPicPr>
        <p:blipFill>
          <a:blip r:embed="rId4"/>
          <a:srcRect/>
          <a:stretch>
            <a:fillRect/>
          </a:stretch>
        </p:blipFill>
        <p:spPr bwMode="auto">
          <a:xfrm>
            <a:off x="1094428" y="838200"/>
            <a:ext cx="6934200" cy="174629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6" name="Rectangle 5"/>
          <p:cNvSpPr/>
          <p:nvPr/>
        </p:nvSpPr>
        <p:spPr bwMode="auto">
          <a:xfrm>
            <a:off x="0" y="2617834"/>
            <a:ext cx="9144000" cy="2057400"/>
          </a:xfrm>
          <a:prstGeom prst="rect">
            <a:avLst/>
          </a:prstGeom>
          <a:solidFill>
            <a:schemeClr val="bg1"/>
          </a:solidFill>
          <a:ln w="9525" cap="flat" cmpd="sng" algn="ctr">
            <a:solidFill>
              <a:schemeClr val="bg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2400" b="0" i="0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Times" panose="02020603050405020304" pitchFamily="18" charset="0"/>
            </a:endParaRPr>
          </a:p>
        </p:txBody>
      </p:sp>
      <p:sp>
        <p:nvSpPr>
          <p:cNvPr id="7" name="Rectangle 6"/>
          <p:cNvSpPr/>
          <p:nvPr/>
        </p:nvSpPr>
        <p:spPr bwMode="auto">
          <a:xfrm>
            <a:off x="0" y="4522834"/>
            <a:ext cx="9144000" cy="2057400"/>
          </a:xfrm>
          <a:prstGeom prst="rect">
            <a:avLst/>
          </a:prstGeom>
          <a:solidFill>
            <a:schemeClr val="bg1"/>
          </a:solidFill>
          <a:ln w="9525" cap="flat" cmpd="sng" algn="ctr">
            <a:solidFill>
              <a:schemeClr val="bg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2400" b="0" i="0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Times" panose="02020603050405020304" pitchFamily="18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xit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ipe(left)">
                                      <p:cBhvr>
                                        <p:cTn id="6" dur="10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999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xit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ipe(left)">
                                      <p:cBhvr>
                                        <p:cTn id="11" dur="1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999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  <p:bldP spid="7" grpId="0" animBg="1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51" name="Picture 3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533400" y="838201"/>
            <a:ext cx="2651760" cy="183682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4" name="TextBox 3"/>
          <p:cNvSpPr txBox="1"/>
          <p:nvPr/>
        </p:nvSpPr>
        <p:spPr>
          <a:xfrm>
            <a:off x="3200400" y="152400"/>
            <a:ext cx="2900153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b="1" dirty="0" smtClean="0">
                <a:solidFill>
                  <a:srgbClr val="FF0000"/>
                </a:solidFill>
                <a:latin typeface="Comic Sans MS" pitchFamily="66" charset="0"/>
              </a:rPr>
              <a:t>Sample </a:t>
            </a:r>
            <a:r>
              <a:rPr lang="en-US" sz="2800" b="1" dirty="0" smtClean="0">
                <a:solidFill>
                  <a:srgbClr val="000099"/>
                </a:solidFill>
                <a:latin typeface="Comic Sans MS" pitchFamily="66" charset="0"/>
              </a:rPr>
              <a:t>Problem</a:t>
            </a:r>
            <a:endParaRPr lang="en-US" sz="2800" dirty="0">
              <a:solidFill>
                <a:srgbClr val="000099"/>
              </a:solidFill>
              <a:latin typeface="Comic Sans MS" pitchFamily="66" charset="0"/>
            </a:endParaRPr>
          </a:p>
        </p:txBody>
      </p:sp>
      <p:pic>
        <p:nvPicPr>
          <p:cNvPr id="2054" name="Picture 6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5029200" y="838200"/>
            <a:ext cx="2624330" cy="192024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2055" name="Picture 7"/>
          <p:cNvPicPr>
            <a:picLocks noChangeAspect="1" noChangeArrowheads="1"/>
          </p:cNvPicPr>
          <p:nvPr/>
        </p:nvPicPr>
        <p:blipFill>
          <a:blip r:embed="rId4"/>
          <a:srcRect/>
          <a:stretch>
            <a:fillRect/>
          </a:stretch>
        </p:blipFill>
        <p:spPr bwMode="auto">
          <a:xfrm>
            <a:off x="1219200" y="2971800"/>
            <a:ext cx="6675120" cy="372386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1000"/>
                                        <p:tgtEl>
                                          <p:spTgt spid="20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2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0" dur="1000"/>
                                        <p:tgtEl>
                                          <p:spTgt spid="205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076" name="Picture 4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1066800" y="914400"/>
            <a:ext cx="6798651" cy="5843469"/>
          </a:xfrm>
          <a:prstGeom prst="rect">
            <a:avLst/>
          </a:prstGeom>
          <a:noFill/>
          <a:ln w="9525">
            <a:solidFill>
              <a:schemeClr val="accent1"/>
            </a:solidFill>
            <a:miter lim="800000"/>
            <a:headEnd/>
            <a:tailEnd/>
          </a:ln>
          <a:effectLst/>
        </p:spPr>
      </p:pic>
      <p:sp>
        <p:nvSpPr>
          <p:cNvPr id="5" name="TextBox 4"/>
          <p:cNvSpPr txBox="1"/>
          <p:nvPr/>
        </p:nvSpPr>
        <p:spPr>
          <a:xfrm>
            <a:off x="1492143" y="162580"/>
            <a:ext cx="6051657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b="1" dirty="0" smtClean="0">
                <a:solidFill>
                  <a:srgbClr val="FF0000"/>
                </a:solidFill>
                <a:latin typeface="Comic Sans MS" pitchFamily="66" charset="0"/>
              </a:rPr>
              <a:t>Woodward–</a:t>
            </a:r>
            <a:r>
              <a:rPr lang="en-US" sz="2800" b="1" dirty="0" err="1" smtClean="0">
                <a:solidFill>
                  <a:srgbClr val="FF0000"/>
                </a:solidFill>
                <a:latin typeface="Comic Sans MS" pitchFamily="66" charset="0"/>
              </a:rPr>
              <a:t>Fieser</a:t>
            </a:r>
            <a:r>
              <a:rPr lang="en-US" sz="2800" b="1" dirty="0" smtClean="0">
                <a:solidFill>
                  <a:srgbClr val="FF0000"/>
                </a:solidFill>
                <a:latin typeface="Comic Sans MS" pitchFamily="66" charset="0"/>
              </a:rPr>
              <a:t> </a:t>
            </a:r>
            <a:r>
              <a:rPr lang="en-US" sz="2800" b="1" dirty="0" smtClean="0">
                <a:solidFill>
                  <a:srgbClr val="000099"/>
                </a:solidFill>
                <a:latin typeface="Comic Sans MS" pitchFamily="66" charset="0"/>
              </a:rPr>
              <a:t>Rules for </a:t>
            </a:r>
            <a:r>
              <a:rPr lang="en-US" sz="2800" b="1" dirty="0" err="1" smtClean="0">
                <a:solidFill>
                  <a:srgbClr val="FF0000"/>
                </a:solidFill>
                <a:latin typeface="Comic Sans MS" pitchFamily="66" charset="0"/>
              </a:rPr>
              <a:t>Diene</a:t>
            </a:r>
            <a:endParaRPr lang="en-US" sz="2800" dirty="0">
              <a:solidFill>
                <a:srgbClr val="FF0000"/>
              </a:solidFill>
              <a:latin typeface="Comic Sans MS" pitchFamily="66" charset="0"/>
            </a:endParaRPr>
          </a:p>
        </p:txBody>
      </p:sp>
      <p:sp>
        <p:nvSpPr>
          <p:cNvPr id="4" name="Rectangle 3"/>
          <p:cNvSpPr/>
          <p:nvPr/>
        </p:nvSpPr>
        <p:spPr bwMode="auto">
          <a:xfrm>
            <a:off x="3657600" y="990600"/>
            <a:ext cx="4114800" cy="1828800"/>
          </a:xfrm>
          <a:prstGeom prst="rect">
            <a:avLst/>
          </a:prstGeom>
          <a:solidFill>
            <a:schemeClr val="bg1"/>
          </a:solidFill>
          <a:ln w="9525" cap="flat" cmpd="sng" algn="ctr">
            <a:solidFill>
              <a:schemeClr val="bg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2400" b="0" i="0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Times" panose="02020603050405020304" pitchFamily="18" charset="0"/>
            </a:endParaRPr>
          </a:p>
        </p:txBody>
      </p:sp>
      <p:sp>
        <p:nvSpPr>
          <p:cNvPr id="6" name="Rectangle 5"/>
          <p:cNvSpPr/>
          <p:nvPr/>
        </p:nvSpPr>
        <p:spPr bwMode="auto">
          <a:xfrm>
            <a:off x="3657600" y="2895600"/>
            <a:ext cx="4114800" cy="1828800"/>
          </a:xfrm>
          <a:prstGeom prst="rect">
            <a:avLst/>
          </a:prstGeom>
          <a:solidFill>
            <a:schemeClr val="bg1"/>
          </a:solidFill>
          <a:ln w="9525" cap="flat" cmpd="sng" algn="ctr">
            <a:solidFill>
              <a:schemeClr val="bg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2400" b="0" i="0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Times" panose="02020603050405020304" pitchFamily="18" charset="0"/>
            </a:endParaRPr>
          </a:p>
        </p:txBody>
      </p:sp>
      <p:sp>
        <p:nvSpPr>
          <p:cNvPr id="7" name="Rectangle 6"/>
          <p:cNvSpPr/>
          <p:nvPr/>
        </p:nvSpPr>
        <p:spPr bwMode="auto">
          <a:xfrm>
            <a:off x="3657600" y="4953000"/>
            <a:ext cx="4114800" cy="1828800"/>
          </a:xfrm>
          <a:prstGeom prst="rect">
            <a:avLst/>
          </a:prstGeom>
          <a:solidFill>
            <a:schemeClr val="bg1"/>
          </a:solidFill>
          <a:ln w="9525" cap="flat" cmpd="sng" algn="ctr">
            <a:solidFill>
              <a:schemeClr val="bg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2400" b="0" i="0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Times" panose="02020603050405020304" pitchFamily="18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xit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ipe(left)">
                                      <p:cBhvr>
                                        <p:cTn id="6" dur="10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999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xit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ipe(left)">
                                      <p:cBhvr>
                                        <p:cTn id="11" dur="10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999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xit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ipe(left)">
                                      <p:cBhvr>
                                        <p:cTn id="16" dur="1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999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  <p:bldP spid="6" grpId="0" animBg="1"/>
      <p:bldP spid="7" grpId="0" animBg="1"/>
    </p:bld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1219200" y="152400"/>
            <a:ext cx="6152646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b="1" dirty="0" smtClean="0">
                <a:solidFill>
                  <a:srgbClr val="FF0000"/>
                </a:solidFill>
                <a:latin typeface="Comic Sans MS" pitchFamily="66" charset="0"/>
              </a:rPr>
              <a:t>Woodward-</a:t>
            </a:r>
            <a:r>
              <a:rPr lang="en-US" sz="2800" b="1" dirty="0" err="1" smtClean="0">
                <a:solidFill>
                  <a:srgbClr val="FF0000"/>
                </a:solidFill>
                <a:latin typeface="Comic Sans MS" pitchFamily="66" charset="0"/>
              </a:rPr>
              <a:t>Fieser</a:t>
            </a:r>
            <a:r>
              <a:rPr lang="en-US" sz="2800" b="1" dirty="0" smtClean="0">
                <a:solidFill>
                  <a:srgbClr val="FF0000"/>
                </a:solidFill>
                <a:latin typeface="Comic Sans MS" pitchFamily="66" charset="0"/>
              </a:rPr>
              <a:t> </a:t>
            </a:r>
            <a:r>
              <a:rPr lang="en-US" sz="2800" b="1" dirty="0" smtClean="0">
                <a:solidFill>
                  <a:srgbClr val="000099"/>
                </a:solidFill>
                <a:latin typeface="Comic Sans MS" pitchFamily="66" charset="0"/>
              </a:rPr>
              <a:t>Rule for </a:t>
            </a:r>
            <a:r>
              <a:rPr lang="en-US" sz="2800" b="1" dirty="0" err="1" smtClean="0">
                <a:solidFill>
                  <a:srgbClr val="FF0000"/>
                </a:solidFill>
                <a:latin typeface="Comic Sans MS" pitchFamily="66" charset="0"/>
              </a:rPr>
              <a:t>Enones</a:t>
            </a:r>
            <a:endParaRPr lang="en-US" sz="2800" dirty="0">
              <a:solidFill>
                <a:srgbClr val="FF0000"/>
              </a:solidFill>
              <a:latin typeface="Comic Sans MS" pitchFamily="66" charset="0"/>
            </a:endParaRPr>
          </a:p>
        </p:txBody>
      </p:sp>
      <p:pic>
        <p:nvPicPr>
          <p:cNvPr id="4098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431618" y="1295401"/>
            <a:ext cx="8293395" cy="2743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4099" name="Picture 3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152400" y="4648200"/>
            <a:ext cx="8851831" cy="18764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6" name="TextBox 5"/>
          <p:cNvSpPr txBox="1"/>
          <p:nvPr/>
        </p:nvSpPr>
        <p:spPr>
          <a:xfrm>
            <a:off x="152400" y="838200"/>
            <a:ext cx="1889748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274320" indent="-274320">
              <a:buFont typeface="Arial" pitchFamily="34" charset="0"/>
              <a:buChar char="•"/>
            </a:pPr>
            <a:r>
              <a:rPr lang="en-US" b="1" dirty="0" smtClean="0">
                <a:ln w="1905"/>
                <a:solidFill>
                  <a:srgbClr val="FF0000"/>
                </a:solidFill>
                <a:effectLst>
                  <a:innerShdw blurRad="69850" dist="43180" dir="5400000">
                    <a:srgbClr val="000000">
                      <a:alpha val="65000"/>
                    </a:srgbClr>
                  </a:innerShdw>
                </a:effectLst>
                <a:latin typeface="Times New Roman" pitchFamily="18" charset="0"/>
                <a:cs typeface="Times New Roman" pitchFamily="18" charset="0"/>
              </a:rPr>
              <a:t>Base Value</a:t>
            </a:r>
            <a:endParaRPr lang="en-US" b="1" dirty="0">
              <a:ln w="1905"/>
              <a:solidFill>
                <a:srgbClr val="FF0000"/>
              </a:solidFill>
              <a:effectLst>
                <a:innerShdw blurRad="69850" dist="43180" dir="5400000">
                  <a:srgbClr val="000000">
                    <a:alpha val="65000"/>
                  </a:srgbClr>
                </a:innerShdw>
              </a:effectLst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152400" y="4114800"/>
            <a:ext cx="2293128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274320" indent="-274320">
              <a:buFont typeface="Arial" pitchFamily="34" charset="0"/>
              <a:buChar char="•"/>
            </a:pPr>
            <a:r>
              <a:rPr lang="en-US" b="1" dirty="0" smtClean="0">
                <a:ln w="1905"/>
                <a:solidFill>
                  <a:srgbClr val="FF0000"/>
                </a:solidFill>
                <a:effectLst>
                  <a:innerShdw blurRad="69850" dist="43180" dir="5400000">
                    <a:srgbClr val="000000">
                      <a:alpha val="65000"/>
                    </a:srgbClr>
                  </a:innerShdw>
                </a:effectLst>
                <a:latin typeface="Times New Roman" pitchFamily="18" charset="0"/>
                <a:cs typeface="Times New Roman" pitchFamily="18" charset="0"/>
              </a:rPr>
              <a:t>Increment for</a:t>
            </a:r>
            <a:endParaRPr lang="en-US" b="1" dirty="0">
              <a:ln w="1905"/>
              <a:solidFill>
                <a:srgbClr val="FF0000"/>
              </a:solidFill>
              <a:effectLst>
                <a:innerShdw blurRad="69850" dist="43180" dir="5400000">
                  <a:srgbClr val="000000">
                    <a:alpha val="65000"/>
                  </a:srgbClr>
                </a:innerShdw>
              </a:effectLst>
              <a:latin typeface="Times New Roman" pitchFamily="18" charset="0"/>
              <a:cs typeface="Times New Roman" pitchFamily="18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4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1447800" y="245384"/>
            <a:ext cx="7315200" cy="646148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Blank">
  <a:themeElements>
    <a:clrScheme name="Blank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Blank">
      <a:majorFont>
        <a:latin typeface="Times"/>
        <a:ea typeface=""/>
        <a:cs typeface=""/>
      </a:majorFont>
      <a:minorFont>
        <a:latin typeface="Times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  <a:extLst>
          <a:ext uri="{AF507438-7753-43E0-B8FC-AC1667EBCBE1}">
            <a14:hiddenEffects xmlns:a14="http://schemas.microsoft.com/office/drawing/2010/main">
              <a:effectLst>
                <a:outerShdw dist="35921" dir="2700000" algn="ctr" rotWithShape="0">
                  <a:schemeClr val="bg2"/>
                </a:outerShdw>
              </a:effectLst>
            </a14:hiddenEffects>
          </a:ext>
        </a:extLst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0" fontAlgn="base" latinLnBrk="0" hangingPunct="0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24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Times" panose="02020603050405020304" pitchFamily="18" charset="0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  <a:extLst>
          <a:ext uri="{AF507438-7753-43E0-B8FC-AC1667EBCBE1}">
            <a14:hiddenEffects xmlns:a14="http://schemas.microsoft.com/office/drawing/2010/main">
              <a:effectLst>
                <a:outerShdw dist="35921" dir="2700000" algn="ctr" rotWithShape="0">
                  <a:schemeClr val="bg2"/>
                </a:outerShdw>
              </a:effectLst>
            </a14:hiddenEffects>
          </a:ext>
        </a:extLst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0" fontAlgn="base" latinLnBrk="0" hangingPunct="0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24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Times" panose="02020603050405020304" pitchFamily="18" charset="0"/>
          </a:defRPr>
        </a:defPPr>
      </a:lstStyle>
    </a:lnDef>
  </a:objectDefaults>
  <a:extraClrSchemeLst>
    <a:extraClrScheme>
      <a:clrScheme name="Blank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lank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lank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lank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lank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lank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Blank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713E39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BBAFAE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Blank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Blank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Blank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Blank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Blank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=""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=""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9188</TotalTime>
  <Words>635</Words>
  <Application>Microsoft Office PowerPoint</Application>
  <PresentationFormat>On-screen Show (4:3)</PresentationFormat>
  <Paragraphs>95</Paragraphs>
  <Slides>19</Slides>
  <Notes>2</Notes>
  <HiddenSlides>0</HiddenSlides>
  <MMClips>0</MMClips>
  <ScaleCrop>false</ScaleCrop>
  <HeadingPairs>
    <vt:vector size="6" baseType="variant">
      <vt:variant>
        <vt:lpstr>Theme</vt:lpstr>
      </vt:variant>
      <vt:variant>
        <vt:i4>1</vt:i4>
      </vt:variant>
      <vt:variant>
        <vt:lpstr>Embedded OLE Servers</vt:lpstr>
      </vt:variant>
      <vt:variant>
        <vt:i4>1</vt:i4>
      </vt:variant>
      <vt:variant>
        <vt:lpstr>Slide Titles</vt:lpstr>
      </vt:variant>
      <vt:variant>
        <vt:i4>19</vt:i4>
      </vt:variant>
    </vt:vector>
  </HeadingPairs>
  <TitlesOfParts>
    <vt:vector size="21" baseType="lpstr">
      <vt:lpstr>Blank</vt:lpstr>
      <vt:lpstr>CS ChemDraw Drawing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Tahmina Haque</dc:creator>
  <cp:lastModifiedBy>CHEM 205</cp:lastModifiedBy>
  <cp:revision>1493</cp:revision>
  <dcterms:created xsi:type="dcterms:W3CDTF">2006-02-07T16:59:36Z</dcterms:created>
  <dcterms:modified xsi:type="dcterms:W3CDTF">2023-08-03T20:04:25Z</dcterms:modified>
</cp:coreProperties>
</file>