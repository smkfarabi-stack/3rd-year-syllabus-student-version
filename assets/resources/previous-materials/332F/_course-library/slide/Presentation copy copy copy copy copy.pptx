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61" r:id="rId5"/>
    <p:sldId id="257" r:id="rId6"/>
    <p:sldId id="258" r:id="rId7"/>
    <p:sldId id="259" r:id="rId8"/>
    <p:sldId id="269" r:id="rId9"/>
    <p:sldId id="273" r:id="rId10"/>
    <p:sldId id="264" r:id="rId11"/>
    <p:sldId id="265" r:id="rId12"/>
    <p:sldId id="267" r:id="rId13"/>
    <p:sldId id="272" r:id="rId14"/>
    <p:sldId id="270" r:id="rId15"/>
    <p:sldId id="271" r:id="rId16"/>
    <p:sldId id="274" r:id="rId17"/>
    <p:sldId id="281" r:id="rId18"/>
    <p:sldId id="275" r:id="rId19"/>
    <p:sldId id="276" r:id="rId20"/>
    <p:sldId id="308" r:id="rId21"/>
    <p:sldId id="309" r:id="rId22"/>
    <p:sldId id="293" r:id="rId23"/>
    <p:sldId id="282" r:id="rId24"/>
    <p:sldId id="278" r:id="rId25"/>
    <p:sldId id="279" r:id="rId26"/>
    <p:sldId id="283" r:id="rId27"/>
    <p:sldId id="284" r:id="rId28"/>
    <p:sldId id="285" r:id="rId29"/>
    <p:sldId id="286" r:id="rId30"/>
    <p:sldId id="287" r:id="rId31"/>
    <p:sldId id="288" r:id="rId32"/>
    <p:sldId id="289" r:id="rId33"/>
    <p:sldId id="290" r:id="rId34"/>
    <p:sldId id="291" r:id="rId35"/>
    <p:sldId id="292" r:id="rId36"/>
    <p:sldId id="280" r:id="rId37"/>
    <p:sldId id="294" r:id="rId38"/>
    <p:sldId id="295" r:id="rId39"/>
    <p:sldId id="297" r:id="rId40"/>
    <p:sldId id="298" r:id="rId41"/>
    <p:sldId id="299" r:id="rId42"/>
    <p:sldId id="310" r:id="rId43"/>
    <p:sldId id="311" r:id="rId44"/>
    <p:sldId id="313" r:id="rId45"/>
    <p:sldId id="312" r:id="rId46"/>
    <p:sldId id="316" r:id="rId47"/>
    <p:sldId id="314" r:id="rId48"/>
    <p:sldId id="315" r:id="rId49"/>
    <p:sldId id="301" r:id="rId50"/>
    <p:sldId id="302" r:id="rId51"/>
    <p:sldId id="303" r:id="rId52"/>
    <p:sldId id="304" r:id="rId53"/>
    <p:sldId id="305" r:id="rId54"/>
    <p:sldId id="306" r:id="rId55"/>
    <p:sldId id="307" r:id="rId56"/>
    <p:sldId id="317" r:id="rId57"/>
    <p:sldId id="318" r:id="rId58"/>
    <p:sldId id="319" r:id="rId59"/>
    <p:sldId id="320" r:id="rId60"/>
    <p:sldId id="322" r:id="rId61"/>
    <p:sldId id="323" r:id="rId62"/>
    <p:sldId id="324" r:id="rId63"/>
    <p:sldId id="321" r:id="rId64"/>
    <p:sldId id="325" r:id="rId65"/>
    <p:sldId id="326" r:id="rId66"/>
    <p:sldId id="327" r:id="rId67"/>
    <p:sldId id="328" r:id="rId68"/>
    <p:sldId id="329" r:id="rId69"/>
    <p:sldId id="330" r:id="rId70"/>
    <p:sldId id="331" r:id="rId71"/>
    <p:sldId id="332" r:id="rId72"/>
    <p:sldId id="335" r:id="rId73"/>
    <p:sldId id="333" r:id="rId74"/>
    <p:sldId id="334" r:id="rId75"/>
    <p:sldId id="300" r:id="rId76"/>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4" d="100"/>
          <a:sy n="74" d="100"/>
        </p:scale>
        <p:origin x="-558" y="18"/>
      </p:cViewPr>
      <p:guideLst>
        <p:guide orient="horz" pos="218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x-non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x-none"/>
          </a:p>
        </p:txBody>
      </p:sp>
      <p:sp>
        <p:nvSpPr>
          <p:cNvPr id="4" name="Date Placeholder 3"/>
          <p:cNvSpPr>
            <a:spLocks noGrp="1"/>
          </p:cNvSpPr>
          <p:nvPr>
            <p:ph type="dt" sz="half" idx="10"/>
          </p:nvPr>
        </p:nvSpPr>
        <p:spPr/>
        <p:txBody>
          <a:bodyPr/>
          <a:lstStyle/>
          <a:p>
            <a:fld id="{732E3DF8-007D-574C-9529-ADA8A01AAAB1}"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x-none"/>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4" name="Date Placeholder 3"/>
          <p:cNvSpPr>
            <a:spLocks noGrp="1"/>
          </p:cNvSpPr>
          <p:nvPr>
            <p:ph type="dt" sz="half" idx="10"/>
          </p:nvPr>
        </p:nvSpPr>
        <p:spPr/>
        <p:txBody>
          <a:bodyPr/>
          <a:lstStyle/>
          <a:p>
            <a:fld id="{732E3DF8-007D-574C-9529-ADA8A01AAAB1}"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x-non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732E3DF8-007D-574C-9529-ADA8A01AAAB1}"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x-none"/>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5" name="Date Placeholder 4"/>
          <p:cNvSpPr>
            <a:spLocks noGrp="1"/>
          </p:cNvSpPr>
          <p:nvPr>
            <p:ph type="dt" sz="half" idx="10"/>
          </p:nvPr>
        </p:nvSpPr>
        <p:spPr/>
        <p:txBody>
          <a:bodyPr/>
          <a:lstStyle/>
          <a:p>
            <a:fld id="{732E3DF8-007D-574C-9529-ADA8A01AAAB1}"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x-non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7" name="Date Placeholder 6"/>
          <p:cNvSpPr>
            <a:spLocks noGrp="1"/>
          </p:cNvSpPr>
          <p:nvPr>
            <p:ph type="dt" sz="half" idx="10"/>
          </p:nvPr>
        </p:nvSpPr>
        <p:spPr/>
        <p:txBody>
          <a:bodyPr/>
          <a:lstStyle/>
          <a:p>
            <a:fld id="{732E3DF8-007D-574C-9529-ADA8A01AAAB1}" type="datetimeFigureOut">
              <a:rPr lang="x-none" smtClean="0"/>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x-none"/>
          </a:p>
        </p:txBody>
      </p:sp>
      <p:sp>
        <p:nvSpPr>
          <p:cNvPr id="3" name="Date Placeholder 2"/>
          <p:cNvSpPr>
            <a:spLocks noGrp="1"/>
          </p:cNvSpPr>
          <p:nvPr>
            <p:ph type="dt" sz="half" idx="10"/>
          </p:nvPr>
        </p:nvSpPr>
        <p:spPr/>
        <p:txBody>
          <a:bodyPr/>
          <a:lstStyle/>
          <a:p>
            <a:fld id="{732E3DF8-007D-574C-9529-ADA8A01AAAB1}" type="datetimeFigureOut">
              <a:rPr lang="x-none" smtClean="0"/>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2E3DF8-007D-574C-9529-ADA8A01AAAB1}" type="datetimeFigureOut">
              <a:rPr lang="x-none" smtClean="0"/>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732E3DF8-007D-574C-9529-ADA8A01AAAB1}"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732E3DF8-007D-574C-9529-ADA8A01AAAB1}" type="datetimeFigureOut">
              <a:rPr lang="x-none" smtClean="0"/>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4" name="Date Placeholder 3"/>
          <p:cNvSpPr>
            <a:spLocks noGrp="1"/>
          </p:cNvSpPr>
          <p:nvPr>
            <p:ph type="dt" sz="half" idx="10"/>
          </p:nvPr>
        </p:nvSpPr>
        <p:spPr/>
        <p:txBody>
          <a:bodyPr/>
          <a:lstStyle/>
          <a:p>
            <a:fld id="{732E3DF8-007D-574C-9529-ADA8A01AAAB1}"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x-non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4" name="Date Placeholder 3"/>
          <p:cNvSpPr>
            <a:spLocks noGrp="1"/>
          </p:cNvSpPr>
          <p:nvPr>
            <p:ph type="dt" sz="half" idx="10"/>
          </p:nvPr>
        </p:nvSpPr>
        <p:spPr/>
        <p:txBody>
          <a:bodyPr/>
          <a:lstStyle/>
          <a:p>
            <a:fld id="{732E3DF8-007D-574C-9529-ADA8A01AAAB1}" type="datetimeFigureOut">
              <a:rPr lang="x-none" smtClean="0"/>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1295514-F10D-5E45-9CBF-9BC22B38462B}" type="slidenum">
              <a:rPr lang="x-none" smtClean="0"/>
            </a:fld>
            <a:endParaRPr lang="x-non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x-non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x-non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2E3DF8-007D-574C-9529-ADA8A01AAAB1}" type="datetimeFigureOut">
              <a:rPr lang="x-none" smtClean="0"/>
            </a:fld>
            <a:endParaRPr 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295514-F10D-5E45-9CBF-9BC22B38462B}" type="slidenum">
              <a:rPr lang="x-none" smtClean="0"/>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jpe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87795" y="2508405"/>
            <a:ext cx="1828800" cy="1828800"/>
          </a:xfrm>
          <a:prstGeom prst="rect">
            <a:avLst/>
          </a:prstGeom>
          <a:noFill/>
        </p:spPr>
        <p:txBody>
          <a:bodyPr wrap="square" rtlCol="0">
            <a:spAutoFit/>
          </a:bodyPr>
          <a:lstStyle/>
          <a:p>
            <a:pPr algn="l"/>
            <a:endParaRPr lang="x-none"/>
          </a:p>
        </p:txBody>
      </p:sp>
      <p:pic>
        <p:nvPicPr>
          <p:cNvPr id="6" name="Picture 2" descr="TERPENOIDS&#10;ASWATHY .J&#10;M. pharm first year&#10;Department of pharmaceutical&#10;chemistry&#10;Ezhuthachan college of pharmaceutical&#10;sci..."/>
          <p:cNvPicPr>
            <a:picLocks noGrp="1" noChangeAspect="1" noChangeArrowheads="1"/>
          </p:cNvPicPr>
          <p:nvPr>
            <p:ph idx="1"/>
          </p:nvPr>
        </p:nvPicPr>
        <p:blipFill>
          <a:blip r:embed="rId1"/>
          <a:srcRect/>
          <a:stretch>
            <a:fillRect/>
          </a:stretch>
        </p:blipFill>
        <p:spPr bwMode="auto">
          <a:xfrm>
            <a:off x="0" y="0"/>
            <a:ext cx="12207875" cy="721296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Examples of terpenoids&#10;Geraniol, Citronellol,&#10;Farnesol&#10;Limonene, Citral Eugenol&#10; "/>
          <p:cNvPicPr>
            <a:picLocks noChangeAspect="1" noChangeArrowheads="1"/>
          </p:cNvPicPr>
          <p:nvPr/>
        </p:nvPicPr>
        <p:blipFill>
          <a:blip r:embed="rId1"/>
          <a:srcRect/>
          <a:stretch>
            <a:fillRect/>
          </a:stretch>
        </p:blipFill>
        <p:spPr bwMode="auto">
          <a:xfrm>
            <a:off x="454567" y="0"/>
            <a:ext cx="10572750" cy="718673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HYSICAL PROPERTIES&#10;• Terpenoids are colourless liquid&#10;• Soluble in organic solvents and insoluble in water.&#10;• Most of the..."/>
          <p:cNvPicPr>
            <a:picLocks noChangeAspect="1" noChangeArrowheads="1"/>
          </p:cNvPicPr>
          <p:nvPr/>
        </p:nvPicPr>
        <p:blipFill>
          <a:blip r:embed="rId1"/>
          <a:srcRect/>
          <a:stretch>
            <a:fillRect/>
          </a:stretch>
        </p:blipFill>
        <p:spPr bwMode="auto">
          <a:xfrm>
            <a:off x="-76200" y="990600"/>
            <a:ext cx="12344400" cy="514667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78780"/>
            <a:ext cx="12049513" cy="6300439"/>
          </a:xfrm>
        </p:spPr>
        <p:txBody>
          <a:bodyPr>
            <a:normAutofit/>
          </a:bodyPr>
          <a:lstStyle/>
          <a:p>
            <a:r>
              <a:rPr lang="en-GB" sz="4400" dirty="0">
                <a:latin typeface="Times New Roman" panose="02020603050405020304" pitchFamily="34" charset="0"/>
              </a:rPr>
              <a:t>The terpenoids ,sometimes called </a:t>
            </a:r>
            <a:r>
              <a:rPr lang="en-GB" sz="4400" dirty="0" err="1">
                <a:latin typeface="Times New Roman" panose="02020603050405020304" pitchFamily="34" charset="0"/>
              </a:rPr>
              <a:t>isoprenoids</a:t>
            </a:r>
            <a:r>
              <a:rPr lang="en-GB" sz="4400" dirty="0">
                <a:latin typeface="Times New Roman" panose="02020603050405020304" pitchFamily="34" charset="0"/>
              </a:rPr>
              <a:t>, are a large and diverse class of naturally occurring organic chemicals derived from terpenes.About 60% of known natural products are terpenoids.</a:t>
            </a:r>
            <a:endParaRPr lang="en-GB" sz="4400" dirty="0">
              <a:latin typeface="Times New Roman" panose="02020603050405020304" pitchFamily="34" charset="0"/>
            </a:endParaRPr>
          </a:p>
          <a:p>
            <a:r>
              <a:rPr lang="en-GB" sz="4400" dirty="0">
                <a:latin typeface="Times New Roman" panose="02020603050405020304" pitchFamily="34" charset="0"/>
              </a:rPr>
              <a:t>Essential oils:The essential oils are complex mixtures of hydrocarbons &amp; their oxygenated derivatives. Among the chief constituents of the essential oils are the terpenoids having carbon atoms </a:t>
            </a:r>
            <a:r>
              <a:rPr lang="en-GB" sz="4400" dirty="0" err="1">
                <a:latin typeface="Times New Roman" panose="02020603050405020304" pitchFamily="34" charset="0"/>
              </a:rPr>
              <a:t>upto</a:t>
            </a:r>
            <a:r>
              <a:rPr lang="en-GB" sz="4400" dirty="0">
                <a:latin typeface="Times New Roman" panose="02020603050405020304" pitchFamily="34" charset="0"/>
              </a:rPr>
              <a:t> C15 and their oxygenated derivatives Such as alcohols, aldehydes &amp; ketones.</a:t>
            </a:r>
            <a:endParaRPr lang="x-none" sz="4400" dirty="0">
              <a:latin typeface="Times New Roman" panose="020206030504050203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HEMICAL PROPERTIES&#10;• They are unsaturated compounds.&#10;• They undergo addition reaction with hydrogen, halogen, halogen&#10;aci..."/>
          <p:cNvPicPr>
            <a:picLocks noGrp="1" noChangeAspect="1" noChangeArrowheads="1"/>
          </p:cNvPicPr>
          <p:nvPr>
            <p:ph idx="1"/>
          </p:nvPr>
        </p:nvPicPr>
        <p:blipFill>
          <a:blip r:embed="rId1"/>
          <a:srcRect/>
          <a:stretch>
            <a:fillRect/>
          </a:stretch>
        </p:blipFill>
        <p:spPr bwMode="auto">
          <a:xfrm>
            <a:off x="0" y="-371707"/>
            <a:ext cx="12192000" cy="7743902"/>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SOLATION OF TERPENOIDS&#10;i) Isolation of essential oils from plant parts&#10;• a) Steam distillation method&#10;• b) Solvent extrac..."/>
          <p:cNvPicPr>
            <a:picLocks noGrp="1" noChangeAspect="1" noChangeArrowheads="1"/>
          </p:cNvPicPr>
          <p:nvPr>
            <p:ph idx="1"/>
          </p:nvPr>
        </p:nvPicPr>
        <p:blipFill>
          <a:blip r:embed="rId1"/>
          <a:srcRect/>
          <a:stretch>
            <a:fillRect/>
          </a:stretch>
        </p:blipFill>
        <p:spPr bwMode="auto">
          <a:xfrm>
            <a:off x="588536" y="371707"/>
            <a:ext cx="11603463" cy="6486293"/>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Classification: </a:t>
            </a:r>
            <a:r>
              <a:rPr lang="en-GB" dirty="0" err="1"/>
              <a:t>Terpinoid</a:t>
            </a:r>
            <a:r>
              <a:rPr lang="en-GB" dirty="0"/>
              <a:t> hydrocarbons are classified on the basis of the no of isoprene units which they contain.</a:t>
            </a:r>
            <a:endParaRPr lang="x-none" dirty="0"/>
          </a:p>
        </p:txBody>
      </p:sp>
      <p:pic>
        <p:nvPicPr>
          <p:cNvPr id="5" name="Picture 2" descr="ii) Monocyclic monoterpenoids&#10;iii) Bicyclic monoterpenoids&#10;The size of the first ring (six membered) in terpenoid is same ..."/>
          <p:cNvPicPr>
            <a:picLocks noGrp="1" noChangeAspect="1" noChangeArrowheads="1"/>
          </p:cNvPicPr>
          <p:nvPr>
            <p:ph idx="1"/>
          </p:nvPr>
        </p:nvPicPr>
        <p:blipFill>
          <a:blip r:embed="rId1"/>
          <a:srcRect/>
          <a:stretch>
            <a:fillRect/>
          </a:stretch>
        </p:blipFill>
        <p:spPr bwMode="auto">
          <a:xfrm>
            <a:off x="342803" y="1690688"/>
            <a:ext cx="12080488" cy="451043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79509"/>
          </a:xfrm>
        </p:spPr>
        <p:txBody>
          <a:bodyPr>
            <a:normAutofit fontScale="90000"/>
          </a:bodyPr>
          <a:lstStyle/>
          <a:p>
            <a:pPr marL="571500" indent="-571500">
              <a:buFont typeface="Arial" panose="020B0604020202020204" pitchFamily="34" charset="0"/>
              <a:buChar char="•"/>
            </a:pPr>
            <a:r>
              <a:rPr lang="en-GB" dirty="0"/>
              <a:t>Isolation of </a:t>
            </a:r>
            <a:r>
              <a:rPr lang="en-GB" dirty="0" err="1"/>
              <a:t>terpinoids</a:t>
            </a:r>
            <a:br>
              <a:rPr lang="en-GB" dirty="0"/>
            </a:br>
            <a:r>
              <a:rPr lang="en-GB" dirty="0"/>
              <a:t>1)Isolation of essential oils from plan parts</a:t>
            </a:r>
            <a:br>
              <a:rPr lang="en-GB" dirty="0"/>
            </a:br>
            <a:r>
              <a:rPr lang="en-GB" dirty="0"/>
              <a:t>a)steam distillation method</a:t>
            </a:r>
            <a:br>
              <a:rPr lang="en-GB" dirty="0"/>
            </a:br>
            <a:r>
              <a:rPr lang="en-GB" dirty="0"/>
              <a:t>b)Solvent extraction</a:t>
            </a:r>
            <a:br>
              <a:rPr lang="en-GB" dirty="0"/>
            </a:br>
            <a:r>
              <a:rPr lang="en-GB" dirty="0"/>
              <a:t>c)Expression method</a:t>
            </a:r>
            <a:br>
              <a:rPr lang="en-GB" dirty="0"/>
            </a:br>
            <a:r>
              <a:rPr lang="en-GB" dirty="0"/>
              <a:t>d)Adsorption in purified fats(enfleurage)</a:t>
            </a:r>
            <a:br>
              <a:rPr lang="en-GB" dirty="0"/>
            </a:br>
            <a:r>
              <a:rPr lang="en-GB" dirty="0"/>
              <a:t>2)separation of </a:t>
            </a:r>
            <a:r>
              <a:rPr lang="en-GB" dirty="0" err="1"/>
              <a:t>terpinoids</a:t>
            </a:r>
            <a:r>
              <a:rPr lang="en-GB" dirty="0"/>
              <a:t> from essential oils</a:t>
            </a:r>
            <a:br>
              <a:rPr lang="en-GB" dirty="0"/>
            </a:br>
            <a:r>
              <a:rPr lang="en-GB" dirty="0"/>
              <a:t>a)chemical method</a:t>
            </a:r>
            <a:br>
              <a:rPr lang="en-GB" dirty="0"/>
            </a:br>
            <a:r>
              <a:rPr lang="en-GB" dirty="0"/>
              <a:t>b)</a:t>
            </a:r>
            <a:r>
              <a:rPr lang="en-GB"/>
              <a:t>physical method</a:t>
            </a:r>
            <a:endParaRPr lang="x-non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b) SOLVENT EXTRACTION&#10;• Solvents like hexane and ethanol is used to isolate essential oils.&#10;• It is used for the plant par..."/>
          <p:cNvPicPr>
            <a:picLocks noGrp="1" noChangeAspect="1" noChangeArrowheads="1"/>
          </p:cNvPicPr>
          <p:nvPr>
            <p:ph idx="1"/>
          </p:nvPr>
        </p:nvPicPr>
        <p:blipFill>
          <a:blip r:embed="rId1"/>
          <a:srcRect/>
          <a:stretch>
            <a:fillRect/>
          </a:stretch>
        </p:blipFill>
        <p:spPr bwMode="auto">
          <a:xfrm>
            <a:off x="0" y="-216829"/>
            <a:ext cx="11863659" cy="6721707"/>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 MACERATION&#10;Advantage: More plant’s essence is captured.&#10;• In this method the plant material is converted into moderatel..."/>
          <p:cNvPicPr>
            <a:picLocks noGrp="1" noChangeAspect="1" noChangeArrowheads="1"/>
          </p:cNvPicPr>
          <p:nvPr>
            <p:ph idx="1"/>
          </p:nvPr>
        </p:nvPicPr>
        <p:blipFill>
          <a:blip r:embed="rId1"/>
          <a:srcRect/>
          <a:stretch>
            <a:fillRect/>
          </a:stretch>
        </p:blipFill>
        <p:spPr bwMode="auto">
          <a:xfrm>
            <a:off x="0" y="0"/>
            <a:ext cx="12192000" cy="68580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d) ENFLEURAGE&#10;• The fat is warmed to 500C on glass plates.&#10;• Then the fat is covered with flower petals and it kept for se..."/>
          <p:cNvPicPr>
            <a:picLocks noGrp="1" noChangeAspect="1" noChangeArrowheads="1"/>
          </p:cNvPicPr>
          <p:nvPr>
            <p:ph idx="1"/>
          </p:nvPr>
        </p:nvPicPr>
        <p:blipFill>
          <a:blip r:embed="rId1"/>
          <a:srcRect/>
          <a:stretch>
            <a:fillRect/>
          </a:stretch>
        </p:blipFill>
        <p:spPr bwMode="auto">
          <a:xfrm>
            <a:off x="0" y="-216829"/>
            <a:ext cx="12192000" cy="707482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c)Expression method</a:t>
            </a:r>
            <a:endParaRPr lang="x-none" dirty="0"/>
          </a:p>
        </p:txBody>
      </p:sp>
      <p:sp>
        <p:nvSpPr>
          <p:cNvPr id="3" name="Content Placeholder 2"/>
          <p:cNvSpPr>
            <a:spLocks noGrp="1"/>
          </p:cNvSpPr>
          <p:nvPr>
            <p:ph idx="1"/>
          </p:nvPr>
        </p:nvSpPr>
        <p:spPr/>
        <p:txBody>
          <a:bodyPr/>
          <a:lstStyle/>
          <a:p>
            <a:r>
              <a:rPr lang="en-GB" dirty="0"/>
              <a:t>The plant material is crushed and the juice is screened to remove the large particles.The screened juice is centrifuged in a high speed centrifugal machine when nearly half of the essential oil </a:t>
            </a:r>
            <a:r>
              <a:rPr lang="en-GB"/>
              <a:t>is extracted.</a:t>
            </a:r>
            <a:endParaRPr lang="x-non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Terpenoid containing aldehyde and ketone treated with NaHSO3,&#10;phenyl hydrazine or semicarbazone. After separation it is&#10;..."/>
          <p:cNvPicPr>
            <a:picLocks noGrp="1" noChangeAspect="1" noChangeArrowheads="1"/>
          </p:cNvPicPr>
          <p:nvPr>
            <p:ph idx="1"/>
          </p:nvPr>
        </p:nvPicPr>
        <p:blipFill>
          <a:blip r:embed="rId1"/>
          <a:srcRect/>
          <a:stretch>
            <a:fillRect/>
          </a:stretch>
        </p:blipFill>
        <p:spPr bwMode="auto">
          <a:xfrm>
            <a:off x="1" y="340732"/>
            <a:ext cx="11677804" cy="651726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b) PHYSICAL METHOD&#10;• Chromatography&#10;• Fractional distillation&#10; "/>
          <p:cNvPicPr>
            <a:picLocks noGrp="1" noChangeAspect="1" noChangeArrowheads="1"/>
          </p:cNvPicPr>
          <p:nvPr>
            <p:ph idx="1"/>
          </p:nvPr>
        </p:nvPicPr>
        <p:blipFill>
          <a:blip r:embed="rId1"/>
          <a:srcRect/>
          <a:stretch>
            <a:fillRect/>
          </a:stretch>
        </p:blipFill>
        <p:spPr bwMode="auto">
          <a:xfrm>
            <a:off x="0" y="402683"/>
            <a:ext cx="11584878" cy="6455317"/>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PECIAL ISOPRENE RULE&#10;• This rule proposed by Ingold in 1925.&#10;• According to this rule “the isoprene units in terpenoids a..."/>
          <p:cNvPicPr>
            <a:picLocks noGrp="1" noChangeAspect="1" noChangeArrowheads="1"/>
          </p:cNvPicPr>
          <p:nvPr>
            <p:ph idx="1"/>
          </p:nvPr>
        </p:nvPicPr>
        <p:blipFill>
          <a:blip r:embed="rId1"/>
          <a:srcRect/>
          <a:stretch>
            <a:fillRect/>
          </a:stretch>
        </p:blipFill>
        <p:spPr bwMode="auto">
          <a:xfrm>
            <a:off x="838201" y="743415"/>
            <a:ext cx="9414726" cy="637557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In certain terpenoids isoprene rule is violated.&#10;• Eg: Lavandulol is composed of two isoprene units are linked&#10;through C..."/>
          <p:cNvPicPr>
            <a:picLocks noGrp="1" noChangeAspect="1" noChangeArrowheads="1"/>
          </p:cNvPicPr>
          <p:nvPr>
            <p:ph idx="1"/>
          </p:nvPr>
        </p:nvPicPr>
        <p:blipFill>
          <a:blip r:embed="rId1"/>
          <a:srcRect/>
          <a:stretch>
            <a:fillRect/>
          </a:stretch>
        </p:blipFill>
        <p:spPr bwMode="auto">
          <a:xfrm>
            <a:off x="1" y="0"/>
            <a:ext cx="11522926" cy="6858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LASSIFICATION OF TERPENOIDS&#10;The terpenoids have general formula (C5H8)n . Based on the&#10;value of ‘n’ the terpenoids are cl..."/>
          <p:cNvPicPr>
            <a:picLocks noGrp="1" noChangeAspect="1" noChangeArrowheads="1"/>
          </p:cNvPicPr>
          <p:nvPr>
            <p:ph idx="1"/>
          </p:nvPr>
        </p:nvPicPr>
        <p:blipFill>
          <a:blip r:embed="rId1"/>
          <a:srcRect/>
          <a:stretch>
            <a:fillRect/>
          </a:stretch>
        </p:blipFill>
        <p:spPr bwMode="auto">
          <a:xfrm>
            <a:off x="960244" y="402683"/>
            <a:ext cx="11231756" cy="6455317"/>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340733"/>
            <a:ext cx="11708780" cy="676891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8537" y="324277"/>
            <a:ext cx="9292683" cy="54710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440" y="-321945"/>
            <a:ext cx="12170410" cy="73488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57200" y="81915"/>
            <a:ext cx="11036935" cy="664337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Nature of hydroxyl group is revealed by the rate of esterification.&#10;Primary alcohols undergo esterification more readily t..."/>
          <p:cNvPicPr>
            <a:picLocks noGrp="1" noChangeAspect="1" noChangeArrowheads="1"/>
          </p:cNvPicPr>
          <p:nvPr>
            <p:ph idx="1"/>
          </p:nvPr>
        </p:nvPicPr>
        <p:blipFill>
          <a:blip r:embed="rId1"/>
          <a:srcRect/>
          <a:stretch>
            <a:fillRect/>
          </a:stretch>
        </p:blipFill>
        <p:spPr bwMode="auto">
          <a:xfrm>
            <a:off x="179659" y="681463"/>
            <a:ext cx="10903414" cy="6176538"/>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51098" y="3238139"/>
            <a:ext cx="6102194" cy="369332"/>
          </a:xfrm>
          <a:prstGeom prst="rect">
            <a:avLst/>
          </a:prstGeom>
          <a:noFill/>
        </p:spPr>
        <p:txBody>
          <a:bodyPr wrap="square">
            <a:spAutoFit/>
          </a:bodyPr>
          <a:lstStyle/>
          <a:p>
            <a:endParaRPr lang="x-none" dirty="0"/>
          </a:p>
        </p:txBody>
      </p:sp>
      <p:pic>
        <p:nvPicPr>
          <p:cNvPr id="2" name="Picture 2" descr="Nature of hydroxyl group is revealed by the rate of esterification.&#10;Primary alcohols undergo esterification more readily t..."/>
          <p:cNvPicPr>
            <a:picLocks noChangeAspect="1" noChangeArrowheads="1"/>
          </p:cNvPicPr>
          <p:nvPr/>
        </p:nvPicPr>
        <p:blipFill>
          <a:blip r:embed="rId1"/>
          <a:srcRect/>
          <a:stretch>
            <a:fillRect/>
          </a:stretch>
        </p:blipFill>
        <p:spPr bwMode="auto">
          <a:xfrm>
            <a:off x="155575" y="619124"/>
            <a:ext cx="6076950" cy="4562476"/>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4903" y="3244334"/>
            <a:ext cx="6102194" cy="369332"/>
          </a:xfrm>
          <a:prstGeom prst="rect">
            <a:avLst/>
          </a:prstGeom>
          <a:noFill/>
        </p:spPr>
        <p:txBody>
          <a:bodyPr wrap="square">
            <a:spAutoFit/>
          </a:bodyPr>
          <a:lstStyle/>
          <a:p>
            <a:r>
              <a:rPr lang="x-none" b="1" i="0" u="none" strike="noStrike">
                <a:solidFill>
                  <a:srgbClr val="FFFFFF"/>
                </a:solidFill>
                <a:effectLst/>
                <a:latin typeface="HelveticaNeue-Light"/>
              </a:rPr>
              <a:t>4</a:t>
            </a:r>
            <a:endParaRPr lang="x-none"/>
          </a:p>
        </p:txBody>
      </p:sp>
      <p:pic>
        <p:nvPicPr>
          <p:cNvPr id="2" name="Picture 2" descr="Carbonyl group : Aldehyde or Ketone&#10;.&#10; "/>
          <p:cNvPicPr>
            <a:picLocks noChangeAspect="1" noChangeArrowheads="1"/>
          </p:cNvPicPr>
          <p:nvPr/>
        </p:nvPicPr>
        <p:blipFill>
          <a:blip r:embed="rId1"/>
          <a:srcRect/>
          <a:stretch>
            <a:fillRect/>
          </a:stretch>
        </p:blipFill>
        <p:spPr bwMode="auto">
          <a:xfrm>
            <a:off x="155575" y="542924"/>
            <a:ext cx="8991522" cy="4562476"/>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ii) –CH2CO- groups:&#10;Terpenoids form oximes with nitrous acid and benzylidene derivative&#10;with benzaldehyde&#10; "/>
          <p:cNvPicPr>
            <a:picLocks noGrp="1" noChangeAspect="1" noChangeArrowheads="1"/>
          </p:cNvPicPr>
          <p:nvPr>
            <p:ph idx="1"/>
          </p:nvPr>
        </p:nvPicPr>
        <p:blipFill>
          <a:blip r:embed="rId1"/>
          <a:srcRect/>
          <a:stretch>
            <a:fillRect/>
          </a:stretch>
        </p:blipFill>
        <p:spPr bwMode="auto">
          <a:xfrm>
            <a:off x="1889512" y="929268"/>
            <a:ext cx="9106828" cy="5699512"/>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ii) Carboxyl group&#10;• If terpenoid soluble in NH3 and gives effervescence with NaHCO3,&#10;it indicate the presence of –COOH g..."/>
          <p:cNvPicPr>
            <a:picLocks noChangeAspect="1" noChangeArrowheads="1"/>
          </p:cNvPicPr>
          <p:nvPr/>
        </p:nvPicPr>
        <p:blipFill>
          <a:blip r:embed="rId1"/>
          <a:srcRect/>
          <a:stretch>
            <a:fillRect/>
          </a:stretch>
        </p:blipFill>
        <p:spPr bwMode="auto">
          <a:xfrm>
            <a:off x="155574" y="619124"/>
            <a:ext cx="9508815" cy="456247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v) C- alkyl group&#10;The important C- alkyl group is C- CH3 group.&#10;It is determined by Kuhn-Roth method&#10; "/>
          <p:cNvPicPr>
            <a:picLocks noChangeAspect="1" noChangeArrowheads="1"/>
          </p:cNvPicPr>
          <p:nvPr/>
        </p:nvPicPr>
        <p:blipFill>
          <a:blip r:embed="rId1"/>
          <a:srcRect/>
          <a:stretch>
            <a:fillRect/>
          </a:stretch>
        </p:blipFill>
        <p:spPr bwMode="auto">
          <a:xfrm>
            <a:off x="155575" y="542923"/>
            <a:ext cx="9446864" cy="5900003"/>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c) Unsaturation&#10;• It is determined by the formation of addition products with reagents&#10;like hydrogen, halogen, halogen aci..."/>
          <p:cNvPicPr>
            <a:picLocks noGrp="1" noChangeAspect="1" noChangeArrowheads="1"/>
          </p:cNvPicPr>
          <p:nvPr>
            <p:ph idx="1"/>
          </p:nvPr>
        </p:nvPicPr>
        <p:blipFill>
          <a:blip r:embed="rId1"/>
          <a:srcRect/>
          <a:stretch>
            <a:fillRect/>
          </a:stretch>
        </p:blipFill>
        <p:spPr bwMode="auto">
          <a:xfrm>
            <a:off x="743415" y="1"/>
            <a:ext cx="9075853" cy="6793744"/>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d) Number of rings&#10;The number of rings is determined from the following table showing&#10;the relation between general formula..."/>
          <p:cNvPicPr>
            <a:picLocks noGrp="1" noChangeAspect="1" noChangeArrowheads="1"/>
          </p:cNvPicPr>
          <p:nvPr>
            <p:ph idx="1"/>
          </p:nvPr>
        </p:nvPicPr>
        <p:blipFill>
          <a:blip r:embed="rId1"/>
          <a:srcRect/>
          <a:stretch>
            <a:fillRect/>
          </a:stretch>
        </p:blipFill>
        <p:spPr bwMode="auto">
          <a:xfrm>
            <a:off x="619512" y="619511"/>
            <a:ext cx="10500732" cy="5792439"/>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he molecular formula of citral is C10H16O, it contain 2 double bonds and&#10;one oxygen atom as carbonyl group.&#10;Molecular f..."/>
          <p:cNvPicPr>
            <a:picLocks noGrp="1" noChangeAspect="1" noChangeArrowheads="1"/>
          </p:cNvPicPr>
          <p:nvPr>
            <p:ph idx="1"/>
          </p:nvPr>
        </p:nvPicPr>
        <p:blipFill>
          <a:blip r:embed="rId1"/>
          <a:srcRect/>
          <a:stretch>
            <a:fillRect/>
          </a:stretch>
        </p:blipFill>
        <p:spPr bwMode="auto">
          <a:xfrm>
            <a:off x="898293" y="0"/>
            <a:ext cx="9447561" cy="6473902"/>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e) Oxidative degradation products&#10;Ozone:&#10;Terpenoid react with ozone to form ozonide it undergo decomposition&#10;either hydro..."/>
          <p:cNvPicPr>
            <a:picLocks noGrp="1" noChangeAspect="1" noChangeArrowheads="1"/>
          </p:cNvPicPr>
          <p:nvPr>
            <p:ph idx="1"/>
          </p:nvPr>
        </p:nvPicPr>
        <p:blipFill>
          <a:blip r:embed="rId1"/>
          <a:srcRect/>
          <a:stretch>
            <a:fillRect/>
          </a:stretch>
        </p:blipFill>
        <p:spPr bwMode="auto">
          <a:xfrm>
            <a:off x="1" y="0"/>
            <a:ext cx="10376828" cy="6133171"/>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f) Dehydration&#10;•Terpenoid containing alcoholic or ketonic groups are heated with&#10;dehydrating agents (potassium bisulphate,..."/>
          <p:cNvPicPr>
            <a:picLocks noGrp="1" noChangeAspect="1" noChangeArrowheads="1"/>
          </p:cNvPicPr>
          <p:nvPr>
            <p:ph idx="1"/>
          </p:nvPr>
        </p:nvPicPr>
        <p:blipFill>
          <a:blip r:embed="rId1"/>
          <a:srcRect/>
          <a:stretch>
            <a:fillRect/>
          </a:stretch>
        </p:blipFill>
        <p:spPr bwMode="auto">
          <a:xfrm>
            <a:off x="371707" y="0"/>
            <a:ext cx="10686585" cy="6442927"/>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2) SYNTHETIC METHOD&#10;1) Catalytic Hydrogenation&#10;• When aromatic compounds undergo catalytic hydrogenation to form&#10;synthetic..."/>
          <p:cNvPicPr>
            <a:picLocks noGrp="1" noChangeAspect="1" noChangeArrowheads="1"/>
          </p:cNvPicPr>
          <p:nvPr>
            <p:ph idx="1"/>
          </p:nvPr>
        </p:nvPicPr>
        <p:blipFill>
          <a:blip r:embed="rId1"/>
          <a:srcRect/>
          <a:stretch>
            <a:fillRect/>
          </a:stretch>
        </p:blipFill>
        <p:spPr bwMode="auto">
          <a:xfrm>
            <a:off x="0" y="588537"/>
            <a:ext cx="11151220" cy="5575609"/>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2) SYNTHETIC METHOD&#10;1) Catalytic Hydrogenation&#10;• When aromatic compounds undergo catalytic hydrogenation to form&#10;synthetic..."/>
          <p:cNvPicPr>
            <a:picLocks noGrp="1" noChangeAspect="1" noChangeArrowheads="1"/>
          </p:cNvPicPr>
          <p:nvPr>
            <p:ph idx="1"/>
          </p:nvPr>
        </p:nvPicPr>
        <p:blipFill>
          <a:blip r:embed="rId1"/>
          <a:srcRect/>
          <a:stretch>
            <a:fillRect/>
          </a:stretch>
        </p:blipFill>
        <p:spPr bwMode="auto">
          <a:xfrm>
            <a:off x="619513" y="1"/>
            <a:ext cx="10221950" cy="6071219"/>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 Grignard reactions&#10;• In grignard reagent, methy or isopropyl groups are introduced into&#10;compound having carbonyl groups..."/>
          <p:cNvPicPr>
            <a:picLocks noChangeAspect="1" noChangeArrowheads="1"/>
          </p:cNvPicPr>
          <p:nvPr/>
        </p:nvPicPr>
        <p:blipFill>
          <a:blip r:embed="rId1"/>
          <a:srcRect/>
          <a:stretch>
            <a:fillRect/>
          </a:stretch>
        </p:blipFill>
        <p:spPr bwMode="auto">
          <a:xfrm>
            <a:off x="155574" y="695324"/>
            <a:ext cx="10500035" cy="5685652"/>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3) Reformatsky reactions&#10;• In this reaction - halogen substituted ester is treated with a carbonyl&#10;compound to form - hydr..."/>
          <p:cNvPicPr>
            <a:picLocks noGrp="1" noChangeAspect="1" noChangeArrowheads="1"/>
          </p:cNvPicPr>
          <p:nvPr>
            <p:ph idx="1"/>
          </p:nvPr>
        </p:nvPicPr>
        <p:blipFill>
          <a:blip r:embed="rId1"/>
          <a:srcRect/>
          <a:stretch>
            <a:fillRect/>
          </a:stretch>
        </p:blipFill>
        <p:spPr bwMode="auto">
          <a:xfrm>
            <a:off x="588537" y="557561"/>
            <a:ext cx="10500731" cy="5885366"/>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3) Reformatsky reactions&#10;• In this reaction - halogen substituted ester is treated with a carbonyl&#10;compound to form - hydr..."/>
          <p:cNvPicPr>
            <a:picLocks noChangeAspect="1" noChangeArrowheads="1"/>
          </p:cNvPicPr>
          <p:nvPr/>
        </p:nvPicPr>
        <p:blipFill>
          <a:blip r:embed="rId1"/>
          <a:srcRect/>
          <a:stretch>
            <a:fillRect/>
          </a:stretch>
        </p:blipFill>
        <p:spPr bwMode="auto">
          <a:xfrm>
            <a:off x="155575" y="847724"/>
            <a:ext cx="10376132" cy="6010276"/>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ITRAL&#10; "/>
          <p:cNvPicPr>
            <a:picLocks noGrp="1" noChangeAspect="1" noChangeArrowheads="1"/>
          </p:cNvPicPr>
          <p:nvPr>
            <p:ph idx="1"/>
          </p:nvPr>
        </p:nvPicPr>
        <p:blipFill>
          <a:blip r:embed="rId1"/>
          <a:srcRect/>
          <a:stretch>
            <a:fillRect/>
          </a:stretch>
        </p:blipFill>
        <p:spPr bwMode="auto">
          <a:xfrm>
            <a:off x="433659" y="464634"/>
            <a:ext cx="10407803" cy="5885366"/>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TRUCTURAL ELUCIDATION OF CITRAL&#10;• Constitution of citral&#10;a) Molecular formula: C10H16O&#10;b) Presence of two double bond:&#10;Ci..."/>
          <p:cNvPicPr>
            <a:picLocks noGrp="1" noChangeAspect="1" noChangeArrowheads="1"/>
          </p:cNvPicPr>
          <p:nvPr>
            <p:ph idx="1"/>
          </p:nvPr>
        </p:nvPicPr>
        <p:blipFill>
          <a:blip r:embed="rId1"/>
          <a:srcRect/>
          <a:stretch>
            <a:fillRect/>
          </a:stretch>
        </p:blipFill>
        <p:spPr bwMode="auto">
          <a:xfrm>
            <a:off x="1" y="464634"/>
            <a:ext cx="11182194" cy="607122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itral on ozonolysis yield acetone, laevulaldehyde and gyoxal. It&#10;indicate that citral is an acyclic compound containing t..."/>
          <p:cNvPicPr>
            <a:picLocks noGrp="1" noChangeAspect="1" noChangeArrowheads="1"/>
          </p:cNvPicPr>
          <p:nvPr>
            <p:ph idx="1"/>
          </p:nvPr>
        </p:nvPicPr>
        <p:blipFill>
          <a:blip r:embed="rId1"/>
          <a:srcRect/>
          <a:stretch>
            <a:fillRect/>
          </a:stretch>
        </p:blipFill>
        <p:spPr bwMode="auto">
          <a:xfrm>
            <a:off x="340732" y="-446650"/>
            <a:ext cx="10748536" cy="7044455"/>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0" y="0"/>
            <a:ext cx="11353800" cy="6858000"/>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16829" y="0"/>
            <a:ext cx="11975171" cy="685800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rot="5400000" flipH="1" flipV="1">
            <a:off x="2593039" y="-2740961"/>
            <a:ext cx="7005922" cy="12192000"/>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309880" y="200025"/>
            <a:ext cx="11640820" cy="6522720"/>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Absorption maximum of different compounds</a:t>
            </a:r>
            <a:endParaRPr lang="x-none" dirty="0"/>
          </a:p>
        </p:txBody>
      </p:sp>
      <p:sp>
        <p:nvSpPr>
          <p:cNvPr id="3" name="Content Placeholder 2"/>
          <p:cNvSpPr>
            <a:spLocks noGrp="1"/>
          </p:cNvSpPr>
          <p:nvPr>
            <p:ph idx="1"/>
          </p:nvPr>
        </p:nvSpPr>
        <p:spPr/>
        <p:txBody>
          <a:bodyPr/>
          <a:lstStyle/>
          <a:p>
            <a:r>
              <a:rPr lang="en-GB" dirty="0" err="1"/>
              <a:t>LAcyclic</a:t>
            </a:r>
            <a:r>
              <a:rPr lang="en-GB" dirty="0"/>
              <a:t> diene – 217-228nm</a:t>
            </a:r>
            <a:endParaRPr lang="en-GB" dirty="0"/>
          </a:p>
          <a:p>
            <a:r>
              <a:rPr lang="en-GB" dirty="0" err="1"/>
              <a:t>Homoannular</a:t>
            </a:r>
            <a:r>
              <a:rPr lang="en-GB" dirty="0"/>
              <a:t> diene– 256-265nm</a:t>
            </a:r>
            <a:endParaRPr lang="en-GB" dirty="0"/>
          </a:p>
          <a:p>
            <a:r>
              <a:rPr lang="en-GB" dirty="0" err="1"/>
              <a:t>Heteroannular</a:t>
            </a:r>
            <a:r>
              <a:rPr lang="en-GB" dirty="0"/>
              <a:t> diene – 230-240nm</a:t>
            </a:r>
            <a:endParaRPr lang="en-GB" dirty="0"/>
          </a:p>
          <a:p>
            <a:r>
              <a:rPr lang="en-GB" dirty="0"/>
              <a:t>If </a:t>
            </a:r>
            <a:r>
              <a:rPr lang="en-GB" dirty="0" err="1"/>
              <a:t>alpha,bita</a:t>
            </a:r>
            <a:r>
              <a:rPr lang="en-GB" dirty="0"/>
              <a:t> unsaturated group is </a:t>
            </a:r>
            <a:r>
              <a:rPr lang="en-GB"/>
              <a:t>present -220-250nm</a:t>
            </a:r>
            <a:endParaRPr lang="x-none"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IR values of different compounds</a:t>
            </a:r>
            <a:endParaRPr lang="x-none" dirty="0"/>
          </a:p>
        </p:txBody>
      </p:sp>
      <p:pic>
        <p:nvPicPr>
          <p:cNvPr id="4" name="Picture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rot="16200000">
            <a:off x="3492500" y="-1696085"/>
            <a:ext cx="5337810" cy="11516995"/>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Homework:How many isoprene units are present in the following compounds and also indicate the head to tail fashion</a:t>
            </a:r>
            <a:endParaRPr lang="x-none" dirty="0"/>
          </a:p>
        </p:txBody>
      </p:sp>
      <p:pic>
        <p:nvPicPr>
          <p:cNvPr id="4" name="Picture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rot="16200000">
            <a:off x="3811573" y="-1220804"/>
            <a:ext cx="4487451" cy="11044045"/>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Myrcene&#10;22&#10; Chemical formula: C10H16, b.p. 166-168°C.&#10;𝜂20&#10;D 1.4692&#10;Myrcene is an acyclic monoterpene&#10;hydrocarbon occurrin..."/>
          <p:cNvPicPr>
            <a:picLocks noGrp="1" noChangeAspect="1" noChangeArrowheads="1"/>
          </p:cNvPicPr>
          <p:nvPr>
            <p:ph idx="1"/>
          </p:nvPr>
        </p:nvPicPr>
        <p:blipFill>
          <a:blip r:embed="rId1"/>
          <a:srcRect/>
          <a:stretch>
            <a:fillRect/>
          </a:stretch>
        </p:blipFill>
        <p:spPr bwMode="auto">
          <a:xfrm>
            <a:off x="-278780" y="216829"/>
            <a:ext cx="12470780" cy="6907561"/>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Structure elucidation&#10;23&#10; The molecular formula of myrcene was found to be C10H16&#10;1. On catalytic hydrogenation it gave a..."/>
          <p:cNvPicPr>
            <a:picLocks noChangeAspect="1" noChangeArrowheads="1"/>
          </p:cNvPicPr>
          <p:nvPr/>
        </p:nvPicPr>
        <p:blipFill>
          <a:blip r:embed="rId1"/>
          <a:srcRect/>
          <a:stretch>
            <a:fillRect/>
          </a:stretch>
        </p:blipFill>
        <p:spPr bwMode="auto">
          <a:xfrm>
            <a:off x="0" y="0"/>
            <a:ext cx="11522927" cy="68580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tructure elucidation&#10;24&#10; Myrcene on ozonolysis afforded formaldehyde, acetone and a ketoaldehyde, C5H6O3 .&#10; The ketoald..."/>
          <p:cNvPicPr>
            <a:picLocks noChangeAspect="1" noChangeArrowheads="1"/>
          </p:cNvPicPr>
          <p:nvPr/>
        </p:nvPicPr>
        <p:blipFill>
          <a:blip r:embed="rId1"/>
          <a:srcRect/>
          <a:stretch>
            <a:fillRect/>
          </a:stretch>
        </p:blipFill>
        <p:spPr bwMode="auto">
          <a:xfrm>
            <a:off x="155575" y="161925"/>
            <a:ext cx="12036425" cy="6696075"/>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eraniol&#10;25&#10; Chemical formula: C10H18, b.p. 229-230 °C. 𝜂20&#10;D 1.4777&#10; Geraniol occurs in citronella, rose, lemon grass a..."/>
          <p:cNvPicPr>
            <a:picLocks noGrp="1" noChangeAspect="1" noChangeArrowheads="1"/>
          </p:cNvPicPr>
          <p:nvPr>
            <p:ph idx="1"/>
          </p:nvPr>
        </p:nvPicPr>
        <p:blipFill>
          <a:blip r:embed="rId1"/>
          <a:srcRect/>
          <a:stretch>
            <a:fillRect/>
          </a:stretch>
        </p:blipFill>
        <p:spPr bwMode="auto">
          <a:xfrm>
            <a:off x="-247805" y="1"/>
            <a:ext cx="12439805" cy="7423104"/>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tructure elucidation&#10;26&#10; Its molecular formula was established as C10H18O.&#10; Catalytic hydrogenation yielded a tetrahydr..."/>
          <p:cNvPicPr>
            <a:picLocks noGrp="1" noChangeAspect="1" noChangeArrowheads="1"/>
          </p:cNvPicPr>
          <p:nvPr>
            <p:ph idx="1"/>
          </p:nvPr>
        </p:nvPicPr>
        <p:blipFill>
          <a:blip r:embed="rId1"/>
          <a:srcRect/>
          <a:stretch>
            <a:fillRect/>
          </a:stretch>
        </p:blipFill>
        <p:spPr bwMode="auto">
          <a:xfrm>
            <a:off x="0" y="557561"/>
            <a:ext cx="12192000" cy="6721707"/>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tructure elucidation&#10;26&#10; Its molecular formula was established as C10H18O.&#10; Catalytic hydrogenation yielded a tetrahydr..."/>
          <p:cNvPicPr>
            <a:picLocks noGrp="1" noChangeAspect="1" noChangeArrowheads="1"/>
          </p:cNvPicPr>
          <p:nvPr>
            <p:ph idx="1"/>
          </p:nvPr>
        </p:nvPicPr>
        <p:blipFill>
          <a:blip r:embed="rId1"/>
          <a:srcRect/>
          <a:stretch>
            <a:fillRect/>
          </a:stretch>
        </p:blipFill>
        <p:spPr bwMode="auto">
          <a:xfrm>
            <a:off x="-278780" y="247805"/>
            <a:ext cx="12470780" cy="7558049"/>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tructure elucidation&#10;27&#10; Geraniol and nerol are geometrical&#10;isomers.&#10; Both geraniol and nerol gave the same&#10;tetrahydro ..."/>
          <p:cNvPicPr>
            <a:picLocks noGrp="1" noChangeAspect="1" noChangeArrowheads="1"/>
          </p:cNvPicPr>
          <p:nvPr>
            <p:ph idx="1"/>
          </p:nvPr>
        </p:nvPicPr>
        <p:blipFill>
          <a:blip r:embed="rId1"/>
          <a:srcRect/>
          <a:stretch>
            <a:fillRect/>
          </a:stretch>
        </p:blipFill>
        <p:spPr bwMode="auto">
          <a:xfrm>
            <a:off x="266390" y="-350025"/>
            <a:ext cx="11925610" cy="7558049"/>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Limonene&#10;37&#10;Occurrence:&#10; Limonene is one of the most widely distributed terpene, occurring in many&#10;volatile oils especial..."/>
          <p:cNvPicPr>
            <a:picLocks noGrp="1" noChangeAspect="1" noChangeArrowheads="1"/>
          </p:cNvPicPr>
          <p:nvPr>
            <p:ph idx="1"/>
          </p:nvPr>
        </p:nvPicPr>
        <p:blipFill>
          <a:blip r:embed="rId1"/>
          <a:srcRect/>
          <a:stretch>
            <a:fillRect/>
          </a:stretch>
        </p:blipFill>
        <p:spPr bwMode="auto">
          <a:xfrm>
            <a:off x="278781" y="-247805"/>
            <a:ext cx="11553902" cy="7105805"/>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imonene&#10; Limonene is identified by the preparation of a crystalline nitrosochloride m.p 103°-104°C., by the&#10;reaction wit..."/>
          <p:cNvPicPr>
            <a:picLocks noGrp="1" noChangeAspect="1" noChangeArrowheads="1"/>
          </p:cNvPicPr>
          <p:nvPr>
            <p:ph idx="1"/>
          </p:nvPr>
        </p:nvPicPr>
        <p:blipFill>
          <a:blip r:embed="rId1"/>
          <a:srcRect/>
          <a:stretch>
            <a:fillRect/>
          </a:stretch>
        </p:blipFill>
        <p:spPr bwMode="auto">
          <a:xfrm>
            <a:off x="0" y="-1"/>
            <a:ext cx="12192000" cy="6566829"/>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Citral on reduction with Na/Hg it gives an alcohol called geraniol&#10;and on oxidation with silver oxide to yield a Geranic..."/>
          <p:cNvPicPr>
            <a:picLocks noGrp="1" noChangeAspect="1" noChangeArrowheads="1"/>
          </p:cNvPicPr>
          <p:nvPr>
            <p:ph idx="1"/>
          </p:nvPr>
        </p:nvPicPr>
        <p:blipFill>
          <a:blip r:embed="rId1"/>
          <a:srcRect/>
          <a:stretch>
            <a:fillRect/>
          </a:stretch>
        </p:blipFill>
        <p:spPr bwMode="auto">
          <a:xfrm>
            <a:off x="247805" y="0"/>
            <a:ext cx="10872439" cy="6380975"/>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d) Citral as an acyclic compound:&#10;• Formation of above products shows that citral is an acyclic&#10;compound containing two do..."/>
          <p:cNvPicPr>
            <a:picLocks noGrp="1" noChangeAspect="1" noChangeArrowheads="1"/>
          </p:cNvPicPr>
          <p:nvPr>
            <p:ph idx="1"/>
          </p:nvPr>
        </p:nvPicPr>
        <p:blipFill>
          <a:blip r:embed="rId1"/>
          <a:srcRect/>
          <a:stretch>
            <a:fillRect/>
          </a:stretch>
        </p:blipFill>
        <p:spPr bwMode="auto">
          <a:xfrm>
            <a:off x="0" y="433659"/>
            <a:ext cx="11925610" cy="6009268"/>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Formation of p-cymene and product obtained from the ozonolysis&#10;reveals that C-skeleton (I) of citral is formed by the joi..."/>
          <p:cNvPicPr>
            <a:picLocks noGrp="1" noChangeAspect="1" noChangeArrowheads="1"/>
          </p:cNvPicPr>
          <p:nvPr>
            <p:ph idx="1"/>
          </p:nvPr>
        </p:nvPicPr>
        <p:blipFill>
          <a:blip r:embed="rId1"/>
          <a:srcRect/>
          <a:stretch>
            <a:fillRect/>
          </a:stretch>
        </p:blipFill>
        <p:spPr bwMode="auto">
          <a:xfrm>
            <a:off x="0" y="557561"/>
            <a:ext cx="11460976" cy="585439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KHSO4&#10; "/>
          <p:cNvPicPr>
            <a:picLocks noGrp="1" noChangeAspect="1" noChangeArrowheads="1"/>
          </p:cNvPicPr>
          <p:nvPr>
            <p:ph idx="1"/>
          </p:nvPr>
        </p:nvPicPr>
        <p:blipFill>
          <a:blip r:embed="rId1"/>
          <a:srcRect/>
          <a:stretch>
            <a:fillRect/>
          </a:stretch>
        </p:blipFill>
        <p:spPr bwMode="auto">
          <a:xfrm>
            <a:off x="0" y="0"/>
            <a:ext cx="12192000" cy="685800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f) Oxidation&#10;• Citral undergo oxidation with KMnO4 followed by chromic acid yield&#10;acetone, oxalic acid and laevulic acid. ..."/>
          <p:cNvPicPr>
            <a:picLocks noGrp="1" noChangeAspect="1" noChangeArrowheads="1"/>
          </p:cNvPicPr>
          <p:nvPr>
            <p:ph idx="1"/>
          </p:nvPr>
        </p:nvPicPr>
        <p:blipFill>
          <a:blip r:embed="rId1"/>
          <a:srcRect/>
          <a:stretch>
            <a:fillRect/>
          </a:stretch>
        </p:blipFill>
        <p:spPr bwMode="auto">
          <a:xfrm>
            <a:off x="1" y="0"/>
            <a:ext cx="11863658" cy="68580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upport for the structure (II)&#10;• Verley found that citral on boiling with aqueous potassium&#10;carbonate yielded 6-methyl hep..."/>
          <p:cNvPicPr>
            <a:picLocks noGrp="1" noChangeAspect="1" noChangeArrowheads="1"/>
          </p:cNvPicPr>
          <p:nvPr>
            <p:ph idx="1"/>
          </p:nvPr>
        </p:nvPicPr>
        <p:blipFill>
          <a:blip r:embed="rId1"/>
          <a:srcRect/>
          <a:stretch>
            <a:fillRect/>
          </a:stretch>
        </p:blipFill>
        <p:spPr bwMode="auto">
          <a:xfrm>
            <a:off x="0" y="402683"/>
            <a:ext cx="11708780" cy="6133171"/>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onfirmation synthesis of citral by&#10;Barbier-Bouveault-Tiemann’s synthesis&#10;• In this synthesis methyl heptenone is converte..."/>
          <p:cNvPicPr>
            <a:picLocks noGrp="1" noChangeAspect="1" noChangeArrowheads="1"/>
          </p:cNvPicPr>
          <p:nvPr>
            <p:ph idx="1"/>
          </p:nvPr>
        </p:nvPicPr>
        <p:blipFill>
          <a:blip r:embed="rId1"/>
          <a:srcRect/>
          <a:stretch>
            <a:fillRect/>
          </a:stretch>
        </p:blipFill>
        <p:spPr bwMode="auto">
          <a:xfrm>
            <a:off x="1" y="464634"/>
            <a:ext cx="11337072" cy="5916342"/>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somerism of citral&#10;• Two geometrical isomers occur in nature&#10;• Two isomers are differ in the arrangement of aldehyde grou..."/>
          <p:cNvPicPr>
            <a:picLocks noGrp="1" noChangeAspect="1" noChangeArrowheads="1"/>
          </p:cNvPicPr>
          <p:nvPr>
            <p:ph idx="1"/>
          </p:nvPr>
        </p:nvPicPr>
        <p:blipFill>
          <a:blip r:embed="rId1"/>
          <a:srcRect/>
          <a:stretch>
            <a:fillRect/>
          </a:stretch>
        </p:blipFill>
        <p:spPr bwMode="auto">
          <a:xfrm>
            <a:off x="0" y="0"/>
            <a:ext cx="11306098" cy="6628780"/>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ENTHOL&#10; "/>
          <p:cNvPicPr>
            <a:picLocks noGrp="1" noChangeAspect="1" noChangeArrowheads="1"/>
          </p:cNvPicPr>
          <p:nvPr>
            <p:ph idx="1"/>
          </p:nvPr>
        </p:nvPicPr>
        <p:blipFill>
          <a:blip r:embed="rId1"/>
          <a:srcRect/>
          <a:stretch>
            <a:fillRect/>
          </a:stretch>
        </p:blipFill>
        <p:spPr bwMode="auto">
          <a:xfrm>
            <a:off x="0" y="0"/>
            <a:ext cx="12192000" cy="6858000"/>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00729"/>
          </a:xfrm>
        </p:spPr>
        <p:txBody>
          <a:bodyPr/>
          <a:lstStyle/>
          <a:p>
            <a:r>
              <a:rPr lang="en-GB" dirty="0"/>
              <a:t>Homework :write the structure elucidation of </a:t>
            </a:r>
            <a:r>
              <a:rPr lang="en-GB" dirty="0" err="1"/>
              <a:t>farnesol</a:t>
            </a:r>
            <a:r>
              <a:rPr lang="en-GB" dirty="0"/>
              <a:t>. (</a:t>
            </a:r>
            <a:r>
              <a:rPr lang="en-GB" dirty="0" err="1"/>
              <a:t>Finar</a:t>
            </a:r>
            <a:r>
              <a:rPr lang="en-GB"/>
              <a:t> vol 2</a:t>
            </a:r>
            <a:r>
              <a:rPr lang="en-GB" dirty="0"/>
              <a:t>)</a:t>
            </a:r>
            <a:endParaRPr lang="x-none"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3658"/>
            <a:ext cx="10515600" cy="6424341"/>
          </a:xfrm>
        </p:spPr>
        <p:txBody>
          <a:bodyPr>
            <a:normAutofit/>
          </a:bodyPr>
          <a:lstStyle/>
          <a:p>
            <a:pPr fontAlgn="base"/>
            <a:r>
              <a:rPr lang="en-GB" b="1" i="0" u="none" strike="noStrike">
                <a:solidFill>
                  <a:srgbClr val="000000"/>
                </a:solidFill>
                <a:effectLst/>
                <a:latin typeface="Georgia" panose="02040502050405020303" pitchFamily="18" charset="0"/>
              </a:rPr>
              <a:t>Biosynthesis of Terpenes: </a:t>
            </a:r>
            <a:endParaRPr lang="en-GB" b="1" i="0" u="none" strike="noStrike">
              <a:solidFill>
                <a:srgbClr val="000000"/>
              </a:solidFill>
              <a:effectLst/>
              <a:latin typeface="Georgia" panose="02040502050405020303" pitchFamily="18" charset="0"/>
            </a:endParaRPr>
          </a:p>
          <a:p>
            <a:pPr fontAlgn="base"/>
            <a:r>
              <a:rPr lang="en-GB" b="1" i="0" u="none" strike="noStrike">
                <a:solidFill>
                  <a:srgbClr val="424142"/>
                </a:solidFill>
                <a:effectLst/>
                <a:latin typeface="Georgia" panose="02040502050405020303" pitchFamily="18" charset="0"/>
              </a:rPr>
              <a:t>Biosynthesis of terpenes may be studied in two parts: </a:t>
            </a:r>
            <a:endParaRPr lang="en-GB" b="0" i="0" u="none" strike="noStrike">
              <a:solidFill>
                <a:srgbClr val="424142"/>
              </a:solidFill>
              <a:effectLst/>
              <a:latin typeface="Georgia" panose="02040502050405020303" pitchFamily="18" charset="0"/>
            </a:endParaRPr>
          </a:p>
          <a:p>
            <a:pPr fontAlgn="base"/>
            <a:r>
              <a:rPr lang="en-GB" b="1" i="0" u="none" strike="noStrike">
                <a:solidFill>
                  <a:srgbClr val="424142"/>
                </a:solidFill>
                <a:effectLst/>
                <a:latin typeface="Georgia" panose="02040502050405020303" pitchFamily="18" charset="0"/>
              </a:rPr>
              <a:t>(A) Synthesis of Activated 5-C units: </a:t>
            </a:r>
            <a:endParaRPr lang="en-GB" b="0" i="0" u="none" strike="noStrike">
              <a:solidFill>
                <a:srgbClr val="424142"/>
              </a:solidFill>
              <a:effectLst/>
              <a:latin typeface="Georgia" panose="02040502050405020303" pitchFamily="18" charset="0"/>
            </a:endParaRPr>
          </a:p>
          <a:p>
            <a:pPr fontAlgn="base"/>
            <a:r>
              <a:rPr lang="en-GB" b="0" i="0" u="none" strike="noStrike">
                <a:solidFill>
                  <a:srgbClr val="424142"/>
                </a:solidFill>
                <a:effectLst/>
                <a:latin typeface="Georgia" panose="02040502050405020303" pitchFamily="18" charset="0"/>
              </a:rPr>
              <a:t>Isoprene unit is almost entirely synthesized from acetyl-CoA through mevalonic acid pathway as shown in Fig. 24.2 Three acetyl-CoA molecules are joined together in stepwise manner to from a six-carbon intermediate, mevalonic acid. Mevalonic acid is then pyrophosphorylated utilizing 2 ATP molecules to form mevalonic acid pyrophosphate (MVA- PP). </a:t>
            </a:r>
            <a:endParaRPr lang="en-GB" b="0" i="0" u="none" strike="noStrike">
              <a:solidFill>
                <a:srgbClr val="424142"/>
              </a:solidFill>
              <a:effectLst/>
              <a:latin typeface="Georgia" panose="02040502050405020303" pitchFamily="18" charset="0"/>
            </a:endParaRPr>
          </a:p>
          <a:p>
            <a:pPr fontAlgn="base"/>
            <a:r>
              <a:rPr lang="en-GB" b="0" i="0" u="none" strike="noStrike">
                <a:solidFill>
                  <a:srgbClr val="424142"/>
                </a:solidFill>
                <a:effectLst/>
                <a:latin typeface="Georgia" panose="02040502050405020303" pitchFamily="18" charset="0"/>
              </a:rPr>
              <a:t>Decarboxylation and dehydration of MVA-PP result in the formation of activated 5-C unit called as isopentenyl pyrophosphate (IPP). The latter can be isomerized to another activated 5- C unit called as dimethylallyl pyrophosphate (DPP). Both these activated 5-C units are build­ing blocks of terpenes in plants.</a:t>
            </a:r>
            <a:endParaRPr lang="en-GB" b="0" i="0" u="none" strike="noStrike">
              <a:solidFill>
                <a:srgbClr val="424142"/>
              </a:solidFill>
              <a:effectLst/>
              <a:latin typeface="Georgia" panose="02040502050405020303"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743200" y="152400"/>
            <a:ext cx="7031355" cy="6518275"/>
          </a:xfr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x-none"/>
          </a:p>
        </p:txBody>
      </p:sp>
      <p:sp>
        <p:nvSpPr>
          <p:cNvPr id="3" name="Content Placeholder 2"/>
          <p:cNvSpPr>
            <a:spLocks noGrp="1"/>
          </p:cNvSpPr>
          <p:nvPr>
            <p:ph idx="1"/>
          </p:nvPr>
        </p:nvSpPr>
        <p:spPr/>
        <p:txBody>
          <a:bodyPr/>
          <a:lstStyle/>
          <a:p>
            <a:pPr fontAlgn="base"/>
            <a:r>
              <a:rPr lang="en-GB" b="1" i="0">
                <a:solidFill>
                  <a:srgbClr val="424142"/>
                </a:solidFill>
                <a:effectLst/>
                <a:latin typeface="Georgia" panose="02040502050405020303" pitchFamily="18" charset="0"/>
              </a:rPr>
              <a:t>B) Condensation of activated 5-C units IPP and DPP to form terpenes: </a:t>
            </a:r>
            <a:endParaRPr lang="en-GB" b="0" i="0">
              <a:solidFill>
                <a:srgbClr val="424142"/>
              </a:solidFill>
              <a:effectLst/>
              <a:latin typeface="Georgia" panose="02040502050405020303" pitchFamily="18" charset="0"/>
            </a:endParaRPr>
          </a:p>
          <a:p>
            <a:pPr fontAlgn="base"/>
            <a:r>
              <a:rPr lang="en-GB" b="1" i="0">
                <a:solidFill>
                  <a:srgbClr val="424142"/>
                </a:solidFill>
                <a:effectLst/>
                <a:latin typeface="Georgia" panose="02040502050405020303" pitchFamily="18" charset="0"/>
              </a:rPr>
              <a:t>Terpenes are ultimately formed by condensation of activated 5-C units IPP and DPP as shown in Fig. 24.3. and briefly described below:</a:t>
            </a:r>
            <a:endParaRPr lang="en-GB" b="0" i="0">
              <a:solidFill>
                <a:srgbClr val="424142"/>
              </a:solidFill>
              <a:effectLst/>
              <a:latin typeface="Georgia" panose="02040502050405020303" pitchFamily="18" charset="0"/>
            </a:endParaRPr>
          </a:p>
          <a:p>
            <a:pPr fontAlgn="base"/>
            <a:r>
              <a:rPr lang="en-GB" b="0" i="0">
                <a:solidFill>
                  <a:srgbClr val="424142"/>
                </a:solidFill>
                <a:effectLst/>
                <a:latin typeface="Georgia" panose="02040502050405020303" pitchFamily="18" charset="0"/>
              </a:rPr>
              <a:t>(i) IPP and DPP unite to form 10-C geranyl phyrophosphate (GPP) which is precursor of monoterpenes. </a:t>
            </a:r>
            <a:endParaRPr lang="en-GB" b="0" i="0">
              <a:solidFill>
                <a:srgbClr val="424142"/>
              </a:solidFill>
              <a:effectLst/>
              <a:latin typeface="Georgia" panose="02040502050405020303" pitchFamily="18" charset="0"/>
            </a:endParaRPr>
          </a:p>
          <a:p>
            <a:pPr fontAlgn="base"/>
            <a:br>
              <a:rPr lang="en-GB">
                <a:effectLst/>
              </a:rPr>
            </a:br>
            <a:endParaRPr lang="en-GB">
              <a:effectLs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x-none"/>
          </a:p>
        </p:txBody>
      </p:sp>
      <p:sp>
        <p:nvSpPr>
          <p:cNvPr id="7" name="Content Placeholder 2"/>
          <p:cNvSpPr txBox="1">
            <a:spLocks noGrp="1"/>
          </p:cNvSpPr>
          <p:nvPr>
            <p:ph idx="1"/>
          </p:nvPr>
        </p:nvSpPr>
        <p:spPr>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GB" cap="all">
                <a:solidFill>
                  <a:srgbClr val="424142"/>
                </a:solidFill>
                <a:latin typeface="Georgia" panose="02040502050405020303" pitchFamily="18" charset="0"/>
              </a:rPr>
              <a:t>S:</a:t>
            </a:r>
            <a:endParaRPr lang="en-GB" cap="all">
              <a:solidFill>
                <a:srgbClr val="424142"/>
              </a:solidFill>
              <a:latin typeface="Georgia" panose="02040502050405020303" pitchFamily="18" charset="0"/>
            </a:endParaRPr>
          </a:p>
          <a:p>
            <a:pPr fontAlgn="base"/>
            <a:r>
              <a:rPr lang="en-GB" dirty="0">
                <a:solidFill>
                  <a:srgbClr val="424142"/>
                </a:solidFill>
                <a:latin typeface="Georgia" panose="02040502050405020303" pitchFamily="18" charset="0"/>
              </a:rPr>
              <a:t>(ii) GPP unites with another molecule of IPP to give rise to 15-C </a:t>
            </a:r>
            <a:r>
              <a:rPr lang="en-GB" dirty="0" err="1">
                <a:solidFill>
                  <a:srgbClr val="424142"/>
                </a:solidFill>
                <a:latin typeface="Georgia" panose="02040502050405020303" pitchFamily="18" charset="0"/>
              </a:rPr>
              <a:t>farnesyl</a:t>
            </a:r>
            <a:r>
              <a:rPr lang="en-GB" dirty="0">
                <a:solidFill>
                  <a:srgbClr val="424142"/>
                </a:solidFill>
                <a:latin typeface="Georgia" panose="02040502050405020303" pitchFamily="18" charset="0"/>
              </a:rPr>
              <a:t> pyrophosphate (FPP) which is precursor of sesquiterpenes. </a:t>
            </a:r>
            <a:endParaRPr lang="en-GB" dirty="0">
              <a:solidFill>
                <a:srgbClr val="424142"/>
              </a:solidFill>
              <a:latin typeface="Georgia" panose="02040502050405020303" pitchFamily="18" charset="0"/>
            </a:endParaRPr>
          </a:p>
          <a:p>
            <a:pPr fontAlgn="base"/>
            <a:r>
              <a:rPr lang="en-GB" dirty="0">
                <a:solidFill>
                  <a:srgbClr val="424142"/>
                </a:solidFill>
                <a:latin typeface="Georgia" panose="02040502050405020303" pitchFamily="18" charset="0"/>
              </a:rPr>
              <a:t>(iii) FPP unites with IPP to form 20-C compound </a:t>
            </a:r>
            <a:r>
              <a:rPr lang="en-GB" dirty="0" err="1">
                <a:solidFill>
                  <a:srgbClr val="424142"/>
                </a:solidFill>
                <a:latin typeface="Georgia" panose="02040502050405020303" pitchFamily="18" charset="0"/>
              </a:rPr>
              <a:t>geranylgeranyl</a:t>
            </a:r>
            <a:r>
              <a:rPr lang="en-GB" dirty="0">
                <a:solidFill>
                  <a:srgbClr val="424142"/>
                </a:solidFill>
                <a:latin typeface="Georgia" panose="02040502050405020303" pitchFamily="18" charset="0"/>
              </a:rPr>
              <a:t> pyrophosphate (GGPP) which is precursor of </a:t>
            </a:r>
            <a:r>
              <a:rPr lang="en-GB" dirty="0" err="1">
                <a:solidFill>
                  <a:srgbClr val="424142"/>
                </a:solidFill>
                <a:latin typeface="Georgia" panose="02040502050405020303" pitchFamily="18" charset="0"/>
              </a:rPr>
              <a:t>diterpenes</a:t>
            </a:r>
            <a:r>
              <a:rPr lang="en-GB" dirty="0">
                <a:solidFill>
                  <a:srgbClr val="424142"/>
                </a:solidFill>
                <a:latin typeface="Georgia" panose="02040502050405020303" pitchFamily="18" charset="0"/>
              </a:rPr>
              <a:t>.</a:t>
            </a:r>
            <a:endParaRPr lang="en-GB" dirty="0">
              <a:solidFill>
                <a:srgbClr val="424142"/>
              </a:solidFill>
              <a:latin typeface="Georgia" panose="02040502050405020303"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Synthesis of </a:t>
            </a:r>
            <a:r>
              <a:rPr lang="en-GB" dirty="0" err="1"/>
              <a:t>monoterpinoids</a:t>
            </a:r>
            <a:r>
              <a:rPr lang="en-GB" dirty="0"/>
              <a:t> </a:t>
            </a:r>
            <a:r>
              <a:rPr lang="en-GB"/>
              <a:t>from GPP</a:t>
            </a:r>
            <a:endParaRPr lang="x-none"/>
          </a:p>
        </p:txBody>
      </p:sp>
      <p:pic>
        <p:nvPicPr>
          <p:cNvPr id="5" name="Content Placeholder 5"/>
          <p:cNvPicPr>
            <a:picLocks noGrp="1" noChangeAspect="1"/>
          </p:cNvPicPr>
          <p:nvPr>
            <p:ph idx="1"/>
          </p:nvPr>
        </p:nvPicPr>
        <p:blipFill>
          <a:blip r:embed="rId1"/>
          <a:stretch>
            <a:fillRect/>
          </a:stretch>
        </p:blipFill>
        <p:spPr>
          <a:xfrm>
            <a:off x="216829" y="1825624"/>
            <a:ext cx="11975171" cy="503237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GB" b="0" i="0" u="none" strike="noStrike" dirty="0" err="1">
                <a:solidFill>
                  <a:srgbClr val="424142"/>
                </a:solidFill>
                <a:effectLst/>
                <a:latin typeface="Georgia" panose="02040502050405020303" pitchFamily="18" charset="0"/>
              </a:rPr>
              <a:t>Polyterpenes</a:t>
            </a:r>
            <a:r>
              <a:rPr lang="en-GB" b="0" i="0" u="none" strike="noStrike" dirty="0">
                <a:solidFill>
                  <a:srgbClr val="424142"/>
                </a:solidFill>
                <a:effectLst/>
                <a:latin typeface="Georgia" panose="02040502050405020303" pitchFamily="18" charset="0"/>
              </a:rPr>
              <a:t> are polymers containing large number of </a:t>
            </a:r>
            <a:r>
              <a:rPr lang="en-GB" b="0" i="0" u="none" strike="noStrike" dirty="0" err="1">
                <a:solidFill>
                  <a:srgbClr val="424142"/>
                </a:solidFill>
                <a:effectLst/>
                <a:latin typeface="Georgia" panose="02040502050405020303" pitchFamily="18" charset="0"/>
              </a:rPr>
              <a:t>isopentenyl</a:t>
            </a:r>
            <a:r>
              <a:rPr lang="en-GB" b="0" i="0" u="none" strike="noStrike" dirty="0">
                <a:solidFill>
                  <a:srgbClr val="424142"/>
                </a:solidFill>
                <a:effectLst/>
                <a:latin typeface="Georgia" panose="02040502050405020303" pitchFamily="18" charset="0"/>
              </a:rPr>
              <a:t> units. </a:t>
            </a:r>
            <a:br>
              <a:rPr lang="en-GB" b="0" i="0" u="none" strike="noStrike" dirty="0">
                <a:solidFill>
                  <a:srgbClr val="424142"/>
                </a:solidFill>
                <a:effectLst/>
                <a:latin typeface="Georgia" panose="02040502050405020303" pitchFamily="18" charset="0"/>
              </a:rPr>
            </a:br>
            <a:br>
              <a:rPr lang="en-GB" dirty="0"/>
            </a:br>
            <a:endParaRPr lang="x-none" dirty="0"/>
          </a:p>
        </p:txBody>
      </p:sp>
      <p:pic>
        <p:nvPicPr>
          <p:cNvPr id="8" name="Content Placeholder 7"/>
          <p:cNvPicPr>
            <a:picLocks noGrp="1" noChangeAspect="1"/>
          </p:cNvPicPr>
          <p:nvPr>
            <p:ph idx="1"/>
          </p:nvPr>
        </p:nvPicPr>
        <p:blipFill>
          <a:blip r:embed="rId1"/>
          <a:stretch>
            <a:fillRect/>
          </a:stretch>
        </p:blipFill>
        <p:spPr>
          <a:xfrm>
            <a:off x="3124200" y="1828800"/>
            <a:ext cx="5461000" cy="423227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278780"/>
            <a:ext cx="11213171" cy="657922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a:t>Thank you</a:t>
            </a:r>
            <a:endParaRPr lang="x-none"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2909</Words>
  <Application>WPS Presentation</Application>
  <PresentationFormat>Custom</PresentationFormat>
  <Paragraphs>47</Paragraphs>
  <Slides>74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74</vt:i4>
      </vt:variant>
    </vt:vector>
  </HeadingPairs>
  <TitlesOfParts>
    <vt:vector size="86" baseType="lpstr">
      <vt:lpstr>Arial</vt:lpstr>
      <vt:lpstr>SimSun</vt:lpstr>
      <vt:lpstr>Wingdings</vt:lpstr>
      <vt:lpstr>Times New Roman</vt:lpstr>
      <vt:lpstr>Calibri</vt:lpstr>
      <vt:lpstr>Microsoft YaHei</vt:lpstr>
      <vt:lpstr>Arial Unicode MS</vt:lpstr>
      <vt:lpstr>Calibri Light</vt:lpstr>
      <vt:lpstr>HelveticaNeue-Light</vt:lpstr>
      <vt:lpstr>Siyam Rupali</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Classification: Terpinoid hydrocarbons are classified on the basis of the no of isoprene units which they contain.</vt:lpstr>
      <vt:lpstr>Isolation of terpinoids 1)Isolation of essential oils from plan parts a)steam distillation method b)Solvent extraction c)Expression method d)Adsorption in purified fats(enfleurage) 2)separation of terpinoids from essential oils a)chemical method b)physical method</vt:lpstr>
      <vt:lpstr>PowerPoint 演示文稿</vt:lpstr>
      <vt:lpstr>PowerPoint 演示文稿</vt:lpstr>
      <vt:lpstr>PowerPoint 演示文稿</vt:lpstr>
      <vt:lpstr>c)Expression method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Absorption maximum of different compounds</vt:lpstr>
      <vt:lpstr>IR values of different compounds</vt:lpstr>
      <vt:lpstr>Homework:How many isoprene units are present in the following compounds and also indicate the head to tail fashion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Homework :write the structure elucidation of farnesol. (Finar vol 2)</vt:lpstr>
      <vt:lpstr>PowerPoint 演示文稿</vt:lpstr>
      <vt:lpstr>PowerPoint 演示文稿</vt:lpstr>
      <vt:lpstr>PowerPoint 演示文稿</vt:lpstr>
      <vt:lpstr>PowerPoint 演示文稿</vt:lpstr>
      <vt:lpstr>Synthesis of monoterpinoids from GPP</vt:lpstr>
      <vt:lpstr>Polyterpenes are polymers containing large number of isopentenyl units.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tamanna chowdhury</dc:creator>
  <cp:lastModifiedBy>A To Z Computer</cp:lastModifiedBy>
  <cp:revision>110</cp:revision>
  <dcterms:created xsi:type="dcterms:W3CDTF">2020-07-22T06:24:00Z</dcterms:created>
  <dcterms:modified xsi:type="dcterms:W3CDTF">2022-07-25T02:04:41Z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0E8F60108AA548F69322557BB07EF4C3</vt:lpwstr>
  </property>
  <property fmtid="{D5CDD505-2E9C-101B-9397-08002B2CF9AE}" pid="3" name="KSOProductBuildVer">
    <vt:lpwstr>1033-11.2.0.11191</vt:lpwstr>
  </property>
</Properties>
</file>