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7" r:id="rId9"/>
    <p:sldId id="266" r:id="rId10"/>
    <p:sldId id="270" r:id="rId11"/>
    <p:sldId id="271" r:id="rId12"/>
    <p:sldId id="263" r:id="rId13"/>
    <p:sldId id="268" r:id="rId14"/>
    <p:sldId id="275" r:id="rId15"/>
    <p:sldId id="269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8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9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7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5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9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7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0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5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4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9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36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6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72658-4C5A-4B4A-B7AB-9F569D8DD69D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4B741-665C-4D21-8EBB-8944A78D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2297" y="800098"/>
            <a:ext cx="7324090" cy="5600701"/>
          </a:xfrm>
        </p:spPr>
        <p:txBody>
          <a:bodyPr/>
          <a:lstStyle/>
          <a:p>
            <a:pPr algn="l"/>
            <a:r>
              <a:rPr lang="en-US" sz="4000" dirty="0">
                <a:solidFill>
                  <a:schemeClr val="tx1"/>
                </a:solidFill>
              </a:rPr>
              <a:t>               </a:t>
            </a:r>
            <a:r>
              <a:rPr lang="en-US" sz="4000" b="1" dirty="0">
                <a:solidFill>
                  <a:srgbClr val="FF0000"/>
                </a:solidFill>
              </a:rPr>
              <a:t>(+) Glucose</a:t>
            </a:r>
          </a:p>
          <a:p>
            <a:pPr algn="l"/>
            <a:endParaRPr lang="en-US" sz="4000" dirty="0">
              <a:solidFill>
                <a:schemeClr val="tx1"/>
              </a:solidFill>
            </a:endParaRPr>
          </a:p>
          <a:p>
            <a:pPr marL="571500" indent="-571500" algn="l">
              <a:buFont typeface="Wingdings" pitchFamily="2" charset="2"/>
              <a:buChar char="v"/>
            </a:pPr>
            <a:r>
              <a:rPr lang="en-US" sz="4000" dirty="0">
                <a:solidFill>
                  <a:schemeClr val="tx1"/>
                </a:solidFill>
              </a:rPr>
              <a:t>Cellulose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838200" y="381000"/>
            <a:ext cx="7772400" cy="914400"/>
          </a:xfrm>
        </p:spPr>
        <p:txBody>
          <a:bodyPr>
            <a:noAutofit/>
          </a:bodyPr>
          <a:lstStyle/>
          <a:p>
            <a:r>
              <a:rPr lang="en-US" dirty="0"/>
              <a:t>Carbohydrates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85291" y="2819400"/>
            <a:ext cx="6231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(Supporting framework of plant)</a:t>
            </a:r>
          </a:p>
        </p:txBody>
      </p:sp>
      <p:sp>
        <p:nvSpPr>
          <p:cNvPr id="7" name="Down Arrow 6"/>
          <p:cNvSpPr/>
          <p:nvPr/>
        </p:nvSpPr>
        <p:spPr>
          <a:xfrm>
            <a:off x="3962400" y="1524000"/>
            <a:ext cx="914399" cy="9143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63906" y="3465731"/>
            <a:ext cx="712098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Wingdings" pitchFamily="2" charset="2"/>
              <a:buChar char="v"/>
            </a:pPr>
            <a:r>
              <a:rPr lang="en-US" sz="4000" dirty="0"/>
              <a:t>Starch</a:t>
            </a:r>
          </a:p>
          <a:p>
            <a:r>
              <a:rPr lang="en-US" sz="4000" dirty="0"/>
              <a:t>( stored in seeds to serve as food </a:t>
            </a:r>
          </a:p>
          <a:p>
            <a:r>
              <a:rPr lang="en-US" sz="4000" dirty="0"/>
              <a:t>for new , growing plants)</a:t>
            </a:r>
          </a:p>
          <a:p>
            <a:pPr marL="571500" indent="-571500">
              <a:buFont typeface="Wingdings" pitchFamily="2" charset="2"/>
              <a:buChar char="v"/>
            </a:pPr>
            <a:r>
              <a:rPr lang="en-US" sz="4000" dirty="0"/>
              <a:t>Glycogen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en-US" sz="4000" dirty="0"/>
              <a:t>Food, clothing and shelter</a:t>
            </a:r>
          </a:p>
        </p:txBody>
      </p:sp>
    </p:spTree>
    <p:extLst>
      <p:ext uri="{BB962C8B-B14F-4D97-AF65-F5344CB8AC3E}">
        <p14:creationId xmlns:p14="http://schemas.microsoft.com/office/powerpoint/2010/main" val="336050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142999"/>
          </a:xfrm>
        </p:spPr>
        <p:txBody>
          <a:bodyPr>
            <a:normAutofit fontScale="90000"/>
          </a:bodyPr>
          <a:lstStyle/>
          <a:p>
            <a:r>
              <a:rPr lang="en-US" dirty="0"/>
              <a:t>Carbohydrates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066800"/>
            <a:ext cx="8534400" cy="53340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000" b="1" dirty="0">
                <a:solidFill>
                  <a:srgbClr val="FF0000"/>
                </a:solidFill>
              </a:rPr>
              <a:t>Definition</a:t>
            </a:r>
            <a:r>
              <a:rPr lang="en-US" sz="4000" dirty="0"/>
              <a:t>: </a:t>
            </a:r>
            <a:r>
              <a:rPr lang="en-US" sz="4000" dirty="0">
                <a:solidFill>
                  <a:schemeClr val="tx1"/>
                </a:solidFill>
              </a:rPr>
              <a:t>Early observation: Hydrates of Carbon,  general formula, </a:t>
            </a:r>
            <a:r>
              <a:rPr lang="en-US" sz="4000" dirty="0" err="1">
                <a:solidFill>
                  <a:schemeClr val="tx1"/>
                </a:solidFill>
              </a:rPr>
              <a:t>C</a:t>
            </a:r>
            <a:r>
              <a:rPr lang="en-US" sz="4000" baseline="-25000" dirty="0" err="1">
                <a:solidFill>
                  <a:schemeClr val="tx1"/>
                </a:solidFill>
              </a:rPr>
              <a:t>x</a:t>
            </a:r>
            <a:r>
              <a:rPr lang="en-US" sz="4000" dirty="0">
                <a:solidFill>
                  <a:schemeClr val="tx1"/>
                </a:solidFill>
              </a:rPr>
              <a:t>(H</a:t>
            </a:r>
            <a:r>
              <a:rPr lang="en-US" sz="4000" baseline="-25000" dirty="0">
                <a:solidFill>
                  <a:schemeClr val="tx1"/>
                </a:solidFill>
              </a:rPr>
              <a:t>2</a:t>
            </a:r>
            <a:r>
              <a:rPr lang="en-US" sz="4000" dirty="0">
                <a:solidFill>
                  <a:schemeClr val="tx1"/>
                </a:solidFill>
              </a:rPr>
              <a:t>O)</a:t>
            </a:r>
            <a:r>
              <a:rPr lang="en-US" sz="4000" baseline="-25000" dirty="0">
                <a:solidFill>
                  <a:schemeClr val="tx1"/>
                </a:solidFill>
              </a:rPr>
              <a:t>y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</a:rPr>
              <a:t>Simple </a:t>
            </a:r>
            <a:r>
              <a:rPr lang="en-US" sz="4000" dirty="0" err="1">
                <a:solidFill>
                  <a:schemeClr val="tx1"/>
                </a:solidFill>
              </a:rPr>
              <a:t>cabohydrates</a:t>
            </a:r>
            <a:r>
              <a:rPr lang="en-US" sz="4000" dirty="0">
                <a:solidFill>
                  <a:schemeClr val="tx1"/>
                </a:solidFill>
              </a:rPr>
              <a:t> known as sugar, or saccharides; Ending: </a:t>
            </a:r>
            <a:r>
              <a:rPr lang="en-US" sz="4400" dirty="0">
                <a:solidFill>
                  <a:schemeClr val="tx1"/>
                </a:solidFill>
              </a:rPr>
              <a:t>-</a:t>
            </a:r>
            <a:r>
              <a:rPr lang="en-US" sz="4400" b="1" dirty="0" err="1">
                <a:solidFill>
                  <a:schemeClr val="tx1"/>
                </a:solidFill>
              </a:rPr>
              <a:t>ose</a:t>
            </a:r>
            <a:endParaRPr lang="en-US" sz="4400" b="1" dirty="0">
              <a:solidFill>
                <a:schemeClr val="tx1"/>
              </a:solidFill>
            </a:endParaRPr>
          </a:p>
          <a:p>
            <a:pPr algn="l"/>
            <a:r>
              <a:rPr lang="en-US" sz="4000" dirty="0">
                <a:solidFill>
                  <a:schemeClr val="tx1"/>
                </a:solidFill>
              </a:rPr>
              <a:t>Sucrose: Table Sugar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</a:rPr>
              <a:t>Glucose: Principal sugar in Blood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</a:rPr>
              <a:t>Fructose: sugar in fruits and honey</a:t>
            </a:r>
          </a:p>
          <a:p>
            <a:pPr algn="l"/>
            <a:r>
              <a:rPr lang="en-US" sz="4000" dirty="0">
                <a:solidFill>
                  <a:schemeClr val="tx1"/>
                </a:solidFill>
              </a:rPr>
              <a:t>Maltose: for malt sugar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619048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prstClr val="black"/>
                </a:solidFill>
              </a:rPr>
              <a:t>Carbohydrates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3487"/>
            <a:ext cx="8991600" cy="4525963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</a:rPr>
              <a:t>Definition</a:t>
            </a:r>
            <a:r>
              <a:rPr lang="en-US" sz="4400" dirty="0">
                <a:solidFill>
                  <a:prstClr val="black">
                    <a:tint val="75000"/>
                  </a:prstClr>
                </a:solidFill>
              </a:rPr>
              <a:t>: </a:t>
            </a:r>
            <a:r>
              <a:rPr lang="en-US" sz="4400" dirty="0" err="1"/>
              <a:t>polyhydroxy</a:t>
            </a:r>
            <a:r>
              <a:rPr lang="en-US" sz="4400" dirty="0"/>
              <a:t> aldehydes and ketones</a:t>
            </a:r>
          </a:p>
          <a:p>
            <a:r>
              <a:rPr lang="en-US" dirty="0"/>
              <a:t>                        </a:t>
            </a:r>
            <a:r>
              <a:rPr lang="en-US" sz="4000" dirty="0"/>
              <a:t>C=O</a:t>
            </a:r>
            <a:r>
              <a:rPr lang="en-US" dirty="0"/>
              <a:t>;                 </a:t>
            </a:r>
            <a:r>
              <a:rPr lang="en-US" sz="4000" dirty="0"/>
              <a:t> -OH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2453121" y="2846613"/>
            <a:ext cx="2286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567421" y="3303860"/>
            <a:ext cx="138303" cy="269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14400" y="3626469"/>
            <a:ext cx="6169125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dirty="0"/>
              <a:t>Exists primarily as </a:t>
            </a:r>
            <a:r>
              <a:rPr lang="en-US" sz="4400" b="1" dirty="0" err="1">
                <a:solidFill>
                  <a:srgbClr val="0070C0"/>
                </a:solidFill>
              </a:rPr>
              <a:t>hemiacetals</a:t>
            </a:r>
            <a:r>
              <a:rPr lang="en-US" sz="4000" b="1" dirty="0">
                <a:solidFill>
                  <a:prstClr val="black"/>
                </a:solidFill>
              </a:rPr>
              <a:t> </a:t>
            </a:r>
          </a:p>
          <a:p>
            <a:pPr lvl="0"/>
            <a:r>
              <a:rPr lang="en-US" sz="4000" b="1" dirty="0">
                <a:solidFill>
                  <a:prstClr val="black"/>
                </a:solidFill>
              </a:rPr>
              <a:t>                                   </a:t>
            </a:r>
            <a:r>
              <a:rPr lang="en-US" sz="3200" dirty="0">
                <a:solidFill>
                  <a:prstClr val="black"/>
                </a:solidFill>
              </a:rPr>
              <a:t>or </a:t>
            </a:r>
          </a:p>
          <a:p>
            <a:pPr lvl="0"/>
            <a:r>
              <a:rPr lang="en-US" sz="3200" b="1" dirty="0">
                <a:solidFill>
                  <a:prstClr val="black"/>
                </a:solidFill>
              </a:rPr>
              <a:t>                                     </a:t>
            </a:r>
            <a:r>
              <a:rPr lang="en-US" sz="4400" b="1" dirty="0" err="1">
                <a:solidFill>
                  <a:srgbClr val="92D050"/>
                </a:solidFill>
              </a:rPr>
              <a:t>acetals</a:t>
            </a:r>
            <a:endParaRPr lang="en-US" sz="4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557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5334000"/>
          </a:xfrm>
        </p:spPr>
        <p:txBody>
          <a:bodyPr/>
          <a:lstStyle/>
          <a:p>
            <a:r>
              <a:rPr lang="en-US" b="1" dirty="0" err="1">
                <a:solidFill>
                  <a:srgbClr val="00B0F0"/>
                </a:solidFill>
              </a:rPr>
              <a:t>Monosaccharides</a:t>
            </a:r>
            <a:r>
              <a:rPr lang="en-US" dirty="0"/>
              <a:t>: those that can not be hydrolyzed into simpler carbohydrates</a:t>
            </a:r>
          </a:p>
          <a:p>
            <a:r>
              <a:rPr lang="en-US" b="1" dirty="0" err="1">
                <a:solidFill>
                  <a:srgbClr val="00B0F0"/>
                </a:solidFill>
              </a:rPr>
              <a:t>Disccharides</a:t>
            </a:r>
            <a:r>
              <a:rPr lang="en-US" b="1" dirty="0">
                <a:solidFill>
                  <a:srgbClr val="00B0F0"/>
                </a:solidFill>
              </a:rPr>
              <a:t>: </a:t>
            </a:r>
            <a:r>
              <a:rPr lang="en-US" dirty="0"/>
              <a:t>undergo hydrolysis to produce two molecules of </a:t>
            </a:r>
            <a:r>
              <a:rPr lang="en-US" dirty="0" err="1"/>
              <a:t>momosaccharides</a:t>
            </a:r>
            <a:endParaRPr lang="en-US" dirty="0"/>
          </a:p>
          <a:p>
            <a:r>
              <a:rPr lang="en-US" dirty="0" err="1">
                <a:solidFill>
                  <a:srgbClr val="00B0F0"/>
                </a:solidFill>
              </a:rPr>
              <a:t>Trisaccharides</a:t>
            </a:r>
            <a:r>
              <a:rPr lang="en-US" dirty="0">
                <a:solidFill>
                  <a:srgbClr val="00B0F0"/>
                </a:solidFill>
              </a:rPr>
              <a:t>: </a:t>
            </a:r>
            <a:r>
              <a:rPr lang="en-US" dirty="0"/>
              <a:t>those that produces three molecules of </a:t>
            </a:r>
            <a:r>
              <a:rPr lang="en-US" dirty="0" err="1"/>
              <a:t>monosaccharides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rgbClr val="00B0F0"/>
                </a:solidFill>
              </a:rPr>
              <a:t>Oligosaccharides: </a:t>
            </a:r>
            <a:r>
              <a:rPr lang="en-US" dirty="0"/>
              <a:t>upon hydrolysis produces   </a:t>
            </a:r>
            <a:r>
              <a:rPr lang="en-US" b="1" dirty="0">
                <a:solidFill>
                  <a:srgbClr val="FF0000"/>
                </a:solidFill>
              </a:rPr>
              <a:t>2-10</a:t>
            </a:r>
            <a:r>
              <a:rPr lang="en-US" dirty="0"/>
              <a:t> molecules of </a:t>
            </a:r>
            <a:r>
              <a:rPr lang="en-US" dirty="0" err="1"/>
              <a:t>monosaccharides</a:t>
            </a:r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Polysaccharides</a:t>
            </a:r>
            <a:r>
              <a:rPr lang="en-US" dirty="0"/>
              <a:t>: large no. of molecules 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MS Gothic"/>
                <a:ea typeface="MS Gothic"/>
              </a:rPr>
              <a:t>&gt;</a:t>
            </a:r>
            <a:r>
              <a:rPr lang="en-US" b="1" dirty="0">
                <a:solidFill>
                  <a:srgbClr val="FF0000"/>
                </a:solidFill>
              </a:rPr>
              <a:t>10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prstClr val="black"/>
                </a:solidFill>
              </a:rPr>
              <a:t>Carbohydrates: </a:t>
            </a:r>
            <a:r>
              <a:rPr lang="en-US" sz="4000" b="1" dirty="0">
                <a:solidFill>
                  <a:srgbClr val="FF0000"/>
                </a:solidFill>
              </a:rPr>
              <a:t>Classification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84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329"/>
            <a:ext cx="8229600" cy="868362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69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1 </a:t>
            </a:r>
            <a:r>
              <a:rPr lang="en-US" dirty="0" err="1"/>
              <a:t>mol</a:t>
            </a:r>
            <a:r>
              <a:rPr lang="en-US" dirty="0"/>
              <a:t> Sucrose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128" y="2034452"/>
            <a:ext cx="60417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1 </a:t>
            </a:r>
            <a:r>
              <a:rPr lang="en-US" sz="3600" dirty="0" err="1"/>
              <a:t>mol</a:t>
            </a:r>
            <a:r>
              <a:rPr lang="en-US" sz="3600" dirty="0"/>
              <a:t> Glucose + 1 </a:t>
            </a:r>
            <a:r>
              <a:rPr lang="en-US" sz="3600" dirty="0" err="1"/>
              <a:t>mol</a:t>
            </a:r>
            <a:r>
              <a:rPr lang="en-US" sz="3600" dirty="0"/>
              <a:t> Fructose</a:t>
            </a:r>
          </a:p>
          <a:p>
            <a:r>
              <a:rPr lang="en-US" sz="3600" dirty="0"/>
              <a:t>              (</a:t>
            </a:r>
            <a:r>
              <a:rPr lang="en-US" sz="3600" dirty="0" err="1"/>
              <a:t>Monosaccharides</a:t>
            </a:r>
            <a:r>
              <a:rPr lang="en-US" sz="360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6600" y="786825"/>
            <a:ext cx="2557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(Disaccharide)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28600" y="3644630"/>
            <a:ext cx="31149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     1 </a:t>
            </a:r>
            <a:r>
              <a:rPr lang="en-US" sz="3200" dirty="0" err="1"/>
              <a:t>mol</a:t>
            </a:r>
            <a:r>
              <a:rPr lang="en-US" sz="3200" dirty="0"/>
              <a:t> Maltose</a:t>
            </a:r>
          </a:p>
          <a:p>
            <a:r>
              <a:rPr lang="en-US" sz="3200" dirty="0"/>
              <a:t>      (Disaccharide)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1047" y="3829296"/>
            <a:ext cx="3121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 </a:t>
            </a:r>
            <a:r>
              <a:rPr lang="en-US" sz="4000" dirty="0" err="1"/>
              <a:t>mol</a:t>
            </a:r>
            <a:r>
              <a:rPr lang="en-US" sz="4000" dirty="0"/>
              <a:t> Glucose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075660" y="4162717"/>
            <a:ext cx="1703616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own Arrow 15"/>
          <p:cNvSpPr/>
          <p:nvPr/>
        </p:nvSpPr>
        <p:spPr>
          <a:xfrm>
            <a:off x="3140900" y="1425870"/>
            <a:ext cx="844536" cy="6085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63317" y="4876800"/>
            <a:ext cx="7599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Starch </a:t>
            </a:r>
            <a:r>
              <a:rPr lang="en-US" sz="3200" dirty="0"/>
              <a:t>or </a:t>
            </a:r>
            <a:r>
              <a:rPr lang="en-US" sz="4000" dirty="0"/>
              <a:t>cellulose (polysaccharides)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8538" y="5720443"/>
            <a:ext cx="4553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Many moles of Glucose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191000" y="5535386"/>
            <a:ext cx="610047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err="1"/>
              <a:t>Monosaccharides</a:t>
            </a:r>
            <a:r>
              <a:rPr lang="en-US" dirty="0"/>
              <a:t> (classification)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403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No. of carbon atoms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Whether they contain any </a:t>
            </a:r>
            <a:r>
              <a:rPr lang="en-US" b="1" dirty="0">
                <a:solidFill>
                  <a:srgbClr val="0070C0"/>
                </a:solidFill>
              </a:rPr>
              <a:t>aldehyde or </a:t>
            </a:r>
            <a:r>
              <a:rPr lang="en-US" b="1" dirty="0" err="1">
                <a:solidFill>
                  <a:srgbClr val="0070C0"/>
                </a:solidFill>
              </a:rPr>
              <a:t>keto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group</a:t>
            </a:r>
          </a:p>
          <a:p>
            <a:r>
              <a:rPr lang="en-US" dirty="0"/>
              <a:t>Three carbon: triose</a:t>
            </a:r>
          </a:p>
          <a:p>
            <a:r>
              <a:rPr lang="en-US" dirty="0"/>
              <a:t>Four carbon: </a:t>
            </a:r>
            <a:r>
              <a:rPr lang="en-US" dirty="0" err="1"/>
              <a:t>tetrose</a:t>
            </a:r>
            <a:endParaRPr lang="en-US" dirty="0"/>
          </a:p>
          <a:p>
            <a:r>
              <a:rPr lang="en-US" dirty="0"/>
              <a:t>Pentose, hexose</a:t>
            </a:r>
          </a:p>
          <a:p>
            <a:r>
              <a:rPr lang="en-US" dirty="0"/>
              <a:t>Aldehyde: aldose</a:t>
            </a:r>
          </a:p>
          <a:p>
            <a:r>
              <a:rPr lang="en-US" dirty="0" err="1"/>
              <a:t>Keto</a:t>
            </a:r>
            <a:r>
              <a:rPr lang="en-US" dirty="0"/>
              <a:t>: </a:t>
            </a:r>
            <a:r>
              <a:rPr lang="en-US" dirty="0" err="1"/>
              <a:t>ketose</a:t>
            </a:r>
            <a:endParaRPr lang="en-US" dirty="0"/>
          </a:p>
          <a:p>
            <a:r>
              <a:rPr lang="en-US" dirty="0"/>
              <a:t>Combination: C</a:t>
            </a:r>
            <a:r>
              <a:rPr lang="en-US" baseline="-25000" dirty="0"/>
              <a:t>4</a:t>
            </a:r>
            <a:r>
              <a:rPr lang="en-US" dirty="0"/>
              <a:t> aldose: </a:t>
            </a:r>
            <a:r>
              <a:rPr lang="en-US" dirty="0" err="1"/>
              <a:t>aldotetrose</a:t>
            </a:r>
            <a:r>
              <a:rPr lang="en-US" dirty="0"/>
              <a:t>;</a:t>
            </a:r>
          </a:p>
          <a:p>
            <a:r>
              <a:rPr lang="en-US" dirty="0"/>
              <a:t>C</a:t>
            </a:r>
            <a:r>
              <a:rPr lang="en-US" baseline="-25000" dirty="0"/>
              <a:t>5</a:t>
            </a:r>
            <a:r>
              <a:rPr lang="en-US" dirty="0"/>
              <a:t> </a:t>
            </a:r>
            <a:r>
              <a:rPr lang="en-US" dirty="0" err="1"/>
              <a:t>ketose</a:t>
            </a:r>
            <a:r>
              <a:rPr lang="en-US" dirty="0"/>
              <a:t>: </a:t>
            </a:r>
            <a:r>
              <a:rPr lang="en-US" dirty="0" err="1"/>
              <a:t>ketopentose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17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prstClr val="black"/>
                </a:solidFill>
              </a:rPr>
              <a:t>Carbohydrates: Glucose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400" dirty="0"/>
              <a:t>Structure</a:t>
            </a:r>
          </a:p>
          <a:p>
            <a:r>
              <a:rPr lang="en-US" sz="4400" dirty="0"/>
              <a:t>Configuration</a:t>
            </a:r>
          </a:p>
          <a:p>
            <a:r>
              <a:rPr lang="en-US" sz="4400" dirty="0"/>
              <a:t>Conformation</a:t>
            </a:r>
          </a:p>
          <a:p>
            <a:r>
              <a:rPr lang="en-US" sz="4400" dirty="0"/>
              <a:t>Reactions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4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7" t="17029" r="26409" b="6612"/>
          <a:stretch/>
        </p:blipFill>
        <p:spPr>
          <a:xfrm rot="16200000">
            <a:off x="1638302" y="-1257302"/>
            <a:ext cx="5867400" cy="9144003"/>
          </a:xfrm>
        </p:spPr>
      </p:pic>
    </p:spTree>
    <p:extLst>
      <p:ext uri="{BB962C8B-B14F-4D97-AF65-F5344CB8AC3E}">
        <p14:creationId xmlns:p14="http://schemas.microsoft.com/office/powerpoint/2010/main" val="3255055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17" t="18159" r="6423" b="25921"/>
          <a:stretch/>
        </p:blipFill>
        <p:spPr>
          <a:xfrm rot="16200000">
            <a:off x="1514350" y="-1361951"/>
            <a:ext cx="6248401" cy="9277100"/>
          </a:xfrm>
        </p:spPr>
      </p:pic>
    </p:spTree>
    <p:extLst>
      <p:ext uri="{BB962C8B-B14F-4D97-AF65-F5344CB8AC3E}">
        <p14:creationId xmlns:p14="http://schemas.microsoft.com/office/powerpoint/2010/main" val="264356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49" r="57252" b="18464"/>
          <a:stretch/>
        </p:blipFill>
        <p:spPr>
          <a:xfrm rot="16200000">
            <a:off x="1835041" y="-1187340"/>
            <a:ext cx="5334000" cy="908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75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1" t="19842" r="11037" b="9806"/>
          <a:stretch/>
        </p:blipFill>
        <p:spPr>
          <a:xfrm>
            <a:off x="609600" y="457199"/>
            <a:ext cx="8534400" cy="594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3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4000" dirty="0" err="1">
                <a:solidFill>
                  <a:prstClr val="black"/>
                </a:solidFill>
              </a:rPr>
              <a:t>Carbohydrates:</a:t>
            </a:r>
            <a:r>
              <a:rPr lang="en-US" sz="4000" dirty="0" err="1">
                <a:solidFill>
                  <a:srgbClr val="FF0000"/>
                </a:solidFill>
              </a:rPr>
              <a:t>Monosaccharide</a:t>
            </a:r>
            <a:r>
              <a:rPr lang="en-US" sz="4000" dirty="0">
                <a:solidFill>
                  <a:prstClr val="black"/>
                </a:solidFill>
              </a:rPr>
              <a:t>: </a:t>
            </a:r>
            <a:r>
              <a:rPr lang="en-US" sz="4000" b="1" dirty="0">
                <a:solidFill>
                  <a:srgbClr val="00B050"/>
                </a:solidFill>
              </a:rPr>
              <a:t>Glucose</a:t>
            </a:r>
            <a:br>
              <a:rPr lang="en-US" sz="3200" baseline="-25000" dirty="0">
                <a:solidFill>
                  <a:prstClr val="black"/>
                </a:solidFill>
                <a:ea typeface="+mn-ea"/>
                <a:cs typeface="+mn-cs"/>
              </a:rPr>
            </a:br>
            <a:endParaRPr lang="en-US" sz="4000" b="1" dirty="0">
              <a:solidFill>
                <a:srgbClr val="00B05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2" t="28981" b="36768"/>
          <a:stretch/>
        </p:blipFill>
        <p:spPr>
          <a:xfrm rot="16200000">
            <a:off x="-186491" y="1710491"/>
            <a:ext cx="5402185" cy="42671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181600" y="1371599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</a:rPr>
              <a:t>Most abundant monosaccharide, </a:t>
            </a:r>
            <a:endParaRPr lang="en-US" sz="3200" baseline="-25000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26049" y="3048000"/>
            <a:ext cx="14911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ea typeface="+mj-ea"/>
                <a:cs typeface="+mj-cs"/>
              </a:rPr>
              <a:t>C</a:t>
            </a:r>
            <a:r>
              <a:rPr lang="en-US" sz="3200" baseline="-25000" dirty="0">
                <a:solidFill>
                  <a:prstClr val="black"/>
                </a:solidFill>
                <a:ea typeface="+mj-ea"/>
                <a:cs typeface="+mj-cs"/>
              </a:rPr>
              <a:t>6</a:t>
            </a:r>
            <a:r>
              <a:rPr lang="en-US" sz="3200" dirty="0">
                <a:solidFill>
                  <a:prstClr val="black"/>
                </a:solidFill>
                <a:ea typeface="+mj-ea"/>
                <a:cs typeface="+mj-cs"/>
              </a:rPr>
              <a:t>H</a:t>
            </a:r>
            <a:r>
              <a:rPr lang="en-US" sz="3200" baseline="-25000" dirty="0">
                <a:solidFill>
                  <a:prstClr val="black"/>
                </a:solidFill>
                <a:ea typeface="+mj-ea"/>
                <a:cs typeface="+mj-cs"/>
              </a:rPr>
              <a:t>12</a:t>
            </a:r>
            <a:r>
              <a:rPr lang="en-US" sz="3200" dirty="0">
                <a:solidFill>
                  <a:prstClr val="black"/>
                </a:solidFill>
                <a:ea typeface="+mj-ea"/>
                <a:cs typeface="+mj-cs"/>
              </a:rPr>
              <a:t>O</a:t>
            </a:r>
            <a:r>
              <a:rPr lang="en-US" sz="3200" baseline="-25000" dirty="0">
                <a:solidFill>
                  <a:prstClr val="black"/>
                </a:solidFill>
                <a:ea typeface="+mj-ea"/>
                <a:cs typeface="+mj-cs"/>
              </a:rPr>
              <a:t>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181600" y="3940632"/>
            <a:ext cx="6671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2</a:t>
            </a:r>
            <a:r>
              <a:rPr lang="en-US" sz="4400" b="1" baseline="30000" dirty="0"/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9155" y="3962400"/>
            <a:ext cx="20489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 2</a:t>
            </a:r>
            <a:r>
              <a:rPr lang="en-US" sz="4400" b="1" baseline="30000" dirty="0"/>
              <a:t>4</a:t>
            </a:r>
            <a:r>
              <a:rPr lang="en-US" sz="4400" b="1" dirty="0"/>
              <a:t>=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160" y="4572000"/>
            <a:ext cx="32088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stereoisomer</a:t>
            </a:r>
          </a:p>
        </p:txBody>
      </p:sp>
    </p:spTree>
    <p:extLst>
      <p:ext uri="{BB962C8B-B14F-4D97-AF65-F5344CB8AC3E}">
        <p14:creationId xmlns:p14="http://schemas.microsoft.com/office/powerpoint/2010/main" val="3619997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0" r="17968"/>
          <a:stretch/>
        </p:blipFill>
        <p:spPr>
          <a:xfrm rot="16200000">
            <a:off x="1546234" y="-1393833"/>
            <a:ext cx="6172200" cy="9417066"/>
          </a:xfrm>
        </p:spPr>
      </p:pic>
    </p:spTree>
    <p:extLst>
      <p:ext uri="{BB962C8B-B14F-4D97-AF65-F5344CB8AC3E}">
        <p14:creationId xmlns:p14="http://schemas.microsoft.com/office/powerpoint/2010/main" val="213201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dirty="0"/>
              <a:t>Oxidation reactions of </a:t>
            </a:r>
            <a:r>
              <a:rPr lang="en-US" sz="3800" dirty="0" err="1"/>
              <a:t>monosaccharides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70000" lnSpcReduction="20000"/>
          </a:bodyPr>
          <a:lstStyle/>
          <a:p>
            <a:r>
              <a:rPr lang="en-US" sz="4600" dirty="0" err="1"/>
              <a:t>Tollens</a:t>
            </a:r>
            <a:r>
              <a:rPr lang="en-US" sz="4600" dirty="0"/>
              <a:t>’ reagent [Ag</a:t>
            </a:r>
            <a:r>
              <a:rPr lang="en-US" sz="4600" baseline="30000" dirty="0"/>
              <a:t>+</a:t>
            </a:r>
            <a:r>
              <a:rPr lang="en-US" sz="4600" dirty="0"/>
              <a:t> (NH</a:t>
            </a:r>
            <a:r>
              <a:rPr lang="en-US" sz="4600" baseline="-25000" dirty="0"/>
              <a:t>3</a:t>
            </a:r>
            <a:r>
              <a:rPr lang="en-US" sz="4600" dirty="0"/>
              <a:t>)</a:t>
            </a:r>
            <a:r>
              <a:rPr lang="en-US" sz="4600" baseline="-25000" dirty="0"/>
              <a:t>2</a:t>
            </a:r>
            <a:r>
              <a:rPr lang="en-US" sz="4600" dirty="0"/>
              <a:t>OH</a:t>
            </a:r>
            <a:r>
              <a:rPr lang="en-US" sz="4600" baseline="30000" dirty="0"/>
              <a:t>-</a:t>
            </a:r>
            <a:r>
              <a:rPr lang="en-US" sz="4600" dirty="0"/>
              <a:t>]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sz="4600" dirty="0"/>
              <a:t>RCHO + Ag(NH</a:t>
            </a:r>
            <a:r>
              <a:rPr lang="en-US" sz="4600" baseline="-25000" dirty="0"/>
              <a:t>3</a:t>
            </a:r>
            <a:r>
              <a:rPr lang="en-US" sz="4600" dirty="0"/>
              <a:t>)</a:t>
            </a:r>
            <a:r>
              <a:rPr lang="en-US" sz="4600" baseline="-25000" dirty="0"/>
              <a:t>2</a:t>
            </a:r>
            <a:r>
              <a:rPr lang="en-US" sz="4600" baseline="30000" dirty="0"/>
              <a:t>+</a:t>
            </a:r>
            <a:r>
              <a:rPr lang="en-US" sz="4600" dirty="0">
                <a:sym typeface="Symbol"/>
              </a:rPr>
              <a:t>  RCOO</a:t>
            </a:r>
            <a:r>
              <a:rPr lang="en-US" sz="4600" baseline="30000" dirty="0">
                <a:sym typeface="Symbol"/>
              </a:rPr>
              <a:t>-</a:t>
            </a:r>
            <a:r>
              <a:rPr lang="en-US" sz="4600" dirty="0">
                <a:sym typeface="Symbol"/>
              </a:rPr>
              <a:t> + Ag (</a:t>
            </a:r>
            <a:r>
              <a:rPr lang="en-US" sz="4600" dirty="0" err="1">
                <a:sym typeface="Symbol"/>
              </a:rPr>
              <a:t>ppt</a:t>
            </a:r>
            <a:r>
              <a:rPr lang="en-US" sz="4600" dirty="0">
                <a:sym typeface="Symbol"/>
              </a:rPr>
              <a:t>)</a:t>
            </a:r>
            <a:endParaRPr lang="en-US" sz="4600" dirty="0"/>
          </a:p>
          <a:p>
            <a:pPr lvl="0"/>
            <a:r>
              <a:rPr lang="en-US" sz="4600" dirty="0">
                <a:solidFill>
                  <a:prstClr val="black"/>
                </a:solidFill>
              </a:rPr>
              <a:t>Benedict’s reagent (alkaline solution containing a cupric citrate complex ion)</a:t>
            </a:r>
            <a:endParaRPr lang="en-US" sz="4600" dirty="0"/>
          </a:p>
          <a:p>
            <a:r>
              <a:rPr lang="en-US" sz="4800" b="1" dirty="0">
                <a:solidFill>
                  <a:srgbClr val="0070C0"/>
                </a:solidFill>
              </a:rPr>
              <a:t>Cu</a:t>
            </a:r>
            <a:r>
              <a:rPr lang="en-US" sz="4800" b="1" baseline="30000" dirty="0">
                <a:solidFill>
                  <a:srgbClr val="0070C0"/>
                </a:solidFill>
              </a:rPr>
              <a:t>2+</a:t>
            </a:r>
            <a:r>
              <a:rPr lang="en-US" dirty="0"/>
              <a:t> (complex) + aldose/</a:t>
            </a:r>
            <a:r>
              <a:rPr lang="en-US" dirty="0" err="1"/>
              <a:t>ketose</a:t>
            </a:r>
            <a:r>
              <a:rPr lang="en-US" dirty="0"/>
              <a:t> </a:t>
            </a:r>
            <a:r>
              <a:rPr lang="en-US" sz="4800" dirty="0">
                <a:sym typeface="Symbol"/>
              </a:rPr>
              <a:t></a:t>
            </a:r>
            <a:r>
              <a:rPr lang="en-US" dirty="0">
                <a:sym typeface="Symbol"/>
              </a:rPr>
              <a:t> </a:t>
            </a:r>
            <a:r>
              <a:rPr lang="en-US" sz="4800" b="1" dirty="0">
                <a:solidFill>
                  <a:srgbClr val="FF0000"/>
                </a:solidFill>
                <a:sym typeface="Symbol"/>
              </a:rPr>
              <a:t>Cu</a:t>
            </a:r>
            <a:r>
              <a:rPr lang="en-US" sz="4800" b="1" baseline="-25000" dirty="0">
                <a:solidFill>
                  <a:srgbClr val="FF0000"/>
                </a:solidFill>
                <a:sym typeface="Symbol"/>
              </a:rPr>
              <a:t>2</a:t>
            </a:r>
            <a:r>
              <a:rPr lang="en-US" sz="4800" b="1" dirty="0">
                <a:solidFill>
                  <a:srgbClr val="FF0000"/>
                </a:solidFill>
                <a:sym typeface="Symbol"/>
              </a:rPr>
              <a:t>O</a:t>
            </a:r>
            <a:r>
              <a:rPr lang="en-US" dirty="0">
                <a:sym typeface="Symbol"/>
              </a:rPr>
              <a:t> + </a:t>
            </a:r>
          </a:p>
          <a:p>
            <a:r>
              <a:rPr lang="en-US" dirty="0">
                <a:sym typeface="Symbol"/>
              </a:rPr>
              <a:t>                                                       oxidation products</a:t>
            </a:r>
          </a:p>
          <a:p>
            <a:pPr lvl="0"/>
            <a:r>
              <a:rPr lang="en-US" dirty="0">
                <a:solidFill>
                  <a:prstClr val="black"/>
                </a:solidFill>
              </a:rPr>
              <a:t>These test are positive even though the aldoses and ketoses exists primarily as cyclic </a:t>
            </a:r>
            <a:r>
              <a:rPr lang="en-US" dirty="0" err="1">
                <a:solidFill>
                  <a:prstClr val="black"/>
                </a:solidFill>
              </a:rPr>
              <a:t>hemiacetals</a:t>
            </a:r>
            <a:endParaRPr lang="en-US" dirty="0"/>
          </a:p>
          <a:p>
            <a:r>
              <a:rPr lang="en-US" sz="3900" dirty="0"/>
              <a:t>Fehling’s solution (cupric tartrate complex ion)</a:t>
            </a:r>
          </a:p>
          <a:p>
            <a:r>
              <a:rPr lang="en-US" sz="5100" dirty="0"/>
              <a:t>Carbohydrates (</a:t>
            </a:r>
            <a:r>
              <a:rPr lang="en-US" sz="5100" dirty="0" err="1"/>
              <a:t>hemiacetal</a:t>
            </a:r>
            <a:r>
              <a:rPr lang="en-US" sz="5100" dirty="0"/>
              <a:t>) that reduce those reagents </a:t>
            </a:r>
            <a:r>
              <a:rPr lang="en-US" dirty="0"/>
              <a:t>known as </a:t>
            </a:r>
            <a:r>
              <a:rPr lang="en-US" sz="4600" b="1" dirty="0">
                <a:solidFill>
                  <a:srgbClr val="FF0000"/>
                </a:solidFill>
              </a:rPr>
              <a:t>reducing sugars;  </a:t>
            </a:r>
            <a:r>
              <a:rPr lang="en-US" sz="4600" b="1" dirty="0">
                <a:solidFill>
                  <a:srgbClr val="00B0F0"/>
                </a:solidFill>
              </a:rPr>
              <a:t>Non reducing sugar (</a:t>
            </a:r>
            <a:r>
              <a:rPr lang="en-US" sz="4600" b="1" dirty="0" err="1">
                <a:solidFill>
                  <a:srgbClr val="00B0F0"/>
                </a:solidFill>
              </a:rPr>
              <a:t>acetals</a:t>
            </a:r>
            <a:r>
              <a:rPr lang="en-US" sz="4600" b="1" dirty="0">
                <a:solidFill>
                  <a:srgbClr val="00B0F0"/>
                </a:solidFill>
              </a:rPr>
              <a:t>):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6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8" t="18251" r="26626" b="23303"/>
          <a:stretch/>
        </p:blipFill>
        <p:spPr>
          <a:xfrm rot="16200000">
            <a:off x="1681823" y="-800088"/>
            <a:ext cx="6019801" cy="822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413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54" t="46540" r="31330" b="18104"/>
          <a:stretch/>
        </p:blipFill>
        <p:spPr>
          <a:xfrm>
            <a:off x="457200" y="228600"/>
            <a:ext cx="8395217" cy="6629400"/>
          </a:xfrm>
        </p:spPr>
      </p:pic>
    </p:spTree>
    <p:extLst>
      <p:ext uri="{BB962C8B-B14F-4D97-AF65-F5344CB8AC3E}">
        <p14:creationId xmlns:p14="http://schemas.microsoft.com/office/powerpoint/2010/main" val="1218090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2" t="3850" r="38065" b="3913"/>
          <a:stretch/>
        </p:blipFill>
        <p:spPr>
          <a:xfrm rot="16200000">
            <a:off x="2362904" y="-720374"/>
            <a:ext cx="4409719" cy="8898467"/>
          </a:xfrm>
        </p:spPr>
      </p:pic>
    </p:spTree>
    <p:extLst>
      <p:ext uri="{BB962C8B-B14F-4D97-AF65-F5344CB8AC3E}">
        <p14:creationId xmlns:p14="http://schemas.microsoft.com/office/powerpoint/2010/main" val="3244589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74" r="28550" b="2061"/>
          <a:stretch/>
        </p:blipFill>
        <p:spPr>
          <a:xfrm rot="16200000">
            <a:off x="2898322" y="-688522"/>
            <a:ext cx="3429000" cy="8311243"/>
          </a:xfrm>
        </p:spPr>
      </p:pic>
    </p:spTree>
    <p:extLst>
      <p:ext uri="{BB962C8B-B14F-4D97-AF65-F5344CB8AC3E}">
        <p14:creationId xmlns:p14="http://schemas.microsoft.com/office/powerpoint/2010/main" val="37429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366</Words>
  <Application>Microsoft Office PowerPoint</Application>
  <PresentationFormat>On-screen Show (4:3)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MS Gothic</vt:lpstr>
      <vt:lpstr>Arial</vt:lpstr>
      <vt:lpstr>Calibri</vt:lpstr>
      <vt:lpstr>Symbol</vt:lpstr>
      <vt:lpstr>Wingdings</vt:lpstr>
      <vt:lpstr>Office Theme</vt:lpstr>
      <vt:lpstr>Carbohydrates </vt:lpstr>
      <vt:lpstr>Carbohydrates </vt:lpstr>
      <vt:lpstr>Carbohydrates</vt:lpstr>
      <vt:lpstr>Carbohydrates: Classification</vt:lpstr>
      <vt:lpstr>examples</vt:lpstr>
      <vt:lpstr>Monosaccharides (classification)</vt:lpstr>
      <vt:lpstr>Carbohydrates: Glucose</vt:lpstr>
      <vt:lpstr>PowerPoint Presentation</vt:lpstr>
      <vt:lpstr>PowerPoint Presentation</vt:lpstr>
      <vt:lpstr>PowerPoint Presentation</vt:lpstr>
      <vt:lpstr>PowerPoint Presentation</vt:lpstr>
      <vt:lpstr>Carbohydrates:Monosaccharide: Glucose </vt:lpstr>
      <vt:lpstr>PowerPoint Presentation</vt:lpstr>
      <vt:lpstr>Oxidation reactions of monosaccharides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Carbohydrate </dc:title>
  <dc:creator>Windows User</dc:creator>
  <cp:lastModifiedBy>USER</cp:lastModifiedBy>
  <cp:revision>76</cp:revision>
  <dcterms:created xsi:type="dcterms:W3CDTF">2023-03-04T06:11:24Z</dcterms:created>
  <dcterms:modified xsi:type="dcterms:W3CDTF">2025-02-16T02:25:17Z</dcterms:modified>
</cp:coreProperties>
</file>