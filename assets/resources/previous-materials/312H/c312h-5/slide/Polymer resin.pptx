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2" r:id="rId9"/>
    <p:sldId id="263" r:id="rId10"/>
    <p:sldId id="265" r:id="rId11"/>
    <p:sldId id="266" r:id="rId12"/>
    <p:sldId id="267" r:id="rId13"/>
    <p:sldId id="269" r:id="rId14"/>
    <p:sldId id="268" r:id="rId15"/>
    <p:sldId id="270" r:id="rId16"/>
    <p:sldId id="272" r:id="rId17"/>
    <p:sldId id="271" r:id="rId18"/>
    <p:sldId id="273" r:id="rId19"/>
    <p:sldId id="281" r:id="rId20"/>
    <p:sldId id="282" r:id="rId21"/>
    <p:sldId id="274" r:id="rId22"/>
    <p:sldId id="275" r:id="rId23"/>
    <p:sldId id="276" r:id="rId24"/>
    <p:sldId id="284" r:id="rId25"/>
    <p:sldId id="283" r:id="rId26"/>
    <p:sldId id="277" r:id="rId27"/>
    <p:sldId id="306" r:id="rId28"/>
    <p:sldId id="278" r:id="rId29"/>
    <p:sldId id="285" r:id="rId30"/>
    <p:sldId id="303" r:id="rId31"/>
    <p:sldId id="279" r:id="rId32"/>
    <p:sldId id="305" r:id="rId33"/>
    <p:sldId id="280" r:id="rId34"/>
    <p:sldId id="286" r:id="rId35"/>
    <p:sldId id="287" r:id="rId36"/>
    <p:sldId id="288" r:id="rId37"/>
    <p:sldId id="289" r:id="rId38"/>
    <p:sldId id="290" r:id="rId39"/>
    <p:sldId id="291" r:id="rId40"/>
    <p:sldId id="292" r:id="rId41"/>
    <p:sldId id="293" r:id="rId42"/>
    <p:sldId id="294" r:id="rId43"/>
    <p:sldId id="295" r:id="rId44"/>
    <p:sldId id="297" r:id="rId45"/>
    <p:sldId id="296" r:id="rId46"/>
    <p:sldId id="304" r:id="rId47"/>
    <p:sldId id="298" r:id="rId48"/>
    <p:sldId id="299" r:id="rId49"/>
    <p:sldId id="300" r:id="rId50"/>
    <p:sldId id="301" r:id="rId51"/>
    <p:sldId id="302"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847F23-6AB0-4470-9252-48EBC9BD0D63}">
          <p14:sldIdLst>
            <p14:sldId id="256"/>
            <p14:sldId id="257"/>
            <p14:sldId id="258"/>
            <p14:sldId id="259"/>
            <p14:sldId id="260"/>
            <p14:sldId id="261"/>
            <p14:sldId id="264"/>
            <p14:sldId id="262"/>
            <p14:sldId id="263"/>
            <p14:sldId id="265"/>
            <p14:sldId id="266"/>
            <p14:sldId id="267"/>
            <p14:sldId id="269"/>
            <p14:sldId id="268"/>
          </p14:sldIdLst>
        </p14:section>
        <p14:section name="Untitled Section" id="{D9248B6E-024D-4C12-9450-3664FFA2A97E}">
          <p14:sldIdLst>
            <p14:sldId id="270"/>
            <p14:sldId id="272"/>
            <p14:sldId id="271"/>
            <p14:sldId id="273"/>
            <p14:sldId id="281"/>
            <p14:sldId id="282"/>
            <p14:sldId id="274"/>
            <p14:sldId id="275"/>
            <p14:sldId id="276"/>
            <p14:sldId id="284"/>
            <p14:sldId id="283"/>
            <p14:sldId id="277"/>
            <p14:sldId id="306"/>
            <p14:sldId id="278"/>
            <p14:sldId id="285"/>
            <p14:sldId id="303"/>
            <p14:sldId id="279"/>
            <p14:sldId id="305"/>
            <p14:sldId id="280"/>
            <p14:sldId id="286"/>
            <p14:sldId id="287"/>
            <p14:sldId id="288"/>
            <p14:sldId id="289"/>
            <p14:sldId id="290"/>
            <p14:sldId id="291"/>
            <p14:sldId id="292"/>
            <p14:sldId id="293"/>
            <p14:sldId id="294"/>
            <p14:sldId id="295"/>
            <p14:sldId id="297"/>
            <p14:sldId id="296"/>
            <p14:sldId id="304"/>
            <p14:sldId id="298"/>
            <p14:sldId id="299"/>
            <p14:sldId id="300"/>
            <p14:sldId id="301"/>
            <p14:sldId id="302"/>
          </p14:sldIdLst>
        </p14:section>
        <p14:section name="Untitled Section" id="{DC8F581C-16F8-4027-B0AC-6E057760C6CD}">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4"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849FAE-9010-4879-BD48-29B58996FB6F}"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3766646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849FAE-9010-4879-BD48-29B58996FB6F}"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1143879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849FAE-9010-4879-BD48-29B58996FB6F}"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2366739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849FAE-9010-4879-BD48-29B58996FB6F}"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1147886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849FAE-9010-4879-BD48-29B58996FB6F}" type="datetimeFigureOut">
              <a:rPr lang="en-US" smtClean="0"/>
              <a:t>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1586915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849FAE-9010-4879-BD48-29B58996FB6F}" type="datetimeFigureOut">
              <a:rPr lang="en-US" smtClean="0"/>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3388638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49FAE-9010-4879-BD48-29B58996FB6F}" type="datetimeFigureOut">
              <a:rPr lang="en-US" smtClean="0"/>
              <a:t>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1447863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849FAE-9010-4879-BD48-29B58996FB6F}"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4188670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849FAE-9010-4879-BD48-29B58996FB6F}"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2309243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849FAE-9010-4879-BD48-29B58996FB6F}"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3106053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849FAE-9010-4879-BD48-29B58996FB6F}"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551334-02B8-48E6-B542-69566892AFBF}" type="slidenum">
              <a:rPr lang="en-US" smtClean="0"/>
              <a:t>‹#›</a:t>
            </a:fld>
            <a:endParaRPr lang="en-US"/>
          </a:p>
        </p:txBody>
      </p:sp>
    </p:spTree>
    <p:extLst>
      <p:ext uri="{BB962C8B-B14F-4D97-AF65-F5344CB8AC3E}">
        <p14:creationId xmlns:p14="http://schemas.microsoft.com/office/powerpoint/2010/main" val="376901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49FAE-9010-4879-BD48-29B58996FB6F}" type="datetimeFigureOut">
              <a:rPr lang="en-US" smtClean="0"/>
              <a:t>11/5/2024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51334-02B8-48E6-B542-69566892AFBF}" type="slidenum">
              <a:rPr lang="en-US" smtClean="0"/>
              <a:t>‹#›</a:t>
            </a:fld>
            <a:endParaRPr lang="en-US"/>
          </a:p>
        </p:txBody>
      </p:sp>
    </p:spTree>
    <p:extLst>
      <p:ext uri="{BB962C8B-B14F-4D97-AF65-F5344CB8AC3E}">
        <p14:creationId xmlns:p14="http://schemas.microsoft.com/office/powerpoint/2010/main" val="1726297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isegeek.com/what-is-resin.htm" TargetMode="External"/><Relationship Id="rId2" Type="http://schemas.openxmlformats.org/officeDocument/2006/relationships/hyperlink" Target="https://www.wisegeek.com/what-are-polymers.ht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vedantu.com/chemistry/este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0565" y="566670"/>
            <a:ext cx="9514962" cy="4702569"/>
          </a:xfrm>
          <a:prstGeom prst="rect">
            <a:avLst/>
          </a:prstGeom>
        </p:spPr>
        <p:txBody>
          <a:bodyPr wrap="square">
            <a:spAutoFit/>
          </a:bodyPr>
          <a:lstStyle/>
          <a:p>
            <a:pPr fontAlgn="base">
              <a:lnSpc>
                <a:spcPct val="107000"/>
              </a:lnSpc>
            </a:pPr>
            <a:r>
              <a:rPr lang="en-US" sz="2800" b="1" kern="1800" dirty="0" smtClean="0">
                <a:solidFill>
                  <a:srgbClr val="FF0000"/>
                </a:solidFill>
                <a:effectLst/>
                <a:latin typeface="inherit"/>
                <a:ea typeface="Times New Roman" panose="02020603050405020304" pitchFamily="18" charset="0"/>
                <a:cs typeface="Times New Roman" panose="02020603050405020304" pitchFamily="18" charset="0"/>
              </a:rPr>
              <a:t>What is Polymer Resin?</a:t>
            </a:r>
            <a:endParaRPr lang="en-US" sz="2800" dirty="0" smtClean="0">
              <a:solidFill>
                <a:srgbClr val="FF0000"/>
              </a:solidFill>
              <a:effectLst/>
              <a:latin typeface="Calibri" panose="020F0502020204030204" pitchFamily="34" charset="0"/>
              <a:ea typeface="Calibri" panose="020F0502020204030204" pitchFamily="34" charset="0"/>
              <a:cs typeface="Vrinda" panose="020B0502040204020203" pitchFamily="34" charset="0"/>
            </a:endParaRPr>
          </a:p>
          <a:p>
            <a:pPr algn="just" fontAlgn="base">
              <a:lnSpc>
                <a:spcPct val="107000"/>
              </a:lnSpc>
            </a:pPr>
            <a:r>
              <a:rPr lang="en-US" sz="2800" dirty="0" smtClean="0">
                <a:solidFill>
                  <a:srgbClr val="000000"/>
                </a:solidFill>
                <a:effectLst/>
                <a:latin typeface="inherit"/>
                <a:ea typeface="Times New Roman" panose="02020603050405020304" pitchFamily="18" charset="0"/>
                <a:cs typeface="Times New Roman" panose="02020603050405020304" pitchFamily="18" charset="0"/>
              </a:rPr>
              <a:t> </a:t>
            </a:r>
            <a:endParaRPr lang="en-US" sz="2800" dirty="0" smtClean="0">
              <a:effectLst/>
              <a:latin typeface="Calibri" panose="020F0502020204030204" pitchFamily="34" charset="0"/>
              <a:ea typeface="Calibri" panose="020F0502020204030204" pitchFamily="34" charset="0"/>
              <a:cs typeface="Vrinda" panose="020B0502040204020203" pitchFamily="34" charset="0"/>
            </a:endParaRPr>
          </a:p>
          <a:p>
            <a:pPr algn="just" fontAlgn="base">
              <a:lnSpc>
                <a:spcPct val="107000"/>
              </a:lnSpc>
            </a:pPr>
            <a:r>
              <a:rPr lang="en-US" sz="2800" dirty="0" smtClean="0">
                <a:solidFill>
                  <a:srgbClr val="000000"/>
                </a:solidFill>
                <a:effectLst/>
                <a:latin typeface="inherit"/>
                <a:ea typeface="Times New Roman" panose="02020603050405020304" pitchFamily="18" charset="0"/>
                <a:cs typeface="Times New Roman" panose="02020603050405020304" pitchFamily="18" charset="0"/>
              </a:rPr>
              <a:t>Resin is a solid or highly viscous substance of plant or organic synthetic compound which begins a highly viscous state and hardens with treatment. </a:t>
            </a:r>
          </a:p>
          <a:p>
            <a:pPr algn="just" fontAlgn="base">
              <a:lnSpc>
                <a:spcPct val="107000"/>
              </a:lnSpc>
            </a:pPr>
            <a:endParaRPr lang="en-US" sz="2800" dirty="0">
              <a:solidFill>
                <a:srgbClr val="000000"/>
              </a:solidFill>
              <a:latin typeface="inherit"/>
              <a:ea typeface="Times New Roman" panose="02020603050405020304" pitchFamily="18" charset="0"/>
              <a:cs typeface="Times New Roman" panose="02020603050405020304" pitchFamily="18" charset="0"/>
            </a:endParaRPr>
          </a:p>
          <a:p>
            <a:pPr algn="just" fontAlgn="base">
              <a:lnSpc>
                <a:spcPct val="107000"/>
              </a:lnSpc>
            </a:pPr>
            <a:r>
              <a:rPr lang="en-US" sz="2800" b="1" dirty="0">
                <a:latin typeface="inherit"/>
                <a:ea typeface="Times New Roman" panose="02020603050405020304" pitchFamily="18" charset="0"/>
                <a:cs typeface="Times New Roman" panose="02020603050405020304" pitchFamily="18" charset="0"/>
                <a:hlinkClick r:id="rId2"/>
              </a:rPr>
              <a:t>Polymer</a:t>
            </a:r>
            <a:r>
              <a:rPr lang="en-US" sz="2800" dirty="0">
                <a:latin typeface="inherit"/>
                <a:ea typeface="Times New Roman" panose="02020603050405020304" pitchFamily="18" charset="0"/>
                <a:cs typeface="Times New Roman" panose="02020603050405020304" pitchFamily="18" charset="0"/>
              </a:rPr>
              <a:t> </a:t>
            </a:r>
            <a:r>
              <a:rPr lang="en-US" sz="2800" b="1" dirty="0">
                <a:latin typeface="inherit"/>
                <a:ea typeface="Times New Roman" panose="02020603050405020304" pitchFamily="18" charset="0"/>
                <a:cs typeface="Times New Roman" panose="02020603050405020304" pitchFamily="18" charset="0"/>
                <a:hlinkClick r:id="rId3"/>
              </a:rPr>
              <a:t>resin</a:t>
            </a:r>
            <a:r>
              <a:rPr lang="en-US" sz="2800" dirty="0">
                <a:latin typeface="inherit"/>
                <a:ea typeface="Times New Roman" panose="02020603050405020304" pitchFamily="18" charset="0"/>
                <a:cs typeface="Times New Roman" panose="02020603050405020304" pitchFamily="18" charset="0"/>
              </a:rPr>
              <a:t> </a:t>
            </a:r>
            <a:r>
              <a:rPr lang="en-US" sz="2800" dirty="0">
                <a:solidFill>
                  <a:srgbClr val="000000"/>
                </a:solidFill>
                <a:latin typeface="inherit"/>
                <a:ea typeface="Times New Roman" panose="02020603050405020304" pitchFamily="18" charset="0"/>
                <a:cs typeface="Times New Roman" panose="02020603050405020304" pitchFamily="18" charset="0"/>
              </a:rPr>
              <a:t>is a clear liquid plastic product that hardens to create a thick, durable, glossy coating. </a:t>
            </a:r>
          </a:p>
          <a:p>
            <a:pPr algn="just" fontAlgn="base">
              <a:lnSpc>
                <a:spcPct val="107000"/>
              </a:lnSpc>
            </a:pPr>
            <a:endParaRPr lang="en-US" sz="2800" dirty="0" smtClean="0">
              <a:solidFill>
                <a:srgbClr val="000000"/>
              </a:solidFill>
              <a:effectLst/>
              <a:latin typeface="inherit"/>
              <a:ea typeface="Times New Roman" panose="02020603050405020304" pitchFamily="18" charset="0"/>
              <a:cs typeface="Times New Roman" panose="02020603050405020304" pitchFamily="18" charset="0"/>
            </a:endParaRPr>
          </a:p>
          <a:p>
            <a:pPr algn="just" fontAlgn="base">
              <a:lnSpc>
                <a:spcPct val="107000"/>
              </a:lnSpc>
            </a:pPr>
            <a:endParaRPr lang="en-US" sz="2800" dirty="0">
              <a:solidFill>
                <a:srgbClr val="000000"/>
              </a:solidFill>
              <a:latin typeface="inheri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762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5003" y="0"/>
            <a:ext cx="11101589" cy="7929735"/>
          </a:xfrm>
          <a:prstGeom prst="rect">
            <a:avLst/>
          </a:prstGeom>
        </p:spPr>
        <p:txBody>
          <a:bodyPr wrap="square">
            <a:spAutoFit/>
          </a:bodyPr>
          <a:lstStyle/>
          <a:p>
            <a:pPr algn="just" fontAlgn="base">
              <a:lnSpc>
                <a:spcPct val="107000"/>
              </a:lnSpc>
            </a:pPr>
            <a:endParaRPr lang="en-US" sz="2800" dirty="0" smtClean="0">
              <a:solidFill>
                <a:srgbClr val="000000"/>
              </a:solidFill>
              <a:latin typeface="inherit"/>
              <a:ea typeface="Times New Roman" panose="02020603050405020304" pitchFamily="18" charset="0"/>
              <a:cs typeface="Times New Roman" panose="02020603050405020304" pitchFamily="18" charset="0"/>
            </a:endParaRPr>
          </a:p>
          <a:p>
            <a:pPr algn="just" fontAlgn="base">
              <a:lnSpc>
                <a:spcPct val="107000"/>
              </a:lnSpc>
            </a:pPr>
            <a:r>
              <a:rPr lang="en-US" sz="2800" dirty="0" smtClean="0">
                <a:solidFill>
                  <a:srgbClr val="000000"/>
                </a:solidFill>
                <a:latin typeface="inherit"/>
                <a:ea typeface="Times New Roman" panose="02020603050405020304" pitchFamily="18" charset="0"/>
                <a:cs typeface="Times New Roman" panose="02020603050405020304" pitchFamily="18" charset="0"/>
              </a:rPr>
              <a:t>Once </a:t>
            </a:r>
            <a:r>
              <a:rPr lang="en-US" sz="2800" dirty="0">
                <a:solidFill>
                  <a:srgbClr val="000000"/>
                </a:solidFill>
                <a:latin typeface="inherit"/>
                <a:ea typeface="Times New Roman" panose="02020603050405020304" pitchFamily="18" charset="0"/>
                <a:cs typeface="Times New Roman" panose="02020603050405020304" pitchFamily="18" charset="0"/>
              </a:rPr>
              <a:t>hardened, it is fade-proof and water-resistant. This type of resin is commonly used on furniture to seal finishes and create a durable, glass-like surface, </a:t>
            </a:r>
            <a:endParaRPr lang="en-US" sz="2800" dirty="0" smtClean="0">
              <a:solidFill>
                <a:srgbClr val="000000"/>
              </a:solidFill>
              <a:latin typeface="inherit"/>
              <a:ea typeface="Times New Roman" panose="02020603050405020304" pitchFamily="18" charset="0"/>
              <a:cs typeface="Times New Roman" panose="02020603050405020304" pitchFamily="18" charset="0"/>
            </a:endParaRPr>
          </a:p>
          <a:p>
            <a:pPr algn="just" fontAlgn="base">
              <a:lnSpc>
                <a:spcPct val="107000"/>
              </a:lnSpc>
            </a:pPr>
            <a:endParaRPr lang="en-US" sz="2800" dirty="0">
              <a:solidFill>
                <a:srgbClr val="000000"/>
              </a:solidFill>
              <a:latin typeface="inherit"/>
              <a:ea typeface="Times New Roman" panose="02020603050405020304" pitchFamily="18" charset="0"/>
              <a:cs typeface="Times New Roman" panose="02020603050405020304" pitchFamily="18" charset="0"/>
            </a:endParaRPr>
          </a:p>
          <a:p>
            <a:pPr algn="just" fontAlgn="base">
              <a:lnSpc>
                <a:spcPct val="107000"/>
              </a:lnSpc>
            </a:pPr>
            <a:r>
              <a:rPr lang="en-US" sz="2800" dirty="0" smtClean="0">
                <a:solidFill>
                  <a:srgbClr val="000000"/>
                </a:solidFill>
                <a:latin typeface="inherit"/>
                <a:ea typeface="Times New Roman" panose="02020603050405020304" pitchFamily="18" charset="0"/>
                <a:cs typeface="Times New Roman" panose="02020603050405020304" pitchFamily="18" charset="0"/>
              </a:rPr>
              <a:t>and </a:t>
            </a:r>
            <a:r>
              <a:rPr lang="en-US" sz="2800" dirty="0">
                <a:solidFill>
                  <a:srgbClr val="000000"/>
                </a:solidFill>
                <a:latin typeface="inherit"/>
                <a:ea typeface="Times New Roman" panose="02020603050405020304" pitchFamily="18" charset="0"/>
                <a:cs typeface="Times New Roman" panose="02020603050405020304" pitchFamily="18" charset="0"/>
              </a:rPr>
              <a:t>it's also used in many other arts and crafts when the artist wants a thick, glossy coating</a:t>
            </a:r>
            <a:r>
              <a:rPr lang="en-US" sz="2800" dirty="0" smtClean="0">
                <a:solidFill>
                  <a:srgbClr val="000000"/>
                </a:solidFill>
                <a:latin typeface="inherit"/>
                <a:ea typeface="Times New Roman" panose="02020603050405020304" pitchFamily="18" charset="0"/>
                <a:cs typeface="Times New Roman" panose="02020603050405020304" pitchFamily="18" charset="0"/>
              </a:rPr>
              <a:t>.</a:t>
            </a:r>
          </a:p>
          <a:p>
            <a:pPr algn="just" fontAlgn="base">
              <a:lnSpc>
                <a:spcPct val="107000"/>
              </a:lnSpc>
            </a:pPr>
            <a:endParaRPr lang="en-US" sz="2800" dirty="0" smtClean="0">
              <a:solidFill>
                <a:srgbClr val="000000"/>
              </a:solidFill>
              <a:latin typeface="inherit"/>
              <a:ea typeface="Times New Roman" panose="02020603050405020304" pitchFamily="18" charset="0"/>
              <a:cs typeface="Times New Roman" panose="02020603050405020304" pitchFamily="18" charset="0"/>
            </a:endParaRPr>
          </a:p>
          <a:p>
            <a:pPr algn="just" fontAlgn="base">
              <a:lnSpc>
                <a:spcPct val="107000"/>
              </a:lnSpc>
            </a:pPr>
            <a:endParaRPr lang="en-US" sz="2800" dirty="0">
              <a:solidFill>
                <a:srgbClr val="000000"/>
              </a:solidFill>
              <a:latin typeface="inherit"/>
              <a:ea typeface="Times New Roman" panose="02020603050405020304" pitchFamily="18" charset="0"/>
              <a:cs typeface="Times New Roman" panose="02020603050405020304" pitchFamily="18" charset="0"/>
            </a:endParaRPr>
          </a:p>
          <a:p>
            <a:pPr algn="just" fontAlgn="base">
              <a:lnSpc>
                <a:spcPct val="107000"/>
              </a:lnSpc>
            </a:pPr>
            <a:r>
              <a:rPr lang="en-US" sz="2800" dirty="0" smtClean="0">
                <a:solidFill>
                  <a:srgbClr val="000000"/>
                </a:solidFill>
                <a:latin typeface="inherit"/>
                <a:ea typeface="Times New Roman" panose="02020603050405020304" pitchFamily="18" charset="0"/>
                <a:cs typeface="Times New Roman" panose="02020603050405020304" pitchFamily="18" charset="0"/>
              </a:rPr>
              <a:t>Typically </a:t>
            </a:r>
            <a:r>
              <a:rPr lang="en-US" sz="2800" dirty="0">
                <a:solidFill>
                  <a:srgbClr val="000000"/>
                </a:solidFill>
                <a:latin typeface="inherit"/>
                <a:ea typeface="Times New Roman" panose="02020603050405020304" pitchFamily="18" charset="0"/>
                <a:cs typeface="Times New Roman" panose="02020603050405020304" pitchFamily="18" charset="0"/>
              </a:rPr>
              <a:t>resin is soluble in alcohol not in water. </a:t>
            </a:r>
            <a:endParaRPr lang="en-US" sz="2800" dirty="0">
              <a:latin typeface="Calibri" panose="020F0502020204030204" pitchFamily="34" charset="0"/>
              <a:ea typeface="Calibri" panose="020F0502020204030204" pitchFamily="34" charset="0"/>
              <a:cs typeface="Vrinda" panose="020B0502040204020203" pitchFamily="34" charset="0"/>
            </a:endParaRPr>
          </a:p>
          <a:p>
            <a:pPr algn="just" fontAlgn="base">
              <a:lnSpc>
                <a:spcPct val="107000"/>
              </a:lnSpc>
            </a:pPr>
            <a:endParaRPr lang="en-US" sz="2800" dirty="0">
              <a:solidFill>
                <a:srgbClr val="000000"/>
              </a:solidFill>
              <a:effectLst/>
              <a:latin typeface="inherit"/>
              <a:ea typeface="Calibri" panose="020F0502020204030204" pitchFamily="34" charset="0"/>
              <a:cs typeface="Times New Roman" panose="02020603050405020304" pitchFamily="18" charset="0"/>
            </a:endParaRPr>
          </a:p>
          <a:p>
            <a:pPr algn="just" fontAlgn="base">
              <a:lnSpc>
                <a:spcPct val="107000"/>
              </a:lnSpc>
            </a:pPr>
            <a:r>
              <a:rPr lang="en-US" sz="2800" b="1" dirty="0">
                <a:solidFill>
                  <a:srgbClr val="043ED6"/>
                </a:solidFill>
                <a:latin typeface="inherit"/>
                <a:ea typeface="Times New Roman" panose="02020603050405020304" pitchFamily="18" charset="0"/>
                <a:cs typeface="Times New Roman" panose="02020603050405020304" pitchFamily="18" charset="0"/>
              </a:rPr>
              <a:t>Polymer resins are often used to give furniture protective, glossy coatings</a:t>
            </a:r>
            <a:endParaRPr lang="en-US" sz="2800" dirty="0">
              <a:latin typeface="Calibri" panose="020F0502020204030204" pitchFamily="34" charset="0"/>
              <a:ea typeface="Calibri" panose="020F0502020204030204" pitchFamily="34" charset="0"/>
              <a:cs typeface="Vrinda" panose="020B0502040204020203" pitchFamily="34" charset="0"/>
            </a:endParaRPr>
          </a:p>
          <a:p>
            <a:pPr fontAlgn="base">
              <a:lnSpc>
                <a:spcPct val="107000"/>
              </a:lnSpc>
            </a:pPr>
            <a:r>
              <a:rPr lang="en-US" sz="2800" dirty="0">
                <a:latin typeface="inherit"/>
                <a:ea typeface="Times New Roman" panose="02020603050405020304" pitchFamily="18" charset="0"/>
                <a:cs typeface="Times New Roman" panose="02020603050405020304" pitchFamily="18" charset="0"/>
              </a:rPr>
              <a:t> </a:t>
            </a:r>
            <a:endParaRPr lang="en-US" sz="2800" dirty="0">
              <a:latin typeface="Calibri" panose="020F0502020204030204" pitchFamily="34" charset="0"/>
              <a:ea typeface="Calibri" panose="020F0502020204030204" pitchFamily="34" charset="0"/>
              <a:cs typeface="Vrinda" panose="020B0502040204020203" pitchFamily="34" charset="0"/>
            </a:endParaRPr>
          </a:p>
          <a:p>
            <a:pPr algn="just" fontAlgn="base">
              <a:lnSpc>
                <a:spcPct val="107000"/>
              </a:lnSpc>
            </a:pPr>
            <a:endParaRPr lang="en-US" sz="2800" dirty="0" smtClean="0">
              <a:solidFill>
                <a:srgbClr val="000000"/>
              </a:solidFill>
              <a:latin typeface="inherit"/>
              <a:ea typeface="Calibri" panose="020F0502020204030204" pitchFamily="34" charset="0"/>
              <a:cs typeface="Times New Roman" panose="02020603050405020304" pitchFamily="18" charset="0"/>
            </a:endParaRPr>
          </a:p>
          <a:p>
            <a:pPr algn="just" fontAlgn="base">
              <a:lnSpc>
                <a:spcPct val="107000"/>
              </a:lnSpc>
            </a:pPr>
            <a:endParaRPr lang="en-US" sz="2800" dirty="0">
              <a:solidFill>
                <a:srgbClr val="000000"/>
              </a:solidFill>
              <a:effectLst/>
              <a:latin typeface="inherit"/>
              <a:ea typeface="Calibri" panose="020F0502020204030204" pitchFamily="34" charset="0"/>
              <a:cs typeface="Times New Roman" panose="02020603050405020304" pitchFamily="18" charset="0"/>
            </a:endParaRPr>
          </a:p>
          <a:p>
            <a:pPr algn="just" fontAlgn="base">
              <a:lnSpc>
                <a:spcPct val="107000"/>
              </a:lnSpc>
            </a:pPr>
            <a:endParaRPr lang="en-US" sz="28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231227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6517" y="785612"/>
            <a:ext cx="9594761" cy="2913939"/>
          </a:xfrm>
          <a:prstGeom prst="rect">
            <a:avLst/>
          </a:prstGeom>
        </p:spPr>
        <p:txBody>
          <a:bodyPr wrap="square">
            <a:spAutoFit/>
          </a:bodyPr>
          <a:lstStyle/>
          <a:p>
            <a:pPr algn="just">
              <a:lnSpc>
                <a:spcPct val="107000"/>
              </a:lnSpc>
              <a:spcBef>
                <a:spcPts val="1600"/>
              </a:spcBef>
              <a:spcAft>
                <a:spcPts val="1000"/>
              </a:spcAft>
            </a:pPr>
            <a:r>
              <a:rPr lang="en-US" sz="3600" b="1" dirty="0" smtClean="0">
                <a:solidFill>
                  <a:srgbClr val="C00000"/>
                </a:solidFill>
                <a:effectLst/>
                <a:latin typeface="Arial" panose="020B0604020202020204" pitchFamily="34" charset="0"/>
                <a:ea typeface="Times New Roman" panose="02020603050405020304" pitchFamily="18" charset="0"/>
                <a:cs typeface="Vrinda" panose="020B0502040204020203" pitchFamily="34" charset="0"/>
              </a:rPr>
              <a:t>Types of Resin</a:t>
            </a:r>
            <a:endParaRPr lang="en-US" sz="3600" dirty="0" smtClean="0">
              <a:effectLst/>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Resin can be divided into two types depending on the nature of synthesis. Resin is of two types:</a:t>
            </a:r>
            <a:endParaRPr lang="en-US" sz="2800" dirty="0" smtClean="0">
              <a:effectLst/>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1.Natural Resin</a:t>
            </a:r>
            <a:endParaRPr lang="en-US" sz="2800" dirty="0" smtClean="0">
              <a:effectLst/>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2. Synthetic Resin</a:t>
            </a:r>
            <a:endParaRPr lang="en-US" sz="28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1349860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3638" y="515153"/>
            <a:ext cx="10534920" cy="4882747"/>
          </a:xfrm>
          <a:prstGeom prst="rect">
            <a:avLst/>
          </a:prstGeom>
        </p:spPr>
        <p:txBody>
          <a:bodyPr wrap="square">
            <a:spAutoFit/>
          </a:bodyPr>
          <a:lstStyle/>
          <a:p>
            <a:pPr algn="just">
              <a:lnSpc>
                <a:spcPct val="107000"/>
              </a:lnSpc>
              <a:spcBef>
                <a:spcPts val="1600"/>
              </a:spcBef>
              <a:spcAft>
                <a:spcPts val="1000"/>
              </a:spcAft>
            </a:pPr>
            <a:r>
              <a:rPr lang="en-US" sz="2800" b="1" dirty="0" smtClean="0">
                <a:solidFill>
                  <a:srgbClr val="0070C0"/>
                </a:solidFill>
                <a:effectLst/>
                <a:latin typeface="Arial" panose="020B0604020202020204" pitchFamily="34" charset="0"/>
                <a:ea typeface="Times New Roman" panose="02020603050405020304" pitchFamily="18" charset="0"/>
                <a:cs typeface="Vrinda" panose="020B0502040204020203" pitchFamily="34" charset="0"/>
              </a:rPr>
              <a:t>1. Natural Resin- </a:t>
            </a:r>
            <a:endParaRPr lang="en-US" sz="2800" dirty="0" smtClean="0">
              <a:effectLst/>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These types of Resin have a natural source. They are obtained from nature. Mostly they originate from the plants. Therefore, known as plant resin. </a:t>
            </a:r>
          </a:p>
          <a:p>
            <a:pPr algn="just">
              <a:lnSpc>
                <a:spcPct val="107000"/>
              </a:lnSpc>
              <a:spcAft>
                <a:spcPts val="1000"/>
              </a:spcAft>
            </a:pPr>
            <a:endParaRPr lang="en-US" sz="2800" dirty="0">
              <a:solidFill>
                <a:srgbClr val="000000"/>
              </a:solidFill>
              <a:latin typeface="Arial" panose="020B0604020202020204" pitchFamily="34" charset="0"/>
              <a:ea typeface="Times New Roman" panose="02020603050405020304" pitchFamily="18"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It can be isolated by the whole plant, specific part, or exudes by plants as a result of injury/incision. </a:t>
            </a:r>
          </a:p>
          <a:p>
            <a:pPr algn="just">
              <a:lnSpc>
                <a:spcPct val="107000"/>
              </a:lnSpc>
              <a:spcAft>
                <a:spcPts val="1000"/>
              </a:spcAft>
            </a:pPr>
            <a:endParaRPr lang="en-US" sz="2800" dirty="0">
              <a:solidFill>
                <a:srgbClr val="000000"/>
              </a:solidFill>
              <a:latin typeface="Arial" panose="020B0604020202020204" pitchFamily="34" charset="0"/>
              <a:ea typeface="Times New Roman" panose="02020603050405020304" pitchFamily="18"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Rarely some natural resin is obtained from the animal. </a:t>
            </a:r>
            <a:endParaRPr lang="en-US" sz="28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141928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3031" y="708338"/>
            <a:ext cx="9094757" cy="4618893"/>
          </a:xfrm>
          <a:prstGeom prst="rect">
            <a:avLst/>
          </a:prstGeom>
        </p:spPr>
        <p:txBody>
          <a:bodyPr wrap="square">
            <a:spAutoFit/>
          </a:bodyPr>
          <a:lstStyle/>
          <a:p>
            <a:pPr algn="just">
              <a:lnSpc>
                <a:spcPct val="107000"/>
              </a:lnSpc>
              <a:spcAft>
                <a:spcPts val="1000"/>
              </a:spcAft>
            </a:pPr>
            <a:r>
              <a:rPr lang="en-US" sz="2800" dirty="0" smtClean="0">
                <a:solidFill>
                  <a:srgbClr val="0070C0"/>
                </a:solidFill>
                <a:effectLst/>
                <a:latin typeface="Arial" panose="020B0604020202020204" pitchFamily="34" charset="0"/>
                <a:ea typeface="Times New Roman" panose="02020603050405020304" pitchFamily="18" charset="0"/>
                <a:cs typeface="Vrinda" panose="020B0502040204020203" pitchFamily="34" charset="0"/>
              </a:rPr>
              <a:t>Examples of plants from which resin can be obtained-</a:t>
            </a: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a:t>
            </a: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Benzoin, ginger, </a:t>
            </a:r>
            <a:r>
              <a:rPr lang="en-US" sz="2800" dirty="0" err="1"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podophyllum</a:t>
            </a: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a:t>
            </a:r>
            <a:r>
              <a:rPr lang="en-US" sz="2800" dirty="0" err="1"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asafoetida</a:t>
            </a: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and capsicum.</a:t>
            </a:r>
            <a:endParaRPr lang="en-US" sz="2800" dirty="0">
              <a:solidFill>
                <a:srgbClr val="000000"/>
              </a:solidFill>
              <a:latin typeface="Arial" panose="020B0604020202020204" pitchFamily="34" charset="0"/>
              <a:ea typeface="Times New Roman" panose="02020603050405020304" pitchFamily="18" charset="0"/>
              <a:cs typeface="Vrinda" panose="020B0502040204020203" pitchFamily="34" charset="0"/>
            </a:endParaRPr>
          </a:p>
          <a:p>
            <a:pPr algn="just"/>
            <a:r>
              <a:rPr lang="en-US" sz="2800" dirty="0"/>
              <a:t>A classic example is pine sap, which has the characteristic sharp odor of </a:t>
            </a:r>
            <a:r>
              <a:rPr lang="en-US" sz="2800" dirty="0" err="1"/>
              <a:t>terpene</a:t>
            </a:r>
            <a:r>
              <a:rPr lang="en-US" sz="2800" dirty="0"/>
              <a:t> compounds. As anyone who has interacted with pine sap knows, the substance is very viscous, but it hardens over time</a:t>
            </a:r>
          </a:p>
          <a:p>
            <a:pPr algn="just"/>
            <a:r>
              <a:rPr lang="en-US" sz="1400" b="1" dirty="0"/>
              <a:t> </a:t>
            </a:r>
            <a:endParaRPr lang="en-US" sz="1400" dirty="0"/>
          </a:p>
          <a:p>
            <a:pPr algn="just">
              <a:lnSpc>
                <a:spcPct val="107000"/>
              </a:lnSpc>
              <a:spcAft>
                <a:spcPts val="1000"/>
              </a:spcAft>
            </a:pPr>
            <a:endParaRPr lang="en-US" sz="1400" dirty="0" smtClean="0">
              <a:solidFill>
                <a:srgbClr val="000000"/>
              </a:solidFill>
              <a:effectLst/>
              <a:latin typeface="Arial" panose="020B0604020202020204" pitchFamily="34" charset="0"/>
              <a:ea typeface="Calibri" panose="020F0502020204030204" pitchFamily="34" charset="0"/>
              <a:cs typeface="Vrinda" panose="020B0502040204020203" pitchFamily="34" charset="0"/>
            </a:endParaRPr>
          </a:p>
          <a:p>
            <a:pPr algn="just">
              <a:lnSpc>
                <a:spcPct val="107000"/>
              </a:lnSpc>
              <a:spcAft>
                <a:spcPts val="1000"/>
              </a:spcAft>
            </a:pPr>
            <a:endParaRPr lang="en-US" sz="1400" dirty="0">
              <a:solidFill>
                <a:srgbClr val="000000"/>
              </a:solidFill>
              <a:latin typeface="Arial" panose="020B0604020202020204" pitchFamily="34" charset="0"/>
              <a:ea typeface="Calibri" panose="020F0502020204030204" pitchFamily="34" charset="0"/>
              <a:cs typeface="Vrinda" panose="020B0502040204020203" pitchFamily="34" charset="0"/>
            </a:endParaRPr>
          </a:p>
          <a:p>
            <a:pPr algn="just">
              <a:lnSpc>
                <a:spcPct val="107000"/>
              </a:lnSpc>
              <a:spcAft>
                <a:spcPts val="1000"/>
              </a:spcAft>
            </a:pPr>
            <a:endParaRPr lang="en-US" sz="14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3711955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72988" y="772732"/>
            <a:ext cx="10086178" cy="5547163"/>
          </a:xfrm>
          <a:prstGeom prst="rect">
            <a:avLst/>
          </a:prstGeom>
        </p:spPr>
        <p:txBody>
          <a:bodyPr wrap="square">
            <a:spAutoFit/>
          </a:bodyPr>
          <a:lstStyle/>
          <a:p>
            <a:pPr algn="just">
              <a:lnSpc>
                <a:spcPct val="107000"/>
              </a:lnSpc>
              <a:spcBef>
                <a:spcPts val="1600"/>
              </a:spcBef>
              <a:spcAft>
                <a:spcPts val="1000"/>
              </a:spcAft>
            </a:pPr>
            <a:r>
              <a:rPr lang="en-US" sz="2800" b="1" dirty="0" smtClean="0">
                <a:solidFill>
                  <a:srgbClr val="0070C0"/>
                </a:solidFill>
                <a:effectLst/>
                <a:latin typeface="Arial" panose="020B0604020202020204" pitchFamily="34" charset="0"/>
                <a:ea typeface="Times New Roman" panose="02020603050405020304" pitchFamily="18" charset="0"/>
                <a:cs typeface="Vrinda" panose="020B0502040204020203" pitchFamily="34" charset="0"/>
              </a:rPr>
              <a:t>2. Synthetic Resin- </a:t>
            </a:r>
            <a:endParaRPr lang="en-US" sz="2800" dirty="0" smtClean="0">
              <a:effectLst/>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1000"/>
              </a:spcAf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These types of resin are produced in the industry. Synthetic resins are produced by the curing of the rigid </a:t>
            </a:r>
            <a:r>
              <a:rPr lang="en-US" sz="2400" u="none" strike="noStrike" dirty="0" smtClean="0">
                <a:effectLst/>
                <a:latin typeface="Arial" panose="020B0604020202020204" pitchFamily="34" charset="0"/>
                <a:ea typeface="Times New Roman" panose="02020603050405020304" pitchFamily="18" charset="0"/>
                <a:cs typeface="Vrinda" panose="020B0502040204020203" pitchFamily="34" charset="0"/>
              </a:rPr>
              <a:t>polymer.</a:t>
            </a:r>
          </a:p>
          <a:p>
            <a:pPr algn="just">
              <a:lnSpc>
                <a:spcPct val="107000"/>
              </a:lnSpc>
              <a:spcAft>
                <a:spcPts val="1000"/>
              </a:spcAf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When they undergo a curing process, they contain reactive end groups like epoxides or acrylates. It can be of various types: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Thermoplastic resins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Epoxy resins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Casting resins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Epoxy resins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Ion exchange resins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marL="457200" marR="0" algn="just" fontAlgn="base">
              <a:lnSpc>
                <a:spcPct val="107000"/>
              </a:lnSpc>
              <a:spcBef>
                <a:spcPts val="0"/>
              </a:spcBef>
              <a:spcAft>
                <a:spcPts val="1000"/>
              </a:spcAf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a:t>
            </a:r>
            <a:endParaRPr lang="en-US" sz="24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3796791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6213" y="695460"/>
            <a:ext cx="11487956" cy="6288662"/>
          </a:xfrm>
          <a:prstGeom prst="rect">
            <a:avLst/>
          </a:prstGeom>
        </p:spPr>
        <p:txBody>
          <a:bodyPr wrap="square">
            <a:spAutoFit/>
          </a:bodyPr>
          <a:lstStyle/>
          <a:p>
            <a:pPr marL="457200" marR="0" algn="just" fontAlgn="base">
              <a:lnSpc>
                <a:spcPct val="107000"/>
              </a:lnSpc>
              <a:spcBef>
                <a:spcPts val="0"/>
              </a:spcBef>
              <a:spcAft>
                <a:spcPts val="1000"/>
              </a:spcAft>
            </a:pPr>
            <a:r>
              <a:rPr lang="en-US" sz="28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rPr>
              <a:t>For the most part, polymers made with “resins” are actually made with synthetics, which are cheaper and easier to refine. </a:t>
            </a:r>
          </a:p>
          <a:p>
            <a:pPr marL="457200" marR="0" algn="just" fontAlgn="base">
              <a:lnSpc>
                <a:spcPct val="107000"/>
              </a:lnSpc>
              <a:spcBef>
                <a:spcPts val="0"/>
              </a:spcBef>
              <a:spcAft>
                <a:spcPts val="1000"/>
              </a:spcAft>
            </a:pPr>
            <a:endParaRPr lang="en-US" sz="28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p>
            <a:pPr marL="457200" marR="0" algn="just" fontAlgn="base">
              <a:lnSpc>
                <a:spcPct val="107000"/>
              </a:lnSpc>
              <a:spcBef>
                <a:spcPts val="0"/>
              </a:spcBef>
              <a:spcAft>
                <a:spcPts val="1000"/>
              </a:spcAft>
            </a:pPr>
            <a:r>
              <a:rPr lang="en-US" sz="28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rPr>
              <a:t>Synthetic varieties are much more stable, predictable, and uniform than natural ones as well, since they are made under controlled conditions without the possibility of the introduction of impurities. </a:t>
            </a:r>
          </a:p>
          <a:p>
            <a:pPr marL="457200" marR="0" algn="just" fontAlgn="base">
              <a:lnSpc>
                <a:spcPct val="107000"/>
              </a:lnSpc>
              <a:spcBef>
                <a:spcPts val="0"/>
              </a:spcBef>
              <a:spcAft>
                <a:spcPts val="1000"/>
              </a:spcAft>
            </a:pPr>
            <a:endParaRPr lang="en-US" sz="2800" dirty="0">
              <a:solidFill>
                <a:srgbClr val="000000"/>
              </a:solidFill>
              <a:latin typeface="Calibri" panose="020F0502020204030204" pitchFamily="34" charset="0"/>
              <a:ea typeface="Calibri" panose="020F0502020204030204" pitchFamily="34" charset="0"/>
              <a:cs typeface="Vrinda" panose="020B0502040204020203" pitchFamily="34" charset="0"/>
            </a:endParaRPr>
          </a:p>
          <a:p>
            <a:pPr marL="457200" marR="0" algn="just" fontAlgn="base">
              <a:lnSpc>
                <a:spcPct val="107000"/>
              </a:lnSpc>
              <a:spcBef>
                <a:spcPts val="0"/>
              </a:spcBef>
              <a:spcAft>
                <a:spcPts val="1000"/>
              </a:spcAft>
            </a:pPr>
            <a:r>
              <a:rPr lang="en-US" sz="28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rPr>
              <a:t>They are made by combining chemicals in a laboratory to stimulate a reaction which results in the formulation of a resinous compound. Once formed, the substance can be used in the production of plastics, paints, and many of the same substances that natural resin is used in.</a:t>
            </a:r>
            <a:endParaRPr lang="en-US" sz="2800" dirty="0" smtClean="0">
              <a:effectLst/>
              <a:latin typeface="Calibri" panose="020F0502020204030204" pitchFamily="34" charset="0"/>
              <a:ea typeface="Calibri" panose="020F0502020204030204" pitchFamily="34" charset="0"/>
              <a:cs typeface="Vrinda" panose="020B0502040204020203" pitchFamily="34" charset="0"/>
            </a:endParaRPr>
          </a:p>
          <a:p>
            <a:pPr marL="457200" marR="0" algn="just" fontAlgn="base">
              <a:lnSpc>
                <a:spcPct val="107000"/>
              </a:lnSpc>
              <a:spcBef>
                <a:spcPts val="0"/>
              </a:spcBef>
              <a:spcAft>
                <a:spcPts val="1000"/>
              </a:spcAft>
            </a:pPr>
            <a:r>
              <a:rPr lang="en-US" sz="20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a:t>
            </a:r>
            <a:endParaRPr lang="en-US" sz="20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1871568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62635" y="304800"/>
            <a:ext cx="9699812" cy="6265818"/>
          </a:xfrm>
          <a:prstGeom prst="rect">
            <a:avLst/>
          </a:prstGeom>
        </p:spPr>
        <p:txBody>
          <a:bodyPr wrap="square">
            <a:spAutoFit/>
          </a:bodyPr>
          <a:lstStyle/>
          <a:p>
            <a:pPr marL="457200" marR="0" algn="just" fontAlgn="base">
              <a:lnSpc>
                <a:spcPct val="107000"/>
              </a:lnSpc>
              <a:spcBef>
                <a:spcPts val="0"/>
              </a:spcBef>
              <a:spcAft>
                <a:spcPts val="1000"/>
              </a:spcAft>
            </a:pPr>
            <a:r>
              <a:rPr lang="en-US" sz="2800" b="1" dirty="0" smtClean="0">
                <a:solidFill>
                  <a:srgbClr val="0070C0"/>
                </a:solidFill>
                <a:effectLst/>
                <a:latin typeface="Arial" panose="020B0604020202020204" pitchFamily="34" charset="0"/>
                <a:ea typeface="Times New Roman" panose="02020603050405020304" pitchFamily="18" charset="0"/>
                <a:cs typeface="Vrinda" panose="020B0502040204020203" pitchFamily="34" charset="0"/>
              </a:rPr>
              <a:t>Resin Chemical Nature </a:t>
            </a:r>
            <a:endParaRPr lang="en-US" sz="2800" dirty="0" smtClean="0">
              <a:solidFill>
                <a:srgbClr val="0070C0"/>
              </a:solidFill>
              <a:effectLst/>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What is in resin is the most commonly asked question in the polymer chemistry branch.</a:t>
            </a:r>
          </a:p>
          <a:p>
            <a:pPr algn="just">
              <a:lnSpc>
                <a:spcPct val="107000"/>
              </a:lnSpc>
              <a:spcAft>
                <a:spcPts val="1000"/>
              </a:spcAft>
            </a:pPr>
            <a:endParaRPr lang="en-US" sz="2800" dirty="0">
              <a:solidFill>
                <a:srgbClr val="000000"/>
              </a:solidFill>
              <a:latin typeface="Arial" panose="020B0604020202020204" pitchFamily="34" charset="0"/>
              <a:ea typeface="Times New Roman" panose="02020603050405020304" pitchFamily="18"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The answer to this question is, Resin chemically is a complex compound. </a:t>
            </a:r>
          </a:p>
          <a:p>
            <a:pPr algn="just">
              <a:lnSpc>
                <a:spcPct val="107000"/>
              </a:lnSpc>
              <a:spcAft>
                <a:spcPts val="1000"/>
              </a:spcAft>
            </a:pPr>
            <a:endParaRPr lang="en-US" sz="2800" dirty="0">
              <a:solidFill>
                <a:srgbClr val="000000"/>
              </a:solidFill>
              <a:latin typeface="Arial" panose="020B0604020202020204" pitchFamily="34" charset="0"/>
              <a:ea typeface="Times New Roman" panose="02020603050405020304" pitchFamily="18" charset="0"/>
              <a:cs typeface="Vrinda" panose="020B0502040204020203" pitchFamily="34" charset="0"/>
            </a:endParaRPr>
          </a:p>
          <a:p>
            <a:pPr algn="just">
              <a:lnSpc>
                <a:spcPct val="107000"/>
              </a:lnSpc>
              <a:spcAft>
                <a:spcPts val="1000"/>
              </a:spcAft>
            </a:pP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It is formed by a mixture of various compounds. These are a mixture of essential oil. It can be a mixture of oxygenated products of </a:t>
            </a:r>
            <a:r>
              <a:rPr lang="en-US" sz="2800" dirty="0" err="1"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terpenes</a:t>
            </a: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a:t>
            </a:r>
            <a:r>
              <a:rPr lang="en-US" sz="2800" dirty="0" smtClean="0">
                <a:effectLst/>
                <a:latin typeface="Arial" panose="020B0604020202020204" pitchFamily="34" charset="0"/>
                <a:ea typeface="Times New Roman" panose="02020603050405020304" pitchFamily="18" charset="0"/>
                <a:cs typeface="Vrinda" panose="020B0502040204020203" pitchFamily="34" charset="0"/>
              </a:rPr>
              <a:t>oxygenated hydrocarbons</a:t>
            </a: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 or it can be a complex mixture of hydrocarbons, </a:t>
            </a:r>
            <a:r>
              <a:rPr lang="en-US" sz="2800" dirty="0" smtClean="0">
                <a:effectLst/>
                <a:latin typeface="Arial" panose="020B0604020202020204" pitchFamily="34" charset="0"/>
                <a:ea typeface="Times New Roman" panose="02020603050405020304" pitchFamily="18" charset="0"/>
                <a:cs typeface="Vrinda" panose="020B0502040204020203" pitchFamily="34" charset="0"/>
              </a:rPr>
              <a:t>acid</a:t>
            </a:r>
            <a:r>
              <a:rPr lang="en-US" sz="2800" u="sng" dirty="0" smtClean="0">
                <a:effectLst/>
                <a:latin typeface="Arial" panose="020B0604020202020204" pitchFamily="34" charset="0"/>
                <a:ea typeface="Times New Roman" panose="02020603050405020304" pitchFamily="18" charset="0"/>
                <a:cs typeface="Vrinda" panose="020B0502040204020203" pitchFamily="34" charset="0"/>
              </a:rPr>
              <a:t>, </a:t>
            </a:r>
            <a:r>
              <a:rPr lang="en-US" sz="2800" u="sng" dirty="0" smtClean="0">
                <a:effectLst/>
                <a:latin typeface="Arial" panose="020B0604020202020204" pitchFamily="34" charset="0"/>
                <a:ea typeface="Times New Roman" panose="02020603050405020304" pitchFamily="18" charset="0"/>
                <a:cs typeface="Vrinda" panose="020B0502040204020203" pitchFamily="34" charset="0"/>
                <a:hlinkClick r:id="rId2"/>
              </a:rPr>
              <a:t>ester</a:t>
            </a:r>
            <a:r>
              <a:rPr lang="en-US" sz="2800" u="sng" dirty="0" smtClean="0">
                <a:effectLst/>
                <a:latin typeface="Arial" panose="020B0604020202020204" pitchFamily="34" charset="0"/>
                <a:ea typeface="Times New Roman" panose="02020603050405020304" pitchFamily="18" charset="0"/>
                <a:cs typeface="Vrinda" panose="020B0502040204020203" pitchFamily="34" charset="0"/>
              </a:rPr>
              <a:t>, </a:t>
            </a:r>
            <a:r>
              <a:rPr lang="en-US" sz="28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and alcohol.</a:t>
            </a:r>
            <a:endParaRPr lang="en-US" sz="28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2206267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92429" y="425003"/>
            <a:ext cx="10985678" cy="5732082"/>
          </a:xfrm>
          <a:prstGeom prst="rect">
            <a:avLst/>
          </a:prstGeom>
        </p:spPr>
        <p:txBody>
          <a:bodyPr wrap="square">
            <a:spAutoFit/>
          </a:bodyPr>
          <a:lstStyle/>
          <a:p>
            <a:pPr algn="just">
              <a:lnSpc>
                <a:spcPct val="107000"/>
              </a:lnSpc>
              <a:spcBef>
                <a:spcPts val="1600"/>
              </a:spcBef>
              <a:spcAft>
                <a:spcPts val="1000"/>
              </a:spcAft>
            </a:pPr>
            <a:r>
              <a:rPr lang="en-US" sz="2400" b="1"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Properties of Resins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buSzPts val="1000"/>
              <a:buFont typeface="Symbol" panose="05050102010706020507" pitchFamily="18" charset="2"/>
              <a:buChar char=""/>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These are transparent or translucent solid or semisolid in nature.</a:t>
            </a:r>
            <a:endParaRPr lang="en-US" sz="24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buSzPts val="1000"/>
              <a:buFont typeface="Symbol" panose="05050102010706020507" pitchFamily="18" charset="2"/>
              <a:buChar char=""/>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 specific gravity of resins is more than water. Therefore, these are heavier than water.</a:t>
            </a:r>
            <a:endParaRPr lang="en-US" sz="24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buSzPts val="1000"/>
              <a:buFont typeface="Symbol" panose="05050102010706020507" pitchFamily="18" charset="2"/>
              <a:buChar char=""/>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They generally become soft on heating. On further heating, resins will be melted.</a:t>
            </a:r>
            <a:endParaRPr lang="en-US" sz="24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buSzPts val="1000"/>
              <a:buFont typeface="Symbol" panose="05050102010706020507" pitchFamily="18" charset="2"/>
              <a:buChar char=""/>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Resins generally occur in an amorphous state.</a:t>
            </a:r>
            <a:endParaRPr lang="en-US" sz="24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buSzPts val="1000"/>
              <a:buFont typeface="Symbol" panose="05050102010706020507" pitchFamily="18" charset="2"/>
              <a:buChar char=""/>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These are generally insoluble in water.</a:t>
            </a:r>
            <a:endParaRPr lang="en-US" sz="24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buSzPts val="1000"/>
              <a:buFont typeface="Symbol" panose="05050102010706020507" pitchFamily="18" charset="2"/>
              <a:buChar char=""/>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These are soluble in organic compounds like alcohol, volatile oils, These compounds are highly enriched with carbon.</a:t>
            </a:r>
            <a:endParaRPr lang="en-US" sz="2400" dirty="0" smtClean="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fontAlgn="base">
              <a:lnSpc>
                <a:spcPct val="107000"/>
              </a:lnSpc>
              <a:spcBef>
                <a:spcPts val="0"/>
              </a:spcBef>
              <a:spcAft>
                <a:spcPts val="1000"/>
              </a:spcAft>
              <a:buSzPts val="1000"/>
              <a:buFont typeface="Symbol" panose="05050102010706020507" pitchFamily="18" charset="2"/>
              <a:buChar char=""/>
              <a:tabLst>
                <a:tab pos="457200" algn="l"/>
              </a:tabLst>
            </a:pP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Resins generally undergo a slow oxidation process in the atmosphere and become dark in </a:t>
            </a:r>
            <a:r>
              <a:rPr lang="en-US" sz="2400" dirty="0" err="1"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colour</a:t>
            </a:r>
            <a:r>
              <a:rPr lang="en-US" sz="2400"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a:t>
            </a:r>
            <a:endParaRPr lang="en-US" sz="2400" dirty="0">
              <a:solidFill>
                <a:srgbClr val="000000"/>
              </a:solidFill>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90355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3336" y="360609"/>
            <a:ext cx="9913144" cy="5649495"/>
          </a:xfrm>
          <a:prstGeom prst="rect">
            <a:avLst/>
          </a:prstGeom>
        </p:spPr>
        <p:txBody>
          <a:bodyPr wrap="square">
            <a:spAutoFit/>
          </a:bodyPr>
          <a:lstStyle/>
          <a:p>
            <a:pPr algn="just">
              <a:lnSpc>
                <a:spcPct val="107000"/>
              </a:lnSpc>
              <a:spcBef>
                <a:spcPts val="1800"/>
              </a:spcBef>
              <a:spcAft>
                <a:spcPts val="1000"/>
              </a:spcAft>
            </a:pPr>
            <a:r>
              <a:rPr lang="en-US" sz="2400" b="1" dirty="0" smtClean="0">
                <a:solidFill>
                  <a:srgbClr val="000000"/>
                </a:solidFill>
                <a:effectLst/>
                <a:latin typeface="Arial" panose="020B0604020202020204" pitchFamily="34" charset="0"/>
                <a:ea typeface="Times New Roman" panose="02020603050405020304" pitchFamily="18" charset="0"/>
                <a:cs typeface="Vrinda" panose="020B0502040204020203" pitchFamily="34" charset="0"/>
              </a:rPr>
              <a:t>Classification of Resin</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algn="ctr">
              <a:lnSpc>
                <a:spcPct val="107000"/>
              </a:lnSpc>
              <a:spcAft>
                <a:spcPts val="800"/>
              </a:spcAft>
            </a:pPr>
            <a:r>
              <a:rPr lang="en-US" sz="4400" b="1" kern="1800" dirty="0" smtClean="0">
                <a:solidFill>
                  <a:srgbClr val="993300"/>
                </a:solidFill>
                <a:effectLst/>
                <a:latin typeface="Times New Roman" panose="02020603050405020304" pitchFamily="18" charset="0"/>
                <a:ea typeface="Times New Roman" panose="02020603050405020304" pitchFamily="18" charset="0"/>
                <a:cs typeface="Vrinda" panose="020B0502040204020203" pitchFamily="34" charset="0"/>
              </a:rPr>
              <a:t> </a:t>
            </a:r>
            <a:endParaRPr lang="en-US" sz="1400" dirty="0" smtClean="0">
              <a:effectLst/>
              <a:latin typeface="Calibri" panose="020F0502020204030204" pitchFamily="34" charset="0"/>
              <a:ea typeface="Calibri" panose="020F0502020204030204" pitchFamily="34" charset="0"/>
              <a:cs typeface="Vrinda" panose="020B0502040204020203" pitchFamily="34" charset="0"/>
            </a:endParaRPr>
          </a:p>
          <a:p>
            <a:pPr algn="ctr">
              <a:lnSpc>
                <a:spcPct val="107000"/>
              </a:lnSpc>
              <a:spcAft>
                <a:spcPts val="800"/>
              </a:spcAft>
            </a:pPr>
            <a:r>
              <a:rPr lang="en-US" sz="2400" b="1" kern="1800" dirty="0" smtClean="0">
                <a:solidFill>
                  <a:srgbClr val="993300"/>
                </a:solidFill>
                <a:effectLst/>
                <a:latin typeface="Times New Roman" panose="02020603050405020304" pitchFamily="18" charset="0"/>
                <a:ea typeface="Times New Roman" panose="02020603050405020304" pitchFamily="18" charset="0"/>
                <a:cs typeface="Vrinda" panose="020B0502040204020203" pitchFamily="34" charset="0"/>
              </a:rPr>
              <a:t>Phenol-formaldehyde resins</a:t>
            </a:r>
            <a:endParaRPr lang="en-US" sz="2400" dirty="0" smtClean="0">
              <a:effectLst/>
              <a:latin typeface="Calibri" panose="020F0502020204030204" pitchFamily="34" charset="0"/>
              <a:ea typeface="Calibri" panose="020F0502020204030204" pitchFamily="34" charset="0"/>
              <a:cs typeface="Vrinda" panose="020B0502040204020203" pitchFamily="34" charset="0"/>
            </a:endParaRPr>
          </a:p>
          <a:p>
            <a:pPr algn="just">
              <a:spcAft>
                <a:spcPts val="1000"/>
              </a:spcAft>
            </a:pPr>
            <a:r>
              <a:rPr lang="en-US" sz="2400" dirty="0" smtClean="0">
                <a:solidFill>
                  <a:srgbClr val="000000"/>
                </a:solidFill>
                <a:effectLst/>
                <a:latin typeface="Arial" panose="020B0604020202020204" pitchFamily="34" charset="0"/>
                <a:ea typeface="Times New Roman" panose="02020603050405020304" pitchFamily="18" charset="0"/>
              </a:rPr>
              <a:t>Phenol formaldehyde resin (plastic) was the first commercial </a:t>
            </a:r>
            <a:r>
              <a:rPr lang="en-US" sz="2400" u="none" strike="noStrike" dirty="0" smtClean="0">
                <a:effectLst/>
                <a:latin typeface="Arial" panose="020B0604020202020204" pitchFamily="34" charset="0"/>
                <a:ea typeface="Times New Roman" panose="02020603050405020304" pitchFamily="18" charset="0"/>
              </a:rPr>
              <a:t>polymers </a:t>
            </a:r>
            <a:r>
              <a:rPr lang="en-US" sz="2400" dirty="0" smtClean="0">
                <a:solidFill>
                  <a:srgbClr val="000000"/>
                </a:solidFill>
                <a:effectLst/>
                <a:latin typeface="Arial" panose="020B0604020202020204" pitchFamily="34" charset="0"/>
                <a:ea typeface="Times New Roman" panose="02020603050405020304" pitchFamily="18" charset="0"/>
              </a:rPr>
              <a:t>used in the 20th century.</a:t>
            </a:r>
            <a:endParaRPr lang="en-US" sz="2400" dirty="0" smtClean="0">
              <a:effectLst/>
              <a:latin typeface="Times New Roman" panose="02020603050405020304" pitchFamily="18" charset="0"/>
              <a:ea typeface="Times New Roman" panose="02020603050405020304" pitchFamily="18" charset="0"/>
            </a:endParaRPr>
          </a:p>
          <a:p>
            <a:pPr algn="just">
              <a:spcAft>
                <a:spcPts val="1000"/>
              </a:spcAft>
            </a:pPr>
            <a:r>
              <a:rPr lang="en-US" sz="2400" dirty="0" smtClean="0">
                <a:solidFill>
                  <a:srgbClr val="000000"/>
                </a:solidFill>
                <a:effectLst/>
                <a:latin typeface="Arial" panose="020B0604020202020204" pitchFamily="34" charset="0"/>
                <a:ea typeface="Times New Roman" panose="02020603050405020304" pitchFamily="18" charset="0"/>
              </a:rPr>
              <a:t>We abbreviate the Phenol formaldehyde resin as PF. It is also known as the phenolic resin, one of the first synthetic polymers that we can obtain by the reaction of phenol or substituted phenol with formaldehyde.</a:t>
            </a:r>
            <a:endParaRPr lang="en-US" sz="2400" dirty="0" smtClean="0">
              <a:effectLst/>
              <a:latin typeface="Times New Roman" panose="02020603050405020304" pitchFamily="18" charset="0"/>
              <a:ea typeface="Times New Roman" panose="02020603050405020304" pitchFamily="18" charset="0"/>
            </a:endParaRPr>
          </a:p>
          <a:p>
            <a:pPr algn="just">
              <a:spcAft>
                <a:spcPts val="1000"/>
              </a:spcAft>
            </a:pPr>
            <a:r>
              <a:rPr lang="en-US" sz="2400" dirty="0" smtClean="0">
                <a:solidFill>
                  <a:srgbClr val="000000"/>
                </a:solidFill>
                <a:effectLst/>
                <a:latin typeface="Arial" panose="020B0604020202020204" pitchFamily="34" charset="0"/>
                <a:ea typeface="Times New Roman" panose="02020603050405020304" pitchFamily="18" charset="0"/>
              </a:rPr>
              <a:t>We produce phenolic resins by a step-growth polymerization reaction that can be either in the presence of acid or base (used as catalysts).</a:t>
            </a:r>
            <a:endParaRPr lang="en-US" sz="2400" dirty="0" smtClean="0">
              <a:effectLst/>
              <a:latin typeface="Times New Roman" panose="02020603050405020304" pitchFamily="18" charset="0"/>
              <a:ea typeface="Times New Roman" panose="02020603050405020304" pitchFamily="18" charset="0"/>
            </a:endParaRPr>
          </a:p>
          <a:p>
            <a:pPr algn="just">
              <a:spcAft>
                <a:spcPts val="1000"/>
              </a:spcAft>
            </a:pPr>
            <a:endParaRPr lang="en-US" sz="1400" dirty="0" smtClean="0">
              <a:effectLst/>
              <a:latin typeface="Calibri" panose="020F0502020204030204" pitchFamily="34" charset="0"/>
              <a:ea typeface="Calibri" panose="020F0502020204030204" pitchFamily="34" charset="0"/>
              <a:cs typeface="Vrinda" panose="020B0502040204020203" pitchFamily="34" charset="0"/>
            </a:endParaRPr>
          </a:p>
          <a:p>
            <a:pPr>
              <a:lnSpc>
                <a:spcPct val="107000"/>
              </a:lnSpc>
              <a:spcAft>
                <a:spcPts val="800"/>
              </a:spcAft>
            </a:pPr>
            <a:r>
              <a:rPr lang="en-US" sz="2400" b="1" dirty="0" smtClean="0">
                <a:solidFill>
                  <a:srgbClr val="331100"/>
                </a:solidFill>
                <a:effectLst/>
                <a:latin typeface="Times New Roman" panose="02020603050405020304" pitchFamily="18" charset="0"/>
                <a:ea typeface="Times New Roman" panose="02020603050405020304" pitchFamily="18" charset="0"/>
                <a:cs typeface="Vrinda" panose="020B0502040204020203" pitchFamily="34" charset="0"/>
              </a:rPr>
              <a:t> </a:t>
            </a:r>
            <a:endParaRPr lang="en-US" sz="14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530701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373" y="-90152"/>
            <a:ext cx="9707878" cy="7056566"/>
          </a:xfrm>
          <a:prstGeom prst="rect">
            <a:avLst/>
          </a:prstGeom>
        </p:spPr>
      </p:pic>
    </p:spTree>
    <p:extLst>
      <p:ext uri="{BB962C8B-B14F-4D97-AF65-F5344CB8AC3E}">
        <p14:creationId xmlns:p14="http://schemas.microsoft.com/office/powerpoint/2010/main" val="2369722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430" y="55838"/>
            <a:ext cx="9735596" cy="6802162"/>
          </a:xfrm>
          <a:prstGeom prst="rect">
            <a:avLst/>
          </a:prstGeom>
        </p:spPr>
      </p:pic>
    </p:spTree>
    <p:extLst>
      <p:ext uri="{BB962C8B-B14F-4D97-AF65-F5344CB8AC3E}">
        <p14:creationId xmlns:p14="http://schemas.microsoft.com/office/powerpoint/2010/main" val="785242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2778" y="1013395"/>
            <a:ext cx="7099648" cy="5966894"/>
          </a:xfrm>
          <a:prstGeom prst="rect">
            <a:avLst/>
          </a:prstGeom>
        </p:spPr>
      </p:pic>
    </p:spTree>
    <p:extLst>
      <p:ext uri="{BB962C8B-B14F-4D97-AF65-F5344CB8AC3E}">
        <p14:creationId xmlns:p14="http://schemas.microsoft.com/office/powerpoint/2010/main" val="1613002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5497" y="736824"/>
            <a:ext cx="8305749" cy="5914699"/>
          </a:xfrm>
          <a:prstGeom prst="rect">
            <a:avLst/>
          </a:prstGeom>
        </p:spPr>
      </p:pic>
    </p:spTree>
    <p:extLst>
      <p:ext uri="{BB962C8B-B14F-4D97-AF65-F5344CB8AC3E}">
        <p14:creationId xmlns:p14="http://schemas.microsoft.com/office/powerpoint/2010/main" val="1561446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355" y="22810"/>
            <a:ext cx="9188245" cy="7081387"/>
          </a:xfrm>
          <a:prstGeom prst="rect">
            <a:avLst/>
          </a:prstGeom>
        </p:spPr>
      </p:pic>
    </p:spTree>
    <p:extLst>
      <p:ext uri="{BB962C8B-B14F-4D97-AF65-F5344CB8AC3E}">
        <p14:creationId xmlns:p14="http://schemas.microsoft.com/office/powerpoint/2010/main" val="4099830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819" y="158390"/>
            <a:ext cx="8686800" cy="6392884"/>
          </a:xfrm>
          <a:prstGeom prst="rect">
            <a:avLst/>
          </a:prstGeom>
        </p:spPr>
      </p:pic>
    </p:spTree>
    <p:extLst>
      <p:ext uri="{BB962C8B-B14F-4D97-AF65-F5344CB8AC3E}">
        <p14:creationId xmlns:p14="http://schemas.microsoft.com/office/powerpoint/2010/main" val="240449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2543" y="295036"/>
            <a:ext cx="8465944" cy="6326990"/>
          </a:xfrm>
          <a:prstGeom prst="rect">
            <a:avLst/>
          </a:prstGeom>
        </p:spPr>
      </p:pic>
    </p:spTree>
    <p:extLst>
      <p:ext uri="{BB962C8B-B14F-4D97-AF65-F5344CB8AC3E}">
        <p14:creationId xmlns:p14="http://schemas.microsoft.com/office/powerpoint/2010/main" val="4114977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4618" y="575796"/>
            <a:ext cx="8293347" cy="6414939"/>
          </a:xfrm>
          <a:prstGeom prst="rect">
            <a:avLst/>
          </a:prstGeom>
        </p:spPr>
      </p:pic>
    </p:spTree>
    <p:extLst>
      <p:ext uri="{BB962C8B-B14F-4D97-AF65-F5344CB8AC3E}">
        <p14:creationId xmlns:p14="http://schemas.microsoft.com/office/powerpoint/2010/main" val="2027457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4116" y="529618"/>
            <a:ext cx="9306232" cy="6084844"/>
          </a:xfrm>
          <a:prstGeom prst="rect">
            <a:avLst/>
          </a:prstGeom>
        </p:spPr>
      </p:pic>
    </p:spTree>
    <p:extLst>
      <p:ext uri="{BB962C8B-B14F-4D97-AF65-F5344CB8AC3E}">
        <p14:creationId xmlns:p14="http://schemas.microsoft.com/office/powerpoint/2010/main" val="2126316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7578" y="334851"/>
            <a:ext cx="11359166" cy="5693866"/>
          </a:xfrm>
          <a:prstGeom prst="rect">
            <a:avLst/>
          </a:prstGeom>
        </p:spPr>
        <p:txBody>
          <a:bodyPr wrap="square">
            <a:spAutoFit/>
          </a:bodyPr>
          <a:lstStyle/>
          <a:p>
            <a:pPr algn="just"/>
            <a:r>
              <a:rPr lang="en-US" sz="2800" b="1" dirty="0">
                <a:solidFill>
                  <a:srgbClr val="423742"/>
                </a:solidFill>
                <a:latin typeface="Times New Roman" panose="02020603050405020304" pitchFamily="18" charset="0"/>
                <a:cs typeface="Times New Roman" panose="02020603050405020304" pitchFamily="18" charset="0"/>
              </a:rPr>
              <a:t>Uses or  Application:</a:t>
            </a:r>
            <a:endParaRPr lang="en-US" sz="2800" dirty="0">
              <a:solidFill>
                <a:srgbClr val="423742"/>
              </a:solidFill>
              <a:latin typeface="Times New Roman" panose="02020603050405020304" pitchFamily="18" charset="0"/>
              <a:cs typeface="Times New Roman" panose="02020603050405020304" pitchFamily="18" charset="0"/>
            </a:endParaRPr>
          </a:p>
          <a:p>
            <a:pPr algn="just"/>
            <a:endParaRPr lang="en-US" sz="2800" dirty="0" smtClean="0">
              <a:solidFill>
                <a:srgbClr val="423742"/>
              </a:solidFill>
              <a:latin typeface="Times New Roman" panose="02020603050405020304" pitchFamily="18" charset="0"/>
              <a:cs typeface="Times New Roman" panose="02020603050405020304" pitchFamily="18" charset="0"/>
            </a:endParaRPr>
          </a:p>
          <a:p>
            <a:pPr algn="just"/>
            <a:r>
              <a:rPr lang="en-US" sz="2800" dirty="0" smtClean="0">
                <a:solidFill>
                  <a:srgbClr val="423742"/>
                </a:solidFill>
                <a:latin typeface="Times New Roman" panose="02020603050405020304" pitchFamily="18" charset="0"/>
                <a:cs typeface="Times New Roman" panose="02020603050405020304" pitchFamily="18" charset="0"/>
              </a:rPr>
              <a:t>Phenol </a:t>
            </a:r>
            <a:r>
              <a:rPr lang="en-US" sz="2800" dirty="0">
                <a:solidFill>
                  <a:srgbClr val="423742"/>
                </a:solidFill>
                <a:latin typeface="Times New Roman" panose="02020603050405020304" pitchFamily="18" charset="0"/>
                <a:cs typeface="Times New Roman" panose="02020603050405020304" pitchFamily="18" charset="0"/>
              </a:rPr>
              <a:t>formaldehyde</a:t>
            </a:r>
            <a:r>
              <a:rPr lang="en-US" sz="2800" b="1" dirty="0">
                <a:solidFill>
                  <a:srgbClr val="423742"/>
                </a:solidFill>
                <a:latin typeface="Times New Roman" panose="02020603050405020304" pitchFamily="18" charset="0"/>
                <a:cs typeface="Times New Roman" panose="02020603050405020304" pitchFamily="18" charset="0"/>
              </a:rPr>
              <a:t> </a:t>
            </a:r>
            <a:r>
              <a:rPr lang="en-US" sz="2800" dirty="0">
                <a:solidFill>
                  <a:srgbClr val="423742"/>
                </a:solidFill>
                <a:latin typeface="Times New Roman" panose="02020603050405020304" pitchFamily="18" charset="0"/>
                <a:cs typeface="Times New Roman" panose="02020603050405020304" pitchFamily="18" charset="0"/>
              </a:rPr>
              <a:t>have so many uses in different industry</a:t>
            </a:r>
            <a:r>
              <a:rPr lang="en-US" sz="2800" b="1" dirty="0">
                <a:solidFill>
                  <a:srgbClr val="423742"/>
                </a:solidFill>
                <a:latin typeface="Times New Roman" panose="02020603050405020304" pitchFamily="18" charset="0"/>
                <a:cs typeface="Times New Roman" panose="02020603050405020304" pitchFamily="18" charset="0"/>
              </a:rPr>
              <a:t>. </a:t>
            </a:r>
            <a:r>
              <a:rPr lang="en-US" sz="2800" dirty="0">
                <a:solidFill>
                  <a:srgbClr val="423742"/>
                </a:solidFill>
                <a:latin typeface="Times New Roman" panose="02020603050405020304" pitchFamily="18" charset="0"/>
                <a:cs typeface="Times New Roman" panose="02020603050405020304" pitchFamily="18" charset="0"/>
              </a:rPr>
              <a:t>Phenolic resins are mainly used in the circuit board production that is for making circuit board like PCB ….</a:t>
            </a:r>
            <a:r>
              <a:rPr lang="en-US" sz="2800" dirty="0" err="1">
                <a:solidFill>
                  <a:srgbClr val="423742"/>
                </a:solidFill>
                <a:latin typeface="Times New Roman" panose="02020603050405020304" pitchFamily="18" charset="0"/>
                <a:cs typeface="Times New Roman" panose="02020603050405020304" pitchFamily="18" charset="0"/>
              </a:rPr>
              <a:t>etc</a:t>
            </a:r>
            <a:r>
              <a:rPr lang="en-US" sz="2800" dirty="0">
                <a:solidFill>
                  <a:srgbClr val="423742"/>
                </a:solidFill>
                <a:latin typeface="Times New Roman" panose="02020603050405020304" pitchFamily="18" charset="0"/>
                <a:cs typeface="Times New Roman" panose="02020603050405020304" pitchFamily="18" charset="0"/>
              </a:rPr>
              <a:t> this phenolic resins are used. </a:t>
            </a:r>
            <a:endParaRPr lang="en-US" sz="2800" dirty="0" smtClean="0">
              <a:solidFill>
                <a:srgbClr val="423742"/>
              </a:solidFill>
              <a:latin typeface="Times New Roman" panose="02020603050405020304" pitchFamily="18" charset="0"/>
              <a:cs typeface="Times New Roman" panose="02020603050405020304" pitchFamily="18" charset="0"/>
            </a:endParaRPr>
          </a:p>
          <a:p>
            <a:pPr algn="just"/>
            <a:endParaRPr lang="en-US" sz="2800" dirty="0">
              <a:solidFill>
                <a:srgbClr val="423742"/>
              </a:solidFill>
              <a:latin typeface="Times New Roman" panose="02020603050405020304" pitchFamily="18" charset="0"/>
              <a:cs typeface="Times New Roman" panose="02020603050405020304" pitchFamily="18" charset="0"/>
            </a:endParaRPr>
          </a:p>
          <a:p>
            <a:pPr algn="just"/>
            <a:r>
              <a:rPr lang="en-US" sz="2800" dirty="0" smtClean="0">
                <a:solidFill>
                  <a:srgbClr val="423742"/>
                </a:solidFill>
                <a:latin typeface="Times New Roman" panose="02020603050405020304" pitchFamily="18" charset="0"/>
                <a:cs typeface="Times New Roman" panose="02020603050405020304" pitchFamily="18" charset="0"/>
              </a:rPr>
              <a:t>In </a:t>
            </a:r>
            <a:r>
              <a:rPr lang="en-US" sz="2800" dirty="0">
                <a:solidFill>
                  <a:srgbClr val="423742"/>
                </a:solidFill>
                <a:latin typeface="Times New Roman" panose="02020603050405020304" pitchFamily="18" charset="0"/>
                <a:cs typeface="Times New Roman" panose="02020603050405020304" pitchFamily="18" charset="0"/>
              </a:rPr>
              <a:t>Electrical equipment also it is needed  ,caps, handles,  buttons,  radio cabinets, furniture,  knobs, vacuum cleaner, cameras, ash trays, engine ignition equipment</a:t>
            </a:r>
            <a:r>
              <a:rPr lang="en-US" sz="2800" dirty="0" smtClean="0">
                <a:solidFill>
                  <a:srgbClr val="423742"/>
                </a:solidFill>
                <a:latin typeface="Times New Roman" panose="02020603050405020304" pitchFamily="18" charset="0"/>
                <a:cs typeface="Times New Roman" panose="02020603050405020304" pitchFamily="18" charset="0"/>
              </a:rPr>
              <a:t>.’’</a:t>
            </a:r>
          </a:p>
          <a:p>
            <a:pPr algn="just"/>
            <a:endParaRPr lang="en-US" sz="2800" dirty="0">
              <a:solidFill>
                <a:srgbClr val="423742"/>
              </a:solidFill>
              <a:latin typeface="Times New Roman" panose="02020603050405020304" pitchFamily="18" charset="0"/>
              <a:cs typeface="Times New Roman" panose="02020603050405020304" pitchFamily="18" charset="0"/>
            </a:endParaRPr>
          </a:p>
          <a:p>
            <a:pPr algn="just"/>
            <a:r>
              <a:rPr lang="en-US" sz="2800" dirty="0" smtClean="0">
                <a:solidFill>
                  <a:srgbClr val="423742"/>
                </a:solidFill>
                <a:latin typeface="Times New Roman" panose="02020603050405020304" pitchFamily="18" charset="0"/>
                <a:cs typeface="Times New Roman" panose="02020603050405020304" pitchFamily="18" charset="0"/>
              </a:rPr>
              <a:t>It </a:t>
            </a:r>
            <a:r>
              <a:rPr lang="en-US" sz="2800" dirty="0">
                <a:solidFill>
                  <a:srgbClr val="423742"/>
                </a:solidFill>
                <a:latin typeface="Times New Roman" panose="02020603050405020304" pitchFamily="18" charset="0"/>
                <a:cs typeface="Times New Roman" panose="02020603050405020304" pitchFamily="18" charset="0"/>
              </a:rPr>
              <a:t>is also used in Laminated Material like Laminated sheets, rods and tubes are made in great variety from fabric, paper, wood veneers </a:t>
            </a:r>
            <a:r>
              <a:rPr lang="en-US" sz="2800" dirty="0" err="1">
                <a:solidFill>
                  <a:srgbClr val="423742"/>
                </a:solidFill>
                <a:latin typeface="Times New Roman" panose="02020603050405020304" pitchFamily="18" charset="0"/>
                <a:cs typeface="Times New Roman" panose="02020603050405020304" pitchFamily="18" charset="0"/>
              </a:rPr>
              <a:t>etc</a:t>
            </a:r>
            <a:r>
              <a:rPr lang="en-US" sz="2800" dirty="0">
                <a:solidFill>
                  <a:srgbClr val="423742"/>
                </a:solidFill>
                <a:latin typeface="Times New Roman" panose="02020603050405020304" pitchFamily="18" charset="0"/>
                <a:cs typeface="Times New Roman" panose="02020603050405020304" pitchFamily="18" charset="0"/>
              </a:rPr>
              <a:t> impregnated with phenolic, resins providing a range of materials of widely differing properties.</a:t>
            </a:r>
            <a:endParaRPr lang="en-US" sz="2800" b="0" i="0" dirty="0">
              <a:solidFill>
                <a:srgbClr val="42374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6473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248" y="111665"/>
            <a:ext cx="9685502" cy="7032786"/>
          </a:xfrm>
          <a:prstGeom prst="rect">
            <a:avLst/>
          </a:prstGeom>
        </p:spPr>
      </p:pic>
    </p:spTree>
    <p:extLst>
      <p:ext uri="{BB962C8B-B14F-4D97-AF65-F5344CB8AC3E}">
        <p14:creationId xmlns:p14="http://schemas.microsoft.com/office/powerpoint/2010/main" val="1652940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1197" y="1091381"/>
            <a:ext cx="8322674" cy="5884185"/>
          </a:xfrm>
          <a:prstGeom prst="rect">
            <a:avLst/>
          </a:prstGeom>
        </p:spPr>
      </p:pic>
    </p:spTree>
    <p:extLst>
      <p:ext uri="{BB962C8B-B14F-4D97-AF65-F5344CB8AC3E}">
        <p14:creationId xmlns:p14="http://schemas.microsoft.com/office/powerpoint/2010/main" val="1213790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7795" y="58711"/>
            <a:ext cx="7974096" cy="6386333"/>
          </a:xfrm>
          <a:prstGeom prst="rect">
            <a:avLst/>
          </a:prstGeom>
        </p:spPr>
      </p:pic>
    </p:spTree>
    <p:extLst>
      <p:ext uri="{BB962C8B-B14F-4D97-AF65-F5344CB8AC3E}">
        <p14:creationId xmlns:p14="http://schemas.microsoft.com/office/powerpoint/2010/main" val="3672785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4399" y="425003"/>
            <a:ext cx="10187189" cy="5693866"/>
          </a:xfrm>
          <a:prstGeom prst="rect">
            <a:avLst/>
          </a:prstGeom>
        </p:spPr>
        <p:txBody>
          <a:bodyPr wrap="square">
            <a:spAutoFit/>
          </a:bodyPr>
          <a:lstStyle/>
          <a:p>
            <a:r>
              <a:rPr lang="en-US" sz="2800" dirty="0">
                <a:solidFill>
                  <a:srgbClr val="3B3F4A"/>
                </a:solidFill>
                <a:latin typeface="Times New Roman" panose="02020603050405020304" pitchFamily="18" charset="0"/>
                <a:cs typeface="Times New Roman" panose="02020603050405020304" pitchFamily="18" charset="0"/>
              </a:rPr>
              <a:t>Urea-Formaldehyde Properties</a:t>
            </a:r>
          </a:p>
          <a:p>
            <a:r>
              <a:rPr lang="en-US" sz="2800" dirty="0" smtClean="0">
                <a:solidFill>
                  <a:srgbClr val="787D85"/>
                </a:solidFill>
                <a:latin typeface="Times New Roman" panose="02020603050405020304" pitchFamily="18" charset="0"/>
                <a:cs typeface="Times New Roman" panose="02020603050405020304" pitchFamily="18" charset="0"/>
              </a:rPr>
              <a:t>.</a:t>
            </a:r>
            <a:endParaRPr lang="en-US" sz="2800" dirty="0">
              <a:solidFill>
                <a:srgbClr val="787D85"/>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dirty="0">
                <a:solidFill>
                  <a:srgbClr val="787D85"/>
                </a:solidFill>
                <a:latin typeface="Times New Roman" panose="02020603050405020304" pitchFamily="18" charset="0"/>
                <a:cs typeface="Times New Roman" panose="02020603050405020304" pitchFamily="18" charset="0"/>
              </a:rPr>
              <a:t>High tensile strength – The maximum stress that a material can withstand while being stretched or pulled before breaking.</a:t>
            </a:r>
          </a:p>
          <a:p>
            <a:pPr>
              <a:buFont typeface="Arial" panose="020B0604020202020204" pitchFamily="34" charset="0"/>
              <a:buChar char="•"/>
            </a:pPr>
            <a:r>
              <a:rPr lang="en-US" sz="2800" dirty="0">
                <a:solidFill>
                  <a:srgbClr val="787D85"/>
                </a:solidFill>
                <a:latin typeface="Times New Roman" panose="02020603050405020304" pitchFamily="18" charset="0"/>
                <a:cs typeface="Times New Roman" panose="02020603050405020304" pitchFamily="18" charset="0"/>
              </a:rPr>
              <a:t>High flexural modulus – The ratio of stress to strain that a material can endure while bending before it yields.</a:t>
            </a:r>
          </a:p>
          <a:p>
            <a:pPr>
              <a:buFont typeface="Arial" panose="020B0604020202020204" pitchFamily="34" charset="0"/>
              <a:buChar char="•"/>
            </a:pPr>
            <a:r>
              <a:rPr lang="en-US" sz="2800" dirty="0">
                <a:solidFill>
                  <a:srgbClr val="787D85"/>
                </a:solidFill>
                <a:latin typeface="Times New Roman" panose="02020603050405020304" pitchFamily="18" charset="0"/>
                <a:cs typeface="Times New Roman" panose="02020603050405020304" pitchFamily="18" charset="0"/>
              </a:rPr>
              <a:t>High heat-distortion temperatures – At what temperature the material will begin to “soften” when exposed to a fixed load at elevated temperatures.</a:t>
            </a:r>
          </a:p>
          <a:p>
            <a:pPr>
              <a:buFont typeface="Arial" panose="020B0604020202020204" pitchFamily="34" charset="0"/>
              <a:buChar char="•"/>
            </a:pPr>
            <a:r>
              <a:rPr lang="en-US" sz="2800" dirty="0" smtClean="0">
                <a:solidFill>
                  <a:srgbClr val="787D85"/>
                </a:solidFill>
                <a:latin typeface="Times New Roman" panose="02020603050405020304" pitchFamily="18" charset="0"/>
                <a:cs typeface="Times New Roman" panose="02020603050405020304" pitchFamily="18" charset="0"/>
              </a:rPr>
              <a:t>  Low </a:t>
            </a:r>
            <a:r>
              <a:rPr lang="en-US" sz="2800" dirty="0">
                <a:solidFill>
                  <a:srgbClr val="787D85"/>
                </a:solidFill>
                <a:latin typeface="Times New Roman" panose="02020603050405020304" pitchFamily="18" charset="0"/>
                <a:cs typeface="Times New Roman" panose="02020603050405020304" pitchFamily="18" charset="0"/>
              </a:rPr>
              <a:t>water absorption</a:t>
            </a:r>
          </a:p>
          <a:p>
            <a:pPr>
              <a:buFont typeface="Arial" panose="020B0604020202020204" pitchFamily="34" charset="0"/>
              <a:buChar char="•"/>
            </a:pPr>
            <a:r>
              <a:rPr lang="en-US" sz="2800" dirty="0" smtClean="0">
                <a:solidFill>
                  <a:srgbClr val="787D85"/>
                </a:solidFill>
                <a:latin typeface="Times New Roman" panose="02020603050405020304" pitchFamily="18" charset="0"/>
                <a:cs typeface="Times New Roman" panose="02020603050405020304" pitchFamily="18" charset="0"/>
              </a:rPr>
              <a:t>  High </a:t>
            </a:r>
            <a:r>
              <a:rPr lang="en-US" sz="2800" dirty="0">
                <a:solidFill>
                  <a:srgbClr val="787D85"/>
                </a:solidFill>
                <a:latin typeface="Times New Roman" panose="02020603050405020304" pitchFamily="18" charset="0"/>
                <a:cs typeface="Times New Roman" panose="02020603050405020304" pitchFamily="18" charset="0"/>
              </a:rPr>
              <a:t>surface hardness</a:t>
            </a:r>
          </a:p>
          <a:p>
            <a:pPr>
              <a:buFont typeface="Arial" panose="020B0604020202020204" pitchFamily="34" charset="0"/>
              <a:buChar char="•"/>
            </a:pPr>
            <a:r>
              <a:rPr lang="en-US" sz="2800" dirty="0" smtClean="0">
                <a:solidFill>
                  <a:srgbClr val="787D85"/>
                </a:solidFill>
                <a:latin typeface="Times New Roman" panose="02020603050405020304" pitchFamily="18" charset="0"/>
                <a:cs typeface="Times New Roman" panose="02020603050405020304" pitchFamily="18" charset="0"/>
              </a:rPr>
              <a:t>  Elongation </a:t>
            </a:r>
            <a:r>
              <a:rPr lang="en-US" sz="2800" dirty="0">
                <a:solidFill>
                  <a:srgbClr val="787D85"/>
                </a:solidFill>
                <a:latin typeface="Times New Roman" panose="02020603050405020304" pitchFamily="18" charset="0"/>
                <a:cs typeface="Times New Roman" panose="02020603050405020304" pitchFamily="18" charset="0"/>
              </a:rPr>
              <a:t>at break – The ratio between changed length and initial </a:t>
            </a:r>
            <a:r>
              <a:rPr lang="en-US" sz="2800" dirty="0" smtClean="0">
                <a:solidFill>
                  <a:srgbClr val="787D85"/>
                </a:solidFill>
                <a:latin typeface="Times New Roman" panose="02020603050405020304" pitchFamily="18" charset="0"/>
                <a:cs typeface="Times New Roman" panose="02020603050405020304" pitchFamily="18" charset="0"/>
              </a:rPr>
              <a:t>   length </a:t>
            </a:r>
            <a:r>
              <a:rPr lang="en-US" sz="2800" dirty="0">
                <a:solidFill>
                  <a:srgbClr val="787D85"/>
                </a:solidFill>
                <a:latin typeface="Times New Roman" panose="02020603050405020304" pitchFamily="18" charset="0"/>
                <a:cs typeface="Times New Roman" panose="02020603050405020304" pitchFamily="18" charset="0"/>
              </a:rPr>
              <a:t>after the material breaks</a:t>
            </a:r>
            <a:r>
              <a:rPr lang="en-US" sz="2800" dirty="0" smtClean="0">
                <a:solidFill>
                  <a:srgbClr val="787D85"/>
                </a:solidFill>
                <a:latin typeface="Times New Roman" panose="02020603050405020304" pitchFamily="18" charset="0"/>
                <a:cs typeface="Times New Roman" panose="02020603050405020304" pitchFamily="18" charset="0"/>
              </a:rPr>
              <a:t>.</a:t>
            </a:r>
            <a:endParaRPr lang="en-US" sz="2800" dirty="0">
              <a:solidFill>
                <a:srgbClr val="787D85"/>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303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5003" y="334851"/>
            <a:ext cx="11140225" cy="5642350"/>
          </a:xfrm>
          <a:prstGeom prst="rect">
            <a:avLst/>
          </a:prstGeom>
        </p:spPr>
        <p:txBody>
          <a:bodyPr wrap="square">
            <a:spAutoFit/>
          </a:bodyPr>
          <a:lstStyle/>
          <a:p>
            <a:r>
              <a:rPr lang="en-US" sz="2800" dirty="0" smtClean="0">
                <a:solidFill>
                  <a:srgbClr val="787D85"/>
                </a:solidFill>
                <a:latin typeface="Times New Roman" panose="02020603050405020304" pitchFamily="18" charset="0"/>
                <a:cs typeface="Times New Roman" panose="02020603050405020304" pitchFamily="18" charset="0"/>
              </a:rPr>
              <a:t>Uses</a:t>
            </a:r>
          </a:p>
          <a:p>
            <a:endParaRPr lang="en-US" sz="2800" dirty="0">
              <a:solidFill>
                <a:srgbClr val="787D85"/>
              </a:solidFill>
              <a:latin typeface="Times New Roman" panose="02020603050405020304" pitchFamily="18" charset="0"/>
              <a:cs typeface="Times New Roman" panose="02020603050405020304" pitchFamily="18" charset="0"/>
            </a:endParaRPr>
          </a:p>
          <a:p>
            <a:r>
              <a:rPr lang="en-US" sz="2800" dirty="0" smtClean="0">
                <a:solidFill>
                  <a:srgbClr val="787D85"/>
                </a:solidFill>
                <a:latin typeface="Times New Roman" panose="02020603050405020304" pitchFamily="18" charset="0"/>
                <a:cs typeface="Times New Roman" panose="02020603050405020304" pitchFamily="18" charset="0"/>
              </a:rPr>
              <a:t>Capital </a:t>
            </a:r>
            <a:r>
              <a:rPr lang="en-US" sz="2800" dirty="0">
                <a:solidFill>
                  <a:srgbClr val="787D85"/>
                </a:solidFill>
                <a:latin typeface="Times New Roman" panose="02020603050405020304" pitchFamily="18" charset="0"/>
                <a:cs typeface="Times New Roman" panose="02020603050405020304" pitchFamily="18" charset="0"/>
              </a:rPr>
              <a:t>Resin is a melamine and urea formaldehyde resin manufacturer that provides our clients with high-quality resins for multiple applications. As a melamine resin manufacturer, we also offer our services in the following industries.</a:t>
            </a:r>
          </a:p>
          <a:p>
            <a:pPr fontAlgn="ctr"/>
            <a:r>
              <a:rPr lang="en-US" sz="2800" dirty="0">
                <a:solidFill>
                  <a:srgbClr val="3B3F4A"/>
                </a:solidFill>
                <a:latin typeface="Times New Roman" panose="02020603050405020304" pitchFamily="18" charset="0"/>
                <a:cs typeface="Times New Roman" panose="02020603050405020304" pitchFamily="18" charset="0"/>
              </a:rPr>
              <a:t>Air filtration</a:t>
            </a:r>
          </a:p>
          <a:p>
            <a:pPr fontAlgn="ctr"/>
            <a:r>
              <a:rPr lang="en-US" sz="2800" dirty="0">
                <a:solidFill>
                  <a:srgbClr val="3B3F4A"/>
                </a:solidFill>
                <a:latin typeface="Times New Roman" panose="02020603050405020304" pitchFamily="18" charset="0"/>
                <a:cs typeface="Times New Roman" panose="02020603050405020304" pitchFamily="18" charset="0"/>
              </a:rPr>
              <a:t>Packaging Coatings (food, beverage, and industrial)</a:t>
            </a:r>
          </a:p>
          <a:p>
            <a:pPr fontAlgn="ctr"/>
            <a:r>
              <a:rPr lang="en-US" sz="2800" dirty="0">
                <a:solidFill>
                  <a:srgbClr val="3B3F4A"/>
                </a:solidFill>
                <a:latin typeface="Times New Roman" panose="02020603050405020304" pitchFamily="18" charset="0"/>
                <a:cs typeface="Times New Roman" panose="02020603050405020304" pitchFamily="18" charset="0"/>
              </a:rPr>
              <a:t>UF Foam</a:t>
            </a:r>
          </a:p>
          <a:p>
            <a:pPr fontAlgn="ctr"/>
            <a:r>
              <a:rPr lang="en-US" sz="2800" dirty="0">
                <a:solidFill>
                  <a:srgbClr val="3B3F4A"/>
                </a:solidFill>
                <a:latin typeface="Times New Roman" panose="02020603050405020304" pitchFamily="18" charset="0"/>
                <a:cs typeface="Times New Roman" panose="02020603050405020304" pitchFamily="18" charset="0"/>
              </a:rPr>
              <a:t>Decorative laminates</a:t>
            </a:r>
          </a:p>
          <a:p>
            <a:pPr fontAlgn="ctr"/>
            <a:r>
              <a:rPr lang="en-US" sz="2800" dirty="0">
                <a:solidFill>
                  <a:srgbClr val="3B3F4A"/>
                </a:solidFill>
                <a:latin typeface="Times New Roman" panose="02020603050405020304" pitchFamily="18" charset="0"/>
                <a:cs typeface="Times New Roman" panose="02020603050405020304" pitchFamily="18" charset="0"/>
              </a:rPr>
              <a:t>Industrial coatings</a:t>
            </a:r>
          </a:p>
          <a:p>
            <a:pPr fontAlgn="ctr"/>
            <a:r>
              <a:rPr lang="en-US" sz="2800" dirty="0">
                <a:solidFill>
                  <a:srgbClr val="3B3F4A"/>
                </a:solidFill>
                <a:latin typeface="Times New Roman" panose="02020603050405020304" pitchFamily="18" charset="0"/>
                <a:cs typeface="Times New Roman" panose="02020603050405020304" pitchFamily="18" charset="0"/>
              </a:rPr>
              <a:t>Slow release Nitrogen fertilizers</a:t>
            </a:r>
          </a:p>
          <a:p>
            <a:pPr fontAlgn="ctr"/>
            <a:r>
              <a:rPr lang="en-US" sz="2800" dirty="0">
                <a:solidFill>
                  <a:srgbClr val="3B3F4A"/>
                </a:solidFill>
                <a:latin typeface="Times New Roman" panose="02020603050405020304" pitchFamily="18" charset="0"/>
                <a:cs typeface="Times New Roman" panose="02020603050405020304" pitchFamily="18" charset="0"/>
              </a:rPr>
              <a:t>Super plasticizers for concrete</a:t>
            </a:r>
            <a:endParaRPr lang="en-US" sz="2800" b="0" i="0" dirty="0">
              <a:solidFill>
                <a:srgbClr val="3B3F4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3777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3329" y="-24001"/>
            <a:ext cx="9169356" cy="6985239"/>
          </a:xfrm>
          <a:prstGeom prst="rect">
            <a:avLst/>
          </a:prstGeom>
        </p:spPr>
      </p:pic>
    </p:spTree>
    <p:extLst>
      <p:ext uri="{BB962C8B-B14F-4D97-AF65-F5344CB8AC3E}">
        <p14:creationId xmlns:p14="http://schemas.microsoft.com/office/powerpoint/2010/main" val="3710986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upload.wikimedia.org/wikipedia/commons/thumb/5/52/IdealizedMelamine_CH2OResin.svg/560px-IdealizedMelamine_CH2OResin.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7704" y="953775"/>
            <a:ext cx="9340597" cy="3953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549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303" y="11026"/>
            <a:ext cx="9415674" cy="7051477"/>
          </a:xfrm>
          <a:prstGeom prst="rect">
            <a:avLst/>
          </a:prstGeom>
        </p:spPr>
      </p:pic>
    </p:spTree>
    <p:extLst>
      <p:ext uri="{BB962C8B-B14F-4D97-AF65-F5344CB8AC3E}">
        <p14:creationId xmlns:p14="http://schemas.microsoft.com/office/powerpoint/2010/main" val="3660739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01520" y="889844"/>
            <a:ext cx="10187189" cy="4154984"/>
          </a:xfrm>
          <a:prstGeom prst="rect">
            <a:avLst/>
          </a:prstGeom>
        </p:spPr>
        <p:txBody>
          <a:bodyPr wrap="square">
            <a:spAutoFit/>
          </a:bodyPr>
          <a:lstStyle/>
          <a:p>
            <a:pPr algn="ctr"/>
            <a:r>
              <a:rPr lang="en-US" sz="2400" cap="all" dirty="0">
                <a:solidFill>
                  <a:srgbClr val="2D2D2D"/>
                </a:solidFill>
                <a:latin typeface="Source Sans Pro"/>
              </a:rPr>
              <a:t>MELAMINE-FORMALDEHYDE RESINS</a:t>
            </a:r>
          </a:p>
          <a:p>
            <a:endParaRPr lang="en-US" sz="2400" cap="all" dirty="0" smtClean="0">
              <a:solidFill>
                <a:srgbClr val="2D2D2D"/>
              </a:solidFill>
              <a:latin typeface="Source Sans Pro"/>
            </a:endParaRPr>
          </a:p>
          <a:p>
            <a:r>
              <a:rPr lang="en-US" sz="2400" cap="all" dirty="0" smtClean="0">
                <a:solidFill>
                  <a:srgbClr val="2D2D2D"/>
                </a:solidFill>
                <a:latin typeface="Source Sans Pro"/>
              </a:rPr>
              <a:t>PROPERTIES</a:t>
            </a:r>
            <a:endParaRPr lang="en-US" sz="2400" cap="all" dirty="0">
              <a:solidFill>
                <a:srgbClr val="2D2D2D"/>
              </a:solidFill>
              <a:latin typeface="Source Sans Pro"/>
            </a:endParaRPr>
          </a:p>
          <a:p>
            <a:pPr algn="just"/>
            <a:endParaRPr lang="en-US" sz="2400" dirty="0" smtClean="0">
              <a:latin typeface="Source Sans Pro"/>
            </a:endParaRPr>
          </a:p>
          <a:p>
            <a:pPr algn="just"/>
            <a:r>
              <a:rPr lang="en-US" sz="2400" dirty="0" smtClean="0">
                <a:latin typeface="Source Sans Pro"/>
              </a:rPr>
              <a:t>Melamine </a:t>
            </a:r>
            <a:r>
              <a:rPr lang="en-US" sz="2400" dirty="0">
                <a:latin typeface="Source Sans Pro"/>
              </a:rPr>
              <a:t>formaldehyde (also called melamine or MF) is a hard, very durable, and versatile thermosetting </a:t>
            </a:r>
            <a:r>
              <a:rPr lang="en-US" sz="2400" dirty="0" err="1" smtClean="0">
                <a:latin typeface="Source Sans Pro"/>
              </a:rPr>
              <a:t>aminoplast</a:t>
            </a:r>
            <a:r>
              <a:rPr lang="en-US" sz="2400" dirty="0">
                <a:latin typeface="Source Sans Pro"/>
              </a:rPr>
              <a:t> with good fire and heat resistance. </a:t>
            </a:r>
            <a:endParaRPr lang="en-US" sz="2400" dirty="0" smtClean="0">
              <a:latin typeface="Source Sans Pro"/>
            </a:endParaRPr>
          </a:p>
          <a:p>
            <a:pPr algn="just"/>
            <a:endParaRPr lang="en-US" sz="2400" dirty="0">
              <a:latin typeface="Source Sans Pro"/>
            </a:endParaRPr>
          </a:p>
          <a:p>
            <a:pPr algn="just"/>
            <a:r>
              <a:rPr lang="en-US" sz="2400" dirty="0" smtClean="0">
                <a:latin typeface="Source Sans Pro"/>
              </a:rPr>
              <a:t>It </a:t>
            </a:r>
            <a:r>
              <a:rPr lang="en-US" sz="2400" dirty="0">
                <a:latin typeface="Source Sans Pro"/>
              </a:rPr>
              <a:t>is made from melamine and formaldehyde by condensation of the two monomers. Its good fire retardant properties are due to the release of nitrogen gas when burned </a:t>
            </a:r>
            <a:r>
              <a:rPr lang="en-US" sz="2400" dirty="0" smtClean="0">
                <a:latin typeface="Source Sans Pro"/>
              </a:rPr>
              <a:t>or charred.</a:t>
            </a:r>
            <a:endParaRPr lang="en-US" sz="2400" dirty="0">
              <a:latin typeface="Source Sans Pro"/>
            </a:endParaRPr>
          </a:p>
        </p:txBody>
      </p:sp>
    </p:spTree>
    <p:extLst>
      <p:ext uri="{BB962C8B-B14F-4D97-AF65-F5344CB8AC3E}">
        <p14:creationId xmlns:p14="http://schemas.microsoft.com/office/powerpoint/2010/main" val="298479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33341" y="914400"/>
            <a:ext cx="9865217" cy="4401205"/>
          </a:xfrm>
          <a:prstGeom prst="rect">
            <a:avLst/>
          </a:prstGeom>
        </p:spPr>
        <p:txBody>
          <a:bodyPr wrap="square">
            <a:spAutoFit/>
          </a:bodyPr>
          <a:lstStyle/>
          <a:p>
            <a:pPr algn="just"/>
            <a:r>
              <a:rPr lang="en-US" sz="2800" dirty="0">
                <a:latin typeface="Times New Roman" pitchFamily="18" charset="0"/>
                <a:cs typeface="Times New Roman" pitchFamily="18" charset="0"/>
              </a:rPr>
              <a:t>MF resins are quite similar to urea-formaldehyde (UF) resins and are fully compatible with them and, therefore, are often co-reacted with them to reduce formaldehyde emissions from particleboards and to prevent degradation of glue bonds caused by hydrolytic degradation of the UF polymers. </a:t>
            </a:r>
            <a:endParaRPr lang="en-US" sz="2800" dirty="0" smtClean="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The </a:t>
            </a:r>
            <a:r>
              <a:rPr lang="en-US" sz="2800" dirty="0">
                <a:latin typeface="Times New Roman" pitchFamily="18" charset="0"/>
                <a:cs typeface="Times New Roman" pitchFamily="18" charset="0"/>
              </a:rPr>
              <a:t>resin blend is called melamine–urea–formaldehyde (MUF). Compared to natural woods or wood veneers, melamine composite boards and overlay materials have improved heat, moisture, scratch, and chemicals resistance.</a:t>
            </a:r>
          </a:p>
        </p:txBody>
      </p:sp>
    </p:spTree>
    <p:extLst>
      <p:ext uri="{BB962C8B-B14F-4D97-AF65-F5344CB8AC3E}">
        <p14:creationId xmlns:p14="http://schemas.microsoft.com/office/powerpoint/2010/main" val="3151026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96413" y="501556"/>
            <a:ext cx="9453716" cy="4801314"/>
          </a:xfrm>
          <a:prstGeom prst="rect">
            <a:avLst/>
          </a:prstGeom>
        </p:spPr>
        <p:txBody>
          <a:bodyPr wrap="square">
            <a:spAutoFit/>
          </a:bodyPr>
          <a:lstStyle/>
          <a:p>
            <a:r>
              <a:rPr lang="en-US" cap="all" dirty="0">
                <a:solidFill>
                  <a:srgbClr val="2D2D2D"/>
                </a:solidFill>
                <a:latin typeface="Source Sans Pro"/>
              </a:rPr>
              <a:t>APPLICATIONS</a:t>
            </a:r>
          </a:p>
          <a:p>
            <a:pPr algn="just"/>
            <a:r>
              <a:rPr lang="en-US" sz="2400" dirty="0">
                <a:latin typeface="Times New Roman" pitchFamily="18" charset="0"/>
                <a:cs typeface="Times New Roman" pitchFamily="18" charset="0"/>
              </a:rPr>
              <a:t>Melamine resins are used for the manufacture of many products, including kitchenware, laminates, overlay materials, particleboards, and floor tiles. Melamine and its salts are also used as fire-retardant additives in paints, plastics, and paper.</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Melamine </a:t>
            </a:r>
            <a:r>
              <a:rPr lang="en-US" sz="2400" dirty="0">
                <a:latin typeface="Times New Roman" pitchFamily="18" charset="0"/>
                <a:cs typeface="Times New Roman" pitchFamily="18" charset="0"/>
              </a:rPr>
              <a:t>foam is a special form of melamine resin. It finds uses as an insulating and soundproofing material and more recently as a cleaning abrasive. The foam products can be used for removing scuffs and dirt from a wide range of surfaces. </a:t>
            </a:r>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Furthermore</a:t>
            </a:r>
            <a:r>
              <a:rPr lang="en-US" sz="2400" dirty="0">
                <a:latin typeface="Times New Roman" pitchFamily="18" charset="0"/>
                <a:cs typeface="Times New Roman" pitchFamily="18" charset="0"/>
              </a:rPr>
              <a:t>, some filters are made out of porous melamine. These filters can be used in hot environments, and are extremely efficient</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15478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75008" y="528034"/>
            <a:ext cx="9607640" cy="4832092"/>
          </a:xfrm>
          <a:prstGeom prst="rect">
            <a:avLst/>
          </a:prstGeom>
        </p:spPr>
        <p:txBody>
          <a:bodyPr wrap="square">
            <a:spAutoFit/>
          </a:bodyPr>
          <a:lstStyle/>
          <a:p>
            <a:pPr algn="just"/>
            <a:r>
              <a:rPr lang="en-US" dirty="0">
                <a:latin typeface="Source Sans Pro"/>
              </a:rPr>
              <a:t> </a:t>
            </a:r>
            <a:r>
              <a:rPr lang="en-US" sz="2800" dirty="0">
                <a:latin typeface="Times New Roman" pitchFamily="18" charset="0"/>
                <a:cs typeface="Times New Roman" pitchFamily="18" charset="0"/>
              </a:rPr>
              <a:t>Melamine is or has been used in the manufacture of flame-resistant fibers and textiles. </a:t>
            </a:r>
            <a:endParaRPr lang="en-US" sz="2800" dirty="0" smtClean="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These </a:t>
            </a:r>
            <a:r>
              <a:rPr lang="en-US" sz="2800" dirty="0">
                <a:latin typeface="Times New Roman" pitchFamily="18" charset="0"/>
                <a:cs typeface="Times New Roman" pitchFamily="18" charset="0"/>
              </a:rPr>
              <a:t>include upholstery, firemen uniforms, thermal liners, and heat resistant gloves and aprons.</a:t>
            </a:r>
          </a:p>
          <a:p>
            <a:pPr algn="just"/>
            <a:r>
              <a:rPr lang="en-US" sz="2800" dirty="0" err="1">
                <a:latin typeface="Times New Roman" pitchFamily="18" charset="0"/>
                <a:cs typeface="Times New Roman" pitchFamily="18" charset="0"/>
              </a:rPr>
              <a:t>Sulfonated</a:t>
            </a:r>
            <a:r>
              <a:rPr lang="en-US" sz="2800" dirty="0">
                <a:latin typeface="Times New Roman" pitchFamily="18" charset="0"/>
                <a:cs typeface="Times New Roman" pitchFamily="18" charset="0"/>
              </a:rPr>
              <a:t> melamine formaldehyde (SMF) is used as a super-plasticizer for making high-resistance concrete. It is mainly added to reduce the water content in concrete while increasing the fluidity and the workability of it during handling and pouring. The result is a concrete with a lower porosity and a higher mechanical strength, which exhibits an improved resistance to aggressive environments and has, therefore, a longer lifetime.</a:t>
            </a:r>
          </a:p>
        </p:txBody>
      </p:sp>
    </p:spTree>
    <p:extLst>
      <p:ext uri="{BB962C8B-B14F-4D97-AF65-F5344CB8AC3E}">
        <p14:creationId xmlns:p14="http://schemas.microsoft.com/office/powerpoint/2010/main" val="3334771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3341" y="793376"/>
            <a:ext cx="9776580" cy="5078313"/>
          </a:xfrm>
          <a:prstGeom prst="rect">
            <a:avLst/>
          </a:prstGeom>
        </p:spPr>
        <p:txBody>
          <a:bodyPr wrap="square">
            <a:spAutoFit/>
          </a:bodyPr>
          <a:lstStyle/>
          <a:p>
            <a:pPr algn="just"/>
            <a:r>
              <a:rPr lang="en-US" sz="36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Epoxy </a:t>
            </a:r>
            <a:r>
              <a:rPr lang="en-US" sz="3600" dirty="0" smtClean="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resins;</a:t>
            </a:r>
          </a:p>
          <a:p>
            <a:pPr algn="just"/>
            <a:endPar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3600" dirty="0" smtClean="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Epoxy </a:t>
            </a:r>
            <a:r>
              <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resins are typically formed by the reaction of compounds containing at least two active hydrogen atoms (</a:t>
            </a:r>
            <a:r>
              <a:rPr lang="en-US" sz="3600" dirty="0" err="1">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polyphenolic</a:t>
            </a:r>
            <a:r>
              <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 compounds, </a:t>
            </a:r>
            <a:r>
              <a:rPr lang="en-US" sz="3600" dirty="0" err="1">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diamines</a:t>
            </a:r>
            <a:r>
              <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 amino phenols, heterocyclic imides and amides, aliphatic </a:t>
            </a:r>
            <a:r>
              <a:rPr lang="en-US" sz="3600" dirty="0" err="1" smtClean="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diols,etc</a:t>
            </a:r>
            <a:r>
              <a:rPr lang="en-US" sz="3600" dirty="0" smtClean="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 and </a:t>
            </a:r>
            <a:r>
              <a:rPr lang="en-US" sz="3600" dirty="0" err="1" smtClean="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epichlorohydrin</a:t>
            </a:r>
            <a:r>
              <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a:t>
            </a:r>
            <a:br>
              <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br>
            <a:r>
              <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t/>
            </a:r>
            <a:br>
              <a:rPr lang="en-US" sz="3600" dirty="0">
                <a:solidFill>
                  <a:srgbClr val="464443"/>
                </a:solidFill>
                <a:latin typeface="Times New Roman" panose="02020603050405020304" pitchFamily="18" charset="0"/>
                <a:ea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663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ynthesis of Epoxy Monomer from Bisphenol A and Epichlorohydrin"/>
          <p:cNvPicPr/>
          <p:nvPr/>
        </p:nvPicPr>
        <p:blipFill>
          <a:blip r:embed="rId2">
            <a:extLst>
              <a:ext uri="{28A0092B-C50C-407E-A947-70E740481C1C}">
                <a14:useLocalDpi xmlns:a14="http://schemas.microsoft.com/office/drawing/2010/main" val="0"/>
              </a:ext>
            </a:extLst>
          </a:blip>
          <a:srcRect/>
          <a:stretch>
            <a:fillRect/>
          </a:stretch>
        </p:blipFill>
        <p:spPr bwMode="auto">
          <a:xfrm>
            <a:off x="1559859" y="1573307"/>
            <a:ext cx="8444753" cy="4854388"/>
          </a:xfrm>
          <a:prstGeom prst="rect">
            <a:avLst/>
          </a:prstGeom>
          <a:noFill/>
          <a:ln>
            <a:noFill/>
          </a:ln>
        </p:spPr>
      </p:pic>
      <p:sp>
        <p:nvSpPr>
          <p:cNvPr id="5" name="Rectangle 4"/>
          <p:cNvSpPr/>
          <p:nvPr/>
        </p:nvSpPr>
        <p:spPr>
          <a:xfrm>
            <a:off x="1972236" y="629107"/>
            <a:ext cx="6096000" cy="1269835"/>
          </a:xfrm>
          <a:prstGeom prst="rect">
            <a:avLst/>
          </a:prstGeom>
        </p:spPr>
        <p:txBody>
          <a:bodyPr>
            <a:spAutoFit/>
          </a:bodyPr>
          <a:lstStyle/>
          <a:p>
            <a:pPr algn="ctr">
              <a:lnSpc>
                <a:spcPct val="107000"/>
              </a:lnSpc>
            </a:pPr>
            <a:r>
              <a:rPr lang="en-US" b="1"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Synthesis of Epoxy </a:t>
            </a:r>
            <a:r>
              <a:rPr lang="en-US" b="1"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resin </a:t>
            </a:r>
            <a:r>
              <a:rPr lang="en-US" b="1"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from </a:t>
            </a:r>
            <a:r>
              <a:rPr lang="en-US" b="1" dirty="0" err="1">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Bisphenol</a:t>
            </a:r>
            <a:r>
              <a:rPr lang="en-US" b="1"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 A </a:t>
            </a:r>
            <a:r>
              <a:rPr lang="en-US" b="1"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and</a:t>
            </a:r>
          </a:p>
          <a:p>
            <a:pPr algn="ctr">
              <a:lnSpc>
                <a:spcPct val="107000"/>
              </a:lnSpc>
            </a:pPr>
            <a:r>
              <a:rPr lang="en-US" b="1" dirty="0" err="1"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Epichlorohydrin</a:t>
            </a:r>
            <a:endParaRPr lang="en-US" sz="2400" dirty="0">
              <a:latin typeface="Calibri" panose="020F0502020204030204" pitchFamily="34" charset="0"/>
              <a:ea typeface="Calibri" panose="020F0502020204030204" pitchFamily="34" charset="0"/>
              <a:cs typeface="Vrinda" panose="020B0502040204020203" pitchFamily="34" charset="0"/>
            </a:endParaRPr>
          </a:p>
          <a:p>
            <a:r>
              <a:rPr lang="en-US" sz="20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
            </a:r>
            <a:br>
              <a:rPr lang="en-US" sz="20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380034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18764" y="1707775"/>
            <a:ext cx="7664823" cy="4196020"/>
          </a:xfrm>
          <a:prstGeom prst="rect">
            <a:avLst/>
          </a:prstGeom>
        </p:spPr>
        <p:txBody>
          <a:bodyPr wrap="square">
            <a:spAutoFit/>
          </a:bodyPr>
          <a:lstStyle/>
          <a:p>
            <a:pPr>
              <a:lnSpc>
                <a:spcPts val="2055"/>
              </a:lnSpc>
              <a:spcAft>
                <a:spcPts val="1050"/>
              </a:spcAft>
            </a:pPr>
            <a:r>
              <a:rPr lang="en-US" sz="3200" dirty="0">
                <a:solidFill>
                  <a:srgbClr val="000000"/>
                </a:solidFill>
                <a:latin typeface="Helvetica" panose="020B0604020202020204" pitchFamily="34" charset="0"/>
                <a:ea typeface="Times New Roman" panose="02020603050405020304" pitchFamily="18" charset="0"/>
                <a:cs typeface="Times New Roman" panose="02020603050405020304" pitchFamily="18" charset="0"/>
              </a:rPr>
              <a:t>Key Properties of Epoxy Resins</a:t>
            </a:r>
            <a:endParaRPr lang="en-US" sz="2000" dirty="0">
              <a:latin typeface="Calibri" panose="020F0502020204030204" pitchFamily="34" charset="0"/>
              <a:ea typeface="Calibri" panose="020F0502020204030204" pitchFamily="34" charset="0"/>
              <a:cs typeface="Vrinda" panose="020B0502040204020203" pitchFamily="34" charset="0"/>
            </a:endParaRPr>
          </a:p>
          <a:p>
            <a:pPr marL="342900" marR="0" lvl="0" indent="-342900" algn="just">
              <a:lnSpc>
                <a:spcPct val="200000"/>
              </a:lnSpc>
              <a:spcBef>
                <a:spcPts val="0"/>
              </a:spcBef>
              <a:spcAft>
                <a:spcPts val="0"/>
              </a:spcAft>
              <a:buSzPts val="1000"/>
              <a:buFont typeface="Courier New" panose="02070309020205020404" pitchFamily="49" charset="0"/>
              <a:buChar char="o"/>
              <a:tabLst>
                <a:tab pos="457200" algn="l"/>
              </a:tabLst>
            </a:pPr>
            <a:r>
              <a:rPr lang="en-US" sz="24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High strength</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SzPts val="1000"/>
              <a:buFont typeface="Courier New" panose="02070309020205020404" pitchFamily="49" charset="0"/>
              <a:buChar char="o"/>
              <a:tabLst>
                <a:tab pos="457200" algn="l"/>
              </a:tabLst>
            </a:pPr>
            <a:r>
              <a:rPr lang="en-US" sz="2400"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Excellent </a:t>
            </a:r>
            <a:r>
              <a:rPr lang="en-US" sz="24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adhesion to various substrates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SzPts val="1000"/>
              <a:buFont typeface="Courier New" panose="02070309020205020404" pitchFamily="49" charset="0"/>
              <a:buChar char="o"/>
              <a:tabLst>
                <a:tab pos="457200" algn="l"/>
              </a:tabLst>
            </a:pPr>
            <a:r>
              <a:rPr lang="en-US" sz="24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Effective electrical insulation</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SzPts val="1000"/>
              <a:buFont typeface="Courier New" panose="02070309020205020404" pitchFamily="49" charset="0"/>
              <a:buChar char="o"/>
              <a:tabLst>
                <a:tab pos="457200" algn="l"/>
              </a:tabLst>
            </a:pPr>
            <a:r>
              <a:rPr lang="en-US" sz="24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Chemical and solvent resistance, and</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SzPts val="1000"/>
              <a:buFont typeface="Courier New" panose="02070309020205020404" pitchFamily="49" charset="0"/>
              <a:buChar char="o"/>
              <a:tabLst>
                <a:tab pos="457200" algn="l"/>
              </a:tabLst>
            </a:pPr>
            <a:r>
              <a:rPr lang="en-US" sz="24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Low cost and low toxicity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9007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77277" y="534662"/>
            <a:ext cx="9332259" cy="4832092"/>
          </a:xfrm>
          <a:prstGeom prst="rect">
            <a:avLst/>
          </a:prstGeom>
        </p:spPr>
        <p:txBody>
          <a:bodyPr wrap="square">
            <a:spAutoFit/>
          </a:bodyPr>
          <a:lstStyle/>
          <a:p>
            <a:pPr algn="just"/>
            <a:r>
              <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Epoxies are easily cured, and they are also compatible with most substrates. </a:t>
            </a:r>
            <a:endParaRPr lang="en-US" sz="2800"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endParaRPr>
          </a:p>
          <a:p>
            <a:pPr algn="just"/>
            <a:endPar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endParaRPr>
          </a:p>
          <a:p>
            <a:pPr algn="just"/>
            <a:r>
              <a:rPr lang="en-US" sz="2800"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They </a:t>
            </a:r>
            <a:r>
              <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tend to wet surfaces easily, making them especially suitable for composite applications. </a:t>
            </a:r>
            <a:endParaRPr lang="en-US" sz="2800"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endParaRPr>
          </a:p>
          <a:p>
            <a:pPr algn="just"/>
            <a:endPar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endParaRPr>
          </a:p>
          <a:p>
            <a:pPr algn="just"/>
            <a:r>
              <a:rPr lang="en-US" sz="2800"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Epoxy </a:t>
            </a:r>
            <a:r>
              <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resin is also used to modify several polymers such as </a:t>
            </a:r>
            <a:r>
              <a:rPr lang="en-US" sz="2800" u="sng" dirty="0" smtClean="0">
                <a:latin typeface="Helvetica" panose="020B0604020202020204" pitchFamily="34" charset="0"/>
                <a:ea typeface="Times New Roman" panose="02020603050405020304" pitchFamily="18" charset="0"/>
                <a:cs typeface="Times New Roman" panose="02020603050405020304" pitchFamily="18" charset="0"/>
              </a:rPr>
              <a:t>polyurethane</a:t>
            </a:r>
            <a:r>
              <a:rPr lang="en-US" sz="2800" dirty="0" smtClean="0">
                <a:latin typeface="Helvetica" panose="020B0604020202020204" pitchFamily="34" charset="0"/>
                <a:ea typeface="Times New Roman" panose="02020603050405020304" pitchFamily="18" charset="0"/>
                <a:cs typeface="Times New Roman" panose="02020603050405020304" pitchFamily="18" charset="0"/>
              </a:rPr>
              <a:t> </a:t>
            </a:r>
            <a:r>
              <a:rPr lang="en-US" sz="2800"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or </a:t>
            </a:r>
            <a:r>
              <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unsaturated polyesters to enhance their physical and chemical attributes.</a:t>
            </a:r>
            <a:br>
              <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br>
            <a:r>
              <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
            </a:r>
            <a:br>
              <a:rPr lang="en-US" sz="2800"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2463482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7999" y="1944363"/>
            <a:ext cx="7481047" cy="4106813"/>
          </a:xfrm>
          <a:prstGeom prst="rect">
            <a:avLst/>
          </a:prstGeom>
        </p:spPr>
        <p:txBody>
          <a:bodyPr wrap="square">
            <a:spAutoFit/>
          </a:bodyPr>
          <a:lstStyle/>
          <a:p>
            <a:pPr>
              <a:lnSpc>
                <a:spcPct val="200000"/>
              </a:lnSpc>
            </a:pPr>
            <a:r>
              <a:rPr lang="en-US"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For thermosetting epoxies:</a:t>
            </a:r>
            <a:br>
              <a:rPr lang="en-US"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br>
            <a:r>
              <a:rPr lang="en-US" i="1" dirty="0" smtClean="0">
                <a:latin typeface="Helvetica" panose="020B0604020202020204" pitchFamily="34" charset="0"/>
                <a:ea typeface="Times New Roman" panose="02020603050405020304" pitchFamily="18" charset="0"/>
                <a:cs typeface="Times New Roman" panose="02020603050405020304" pitchFamily="18" charset="0"/>
              </a:rPr>
              <a:t>The</a:t>
            </a:r>
            <a:r>
              <a:rPr lang="en-US" i="1" dirty="0">
                <a:latin typeface="Helvetica" panose="020B0604020202020204" pitchFamily="34" charset="0"/>
                <a:ea typeface="Times New Roman" panose="02020603050405020304" pitchFamily="18" charset="0"/>
                <a:cs typeface="Times New Roman" panose="02020603050405020304" pitchFamily="18" charset="0"/>
              </a:rPr>
              <a:t> </a:t>
            </a:r>
            <a:r>
              <a:rPr lang="en-US" i="1" u="sng" dirty="0">
                <a:latin typeface="Helvetica" panose="020B0604020202020204" pitchFamily="34" charset="0"/>
                <a:ea typeface="Times New Roman" panose="02020603050405020304" pitchFamily="18" charset="0"/>
                <a:cs typeface="Times New Roman" panose="02020603050405020304" pitchFamily="18" charset="0"/>
              </a:rPr>
              <a:t>tensile strength</a:t>
            </a:r>
            <a:r>
              <a:rPr lang="en-US" i="1" dirty="0">
                <a:latin typeface="Helvetica" panose="020B0604020202020204" pitchFamily="34" charset="0"/>
                <a:ea typeface="Times New Roman" panose="02020603050405020304" pitchFamily="18" charset="0"/>
                <a:cs typeface="Times New Roman" panose="02020603050405020304" pitchFamily="18" charset="0"/>
              </a:rPr>
              <a:t> ranges from 90 to 120 </a:t>
            </a:r>
            <a:r>
              <a:rPr lang="en-US" i="1" dirty="0" err="1">
                <a:latin typeface="Helvetica" panose="020B0604020202020204" pitchFamily="34" charset="0"/>
                <a:ea typeface="Times New Roman" panose="02020603050405020304" pitchFamily="18" charset="0"/>
                <a:cs typeface="Times New Roman" panose="02020603050405020304" pitchFamily="18" charset="0"/>
              </a:rPr>
              <a:t>MPa</a:t>
            </a:r>
            <a:endParaRPr lang="en-US" sz="2000" i="1"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200000"/>
              </a:lnSpc>
              <a:spcBef>
                <a:spcPts val="0"/>
              </a:spcBef>
              <a:spcAft>
                <a:spcPts val="0"/>
              </a:spcAft>
              <a:buSzPts val="1000"/>
              <a:buFont typeface="Courier New" panose="02070309020205020404" pitchFamily="49" charset="0"/>
              <a:buChar char="o"/>
              <a:tabLst>
                <a:tab pos="457200" algn="l"/>
              </a:tabLst>
            </a:pPr>
            <a:r>
              <a:rPr lang="en-US" dirty="0">
                <a:latin typeface="Helvetica" panose="020B0604020202020204" pitchFamily="34" charset="0"/>
                <a:ea typeface="Times New Roman" panose="02020603050405020304" pitchFamily="18" charset="0"/>
                <a:cs typeface="Times New Roman" panose="02020603050405020304" pitchFamily="18" charset="0"/>
              </a:rPr>
              <a:t>A </a:t>
            </a:r>
            <a:r>
              <a:rPr lang="en-US" u="sng" dirty="0">
                <a:latin typeface="Helvetica" panose="020B0604020202020204" pitchFamily="34" charset="0"/>
                <a:ea typeface="Times New Roman" panose="02020603050405020304" pitchFamily="18" charset="0"/>
                <a:cs typeface="Times New Roman" panose="02020603050405020304" pitchFamily="18" charset="0"/>
              </a:rPr>
              <a:t>tensile </a:t>
            </a:r>
            <a:r>
              <a:rPr lang="en-US" u="sng" dirty="0" smtClean="0">
                <a:latin typeface="Helvetica" panose="020B0604020202020204" pitchFamily="34" charset="0"/>
                <a:ea typeface="Times New Roman" panose="02020603050405020304" pitchFamily="18" charset="0"/>
                <a:cs typeface="Times New Roman" panose="02020603050405020304" pitchFamily="18" charset="0"/>
              </a:rPr>
              <a:t>modulus</a:t>
            </a:r>
            <a:r>
              <a:rPr lang="en-US" dirty="0" smtClean="0">
                <a:latin typeface="Helvetica" panose="020B0604020202020204" pitchFamily="34" charset="0"/>
                <a:ea typeface="Times New Roman" panose="02020603050405020304" pitchFamily="18" charset="0"/>
                <a:cs typeface="Times New Roman" panose="02020603050405020304" pitchFamily="18" charset="0"/>
              </a:rPr>
              <a:t> ranging </a:t>
            </a:r>
            <a:r>
              <a:rPr lang="en-US" dirty="0">
                <a:latin typeface="Helvetica" panose="020B0604020202020204" pitchFamily="34" charset="0"/>
                <a:ea typeface="Times New Roman" panose="02020603050405020304" pitchFamily="18" charset="0"/>
                <a:cs typeface="Times New Roman" panose="02020603050405020304" pitchFamily="18" charset="0"/>
              </a:rPr>
              <a:t>from 3100 to 3800 </a:t>
            </a:r>
            <a:r>
              <a:rPr lang="en-US" dirty="0" err="1">
                <a:latin typeface="Helvetica" panose="020B0604020202020204" pitchFamily="34" charset="0"/>
                <a:ea typeface="Times New Roman" panose="02020603050405020304" pitchFamily="18" charset="0"/>
                <a:cs typeface="Times New Roman" panose="02020603050405020304" pitchFamily="18" charset="0"/>
              </a:rPr>
              <a:t>MPa</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200000"/>
              </a:lnSpc>
              <a:spcBef>
                <a:spcPts val="0"/>
              </a:spcBef>
              <a:spcAft>
                <a:spcPts val="0"/>
              </a:spcAft>
              <a:buSzPts val="1000"/>
              <a:buFont typeface="Courier New" panose="02070309020205020404" pitchFamily="49" charset="0"/>
              <a:buChar char="o"/>
              <a:tabLst>
                <a:tab pos="457200" algn="l"/>
              </a:tabLst>
            </a:pPr>
            <a:r>
              <a:rPr lang="en-US" u="sng" dirty="0">
                <a:latin typeface="Helvetica" panose="020B0604020202020204" pitchFamily="34" charset="0"/>
                <a:ea typeface="Times New Roman" panose="02020603050405020304" pitchFamily="18" charset="0"/>
                <a:cs typeface="Times New Roman" panose="02020603050405020304" pitchFamily="18" charset="0"/>
              </a:rPr>
              <a:t>Glass transition temperatures (</a:t>
            </a:r>
            <a:r>
              <a:rPr lang="en-US" u="sng" dirty="0" err="1" smtClean="0">
                <a:latin typeface="Helvetica" panose="020B0604020202020204" pitchFamily="34" charset="0"/>
                <a:ea typeface="Times New Roman" panose="02020603050405020304" pitchFamily="18" charset="0"/>
                <a:cs typeface="Times New Roman" panose="02020603050405020304" pitchFamily="18" charset="0"/>
              </a:rPr>
              <a:t>Tg</a:t>
            </a:r>
            <a:r>
              <a:rPr lang="en-US" u="sng" dirty="0" smtClean="0">
                <a:latin typeface="Helvetica" panose="020B0604020202020204" pitchFamily="34" charset="0"/>
                <a:ea typeface="Times New Roman" panose="02020603050405020304" pitchFamily="18" charset="0"/>
                <a:cs typeface="Times New Roman" panose="02020603050405020304" pitchFamily="18" charset="0"/>
              </a:rPr>
              <a:t>) </a:t>
            </a:r>
            <a:r>
              <a:rPr lang="en-US" dirty="0" smtClean="0">
                <a:latin typeface="Helvetica" panose="020B0604020202020204" pitchFamily="34" charset="0"/>
                <a:ea typeface="Times New Roman" panose="02020603050405020304" pitchFamily="18" charset="0"/>
                <a:cs typeface="Times New Roman" panose="02020603050405020304" pitchFamily="18" charset="0"/>
              </a:rPr>
              <a:t>that </a:t>
            </a:r>
            <a:r>
              <a:rPr lang="en-US" dirty="0">
                <a:latin typeface="Helvetica" panose="020B0604020202020204" pitchFamily="34" charset="0"/>
                <a:ea typeface="Times New Roman" panose="02020603050405020304" pitchFamily="18" charset="0"/>
                <a:cs typeface="Times New Roman" panose="02020603050405020304" pitchFamily="18" charset="0"/>
              </a:rPr>
              <a:t>range from 150 to 220 °C</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a:lnSpc>
                <a:spcPct val="200000"/>
              </a:lnSpc>
              <a:spcAft>
                <a:spcPts val="800"/>
              </a:spcAft>
            </a:pPr>
            <a:r>
              <a:rPr lang="en-US" dirty="0" smtClean="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Beside </a:t>
            </a:r>
            <a:r>
              <a:rPr lang="en-US"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from the properties mentioned above, epoxy resins have two main </a:t>
            </a:r>
            <a:r>
              <a:rPr lang="en-US" b="1"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drawbacks which are their brittleness and moisture sensitivity</a:t>
            </a:r>
            <a:r>
              <a:rPr lang="en-US" dirty="0">
                <a:solidFill>
                  <a:srgbClr val="464443"/>
                </a:solidFill>
                <a:latin typeface="Helvetica" panose="020B0604020202020204" pitchFamily="34" charset="0"/>
                <a:ea typeface="Times New Roman" panose="02020603050405020304" pitchFamily="18" charset="0"/>
                <a:cs typeface="Times New Roman" panose="02020603050405020304" pitchFamily="18" charset="0"/>
              </a:rPr>
              <a:t>.</a:t>
            </a:r>
            <a:endParaRPr lang="en-US" sz="2000" dirty="0">
              <a:effectLst/>
              <a:latin typeface="Calibri" panose="020F0502020204030204" pitchFamily="34" charset="0"/>
              <a:ea typeface="Calibri" panose="020F0502020204030204" pitchFamily="34" charset="0"/>
              <a:cs typeface="Vrinda" panose="020B0502040204020203" pitchFamily="34" charset="0"/>
            </a:endParaRPr>
          </a:p>
        </p:txBody>
      </p:sp>
    </p:spTree>
    <p:extLst>
      <p:ext uri="{BB962C8B-B14F-4D97-AF65-F5344CB8AC3E}">
        <p14:creationId xmlns:p14="http://schemas.microsoft.com/office/powerpoint/2010/main" val="4092480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0" y="2690336"/>
            <a:ext cx="6096000" cy="1569660"/>
          </a:xfrm>
          <a:prstGeom prst="rect">
            <a:avLst/>
          </a:prstGeom>
        </p:spPr>
        <p:txBody>
          <a:bodyPr>
            <a:spAutoFit/>
          </a:bodyPr>
          <a:lstStyle/>
          <a:p>
            <a:r>
              <a:rPr lang="en-US" sz="2400" dirty="0" smtClean="0">
                <a:solidFill>
                  <a:srgbClr val="212529"/>
                </a:solidFill>
                <a:latin typeface="Times New Roman" panose="02020603050405020304" pitchFamily="18" charset="0"/>
                <a:cs typeface="Times New Roman" panose="02020603050405020304" pitchFamily="18" charset="0"/>
              </a:rPr>
              <a:t>Polyester resins </a:t>
            </a:r>
            <a:r>
              <a:rPr lang="en-US" sz="2400" dirty="0">
                <a:solidFill>
                  <a:srgbClr val="212529"/>
                </a:solidFill>
                <a:latin typeface="Times New Roman" panose="02020603050405020304" pitchFamily="18" charset="0"/>
                <a:cs typeface="Times New Roman" panose="02020603050405020304" pitchFamily="18" charset="0"/>
              </a:rPr>
              <a:t>are generally thermoplastic polymers which means that they may be formed with heat and re-melted without losing their intrinsic characteristics. </a:t>
            </a:r>
            <a:endParaRPr lang="en-US" sz="2400" dirty="0">
              <a:latin typeface="Times New Roman" panose="02020603050405020304" pitchFamily="18" charset="0"/>
              <a:cs typeface="Times New Roman" panose="02020603050405020304" pitchFamily="18" charset="0"/>
            </a:endParaRPr>
          </a:p>
        </p:txBody>
      </p:sp>
      <p:sp>
        <p:nvSpPr>
          <p:cNvPr id="5" name="Rectangle 4"/>
          <p:cNvSpPr/>
          <p:nvPr/>
        </p:nvSpPr>
        <p:spPr>
          <a:xfrm>
            <a:off x="3918447" y="1388640"/>
            <a:ext cx="2876108" cy="584775"/>
          </a:xfrm>
          <a:prstGeom prst="rect">
            <a:avLst/>
          </a:prstGeom>
        </p:spPr>
        <p:txBody>
          <a:bodyPr wrap="none">
            <a:spAutoFit/>
          </a:bodyPr>
          <a:lstStyle/>
          <a:p>
            <a:r>
              <a:rPr lang="en-US" sz="3200" dirty="0" smtClean="0">
                <a:solidFill>
                  <a:srgbClr val="212529"/>
                </a:solidFill>
                <a:latin typeface="Times New Roman" panose="02020603050405020304" pitchFamily="18" charset="0"/>
                <a:cs typeface="Times New Roman" panose="02020603050405020304" pitchFamily="18" charset="0"/>
              </a:rPr>
              <a:t>Polyester </a:t>
            </a:r>
            <a:r>
              <a:rPr lang="en-US" sz="3200" dirty="0">
                <a:solidFill>
                  <a:srgbClr val="212529"/>
                </a:solidFill>
                <a:latin typeface="Times New Roman" panose="02020603050405020304" pitchFamily="18" charset="0"/>
                <a:cs typeface="Times New Roman" panose="02020603050405020304" pitchFamily="18" charset="0"/>
              </a:rPr>
              <a:t>resins </a:t>
            </a:r>
            <a:endParaRPr lang="en-US" sz="3200" dirty="0"/>
          </a:p>
        </p:txBody>
      </p:sp>
    </p:spTree>
    <p:extLst>
      <p:ext uri="{BB962C8B-B14F-4D97-AF65-F5344CB8AC3E}">
        <p14:creationId xmlns:p14="http://schemas.microsoft.com/office/powerpoint/2010/main" val="1461559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43953" y="820271"/>
            <a:ext cx="8413692" cy="3847207"/>
          </a:xfrm>
          <a:prstGeom prst="rect">
            <a:avLst/>
          </a:prstGeom>
        </p:spPr>
        <p:txBody>
          <a:bodyPr wrap="square">
            <a:spAutoFit/>
          </a:bodyPr>
          <a:lstStyle/>
          <a:p>
            <a:pPr algn="just"/>
            <a:r>
              <a:rPr lang="en-US" sz="2800" dirty="0">
                <a:solidFill>
                  <a:srgbClr val="00334D"/>
                </a:solidFill>
                <a:latin typeface="Whitney A"/>
              </a:rPr>
              <a:t>Properties</a:t>
            </a:r>
          </a:p>
          <a:p>
            <a:pPr algn="just"/>
            <a:endParaRPr lang="en-US" sz="2400" u="sng" dirty="0" smtClean="0">
              <a:solidFill>
                <a:srgbClr val="28628F"/>
              </a:solidFill>
              <a:latin typeface="Whitney A"/>
            </a:endParaRPr>
          </a:p>
          <a:p>
            <a:pPr algn="just"/>
            <a:r>
              <a:rPr lang="en-US" sz="2400" u="sng" dirty="0" smtClean="0">
                <a:solidFill>
                  <a:srgbClr val="28628F"/>
                </a:solidFill>
                <a:latin typeface="Whitney A"/>
              </a:rPr>
              <a:t>Polyester </a:t>
            </a:r>
            <a:r>
              <a:rPr lang="en-US" sz="2400" u="sng" dirty="0" smtClean="0">
                <a:solidFill>
                  <a:srgbClr val="28628F"/>
                </a:solidFill>
                <a:latin typeface="Whitney A"/>
              </a:rPr>
              <a:t>resins</a:t>
            </a:r>
            <a:r>
              <a:rPr lang="en-US" sz="2400" dirty="0">
                <a:solidFill>
                  <a:srgbClr val="212529"/>
                </a:solidFill>
                <a:latin typeface="Whitney A"/>
              </a:rPr>
              <a:t> are transparent, high-density polymers with excellent strength and water resistance with high usage in textiles (where it is known under the </a:t>
            </a:r>
            <a:r>
              <a:rPr lang="en-US" sz="2400" dirty="0" err="1">
                <a:solidFill>
                  <a:srgbClr val="212529"/>
                </a:solidFill>
                <a:latin typeface="Whitney A"/>
              </a:rPr>
              <a:t>tradename</a:t>
            </a:r>
            <a:r>
              <a:rPr lang="en-US" sz="2400" dirty="0">
                <a:solidFill>
                  <a:srgbClr val="212529"/>
                </a:solidFill>
                <a:latin typeface="Whitney A"/>
              </a:rPr>
              <a:t> “</a:t>
            </a:r>
            <a:r>
              <a:rPr lang="en-US" sz="2400" dirty="0" smtClean="0">
                <a:latin typeface="Whitney A"/>
              </a:rPr>
              <a:t>Polyester</a:t>
            </a:r>
            <a:r>
              <a:rPr lang="en-US" sz="2400" dirty="0" smtClean="0">
                <a:solidFill>
                  <a:srgbClr val="212529"/>
                </a:solidFill>
                <a:latin typeface="Whitney A"/>
              </a:rPr>
              <a:t>”) </a:t>
            </a:r>
            <a:r>
              <a:rPr lang="en-US" sz="2400" dirty="0">
                <a:solidFill>
                  <a:srgbClr val="212529"/>
                </a:solidFill>
                <a:latin typeface="Whitney A"/>
              </a:rPr>
              <a:t>and packaging (where it generally referred to as </a:t>
            </a:r>
            <a:r>
              <a:rPr lang="en-US" sz="2400" dirty="0" smtClean="0">
                <a:solidFill>
                  <a:srgbClr val="212529"/>
                </a:solidFill>
                <a:latin typeface="Whitney A"/>
              </a:rPr>
              <a:t>“</a:t>
            </a:r>
            <a:r>
              <a:rPr lang="en-US" sz="2400" u="sng" dirty="0" smtClean="0">
                <a:solidFill>
                  <a:srgbClr val="28628F"/>
                </a:solidFill>
                <a:latin typeface="Whitney A"/>
              </a:rPr>
              <a:t>PET</a:t>
            </a:r>
            <a:r>
              <a:rPr lang="en-US" sz="2400" dirty="0" smtClean="0">
                <a:solidFill>
                  <a:srgbClr val="212529"/>
                </a:solidFill>
                <a:latin typeface="Whitney A"/>
              </a:rPr>
              <a:t>”). </a:t>
            </a:r>
            <a:endParaRPr lang="en-US" sz="2400" dirty="0" smtClean="0">
              <a:solidFill>
                <a:srgbClr val="212529"/>
              </a:solidFill>
              <a:latin typeface="Whitney A"/>
            </a:endParaRPr>
          </a:p>
          <a:p>
            <a:pPr algn="just"/>
            <a:endParaRPr lang="en-US" sz="2400" dirty="0">
              <a:solidFill>
                <a:srgbClr val="212529"/>
              </a:solidFill>
              <a:latin typeface="Whitney A"/>
            </a:endParaRPr>
          </a:p>
          <a:p>
            <a:pPr algn="just"/>
            <a:r>
              <a:rPr lang="en-US" sz="2400" dirty="0" smtClean="0">
                <a:solidFill>
                  <a:srgbClr val="212529"/>
                </a:solidFill>
                <a:latin typeface="Whitney A"/>
              </a:rPr>
              <a:t>Compared </a:t>
            </a:r>
            <a:r>
              <a:rPr lang="en-US" sz="2400" dirty="0">
                <a:solidFill>
                  <a:srgbClr val="212529"/>
                </a:solidFill>
                <a:latin typeface="Whitney A"/>
              </a:rPr>
              <a:t>with other polymers, PET is moderately expensive, shatter-resistant, food resistant, and withstands repeated recycling.</a:t>
            </a:r>
            <a:endParaRPr lang="en-US" sz="2400" b="0" i="0" dirty="0">
              <a:solidFill>
                <a:srgbClr val="212529"/>
              </a:solidFill>
              <a:effectLst/>
              <a:latin typeface="Whitney A"/>
            </a:endParaRPr>
          </a:p>
        </p:txBody>
      </p:sp>
    </p:spTree>
    <p:extLst>
      <p:ext uri="{BB962C8B-B14F-4D97-AF65-F5344CB8AC3E}">
        <p14:creationId xmlns:p14="http://schemas.microsoft.com/office/powerpoint/2010/main" val="19901350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tutormyself.com/wp-content/uploads/img_5a13e1fb6d42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351" y="1257300"/>
            <a:ext cx="6715125"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0839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420" y="1928812"/>
            <a:ext cx="8439150" cy="2657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9009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3681" y="1035424"/>
            <a:ext cx="9787755" cy="4741683"/>
          </a:xfrm>
          <a:prstGeom prst="rect">
            <a:avLst/>
          </a:prstGeom>
        </p:spPr>
        <p:txBody>
          <a:bodyPr wrap="square">
            <a:spAutoFit/>
          </a:bodyPr>
          <a:lstStyle/>
          <a:p>
            <a:pPr>
              <a:lnSpc>
                <a:spcPct val="107000"/>
              </a:lnSpc>
              <a:spcAft>
                <a:spcPts val="720"/>
              </a:spcAft>
            </a:pPr>
            <a:r>
              <a:rPr lang="en-US" sz="2800" dirty="0">
                <a:solidFill>
                  <a:srgbClr val="124076"/>
                </a:solidFill>
                <a:latin typeface="Times New Roman" pitchFamily="18" charset="0"/>
                <a:ea typeface="Times New Roman" pitchFamily="18" charset="0"/>
                <a:cs typeface="Times New Roman" pitchFamily="18" charset="0"/>
              </a:rPr>
              <a:t>Characteristics of polyester</a:t>
            </a:r>
            <a:endParaRPr lang="en-US" sz="2800" dirty="0">
              <a:latin typeface="Times New Roman" pitchFamily="18" charset="0"/>
              <a:ea typeface="Calibri" panose="020F0502020204030204" pitchFamily="34" charset="0"/>
              <a:cs typeface="Times New Roman"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solidFill>
                  <a:srgbClr val="212529"/>
                </a:solidFill>
                <a:latin typeface="Times New Roman" pitchFamily="18" charset="0"/>
                <a:ea typeface="Times New Roman" panose="02020603050405020304" pitchFamily="18" charset="0"/>
                <a:cs typeface="Times New Roman" pitchFamily="18" charset="0"/>
              </a:rPr>
              <a:t>Polyester fabrics and fibers are extremely strong.</a:t>
            </a:r>
            <a:endParaRPr lang="en-US" sz="2800" dirty="0">
              <a:solidFill>
                <a:srgbClr val="212529"/>
              </a:solidFill>
              <a:latin typeface="Times New Roman" pitchFamily="18" charset="0"/>
              <a:ea typeface="Calibri" panose="020F0502020204030204" pitchFamily="34" charset="0"/>
              <a:cs typeface="Times New Roman"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solidFill>
                  <a:srgbClr val="212529"/>
                </a:solidFill>
                <a:latin typeface="Times New Roman" pitchFamily="18" charset="0"/>
                <a:ea typeface="Times New Roman" panose="02020603050405020304" pitchFamily="18" charset="0"/>
                <a:cs typeface="Times New Roman" pitchFamily="18" charset="0"/>
              </a:rPr>
              <a:t>Polyester is very durable: resistant to most chemicals, stretching and shrinking, wrinkle resistant, mildew and abrasion resistant.</a:t>
            </a:r>
            <a:endParaRPr lang="en-US" sz="2800" dirty="0">
              <a:solidFill>
                <a:srgbClr val="212529"/>
              </a:solidFill>
              <a:latin typeface="Times New Roman" pitchFamily="18" charset="0"/>
              <a:ea typeface="Calibri" panose="020F0502020204030204" pitchFamily="34" charset="0"/>
              <a:cs typeface="Times New Roman"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solidFill>
                  <a:srgbClr val="212529"/>
                </a:solidFill>
                <a:latin typeface="Times New Roman" pitchFamily="18" charset="0"/>
                <a:ea typeface="Times New Roman" panose="02020603050405020304" pitchFamily="18" charset="0"/>
                <a:cs typeface="Times New Roman" pitchFamily="18" charset="0"/>
              </a:rPr>
              <a:t>Polyester is hydrophobic in nature and quick drying. It can be used for insulation by manufacturing hollow fibers.</a:t>
            </a:r>
            <a:endParaRPr lang="en-US" sz="2800" dirty="0">
              <a:solidFill>
                <a:srgbClr val="212529"/>
              </a:solidFill>
              <a:latin typeface="Times New Roman" pitchFamily="18" charset="0"/>
              <a:ea typeface="Calibri" panose="020F0502020204030204" pitchFamily="34" charset="0"/>
              <a:cs typeface="Times New Roman"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solidFill>
                  <a:srgbClr val="212529"/>
                </a:solidFill>
                <a:latin typeface="Times New Roman" pitchFamily="18" charset="0"/>
                <a:ea typeface="Times New Roman" panose="02020603050405020304" pitchFamily="18" charset="0"/>
                <a:cs typeface="Times New Roman" pitchFamily="18" charset="0"/>
              </a:rPr>
              <a:t>Polyester retains its shape and hence is good for making outdoor clothing for harsh climates.</a:t>
            </a:r>
            <a:endParaRPr lang="en-US" sz="2800" dirty="0">
              <a:solidFill>
                <a:srgbClr val="212529"/>
              </a:solidFill>
              <a:latin typeface="Times New Roman" pitchFamily="18" charset="0"/>
              <a:ea typeface="Calibri" panose="020F0502020204030204" pitchFamily="34" charset="0"/>
              <a:cs typeface="Times New Roman"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800" dirty="0">
                <a:solidFill>
                  <a:srgbClr val="212529"/>
                </a:solidFill>
                <a:latin typeface="Times New Roman" pitchFamily="18" charset="0"/>
                <a:ea typeface="Times New Roman" panose="02020603050405020304" pitchFamily="18" charset="0"/>
                <a:cs typeface="Times New Roman" pitchFamily="18" charset="0"/>
              </a:rPr>
              <a:t>It is easily washed and dried.</a:t>
            </a:r>
            <a:endParaRPr lang="en-US" sz="2800" dirty="0">
              <a:solidFill>
                <a:srgbClr val="212529"/>
              </a:solidFill>
              <a:effectLst/>
              <a:latin typeface="Times New Roman" pitchFamily="18" charset="0"/>
              <a:ea typeface="Calibri" panose="020F0502020204030204" pitchFamily="34" charset="0"/>
              <a:cs typeface="Times New Roman" pitchFamily="18" charset="0"/>
            </a:endParaRPr>
          </a:p>
        </p:txBody>
      </p:sp>
    </p:spTree>
    <p:extLst>
      <p:ext uri="{BB962C8B-B14F-4D97-AF65-F5344CB8AC3E}">
        <p14:creationId xmlns:p14="http://schemas.microsoft.com/office/powerpoint/2010/main" val="2925481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97735" y="798489"/>
            <a:ext cx="10174310" cy="3970318"/>
          </a:xfrm>
          <a:prstGeom prst="rect">
            <a:avLst/>
          </a:prstGeom>
        </p:spPr>
        <p:txBody>
          <a:bodyPr wrap="square">
            <a:spAutoFit/>
          </a:bodyPr>
          <a:lstStyle/>
          <a:p>
            <a:r>
              <a:rPr lang="en-US" sz="2400" dirty="0" smtClean="0">
                <a:solidFill>
                  <a:srgbClr val="000000"/>
                </a:solidFill>
                <a:latin typeface="Times New Roman" pitchFamily="18" charset="0"/>
                <a:cs typeface="Times New Roman" pitchFamily="18" charset="0"/>
              </a:rPr>
              <a:t> </a:t>
            </a:r>
            <a:r>
              <a:rPr lang="en-US" sz="2800" b="1" dirty="0" smtClean="0">
                <a:solidFill>
                  <a:srgbClr val="202122"/>
                </a:solidFill>
                <a:latin typeface="Times New Roman" pitchFamily="18" charset="0"/>
                <a:cs typeface="Times New Roman" pitchFamily="18" charset="0"/>
              </a:rPr>
              <a:t>Polyester </a:t>
            </a:r>
            <a:r>
              <a:rPr lang="en-US" sz="2800" b="1" dirty="0">
                <a:solidFill>
                  <a:srgbClr val="202122"/>
                </a:solidFill>
                <a:latin typeface="Times New Roman" pitchFamily="18" charset="0"/>
                <a:cs typeface="Times New Roman" pitchFamily="18" charset="0"/>
              </a:rPr>
              <a:t>resin has the following disadvantages:</a:t>
            </a:r>
          </a:p>
          <a:p>
            <a:pPr>
              <a:buFont typeface="+mj-lt"/>
              <a:buAutoNum type="arabicPeriod"/>
            </a:pPr>
            <a:endParaRPr lang="en-US" sz="2800" b="1" dirty="0" smtClean="0">
              <a:solidFill>
                <a:srgbClr val="202122"/>
              </a:solidFill>
              <a:latin typeface="Times New Roman" pitchFamily="18" charset="0"/>
              <a:cs typeface="Times New Roman" pitchFamily="18" charset="0"/>
            </a:endParaRPr>
          </a:p>
          <a:p>
            <a:pPr>
              <a:buFont typeface="+mj-lt"/>
              <a:buAutoNum type="arabicPeriod"/>
            </a:pPr>
            <a:r>
              <a:rPr lang="en-US" sz="2800" dirty="0" smtClean="0">
                <a:solidFill>
                  <a:srgbClr val="202122"/>
                </a:solidFill>
                <a:latin typeface="Times New Roman" pitchFamily="18" charset="0"/>
                <a:cs typeface="Times New Roman" pitchFamily="18" charset="0"/>
              </a:rPr>
              <a:t>Strong </a:t>
            </a:r>
            <a:r>
              <a:rPr lang="en-US" sz="2800" dirty="0">
                <a:solidFill>
                  <a:srgbClr val="202122"/>
                </a:solidFill>
                <a:latin typeface="Times New Roman" pitchFamily="18" charset="0"/>
                <a:cs typeface="Times New Roman" pitchFamily="18" charset="0"/>
              </a:rPr>
              <a:t>styrene </a:t>
            </a:r>
            <a:r>
              <a:rPr lang="en-US" sz="2800" dirty="0" err="1">
                <a:solidFill>
                  <a:srgbClr val="202122"/>
                </a:solidFill>
                <a:latin typeface="Times New Roman" pitchFamily="18" charset="0"/>
                <a:cs typeface="Times New Roman" pitchFamily="18" charset="0"/>
              </a:rPr>
              <a:t>odour</a:t>
            </a:r>
            <a:endParaRPr lang="en-US" sz="2800" dirty="0">
              <a:solidFill>
                <a:srgbClr val="202122"/>
              </a:solidFill>
              <a:latin typeface="Times New Roman" pitchFamily="18" charset="0"/>
              <a:cs typeface="Times New Roman" pitchFamily="18" charset="0"/>
            </a:endParaRPr>
          </a:p>
          <a:p>
            <a:pPr>
              <a:buFont typeface="+mj-lt"/>
              <a:buAutoNum type="arabicPeriod"/>
            </a:pPr>
            <a:r>
              <a:rPr lang="en-US" sz="2800" dirty="0">
                <a:solidFill>
                  <a:srgbClr val="202122"/>
                </a:solidFill>
                <a:latin typeface="Times New Roman" pitchFamily="18" charset="0"/>
                <a:cs typeface="Times New Roman" pitchFamily="18" charset="0"/>
              </a:rPr>
              <a:t>More difficult to mix than other resins, such as a </a:t>
            </a:r>
            <a:r>
              <a:rPr lang="en-US" sz="2800" dirty="0" smtClean="0">
                <a:solidFill>
                  <a:srgbClr val="202122"/>
                </a:solidFill>
                <a:latin typeface="Times New Roman" pitchFamily="18" charset="0"/>
                <a:cs typeface="Times New Roman" pitchFamily="18" charset="0"/>
              </a:rPr>
              <a:t>two-part </a:t>
            </a:r>
            <a:r>
              <a:rPr lang="en-US" sz="2800" dirty="0">
                <a:solidFill>
                  <a:srgbClr val="202122"/>
                </a:solidFill>
                <a:latin typeface="Times New Roman" pitchFamily="18" charset="0"/>
                <a:cs typeface="Times New Roman" pitchFamily="18" charset="0"/>
              </a:rPr>
              <a:t>epoxy</a:t>
            </a:r>
          </a:p>
          <a:p>
            <a:pPr>
              <a:buFont typeface="+mj-lt"/>
              <a:buAutoNum type="arabicPeriod"/>
            </a:pPr>
            <a:r>
              <a:rPr lang="en-US" sz="2800" dirty="0">
                <a:solidFill>
                  <a:srgbClr val="202122"/>
                </a:solidFill>
                <a:latin typeface="Times New Roman" pitchFamily="18" charset="0"/>
                <a:cs typeface="Times New Roman" pitchFamily="18" charset="0"/>
              </a:rPr>
              <a:t>The toxic nature of its fumes, and especially of its catalyst, MEKP, </a:t>
            </a:r>
            <a:r>
              <a:rPr lang="en-US" sz="2800" dirty="0" smtClean="0">
                <a:solidFill>
                  <a:srgbClr val="202122"/>
                </a:solidFill>
                <a:latin typeface="Times New Roman" pitchFamily="18" charset="0"/>
                <a:cs typeface="Times New Roman" pitchFamily="18" charset="0"/>
              </a:rPr>
              <a:t>   pose </a:t>
            </a:r>
            <a:r>
              <a:rPr lang="en-US" sz="2800" dirty="0">
                <a:solidFill>
                  <a:srgbClr val="202122"/>
                </a:solidFill>
                <a:latin typeface="Times New Roman" pitchFamily="18" charset="0"/>
                <a:cs typeface="Times New Roman" pitchFamily="18" charset="0"/>
              </a:rPr>
              <a:t>a safety risk if proper protection isn't used</a:t>
            </a:r>
          </a:p>
          <a:p>
            <a:pPr>
              <a:buFont typeface="+mj-lt"/>
              <a:buAutoNum type="arabicPeriod"/>
            </a:pPr>
            <a:r>
              <a:rPr lang="en-US" sz="2800" dirty="0">
                <a:solidFill>
                  <a:srgbClr val="202122"/>
                </a:solidFill>
                <a:latin typeface="Times New Roman" pitchFamily="18" charset="0"/>
                <a:cs typeface="Times New Roman" pitchFamily="18" charset="0"/>
              </a:rPr>
              <a:t>Not appropriate for bonding many substrates</a:t>
            </a:r>
          </a:p>
          <a:p>
            <a:pPr>
              <a:buFont typeface="+mj-lt"/>
              <a:buAutoNum type="arabicPeriod"/>
            </a:pPr>
            <a:r>
              <a:rPr lang="en-US" sz="2800" dirty="0">
                <a:solidFill>
                  <a:srgbClr val="202122"/>
                </a:solidFill>
                <a:latin typeface="Times New Roman" pitchFamily="18" charset="0"/>
                <a:cs typeface="Times New Roman" pitchFamily="18" charset="0"/>
              </a:rPr>
              <a:t>The finished cure is most likely weaker than an equal amount </a:t>
            </a:r>
            <a:endParaRPr lang="en-US" sz="2800" dirty="0" smtClean="0">
              <a:solidFill>
                <a:srgbClr val="202122"/>
              </a:solidFill>
              <a:latin typeface="Times New Roman" pitchFamily="18" charset="0"/>
              <a:cs typeface="Times New Roman" pitchFamily="18" charset="0"/>
            </a:endParaRPr>
          </a:p>
          <a:p>
            <a:r>
              <a:rPr lang="en-US" sz="2800" dirty="0" smtClean="0">
                <a:solidFill>
                  <a:srgbClr val="202122"/>
                </a:solidFill>
                <a:latin typeface="Times New Roman" pitchFamily="18" charset="0"/>
                <a:cs typeface="Times New Roman" pitchFamily="18" charset="0"/>
              </a:rPr>
              <a:t>   of </a:t>
            </a:r>
            <a:r>
              <a:rPr lang="en-US" sz="2800" dirty="0">
                <a:solidFill>
                  <a:srgbClr val="202122"/>
                </a:solidFill>
                <a:latin typeface="Times New Roman" pitchFamily="18" charset="0"/>
                <a:cs typeface="Times New Roman" pitchFamily="18" charset="0"/>
              </a:rPr>
              <a:t>an epoxy resin</a:t>
            </a:r>
            <a:endParaRPr lang="en-US" sz="2800" b="0" i="0" dirty="0">
              <a:solidFill>
                <a:srgbClr val="202122"/>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6678040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43548" y="2050027"/>
            <a:ext cx="7683910" cy="830997"/>
          </a:xfrm>
          <a:prstGeom prst="rect">
            <a:avLst/>
          </a:prstGeom>
        </p:spPr>
        <p:txBody>
          <a:bodyPr wrap="square">
            <a:spAutoFit/>
          </a:bodyPr>
          <a:lstStyle/>
          <a:p>
            <a:r>
              <a:rPr lang="en-US" sz="2400" dirty="0">
                <a:solidFill>
                  <a:srgbClr val="000000"/>
                </a:solidFill>
                <a:latin typeface="Roboto"/>
              </a:rPr>
              <a:t>Polyamides are prepared by </a:t>
            </a:r>
            <a:r>
              <a:rPr lang="en-US" sz="2400" dirty="0" err="1">
                <a:solidFill>
                  <a:srgbClr val="000000"/>
                </a:solidFill>
                <a:latin typeface="Roboto"/>
              </a:rPr>
              <a:t>polycondensation</a:t>
            </a:r>
            <a:r>
              <a:rPr lang="en-US" sz="2400" dirty="0">
                <a:solidFill>
                  <a:srgbClr val="000000"/>
                </a:solidFill>
                <a:latin typeface="Roboto"/>
              </a:rPr>
              <a:t> between </a:t>
            </a:r>
            <a:r>
              <a:rPr lang="en-US" sz="2400" dirty="0" err="1">
                <a:solidFill>
                  <a:srgbClr val="000000"/>
                </a:solidFill>
                <a:latin typeface="Roboto"/>
              </a:rPr>
              <a:t>dicarboxylic</a:t>
            </a:r>
            <a:r>
              <a:rPr lang="en-US" sz="2400" dirty="0">
                <a:solidFill>
                  <a:srgbClr val="000000"/>
                </a:solidFill>
                <a:latin typeface="Roboto"/>
              </a:rPr>
              <a:t> acids and </a:t>
            </a:r>
            <a:r>
              <a:rPr lang="en-US" sz="2400" dirty="0" err="1">
                <a:solidFill>
                  <a:srgbClr val="000000"/>
                </a:solidFill>
                <a:latin typeface="Roboto"/>
              </a:rPr>
              <a:t>diamines</a:t>
            </a:r>
            <a:endParaRPr lang="en-US" sz="2400" dirty="0"/>
          </a:p>
        </p:txBody>
      </p:sp>
    </p:spTree>
    <p:extLst>
      <p:ext uri="{BB962C8B-B14F-4D97-AF65-F5344CB8AC3E}">
        <p14:creationId xmlns:p14="http://schemas.microsoft.com/office/powerpoint/2010/main" val="9285273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1369" y="643944"/>
            <a:ext cx="9878096" cy="4051622"/>
          </a:xfrm>
          <a:prstGeom prst="rect">
            <a:avLst/>
          </a:prstGeom>
        </p:spPr>
        <p:txBody>
          <a:bodyPr wrap="square">
            <a:spAutoFit/>
          </a:bodyPr>
          <a:lstStyle/>
          <a:p>
            <a:pPr>
              <a:lnSpc>
                <a:spcPct val="107000"/>
              </a:lnSpc>
              <a:spcBef>
                <a:spcPts val="1500"/>
              </a:spcBef>
              <a:spcAft>
                <a:spcPts val="750"/>
              </a:spcAft>
            </a:pPr>
            <a:r>
              <a:rPr lang="en-US" sz="3200" dirty="0" smtClean="0">
                <a:solidFill>
                  <a:srgbClr val="813588"/>
                </a:solidFill>
                <a:latin typeface="Arial" panose="020B0604020202020204" pitchFamily="34" charset="0"/>
                <a:ea typeface="Times New Roman" panose="02020603050405020304" pitchFamily="18" charset="0"/>
                <a:cs typeface="Vrinda" panose="020B0502040204020203" pitchFamily="34" charset="0"/>
              </a:rPr>
              <a:t> </a:t>
            </a:r>
            <a:r>
              <a:rPr lang="en-US" sz="3200" dirty="0" smtClean="0">
                <a:solidFill>
                  <a:srgbClr val="813588"/>
                </a:solidFill>
                <a:latin typeface="Times New Roman" pitchFamily="18" charset="0"/>
                <a:ea typeface="Times New Roman" pitchFamily="18" charset="0"/>
                <a:cs typeface="Times New Roman" pitchFamily="18" charset="0"/>
              </a:rPr>
              <a:t>Polyethylene</a:t>
            </a:r>
            <a:endParaRPr lang="en-US" sz="2000" dirty="0">
              <a:latin typeface="Times New Roman" pitchFamily="18" charset="0"/>
              <a:ea typeface="Calibri" panose="020F0502020204030204" pitchFamily="34" charset="0"/>
              <a:cs typeface="Times New Roman" pitchFamily="18" charset="0"/>
            </a:endParaRPr>
          </a:p>
          <a:p>
            <a:pPr algn="just">
              <a:lnSpc>
                <a:spcPct val="107000"/>
              </a:lnSpc>
              <a:spcAft>
                <a:spcPts val="750"/>
              </a:spcAft>
            </a:pPr>
            <a:r>
              <a:rPr lang="en-US" sz="2800" dirty="0" err="1" smtClean="0">
                <a:solidFill>
                  <a:srgbClr val="333333"/>
                </a:solidFill>
                <a:latin typeface="Times New Roman" pitchFamily="18" charset="0"/>
                <a:ea typeface="Times New Roman" panose="02020603050405020304" pitchFamily="18" charset="0"/>
                <a:cs typeface="Times New Roman" pitchFamily="18" charset="0"/>
              </a:rPr>
              <a:t>Polyethylenes</a:t>
            </a:r>
            <a:r>
              <a:rPr lang="en-US" sz="2800" dirty="0" smtClean="0">
                <a:solidFill>
                  <a:srgbClr val="333333"/>
                </a:solidFill>
                <a:latin typeface="Times New Roman" pitchFamily="18" charset="0"/>
                <a:ea typeface="Times New Roman" panose="02020603050405020304" pitchFamily="18" charset="0"/>
                <a:cs typeface="Times New Roman" pitchFamily="18" charset="0"/>
              </a:rPr>
              <a:t> </a:t>
            </a:r>
            <a:r>
              <a:rPr lang="en-US" sz="2800" dirty="0">
                <a:solidFill>
                  <a:srgbClr val="333333"/>
                </a:solidFill>
                <a:latin typeface="Times New Roman" pitchFamily="18" charset="0"/>
                <a:ea typeface="Times New Roman" panose="02020603050405020304" pitchFamily="18" charset="0"/>
                <a:cs typeface="Times New Roman" pitchFamily="18" charset="0"/>
              </a:rPr>
              <a:t>usually have a linear structure and are known to be addition polymers. </a:t>
            </a:r>
            <a:endParaRPr lang="en-US" sz="2800" dirty="0" smtClean="0">
              <a:solidFill>
                <a:srgbClr val="333333"/>
              </a:solidFill>
              <a:latin typeface="Times New Roman" pitchFamily="18" charset="0"/>
              <a:ea typeface="Times New Roman" panose="02020603050405020304" pitchFamily="18" charset="0"/>
              <a:cs typeface="Times New Roman" pitchFamily="18" charset="0"/>
            </a:endParaRPr>
          </a:p>
          <a:p>
            <a:pPr algn="just">
              <a:lnSpc>
                <a:spcPct val="107000"/>
              </a:lnSpc>
              <a:spcAft>
                <a:spcPts val="750"/>
              </a:spcAft>
            </a:pPr>
            <a:r>
              <a:rPr lang="en-US" sz="2800" dirty="0" smtClean="0">
                <a:solidFill>
                  <a:srgbClr val="333333"/>
                </a:solidFill>
                <a:latin typeface="Times New Roman" pitchFamily="18" charset="0"/>
                <a:ea typeface="Times New Roman" panose="02020603050405020304" pitchFamily="18" charset="0"/>
                <a:cs typeface="Times New Roman" pitchFamily="18" charset="0"/>
              </a:rPr>
              <a:t>The </a:t>
            </a:r>
            <a:r>
              <a:rPr lang="en-US" sz="2800" dirty="0">
                <a:solidFill>
                  <a:srgbClr val="333333"/>
                </a:solidFill>
                <a:latin typeface="Times New Roman" pitchFamily="18" charset="0"/>
                <a:ea typeface="Times New Roman" panose="02020603050405020304" pitchFamily="18" charset="0"/>
                <a:cs typeface="Times New Roman" pitchFamily="18" charset="0"/>
              </a:rPr>
              <a:t>primary application of these synthetic polymers is in packaging. </a:t>
            </a:r>
            <a:r>
              <a:rPr lang="en-US" sz="2800" dirty="0" err="1">
                <a:solidFill>
                  <a:srgbClr val="333333"/>
                </a:solidFill>
                <a:latin typeface="Times New Roman" pitchFamily="18" charset="0"/>
                <a:ea typeface="Times New Roman" panose="02020603050405020304" pitchFamily="18" charset="0"/>
                <a:cs typeface="Times New Roman" pitchFamily="18" charset="0"/>
              </a:rPr>
              <a:t>Polyethelyne</a:t>
            </a:r>
            <a:r>
              <a:rPr lang="en-US" sz="2800" dirty="0">
                <a:solidFill>
                  <a:srgbClr val="333333"/>
                </a:solidFill>
                <a:latin typeface="Times New Roman" pitchFamily="18" charset="0"/>
                <a:ea typeface="Times New Roman" panose="02020603050405020304" pitchFamily="18" charset="0"/>
                <a:cs typeface="Times New Roman" pitchFamily="18" charset="0"/>
              </a:rPr>
              <a:t> is often used to make plastic bags, bottles, plastic films, containers, and </a:t>
            </a:r>
            <a:r>
              <a:rPr lang="en-US" sz="2800" dirty="0" err="1">
                <a:solidFill>
                  <a:srgbClr val="333333"/>
                </a:solidFill>
                <a:latin typeface="Times New Roman" pitchFamily="18" charset="0"/>
                <a:ea typeface="Times New Roman" panose="02020603050405020304" pitchFamily="18" charset="0"/>
                <a:cs typeface="Times New Roman" pitchFamily="18" charset="0"/>
              </a:rPr>
              <a:t>geomembranes</a:t>
            </a:r>
            <a:r>
              <a:rPr lang="en-US" sz="2800" dirty="0">
                <a:solidFill>
                  <a:srgbClr val="333333"/>
                </a:solidFill>
                <a:latin typeface="Times New Roman" pitchFamily="18" charset="0"/>
                <a:ea typeface="Times New Roman" panose="02020603050405020304" pitchFamily="18" charset="0"/>
                <a:cs typeface="Times New Roman" pitchFamily="18" charset="0"/>
              </a:rPr>
              <a:t>. It can be noted that over 100 million </a:t>
            </a:r>
            <a:r>
              <a:rPr lang="en-US" sz="2800" dirty="0" err="1">
                <a:solidFill>
                  <a:srgbClr val="333333"/>
                </a:solidFill>
                <a:latin typeface="Times New Roman" pitchFamily="18" charset="0"/>
                <a:ea typeface="Times New Roman" panose="02020603050405020304" pitchFamily="18" charset="0"/>
                <a:cs typeface="Times New Roman" pitchFamily="18" charset="0"/>
              </a:rPr>
              <a:t>tonnes</a:t>
            </a:r>
            <a:r>
              <a:rPr lang="en-US" sz="2800" dirty="0">
                <a:solidFill>
                  <a:srgbClr val="333333"/>
                </a:solidFill>
                <a:latin typeface="Times New Roman" pitchFamily="18" charset="0"/>
                <a:ea typeface="Times New Roman" panose="02020603050405020304" pitchFamily="18" charset="0"/>
                <a:cs typeface="Times New Roman" pitchFamily="18" charset="0"/>
              </a:rPr>
              <a:t> of </a:t>
            </a:r>
            <a:r>
              <a:rPr lang="en-US" sz="2800" dirty="0" err="1">
                <a:solidFill>
                  <a:srgbClr val="333333"/>
                </a:solidFill>
                <a:latin typeface="Times New Roman" pitchFamily="18" charset="0"/>
                <a:ea typeface="Times New Roman" panose="02020603050405020304" pitchFamily="18" charset="0"/>
                <a:cs typeface="Times New Roman" pitchFamily="18" charset="0"/>
              </a:rPr>
              <a:t>polyethene</a:t>
            </a:r>
            <a:r>
              <a:rPr lang="en-US" sz="2800" dirty="0">
                <a:solidFill>
                  <a:srgbClr val="333333"/>
                </a:solidFill>
                <a:latin typeface="Times New Roman" pitchFamily="18" charset="0"/>
                <a:ea typeface="Times New Roman" panose="02020603050405020304" pitchFamily="18" charset="0"/>
                <a:cs typeface="Times New Roman" pitchFamily="18" charset="0"/>
              </a:rPr>
              <a:t> is produced on an annual basis for commercial and industrial purposes</a:t>
            </a:r>
            <a:r>
              <a:rPr lang="en-US" sz="2400" dirty="0" smtClean="0">
                <a:solidFill>
                  <a:srgbClr val="333333"/>
                </a:solidFill>
                <a:latin typeface="Times New Roman" pitchFamily="18" charset="0"/>
                <a:ea typeface="Times New Roman" panose="02020603050405020304" pitchFamily="18" charset="0"/>
                <a:cs typeface="Times New Roman" pitchFamily="18" charset="0"/>
              </a:rPr>
              <a:t>.</a:t>
            </a:r>
            <a:endParaRPr lang="en-US" sz="2400" dirty="0">
              <a:latin typeface="Times New Roman" pitchFamily="18" charset="0"/>
              <a:ea typeface="Calibri" panose="020F0502020204030204" pitchFamily="34" charset="0"/>
              <a:cs typeface="Times New Roman" pitchFamily="18" charset="0"/>
            </a:endParaRPr>
          </a:p>
        </p:txBody>
      </p:sp>
    </p:spTree>
    <p:extLst>
      <p:ext uri="{BB962C8B-B14F-4D97-AF65-F5344CB8AC3E}">
        <p14:creationId xmlns:p14="http://schemas.microsoft.com/office/powerpoint/2010/main" val="27567557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74253" y="1352282"/>
            <a:ext cx="8989454" cy="4088299"/>
          </a:xfrm>
          <a:prstGeom prst="rect">
            <a:avLst/>
          </a:prstGeom>
        </p:spPr>
        <p:txBody>
          <a:bodyPr wrap="square">
            <a:spAutoFit/>
          </a:bodyPr>
          <a:lstStyle/>
          <a:p>
            <a:pPr algn="just">
              <a:lnSpc>
                <a:spcPct val="107000"/>
              </a:lnSpc>
              <a:spcAft>
                <a:spcPts val="750"/>
              </a:spcAft>
            </a:pPr>
            <a:r>
              <a:rPr lang="en-US" sz="2800" dirty="0">
                <a:solidFill>
                  <a:srgbClr val="333333"/>
                </a:solidFill>
                <a:latin typeface="Times New Roman" pitchFamily="18" charset="0"/>
                <a:ea typeface="Times New Roman" panose="02020603050405020304" pitchFamily="18" charset="0"/>
                <a:cs typeface="Times New Roman" pitchFamily="18" charset="0"/>
              </a:rPr>
              <a:t>The general formula of polyethylene can be written as (C</a:t>
            </a:r>
            <a:r>
              <a:rPr lang="en-US" sz="2800" baseline="-25000" dirty="0">
                <a:solidFill>
                  <a:srgbClr val="333333"/>
                </a:solidFill>
                <a:latin typeface="Times New Roman" pitchFamily="18" charset="0"/>
                <a:ea typeface="Times New Roman" panose="02020603050405020304" pitchFamily="18" charset="0"/>
                <a:cs typeface="Times New Roman" pitchFamily="18" charset="0"/>
              </a:rPr>
              <a:t>2</a:t>
            </a:r>
            <a:r>
              <a:rPr lang="en-US" sz="2800" dirty="0">
                <a:solidFill>
                  <a:srgbClr val="333333"/>
                </a:solidFill>
                <a:latin typeface="Times New Roman" pitchFamily="18" charset="0"/>
                <a:ea typeface="Times New Roman" panose="02020603050405020304" pitchFamily="18" charset="0"/>
                <a:cs typeface="Times New Roman" pitchFamily="18" charset="0"/>
              </a:rPr>
              <a:t>H</a:t>
            </a:r>
            <a:r>
              <a:rPr lang="en-US" sz="2800" baseline="-25000" dirty="0">
                <a:solidFill>
                  <a:srgbClr val="333333"/>
                </a:solidFill>
                <a:latin typeface="Times New Roman" pitchFamily="18" charset="0"/>
                <a:ea typeface="Times New Roman" panose="02020603050405020304" pitchFamily="18" charset="0"/>
                <a:cs typeface="Times New Roman" pitchFamily="18" charset="0"/>
              </a:rPr>
              <a:t>4</a:t>
            </a:r>
            <a:r>
              <a:rPr lang="en-US" sz="2800" dirty="0">
                <a:solidFill>
                  <a:srgbClr val="333333"/>
                </a:solidFill>
                <a:latin typeface="Times New Roman" pitchFamily="18" charset="0"/>
                <a:ea typeface="Times New Roman" panose="02020603050405020304" pitchFamily="18" charset="0"/>
                <a:cs typeface="Times New Roman" pitchFamily="18" charset="0"/>
              </a:rPr>
              <a:t>)</a:t>
            </a:r>
            <a:r>
              <a:rPr lang="en-US" sz="2800" baseline="-25000" dirty="0">
                <a:solidFill>
                  <a:srgbClr val="333333"/>
                </a:solidFill>
                <a:latin typeface="Times New Roman" pitchFamily="18" charset="0"/>
                <a:ea typeface="Times New Roman" panose="02020603050405020304" pitchFamily="18" charset="0"/>
                <a:cs typeface="Times New Roman" pitchFamily="18" charset="0"/>
              </a:rPr>
              <a:t>n</a:t>
            </a:r>
            <a:r>
              <a:rPr lang="en-US" sz="2800" dirty="0">
                <a:solidFill>
                  <a:srgbClr val="333333"/>
                </a:solidFill>
                <a:latin typeface="Times New Roman" pitchFamily="18" charset="0"/>
                <a:ea typeface="Times New Roman" panose="02020603050405020304" pitchFamily="18" charset="0"/>
                <a:cs typeface="Times New Roman" pitchFamily="18" charset="0"/>
              </a:rPr>
              <a:t>. </a:t>
            </a:r>
            <a:endParaRPr lang="en-US" sz="2800" dirty="0" smtClean="0">
              <a:solidFill>
                <a:srgbClr val="333333"/>
              </a:solidFill>
              <a:latin typeface="Times New Roman" pitchFamily="18" charset="0"/>
              <a:ea typeface="Times New Roman" panose="02020603050405020304" pitchFamily="18" charset="0"/>
              <a:cs typeface="Times New Roman" pitchFamily="18" charset="0"/>
            </a:endParaRPr>
          </a:p>
          <a:p>
            <a:pPr algn="just">
              <a:lnSpc>
                <a:spcPct val="107000"/>
              </a:lnSpc>
              <a:spcAft>
                <a:spcPts val="750"/>
              </a:spcAft>
            </a:pPr>
            <a:r>
              <a:rPr lang="en-US" sz="2800" dirty="0" smtClean="0">
                <a:solidFill>
                  <a:srgbClr val="333333"/>
                </a:solidFill>
                <a:latin typeface="Times New Roman" pitchFamily="18" charset="0"/>
                <a:ea typeface="Times New Roman" panose="02020603050405020304" pitchFamily="18" charset="0"/>
                <a:cs typeface="Times New Roman" pitchFamily="18" charset="0"/>
              </a:rPr>
              <a:t>Most </a:t>
            </a:r>
            <a:r>
              <a:rPr lang="en-US" sz="2800" dirty="0">
                <a:solidFill>
                  <a:srgbClr val="333333"/>
                </a:solidFill>
                <a:latin typeface="Times New Roman" pitchFamily="18" charset="0"/>
                <a:ea typeface="Times New Roman" panose="02020603050405020304" pitchFamily="18" charset="0"/>
                <a:cs typeface="Times New Roman" pitchFamily="18" charset="0"/>
              </a:rPr>
              <a:t>types of polyethylene are thermoplastic (they can be </a:t>
            </a:r>
            <a:r>
              <a:rPr lang="en-US" sz="2800" dirty="0" err="1">
                <a:solidFill>
                  <a:srgbClr val="333333"/>
                </a:solidFill>
                <a:latin typeface="Times New Roman" pitchFamily="18" charset="0"/>
                <a:ea typeface="Times New Roman" panose="02020603050405020304" pitchFamily="18" charset="0"/>
                <a:cs typeface="Times New Roman" pitchFamily="18" charset="0"/>
              </a:rPr>
              <a:t>remoulded</a:t>
            </a:r>
            <a:r>
              <a:rPr lang="en-US" sz="2800" dirty="0">
                <a:solidFill>
                  <a:srgbClr val="333333"/>
                </a:solidFill>
                <a:latin typeface="Times New Roman" pitchFamily="18" charset="0"/>
                <a:ea typeface="Times New Roman" panose="02020603050405020304" pitchFamily="18" charset="0"/>
                <a:cs typeface="Times New Roman" pitchFamily="18" charset="0"/>
              </a:rPr>
              <a:t> by heating). </a:t>
            </a:r>
            <a:endParaRPr lang="en-US" sz="2800" dirty="0" smtClean="0">
              <a:solidFill>
                <a:srgbClr val="333333"/>
              </a:solidFill>
              <a:latin typeface="Times New Roman" pitchFamily="18" charset="0"/>
              <a:ea typeface="Times New Roman" panose="02020603050405020304" pitchFamily="18" charset="0"/>
              <a:cs typeface="Times New Roman" pitchFamily="18" charset="0"/>
            </a:endParaRPr>
          </a:p>
          <a:p>
            <a:pPr algn="just">
              <a:lnSpc>
                <a:spcPct val="107000"/>
              </a:lnSpc>
              <a:spcAft>
                <a:spcPts val="750"/>
              </a:spcAft>
            </a:pPr>
            <a:r>
              <a:rPr lang="en-US" sz="2800" dirty="0" smtClean="0">
                <a:solidFill>
                  <a:srgbClr val="333333"/>
                </a:solidFill>
                <a:latin typeface="Times New Roman" pitchFamily="18" charset="0"/>
                <a:ea typeface="Times New Roman" panose="02020603050405020304" pitchFamily="18" charset="0"/>
                <a:cs typeface="Times New Roman" pitchFamily="18" charset="0"/>
              </a:rPr>
              <a:t>However</a:t>
            </a:r>
            <a:r>
              <a:rPr lang="en-US" sz="2800" dirty="0">
                <a:solidFill>
                  <a:srgbClr val="333333"/>
                </a:solidFill>
                <a:latin typeface="Times New Roman" pitchFamily="18" charset="0"/>
                <a:ea typeface="Times New Roman" panose="02020603050405020304" pitchFamily="18" charset="0"/>
                <a:cs typeface="Times New Roman" pitchFamily="18" charset="0"/>
              </a:rPr>
              <a:t>, some modified polyethylene plastics exhibit thermosetting properties. </a:t>
            </a:r>
            <a:endParaRPr lang="en-US" sz="2800" dirty="0" smtClean="0">
              <a:solidFill>
                <a:srgbClr val="333333"/>
              </a:solidFill>
              <a:latin typeface="Times New Roman" pitchFamily="18" charset="0"/>
              <a:ea typeface="Times New Roman" panose="02020603050405020304" pitchFamily="18" charset="0"/>
              <a:cs typeface="Times New Roman" pitchFamily="18" charset="0"/>
            </a:endParaRPr>
          </a:p>
          <a:p>
            <a:pPr algn="just">
              <a:lnSpc>
                <a:spcPct val="107000"/>
              </a:lnSpc>
              <a:spcAft>
                <a:spcPts val="750"/>
              </a:spcAft>
            </a:pPr>
            <a:r>
              <a:rPr lang="en-US" sz="2800" dirty="0" smtClean="0">
                <a:solidFill>
                  <a:srgbClr val="333333"/>
                </a:solidFill>
                <a:latin typeface="Times New Roman" pitchFamily="18" charset="0"/>
                <a:ea typeface="Times New Roman" panose="02020603050405020304" pitchFamily="18" charset="0"/>
                <a:cs typeface="Times New Roman" pitchFamily="18" charset="0"/>
              </a:rPr>
              <a:t>An </a:t>
            </a:r>
            <a:r>
              <a:rPr lang="en-US" sz="2800" dirty="0">
                <a:solidFill>
                  <a:srgbClr val="333333"/>
                </a:solidFill>
                <a:latin typeface="Times New Roman" pitchFamily="18" charset="0"/>
                <a:ea typeface="Times New Roman" panose="02020603050405020304" pitchFamily="18" charset="0"/>
                <a:cs typeface="Times New Roman" pitchFamily="18" charset="0"/>
              </a:rPr>
              <a:t>example of such a class of polyethylene is cross-linked polyethylene </a:t>
            </a:r>
            <a:endParaRPr lang="en-US" sz="2800" dirty="0">
              <a:latin typeface="Times New Roman" pitchFamily="18" charset="0"/>
              <a:ea typeface="Calibri" panose="020F0502020204030204" pitchFamily="34" charset="0"/>
              <a:cs typeface="Times New Roman" pitchFamily="18" charset="0"/>
            </a:endParaRPr>
          </a:p>
        </p:txBody>
      </p:sp>
    </p:spTree>
    <p:extLst>
      <p:ext uri="{BB962C8B-B14F-4D97-AF65-F5344CB8AC3E}">
        <p14:creationId xmlns:p14="http://schemas.microsoft.com/office/powerpoint/2010/main" val="7732896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2280" y="1868097"/>
            <a:ext cx="9543245" cy="3108543"/>
          </a:xfrm>
          <a:prstGeom prst="rect">
            <a:avLst/>
          </a:prstGeom>
        </p:spPr>
        <p:txBody>
          <a:bodyPr wrap="square">
            <a:spAutoFit/>
          </a:bodyPr>
          <a:lstStyle/>
          <a:p>
            <a:r>
              <a:rPr lang="en-US" sz="2800" dirty="0" smtClean="0">
                <a:solidFill>
                  <a:srgbClr val="34495E"/>
                </a:solidFill>
                <a:latin typeface="Times New Roman" pitchFamily="18" charset="0"/>
                <a:cs typeface="Times New Roman" pitchFamily="18" charset="0"/>
              </a:rPr>
              <a:t>LDPE </a:t>
            </a:r>
            <a:r>
              <a:rPr lang="en-US" sz="2800" dirty="0">
                <a:solidFill>
                  <a:srgbClr val="34495E"/>
                </a:solidFill>
                <a:latin typeface="Times New Roman" pitchFamily="18" charset="0"/>
                <a:cs typeface="Times New Roman" pitchFamily="18" charset="0"/>
              </a:rPr>
              <a:t>is low density </a:t>
            </a:r>
            <a:r>
              <a:rPr lang="en-US" sz="2800" dirty="0" smtClean="0">
                <a:solidFill>
                  <a:srgbClr val="34495E"/>
                </a:solidFill>
                <a:latin typeface="Times New Roman" pitchFamily="18" charset="0"/>
                <a:cs typeface="Times New Roman" pitchFamily="18" charset="0"/>
              </a:rPr>
              <a:t>poly </a:t>
            </a:r>
            <a:r>
              <a:rPr lang="en-US" sz="2800" dirty="0">
                <a:solidFill>
                  <a:srgbClr val="34495E"/>
                </a:solidFill>
                <a:latin typeface="Times New Roman" pitchFamily="18" charset="0"/>
                <a:cs typeface="Times New Roman" pitchFamily="18" charset="0"/>
              </a:rPr>
              <a:t>ethylene. </a:t>
            </a:r>
            <a:endParaRPr lang="en-US" sz="2800" dirty="0" smtClean="0">
              <a:solidFill>
                <a:srgbClr val="34495E"/>
              </a:solidFill>
              <a:latin typeface="Times New Roman" pitchFamily="18" charset="0"/>
              <a:cs typeface="Times New Roman" pitchFamily="18" charset="0"/>
            </a:endParaRPr>
          </a:p>
          <a:p>
            <a:r>
              <a:rPr lang="en-US" sz="2800" dirty="0" smtClean="0">
                <a:solidFill>
                  <a:srgbClr val="34495E"/>
                </a:solidFill>
                <a:latin typeface="Times New Roman" pitchFamily="18" charset="0"/>
                <a:cs typeface="Times New Roman" pitchFamily="18" charset="0"/>
              </a:rPr>
              <a:t>It </a:t>
            </a:r>
            <a:r>
              <a:rPr lang="en-US" sz="2800" dirty="0">
                <a:solidFill>
                  <a:srgbClr val="34495E"/>
                </a:solidFill>
                <a:latin typeface="Times New Roman" pitchFamily="18" charset="0"/>
                <a:cs typeface="Times New Roman" pitchFamily="18" charset="0"/>
              </a:rPr>
              <a:t>is formed by heating </a:t>
            </a:r>
            <a:r>
              <a:rPr lang="en-US" sz="2800" dirty="0" err="1">
                <a:solidFill>
                  <a:srgbClr val="34495E"/>
                </a:solidFill>
                <a:latin typeface="Times New Roman" pitchFamily="18" charset="0"/>
                <a:cs typeface="Times New Roman" pitchFamily="18" charset="0"/>
              </a:rPr>
              <a:t>ethene</a:t>
            </a:r>
            <a:r>
              <a:rPr lang="en-US" sz="2800" dirty="0">
                <a:solidFill>
                  <a:srgbClr val="34495E"/>
                </a:solidFill>
                <a:latin typeface="Times New Roman" pitchFamily="18" charset="0"/>
                <a:cs typeface="Times New Roman" pitchFamily="18" charset="0"/>
              </a:rPr>
              <a:t> at 2000 to 300°C under oxygen as a catalyst. </a:t>
            </a:r>
            <a:endParaRPr lang="en-US" sz="2800" dirty="0" smtClean="0">
              <a:solidFill>
                <a:srgbClr val="34495E"/>
              </a:solidFill>
              <a:latin typeface="Times New Roman" pitchFamily="18" charset="0"/>
              <a:cs typeface="Times New Roman" pitchFamily="18" charset="0"/>
            </a:endParaRPr>
          </a:p>
          <a:p>
            <a:r>
              <a:rPr lang="en-US" sz="2800" dirty="0" smtClean="0">
                <a:solidFill>
                  <a:srgbClr val="34495E"/>
                </a:solidFill>
                <a:latin typeface="Times New Roman" pitchFamily="18" charset="0"/>
                <a:cs typeface="Times New Roman" pitchFamily="18" charset="0"/>
              </a:rPr>
              <a:t>This </a:t>
            </a:r>
            <a:r>
              <a:rPr lang="en-US" sz="2800" dirty="0">
                <a:solidFill>
                  <a:srgbClr val="34495E"/>
                </a:solidFill>
                <a:latin typeface="Times New Roman" pitchFamily="18" charset="0"/>
                <a:cs typeface="Times New Roman" pitchFamily="18" charset="0"/>
              </a:rPr>
              <a:t>reaction follows free radical mechanism. The peroxide formed from oxygen acts as a free radical initiator. </a:t>
            </a:r>
            <a:endParaRPr lang="en-US" sz="2800" dirty="0" smtClean="0">
              <a:solidFill>
                <a:srgbClr val="34495E"/>
              </a:solidFill>
              <a:latin typeface="Times New Roman" pitchFamily="18" charset="0"/>
              <a:cs typeface="Times New Roman" pitchFamily="18" charset="0"/>
            </a:endParaRPr>
          </a:p>
          <a:p>
            <a:endParaRPr lang="en-US" sz="2800" dirty="0">
              <a:solidFill>
                <a:srgbClr val="34495E"/>
              </a:solidFill>
              <a:latin typeface="Times New Roman" pitchFamily="18" charset="0"/>
              <a:cs typeface="Times New Roman" pitchFamily="18" charset="0"/>
            </a:endParaRPr>
          </a:p>
          <a:p>
            <a:r>
              <a:rPr lang="en-US" sz="2800" dirty="0" smtClean="0">
                <a:solidFill>
                  <a:srgbClr val="34495E"/>
                </a:solidFill>
                <a:latin typeface="Times New Roman" pitchFamily="18" charset="0"/>
                <a:cs typeface="Times New Roman" pitchFamily="18" charset="0"/>
              </a:rPr>
              <a:t>2</a:t>
            </a:r>
            <a:r>
              <a:rPr lang="en-US" sz="2800" dirty="0">
                <a:solidFill>
                  <a:srgbClr val="34495E"/>
                </a:solidFill>
                <a:latin typeface="Times New Roman" pitchFamily="18" charset="0"/>
                <a:cs typeface="Times New Roman" pitchFamily="18" charset="0"/>
              </a:rPr>
              <a:t>. LDPE is used as insulation for cables, </a:t>
            </a:r>
            <a:r>
              <a:rPr lang="en-US" sz="2800" dirty="0" smtClean="0">
                <a:solidFill>
                  <a:srgbClr val="34495E"/>
                </a:solidFill>
                <a:latin typeface="Times New Roman" pitchFamily="18" charset="0"/>
                <a:cs typeface="Times New Roman" pitchFamily="18" charset="0"/>
              </a:rPr>
              <a:t>making</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1210632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8034" y="373487"/>
            <a:ext cx="11663965" cy="6613042"/>
          </a:xfrm>
          <a:prstGeom prst="rect">
            <a:avLst/>
          </a:prstGeom>
        </p:spPr>
        <p:txBody>
          <a:bodyPr wrap="square">
            <a:spAutoFit/>
          </a:bodyPr>
          <a:lstStyle/>
          <a:p>
            <a:r>
              <a:rPr lang="en-US" sz="2800" b="1" dirty="0" smtClean="0">
                <a:solidFill>
                  <a:srgbClr val="000000"/>
                </a:solidFill>
                <a:latin typeface="Times New Roman" pitchFamily="18" charset="0"/>
                <a:cs typeface="Times New Roman" pitchFamily="18" charset="0"/>
              </a:rPr>
              <a:t>Properties </a:t>
            </a:r>
            <a:r>
              <a:rPr lang="en-US" sz="2800" b="1" dirty="0">
                <a:solidFill>
                  <a:srgbClr val="000000"/>
                </a:solidFill>
                <a:latin typeface="Times New Roman" pitchFamily="18" charset="0"/>
                <a:cs typeface="Times New Roman" pitchFamily="18" charset="0"/>
              </a:rPr>
              <a:t>of LDPE?</a:t>
            </a:r>
            <a:endParaRPr lang="en-US" sz="2800" dirty="0">
              <a:solidFill>
                <a:srgbClr val="000000"/>
              </a:solidFill>
              <a:latin typeface="Times New Roman" pitchFamily="18" charset="0"/>
              <a:cs typeface="Times New Roman" pitchFamily="18" charset="0"/>
            </a:endParaRP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It is a </a:t>
            </a:r>
            <a:r>
              <a:rPr lang="en-US" sz="2800" dirty="0" err="1">
                <a:solidFill>
                  <a:srgbClr val="0B0B0B"/>
                </a:solidFill>
                <a:latin typeface="Times New Roman" pitchFamily="18" charset="0"/>
                <a:cs typeface="Times New Roman" pitchFamily="18" charset="0"/>
              </a:rPr>
              <a:t>homopolymer</a:t>
            </a:r>
            <a:r>
              <a:rPr lang="en-US" sz="2800" dirty="0">
                <a:solidFill>
                  <a:srgbClr val="0B0B0B"/>
                </a:solidFill>
                <a:latin typeface="Times New Roman" pitchFamily="18" charset="0"/>
                <a:cs typeface="Times New Roman" pitchFamily="18" charset="0"/>
              </a:rPr>
              <a:t>; made of a single monomer, ethylene.</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The polymer density is controlled by the kind of branching it has.</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LDPE contains a mix of long branched chains and short branched chains.</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It is produced by undergoing a high-pressure process.</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LDPE is characterized by 50-65% </a:t>
            </a:r>
            <a:r>
              <a:rPr lang="en-US" sz="2800" dirty="0" err="1">
                <a:solidFill>
                  <a:srgbClr val="0B0B0B"/>
                </a:solidFill>
                <a:latin typeface="Times New Roman" pitchFamily="18" charset="0"/>
                <a:cs typeface="Times New Roman" pitchFamily="18" charset="0"/>
              </a:rPr>
              <a:t>crystallinity</a:t>
            </a:r>
            <a:r>
              <a:rPr lang="en-US" sz="2800" dirty="0">
                <a:solidFill>
                  <a:srgbClr val="0B0B0B"/>
                </a:solidFill>
                <a:latin typeface="Times New Roman" pitchFamily="18" charset="0"/>
                <a:cs typeface="Times New Roman" pitchFamily="18" charset="0"/>
              </a:rPr>
              <a:t>, as the packing of the molecules is not the tightest.</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It is translucent in appearance, as a result of the </a:t>
            </a:r>
            <a:r>
              <a:rPr lang="en-US" sz="2800" dirty="0" err="1">
                <a:solidFill>
                  <a:srgbClr val="0B0B0B"/>
                </a:solidFill>
                <a:latin typeface="Times New Roman" pitchFamily="18" charset="0"/>
                <a:cs typeface="Times New Roman" pitchFamily="18" charset="0"/>
              </a:rPr>
              <a:t>crystallinity</a:t>
            </a:r>
            <a:r>
              <a:rPr lang="en-US" sz="2800" dirty="0">
                <a:solidFill>
                  <a:srgbClr val="0B0B0B"/>
                </a:solidFill>
                <a:latin typeface="Times New Roman" pitchFamily="18" charset="0"/>
                <a:cs typeface="Times New Roman" pitchFamily="18" charset="0"/>
              </a:rPr>
              <a:t>. However, very thin foils can be transparent.</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It is not very easy to bond.</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LDPE is sufficiently malleable and elastic, able to undergo significant elongation before breakage.</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It is fairly puncture-resistant, between -40 C to 90 C.</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LDPE is susceptible to stress-cracking beyond a point.</a:t>
            </a:r>
          </a:p>
          <a:p>
            <a:pPr>
              <a:buFont typeface="Arial" panose="020B0604020202020204" pitchFamily="34" charset="0"/>
              <a:buChar char="•"/>
            </a:pPr>
            <a:r>
              <a:rPr lang="en-US" sz="2800" dirty="0">
                <a:solidFill>
                  <a:srgbClr val="0B0B0B"/>
                </a:solidFill>
                <a:latin typeface="Times New Roman" pitchFamily="18" charset="0"/>
                <a:cs typeface="Times New Roman" pitchFamily="18" charset="0"/>
              </a:rPr>
              <a:t>It has a sufficient moisture barrier.</a:t>
            </a:r>
            <a:endParaRPr lang="en-US" sz="2800" b="0" i="0" dirty="0">
              <a:solidFill>
                <a:srgbClr val="0B0B0B"/>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8777099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03797" y="772732"/>
            <a:ext cx="7740203" cy="4893647"/>
          </a:xfrm>
          <a:prstGeom prst="rect">
            <a:avLst/>
          </a:prstGeom>
        </p:spPr>
        <p:txBody>
          <a:bodyPr wrap="square">
            <a:spAutoFit/>
          </a:bodyPr>
          <a:lstStyle/>
          <a:p>
            <a:r>
              <a:rPr lang="en-US" sz="2400" b="1" dirty="0" smtClean="0">
                <a:solidFill>
                  <a:srgbClr val="555555"/>
                </a:solidFill>
                <a:latin typeface="Times New Roman" pitchFamily="18" charset="0"/>
                <a:cs typeface="Times New Roman" pitchFamily="18" charset="0"/>
              </a:rPr>
              <a:t>PVC</a:t>
            </a:r>
            <a:endParaRPr lang="en-US" sz="2400" b="1" dirty="0">
              <a:solidFill>
                <a:srgbClr val="555555"/>
              </a:solidFill>
              <a:latin typeface="Times New Roman" pitchFamily="18" charset="0"/>
              <a:cs typeface="Times New Roman" pitchFamily="18" charset="0"/>
            </a:endParaRPr>
          </a:p>
          <a:p>
            <a:endParaRPr lang="en-US" sz="2400" b="1" dirty="0" smtClean="0">
              <a:solidFill>
                <a:srgbClr val="555555"/>
              </a:solidFill>
              <a:latin typeface="Times New Roman" pitchFamily="18" charset="0"/>
              <a:cs typeface="Times New Roman" pitchFamily="18" charset="0"/>
            </a:endParaRPr>
          </a:p>
          <a:p>
            <a:pPr algn="just"/>
            <a:r>
              <a:rPr lang="en-US" sz="2400" b="1" dirty="0" smtClean="0">
                <a:solidFill>
                  <a:srgbClr val="555555"/>
                </a:solidFill>
                <a:latin typeface="Times New Roman" pitchFamily="18" charset="0"/>
                <a:cs typeface="Times New Roman" pitchFamily="18" charset="0"/>
              </a:rPr>
              <a:t>PVC</a:t>
            </a:r>
            <a:r>
              <a:rPr lang="en-US" sz="2400" dirty="0">
                <a:solidFill>
                  <a:srgbClr val="555555"/>
                </a:solidFill>
                <a:latin typeface="Times New Roman" pitchFamily="18" charset="0"/>
                <a:cs typeface="Times New Roman" pitchFamily="18" charset="0"/>
              </a:rPr>
              <a:t> stands for polyvinyl chloride, which is a kind of synthetic resin. The phrase </a:t>
            </a:r>
            <a:r>
              <a:rPr lang="en-US" sz="2400" b="1" dirty="0">
                <a:solidFill>
                  <a:srgbClr val="555555"/>
                </a:solidFill>
                <a:latin typeface="Times New Roman" pitchFamily="18" charset="0"/>
                <a:cs typeface="Times New Roman" pitchFamily="18" charset="0"/>
              </a:rPr>
              <a:t>synthetic resin</a:t>
            </a:r>
            <a:r>
              <a:rPr lang="en-US" sz="2400" dirty="0">
                <a:solidFill>
                  <a:srgbClr val="555555"/>
                </a:solidFill>
                <a:latin typeface="Times New Roman" pitchFamily="18" charset="0"/>
                <a:cs typeface="Times New Roman" pitchFamily="18" charset="0"/>
              </a:rPr>
              <a:t> is sometimes used to refer to what is commonly called ''plastic''. </a:t>
            </a:r>
            <a:endParaRPr lang="en-US" sz="2400" dirty="0" smtClean="0">
              <a:solidFill>
                <a:srgbClr val="555555"/>
              </a:solidFill>
              <a:latin typeface="Times New Roman" pitchFamily="18" charset="0"/>
              <a:cs typeface="Times New Roman" pitchFamily="18" charset="0"/>
            </a:endParaRPr>
          </a:p>
          <a:p>
            <a:pPr algn="just"/>
            <a:endParaRPr lang="en-US" sz="2400" dirty="0">
              <a:solidFill>
                <a:srgbClr val="555555"/>
              </a:solidFill>
              <a:latin typeface="Times New Roman" pitchFamily="18" charset="0"/>
              <a:cs typeface="Times New Roman" pitchFamily="18" charset="0"/>
            </a:endParaRPr>
          </a:p>
          <a:p>
            <a:pPr algn="just"/>
            <a:r>
              <a:rPr lang="en-US" sz="2400" dirty="0" smtClean="0">
                <a:solidFill>
                  <a:srgbClr val="555555"/>
                </a:solidFill>
                <a:latin typeface="Times New Roman" pitchFamily="18" charset="0"/>
                <a:cs typeface="Times New Roman" pitchFamily="18" charset="0"/>
              </a:rPr>
              <a:t>Specifically</a:t>
            </a:r>
            <a:r>
              <a:rPr lang="en-US" sz="2400" dirty="0">
                <a:solidFill>
                  <a:srgbClr val="555555"/>
                </a:solidFill>
                <a:latin typeface="Times New Roman" pitchFamily="18" charset="0"/>
                <a:cs typeface="Times New Roman" pitchFamily="18" charset="0"/>
              </a:rPr>
              <a:t>, PVC is a kind of </a:t>
            </a:r>
            <a:r>
              <a:rPr lang="en-US" sz="2400" b="1" dirty="0">
                <a:solidFill>
                  <a:srgbClr val="555555"/>
                </a:solidFill>
                <a:latin typeface="Times New Roman" pitchFamily="18" charset="0"/>
                <a:cs typeface="Times New Roman" pitchFamily="18" charset="0"/>
              </a:rPr>
              <a:t>thermoplastic resin</a:t>
            </a:r>
            <a:r>
              <a:rPr lang="en-US" sz="2400" dirty="0">
                <a:solidFill>
                  <a:srgbClr val="555555"/>
                </a:solidFill>
                <a:latin typeface="Times New Roman" pitchFamily="18" charset="0"/>
                <a:cs typeface="Times New Roman" pitchFamily="18" charset="0"/>
              </a:rPr>
              <a:t>, which is a type of resin that can be softened by heating. </a:t>
            </a:r>
            <a:endParaRPr lang="en-US" sz="2400" dirty="0" smtClean="0">
              <a:solidFill>
                <a:srgbClr val="555555"/>
              </a:solidFill>
              <a:latin typeface="Times New Roman" pitchFamily="18" charset="0"/>
              <a:cs typeface="Times New Roman" pitchFamily="18" charset="0"/>
            </a:endParaRPr>
          </a:p>
          <a:p>
            <a:pPr algn="just"/>
            <a:endParaRPr lang="en-US" sz="2400" dirty="0">
              <a:solidFill>
                <a:srgbClr val="555555"/>
              </a:solidFill>
              <a:latin typeface="Times New Roman" pitchFamily="18" charset="0"/>
              <a:cs typeface="Times New Roman" pitchFamily="18" charset="0"/>
            </a:endParaRPr>
          </a:p>
          <a:p>
            <a:pPr algn="just"/>
            <a:r>
              <a:rPr lang="en-US" sz="2400" dirty="0" smtClean="0">
                <a:solidFill>
                  <a:srgbClr val="555555"/>
                </a:solidFill>
                <a:latin typeface="Times New Roman" pitchFamily="18" charset="0"/>
                <a:cs typeface="Times New Roman" pitchFamily="18" charset="0"/>
              </a:rPr>
              <a:t>In </a:t>
            </a:r>
            <a:r>
              <a:rPr lang="en-US" sz="2400" dirty="0">
                <a:solidFill>
                  <a:srgbClr val="555555"/>
                </a:solidFill>
                <a:latin typeface="Times New Roman" pitchFamily="18" charset="0"/>
                <a:cs typeface="Times New Roman" pitchFamily="18" charset="0"/>
              </a:rPr>
              <a:t>this case, the term ''plastic'' in thermoplastic doesn't refer to a synthetic resin as before but rather to the fact that one feature of PVC is its plasticity, or malleability, in the face of heat.</a:t>
            </a:r>
            <a:endParaRPr lang="en-US" sz="2400" b="0" i="0" dirty="0">
              <a:solidFill>
                <a:srgbClr val="555555"/>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7482607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81070" y="1300766"/>
            <a:ext cx="7662930" cy="2246769"/>
          </a:xfrm>
          <a:prstGeom prst="rect">
            <a:avLst/>
          </a:prstGeom>
        </p:spPr>
        <p:txBody>
          <a:bodyPr wrap="square">
            <a:spAutoFit/>
          </a:bodyPr>
          <a:lstStyle/>
          <a:p>
            <a:r>
              <a:rPr lang="en-US" sz="2800" dirty="0">
                <a:solidFill>
                  <a:srgbClr val="000000"/>
                </a:solidFill>
                <a:latin typeface="Times New Roman" pitchFamily="18" charset="0"/>
                <a:cs typeface="Times New Roman" pitchFamily="18" charset="0"/>
              </a:rPr>
              <a:t>Uses </a:t>
            </a:r>
          </a:p>
          <a:p>
            <a:r>
              <a:rPr lang="en-US" sz="2800" dirty="0">
                <a:solidFill>
                  <a:srgbClr val="000000"/>
                </a:solidFill>
                <a:latin typeface="Times New Roman" pitchFamily="18" charset="0"/>
                <a:cs typeface="Times New Roman" pitchFamily="18" charset="0"/>
              </a:rPr>
              <a:t>Vinyl is </a:t>
            </a:r>
            <a:r>
              <a:rPr lang="en-US" sz="2800" u="sng" dirty="0" smtClean="0">
                <a:solidFill>
                  <a:srgbClr val="4CA2AF"/>
                </a:solidFill>
                <a:latin typeface="Times New Roman" pitchFamily="18" charset="0"/>
                <a:cs typeface="Times New Roman" pitchFamily="18" charset="0"/>
              </a:rPr>
              <a:t>versatile </a:t>
            </a:r>
            <a:r>
              <a:rPr lang="en-US" sz="2800" dirty="0" smtClean="0">
                <a:solidFill>
                  <a:srgbClr val="000000"/>
                </a:solidFill>
                <a:latin typeface="Times New Roman" pitchFamily="18" charset="0"/>
                <a:cs typeface="Times New Roman" pitchFamily="18" charset="0"/>
              </a:rPr>
              <a:t>: </a:t>
            </a:r>
            <a:r>
              <a:rPr lang="en-US" sz="2800" dirty="0">
                <a:solidFill>
                  <a:srgbClr val="000000"/>
                </a:solidFill>
                <a:latin typeface="Times New Roman" pitchFamily="18" charset="0"/>
                <a:cs typeface="Times New Roman" pitchFamily="18" charset="0"/>
              </a:rPr>
              <a:t>it can be as rigid as industrial pipes, as pliable as plastic wrap, and as thin and flexible as </a:t>
            </a:r>
            <a:r>
              <a:rPr lang="en-US" sz="2800" dirty="0" err="1">
                <a:solidFill>
                  <a:srgbClr val="000000"/>
                </a:solidFill>
                <a:latin typeface="Times New Roman" pitchFamily="18" charset="0"/>
                <a:cs typeface="Times New Roman" pitchFamily="18" charset="0"/>
              </a:rPr>
              <a:t>wallcovering</a:t>
            </a:r>
            <a:r>
              <a:rPr lang="en-US" sz="2800" dirty="0">
                <a:solidFill>
                  <a:srgbClr val="000000"/>
                </a:solidFill>
                <a:latin typeface="Times New Roman" pitchFamily="18" charset="0"/>
                <a:cs typeface="Times New Roman" pitchFamily="18" charset="0"/>
              </a:rPr>
              <a:t>. It can also be completely clear or matched to any color desired</a:t>
            </a:r>
            <a:r>
              <a:rPr lang="en-US" sz="2800" dirty="0" smtClean="0">
                <a:solidFill>
                  <a:srgbClr val="000000"/>
                </a:solidFill>
                <a:latin typeface="Times New Roman" pitchFamily="18" charset="0"/>
                <a:cs typeface="Times New Roman" pitchFamily="18" charset="0"/>
              </a:rPr>
              <a:t>.</a:t>
            </a:r>
            <a:endParaRPr lang="en-US" sz="28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9161156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1707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654</TotalTime>
  <Words>1381</Words>
  <Application>Microsoft Office PowerPoint</Application>
  <PresentationFormat>Widescreen</PresentationFormat>
  <Paragraphs>188</Paragraphs>
  <Slides>51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51</vt:i4>
      </vt:variant>
    </vt:vector>
  </HeadingPairs>
  <TitlesOfParts>
    <vt:vector size="64" baseType="lpstr">
      <vt:lpstr>Arial</vt:lpstr>
      <vt:lpstr>Calibri</vt:lpstr>
      <vt:lpstr>Calibri Light</vt:lpstr>
      <vt:lpstr>Courier New</vt:lpstr>
      <vt:lpstr>Helvetica</vt:lpstr>
      <vt:lpstr>inherit</vt:lpstr>
      <vt:lpstr>Roboto</vt:lpstr>
      <vt:lpstr>Source Sans Pro</vt:lpstr>
      <vt:lpstr>Symbol</vt:lpstr>
      <vt:lpstr>Times New Roman</vt:lpstr>
      <vt:lpstr>Vrinda</vt:lpstr>
      <vt:lpstr>Whitney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82</cp:revision>
  <dcterms:created xsi:type="dcterms:W3CDTF">2021-10-31T02:22:11Z</dcterms:created>
  <dcterms:modified xsi:type="dcterms:W3CDTF">2024-11-05T04:09:15Z</dcterms:modified>
</cp:coreProperties>
</file>