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2" r:id="rId7"/>
    <p:sldId id="263" r:id="rId8"/>
    <p:sldId id="264" r:id="rId9"/>
    <p:sldId id="265" r:id="rId10"/>
    <p:sldId id="294" r:id="rId11"/>
    <p:sldId id="295" r:id="rId12"/>
    <p:sldId id="296" r:id="rId13"/>
    <p:sldId id="266" r:id="rId14"/>
    <p:sldId id="267" r:id="rId15"/>
    <p:sldId id="268" r:id="rId16"/>
    <p:sldId id="269" r:id="rId17"/>
    <p:sldId id="270" r:id="rId18"/>
    <p:sldId id="271" r:id="rId19"/>
    <p:sldId id="273" r:id="rId20"/>
    <p:sldId id="305" r:id="rId21"/>
    <p:sldId id="274" r:id="rId22"/>
    <p:sldId id="272" r:id="rId23"/>
    <p:sldId id="275" r:id="rId24"/>
    <p:sldId id="276" r:id="rId25"/>
    <p:sldId id="277" r:id="rId26"/>
    <p:sldId id="278" r:id="rId27"/>
    <p:sldId id="279" r:id="rId28"/>
    <p:sldId id="280" r:id="rId29"/>
    <p:sldId id="281" r:id="rId30"/>
    <p:sldId id="283" r:id="rId31"/>
    <p:sldId id="308" r:id="rId32"/>
    <p:sldId id="307" r:id="rId33"/>
    <p:sldId id="309" r:id="rId34"/>
    <p:sldId id="282" r:id="rId35"/>
    <p:sldId id="284" r:id="rId36"/>
    <p:sldId id="285" r:id="rId37"/>
    <p:sldId id="288" r:id="rId38"/>
    <p:sldId id="289" r:id="rId39"/>
    <p:sldId id="286" r:id="rId40"/>
    <p:sldId id="290" r:id="rId41"/>
    <p:sldId id="291" r:id="rId42"/>
    <p:sldId id="293" r:id="rId43"/>
    <p:sldId id="298" r:id="rId44"/>
    <p:sldId id="292" r:id="rId45"/>
    <p:sldId id="299" r:id="rId46"/>
    <p:sldId id="287" r:id="rId47"/>
    <p:sldId id="306" r:id="rId48"/>
    <p:sldId id="300" r:id="rId49"/>
    <p:sldId id="297" r:id="rId50"/>
    <p:sldId id="301" r:id="rId51"/>
    <p:sldId id="304" r:id="rId52"/>
    <p:sldId id="302" r:id="rId53"/>
    <p:sldId id="303"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5" autoAdjust="0"/>
    <p:restoredTop sz="94660"/>
  </p:normalViewPr>
  <p:slideViewPr>
    <p:cSldViewPr snapToGrid="0">
      <p:cViewPr>
        <p:scale>
          <a:sx n="100" d="100"/>
          <a:sy n="100" d="100"/>
        </p:scale>
        <p:origin x="-876" y="-49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F894069-3906-48D8-8CF3-368CA08E7545}" type="datetimeFigureOut">
              <a:rPr lang="en-US" smtClean="0"/>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62BDBA-0C2E-413C-BD0F-09592DE2D0EF}" type="slidenum">
              <a:rPr lang="en-US" smtClean="0"/>
              <a:t>‹#›</a:t>
            </a:fld>
            <a:endParaRPr lang="en-US"/>
          </a:p>
        </p:txBody>
      </p:sp>
    </p:spTree>
    <p:extLst>
      <p:ext uri="{BB962C8B-B14F-4D97-AF65-F5344CB8AC3E}">
        <p14:creationId xmlns:p14="http://schemas.microsoft.com/office/powerpoint/2010/main" val="2202578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894069-3906-48D8-8CF3-368CA08E7545}" type="datetimeFigureOut">
              <a:rPr lang="en-US" smtClean="0"/>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62BDBA-0C2E-413C-BD0F-09592DE2D0EF}" type="slidenum">
              <a:rPr lang="en-US" smtClean="0"/>
              <a:t>‹#›</a:t>
            </a:fld>
            <a:endParaRPr lang="en-US"/>
          </a:p>
        </p:txBody>
      </p:sp>
    </p:spTree>
    <p:extLst>
      <p:ext uri="{BB962C8B-B14F-4D97-AF65-F5344CB8AC3E}">
        <p14:creationId xmlns:p14="http://schemas.microsoft.com/office/powerpoint/2010/main" val="3216347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894069-3906-48D8-8CF3-368CA08E7545}" type="datetimeFigureOut">
              <a:rPr lang="en-US" smtClean="0"/>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62BDBA-0C2E-413C-BD0F-09592DE2D0EF}" type="slidenum">
              <a:rPr lang="en-US" smtClean="0"/>
              <a:t>‹#›</a:t>
            </a:fld>
            <a:endParaRPr lang="en-US"/>
          </a:p>
        </p:txBody>
      </p:sp>
    </p:spTree>
    <p:extLst>
      <p:ext uri="{BB962C8B-B14F-4D97-AF65-F5344CB8AC3E}">
        <p14:creationId xmlns:p14="http://schemas.microsoft.com/office/powerpoint/2010/main" val="23107744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F894069-3906-48D8-8CF3-368CA08E7545}" type="datetimeFigureOut">
              <a:rPr lang="en-US" smtClean="0"/>
              <a:t>4/17/2025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62BDBA-0C2E-413C-BD0F-09592DE2D0EF}" type="slidenum">
              <a:rPr lang="en-US" smtClean="0"/>
              <a:t>‹#›</a:t>
            </a:fld>
            <a:endParaRPr lang="en-US"/>
          </a:p>
        </p:txBody>
      </p:sp>
    </p:spTree>
    <p:extLst>
      <p:ext uri="{BB962C8B-B14F-4D97-AF65-F5344CB8AC3E}">
        <p14:creationId xmlns:p14="http://schemas.microsoft.com/office/powerpoint/2010/main" val="35963378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F894069-3906-48D8-8CF3-368CA08E7545}" type="datetimeFigureOut">
              <a:rPr lang="en-US" smtClean="0"/>
              <a:t>4/17/2025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662BDBA-0C2E-413C-BD0F-09592DE2D0EF}" type="slidenum">
              <a:rPr lang="en-US" smtClean="0"/>
              <a:t>‹#›</a:t>
            </a:fld>
            <a:endParaRPr lang="en-US"/>
          </a:p>
        </p:txBody>
      </p:sp>
    </p:spTree>
    <p:extLst>
      <p:ext uri="{BB962C8B-B14F-4D97-AF65-F5344CB8AC3E}">
        <p14:creationId xmlns:p14="http://schemas.microsoft.com/office/powerpoint/2010/main" val="1612843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F894069-3906-48D8-8CF3-368CA08E7545}" type="datetimeFigureOut">
              <a:rPr lang="en-US" smtClean="0"/>
              <a:t>4/17/2025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662BDBA-0C2E-413C-BD0F-09592DE2D0EF}" type="slidenum">
              <a:rPr lang="en-US" smtClean="0"/>
              <a:t>‹#›</a:t>
            </a:fld>
            <a:endParaRPr lang="en-US"/>
          </a:p>
        </p:txBody>
      </p:sp>
    </p:spTree>
    <p:extLst>
      <p:ext uri="{BB962C8B-B14F-4D97-AF65-F5344CB8AC3E}">
        <p14:creationId xmlns:p14="http://schemas.microsoft.com/office/powerpoint/2010/main" val="1025512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894069-3906-48D8-8CF3-368CA08E7545}" type="datetimeFigureOut">
              <a:rPr lang="en-US" smtClean="0"/>
              <a:t>4/17/2025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662BDBA-0C2E-413C-BD0F-09592DE2D0EF}" type="slidenum">
              <a:rPr lang="en-US" smtClean="0"/>
              <a:t>‹#›</a:t>
            </a:fld>
            <a:endParaRPr lang="en-US"/>
          </a:p>
        </p:txBody>
      </p:sp>
    </p:spTree>
    <p:extLst>
      <p:ext uri="{BB962C8B-B14F-4D97-AF65-F5344CB8AC3E}">
        <p14:creationId xmlns:p14="http://schemas.microsoft.com/office/powerpoint/2010/main" val="600248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F894069-3906-48D8-8CF3-368CA08E7545}" type="datetimeFigureOut">
              <a:rPr lang="en-US" smtClean="0"/>
              <a:t>4/17/2025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62BDBA-0C2E-413C-BD0F-09592DE2D0EF}" type="slidenum">
              <a:rPr lang="en-US" smtClean="0"/>
              <a:t>‹#›</a:t>
            </a:fld>
            <a:endParaRPr lang="en-US"/>
          </a:p>
        </p:txBody>
      </p:sp>
    </p:spTree>
    <p:extLst>
      <p:ext uri="{BB962C8B-B14F-4D97-AF65-F5344CB8AC3E}">
        <p14:creationId xmlns:p14="http://schemas.microsoft.com/office/powerpoint/2010/main" val="8164029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F894069-3906-48D8-8CF3-368CA08E7545}" type="datetimeFigureOut">
              <a:rPr lang="en-US" smtClean="0"/>
              <a:t>4/17/2025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62BDBA-0C2E-413C-BD0F-09592DE2D0EF}" type="slidenum">
              <a:rPr lang="en-US" smtClean="0"/>
              <a:t>‹#›</a:t>
            </a:fld>
            <a:endParaRPr lang="en-US"/>
          </a:p>
        </p:txBody>
      </p:sp>
    </p:spTree>
    <p:extLst>
      <p:ext uri="{BB962C8B-B14F-4D97-AF65-F5344CB8AC3E}">
        <p14:creationId xmlns:p14="http://schemas.microsoft.com/office/powerpoint/2010/main" val="7949334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894069-3906-48D8-8CF3-368CA08E7545}" type="datetimeFigureOut">
              <a:rPr lang="en-US" smtClean="0"/>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62BDBA-0C2E-413C-BD0F-09592DE2D0EF}" type="slidenum">
              <a:rPr lang="en-US" smtClean="0"/>
              <a:t>‹#›</a:t>
            </a:fld>
            <a:endParaRPr lang="en-US"/>
          </a:p>
        </p:txBody>
      </p:sp>
    </p:spTree>
    <p:extLst>
      <p:ext uri="{BB962C8B-B14F-4D97-AF65-F5344CB8AC3E}">
        <p14:creationId xmlns:p14="http://schemas.microsoft.com/office/powerpoint/2010/main" val="3009502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894069-3906-48D8-8CF3-368CA08E7545}" type="datetimeFigureOut">
              <a:rPr lang="en-US" smtClean="0"/>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62BDBA-0C2E-413C-BD0F-09592DE2D0EF}" type="slidenum">
              <a:rPr lang="en-US" smtClean="0"/>
              <a:t>‹#›</a:t>
            </a:fld>
            <a:endParaRPr lang="en-US"/>
          </a:p>
        </p:txBody>
      </p:sp>
    </p:spTree>
    <p:extLst>
      <p:ext uri="{BB962C8B-B14F-4D97-AF65-F5344CB8AC3E}">
        <p14:creationId xmlns:p14="http://schemas.microsoft.com/office/powerpoint/2010/main" val="45203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894069-3906-48D8-8CF3-368CA08E7545}" type="datetimeFigureOut">
              <a:rPr lang="en-US" smtClean="0"/>
              <a:t>4/17/2025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62BDBA-0C2E-413C-BD0F-09592DE2D0EF}" type="slidenum">
              <a:rPr lang="en-US" smtClean="0"/>
              <a:t>‹#›</a:t>
            </a:fld>
            <a:endParaRPr lang="en-US"/>
          </a:p>
        </p:txBody>
      </p:sp>
    </p:spTree>
    <p:extLst>
      <p:ext uri="{BB962C8B-B14F-4D97-AF65-F5344CB8AC3E}">
        <p14:creationId xmlns:p14="http://schemas.microsoft.com/office/powerpoint/2010/main" val="29654283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hyperlink" Target="https://www.toppr.com/guides/chemistry/states-of-matter/intermolecular-forces/"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hyperlink" Target="https://www.toppr.com/guides/biology/biomolecules/biomacromolecules/"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hyperlink" Target="https://byjus.com/chemistry/acetonitrile/" TargetMode="External"/><Relationship Id="rId2" Type="http://schemas.openxmlformats.org/officeDocument/2006/relationships/hyperlink" Target="https://byjus.com/jee/covalent-bond/" TargetMode="Externa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hyperlink" Target="https://www.sciencedirect.com/topics/engineering/monomer-unit" TargetMode="Externa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en.wikipedia.org/wiki/File:Syndiotactic-2D-skeletal.png" TargetMode="Externa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en.wikipedia.org/wiki/Nuclear_magnetic_resonance" TargetMode="Externa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b="1" dirty="0"/>
              <a:t>Polymer Chemistry</a:t>
            </a:r>
            <a:endParaRPr lang="en-US" dirty="0"/>
          </a:p>
        </p:txBody>
      </p:sp>
      <p:sp>
        <p:nvSpPr>
          <p:cNvPr id="3" name="Subtitle 2"/>
          <p:cNvSpPr>
            <a:spLocks noGrp="1"/>
          </p:cNvSpPr>
          <p:nvPr>
            <p:ph type="subTitle" idx="1"/>
          </p:nvPr>
        </p:nvSpPr>
        <p:spPr>
          <a:xfrm>
            <a:off x="384313" y="3909391"/>
            <a:ext cx="10946296" cy="2382078"/>
          </a:xfrm>
        </p:spPr>
        <p:txBody>
          <a:bodyPr>
            <a:normAutofit/>
          </a:bodyPr>
          <a:lstStyle/>
          <a:p>
            <a:r>
              <a:rPr lang="en-US" sz="3200" b="1" dirty="0"/>
              <a:t>Polymer structure</a:t>
            </a:r>
          </a:p>
        </p:txBody>
      </p:sp>
    </p:spTree>
    <p:extLst>
      <p:ext uri="{BB962C8B-B14F-4D97-AF65-F5344CB8AC3E}">
        <p14:creationId xmlns:p14="http://schemas.microsoft.com/office/powerpoint/2010/main" val="3512111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04365" y="0"/>
            <a:ext cx="9453282" cy="5472267"/>
          </a:xfrm>
          <a:prstGeom prst="rect">
            <a:avLst/>
          </a:prstGeom>
        </p:spPr>
        <p:txBody>
          <a:bodyPr wrap="square">
            <a:spAutoFit/>
          </a:bodyPr>
          <a:lstStyle/>
          <a:p>
            <a:pPr>
              <a:lnSpc>
                <a:spcPct val="110000"/>
              </a:lnSpc>
            </a:pPr>
            <a:r>
              <a:rPr lang="en-US" sz="2600" b="1" dirty="0">
                <a:effectLst/>
                <a:latin typeface="Cambria,Bold"/>
                <a:ea typeface="Times New Roman" panose="02020603050405020304" pitchFamily="18" charset="0"/>
                <a:cs typeface="Cambria,Bold"/>
              </a:rPr>
              <a:t>Polymers</a:t>
            </a:r>
            <a:endParaRPr lang="en-US" sz="1000" dirty="0">
              <a:effectLst/>
              <a:latin typeface="Calibri" panose="020F0502020204030204" pitchFamily="34" charset="0"/>
              <a:ea typeface="Times New Roman" panose="02020603050405020304" pitchFamily="18" charset="0"/>
              <a:cs typeface="Vrinda" panose="020B0502040204020203" pitchFamily="34" charset="0"/>
            </a:endParaRPr>
          </a:p>
          <a:p>
            <a:pPr algn="just">
              <a:lnSpc>
                <a:spcPct val="150000"/>
              </a:lnSpc>
            </a:pPr>
            <a:r>
              <a:rPr lang="en-US" dirty="0">
                <a:latin typeface="Times New Roman" panose="02020603050405020304" pitchFamily="18" charset="0"/>
                <a:ea typeface="Times New Roman" panose="02020603050405020304" pitchFamily="18" charset="0"/>
                <a:cs typeface="Vrinda" panose="020B0502040204020203" pitchFamily="34" charset="0"/>
              </a:rPr>
              <a:t> </a:t>
            </a:r>
            <a:endParaRPr lang="en-US" sz="1000" dirty="0">
              <a:effectLst/>
              <a:latin typeface="Calibri" panose="020F0502020204030204" pitchFamily="34" charset="0"/>
              <a:ea typeface="Times New Roman" panose="02020603050405020304" pitchFamily="18" charset="0"/>
              <a:cs typeface="Vrinda" panose="020B0502040204020203" pitchFamily="34" charset="0"/>
            </a:endParaRPr>
          </a:p>
          <a:p>
            <a:pPr algn="just">
              <a:lnSpc>
                <a:spcPct val="150000"/>
              </a:lnSpc>
            </a:pPr>
            <a:r>
              <a:rPr lang="en-US" sz="2800" dirty="0">
                <a:latin typeface="Times New Roman" panose="02020603050405020304" pitchFamily="18" charset="0"/>
                <a:ea typeface="Times New Roman" panose="02020603050405020304" pitchFamily="18" charset="0"/>
                <a:cs typeface="Vrinda" panose="020B0502040204020203" pitchFamily="34" charset="0"/>
              </a:rPr>
              <a:t>The word polymer has a Greek origin. Which means many</a:t>
            </a:r>
            <a:endParaRPr lang="en-US" sz="2800" dirty="0">
              <a:effectLst/>
              <a:latin typeface="Calibri" panose="020F0502020204030204" pitchFamily="34" charset="0"/>
              <a:ea typeface="Times New Roman" panose="02020603050405020304" pitchFamily="18" charset="0"/>
              <a:cs typeface="Vrinda" panose="020B0502040204020203" pitchFamily="34" charset="0"/>
            </a:endParaRPr>
          </a:p>
          <a:p>
            <a:pPr algn="just">
              <a:lnSpc>
                <a:spcPct val="150000"/>
              </a:lnSpc>
            </a:pPr>
            <a:r>
              <a:rPr lang="en-US" sz="2800" dirty="0">
                <a:latin typeface="Times New Roman" panose="02020603050405020304" pitchFamily="18" charset="0"/>
                <a:ea typeface="Times New Roman" panose="02020603050405020304" pitchFamily="18" charset="0"/>
                <a:cs typeface="Vrinda" panose="020B0502040204020203" pitchFamily="34" charset="0"/>
              </a:rPr>
              <a:t>units (parts). Polymer is defined as a chemical substance of a</a:t>
            </a:r>
            <a:endParaRPr lang="en-US" sz="2800" dirty="0">
              <a:effectLst/>
              <a:latin typeface="Calibri" panose="020F0502020204030204" pitchFamily="34" charset="0"/>
              <a:ea typeface="Times New Roman" panose="02020603050405020304" pitchFamily="18" charset="0"/>
              <a:cs typeface="Vrinda" panose="020B0502040204020203" pitchFamily="34" charset="0"/>
            </a:endParaRPr>
          </a:p>
          <a:p>
            <a:pPr algn="just">
              <a:lnSpc>
                <a:spcPct val="150000"/>
              </a:lnSpc>
            </a:pPr>
            <a:r>
              <a:rPr lang="en-US" sz="2800" dirty="0">
                <a:latin typeface="Times New Roman" panose="02020603050405020304" pitchFamily="18" charset="0"/>
                <a:ea typeface="Times New Roman" panose="02020603050405020304" pitchFamily="18" charset="0"/>
                <a:cs typeface="Vrinda" panose="020B0502040204020203" pitchFamily="34" charset="0"/>
              </a:rPr>
              <a:t>high molecular mass formed by the combination of a </a:t>
            </a:r>
            <a:endParaRPr lang="en-US" sz="2800" dirty="0">
              <a:effectLst/>
              <a:latin typeface="Calibri" panose="020F0502020204030204" pitchFamily="34" charset="0"/>
              <a:ea typeface="Times New Roman" panose="02020603050405020304" pitchFamily="18" charset="0"/>
              <a:cs typeface="Vrinda" panose="020B0502040204020203" pitchFamily="34" charset="0"/>
            </a:endParaRPr>
          </a:p>
          <a:p>
            <a:pPr algn="just">
              <a:lnSpc>
                <a:spcPct val="150000"/>
              </a:lnSpc>
            </a:pPr>
            <a:r>
              <a:rPr lang="en-US" sz="2800" dirty="0">
                <a:latin typeface="Times New Roman" panose="02020603050405020304" pitchFamily="18" charset="0"/>
                <a:ea typeface="Times New Roman" panose="02020603050405020304" pitchFamily="18" charset="0"/>
                <a:cs typeface="Vrinda" panose="020B0502040204020203" pitchFamily="34" charset="0"/>
              </a:rPr>
              <a:t>large number of, called monomers simple molecules. </a:t>
            </a:r>
            <a:endParaRPr lang="en-US" sz="2800" dirty="0">
              <a:effectLst/>
              <a:latin typeface="Calibri" panose="020F0502020204030204" pitchFamily="34" charset="0"/>
              <a:ea typeface="Times New Roman" panose="02020603050405020304" pitchFamily="18" charset="0"/>
              <a:cs typeface="Vrinda" panose="020B0502040204020203" pitchFamily="34" charset="0"/>
            </a:endParaRPr>
          </a:p>
          <a:p>
            <a:pPr algn="just">
              <a:lnSpc>
                <a:spcPct val="150000"/>
              </a:lnSpc>
            </a:pPr>
            <a:r>
              <a:rPr lang="en-US" sz="2800" dirty="0">
                <a:latin typeface="Times New Roman" panose="02020603050405020304" pitchFamily="18" charset="0"/>
                <a:ea typeface="Times New Roman" panose="02020603050405020304" pitchFamily="18" charset="0"/>
                <a:cs typeface="Vrinda" panose="020B0502040204020203" pitchFamily="34" charset="0"/>
              </a:rPr>
              <a:t>e.g.</a:t>
            </a:r>
            <a:endParaRPr lang="en-US" sz="2800" dirty="0">
              <a:effectLst/>
              <a:latin typeface="Calibri" panose="020F0502020204030204" pitchFamily="34" charset="0"/>
              <a:ea typeface="Times New Roman" panose="02020603050405020304" pitchFamily="18" charset="0"/>
              <a:cs typeface="Vrinda" panose="020B0502040204020203" pitchFamily="34" charset="0"/>
            </a:endParaRPr>
          </a:p>
          <a:p>
            <a:pPr marL="733425" marR="0">
              <a:lnSpc>
                <a:spcPct val="150000"/>
              </a:lnSpc>
              <a:spcBef>
                <a:spcPts val="0"/>
              </a:spcBef>
              <a:spcAft>
                <a:spcPts val="0"/>
              </a:spcAft>
            </a:pPr>
            <a:r>
              <a:rPr lang="en-US" sz="2800" b="1" dirty="0">
                <a:effectLst/>
                <a:latin typeface="Calibri" panose="020F0502020204030204" pitchFamily="34" charset="0"/>
                <a:ea typeface="Times New Roman" panose="02020603050405020304" pitchFamily="18" charset="0"/>
                <a:cs typeface="Vrinda" panose="020B0502040204020203" pitchFamily="34" charset="0"/>
              </a:rPr>
              <a:t>     CH2=CH2              —      (CH2-CH2)n</a:t>
            </a:r>
            <a:endParaRPr lang="en-US" sz="2800" dirty="0">
              <a:effectLst/>
              <a:latin typeface="Calibri" panose="020F0502020204030204" pitchFamily="34" charset="0"/>
              <a:ea typeface="Times New Roman" panose="02020603050405020304" pitchFamily="18" charset="0"/>
              <a:cs typeface="Vrinda" panose="020B0502040204020203" pitchFamily="34" charset="0"/>
            </a:endParaRPr>
          </a:p>
          <a:p>
            <a:pPr marL="733425" marR="0">
              <a:lnSpc>
                <a:spcPct val="150000"/>
              </a:lnSpc>
              <a:spcBef>
                <a:spcPts val="0"/>
              </a:spcBef>
              <a:spcAft>
                <a:spcPts val="0"/>
              </a:spcAft>
            </a:pPr>
            <a:r>
              <a:rPr lang="en-US" sz="2800" b="1" dirty="0">
                <a:effectLst/>
                <a:latin typeface="Calibri" panose="020F0502020204030204" pitchFamily="34" charset="0"/>
                <a:ea typeface="Times New Roman" panose="02020603050405020304" pitchFamily="18" charset="0"/>
                <a:cs typeface="Vrinda" panose="020B0502040204020203" pitchFamily="34" charset="0"/>
              </a:rPr>
              <a:t>       ethylene                       polyethylene </a:t>
            </a:r>
            <a:endParaRPr lang="en-US" sz="2800" dirty="0">
              <a:effectLst/>
              <a:latin typeface="Calibri" panose="020F0502020204030204" pitchFamily="34" charset="0"/>
              <a:ea typeface="Times New Roman" panose="02020603050405020304" pitchFamily="18" charset="0"/>
              <a:cs typeface="Vrinda" panose="020B0502040204020203" pitchFamily="34" charset="0"/>
            </a:endParaRPr>
          </a:p>
        </p:txBody>
      </p:sp>
    </p:spTree>
    <p:extLst>
      <p:ext uri="{BB962C8B-B14F-4D97-AF65-F5344CB8AC3E}">
        <p14:creationId xmlns:p14="http://schemas.microsoft.com/office/powerpoint/2010/main" val="39044943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3717" y="833718"/>
            <a:ext cx="9063318" cy="5055230"/>
          </a:xfrm>
          <a:prstGeom prst="rect">
            <a:avLst/>
          </a:prstGeom>
        </p:spPr>
        <p:txBody>
          <a:bodyPr wrap="square">
            <a:spAutoFit/>
          </a:bodyPr>
          <a:lstStyle/>
          <a:p>
            <a:pPr fontAlgn="base"/>
            <a:r>
              <a:rPr lang="en-US" sz="2800" b="1" dirty="0">
                <a:effectLst/>
                <a:latin typeface="inherit"/>
                <a:ea typeface="Times New Roman" panose="02020603050405020304" pitchFamily="18" charset="0"/>
              </a:rPr>
              <a:t>Monomers:</a:t>
            </a:r>
            <a:r>
              <a:rPr lang="en-US" sz="2800" dirty="0">
                <a:effectLst/>
                <a:latin typeface="Poppins"/>
                <a:ea typeface="Times New Roman" panose="02020603050405020304" pitchFamily="18" charset="0"/>
              </a:rPr>
              <a:t> </a:t>
            </a:r>
            <a:endParaRPr lang="en-US" sz="2800" dirty="0">
              <a:effectLst/>
              <a:latin typeface="Times New Roman" panose="02020603050405020304" pitchFamily="18" charset="0"/>
              <a:ea typeface="Times New Roman" panose="02020603050405020304" pitchFamily="18" charset="0"/>
            </a:endParaRPr>
          </a:p>
          <a:p>
            <a:pPr fontAlgn="base"/>
            <a:r>
              <a:rPr lang="en-US" dirty="0">
                <a:effectLst/>
                <a:latin typeface="Poppins"/>
                <a:ea typeface="Times New Roman" panose="02020603050405020304" pitchFamily="18" charset="0"/>
              </a:rPr>
              <a:t> </a:t>
            </a:r>
            <a:endParaRPr lang="en-US" sz="1400" dirty="0">
              <a:effectLst/>
              <a:latin typeface="Times New Roman" panose="02020603050405020304" pitchFamily="18" charset="0"/>
              <a:ea typeface="Times New Roman" panose="02020603050405020304" pitchFamily="18" charset="0"/>
            </a:endParaRPr>
          </a:p>
          <a:p>
            <a:pPr fontAlgn="base"/>
            <a:r>
              <a:rPr lang="en-US" sz="2400" dirty="0">
                <a:effectLst/>
                <a:latin typeface="Poppins"/>
                <a:ea typeface="Times New Roman" panose="02020603050405020304" pitchFamily="18" charset="0"/>
              </a:rPr>
              <a:t>These simple molecules or repeating units which combine to give polymers are called </a:t>
            </a:r>
            <a:r>
              <a:rPr lang="en-US" sz="2400" b="1" strike="noStrike" dirty="0">
                <a:effectLst/>
                <a:latin typeface="inherit"/>
                <a:ea typeface="Times New Roman" panose="02020603050405020304" pitchFamily="18" charset="0"/>
              </a:rPr>
              <a:t>monomers</a:t>
            </a:r>
            <a:r>
              <a:rPr lang="en-US" sz="2400" dirty="0">
                <a:effectLst/>
                <a:latin typeface="Poppins"/>
                <a:ea typeface="Times New Roman" panose="02020603050405020304" pitchFamily="18" charset="0"/>
              </a:rPr>
              <a:t>.</a:t>
            </a:r>
            <a:endParaRPr lang="en-US" sz="2400" dirty="0">
              <a:effectLst/>
              <a:latin typeface="Times New Roman" panose="02020603050405020304" pitchFamily="18" charset="0"/>
              <a:ea typeface="Times New Roman" panose="02020603050405020304" pitchFamily="18" charset="0"/>
            </a:endParaRPr>
          </a:p>
          <a:p>
            <a:pPr fontAlgn="base"/>
            <a:r>
              <a:rPr lang="en-US" sz="2400" dirty="0">
                <a:effectLst/>
                <a:latin typeface="Poppins"/>
                <a:ea typeface="Times New Roman" panose="02020603050405020304" pitchFamily="18" charset="0"/>
              </a:rPr>
              <a:t> </a:t>
            </a:r>
            <a:endParaRPr lang="en-US" sz="2400" dirty="0">
              <a:effectLst/>
              <a:latin typeface="Times New Roman" panose="02020603050405020304" pitchFamily="18" charset="0"/>
              <a:ea typeface="Times New Roman" panose="02020603050405020304" pitchFamily="18" charset="0"/>
            </a:endParaRPr>
          </a:p>
          <a:p>
            <a:pPr fontAlgn="base"/>
            <a:r>
              <a:rPr lang="en-US" sz="2400" dirty="0">
                <a:effectLst/>
                <a:latin typeface="Poppins"/>
                <a:ea typeface="Times New Roman" panose="02020603050405020304" pitchFamily="18" charset="0"/>
              </a:rPr>
              <a:t>The process of joining together of a large number of the monomers is </a:t>
            </a:r>
            <a:r>
              <a:rPr lang="en-US" sz="2400" b="1" dirty="0">
                <a:effectLst/>
                <a:latin typeface="inherit"/>
                <a:ea typeface="Times New Roman" panose="02020603050405020304" pitchFamily="18" charset="0"/>
              </a:rPr>
              <a:t>polymerization</a:t>
            </a:r>
            <a:r>
              <a:rPr lang="en-US" sz="2400" dirty="0">
                <a:effectLst/>
                <a:latin typeface="Poppins"/>
                <a:ea typeface="Times New Roman" panose="02020603050405020304" pitchFamily="18" charset="0"/>
              </a:rPr>
              <a:t> termed as </a:t>
            </a:r>
            <a:r>
              <a:rPr lang="en-US" sz="2400" b="1" dirty="0">
                <a:effectLst/>
                <a:latin typeface="inherit"/>
                <a:ea typeface="Times New Roman" panose="02020603050405020304" pitchFamily="18" charset="0"/>
              </a:rPr>
              <a:t>polymerization</a:t>
            </a:r>
            <a:r>
              <a:rPr lang="en-US" sz="2400" dirty="0">
                <a:effectLst/>
                <a:latin typeface="Poppins"/>
                <a:ea typeface="Times New Roman" panose="02020603050405020304" pitchFamily="18" charset="0"/>
              </a:rPr>
              <a:t>.</a:t>
            </a:r>
            <a:endParaRPr lang="en-US" sz="2400" dirty="0">
              <a:effectLst/>
              <a:latin typeface="Times New Roman" panose="02020603050405020304" pitchFamily="18" charset="0"/>
              <a:ea typeface="Times New Roman" panose="02020603050405020304" pitchFamily="18" charset="0"/>
            </a:endParaRPr>
          </a:p>
          <a:p>
            <a:pPr fontAlgn="base"/>
            <a:r>
              <a:rPr lang="en-US" sz="2400" dirty="0">
                <a:effectLst/>
                <a:latin typeface="Poppins"/>
                <a:ea typeface="Times New Roman" panose="02020603050405020304" pitchFamily="18" charset="0"/>
              </a:rPr>
              <a:t> </a:t>
            </a:r>
            <a:endParaRPr lang="en-US" sz="2400" dirty="0">
              <a:effectLst/>
              <a:latin typeface="Times New Roman" panose="02020603050405020304" pitchFamily="18" charset="0"/>
              <a:ea typeface="Times New Roman" panose="02020603050405020304" pitchFamily="18" charset="0"/>
            </a:endParaRPr>
          </a:p>
          <a:p>
            <a:pPr fontAlgn="base"/>
            <a:r>
              <a:rPr lang="en-US" sz="2400" dirty="0">
                <a:effectLst/>
                <a:latin typeface="Poppins"/>
                <a:ea typeface="Times New Roman" panose="02020603050405020304" pitchFamily="18" charset="0"/>
              </a:rPr>
              <a:t>A polymer formed from one type of monomers is called a </a:t>
            </a:r>
            <a:r>
              <a:rPr lang="en-US" sz="2400" b="1" dirty="0" err="1">
                <a:effectLst/>
                <a:latin typeface="inherit"/>
                <a:ea typeface="Times New Roman" panose="02020603050405020304" pitchFamily="18" charset="0"/>
              </a:rPr>
              <a:t>homopolymer</a:t>
            </a:r>
            <a:r>
              <a:rPr lang="en-US" sz="2400" dirty="0">
                <a:effectLst/>
                <a:latin typeface="Poppins"/>
                <a:ea typeface="Times New Roman" panose="02020603050405020304" pitchFamily="18" charset="0"/>
              </a:rPr>
              <a:t>, e.g., </a:t>
            </a:r>
            <a:r>
              <a:rPr lang="en-US" sz="2400" b="1" u="none" strike="noStrike" dirty="0">
                <a:effectLst/>
                <a:latin typeface="inherit"/>
                <a:ea typeface="Times New Roman" panose="02020603050405020304" pitchFamily="18" charset="0"/>
              </a:rPr>
              <a:t>polyethylene</a:t>
            </a:r>
            <a:r>
              <a:rPr lang="en-US" sz="2400" dirty="0">
                <a:effectLst/>
                <a:latin typeface="Poppins"/>
                <a:ea typeface="Times New Roman" panose="02020603050405020304" pitchFamily="18" charset="0"/>
              </a:rPr>
              <a:t>, PVC, </a:t>
            </a:r>
            <a:r>
              <a:rPr lang="en-US" sz="2400" dirty="0" err="1">
                <a:effectLst/>
                <a:latin typeface="Poppins"/>
                <a:ea typeface="Times New Roman" panose="02020603050405020304" pitchFamily="18" charset="0"/>
              </a:rPr>
              <a:t>polyacrylonitrile</a:t>
            </a:r>
            <a:r>
              <a:rPr lang="en-US" sz="2400" dirty="0">
                <a:effectLst/>
                <a:latin typeface="Poppins"/>
                <a:ea typeface="Times New Roman" panose="02020603050405020304" pitchFamily="18" charset="0"/>
              </a:rPr>
              <a:t>, etc.</a:t>
            </a:r>
            <a:endParaRPr lang="en-US" sz="2400" dirty="0">
              <a:effectLst/>
              <a:latin typeface="Times New Roman" panose="02020603050405020304" pitchFamily="18" charset="0"/>
              <a:ea typeface="Times New Roman" panose="02020603050405020304" pitchFamily="18" charset="0"/>
            </a:endParaRPr>
          </a:p>
          <a:p>
            <a:pPr fontAlgn="base">
              <a:spcAft>
                <a:spcPts val="1500"/>
              </a:spcAft>
            </a:pPr>
            <a:r>
              <a:rPr lang="en-US" sz="2400" dirty="0">
                <a:effectLst/>
                <a:latin typeface="Poppins"/>
                <a:ea typeface="Times New Roman" panose="02020603050405020304" pitchFamily="18" charset="0"/>
              </a:rPr>
              <a:t> </a:t>
            </a:r>
            <a:endParaRPr lang="en-US" sz="2400" dirty="0">
              <a:effectLst/>
              <a:latin typeface="Times New Roman" panose="02020603050405020304" pitchFamily="18" charset="0"/>
              <a:ea typeface="Times New Roman" panose="02020603050405020304" pitchFamily="18" charset="0"/>
            </a:endParaRPr>
          </a:p>
          <a:p>
            <a:r>
              <a:rPr lang="en-US" sz="2400" dirty="0">
                <a:effectLst/>
                <a:latin typeface="Poppins"/>
                <a:ea typeface="Times New Roman" panose="02020603050405020304" pitchFamily="18" charset="0"/>
                <a:cs typeface="Vrinda" panose="020B0502040204020203" pitchFamily="34" charset="0"/>
              </a:rPr>
              <a:t>A polymer formed from two or more different monomers is called copolymer e.g., Nylon-6,6, polyester, </a:t>
            </a:r>
            <a:r>
              <a:rPr lang="en-US" sz="2400" dirty="0" err="1">
                <a:effectLst/>
                <a:latin typeface="Poppins"/>
                <a:ea typeface="Times New Roman" panose="02020603050405020304" pitchFamily="18" charset="0"/>
                <a:cs typeface="Vrinda" panose="020B0502040204020203" pitchFamily="34" charset="0"/>
              </a:rPr>
              <a:t>bakelite</a:t>
            </a:r>
            <a:r>
              <a:rPr lang="en-US" sz="2400" dirty="0">
                <a:effectLst/>
                <a:latin typeface="Poppins"/>
                <a:ea typeface="Times New Roman" panose="02020603050405020304" pitchFamily="18" charset="0"/>
                <a:cs typeface="Vrinda" panose="020B0502040204020203" pitchFamily="34" charset="0"/>
              </a:rPr>
              <a:t>, </a:t>
            </a:r>
            <a:r>
              <a:rPr lang="en-US" sz="2400" dirty="0" err="1">
                <a:effectLst/>
                <a:latin typeface="Poppins"/>
                <a:ea typeface="Times New Roman" panose="02020603050405020304" pitchFamily="18" charset="0"/>
                <a:cs typeface="Vrinda" panose="020B0502040204020203" pitchFamily="34" charset="0"/>
              </a:rPr>
              <a:t>etc</a:t>
            </a:r>
            <a:endParaRPr lang="en-US" sz="2400" dirty="0"/>
          </a:p>
        </p:txBody>
      </p:sp>
    </p:spTree>
    <p:extLst>
      <p:ext uri="{BB962C8B-B14F-4D97-AF65-F5344CB8AC3E}">
        <p14:creationId xmlns:p14="http://schemas.microsoft.com/office/powerpoint/2010/main" val="1907334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46413" y="0"/>
            <a:ext cx="9735669" cy="6149376"/>
          </a:xfrm>
          <a:prstGeom prst="rect">
            <a:avLst/>
          </a:prstGeom>
        </p:spPr>
        <p:txBody>
          <a:bodyPr wrap="square">
            <a:spAutoFit/>
          </a:bodyPr>
          <a:lstStyle/>
          <a:p>
            <a:pPr>
              <a:lnSpc>
                <a:spcPct val="110000"/>
              </a:lnSpc>
            </a:pPr>
            <a:r>
              <a:rPr lang="en-US" sz="2400" b="1" dirty="0" err="1">
                <a:effectLst/>
                <a:latin typeface="Times New Roman" panose="02020603050405020304" pitchFamily="18" charset="0"/>
                <a:ea typeface="Times New Roman" panose="02020603050405020304" pitchFamily="18" charset="0"/>
                <a:cs typeface="Vrinda" panose="020B0502040204020203" pitchFamily="34" charset="0"/>
              </a:rPr>
              <a:t>Polymerisation</a:t>
            </a:r>
            <a:endParaRPr lang="en-US" sz="2400" dirty="0">
              <a:effectLst/>
              <a:latin typeface="Calibri" panose="020F0502020204030204" pitchFamily="34" charset="0"/>
              <a:ea typeface="Times New Roman" panose="02020603050405020304" pitchFamily="18" charset="0"/>
              <a:cs typeface="Vrinda" panose="020B0502040204020203" pitchFamily="34" charset="0"/>
            </a:endParaRPr>
          </a:p>
          <a:p>
            <a:pPr>
              <a:lnSpc>
                <a:spcPct val="110000"/>
              </a:lnSpc>
            </a:pPr>
            <a:r>
              <a:rPr lang="en-US" sz="2400" dirty="0">
                <a:latin typeface="Times New Roman" panose="02020603050405020304" pitchFamily="18" charset="0"/>
                <a:ea typeface="Times New Roman" panose="02020603050405020304" pitchFamily="18" charset="0"/>
                <a:cs typeface="Vrinda" panose="020B0502040204020203" pitchFamily="34" charset="0"/>
              </a:rPr>
              <a:t> </a:t>
            </a:r>
            <a:endParaRPr lang="en-US" sz="2400" dirty="0">
              <a:effectLst/>
              <a:latin typeface="Calibri" panose="020F0502020204030204" pitchFamily="34" charset="0"/>
              <a:ea typeface="Times New Roman" panose="02020603050405020304" pitchFamily="18" charset="0"/>
              <a:cs typeface="Vrinda" panose="020B0502040204020203" pitchFamily="34" charset="0"/>
            </a:endParaRPr>
          </a:p>
          <a:p>
            <a:pPr>
              <a:lnSpc>
                <a:spcPct val="110000"/>
              </a:lnSpc>
            </a:pPr>
            <a:r>
              <a:rPr lang="en-US" sz="2400" dirty="0">
                <a:latin typeface="Times New Roman" panose="02020603050405020304" pitchFamily="18" charset="0"/>
                <a:ea typeface="Times New Roman" panose="02020603050405020304" pitchFamily="18" charset="0"/>
                <a:cs typeface="Vrinda" panose="020B0502040204020203" pitchFamily="34" charset="0"/>
              </a:rPr>
              <a:t>The process by which the monomers get combined and transformed into polymers. is known as </a:t>
            </a:r>
            <a:r>
              <a:rPr lang="en-US" sz="2400" dirty="0" err="1">
                <a:latin typeface="Times New Roman" panose="02020603050405020304" pitchFamily="18" charset="0"/>
                <a:ea typeface="Times New Roman" panose="02020603050405020304" pitchFamily="18" charset="0"/>
                <a:cs typeface="Vrinda" panose="020B0502040204020203" pitchFamily="34" charset="0"/>
              </a:rPr>
              <a:t>polymerisation</a:t>
            </a:r>
            <a:r>
              <a:rPr lang="en-US" sz="2400" dirty="0">
                <a:latin typeface="Times New Roman" panose="02020603050405020304" pitchFamily="18" charset="0"/>
                <a:ea typeface="Times New Roman" panose="02020603050405020304" pitchFamily="18" charset="0"/>
                <a:cs typeface="Vrinda" panose="020B0502040204020203" pitchFamily="34" charset="0"/>
              </a:rPr>
              <a:t>.</a:t>
            </a:r>
            <a:endParaRPr lang="en-US" sz="2400" dirty="0">
              <a:effectLst/>
              <a:latin typeface="Calibri" panose="020F0502020204030204" pitchFamily="34" charset="0"/>
              <a:ea typeface="Times New Roman" panose="02020603050405020304" pitchFamily="18" charset="0"/>
              <a:cs typeface="Vrinda" panose="020B0502040204020203" pitchFamily="34" charset="0"/>
            </a:endParaRPr>
          </a:p>
          <a:p>
            <a:pPr>
              <a:lnSpc>
                <a:spcPct val="150000"/>
              </a:lnSpc>
            </a:pPr>
            <a:r>
              <a:rPr lang="en-US" sz="2400" dirty="0">
                <a:latin typeface="Times New Roman" panose="02020603050405020304" pitchFamily="18" charset="0"/>
                <a:ea typeface="Times New Roman" panose="02020603050405020304" pitchFamily="18" charset="0"/>
                <a:cs typeface="Vrinda" panose="020B0502040204020203" pitchFamily="34" charset="0"/>
              </a:rPr>
              <a:t> n [Monomer] → Polymer</a:t>
            </a:r>
            <a:endParaRPr lang="en-US" sz="2400" dirty="0">
              <a:effectLst/>
              <a:latin typeface="Calibri" panose="020F0502020204030204" pitchFamily="34" charset="0"/>
              <a:ea typeface="Times New Roman" panose="02020603050405020304" pitchFamily="18" charset="0"/>
              <a:cs typeface="Vrinda" panose="020B0502040204020203" pitchFamily="34" charset="0"/>
            </a:endParaRPr>
          </a:p>
          <a:p>
            <a:pPr>
              <a:lnSpc>
                <a:spcPct val="150000"/>
              </a:lnSpc>
            </a:pPr>
            <a:r>
              <a:rPr lang="en-US" sz="2400" b="1" dirty="0">
                <a:effectLst/>
                <a:latin typeface="Calibri" panose="020F0502020204030204" pitchFamily="34" charset="0"/>
                <a:ea typeface="Times New Roman" panose="02020603050405020304" pitchFamily="18" charset="0"/>
                <a:cs typeface="Vrinda" panose="020B0502040204020203" pitchFamily="34" charset="0"/>
              </a:rPr>
              <a:t> Difference between Polymers and Macromolecules </a:t>
            </a:r>
            <a:endParaRPr lang="en-US" sz="2400" dirty="0">
              <a:effectLst/>
              <a:latin typeface="Calibri" panose="020F0502020204030204" pitchFamily="34" charset="0"/>
              <a:ea typeface="Times New Roman" panose="02020603050405020304" pitchFamily="18" charset="0"/>
              <a:cs typeface="Vrinda" panose="020B0502040204020203" pitchFamily="34" charset="0"/>
            </a:endParaRPr>
          </a:p>
          <a:p>
            <a:pPr algn="just">
              <a:lnSpc>
                <a:spcPct val="150000"/>
              </a:lnSpc>
            </a:pPr>
            <a:r>
              <a:rPr lang="en-US" sz="2400" dirty="0">
                <a:latin typeface="Calibri" panose="020F0502020204030204" pitchFamily="34" charset="0"/>
                <a:ea typeface="Times New Roman" panose="02020603050405020304" pitchFamily="18" charset="0"/>
                <a:cs typeface="Vrinda" panose="020B0502040204020203" pitchFamily="34" charset="0"/>
              </a:rPr>
              <a:t>Polymers are also called macromolecules due to their</a:t>
            </a:r>
            <a:endParaRPr lang="en-US" sz="2400" dirty="0">
              <a:effectLst/>
              <a:latin typeface="Calibri" panose="020F0502020204030204" pitchFamily="34" charset="0"/>
              <a:ea typeface="Times New Roman" panose="02020603050405020304" pitchFamily="18" charset="0"/>
              <a:cs typeface="Vrinda" panose="020B0502040204020203" pitchFamily="34" charset="0"/>
            </a:endParaRPr>
          </a:p>
          <a:p>
            <a:pPr algn="just">
              <a:lnSpc>
                <a:spcPct val="150000"/>
              </a:lnSpc>
            </a:pPr>
            <a:r>
              <a:rPr lang="en-US" sz="2400" dirty="0">
                <a:latin typeface="Calibri" panose="020F0502020204030204" pitchFamily="34" charset="0"/>
                <a:ea typeface="Times New Roman" panose="02020603050405020304" pitchFamily="18" charset="0"/>
                <a:cs typeface="Vrinda" panose="020B0502040204020203" pitchFamily="34" charset="0"/>
              </a:rPr>
              <a:t> large size but converse is not always true. A macromolecule  may not contain monomer units, e.g., chlorophyll (C</a:t>
            </a:r>
            <a:r>
              <a:rPr lang="en-US" sz="2400" baseline="-25000" dirty="0">
                <a:latin typeface="Calibri" panose="020F0502020204030204" pitchFamily="34" charset="0"/>
                <a:ea typeface="Times New Roman" panose="02020603050405020304" pitchFamily="18" charset="0"/>
                <a:cs typeface="Vrinda" panose="020B0502040204020203" pitchFamily="34" charset="0"/>
              </a:rPr>
              <a:t>55</a:t>
            </a:r>
            <a:r>
              <a:rPr lang="en-US" sz="2400" dirty="0">
                <a:latin typeface="Calibri" panose="020F0502020204030204" pitchFamily="34" charset="0"/>
                <a:ea typeface="Times New Roman" panose="02020603050405020304" pitchFamily="18" charset="0"/>
                <a:cs typeface="Vrinda" panose="020B0502040204020203" pitchFamily="34" charset="0"/>
              </a:rPr>
              <a:t>H</a:t>
            </a:r>
            <a:r>
              <a:rPr lang="en-US" sz="2400" baseline="-25000" dirty="0">
                <a:latin typeface="Calibri" panose="020F0502020204030204" pitchFamily="34" charset="0"/>
                <a:ea typeface="Times New Roman" panose="02020603050405020304" pitchFamily="18" charset="0"/>
                <a:cs typeface="Vrinda" panose="020B0502040204020203" pitchFamily="34" charset="0"/>
              </a:rPr>
              <a:t>72</a:t>
            </a:r>
            <a:r>
              <a:rPr lang="en-US" sz="2400" dirty="0">
                <a:latin typeface="Calibri" panose="020F0502020204030204" pitchFamily="34" charset="0"/>
                <a:ea typeface="Times New Roman" panose="02020603050405020304" pitchFamily="18" charset="0"/>
                <a:cs typeface="Vrinda" panose="020B0502040204020203" pitchFamily="34" charset="0"/>
              </a:rPr>
              <a:t>O</a:t>
            </a:r>
            <a:r>
              <a:rPr lang="en-US" sz="2400" baseline="-25000" dirty="0">
                <a:latin typeface="Calibri" panose="020F0502020204030204" pitchFamily="34" charset="0"/>
                <a:ea typeface="Times New Roman" panose="02020603050405020304" pitchFamily="18" charset="0"/>
                <a:cs typeface="Vrinda" panose="020B0502040204020203" pitchFamily="34" charset="0"/>
              </a:rPr>
              <a:t>5</a:t>
            </a:r>
            <a:r>
              <a:rPr lang="en-US" sz="2400" dirty="0">
                <a:latin typeface="Calibri" panose="020F0502020204030204" pitchFamily="34" charset="0"/>
                <a:ea typeface="Times New Roman" panose="02020603050405020304" pitchFamily="18" charset="0"/>
                <a:cs typeface="Vrinda" panose="020B0502040204020203" pitchFamily="34" charset="0"/>
              </a:rPr>
              <a:t>N</a:t>
            </a:r>
            <a:r>
              <a:rPr lang="en-US" sz="2400" baseline="-25000" dirty="0">
                <a:latin typeface="Calibri" panose="020F0502020204030204" pitchFamily="34" charset="0"/>
                <a:ea typeface="Times New Roman" panose="02020603050405020304" pitchFamily="18" charset="0"/>
                <a:cs typeface="Vrinda" panose="020B0502040204020203" pitchFamily="34" charset="0"/>
              </a:rPr>
              <a:t>4</a:t>
            </a:r>
            <a:r>
              <a:rPr lang="en-US" sz="2400" dirty="0">
                <a:latin typeface="Calibri" panose="020F0502020204030204" pitchFamily="34" charset="0"/>
                <a:ea typeface="Times New Roman" panose="02020603050405020304" pitchFamily="18" charset="0"/>
                <a:cs typeface="Vrinda" panose="020B0502040204020203" pitchFamily="34" charset="0"/>
              </a:rPr>
              <a:t>Mg) is a macromolecule but not a polymer since there are no monomer units present so we can conclude that all polymers are macromolecules while all </a:t>
            </a:r>
            <a:r>
              <a:rPr lang="en-US" sz="2400" dirty="0">
                <a:solidFill>
                  <a:srgbClr val="FF0000"/>
                </a:solidFill>
                <a:latin typeface="Calibri" panose="020F0502020204030204" pitchFamily="34" charset="0"/>
                <a:ea typeface="Times New Roman" panose="02020603050405020304" pitchFamily="18" charset="0"/>
                <a:cs typeface="Vrinda" panose="020B0502040204020203" pitchFamily="34" charset="0"/>
              </a:rPr>
              <a:t>macromolecules may not be </a:t>
            </a:r>
            <a:r>
              <a:rPr lang="en-US" sz="2400" dirty="0">
                <a:latin typeface="Calibri" panose="020F0502020204030204" pitchFamily="34" charset="0"/>
                <a:ea typeface="Times New Roman" panose="02020603050405020304" pitchFamily="18" charset="0"/>
                <a:cs typeface="Vrinda" panose="020B0502040204020203" pitchFamily="34" charset="0"/>
              </a:rPr>
              <a:t>polymers in</a:t>
            </a:r>
            <a:r>
              <a:rPr lang="en-US" sz="2400" dirty="0">
                <a:effectLst/>
                <a:latin typeface="Calibri" panose="020F0502020204030204" pitchFamily="34" charset="0"/>
                <a:ea typeface="Times New Roman" panose="02020603050405020304" pitchFamily="18" charset="0"/>
                <a:cs typeface="Vrinda" panose="020B0502040204020203" pitchFamily="34" charset="0"/>
              </a:rPr>
              <a:t> nature.</a:t>
            </a:r>
          </a:p>
        </p:txBody>
      </p:sp>
    </p:spTree>
    <p:extLst>
      <p:ext uri="{BB962C8B-B14F-4D97-AF65-F5344CB8AC3E}">
        <p14:creationId xmlns:p14="http://schemas.microsoft.com/office/powerpoint/2010/main" val="26037099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07776" y="578225"/>
            <a:ext cx="8080197" cy="4524315"/>
          </a:xfrm>
          <a:prstGeom prst="rect">
            <a:avLst/>
          </a:prstGeom>
        </p:spPr>
        <p:txBody>
          <a:bodyPr wrap="square">
            <a:spAutoFit/>
          </a:bodyPr>
          <a:lstStyle/>
          <a:p>
            <a:pPr>
              <a:lnSpc>
                <a:spcPct val="150000"/>
              </a:lnSpc>
            </a:pPr>
            <a:r>
              <a:rPr lang="en-US" sz="2400" b="1" dirty="0"/>
              <a:t>Classification of Polymers Based on Source of Origin</a:t>
            </a:r>
            <a:endParaRPr lang="en-US" sz="2400" dirty="0"/>
          </a:p>
          <a:p>
            <a:pPr>
              <a:lnSpc>
                <a:spcPct val="150000"/>
              </a:lnSpc>
            </a:pPr>
            <a:r>
              <a:rPr lang="en-US" sz="2400" b="1" dirty="0">
                <a:effectLst/>
                <a:latin typeface="Calibri" panose="020F0502020204030204" pitchFamily="34" charset="0"/>
                <a:ea typeface="Times New Roman" panose="02020603050405020304" pitchFamily="18" charset="0"/>
                <a:cs typeface="Vrinda" panose="020B0502040204020203" pitchFamily="34" charset="0"/>
              </a:rPr>
              <a:t>Natural polymers:</a:t>
            </a:r>
            <a:endParaRPr lang="en-US" sz="2400" dirty="0">
              <a:effectLst/>
              <a:latin typeface="Calibri" panose="020F0502020204030204" pitchFamily="34" charset="0"/>
              <a:ea typeface="Times New Roman" panose="02020603050405020304" pitchFamily="18" charset="0"/>
              <a:cs typeface="Vrinda" panose="020B0502040204020203" pitchFamily="34" charset="0"/>
            </a:endParaRPr>
          </a:p>
          <a:p>
            <a:pPr algn="just">
              <a:lnSpc>
                <a:spcPct val="150000"/>
              </a:lnSpc>
            </a:pPr>
            <a:r>
              <a:rPr lang="en-US" sz="2400" spc="-20" dirty="0">
                <a:effectLst/>
                <a:latin typeface="Calibri" panose="020F0502020204030204" pitchFamily="34" charset="0"/>
                <a:ea typeface="Times New Roman" panose="02020603050405020304" pitchFamily="18" charset="0"/>
                <a:cs typeface="Vrinda" panose="020B0502040204020203" pitchFamily="34" charset="0"/>
              </a:rPr>
              <a:t>Natural polymers are polymers which occur in </a:t>
            </a:r>
            <a:r>
              <a:rPr lang="en-US" sz="2400" dirty="0">
                <a:effectLst/>
                <a:latin typeface="Calibri" panose="020F0502020204030204" pitchFamily="34" charset="0"/>
                <a:ea typeface="Times New Roman" panose="02020603050405020304" pitchFamily="18" charset="0"/>
                <a:cs typeface="Vrinda" panose="020B0502040204020203" pitchFamily="34" charset="0"/>
              </a:rPr>
              <a:t>nature and are existing in natural sources like plants and animals.</a:t>
            </a:r>
          </a:p>
          <a:p>
            <a:pPr algn="just">
              <a:lnSpc>
                <a:spcPct val="150000"/>
              </a:lnSpc>
            </a:pPr>
            <a:r>
              <a:rPr lang="en-US" sz="2400" dirty="0">
                <a:effectLst/>
                <a:latin typeface="Calibri" panose="020F0502020204030204" pitchFamily="34" charset="0"/>
                <a:ea typeface="Times New Roman" panose="02020603050405020304" pitchFamily="18" charset="0"/>
                <a:cs typeface="Vrinda" panose="020B0502040204020203" pitchFamily="34" charset="0"/>
              </a:rPr>
              <a:t> Some common examples are Proteins (which are found in humans and animals alike), Cellulose and Starch (which are found in plants) or Rubber (which we harvest from the latex of a tropical plant ).</a:t>
            </a:r>
          </a:p>
        </p:txBody>
      </p:sp>
    </p:spTree>
    <p:extLst>
      <p:ext uri="{BB962C8B-B14F-4D97-AF65-F5344CB8AC3E}">
        <p14:creationId xmlns:p14="http://schemas.microsoft.com/office/powerpoint/2010/main" val="5074769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97541" y="389965"/>
            <a:ext cx="10139083" cy="3970318"/>
          </a:xfrm>
          <a:prstGeom prst="rect">
            <a:avLst/>
          </a:prstGeom>
        </p:spPr>
        <p:txBody>
          <a:bodyPr wrap="square">
            <a:spAutoFit/>
          </a:bodyPr>
          <a:lstStyle/>
          <a:p>
            <a:pPr>
              <a:lnSpc>
                <a:spcPct val="150000"/>
              </a:lnSpc>
            </a:pPr>
            <a:r>
              <a:rPr lang="en-US" sz="2400" b="1" dirty="0">
                <a:effectLst/>
                <a:latin typeface="Calibri" panose="020F0502020204030204" pitchFamily="34" charset="0"/>
                <a:ea typeface="Times New Roman" panose="02020603050405020304" pitchFamily="18" charset="0"/>
                <a:cs typeface="Vrinda" panose="020B0502040204020203" pitchFamily="34" charset="0"/>
              </a:rPr>
              <a:t>Synthetic polymers </a:t>
            </a:r>
            <a:endParaRPr lang="en-US" sz="2400" dirty="0">
              <a:effectLst/>
              <a:latin typeface="Calibri" panose="020F0502020204030204" pitchFamily="34" charset="0"/>
              <a:ea typeface="Times New Roman" panose="02020603050405020304" pitchFamily="18" charset="0"/>
              <a:cs typeface="Vrinda" panose="020B0502040204020203" pitchFamily="34" charset="0"/>
            </a:endParaRPr>
          </a:p>
          <a:p>
            <a:pPr algn="just">
              <a:lnSpc>
                <a:spcPct val="150000"/>
              </a:lnSpc>
            </a:pPr>
            <a:r>
              <a:rPr lang="en-US" sz="2400" spc="-20" dirty="0">
                <a:effectLst/>
                <a:latin typeface="Calibri" panose="020F0502020204030204" pitchFamily="34" charset="0"/>
                <a:ea typeface="Times New Roman" panose="02020603050405020304" pitchFamily="18" charset="0"/>
                <a:cs typeface="Vrinda" panose="020B0502040204020203" pitchFamily="34" charset="0"/>
              </a:rPr>
              <a:t>Synthetic polymers are polymers which humans can artificially create/synthesize in a lab. These are commercially produced by industries for human necessities. </a:t>
            </a:r>
            <a:endParaRPr lang="en-US" sz="2400" dirty="0">
              <a:effectLst/>
              <a:latin typeface="Calibri" panose="020F0502020204030204" pitchFamily="34" charset="0"/>
              <a:ea typeface="Times New Roman" panose="02020603050405020304" pitchFamily="18" charset="0"/>
              <a:cs typeface="Vrinda" panose="020B0502040204020203" pitchFamily="34" charset="0"/>
            </a:endParaRPr>
          </a:p>
          <a:p>
            <a:pPr marL="914400" marR="0" algn="just">
              <a:lnSpc>
                <a:spcPct val="150000"/>
              </a:lnSpc>
              <a:spcBef>
                <a:spcPts val="0"/>
              </a:spcBef>
              <a:spcAft>
                <a:spcPts val="0"/>
              </a:spcAft>
            </a:pPr>
            <a:r>
              <a:rPr lang="en-US" sz="2400" spc="-20" dirty="0">
                <a:effectLst/>
                <a:latin typeface="Calibri" panose="020F0502020204030204" pitchFamily="34" charset="0"/>
                <a:ea typeface="Times New Roman" panose="02020603050405020304" pitchFamily="18" charset="0"/>
                <a:cs typeface="Vrinda" panose="020B0502040204020203" pitchFamily="34" charset="0"/>
              </a:rPr>
              <a:t> </a:t>
            </a:r>
            <a:endParaRPr lang="en-US" sz="2400" dirty="0">
              <a:effectLst/>
              <a:latin typeface="Calibri" panose="020F0502020204030204" pitchFamily="34" charset="0"/>
              <a:ea typeface="Times New Roman" panose="02020603050405020304" pitchFamily="18" charset="0"/>
              <a:cs typeface="Vrinda" panose="020B0502040204020203" pitchFamily="34" charset="0"/>
            </a:endParaRPr>
          </a:p>
          <a:p>
            <a:pPr algn="just">
              <a:lnSpc>
                <a:spcPct val="150000"/>
              </a:lnSpc>
            </a:pPr>
            <a:r>
              <a:rPr lang="en-US" sz="2400" spc="-20" dirty="0">
                <a:effectLst/>
                <a:latin typeface="Calibri" panose="020F0502020204030204" pitchFamily="34" charset="0"/>
                <a:ea typeface="Times New Roman" panose="02020603050405020304" pitchFamily="18" charset="0"/>
                <a:cs typeface="Vrinda" panose="020B0502040204020203" pitchFamily="34" charset="0"/>
              </a:rPr>
              <a:t>Some commonly produced polymers which we use day to day are Polyethylene (a mass-produced plastic which we use in packaging) or Nylon Fibers (commonly used in our clothes, fishing nets etc.</a:t>
            </a:r>
            <a:endParaRPr lang="en-US" sz="2400" dirty="0">
              <a:effectLst/>
              <a:latin typeface="Calibri" panose="020F0502020204030204" pitchFamily="34" charset="0"/>
              <a:ea typeface="Times New Roman" panose="02020603050405020304" pitchFamily="18" charset="0"/>
              <a:cs typeface="Vrinda" panose="020B0502040204020203" pitchFamily="34" charset="0"/>
            </a:endParaRPr>
          </a:p>
        </p:txBody>
      </p:sp>
    </p:spTree>
    <p:extLst>
      <p:ext uri="{BB962C8B-B14F-4D97-AF65-F5344CB8AC3E}">
        <p14:creationId xmlns:p14="http://schemas.microsoft.com/office/powerpoint/2010/main" val="949370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29554" y="0"/>
            <a:ext cx="8404412" cy="7109639"/>
          </a:xfrm>
          <a:prstGeom prst="rect">
            <a:avLst/>
          </a:prstGeom>
        </p:spPr>
        <p:txBody>
          <a:bodyPr wrap="square">
            <a:spAutoFit/>
          </a:bodyPr>
          <a:lstStyle/>
          <a:p>
            <a:pPr algn="just">
              <a:lnSpc>
                <a:spcPct val="150000"/>
              </a:lnSpc>
            </a:pPr>
            <a:r>
              <a:rPr lang="en-US" sz="2800" b="1" dirty="0">
                <a:effectLst/>
                <a:latin typeface="Calibri" panose="020F0502020204030204" pitchFamily="34" charset="0"/>
                <a:ea typeface="Times New Roman" panose="02020603050405020304" pitchFamily="18" charset="0"/>
                <a:cs typeface="Vrinda" panose="020B0502040204020203" pitchFamily="34" charset="0"/>
              </a:rPr>
              <a:t>Semisynthetic polymers</a:t>
            </a:r>
            <a:r>
              <a:rPr lang="en-US" sz="2800" dirty="0">
                <a:effectLst/>
                <a:latin typeface="Calibri" panose="020F0502020204030204" pitchFamily="34" charset="0"/>
                <a:ea typeface="Times New Roman" panose="02020603050405020304" pitchFamily="18" charset="0"/>
                <a:cs typeface="Vrinda" panose="020B0502040204020203" pitchFamily="34" charset="0"/>
              </a:rPr>
              <a:t>:</a:t>
            </a:r>
            <a:r>
              <a:rPr lang="en-US" sz="2800" spc="-20" dirty="0">
                <a:effectLst/>
                <a:latin typeface="Calibri" panose="020F0502020204030204" pitchFamily="34" charset="0"/>
                <a:ea typeface="Times New Roman" panose="02020603050405020304" pitchFamily="18" charset="0"/>
                <a:cs typeface="Vrinda" panose="020B0502040204020203" pitchFamily="34" charset="0"/>
              </a:rPr>
              <a:t> </a:t>
            </a:r>
            <a:endParaRPr lang="en-US" sz="2800" dirty="0">
              <a:effectLst/>
              <a:latin typeface="Calibri" panose="020F0502020204030204" pitchFamily="34" charset="0"/>
              <a:ea typeface="Times New Roman" panose="02020603050405020304" pitchFamily="18" charset="0"/>
              <a:cs typeface="Vrinda" panose="020B0502040204020203" pitchFamily="34" charset="0"/>
            </a:endParaRPr>
          </a:p>
          <a:p>
            <a:pPr algn="just">
              <a:lnSpc>
                <a:spcPct val="150000"/>
              </a:lnSpc>
            </a:pPr>
            <a:r>
              <a:rPr lang="en-US" sz="2800" spc="-20" dirty="0">
                <a:effectLst/>
                <a:latin typeface="Calibri" panose="020F0502020204030204" pitchFamily="34" charset="0"/>
                <a:ea typeface="Times New Roman" panose="02020603050405020304" pitchFamily="18" charset="0"/>
                <a:cs typeface="Vrinda" panose="020B0502040204020203" pitchFamily="34" charset="0"/>
              </a:rPr>
              <a:t>Semi-Synthetic polymers are polymers obtained by making modification in natural polymers artificially in a lab. These polymers formed by </a:t>
            </a:r>
            <a:r>
              <a:rPr lang="en-US" sz="2800" dirty="0">
                <a:effectLst/>
                <a:latin typeface="Calibri" panose="020F0502020204030204" pitchFamily="34" charset="0"/>
                <a:ea typeface="Times New Roman" panose="02020603050405020304" pitchFamily="18" charset="0"/>
                <a:cs typeface="Vrinda" panose="020B0502040204020203" pitchFamily="34" charset="0"/>
              </a:rPr>
              <a:t>chemical reaction (in a controlled environment) and are of commercial importance. </a:t>
            </a:r>
          </a:p>
          <a:p>
            <a:pPr algn="just">
              <a:lnSpc>
                <a:spcPct val="150000"/>
              </a:lnSpc>
            </a:pPr>
            <a:r>
              <a:rPr lang="en-US" sz="2800" spc="-20" dirty="0">
                <a:effectLst/>
                <a:latin typeface="Calibri" panose="020F0502020204030204" pitchFamily="34" charset="0"/>
                <a:ea typeface="Times New Roman" panose="02020603050405020304" pitchFamily="18" charset="0"/>
                <a:cs typeface="Vrinda" panose="020B0502040204020203" pitchFamily="34" charset="0"/>
              </a:rPr>
              <a:t>Example: Vulcanized Rubber ( </a:t>
            </a:r>
            <a:r>
              <a:rPr lang="en-US" sz="2800" spc="-20" dirty="0" err="1">
                <a:effectLst/>
                <a:latin typeface="Calibri" panose="020F0502020204030204" pitchFamily="34" charset="0"/>
                <a:ea typeface="Times New Roman" panose="02020603050405020304" pitchFamily="18" charset="0"/>
                <a:cs typeface="Vrinda" panose="020B0502040204020203" pitchFamily="34" charset="0"/>
              </a:rPr>
              <a:t>Sulphur</a:t>
            </a:r>
            <a:r>
              <a:rPr lang="en-US" sz="2800" spc="-20" dirty="0">
                <a:effectLst/>
                <a:latin typeface="Calibri" panose="020F0502020204030204" pitchFamily="34" charset="0"/>
                <a:ea typeface="Times New Roman" panose="02020603050405020304" pitchFamily="18" charset="0"/>
                <a:cs typeface="Vrinda" panose="020B0502040204020203" pitchFamily="34" charset="0"/>
              </a:rPr>
              <a:t> is used in cross bonding the polymer chains found in natural rubber) Cellulose acetate (rayon) etc.</a:t>
            </a:r>
            <a:endParaRPr lang="en-US" sz="2800" dirty="0">
              <a:effectLst/>
              <a:latin typeface="Calibri" panose="020F0502020204030204" pitchFamily="34" charset="0"/>
              <a:ea typeface="Times New Roman" panose="02020603050405020304" pitchFamily="18" charset="0"/>
              <a:cs typeface="Vrinda" panose="020B0502040204020203" pitchFamily="34" charset="0"/>
            </a:endParaRPr>
          </a:p>
          <a:p>
            <a:pPr>
              <a:lnSpc>
                <a:spcPct val="150000"/>
              </a:lnSpc>
            </a:pPr>
            <a:r>
              <a:rPr lang="en-US" sz="2800" b="1" dirty="0">
                <a:effectLst/>
                <a:latin typeface="Calibri" panose="020F0502020204030204" pitchFamily="34" charset="0"/>
                <a:ea typeface="Times New Roman" panose="02020603050405020304" pitchFamily="18" charset="0"/>
                <a:cs typeface="Vrinda" panose="020B0502040204020203" pitchFamily="34" charset="0"/>
              </a:rPr>
              <a:t> </a:t>
            </a:r>
            <a:endParaRPr lang="en-US" sz="2800" dirty="0">
              <a:effectLst/>
              <a:latin typeface="Calibri" panose="020F0502020204030204" pitchFamily="34" charset="0"/>
              <a:ea typeface="Times New Roman" panose="02020603050405020304" pitchFamily="18" charset="0"/>
              <a:cs typeface="Vrinda" panose="020B0502040204020203" pitchFamily="34" charset="0"/>
            </a:endParaRPr>
          </a:p>
          <a:p>
            <a:pPr>
              <a:lnSpc>
                <a:spcPct val="150000"/>
              </a:lnSpc>
            </a:pPr>
            <a:r>
              <a:rPr lang="en-US" sz="2400" b="1" dirty="0">
                <a:effectLst/>
                <a:latin typeface="Calibri" panose="020F0502020204030204" pitchFamily="34" charset="0"/>
                <a:ea typeface="Times New Roman" panose="02020603050405020304" pitchFamily="18" charset="0"/>
                <a:cs typeface="Vrinda" panose="020B0502040204020203" pitchFamily="34" charset="0"/>
              </a:rPr>
              <a:t> </a:t>
            </a:r>
            <a:endParaRPr lang="en-US" sz="1050" dirty="0">
              <a:effectLst/>
              <a:latin typeface="Calibri" panose="020F0502020204030204" pitchFamily="34" charset="0"/>
              <a:ea typeface="Times New Roman" panose="02020603050405020304" pitchFamily="18" charset="0"/>
              <a:cs typeface="Vrinda" panose="020B0502040204020203" pitchFamily="34" charset="0"/>
            </a:endParaRPr>
          </a:p>
        </p:txBody>
      </p:sp>
    </p:spTree>
    <p:extLst>
      <p:ext uri="{BB962C8B-B14F-4D97-AF65-F5344CB8AC3E}">
        <p14:creationId xmlns:p14="http://schemas.microsoft.com/office/powerpoint/2010/main" val="42326864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48871" y="497541"/>
            <a:ext cx="8458200" cy="4708981"/>
          </a:xfrm>
          <a:prstGeom prst="rect">
            <a:avLst/>
          </a:prstGeom>
        </p:spPr>
        <p:txBody>
          <a:bodyPr wrap="square">
            <a:spAutoFit/>
          </a:bodyPr>
          <a:lstStyle/>
          <a:p>
            <a:pPr>
              <a:lnSpc>
                <a:spcPct val="150000"/>
              </a:lnSpc>
            </a:pPr>
            <a:r>
              <a:rPr lang="en-US" sz="3200" b="1" dirty="0">
                <a:effectLst/>
                <a:latin typeface="Calibri" panose="020F0502020204030204" pitchFamily="34" charset="0"/>
                <a:ea typeface="Times New Roman" panose="02020603050405020304" pitchFamily="18" charset="0"/>
                <a:cs typeface="Vrinda" panose="020B0502040204020203" pitchFamily="34" charset="0"/>
              </a:rPr>
              <a:t>Classification of Polymers Based on Structure </a:t>
            </a:r>
            <a:endParaRPr lang="en-US" sz="3200" dirty="0">
              <a:effectLst/>
              <a:latin typeface="Calibri" panose="020F0502020204030204" pitchFamily="34" charset="0"/>
              <a:ea typeface="Times New Roman" panose="02020603050405020304" pitchFamily="18" charset="0"/>
              <a:cs typeface="Vrinda" panose="020B0502040204020203" pitchFamily="34" charset="0"/>
            </a:endParaRPr>
          </a:p>
          <a:p>
            <a:pPr algn="just">
              <a:lnSpc>
                <a:spcPct val="150000"/>
              </a:lnSpc>
            </a:pPr>
            <a:r>
              <a:rPr lang="en-US" sz="2400" b="1" dirty="0">
                <a:latin typeface="Calibri" panose="020F0502020204030204" pitchFamily="34" charset="0"/>
                <a:ea typeface="Times New Roman" panose="02020603050405020304" pitchFamily="18" charset="0"/>
                <a:cs typeface="Vrinda" panose="020B0502040204020203" pitchFamily="34" charset="0"/>
              </a:rPr>
              <a:t>Linear polymers;</a:t>
            </a:r>
            <a:endParaRPr lang="en-US" sz="2400" dirty="0">
              <a:effectLst/>
              <a:latin typeface="Calibri" panose="020F0502020204030204" pitchFamily="34" charset="0"/>
              <a:ea typeface="Times New Roman" panose="02020603050405020304" pitchFamily="18" charset="0"/>
              <a:cs typeface="Vrinda" panose="020B0502040204020203" pitchFamily="34" charset="0"/>
            </a:endParaRPr>
          </a:p>
          <a:p>
            <a:pPr algn="just">
              <a:lnSpc>
                <a:spcPct val="150000"/>
              </a:lnSpc>
            </a:pPr>
            <a:r>
              <a:rPr lang="en-US" sz="2400" dirty="0">
                <a:latin typeface="Calibri" panose="020F0502020204030204" pitchFamily="34" charset="0"/>
                <a:ea typeface="Times New Roman" panose="02020603050405020304" pitchFamily="18" charset="0"/>
                <a:cs typeface="Vrinda" panose="020B0502040204020203" pitchFamily="34" charset="0"/>
              </a:rPr>
              <a:t>These are the polymers in which the monomer units are linked to one another to form long linear chains. These linear chains are closely packed in space. The close packing results in high densities, tensile strength and high melting and boiling points.</a:t>
            </a:r>
            <a:endParaRPr lang="en-US" sz="2400" dirty="0">
              <a:effectLst/>
              <a:latin typeface="Calibri" panose="020F0502020204030204" pitchFamily="34" charset="0"/>
              <a:ea typeface="Times New Roman" panose="02020603050405020304" pitchFamily="18" charset="0"/>
              <a:cs typeface="Vrinda" panose="020B0502040204020203" pitchFamily="34" charset="0"/>
            </a:endParaRPr>
          </a:p>
          <a:p>
            <a:r>
              <a:rPr lang="en-US" sz="2400" dirty="0">
                <a:latin typeface="Calibri" panose="020F0502020204030204" pitchFamily="34" charset="0"/>
                <a:ea typeface="Times New Roman" panose="02020603050405020304" pitchFamily="18" charset="0"/>
                <a:cs typeface="Vrinda" panose="020B0502040204020203" pitchFamily="34" charset="0"/>
              </a:rPr>
              <a:t> </a:t>
            </a:r>
          </a:p>
          <a:p>
            <a:r>
              <a:rPr lang="en-US" sz="2400" b="1" dirty="0">
                <a:latin typeface="Calibri" panose="020F0502020204030204" pitchFamily="34" charset="0"/>
                <a:ea typeface="Times New Roman" panose="02020603050405020304" pitchFamily="18" charset="0"/>
                <a:cs typeface="Vrinda" panose="020B0502040204020203" pitchFamily="34" charset="0"/>
              </a:rPr>
              <a:t>Example</a:t>
            </a:r>
            <a:r>
              <a:rPr lang="en-US" sz="2400" dirty="0">
                <a:latin typeface="Calibri" panose="020F0502020204030204" pitchFamily="34" charset="0"/>
                <a:ea typeface="Times New Roman" panose="02020603050405020304" pitchFamily="18" charset="0"/>
                <a:cs typeface="Vrinda" panose="020B0502040204020203" pitchFamily="34" charset="0"/>
              </a:rPr>
              <a:t>: high density </a:t>
            </a:r>
            <a:r>
              <a:rPr lang="en-US" sz="2400" dirty="0" err="1">
                <a:latin typeface="Calibri" panose="020F0502020204030204" pitchFamily="34" charset="0"/>
                <a:ea typeface="Times New Roman" panose="02020603050405020304" pitchFamily="18" charset="0"/>
                <a:cs typeface="Vrinda" panose="020B0502040204020203" pitchFamily="34" charset="0"/>
              </a:rPr>
              <a:t>polyethene</a:t>
            </a:r>
            <a:r>
              <a:rPr lang="en-US" sz="2400" dirty="0">
                <a:latin typeface="Calibri" panose="020F0502020204030204" pitchFamily="34" charset="0"/>
                <a:ea typeface="Times New Roman" panose="02020603050405020304" pitchFamily="18" charset="0"/>
                <a:cs typeface="Vrinda" panose="020B0502040204020203" pitchFamily="34" charset="0"/>
              </a:rPr>
              <a:t>, nylon and polyesters are linear polymers</a:t>
            </a:r>
            <a:endParaRPr lang="en-US" sz="2400" dirty="0"/>
          </a:p>
        </p:txBody>
      </p:sp>
    </p:spTree>
    <p:extLst>
      <p:ext uri="{BB962C8B-B14F-4D97-AF65-F5344CB8AC3E}">
        <p14:creationId xmlns:p14="http://schemas.microsoft.com/office/powerpoint/2010/main" val="35999169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76518"/>
            <a:ext cx="10502153" cy="7017306"/>
          </a:xfrm>
          <a:prstGeom prst="rect">
            <a:avLst/>
          </a:prstGeom>
        </p:spPr>
        <p:txBody>
          <a:bodyPr wrap="square">
            <a:spAutoFit/>
          </a:bodyPr>
          <a:lstStyle/>
          <a:p>
            <a:pPr>
              <a:lnSpc>
                <a:spcPct val="150000"/>
              </a:lnSpc>
            </a:pPr>
            <a:r>
              <a:rPr lang="en-US" sz="2800" b="1" dirty="0">
                <a:latin typeface="Calibri" panose="020F0502020204030204" pitchFamily="34" charset="0"/>
                <a:ea typeface="Times New Roman" panose="02020603050405020304" pitchFamily="18" charset="0"/>
                <a:cs typeface="Vrinda" panose="020B0502040204020203" pitchFamily="34" charset="0"/>
              </a:rPr>
              <a:t>Branched chain polymers;</a:t>
            </a:r>
            <a:endParaRPr lang="en-US" sz="2800" dirty="0">
              <a:effectLst/>
              <a:latin typeface="Calibri" panose="020F0502020204030204" pitchFamily="34" charset="0"/>
              <a:ea typeface="Times New Roman" panose="02020603050405020304" pitchFamily="18" charset="0"/>
              <a:cs typeface="Vrinda" panose="020B0502040204020203" pitchFamily="34" charset="0"/>
            </a:endParaRPr>
          </a:p>
          <a:p>
            <a:pPr algn="just">
              <a:lnSpc>
                <a:spcPct val="150000"/>
              </a:lnSpc>
            </a:pPr>
            <a:r>
              <a:rPr lang="en-US" sz="2800" dirty="0">
                <a:latin typeface="Calibri" panose="020F0502020204030204" pitchFamily="34" charset="0"/>
                <a:ea typeface="Times New Roman" panose="02020603050405020304" pitchFamily="18" charset="0"/>
                <a:cs typeface="Vrinda" panose="020B0502040204020203" pitchFamily="34" charset="0"/>
              </a:rPr>
              <a:t> In such polymers, the monomer units are linked to form long chains with some branched chains of different lengths with source. As a result of branching , </a:t>
            </a:r>
          </a:p>
          <a:p>
            <a:pPr algn="just">
              <a:lnSpc>
                <a:spcPct val="150000"/>
              </a:lnSpc>
            </a:pPr>
            <a:r>
              <a:rPr lang="en-US" sz="2800" dirty="0">
                <a:latin typeface="Calibri" panose="020F0502020204030204" pitchFamily="34" charset="0"/>
                <a:ea typeface="Times New Roman" panose="02020603050405020304" pitchFamily="18" charset="0"/>
                <a:cs typeface="Vrinda" panose="020B0502040204020203" pitchFamily="34" charset="0"/>
              </a:rPr>
              <a:t>O they have low densities,</a:t>
            </a:r>
          </a:p>
          <a:p>
            <a:pPr algn="just">
              <a:lnSpc>
                <a:spcPct val="150000"/>
              </a:lnSpc>
            </a:pPr>
            <a:r>
              <a:rPr lang="en-US" sz="2800" dirty="0">
                <a:latin typeface="Calibri" panose="020F0502020204030204" pitchFamily="34" charset="0"/>
                <a:ea typeface="Times New Roman" panose="02020603050405020304" pitchFamily="18" charset="0"/>
                <a:cs typeface="Vrinda" panose="020B0502040204020203" pitchFamily="34" charset="0"/>
              </a:rPr>
              <a:t>O  low tensile strength </a:t>
            </a:r>
          </a:p>
          <a:p>
            <a:pPr algn="just">
              <a:lnSpc>
                <a:spcPct val="150000"/>
              </a:lnSpc>
            </a:pPr>
            <a:r>
              <a:rPr lang="en-US" sz="2800" dirty="0">
                <a:latin typeface="Calibri" panose="020F0502020204030204" pitchFamily="34" charset="0"/>
                <a:ea typeface="Times New Roman" panose="02020603050405020304" pitchFamily="18" charset="0"/>
                <a:cs typeface="Vrinda" panose="020B0502040204020203" pitchFamily="34" charset="0"/>
              </a:rPr>
              <a:t>O as well as low melting and boiling points. </a:t>
            </a:r>
            <a:endParaRPr lang="en-US" sz="2800" dirty="0">
              <a:effectLst/>
              <a:latin typeface="Calibri" panose="020F0502020204030204" pitchFamily="34" charset="0"/>
              <a:ea typeface="Times New Roman" panose="02020603050405020304" pitchFamily="18" charset="0"/>
              <a:cs typeface="Vrinda" panose="020B0502040204020203" pitchFamily="34" charset="0"/>
            </a:endParaRPr>
          </a:p>
          <a:p>
            <a:pPr algn="just">
              <a:lnSpc>
                <a:spcPct val="150000"/>
              </a:lnSpc>
            </a:pPr>
            <a:endParaRPr lang="en-US" sz="2800" dirty="0">
              <a:latin typeface="Calibri" panose="020F0502020204030204" pitchFamily="34" charset="0"/>
              <a:ea typeface="Times New Roman" panose="02020603050405020304" pitchFamily="18" charset="0"/>
              <a:cs typeface="Vrinda" panose="020B0502040204020203" pitchFamily="34" charset="0"/>
            </a:endParaRPr>
          </a:p>
          <a:p>
            <a:pPr algn="just">
              <a:lnSpc>
                <a:spcPct val="150000"/>
              </a:lnSpc>
            </a:pPr>
            <a:r>
              <a:rPr lang="en-US" sz="2800" dirty="0">
                <a:latin typeface="Calibri" panose="020F0502020204030204" pitchFamily="34" charset="0"/>
                <a:ea typeface="Times New Roman" panose="02020603050405020304" pitchFamily="18" charset="0"/>
                <a:cs typeface="Vrinda" panose="020B0502040204020203" pitchFamily="34" charset="0"/>
              </a:rPr>
              <a:t>Some common examples of such polymers are low density </a:t>
            </a:r>
            <a:r>
              <a:rPr lang="en-US" sz="2800" dirty="0" err="1">
                <a:latin typeface="Calibri" panose="020F0502020204030204" pitchFamily="34" charset="0"/>
                <a:ea typeface="Times New Roman" panose="02020603050405020304" pitchFamily="18" charset="0"/>
                <a:cs typeface="Vrinda" panose="020B0502040204020203" pitchFamily="34" charset="0"/>
              </a:rPr>
              <a:t>polyethene</a:t>
            </a:r>
            <a:r>
              <a:rPr lang="en-US" sz="2800" dirty="0">
                <a:latin typeface="Calibri" panose="020F0502020204030204" pitchFamily="34" charset="0"/>
                <a:ea typeface="Times New Roman" panose="02020603050405020304" pitchFamily="18" charset="0"/>
                <a:cs typeface="Vrinda" panose="020B0502040204020203" pitchFamily="34" charset="0"/>
              </a:rPr>
              <a:t>, starch, glycogen etc.</a:t>
            </a:r>
            <a:endParaRPr lang="en-US" sz="2800" dirty="0">
              <a:effectLst/>
              <a:latin typeface="Calibri" panose="020F0502020204030204" pitchFamily="34" charset="0"/>
              <a:ea typeface="Times New Roman" panose="02020603050405020304" pitchFamily="18" charset="0"/>
              <a:cs typeface="Vrinda" panose="020B0502040204020203" pitchFamily="34" charset="0"/>
            </a:endParaRPr>
          </a:p>
          <a:p>
            <a:pPr>
              <a:lnSpc>
                <a:spcPct val="150000"/>
              </a:lnSpc>
            </a:pPr>
            <a:r>
              <a:rPr lang="en-US" sz="2000" dirty="0">
                <a:latin typeface="Calibri" panose="020F0502020204030204" pitchFamily="34" charset="0"/>
                <a:ea typeface="Times New Roman" panose="02020603050405020304" pitchFamily="18" charset="0"/>
                <a:cs typeface="Vrinda" panose="020B0502040204020203" pitchFamily="34" charset="0"/>
              </a:rPr>
              <a:t> </a:t>
            </a:r>
            <a:endParaRPr lang="en-US" sz="2000" dirty="0">
              <a:effectLst/>
              <a:latin typeface="Calibri" panose="020F0502020204030204" pitchFamily="34" charset="0"/>
              <a:ea typeface="Times New Roman" panose="02020603050405020304" pitchFamily="18" charset="0"/>
              <a:cs typeface="Vrinda" panose="020B0502040204020203" pitchFamily="34" charset="0"/>
            </a:endParaRPr>
          </a:p>
        </p:txBody>
      </p:sp>
    </p:spTree>
    <p:extLst>
      <p:ext uri="{BB962C8B-B14F-4D97-AF65-F5344CB8AC3E}">
        <p14:creationId xmlns:p14="http://schemas.microsoft.com/office/powerpoint/2010/main" val="5025363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452281" y="1277470"/>
            <a:ext cx="8928847" cy="3970318"/>
          </a:xfrm>
          <a:prstGeom prst="rect">
            <a:avLst/>
          </a:prstGeom>
        </p:spPr>
        <p:txBody>
          <a:bodyPr wrap="square">
            <a:spAutoFit/>
          </a:bodyPr>
          <a:lstStyle/>
          <a:p>
            <a:pPr algn="just"/>
            <a:r>
              <a:rPr lang="en-US" sz="2800" dirty="0">
                <a:solidFill>
                  <a:srgbClr val="444444"/>
                </a:solidFill>
                <a:latin typeface="Open Sans"/>
              </a:rPr>
              <a:t>Branching of polymers occurs by replacing some atoms from the polymer chain by substituents. </a:t>
            </a:r>
          </a:p>
          <a:p>
            <a:pPr algn="just"/>
            <a:endParaRPr lang="en-US" sz="2800" dirty="0">
              <a:solidFill>
                <a:srgbClr val="444444"/>
              </a:solidFill>
              <a:latin typeface="Open Sans"/>
            </a:endParaRPr>
          </a:p>
          <a:p>
            <a:pPr algn="just"/>
            <a:r>
              <a:rPr lang="en-US" sz="2800" dirty="0">
                <a:solidFill>
                  <a:srgbClr val="444444"/>
                </a:solidFill>
                <a:latin typeface="Open Sans"/>
              </a:rPr>
              <a:t>The properties of these polymers are mainly affected by the amount of branching. </a:t>
            </a:r>
          </a:p>
          <a:p>
            <a:pPr algn="just"/>
            <a:endParaRPr lang="en-US" sz="2800" dirty="0">
              <a:solidFill>
                <a:srgbClr val="444444"/>
              </a:solidFill>
              <a:latin typeface="Open Sans"/>
            </a:endParaRPr>
          </a:p>
          <a:p>
            <a:pPr algn="just"/>
            <a:r>
              <a:rPr lang="en-US" sz="2800" dirty="0">
                <a:solidFill>
                  <a:srgbClr val="444444"/>
                </a:solidFill>
                <a:latin typeface="Open Sans"/>
              </a:rPr>
              <a:t>The substituent is another polymer chain composed of covalently bonded monomer units.  These side chains can be either short chains or long chains.</a:t>
            </a:r>
            <a:endParaRPr lang="en-US" sz="2800" dirty="0"/>
          </a:p>
        </p:txBody>
      </p:sp>
    </p:spTree>
    <p:extLst>
      <p:ext uri="{BB962C8B-B14F-4D97-AF65-F5344CB8AC3E}">
        <p14:creationId xmlns:p14="http://schemas.microsoft.com/office/powerpoint/2010/main" val="33305477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54741" y="2218764"/>
            <a:ext cx="9090212" cy="3785652"/>
          </a:xfrm>
          <a:prstGeom prst="rect">
            <a:avLst/>
          </a:prstGeom>
        </p:spPr>
        <p:txBody>
          <a:bodyPr wrap="square">
            <a:spAutoFit/>
          </a:bodyPr>
          <a:lstStyle/>
          <a:p>
            <a:pPr fontAlgn="base"/>
            <a:r>
              <a:rPr lang="en-US" sz="2400" b="1" dirty="0">
                <a:solidFill>
                  <a:srgbClr val="000000"/>
                </a:solidFill>
                <a:latin typeface="Open Sans"/>
              </a:rPr>
              <a:t>Comb Polymer</a:t>
            </a:r>
            <a:endParaRPr lang="en-US" sz="2400" dirty="0">
              <a:solidFill>
                <a:srgbClr val="000000"/>
              </a:solidFill>
              <a:latin typeface="Open Sans"/>
            </a:endParaRPr>
          </a:p>
          <a:p>
            <a:pPr algn="just" fontAlgn="base"/>
            <a:r>
              <a:rPr lang="en-US" sz="2400" dirty="0">
                <a:solidFill>
                  <a:srgbClr val="444444"/>
                </a:solidFill>
                <a:latin typeface="Open Sans"/>
              </a:rPr>
              <a:t>According to the IUPAC gold book, a comb polymer is a polymer composed of comb macromolecules. In other words, it is composed of side chains on the same side of the backbone, and the polymer then appears like a comb.</a:t>
            </a:r>
          </a:p>
          <a:p>
            <a:pPr fontAlgn="base"/>
            <a:r>
              <a:rPr lang="en-US" sz="2400" b="1" dirty="0">
                <a:solidFill>
                  <a:srgbClr val="444444"/>
                </a:solidFill>
                <a:latin typeface="Open Sans"/>
              </a:rPr>
              <a:t>Brush Polymer</a:t>
            </a:r>
            <a:endParaRPr lang="en-US" sz="2400" dirty="0">
              <a:solidFill>
                <a:srgbClr val="444444"/>
              </a:solidFill>
              <a:latin typeface="Open Sans"/>
            </a:endParaRPr>
          </a:p>
          <a:p>
            <a:pPr algn="just" fontAlgn="base"/>
            <a:r>
              <a:rPr lang="en-US" sz="2400" dirty="0">
                <a:solidFill>
                  <a:srgbClr val="444444"/>
                </a:solidFill>
                <a:latin typeface="Open Sans"/>
              </a:rPr>
              <a:t>This form of polymers looks like a brush where the backbone is substituted with side chains from different points. The density is high in these polymers.</a:t>
            </a:r>
          </a:p>
          <a:p>
            <a:pPr fontAlgn="base"/>
            <a:r>
              <a:rPr lang="en-US" sz="2400" b="1" dirty="0">
                <a:solidFill>
                  <a:srgbClr val="444444"/>
                </a:solidFill>
                <a:latin typeface="Open Sans"/>
              </a:rPr>
              <a:t>Star-shaped Polymer</a:t>
            </a:r>
            <a:endParaRPr lang="en-US" sz="2400" b="0" i="0" dirty="0">
              <a:solidFill>
                <a:srgbClr val="444444"/>
              </a:solidFill>
              <a:effectLst/>
              <a:latin typeface="Open Sans"/>
            </a:endParaRPr>
          </a:p>
        </p:txBody>
      </p:sp>
      <p:sp>
        <p:nvSpPr>
          <p:cNvPr id="4" name="Rectangle 3"/>
          <p:cNvSpPr/>
          <p:nvPr/>
        </p:nvSpPr>
        <p:spPr>
          <a:xfrm>
            <a:off x="954741" y="1000393"/>
            <a:ext cx="7600157" cy="584775"/>
          </a:xfrm>
          <a:prstGeom prst="rect">
            <a:avLst/>
          </a:prstGeom>
        </p:spPr>
        <p:txBody>
          <a:bodyPr wrap="none">
            <a:spAutoFit/>
          </a:bodyPr>
          <a:lstStyle/>
          <a:p>
            <a:pPr fontAlgn="base"/>
            <a:r>
              <a:rPr lang="en-US" sz="3200" b="1" dirty="0">
                <a:latin typeface="Open Sans"/>
              </a:rPr>
              <a:t>Different Types of Branched Polymers</a:t>
            </a:r>
            <a:endParaRPr lang="en-US" sz="3200" b="1" i="0" dirty="0">
              <a:effectLst/>
              <a:latin typeface="Open Sans"/>
            </a:endParaRPr>
          </a:p>
        </p:txBody>
      </p:sp>
    </p:spTree>
    <p:extLst>
      <p:ext uri="{BB962C8B-B14F-4D97-AF65-F5344CB8AC3E}">
        <p14:creationId xmlns:p14="http://schemas.microsoft.com/office/powerpoint/2010/main" val="24663792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flipV="1">
            <a:off x="2794043" y="2141094"/>
            <a:ext cx="10577400" cy="98488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panose="020B0604020202020204" pitchFamily="34" charset="0"/>
              </a:rPr>
              <a:t/>
            </a:r>
            <a:br>
              <a:rPr kumimoji="0" lang="en-US" sz="1800" b="0" i="0" u="none" strike="noStrike" cap="none" normalizeH="0" baseline="0">
                <a:ln>
                  <a:noFill/>
                </a:ln>
                <a:solidFill>
                  <a:schemeClr val="tx1"/>
                </a:solidFill>
                <a:effectLst/>
                <a:latin typeface="Arial" panose="020B0604020202020204" pitchFamily="34" charset="0"/>
              </a:rPr>
            </a:br>
            <a:r>
              <a:rPr kumimoji="0" lang="en-US" sz="1800" b="0" i="0" u="none" strike="noStrike" cap="none" normalizeH="0" baseline="0">
                <a:ln>
                  <a:noFill/>
                </a:ln>
                <a:solidFill>
                  <a:schemeClr val="tx1"/>
                </a:solidFill>
                <a:effectLst/>
                <a:latin typeface="Arial" panose="020B0604020202020204" pitchFamily="34" charset="0"/>
              </a:rPr>
              <a:t>  </a:t>
            </a:r>
            <a:endParaRPr kumimoji="0" lang="en-US" sz="102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000" b="1" i="1" u="none" strike="noStrike" cap="none" normalizeH="0" baseline="0">
                <a:ln>
                  <a:noFill/>
                </a:ln>
                <a:solidFill>
                  <a:srgbClr val="9B9B9B"/>
                </a:solidFill>
                <a:effectLst/>
                <a:latin typeface="Open Sans"/>
              </a:rPr>
              <a:t>Figure</a:t>
            </a:r>
            <a:endParaRPr kumimoji="0" 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ndParaRPr>
          </a:p>
        </p:txBody>
      </p:sp>
      <p:pic>
        <p:nvPicPr>
          <p:cNvPr id="2050" name="Picture 2" descr="Main Difference - Branched Polymer vs Linear Polymer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8069" y="2613653"/>
            <a:ext cx="7181631" cy="2196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95257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89212" y="228601"/>
            <a:ext cx="8095129" cy="4616648"/>
          </a:xfrm>
          <a:prstGeom prst="rect">
            <a:avLst/>
          </a:prstGeom>
        </p:spPr>
        <p:txBody>
          <a:bodyPr wrap="square">
            <a:spAutoFit/>
          </a:bodyPr>
          <a:lstStyle/>
          <a:p>
            <a:pPr>
              <a:lnSpc>
                <a:spcPct val="150000"/>
              </a:lnSpc>
            </a:pPr>
            <a:r>
              <a:rPr lang="en-US" sz="2800" b="1" dirty="0" err="1">
                <a:latin typeface="Calibri" panose="020F0502020204030204" pitchFamily="34" charset="0"/>
                <a:ea typeface="Times New Roman" panose="02020603050405020304" pitchFamily="18" charset="0"/>
                <a:cs typeface="Vrinda" panose="020B0502040204020203" pitchFamily="34" charset="0"/>
              </a:rPr>
              <a:t>Crosslinked</a:t>
            </a:r>
            <a:r>
              <a:rPr lang="en-US" sz="2800" b="1" dirty="0">
                <a:latin typeface="Calibri" panose="020F0502020204030204" pitchFamily="34" charset="0"/>
                <a:ea typeface="Times New Roman" panose="02020603050405020304" pitchFamily="18" charset="0"/>
                <a:cs typeface="Vrinda" panose="020B0502040204020203" pitchFamily="34" charset="0"/>
              </a:rPr>
              <a:t> polymers</a:t>
            </a:r>
            <a:r>
              <a:rPr lang="en-US" sz="2800" dirty="0">
                <a:latin typeface="Calibri" panose="020F0502020204030204" pitchFamily="34" charset="0"/>
                <a:ea typeface="Times New Roman" panose="02020603050405020304" pitchFamily="18" charset="0"/>
                <a:cs typeface="Vrinda" panose="020B0502040204020203" pitchFamily="34" charset="0"/>
              </a:rPr>
              <a:t>, </a:t>
            </a:r>
            <a:endParaRPr lang="en-US" sz="2800" dirty="0">
              <a:effectLst/>
              <a:latin typeface="Calibri" panose="020F0502020204030204" pitchFamily="34" charset="0"/>
              <a:ea typeface="Times New Roman" panose="02020603050405020304" pitchFamily="18" charset="0"/>
              <a:cs typeface="Vrinda" panose="020B0502040204020203" pitchFamily="34" charset="0"/>
            </a:endParaRPr>
          </a:p>
          <a:p>
            <a:pPr>
              <a:lnSpc>
                <a:spcPct val="150000"/>
              </a:lnSpc>
            </a:pPr>
            <a:r>
              <a:rPr lang="en-US" sz="2400" dirty="0">
                <a:latin typeface="Calibri" panose="020F0502020204030204" pitchFamily="34" charset="0"/>
                <a:ea typeface="Times New Roman" panose="02020603050405020304" pitchFamily="18" charset="0"/>
                <a:cs typeface="Vrinda" panose="020B0502040204020203" pitchFamily="34" charset="0"/>
              </a:rPr>
              <a:t> </a:t>
            </a:r>
            <a:r>
              <a:rPr lang="en-US" sz="2800" dirty="0">
                <a:latin typeface="Calibri" panose="020F0502020204030204" pitchFamily="34" charset="0"/>
                <a:ea typeface="Times New Roman" panose="02020603050405020304" pitchFamily="18" charset="0"/>
                <a:cs typeface="Vrinda" panose="020B0502040204020203" pitchFamily="34" charset="0"/>
              </a:rPr>
              <a:t>In such polymers, the monomer units are linked together to form three dimensional network. These are expected to be quite hard, rigid and brittle. </a:t>
            </a:r>
            <a:endParaRPr lang="en-US" sz="2800" dirty="0">
              <a:effectLst/>
              <a:latin typeface="Calibri" panose="020F0502020204030204" pitchFamily="34" charset="0"/>
              <a:ea typeface="Times New Roman" panose="02020603050405020304" pitchFamily="18" charset="0"/>
              <a:cs typeface="Vrinda" panose="020B0502040204020203" pitchFamily="34" charset="0"/>
            </a:endParaRPr>
          </a:p>
          <a:p>
            <a:pPr>
              <a:lnSpc>
                <a:spcPct val="150000"/>
              </a:lnSpc>
            </a:pPr>
            <a:endParaRPr lang="en-US" sz="2800" dirty="0">
              <a:latin typeface="Calibri" panose="020F0502020204030204" pitchFamily="34" charset="0"/>
              <a:ea typeface="Times New Roman" panose="02020603050405020304" pitchFamily="18" charset="0"/>
              <a:cs typeface="Vrinda" panose="020B0502040204020203" pitchFamily="34" charset="0"/>
            </a:endParaRPr>
          </a:p>
          <a:p>
            <a:pPr>
              <a:lnSpc>
                <a:spcPct val="150000"/>
              </a:lnSpc>
            </a:pPr>
            <a:r>
              <a:rPr lang="en-US" sz="2800" dirty="0">
                <a:latin typeface="Calibri" panose="020F0502020204030204" pitchFamily="34" charset="0"/>
                <a:ea typeface="Times New Roman" panose="02020603050405020304" pitchFamily="18" charset="0"/>
                <a:cs typeface="Vrinda" panose="020B0502040204020203" pitchFamily="34" charset="0"/>
              </a:rPr>
              <a:t>Examples of cross linked polymers are </a:t>
            </a:r>
            <a:r>
              <a:rPr lang="en-US" sz="2800" dirty="0" err="1">
                <a:latin typeface="Calibri" panose="020F0502020204030204" pitchFamily="34" charset="0"/>
                <a:ea typeface="Times New Roman" panose="02020603050405020304" pitchFamily="18" charset="0"/>
                <a:cs typeface="Vrinda" panose="020B0502040204020203" pitchFamily="34" charset="0"/>
              </a:rPr>
              <a:t>bakelite</a:t>
            </a:r>
            <a:r>
              <a:rPr lang="en-US" sz="2800" dirty="0">
                <a:latin typeface="Calibri" panose="020F0502020204030204" pitchFamily="34" charset="0"/>
                <a:ea typeface="Times New Roman" panose="02020603050405020304" pitchFamily="18" charset="0"/>
                <a:cs typeface="Vrinda" panose="020B0502040204020203" pitchFamily="34" charset="0"/>
              </a:rPr>
              <a:t>, melamine-formaldehyde polymer etc.</a:t>
            </a:r>
            <a:endParaRPr lang="en-US" sz="2800" dirty="0">
              <a:effectLst/>
              <a:latin typeface="Calibri" panose="020F0502020204030204" pitchFamily="34" charset="0"/>
              <a:ea typeface="Times New Roman" panose="02020603050405020304" pitchFamily="18" charset="0"/>
              <a:cs typeface="Vrinda" panose="020B0502040204020203" pitchFamily="34" charset="0"/>
            </a:endParaRPr>
          </a:p>
        </p:txBody>
      </p:sp>
    </p:spTree>
    <p:extLst>
      <p:ext uri="{BB962C8B-B14F-4D97-AF65-F5344CB8AC3E}">
        <p14:creationId xmlns:p14="http://schemas.microsoft.com/office/powerpoint/2010/main" val="39526134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1613647" y="188259"/>
            <a:ext cx="8888506" cy="6131859"/>
          </a:xfrm>
          <a:prstGeom prst="rect">
            <a:avLst/>
          </a:prstGeom>
        </p:spPr>
      </p:pic>
    </p:spTree>
    <p:extLst>
      <p:ext uri="{BB962C8B-B14F-4D97-AF65-F5344CB8AC3E}">
        <p14:creationId xmlns:p14="http://schemas.microsoft.com/office/powerpoint/2010/main" val="7689504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48719" y="403412"/>
            <a:ext cx="8829952" cy="5724644"/>
          </a:xfrm>
          <a:prstGeom prst="rect">
            <a:avLst/>
          </a:prstGeom>
        </p:spPr>
        <p:txBody>
          <a:bodyPr wrap="square">
            <a:spAutoFit/>
          </a:bodyPr>
          <a:lstStyle/>
          <a:p>
            <a:pPr algn="just">
              <a:lnSpc>
                <a:spcPct val="150000"/>
              </a:lnSpc>
            </a:pPr>
            <a:r>
              <a:rPr lang="en-US" sz="2800" b="1" dirty="0">
                <a:latin typeface="Calibri" panose="020F0502020204030204" pitchFamily="34" charset="0"/>
                <a:ea typeface="Times New Roman" panose="02020603050405020304" pitchFamily="18" charset="0"/>
                <a:cs typeface="Vrinda" panose="020B0502040204020203" pitchFamily="34" charset="0"/>
              </a:rPr>
              <a:t>  On the basis of </a:t>
            </a:r>
            <a:r>
              <a:rPr lang="en-US" sz="2800" b="1" dirty="0" err="1">
                <a:latin typeface="Calibri" panose="020F0502020204030204" pitchFamily="34" charset="0"/>
                <a:ea typeface="Times New Roman" panose="02020603050405020304" pitchFamily="18" charset="0"/>
                <a:cs typeface="Vrinda" panose="020B0502040204020203" pitchFamily="34" charset="0"/>
              </a:rPr>
              <a:t>Polymerisation</a:t>
            </a:r>
            <a:endParaRPr lang="en-US" sz="2800" dirty="0">
              <a:latin typeface="Calibri" panose="020F0502020204030204" pitchFamily="34" charset="0"/>
              <a:ea typeface="Times New Roman" panose="02020603050405020304" pitchFamily="18" charset="0"/>
              <a:cs typeface="Vrinda" panose="020B0502040204020203" pitchFamily="34" charset="0"/>
            </a:endParaRPr>
          </a:p>
          <a:p>
            <a:pPr algn="just">
              <a:lnSpc>
                <a:spcPct val="150000"/>
              </a:lnSpc>
            </a:pPr>
            <a:r>
              <a:rPr lang="en-US" sz="2400" b="1" dirty="0">
                <a:latin typeface="Calibri" panose="020F0502020204030204" pitchFamily="34" charset="0"/>
                <a:ea typeface="Times New Roman" panose="02020603050405020304" pitchFamily="18" charset="0"/>
                <a:cs typeface="Vrinda" panose="020B0502040204020203" pitchFamily="34" charset="0"/>
              </a:rPr>
              <a:t>Addition polymers;</a:t>
            </a:r>
          </a:p>
          <a:p>
            <a:pPr marL="733425" marR="0" algn="just">
              <a:lnSpc>
                <a:spcPct val="150000"/>
              </a:lnSpc>
              <a:spcBef>
                <a:spcPts val="0"/>
              </a:spcBef>
              <a:spcAft>
                <a:spcPts val="0"/>
              </a:spcAft>
            </a:pPr>
            <a:r>
              <a:rPr lang="en-US" sz="2400" dirty="0">
                <a:latin typeface="Calibri" panose="020F0502020204030204" pitchFamily="34" charset="0"/>
                <a:ea typeface="Times New Roman" panose="02020603050405020304" pitchFamily="18" charset="0"/>
                <a:cs typeface="Vrinda" panose="020B0502040204020203" pitchFamily="34" charset="0"/>
              </a:rPr>
              <a:t> The polymers formed by the </a:t>
            </a:r>
            <a:r>
              <a:rPr lang="en-US" sz="2400" dirty="0" err="1">
                <a:latin typeface="Calibri" panose="020F0502020204030204" pitchFamily="34" charset="0"/>
                <a:ea typeface="Times New Roman" panose="02020603050405020304" pitchFamily="18" charset="0"/>
                <a:cs typeface="Vrinda" panose="020B0502040204020203" pitchFamily="34" charset="0"/>
              </a:rPr>
              <a:t>polymerisation</a:t>
            </a:r>
            <a:r>
              <a:rPr lang="en-US" sz="2400" dirty="0">
                <a:latin typeface="Calibri" panose="020F0502020204030204" pitchFamily="34" charset="0"/>
                <a:ea typeface="Times New Roman" panose="02020603050405020304" pitchFamily="18" charset="0"/>
                <a:cs typeface="Vrinda" panose="020B0502040204020203" pitchFamily="34" charset="0"/>
              </a:rPr>
              <a:t> of monomers containing double or triple bonds (unsaturated compounds) are called addition polymers. Addition polymers have the same empirical formula as their monomers. </a:t>
            </a:r>
          </a:p>
          <a:p>
            <a:pPr marL="733425" marR="0" algn="just">
              <a:lnSpc>
                <a:spcPct val="150000"/>
              </a:lnSpc>
              <a:spcBef>
                <a:spcPts val="0"/>
              </a:spcBef>
              <a:spcAft>
                <a:spcPts val="0"/>
              </a:spcAft>
            </a:pPr>
            <a:endParaRPr lang="en-US" sz="2400" dirty="0">
              <a:latin typeface="Calibri" panose="020F0502020204030204" pitchFamily="34" charset="0"/>
              <a:ea typeface="Times New Roman" panose="02020603050405020304" pitchFamily="18" charset="0"/>
              <a:cs typeface="Vrinda" panose="020B0502040204020203" pitchFamily="34" charset="0"/>
            </a:endParaRPr>
          </a:p>
          <a:p>
            <a:pPr marL="733425" marR="0" algn="just">
              <a:lnSpc>
                <a:spcPct val="150000"/>
              </a:lnSpc>
              <a:spcBef>
                <a:spcPts val="0"/>
              </a:spcBef>
              <a:spcAft>
                <a:spcPts val="0"/>
              </a:spcAft>
            </a:pPr>
            <a:r>
              <a:rPr lang="en-US" sz="2400" dirty="0">
                <a:latin typeface="Calibri" panose="020F0502020204030204" pitchFamily="34" charset="0"/>
                <a:ea typeface="Times New Roman" panose="02020603050405020304" pitchFamily="18" charset="0"/>
                <a:cs typeface="Vrinda" panose="020B0502040204020203" pitchFamily="34" charset="0"/>
              </a:rPr>
              <a:t>Addition polymers can further be classified on the basis of the types of monomers into the following two classes</a:t>
            </a:r>
          </a:p>
          <a:p>
            <a:pPr marL="733425" marR="0" algn="just">
              <a:lnSpc>
                <a:spcPct val="150000"/>
              </a:lnSpc>
              <a:spcBef>
                <a:spcPts val="0"/>
              </a:spcBef>
              <a:spcAft>
                <a:spcPts val="0"/>
              </a:spcAft>
            </a:pPr>
            <a:r>
              <a:rPr lang="en-US" sz="2400" dirty="0">
                <a:latin typeface="Calibri" panose="020F0502020204030204" pitchFamily="34" charset="0"/>
                <a:ea typeface="Times New Roman" panose="02020603050405020304" pitchFamily="18" charset="0"/>
                <a:cs typeface="Vrinda" panose="020B0502040204020203" pitchFamily="34" charset="0"/>
              </a:rPr>
              <a:t> </a:t>
            </a:r>
          </a:p>
        </p:txBody>
      </p:sp>
    </p:spTree>
    <p:extLst>
      <p:ext uri="{BB962C8B-B14F-4D97-AF65-F5344CB8AC3E}">
        <p14:creationId xmlns:p14="http://schemas.microsoft.com/office/powerpoint/2010/main" val="18765353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00953" y="0"/>
            <a:ext cx="8243047" cy="2708434"/>
          </a:xfrm>
          <a:prstGeom prst="rect">
            <a:avLst/>
          </a:prstGeom>
        </p:spPr>
        <p:txBody>
          <a:bodyPr wrap="square">
            <a:spAutoFit/>
          </a:bodyPr>
          <a:lstStyle/>
          <a:p>
            <a:pPr marL="733425" marR="0" algn="just">
              <a:lnSpc>
                <a:spcPct val="150000"/>
              </a:lnSpc>
              <a:spcBef>
                <a:spcPts val="0"/>
              </a:spcBef>
              <a:spcAft>
                <a:spcPts val="0"/>
              </a:spcAft>
            </a:pPr>
            <a:r>
              <a:rPr lang="en-US" sz="2000" dirty="0">
                <a:latin typeface="Calibri" panose="020F0502020204030204" pitchFamily="34" charset="0"/>
                <a:ea typeface="Times New Roman" panose="02020603050405020304" pitchFamily="18" charset="0"/>
                <a:cs typeface="Vrinda" panose="020B0502040204020203" pitchFamily="34" charset="0"/>
              </a:rPr>
              <a:t>1.</a:t>
            </a:r>
            <a:r>
              <a:rPr lang="en-US" sz="2000" b="1" dirty="0">
                <a:latin typeface="Calibri" panose="020F0502020204030204" pitchFamily="34" charset="0"/>
                <a:ea typeface="Times New Roman" panose="02020603050405020304" pitchFamily="18" charset="0"/>
                <a:cs typeface="Vrinda" panose="020B0502040204020203" pitchFamily="34" charset="0"/>
              </a:rPr>
              <a:t>Homopolymers</a:t>
            </a:r>
            <a:r>
              <a:rPr lang="en-US" sz="2000" dirty="0">
                <a:latin typeface="Calibri" panose="020F0502020204030204" pitchFamily="34" charset="0"/>
                <a:ea typeface="Times New Roman" panose="02020603050405020304" pitchFamily="18" charset="0"/>
                <a:cs typeface="Vrinda" panose="020B0502040204020203" pitchFamily="34" charset="0"/>
              </a:rPr>
              <a:t>;  The polymers which are obtained by the </a:t>
            </a:r>
            <a:r>
              <a:rPr lang="en-US" sz="2000" dirty="0" err="1">
                <a:latin typeface="Calibri" panose="020F0502020204030204" pitchFamily="34" charset="0"/>
                <a:ea typeface="Times New Roman" panose="02020603050405020304" pitchFamily="18" charset="0"/>
                <a:cs typeface="Vrinda" panose="020B0502040204020203" pitchFamily="34" charset="0"/>
              </a:rPr>
              <a:t>polymerisation</a:t>
            </a:r>
            <a:r>
              <a:rPr lang="en-US" sz="2000" dirty="0">
                <a:latin typeface="Calibri" panose="020F0502020204030204" pitchFamily="34" charset="0"/>
                <a:ea typeface="Times New Roman" panose="02020603050405020304" pitchFamily="18" charset="0"/>
                <a:cs typeface="Vrinda" panose="020B0502040204020203" pitchFamily="34" charset="0"/>
              </a:rPr>
              <a:t> of a single type of monomer are called </a:t>
            </a:r>
            <a:r>
              <a:rPr lang="en-US" sz="2000" dirty="0" err="1">
                <a:latin typeface="Calibri" panose="020F0502020204030204" pitchFamily="34" charset="0"/>
                <a:ea typeface="Times New Roman" panose="02020603050405020304" pitchFamily="18" charset="0"/>
                <a:cs typeface="Vrinda" panose="020B0502040204020203" pitchFamily="34" charset="0"/>
              </a:rPr>
              <a:t>homopolymers</a:t>
            </a:r>
            <a:r>
              <a:rPr lang="en-US" sz="2000" dirty="0">
                <a:latin typeface="Calibri" panose="020F0502020204030204" pitchFamily="34" charset="0"/>
                <a:ea typeface="Times New Roman" panose="02020603050405020304" pitchFamily="18" charset="0"/>
                <a:cs typeface="Vrinda" panose="020B0502040204020203" pitchFamily="34" charset="0"/>
              </a:rPr>
              <a:t>. Copolymers The polymers which are obtained by the </a:t>
            </a:r>
            <a:r>
              <a:rPr lang="en-US" sz="2000" dirty="0" err="1">
                <a:latin typeface="Calibri" panose="020F0502020204030204" pitchFamily="34" charset="0"/>
                <a:ea typeface="Times New Roman" panose="02020603050405020304" pitchFamily="18" charset="0"/>
                <a:cs typeface="Vrinda" panose="020B0502040204020203" pitchFamily="34" charset="0"/>
              </a:rPr>
              <a:t>polymerisation</a:t>
            </a:r>
            <a:r>
              <a:rPr lang="en-US" sz="2000" dirty="0">
                <a:latin typeface="Calibri" panose="020F0502020204030204" pitchFamily="34" charset="0"/>
                <a:ea typeface="Times New Roman" panose="02020603050405020304" pitchFamily="18" charset="0"/>
                <a:cs typeface="Vrinda" panose="020B0502040204020203" pitchFamily="34" charset="0"/>
              </a:rPr>
              <a:t> of two or more monomers are called copolymers</a:t>
            </a:r>
          </a:p>
          <a:p>
            <a:pPr marL="733425" marR="0" algn="just">
              <a:lnSpc>
                <a:spcPct val="150000"/>
              </a:lnSpc>
              <a:spcBef>
                <a:spcPts val="0"/>
              </a:spcBef>
              <a:spcAft>
                <a:spcPts val="0"/>
              </a:spcAft>
            </a:pPr>
            <a:r>
              <a:rPr lang="en-US" sz="2000" dirty="0">
                <a:latin typeface="Calibri" panose="020F0502020204030204" pitchFamily="34" charset="0"/>
                <a:ea typeface="Times New Roman" panose="02020603050405020304" pitchFamily="18" charset="0"/>
                <a:cs typeface="Vrinda" panose="020B0502040204020203" pitchFamily="34" charset="0"/>
              </a:rPr>
              <a:t>I    CH2=CH2              —      (CH2-CH2)n</a:t>
            </a:r>
          </a:p>
          <a:p>
            <a:r>
              <a:rPr lang="en-US" sz="2000" dirty="0">
                <a:latin typeface="Calibri" panose="020F0502020204030204" pitchFamily="34" charset="0"/>
                <a:ea typeface="Times New Roman" panose="02020603050405020304" pitchFamily="18" charset="0"/>
                <a:cs typeface="Vrinda" panose="020B0502040204020203" pitchFamily="34" charset="0"/>
              </a:rPr>
              <a:t>                         ethylene                       polyethylene </a:t>
            </a:r>
            <a:endParaRPr lang="en-US" sz="2000" dirty="0"/>
          </a:p>
        </p:txBody>
      </p:sp>
      <p:sp>
        <p:nvSpPr>
          <p:cNvPr id="3" name="Rectangle 2"/>
          <p:cNvSpPr/>
          <p:nvPr/>
        </p:nvSpPr>
        <p:spPr>
          <a:xfrm>
            <a:off x="748439" y="2708434"/>
            <a:ext cx="8264324" cy="2805063"/>
          </a:xfrm>
          <a:prstGeom prst="rect">
            <a:avLst/>
          </a:prstGeom>
        </p:spPr>
        <p:txBody>
          <a:bodyPr wrap="square">
            <a:spAutoFit/>
          </a:bodyPr>
          <a:lstStyle/>
          <a:p>
            <a:pPr marL="733425" marR="0" algn="just">
              <a:lnSpc>
                <a:spcPct val="150000"/>
              </a:lnSpc>
              <a:spcBef>
                <a:spcPts val="0"/>
              </a:spcBef>
              <a:spcAft>
                <a:spcPts val="0"/>
              </a:spcAft>
            </a:pPr>
            <a:r>
              <a:rPr lang="en-US" sz="2400" dirty="0">
                <a:latin typeface="Calibri" panose="020F0502020204030204" pitchFamily="34" charset="0"/>
                <a:ea typeface="Times New Roman" panose="02020603050405020304" pitchFamily="18" charset="0"/>
                <a:cs typeface="Vrinda" panose="020B0502040204020203" pitchFamily="34" charset="0"/>
              </a:rPr>
              <a:t>2.The polymers which are formed by the combination of monomers with the elimination of small molecules such as water, alcohol, hydrogen chloride etc., are known as condensation polymers, e.g., nylon 6,6 is formed by the condensation of </a:t>
            </a:r>
            <a:r>
              <a:rPr lang="en-US" sz="2400" dirty="0" err="1">
                <a:latin typeface="Calibri" panose="020F0502020204030204" pitchFamily="34" charset="0"/>
                <a:ea typeface="Times New Roman" panose="02020603050405020304" pitchFamily="18" charset="0"/>
                <a:cs typeface="Vrinda" panose="020B0502040204020203" pitchFamily="34" charset="0"/>
              </a:rPr>
              <a:t>hexamethylene</a:t>
            </a:r>
            <a:r>
              <a:rPr lang="en-US" sz="2400" dirty="0">
                <a:latin typeface="Calibri" panose="020F0502020204030204" pitchFamily="34" charset="0"/>
                <a:ea typeface="Times New Roman" panose="02020603050405020304" pitchFamily="18" charset="0"/>
                <a:cs typeface="Vrinda" panose="020B0502040204020203" pitchFamily="34" charset="0"/>
              </a:rPr>
              <a:t> </a:t>
            </a:r>
            <a:r>
              <a:rPr lang="en-US" sz="2400" dirty="0" err="1">
                <a:latin typeface="Calibri" panose="020F0502020204030204" pitchFamily="34" charset="0"/>
                <a:ea typeface="Times New Roman" panose="02020603050405020304" pitchFamily="18" charset="0"/>
                <a:cs typeface="Vrinda" panose="020B0502040204020203" pitchFamily="34" charset="0"/>
              </a:rPr>
              <a:t>diamine</a:t>
            </a:r>
            <a:r>
              <a:rPr lang="en-US" sz="2400" dirty="0">
                <a:latin typeface="Calibri" panose="020F0502020204030204" pitchFamily="34" charset="0"/>
                <a:ea typeface="Times New Roman" panose="02020603050405020304" pitchFamily="18" charset="0"/>
                <a:cs typeface="Vrinda" panose="020B0502040204020203" pitchFamily="34" charset="0"/>
              </a:rPr>
              <a:t> with </a:t>
            </a:r>
            <a:r>
              <a:rPr lang="en-US" sz="2400" dirty="0" err="1">
                <a:latin typeface="Calibri" panose="020F0502020204030204" pitchFamily="34" charset="0"/>
                <a:ea typeface="Times New Roman" panose="02020603050405020304" pitchFamily="18" charset="0"/>
                <a:cs typeface="Vrinda" panose="020B0502040204020203" pitchFamily="34" charset="0"/>
              </a:rPr>
              <a:t>adipic</a:t>
            </a:r>
            <a:r>
              <a:rPr lang="en-US" sz="2400" dirty="0">
                <a:latin typeface="Calibri" panose="020F0502020204030204" pitchFamily="34" charset="0"/>
                <a:ea typeface="Times New Roman" panose="02020603050405020304" pitchFamily="18" charset="0"/>
                <a:cs typeface="Vrinda" panose="020B0502040204020203" pitchFamily="34" charset="0"/>
              </a:rPr>
              <a:t> acid. l</a:t>
            </a:r>
            <a:endParaRPr lang="en-US" sz="2400" dirty="0">
              <a:effectLst/>
              <a:latin typeface="Calibri" panose="020F0502020204030204" pitchFamily="34" charset="0"/>
              <a:ea typeface="Times New Roman" panose="02020603050405020304" pitchFamily="18" charset="0"/>
              <a:cs typeface="Vrinda" panose="020B0502040204020203" pitchFamily="34" charset="0"/>
            </a:endParaRPr>
          </a:p>
        </p:txBody>
      </p:sp>
    </p:spTree>
    <p:extLst>
      <p:ext uri="{BB962C8B-B14F-4D97-AF65-F5344CB8AC3E}">
        <p14:creationId xmlns:p14="http://schemas.microsoft.com/office/powerpoint/2010/main" val="17662859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65948" y="614109"/>
            <a:ext cx="9324464" cy="3897285"/>
          </a:xfrm>
          <a:prstGeom prst="rect">
            <a:avLst/>
          </a:prstGeom>
        </p:spPr>
        <p:txBody>
          <a:bodyPr wrap="square">
            <a:spAutoFit/>
          </a:bodyPr>
          <a:lstStyle/>
          <a:p>
            <a:pPr algn="just">
              <a:lnSpc>
                <a:spcPct val="110000"/>
              </a:lnSpc>
              <a:spcAft>
                <a:spcPts val="600"/>
              </a:spcAft>
            </a:pPr>
            <a:r>
              <a:rPr lang="en-US" sz="2400" b="1" dirty="0">
                <a:solidFill>
                  <a:srgbClr val="000000"/>
                </a:solidFill>
                <a:latin typeface="Arial" panose="020B0604020202020204" pitchFamily="34" charset="0"/>
                <a:ea typeface="Times New Roman" panose="02020603050405020304" pitchFamily="18" charset="0"/>
                <a:cs typeface="Vrinda" panose="020B0502040204020203" pitchFamily="34" charset="0"/>
              </a:rPr>
              <a:t>Classification Based on Molecular Forces</a:t>
            </a:r>
            <a:endParaRPr lang="en-US" sz="2400" b="1" dirty="0">
              <a:latin typeface="Calibri" panose="020F0502020204030204" pitchFamily="34" charset="0"/>
              <a:ea typeface="Times New Roman" panose="02020603050405020304" pitchFamily="18" charset="0"/>
              <a:cs typeface="Vrinda" panose="020B0502040204020203" pitchFamily="34" charset="0"/>
            </a:endParaRPr>
          </a:p>
          <a:p>
            <a:pPr algn="just">
              <a:lnSpc>
                <a:spcPct val="110000"/>
              </a:lnSpc>
              <a:spcBef>
                <a:spcPts val="750"/>
              </a:spcBef>
              <a:spcAft>
                <a:spcPts val="2250"/>
              </a:spcAft>
            </a:pPr>
            <a:r>
              <a:rPr lang="en-US" sz="2400" spc="-15" dirty="0" err="1">
                <a:solidFill>
                  <a:srgbClr val="0B0B0B"/>
                </a:solidFill>
                <a:latin typeface="Times New Roman" panose="02020603050405020304" pitchFamily="18" charset="0"/>
                <a:ea typeface="Times New Roman" panose="02020603050405020304" pitchFamily="18" charset="0"/>
                <a:cs typeface="Vrinda" panose="020B0502040204020203" pitchFamily="34" charset="0"/>
              </a:rPr>
              <a:t>Intramolecular</a:t>
            </a:r>
            <a:r>
              <a:rPr lang="en-US" sz="2400" spc="-15" dirty="0">
                <a:solidFill>
                  <a:srgbClr val="0B0B0B"/>
                </a:solidFill>
                <a:latin typeface="Times New Roman" panose="02020603050405020304" pitchFamily="18" charset="0"/>
                <a:ea typeface="Times New Roman" panose="02020603050405020304" pitchFamily="18" charset="0"/>
                <a:cs typeface="Vrinda" panose="020B0502040204020203" pitchFamily="34" charset="0"/>
              </a:rPr>
              <a:t> forces are the forces that hold atoms together within a </a:t>
            </a:r>
            <a:r>
              <a:rPr lang="en-US" sz="2400" i="1" spc="-15" dirty="0">
                <a:solidFill>
                  <a:srgbClr val="0B0B0B"/>
                </a:solidFill>
                <a:latin typeface="Times New Roman" panose="02020603050405020304" pitchFamily="18" charset="0"/>
                <a:ea typeface="Times New Roman" panose="02020603050405020304" pitchFamily="18" charset="0"/>
                <a:cs typeface="Vrinda" panose="020B0502040204020203" pitchFamily="34" charset="0"/>
              </a:rPr>
              <a:t>molecule</a:t>
            </a:r>
            <a:r>
              <a:rPr lang="en-US" sz="2400" spc="-15" dirty="0">
                <a:solidFill>
                  <a:srgbClr val="0B0B0B"/>
                </a:solidFill>
                <a:latin typeface="Times New Roman" panose="02020603050405020304" pitchFamily="18" charset="0"/>
                <a:ea typeface="Times New Roman" panose="02020603050405020304" pitchFamily="18" charset="0"/>
                <a:cs typeface="Vrinda" panose="020B0502040204020203" pitchFamily="34" charset="0"/>
              </a:rPr>
              <a:t>. In Polymers, strong covalent bonds join atoms to each other in individual polymer molecules.</a:t>
            </a:r>
            <a:r>
              <a:rPr lang="en-US" sz="2400" b="1" u="sng" spc="-15" dirty="0">
                <a:latin typeface="Times New Roman" panose="02020603050405020304" pitchFamily="18" charset="0"/>
                <a:ea typeface="Times New Roman" panose="02020603050405020304" pitchFamily="18" charset="0"/>
                <a:cs typeface="Vrinda" panose="020B0502040204020203" pitchFamily="34" charset="0"/>
              </a:rPr>
              <a:t> </a:t>
            </a:r>
            <a:r>
              <a:rPr lang="en-US" sz="2400" b="1" u="sng" spc="-15" dirty="0">
                <a:latin typeface="Times New Roman" panose="02020603050405020304" pitchFamily="18" charset="0"/>
                <a:ea typeface="Times New Roman" panose="02020603050405020304" pitchFamily="18" charset="0"/>
                <a:cs typeface="Vrinda" panose="020B0502040204020203" pitchFamily="34" charset="0"/>
                <a:hlinkClick r:id="rId2"/>
              </a:rPr>
              <a:t>Intermolecular forces</a:t>
            </a:r>
            <a:r>
              <a:rPr lang="en-US" sz="2400" b="1" i="1" u="sng" spc="-15" dirty="0">
                <a:latin typeface="Times New Roman" panose="02020603050405020304" pitchFamily="18" charset="0"/>
                <a:ea typeface="Times New Roman" panose="02020603050405020304" pitchFamily="18" charset="0"/>
                <a:cs typeface="Vrinda" panose="020B0502040204020203" pitchFamily="34" charset="0"/>
                <a:hlinkClick r:id="rId2"/>
              </a:rPr>
              <a:t> </a:t>
            </a:r>
            <a:r>
              <a:rPr lang="en-US" sz="2400" spc="-15" dirty="0">
                <a:solidFill>
                  <a:srgbClr val="0B0B0B"/>
                </a:solidFill>
                <a:latin typeface="Times New Roman" panose="02020603050405020304" pitchFamily="18" charset="0"/>
                <a:ea typeface="Times New Roman" panose="02020603050405020304" pitchFamily="18" charset="0"/>
                <a:cs typeface="Vrinda" panose="020B0502040204020203" pitchFamily="34" charset="0"/>
              </a:rPr>
              <a:t>(between the molecules) attract polymer molecules towards each other.</a:t>
            </a:r>
            <a:endParaRPr lang="en-US" sz="2400" dirty="0">
              <a:latin typeface="Calibri" panose="020F0502020204030204" pitchFamily="34" charset="0"/>
              <a:ea typeface="Times New Roman" panose="02020603050405020304" pitchFamily="18" charset="0"/>
              <a:cs typeface="Vrinda" panose="020B0502040204020203" pitchFamily="34" charset="0"/>
            </a:endParaRPr>
          </a:p>
          <a:p>
            <a:pPr algn="just">
              <a:lnSpc>
                <a:spcPct val="110000"/>
              </a:lnSpc>
              <a:spcBef>
                <a:spcPts val="750"/>
              </a:spcBef>
              <a:spcAft>
                <a:spcPts val="2250"/>
              </a:spcAft>
            </a:pPr>
            <a:r>
              <a:rPr lang="en-US" sz="2400" spc="-15" dirty="0">
                <a:solidFill>
                  <a:srgbClr val="0B0B0B"/>
                </a:solidFill>
                <a:latin typeface="Times New Roman" panose="02020603050405020304" pitchFamily="18" charset="0"/>
                <a:ea typeface="Times New Roman" panose="02020603050405020304" pitchFamily="18" charset="0"/>
                <a:cs typeface="Vrinda" panose="020B0502040204020203" pitchFamily="34" charset="0"/>
              </a:rPr>
              <a:t>Note that the properties exhibited by solid materials like polymers depend largely on the strength of the forces between these molecules. Using this, Polymers can be classified into 4 types:</a:t>
            </a:r>
            <a:endParaRPr lang="en-US" sz="2400" dirty="0">
              <a:effectLst/>
              <a:latin typeface="Calibri" panose="020F0502020204030204" pitchFamily="34" charset="0"/>
              <a:ea typeface="Times New Roman" panose="02020603050405020304" pitchFamily="18" charset="0"/>
              <a:cs typeface="Vrinda" panose="020B0502040204020203" pitchFamily="34" charset="0"/>
            </a:endParaRPr>
          </a:p>
        </p:txBody>
      </p:sp>
    </p:spTree>
    <p:extLst>
      <p:ext uri="{BB962C8B-B14F-4D97-AF65-F5344CB8AC3E}">
        <p14:creationId xmlns:p14="http://schemas.microsoft.com/office/powerpoint/2010/main" val="17984409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0647" y="255494"/>
            <a:ext cx="8673353" cy="6018571"/>
          </a:xfrm>
          <a:prstGeom prst="rect">
            <a:avLst/>
          </a:prstGeom>
        </p:spPr>
        <p:txBody>
          <a:bodyPr wrap="square">
            <a:spAutoFit/>
          </a:bodyPr>
          <a:lstStyle/>
          <a:p>
            <a:pPr algn="just">
              <a:lnSpc>
                <a:spcPct val="110000"/>
              </a:lnSpc>
              <a:spcAft>
                <a:spcPts val="600"/>
              </a:spcAft>
            </a:pPr>
            <a:r>
              <a:rPr lang="en-US" sz="2800" b="1" dirty="0" err="1">
                <a:solidFill>
                  <a:srgbClr val="000000"/>
                </a:solidFill>
                <a:latin typeface="Arial" panose="020B0604020202020204" pitchFamily="34" charset="0"/>
                <a:ea typeface="Times New Roman" panose="02020603050405020304" pitchFamily="18" charset="0"/>
                <a:cs typeface="Vrinda" panose="020B0502040204020203" pitchFamily="34" charset="0"/>
              </a:rPr>
              <a:t>i</a:t>
            </a:r>
            <a:r>
              <a:rPr lang="en-US" sz="2800" b="1" dirty="0">
                <a:solidFill>
                  <a:srgbClr val="000000"/>
                </a:solidFill>
                <a:latin typeface="Arial" panose="020B0604020202020204" pitchFamily="34" charset="0"/>
                <a:ea typeface="Times New Roman" panose="02020603050405020304" pitchFamily="18" charset="0"/>
                <a:cs typeface="Vrinda" panose="020B0502040204020203" pitchFamily="34" charset="0"/>
              </a:rPr>
              <a:t>) Elastomers:</a:t>
            </a:r>
            <a:endParaRPr lang="en-US" sz="2800" dirty="0">
              <a:latin typeface="Calibri" panose="020F0502020204030204" pitchFamily="34" charset="0"/>
              <a:ea typeface="Times New Roman" panose="02020603050405020304" pitchFamily="18" charset="0"/>
              <a:cs typeface="Vrinda" panose="020B0502040204020203" pitchFamily="34" charset="0"/>
            </a:endParaRPr>
          </a:p>
          <a:p>
            <a:pPr algn="just">
              <a:lnSpc>
                <a:spcPct val="110000"/>
              </a:lnSpc>
              <a:spcBef>
                <a:spcPts val="750"/>
              </a:spcBef>
              <a:spcAft>
                <a:spcPts val="2250"/>
              </a:spcAft>
            </a:pPr>
            <a:r>
              <a:rPr lang="en-US" sz="2400" spc="-15" dirty="0">
                <a:solidFill>
                  <a:srgbClr val="0B0B0B"/>
                </a:solidFill>
                <a:latin typeface="Times New Roman" panose="02020603050405020304" pitchFamily="18" charset="0"/>
                <a:ea typeface="Times New Roman" panose="02020603050405020304" pitchFamily="18" charset="0"/>
                <a:cs typeface="Vrinda" panose="020B0502040204020203" pitchFamily="34" charset="0"/>
              </a:rPr>
              <a:t>Elastomers are rubber-like solid polymers, that are elastic in nature. When we say elastic, we basically mean that the polymer can be easily stretched by applying a little force.</a:t>
            </a:r>
            <a:endParaRPr lang="en-US" sz="2400" dirty="0">
              <a:latin typeface="Calibri" panose="020F0502020204030204" pitchFamily="34" charset="0"/>
              <a:ea typeface="Times New Roman" panose="02020603050405020304" pitchFamily="18" charset="0"/>
              <a:cs typeface="Vrinda" panose="020B0502040204020203" pitchFamily="34" charset="0"/>
            </a:endParaRPr>
          </a:p>
          <a:p>
            <a:pPr algn="just">
              <a:lnSpc>
                <a:spcPct val="110000"/>
              </a:lnSpc>
              <a:spcBef>
                <a:spcPts val="750"/>
              </a:spcBef>
              <a:spcAft>
                <a:spcPts val="2250"/>
              </a:spcAft>
            </a:pPr>
            <a:r>
              <a:rPr lang="en-US" sz="2400" spc="-15" dirty="0">
                <a:solidFill>
                  <a:srgbClr val="0B0B0B"/>
                </a:solidFill>
                <a:latin typeface="Times New Roman" panose="02020603050405020304" pitchFamily="18" charset="0"/>
                <a:ea typeface="Times New Roman" panose="02020603050405020304" pitchFamily="18" charset="0"/>
                <a:cs typeface="Vrinda" panose="020B0502040204020203" pitchFamily="34" charset="0"/>
              </a:rPr>
              <a:t>The most common example of this can be seen in rubber bands(or hair bands). Applying a little stress elongates the band. The polymer chains are held by the weakest intermolecular forces, hence allowing the polymer to be stretched. But as you notice removing that stress also results in the rubber band taking up its original form. This happens as we introduce crosslinks between the polymer chains which help it in retracting to its original position, and taking its original form. Our car </a:t>
            </a:r>
            <a:r>
              <a:rPr lang="en-US" sz="2400" spc="-15" dirty="0" err="1">
                <a:solidFill>
                  <a:srgbClr val="0B0B0B"/>
                </a:solidFill>
                <a:latin typeface="Times New Roman" panose="02020603050405020304" pitchFamily="18" charset="0"/>
                <a:ea typeface="Times New Roman" panose="02020603050405020304" pitchFamily="18" charset="0"/>
                <a:cs typeface="Vrinda" panose="020B0502040204020203" pitchFamily="34" charset="0"/>
              </a:rPr>
              <a:t>tyres</a:t>
            </a:r>
            <a:r>
              <a:rPr lang="en-US" sz="2400" spc="-15" dirty="0">
                <a:solidFill>
                  <a:srgbClr val="0B0B0B"/>
                </a:solidFill>
                <a:latin typeface="Times New Roman" panose="02020603050405020304" pitchFamily="18" charset="0"/>
                <a:ea typeface="Times New Roman" panose="02020603050405020304" pitchFamily="18" charset="0"/>
                <a:cs typeface="Vrinda" panose="020B0502040204020203" pitchFamily="34" charset="0"/>
              </a:rPr>
              <a:t> are made of Vulcanized rubber. This is when we introduce </a:t>
            </a:r>
            <a:r>
              <a:rPr lang="en-US" sz="2400" spc="-15" dirty="0" err="1">
                <a:solidFill>
                  <a:srgbClr val="0B0B0B"/>
                </a:solidFill>
                <a:latin typeface="Times New Roman" panose="02020603050405020304" pitchFamily="18" charset="0"/>
                <a:ea typeface="Times New Roman" panose="02020603050405020304" pitchFamily="18" charset="0"/>
                <a:cs typeface="Vrinda" panose="020B0502040204020203" pitchFamily="34" charset="0"/>
              </a:rPr>
              <a:t>sulphur</a:t>
            </a:r>
            <a:r>
              <a:rPr lang="en-US" sz="2400" spc="-15" dirty="0">
                <a:solidFill>
                  <a:srgbClr val="0B0B0B"/>
                </a:solidFill>
                <a:latin typeface="Times New Roman" panose="02020603050405020304" pitchFamily="18" charset="0"/>
                <a:ea typeface="Times New Roman" panose="02020603050405020304" pitchFamily="18" charset="0"/>
                <a:cs typeface="Vrinda" panose="020B0502040204020203" pitchFamily="34" charset="0"/>
              </a:rPr>
              <a:t> to cross bond the polymer chains</a:t>
            </a:r>
            <a:r>
              <a:rPr lang="en-US" sz="2400" i="1" spc="-15" dirty="0">
                <a:solidFill>
                  <a:srgbClr val="0B0B0B"/>
                </a:solidFill>
                <a:latin typeface="Times New Roman" panose="02020603050405020304" pitchFamily="18" charset="0"/>
                <a:ea typeface="Times New Roman" panose="02020603050405020304" pitchFamily="18" charset="0"/>
                <a:cs typeface="Vrinda" panose="020B0502040204020203" pitchFamily="34" charset="0"/>
              </a:rPr>
              <a:t>.</a:t>
            </a:r>
            <a:endParaRPr lang="en-US" sz="2400" dirty="0">
              <a:effectLst/>
              <a:latin typeface="Calibri" panose="020F0502020204030204" pitchFamily="34" charset="0"/>
              <a:ea typeface="Times New Roman" panose="02020603050405020304" pitchFamily="18" charset="0"/>
              <a:cs typeface="Vrinda" panose="020B0502040204020203" pitchFamily="34" charset="0"/>
            </a:endParaRPr>
          </a:p>
        </p:txBody>
      </p:sp>
    </p:spTree>
    <p:extLst>
      <p:ext uri="{BB962C8B-B14F-4D97-AF65-F5344CB8AC3E}">
        <p14:creationId xmlns:p14="http://schemas.microsoft.com/office/powerpoint/2010/main" val="21349314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35424" y="0"/>
            <a:ext cx="8673352" cy="4224233"/>
          </a:xfrm>
          <a:prstGeom prst="rect">
            <a:avLst/>
          </a:prstGeom>
        </p:spPr>
        <p:txBody>
          <a:bodyPr wrap="square">
            <a:spAutoFit/>
          </a:bodyPr>
          <a:lstStyle/>
          <a:p>
            <a:pPr algn="just">
              <a:lnSpc>
                <a:spcPct val="110000"/>
              </a:lnSpc>
              <a:spcAft>
                <a:spcPts val="600"/>
              </a:spcAft>
            </a:pPr>
            <a:r>
              <a:rPr lang="en-US" b="1" dirty="0">
                <a:solidFill>
                  <a:srgbClr val="000000"/>
                </a:solidFill>
                <a:latin typeface="Arial" panose="020B0604020202020204" pitchFamily="34" charset="0"/>
                <a:ea typeface="Times New Roman" panose="02020603050405020304" pitchFamily="18" charset="0"/>
                <a:cs typeface="Vrinda" panose="020B0502040204020203" pitchFamily="34" charset="0"/>
              </a:rPr>
              <a:t>ii) Thermoplastics:</a:t>
            </a:r>
            <a:endParaRPr lang="en-US" sz="1000" dirty="0">
              <a:latin typeface="Calibri" panose="020F0502020204030204" pitchFamily="34" charset="0"/>
              <a:ea typeface="Times New Roman" panose="02020603050405020304" pitchFamily="18" charset="0"/>
              <a:cs typeface="Vrinda" panose="020B0502040204020203" pitchFamily="34" charset="0"/>
            </a:endParaRPr>
          </a:p>
          <a:p>
            <a:pPr algn="just">
              <a:lnSpc>
                <a:spcPct val="110000"/>
              </a:lnSpc>
              <a:spcBef>
                <a:spcPts val="750"/>
              </a:spcBef>
              <a:spcAft>
                <a:spcPts val="2250"/>
              </a:spcAft>
            </a:pPr>
            <a:r>
              <a:rPr lang="en-US" sz="2400" spc="-15" dirty="0">
                <a:solidFill>
                  <a:srgbClr val="0B0B0B"/>
                </a:solidFill>
                <a:latin typeface="Times New Roman" panose="02020603050405020304" pitchFamily="18" charset="0"/>
                <a:ea typeface="Times New Roman" panose="02020603050405020304" pitchFamily="18" charset="0"/>
                <a:cs typeface="Vrinda" panose="020B0502040204020203" pitchFamily="34" charset="0"/>
              </a:rPr>
              <a:t>Thermoplastic polymers are long-chain polymers in which inter-molecules forces (Van der Waal’s forces) hold the polymer chains together. These polymers when heated are softened (thick fluid like) and hardened when they are allowed to cool down, forming a hard mass. They do not contain any cross bond and can easily be shaped by heating and using </a:t>
            </a:r>
            <a:r>
              <a:rPr lang="en-US" sz="2400" spc="-15" dirty="0" err="1">
                <a:solidFill>
                  <a:srgbClr val="0B0B0B"/>
                </a:solidFill>
                <a:latin typeface="Times New Roman" panose="02020603050405020304" pitchFamily="18" charset="0"/>
                <a:ea typeface="Times New Roman" panose="02020603050405020304" pitchFamily="18" charset="0"/>
                <a:cs typeface="Vrinda" panose="020B0502040204020203" pitchFamily="34" charset="0"/>
              </a:rPr>
              <a:t>moulds</a:t>
            </a:r>
            <a:r>
              <a:rPr lang="en-US" sz="2400" spc="-15" dirty="0">
                <a:solidFill>
                  <a:srgbClr val="0B0B0B"/>
                </a:solidFill>
                <a:latin typeface="Times New Roman" panose="02020603050405020304" pitchFamily="18" charset="0"/>
                <a:ea typeface="Times New Roman" panose="02020603050405020304" pitchFamily="18" charset="0"/>
                <a:cs typeface="Vrinda" panose="020B0502040204020203" pitchFamily="34" charset="0"/>
              </a:rPr>
              <a:t>. </a:t>
            </a:r>
            <a:endParaRPr lang="en-US" sz="2400" dirty="0">
              <a:latin typeface="Calibri" panose="020F0502020204030204" pitchFamily="34" charset="0"/>
              <a:ea typeface="Times New Roman" panose="02020603050405020304" pitchFamily="18" charset="0"/>
              <a:cs typeface="Vrinda" panose="020B0502040204020203" pitchFamily="34" charset="0"/>
            </a:endParaRPr>
          </a:p>
          <a:p>
            <a:pPr algn="just">
              <a:lnSpc>
                <a:spcPct val="110000"/>
              </a:lnSpc>
              <a:spcBef>
                <a:spcPts val="750"/>
              </a:spcBef>
              <a:spcAft>
                <a:spcPts val="2250"/>
              </a:spcAft>
            </a:pPr>
            <a:r>
              <a:rPr lang="en-US" sz="2400" spc="-15" dirty="0">
                <a:solidFill>
                  <a:srgbClr val="0B0B0B"/>
                </a:solidFill>
                <a:latin typeface="Times New Roman" panose="02020603050405020304" pitchFamily="18" charset="0"/>
                <a:ea typeface="Times New Roman" panose="02020603050405020304" pitchFamily="18" charset="0"/>
                <a:cs typeface="Vrinda" panose="020B0502040204020203" pitchFamily="34" charset="0"/>
              </a:rPr>
              <a:t>A common example is Polystyrene or PVC (which is used in making pipes).</a:t>
            </a:r>
            <a:endParaRPr lang="en-US" sz="2400" dirty="0">
              <a:latin typeface="Calibri" panose="020F0502020204030204" pitchFamily="34" charset="0"/>
              <a:ea typeface="Times New Roman" panose="02020603050405020304" pitchFamily="18" charset="0"/>
              <a:cs typeface="Vrinda" panose="020B0502040204020203" pitchFamily="34" charset="0"/>
            </a:endParaRPr>
          </a:p>
        </p:txBody>
      </p:sp>
    </p:spTree>
    <p:extLst>
      <p:ext uri="{BB962C8B-B14F-4D97-AF65-F5344CB8AC3E}">
        <p14:creationId xmlns:p14="http://schemas.microsoft.com/office/powerpoint/2010/main" val="21199973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94329" y="685800"/>
            <a:ext cx="7449671" cy="4709815"/>
          </a:xfrm>
          <a:prstGeom prst="rect">
            <a:avLst/>
          </a:prstGeom>
        </p:spPr>
        <p:txBody>
          <a:bodyPr wrap="square">
            <a:spAutoFit/>
          </a:bodyPr>
          <a:lstStyle/>
          <a:p>
            <a:pPr algn="just">
              <a:lnSpc>
                <a:spcPct val="110000"/>
              </a:lnSpc>
              <a:spcAft>
                <a:spcPts val="600"/>
              </a:spcAft>
            </a:pPr>
            <a:r>
              <a:rPr lang="en-US" sz="2400" b="1" dirty="0">
                <a:solidFill>
                  <a:srgbClr val="000000"/>
                </a:solidFill>
                <a:latin typeface="Arial" panose="020B0604020202020204" pitchFamily="34" charset="0"/>
                <a:ea typeface="Times New Roman" panose="02020603050405020304" pitchFamily="18" charset="0"/>
                <a:cs typeface="Vrinda" panose="020B0502040204020203" pitchFamily="34" charset="0"/>
              </a:rPr>
              <a:t>iii) Thermosetting:</a:t>
            </a:r>
            <a:endParaRPr lang="en-US" sz="2400" dirty="0">
              <a:latin typeface="Calibri" panose="020F0502020204030204" pitchFamily="34" charset="0"/>
              <a:ea typeface="Times New Roman" panose="02020603050405020304" pitchFamily="18" charset="0"/>
              <a:cs typeface="Vrinda" panose="020B0502040204020203" pitchFamily="34" charset="0"/>
            </a:endParaRPr>
          </a:p>
          <a:p>
            <a:pPr algn="just">
              <a:lnSpc>
                <a:spcPct val="110000"/>
              </a:lnSpc>
              <a:spcBef>
                <a:spcPts val="750"/>
              </a:spcBef>
              <a:spcAft>
                <a:spcPts val="2250"/>
              </a:spcAft>
            </a:pPr>
            <a:r>
              <a:rPr lang="en-US" sz="2400" spc="-15" dirty="0">
                <a:solidFill>
                  <a:srgbClr val="0B0B0B"/>
                </a:solidFill>
                <a:latin typeface="Times New Roman" panose="02020603050405020304" pitchFamily="18" charset="0"/>
                <a:ea typeface="Times New Roman" panose="02020603050405020304" pitchFamily="18" charset="0"/>
                <a:cs typeface="Vrinda" panose="020B0502040204020203" pitchFamily="34" charset="0"/>
              </a:rPr>
              <a:t>Thermosetting plastics are polymers which are semi-fluid in nature with low molecular masses. When heated, they start cross-linking between polymer chains, hence becoming hard and infusible. They form a three-dimensional structure on the application of heat. This reaction is irreversible in nature. </a:t>
            </a:r>
            <a:endParaRPr lang="en-US" sz="2400" dirty="0">
              <a:latin typeface="Calibri" panose="020F0502020204030204" pitchFamily="34" charset="0"/>
              <a:ea typeface="Times New Roman" panose="02020603050405020304" pitchFamily="18" charset="0"/>
              <a:cs typeface="Vrinda" panose="020B0502040204020203" pitchFamily="34" charset="0"/>
            </a:endParaRPr>
          </a:p>
          <a:p>
            <a:pPr algn="just">
              <a:lnSpc>
                <a:spcPct val="110000"/>
              </a:lnSpc>
              <a:spcBef>
                <a:spcPts val="750"/>
              </a:spcBef>
              <a:spcAft>
                <a:spcPts val="2250"/>
              </a:spcAft>
            </a:pPr>
            <a:r>
              <a:rPr lang="en-US" sz="2400" spc="-15" dirty="0">
                <a:solidFill>
                  <a:srgbClr val="0B0B0B"/>
                </a:solidFill>
                <a:latin typeface="Times New Roman" panose="02020603050405020304" pitchFamily="18" charset="0"/>
                <a:ea typeface="Times New Roman" panose="02020603050405020304" pitchFamily="18" charset="0"/>
                <a:cs typeface="Vrinda" panose="020B0502040204020203" pitchFamily="34" charset="0"/>
              </a:rPr>
              <a:t>The most common example of a thermosetting polymer is that of Bakelite, which is used in making electrical insulation.</a:t>
            </a:r>
            <a:endParaRPr lang="en-US" sz="2400" dirty="0">
              <a:latin typeface="Calibri" panose="020F0502020204030204" pitchFamily="34" charset="0"/>
              <a:ea typeface="Times New Roman" panose="02020603050405020304" pitchFamily="18" charset="0"/>
              <a:cs typeface="Vrinda" panose="020B0502040204020203" pitchFamily="34" charset="0"/>
            </a:endParaRPr>
          </a:p>
        </p:txBody>
      </p:sp>
    </p:spTree>
    <p:extLst>
      <p:ext uri="{BB962C8B-B14F-4D97-AF65-F5344CB8AC3E}">
        <p14:creationId xmlns:p14="http://schemas.microsoft.com/office/powerpoint/2010/main" val="29571370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2957" y="0"/>
            <a:ext cx="5221231" cy="6985647"/>
          </a:xfrm>
          <a:prstGeom prst="rect">
            <a:avLst/>
          </a:prstGeom>
        </p:spPr>
      </p:pic>
    </p:spTree>
    <p:extLst>
      <p:ext uri="{BB962C8B-B14F-4D97-AF65-F5344CB8AC3E}">
        <p14:creationId xmlns:p14="http://schemas.microsoft.com/office/powerpoint/2010/main" val="34005212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59541" y="0"/>
            <a:ext cx="9995647" cy="6710555"/>
          </a:xfrm>
          <a:prstGeom prst="rect">
            <a:avLst/>
          </a:prstGeom>
        </p:spPr>
        <p:txBody>
          <a:bodyPr wrap="square">
            <a:spAutoFit/>
          </a:bodyPr>
          <a:lstStyle/>
          <a:p>
            <a:pPr algn="just">
              <a:lnSpc>
                <a:spcPct val="110000"/>
              </a:lnSpc>
              <a:spcAft>
                <a:spcPts val="600"/>
              </a:spcAft>
            </a:pPr>
            <a:r>
              <a:rPr lang="en-US" b="1" dirty="0">
                <a:solidFill>
                  <a:srgbClr val="000000"/>
                </a:solidFill>
                <a:latin typeface="Arial" panose="020B0604020202020204" pitchFamily="34" charset="0"/>
                <a:ea typeface="Times New Roman" panose="02020603050405020304" pitchFamily="18" charset="0"/>
                <a:cs typeface="Vrinda" panose="020B0502040204020203" pitchFamily="34" charset="0"/>
              </a:rPr>
              <a:t>iv) </a:t>
            </a:r>
            <a:r>
              <a:rPr lang="en-US" b="1" dirty="0" err="1">
                <a:solidFill>
                  <a:srgbClr val="000000"/>
                </a:solidFill>
                <a:latin typeface="Arial" panose="020B0604020202020204" pitchFamily="34" charset="0"/>
                <a:ea typeface="Times New Roman" panose="02020603050405020304" pitchFamily="18" charset="0"/>
                <a:cs typeface="Vrinda" panose="020B0502040204020203" pitchFamily="34" charset="0"/>
              </a:rPr>
              <a:t>Fibres</a:t>
            </a:r>
            <a:r>
              <a:rPr lang="en-US" b="1" dirty="0">
                <a:solidFill>
                  <a:srgbClr val="000000"/>
                </a:solidFill>
                <a:latin typeface="Arial" panose="020B0604020202020204" pitchFamily="34" charset="0"/>
                <a:ea typeface="Times New Roman" panose="02020603050405020304" pitchFamily="18" charset="0"/>
                <a:cs typeface="Vrinda" panose="020B0502040204020203" pitchFamily="34" charset="0"/>
              </a:rPr>
              <a:t>:</a:t>
            </a:r>
            <a:endParaRPr lang="en-US" sz="1000" dirty="0">
              <a:latin typeface="Calibri" panose="020F0502020204030204" pitchFamily="34" charset="0"/>
              <a:ea typeface="Times New Roman" panose="02020603050405020304" pitchFamily="18" charset="0"/>
              <a:cs typeface="Vrinda" panose="020B0502040204020203" pitchFamily="34" charset="0"/>
            </a:endParaRPr>
          </a:p>
          <a:p>
            <a:pPr algn="just">
              <a:lnSpc>
                <a:spcPct val="110000"/>
              </a:lnSpc>
              <a:spcBef>
                <a:spcPts val="750"/>
              </a:spcBef>
              <a:spcAft>
                <a:spcPts val="2250"/>
              </a:spcAft>
            </a:pPr>
            <a:r>
              <a:rPr lang="en-US" sz="2400" spc="-15" dirty="0">
                <a:solidFill>
                  <a:srgbClr val="0B0B0B"/>
                </a:solidFill>
                <a:latin typeface="Times New Roman" panose="02020603050405020304" pitchFamily="18" charset="0"/>
                <a:ea typeface="Times New Roman" panose="02020603050405020304" pitchFamily="18" charset="0"/>
                <a:cs typeface="Vrinda" panose="020B0502040204020203" pitchFamily="34" charset="0"/>
              </a:rPr>
              <a:t>In the classification of polymers, these are a class of polymers which are a thread like in nature,. They have strong inter-molecules forces between the chains giving them less elasticity and high tensile strength. The intermolecular forces may be hydrogen bonds or dipole-dipole interaction. </a:t>
            </a:r>
            <a:r>
              <a:rPr lang="en-US" sz="2400" spc="-15" dirty="0" err="1">
                <a:solidFill>
                  <a:srgbClr val="0B0B0B"/>
                </a:solidFill>
                <a:latin typeface="Times New Roman" panose="02020603050405020304" pitchFamily="18" charset="0"/>
                <a:ea typeface="Times New Roman" panose="02020603050405020304" pitchFamily="18" charset="0"/>
                <a:cs typeface="Vrinda" panose="020B0502040204020203" pitchFamily="34" charset="0"/>
              </a:rPr>
              <a:t>Fibres</a:t>
            </a:r>
            <a:r>
              <a:rPr lang="en-US" sz="2400" spc="-15" dirty="0">
                <a:solidFill>
                  <a:srgbClr val="0B0B0B"/>
                </a:solidFill>
                <a:latin typeface="Times New Roman" panose="02020603050405020304" pitchFamily="18" charset="0"/>
                <a:ea typeface="Times New Roman" panose="02020603050405020304" pitchFamily="18" charset="0"/>
                <a:cs typeface="Vrinda" panose="020B0502040204020203" pitchFamily="34" charset="0"/>
              </a:rPr>
              <a:t> have sharp and high melting points. </a:t>
            </a:r>
            <a:endParaRPr lang="en-US" sz="2400" dirty="0">
              <a:latin typeface="Calibri" panose="020F0502020204030204" pitchFamily="34" charset="0"/>
              <a:ea typeface="Times New Roman" panose="02020603050405020304" pitchFamily="18" charset="0"/>
              <a:cs typeface="Vrinda" panose="020B0502040204020203" pitchFamily="34" charset="0"/>
            </a:endParaRPr>
          </a:p>
          <a:p>
            <a:pPr algn="just">
              <a:lnSpc>
                <a:spcPct val="110000"/>
              </a:lnSpc>
              <a:spcBef>
                <a:spcPts val="750"/>
              </a:spcBef>
              <a:spcAft>
                <a:spcPts val="2250"/>
              </a:spcAft>
            </a:pPr>
            <a:r>
              <a:rPr lang="en-US" sz="2400" spc="-15" dirty="0">
                <a:solidFill>
                  <a:srgbClr val="0B0B0B"/>
                </a:solidFill>
                <a:latin typeface="Times New Roman" panose="02020603050405020304" pitchFamily="18" charset="0"/>
                <a:ea typeface="Times New Roman" panose="02020603050405020304" pitchFamily="18" charset="0"/>
                <a:cs typeface="Vrinda" panose="020B0502040204020203" pitchFamily="34" charset="0"/>
              </a:rPr>
              <a:t>A common example is that of Nylon-66, which is used in carpets and apparels.</a:t>
            </a:r>
            <a:endParaRPr lang="en-US" sz="2400" dirty="0">
              <a:latin typeface="Calibri" panose="020F0502020204030204" pitchFamily="34" charset="0"/>
              <a:ea typeface="Times New Roman" panose="02020603050405020304" pitchFamily="18" charset="0"/>
              <a:cs typeface="Vrinda" panose="020B0502040204020203" pitchFamily="34" charset="0"/>
            </a:endParaRPr>
          </a:p>
          <a:p>
            <a:pPr algn="just">
              <a:lnSpc>
                <a:spcPct val="110000"/>
              </a:lnSpc>
              <a:spcBef>
                <a:spcPts val="750"/>
              </a:spcBef>
              <a:spcAft>
                <a:spcPts val="2250"/>
              </a:spcAft>
            </a:pPr>
            <a:r>
              <a:rPr lang="en-US" sz="2400" spc="-15" dirty="0">
                <a:solidFill>
                  <a:srgbClr val="0B0B0B"/>
                </a:solidFill>
                <a:latin typeface="Times New Roman" panose="02020603050405020304" pitchFamily="18" charset="0"/>
                <a:ea typeface="Times New Roman" panose="02020603050405020304" pitchFamily="18" charset="0"/>
                <a:cs typeface="Vrinda" panose="020B0502040204020203" pitchFamily="34" charset="0"/>
              </a:rPr>
              <a:t>The above was the general ways to classify polymers. Another category of polymers is that of Biopolymers. Biopolymers are polymers which are obtained from living organisms. They are biodegradable and have a very well defined structure. Various </a:t>
            </a:r>
            <a:r>
              <a:rPr lang="en-US" sz="2400" spc="-15" dirty="0">
                <a:solidFill>
                  <a:srgbClr val="55BBEA"/>
                </a:solidFill>
                <a:latin typeface="Times New Roman" panose="02020603050405020304" pitchFamily="18" charset="0"/>
                <a:ea typeface="Times New Roman" panose="02020603050405020304" pitchFamily="18" charset="0"/>
                <a:cs typeface="Vrinda" panose="020B0502040204020203" pitchFamily="34" charset="0"/>
                <a:hlinkClick r:id="rId2"/>
              </a:rPr>
              <a:t>biomolecules</a:t>
            </a:r>
            <a:r>
              <a:rPr lang="en-US" sz="2400" spc="-15" dirty="0">
                <a:solidFill>
                  <a:srgbClr val="0B0B0B"/>
                </a:solidFill>
                <a:latin typeface="Times New Roman" panose="02020603050405020304" pitchFamily="18" charset="0"/>
                <a:ea typeface="Times New Roman" panose="02020603050405020304" pitchFamily="18" charset="0"/>
                <a:cs typeface="Vrinda" panose="020B0502040204020203" pitchFamily="34" charset="0"/>
              </a:rPr>
              <a:t> like carbohydrates and proteins are a part of the category.</a:t>
            </a:r>
            <a:endParaRPr lang="en-US" sz="2400" dirty="0">
              <a:latin typeface="Calibri" panose="020F0502020204030204" pitchFamily="34" charset="0"/>
              <a:ea typeface="Times New Roman" panose="02020603050405020304" pitchFamily="18" charset="0"/>
              <a:cs typeface="Vrinda" panose="020B0502040204020203" pitchFamily="34" charset="0"/>
            </a:endParaRPr>
          </a:p>
          <a:p>
            <a:pPr algn="just">
              <a:lnSpc>
                <a:spcPts val="2250"/>
              </a:lnSpc>
              <a:spcAft>
                <a:spcPts val="600"/>
              </a:spcAft>
            </a:pPr>
            <a:r>
              <a:rPr lang="en-US" sz="2400" dirty="0">
                <a:solidFill>
                  <a:srgbClr val="000000"/>
                </a:solidFill>
                <a:latin typeface="Arial" panose="020B0604020202020204" pitchFamily="34" charset="0"/>
                <a:ea typeface="Times New Roman" panose="02020603050405020304" pitchFamily="18" charset="0"/>
                <a:cs typeface="Vrinda" panose="020B0502040204020203" pitchFamily="34" charset="0"/>
              </a:rPr>
              <a:t> </a:t>
            </a:r>
            <a:endParaRPr lang="en-US" sz="2400" dirty="0">
              <a:latin typeface="Calibri" panose="020F0502020204030204" pitchFamily="34" charset="0"/>
              <a:ea typeface="Times New Roman" panose="02020603050405020304" pitchFamily="18" charset="0"/>
              <a:cs typeface="Vrinda" panose="020B0502040204020203" pitchFamily="34" charset="0"/>
            </a:endParaRPr>
          </a:p>
          <a:p>
            <a:pPr algn="just">
              <a:lnSpc>
                <a:spcPct val="110000"/>
              </a:lnSpc>
            </a:pPr>
            <a:r>
              <a:rPr lang="en-US" sz="1200" dirty="0">
                <a:solidFill>
                  <a:srgbClr val="333333"/>
                </a:solidFill>
                <a:latin typeface="Arial" panose="020B0604020202020204" pitchFamily="34" charset="0"/>
                <a:ea typeface="Times New Roman" panose="02020603050405020304" pitchFamily="18" charset="0"/>
                <a:cs typeface="Vrinda" panose="020B0502040204020203" pitchFamily="34" charset="0"/>
              </a:rPr>
              <a:t> </a:t>
            </a:r>
            <a:endParaRPr lang="en-US" sz="1000" dirty="0">
              <a:effectLst/>
              <a:latin typeface="Calibri" panose="020F0502020204030204" pitchFamily="34" charset="0"/>
              <a:ea typeface="Times New Roman" panose="02020603050405020304" pitchFamily="18" charset="0"/>
              <a:cs typeface="Vrinda" panose="020B0502040204020203" pitchFamily="34" charset="0"/>
            </a:endParaRPr>
          </a:p>
        </p:txBody>
      </p:sp>
    </p:spTree>
    <p:extLst>
      <p:ext uri="{BB962C8B-B14F-4D97-AF65-F5344CB8AC3E}">
        <p14:creationId xmlns:p14="http://schemas.microsoft.com/office/powerpoint/2010/main" val="26970575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416" y="4055165"/>
            <a:ext cx="7781176" cy="1200329"/>
          </a:xfrm>
          <a:prstGeom prst="rect">
            <a:avLst/>
          </a:prstGeom>
        </p:spPr>
        <p:txBody>
          <a:bodyPr wrap="square">
            <a:spAutoFit/>
          </a:bodyPr>
          <a:lstStyle/>
          <a:p>
            <a:endParaRPr lang="en-US" dirty="0">
              <a:solidFill>
                <a:srgbClr val="880000"/>
              </a:solidFill>
              <a:latin typeface="Arial" panose="020B0604020202020204" pitchFamily="34" charset="0"/>
              <a:ea typeface="Times New Roman" panose="02020603050405020304" pitchFamily="18" charset="0"/>
              <a:cs typeface="Vrinda" panose="020B0502040204020203" pitchFamily="34" charset="0"/>
            </a:endParaRPr>
          </a:p>
          <a:p>
            <a:endParaRPr lang="en-US" dirty="0">
              <a:solidFill>
                <a:srgbClr val="880000"/>
              </a:solidFill>
              <a:latin typeface="Arial" panose="020B0604020202020204" pitchFamily="34" charset="0"/>
              <a:ea typeface="Times New Roman" panose="02020603050405020304" pitchFamily="18" charset="0"/>
              <a:cs typeface="Vrinda" panose="020B0502040204020203" pitchFamily="34" charset="0"/>
            </a:endParaRPr>
          </a:p>
          <a:p>
            <a:r>
              <a:rPr lang="en-US" dirty="0">
                <a:solidFill>
                  <a:srgbClr val="880000"/>
                </a:solidFill>
                <a:latin typeface="Arial" panose="020B0604020202020204" pitchFamily="34" charset="0"/>
                <a:ea typeface="Times New Roman" panose="02020603050405020304" pitchFamily="18" charset="0"/>
                <a:cs typeface="Vrinda" panose="020B0502040204020203" pitchFamily="34" charset="0"/>
              </a:rPr>
              <a:t>. Let's imagine now two monomers, which we'll call </a:t>
            </a:r>
            <a:r>
              <a:rPr lang="en-US" i="1" dirty="0">
                <a:solidFill>
                  <a:srgbClr val="880000"/>
                </a:solidFill>
                <a:latin typeface="Arial" panose="020B0604020202020204" pitchFamily="34" charset="0"/>
                <a:ea typeface="Times New Roman" panose="02020603050405020304" pitchFamily="18" charset="0"/>
                <a:cs typeface="Vrinda" panose="020B0502040204020203" pitchFamily="34" charset="0"/>
              </a:rPr>
              <a:t>A</a:t>
            </a:r>
            <a:r>
              <a:rPr lang="en-US" dirty="0">
                <a:solidFill>
                  <a:srgbClr val="880000"/>
                </a:solidFill>
                <a:latin typeface="Arial" panose="020B0604020202020204" pitchFamily="34" charset="0"/>
                <a:ea typeface="Times New Roman" panose="02020603050405020304" pitchFamily="18" charset="0"/>
                <a:cs typeface="Vrinda" panose="020B0502040204020203" pitchFamily="34" charset="0"/>
              </a:rPr>
              <a:t> and </a:t>
            </a:r>
            <a:r>
              <a:rPr lang="en-US" i="1" dirty="0">
                <a:solidFill>
                  <a:srgbClr val="880000"/>
                </a:solidFill>
                <a:latin typeface="Arial" panose="020B0604020202020204" pitchFamily="34" charset="0"/>
                <a:ea typeface="Times New Roman" panose="02020603050405020304" pitchFamily="18" charset="0"/>
                <a:cs typeface="Vrinda" panose="020B0502040204020203" pitchFamily="34" charset="0"/>
              </a:rPr>
              <a:t>B</a:t>
            </a:r>
            <a:r>
              <a:rPr lang="en-US" dirty="0">
                <a:solidFill>
                  <a:srgbClr val="880000"/>
                </a:solidFill>
                <a:latin typeface="Arial" panose="020B0604020202020204" pitchFamily="34" charset="0"/>
                <a:ea typeface="Times New Roman" panose="02020603050405020304" pitchFamily="18" charset="0"/>
                <a:cs typeface="Vrinda" panose="020B0502040204020203" pitchFamily="34" charset="0"/>
              </a:rPr>
              <a:t>. </a:t>
            </a:r>
            <a:r>
              <a:rPr lang="en-US" i="1" dirty="0">
                <a:solidFill>
                  <a:srgbClr val="880000"/>
                </a:solidFill>
                <a:latin typeface="Arial" panose="020B0604020202020204" pitchFamily="34" charset="0"/>
                <a:ea typeface="Times New Roman" panose="02020603050405020304" pitchFamily="18" charset="0"/>
                <a:cs typeface="Vrinda" panose="020B0502040204020203" pitchFamily="34" charset="0"/>
              </a:rPr>
              <a:t>A</a:t>
            </a:r>
            <a:r>
              <a:rPr lang="en-US" dirty="0">
                <a:solidFill>
                  <a:srgbClr val="880000"/>
                </a:solidFill>
                <a:latin typeface="Arial" panose="020B0604020202020204" pitchFamily="34" charset="0"/>
                <a:ea typeface="Times New Roman" panose="02020603050405020304" pitchFamily="18" charset="0"/>
                <a:cs typeface="Vrinda" panose="020B0502040204020203" pitchFamily="34" charset="0"/>
              </a:rPr>
              <a:t> and </a:t>
            </a:r>
            <a:r>
              <a:rPr lang="en-US" i="1" dirty="0">
                <a:solidFill>
                  <a:srgbClr val="880000"/>
                </a:solidFill>
                <a:latin typeface="Arial" panose="020B0604020202020204" pitchFamily="34" charset="0"/>
                <a:ea typeface="Times New Roman" panose="02020603050405020304" pitchFamily="18" charset="0"/>
                <a:cs typeface="Vrinda" panose="020B0502040204020203" pitchFamily="34" charset="0"/>
              </a:rPr>
              <a:t>B</a:t>
            </a:r>
            <a:r>
              <a:rPr lang="en-US" dirty="0">
                <a:solidFill>
                  <a:srgbClr val="880000"/>
                </a:solidFill>
                <a:latin typeface="Arial" panose="020B0604020202020204" pitchFamily="34" charset="0"/>
                <a:ea typeface="Times New Roman" panose="02020603050405020304" pitchFamily="18" charset="0"/>
                <a:cs typeface="Vrinda" panose="020B0502040204020203" pitchFamily="34" charset="0"/>
              </a:rPr>
              <a:t> can be made into a copolymer in many different ways</a:t>
            </a:r>
            <a:endParaRPr lang="en-US" sz="1400" dirty="0">
              <a:effectLst/>
              <a:latin typeface="Calibri" panose="020F0502020204030204" pitchFamily="34" charset="0"/>
              <a:ea typeface="Calibri" panose="020F0502020204030204" pitchFamily="34" charset="0"/>
              <a:cs typeface="Vrinda" panose="020B0502040204020203" pitchFamily="34" charset="0"/>
            </a:endParaRPr>
          </a:p>
        </p:txBody>
      </p:sp>
      <p:sp>
        <p:nvSpPr>
          <p:cNvPr id="3" name="Rectangle 2"/>
          <p:cNvSpPr/>
          <p:nvPr/>
        </p:nvSpPr>
        <p:spPr>
          <a:xfrm>
            <a:off x="395416" y="303291"/>
            <a:ext cx="8612659" cy="4173450"/>
          </a:xfrm>
          <a:prstGeom prst="rect">
            <a:avLst/>
          </a:prstGeom>
        </p:spPr>
        <p:txBody>
          <a:bodyPr wrap="square">
            <a:spAutoFit/>
          </a:bodyPr>
          <a:lstStyle/>
          <a:p>
            <a:pPr algn="just">
              <a:lnSpc>
                <a:spcPct val="110000"/>
              </a:lnSpc>
            </a:pPr>
            <a:r>
              <a:rPr lang="en-US" dirty="0">
                <a:solidFill>
                  <a:srgbClr val="111111"/>
                </a:solidFill>
                <a:latin typeface="Arial" panose="020B0604020202020204" pitchFamily="34" charset="0"/>
                <a:ea typeface="Times New Roman" panose="02020603050405020304" pitchFamily="18" charset="0"/>
                <a:cs typeface="Vrinda" panose="020B0502040204020203" pitchFamily="34" charset="0"/>
              </a:rPr>
              <a:t> </a:t>
            </a:r>
            <a:endParaRPr lang="en-US" sz="1100" dirty="0">
              <a:latin typeface="Calibri" panose="020F0502020204030204" pitchFamily="34" charset="0"/>
              <a:ea typeface="Times New Roman" panose="02020603050405020304" pitchFamily="18" charset="0"/>
              <a:cs typeface="Vrinda" panose="020B0502040204020203" pitchFamily="34" charset="0"/>
            </a:endParaRPr>
          </a:p>
          <a:p>
            <a:pPr algn="just">
              <a:lnSpc>
                <a:spcPct val="110000"/>
              </a:lnSpc>
            </a:pPr>
            <a:r>
              <a:rPr lang="en-US" sz="2000" b="1" dirty="0">
                <a:solidFill>
                  <a:srgbClr val="111111"/>
                </a:solidFill>
                <a:latin typeface="Arial" panose="020B0604020202020204" pitchFamily="34" charset="0"/>
                <a:ea typeface="Times New Roman" panose="02020603050405020304" pitchFamily="18" charset="0"/>
                <a:cs typeface="Vrinda" panose="020B0502040204020203" pitchFamily="34" charset="0"/>
              </a:rPr>
              <a:t>Classification Based on Composition of Polymers</a:t>
            </a:r>
            <a:r>
              <a:rPr lang="en-US" dirty="0">
                <a:solidFill>
                  <a:srgbClr val="111111"/>
                </a:solidFill>
                <a:latin typeface="Arial" panose="020B0604020202020204" pitchFamily="34" charset="0"/>
                <a:ea typeface="Times New Roman" panose="02020603050405020304" pitchFamily="18" charset="0"/>
                <a:cs typeface="Vrinda" panose="020B0502040204020203" pitchFamily="34" charset="0"/>
              </a:rPr>
              <a:t> </a:t>
            </a:r>
            <a:endParaRPr lang="en-US" sz="1100" dirty="0">
              <a:latin typeface="Calibri" panose="020F0502020204030204" pitchFamily="34" charset="0"/>
              <a:ea typeface="Times New Roman" panose="02020603050405020304" pitchFamily="18" charset="0"/>
              <a:cs typeface="Vrinda" panose="020B0502040204020203" pitchFamily="34" charset="0"/>
            </a:endParaRPr>
          </a:p>
          <a:p>
            <a:pPr algn="just">
              <a:lnSpc>
                <a:spcPct val="110000"/>
              </a:lnSpc>
            </a:pPr>
            <a:r>
              <a:rPr lang="en-US" b="1" dirty="0">
                <a:solidFill>
                  <a:srgbClr val="111111"/>
                </a:solidFill>
                <a:latin typeface="Arial" panose="020B0604020202020204" pitchFamily="34" charset="0"/>
                <a:ea typeface="Times New Roman" panose="02020603050405020304" pitchFamily="18" charset="0"/>
                <a:cs typeface="Vrinda" panose="020B0502040204020203" pitchFamily="34" charset="0"/>
              </a:rPr>
              <a:t> </a:t>
            </a:r>
            <a:endParaRPr lang="en-US" sz="1100" dirty="0">
              <a:latin typeface="Calibri" panose="020F0502020204030204" pitchFamily="34" charset="0"/>
              <a:ea typeface="Times New Roman" panose="02020603050405020304" pitchFamily="18" charset="0"/>
              <a:cs typeface="Vrinda" panose="020B0502040204020203" pitchFamily="34" charset="0"/>
            </a:endParaRPr>
          </a:p>
          <a:p>
            <a:pPr algn="just">
              <a:lnSpc>
                <a:spcPct val="110000"/>
              </a:lnSpc>
            </a:pPr>
            <a:r>
              <a:rPr lang="en-US" b="1" dirty="0" err="1">
                <a:solidFill>
                  <a:srgbClr val="111111"/>
                </a:solidFill>
                <a:latin typeface="Arial" panose="020B0604020202020204" pitchFamily="34" charset="0"/>
                <a:ea typeface="Times New Roman" panose="02020603050405020304" pitchFamily="18" charset="0"/>
                <a:cs typeface="Vrinda" panose="020B0502040204020203" pitchFamily="34" charset="0"/>
              </a:rPr>
              <a:t>Homopolymer</a:t>
            </a:r>
            <a:r>
              <a:rPr lang="en-US" b="1" dirty="0">
                <a:solidFill>
                  <a:srgbClr val="111111"/>
                </a:solidFill>
                <a:latin typeface="Arial" panose="020B0604020202020204" pitchFamily="34" charset="0"/>
                <a:ea typeface="Times New Roman" panose="02020603050405020304" pitchFamily="18" charset="0"/>
                <a:cs typeface="Vrinda" panose="020B0502040204020203" pitchFamily="34" charset="0"/>
              </a:rPr>
              <a:t>:</a:t>
            </a:r>
            <a:r>
              <a:rPr lang="en-US" dirty="0">
                <a:solidFill>
                  <a:srgbClr val="111111"/>
                </a:solidFill>
                <a:latin typeface="Arial" panose="020B0604020202020204" pitchFamily="34" charset="0"/>
                <a:ea typeface="Times New Roman" panose="02020603050405020304" pitchFamily="18" charset="0"/>
                <a:cs typeface="Vrinda" panose="020B0502040204020203" pitchFamily="34" charset="0"/>
              </a:rPr>
              <a:t> A polymer resulting from the polymerization</a:t>
            </a:r>
            <a:endParaRPr lang="en-US" sz="1100" dirty="0">
              <a:latin typeface="Calibri" panose="020F0502020204030204" pitchFamily="34" charset="0"/>
              <a:ea typeface="Times New Roman" panose="02020603050405020304" pitchFamily="18" charset="0"/>
              <a:cs typeface="Vrinda" panose="020B0502040204020203" pitchFamily="34" charset="0"/>
            </a:endParaRPr>
          </a:p>
          <a:p>
            <a:pPr algn="just">
              <a:lnSpc>
                <a:spcPct val="110000"/>
              </a:lnSpc>
            </a:pPr>
            <a:r>
              <a:rPr lang="en-US" dirty="0">
                <a:solidFill>
                  <a:srgbClr val="111111"/>
                </a:solidFill>
                <a:latin typeface="Arial" panose="020B0604020202020204" pitchFamily="34" charset="0"/>
                <a:ea typeface="Times New Roman" panose="02020603050405020304" pitchFamily="18" charset="0"/>
                <a:cs typeface="Vrinda" panose="020B0502040204020203" pitchFamily="34" charset="0"/>
              </a:rPr>
              <a:t> of a single monomer; a polymer consisting substantially of </a:t>
            </a:r>
            <a:endParaRPr lang="en-US" sz="1100" dirty="0">
              <a:latin typeface="Calibri" panose="020F0502020204030204" pitchFamily="34" charset="0"/>
              <a:ea typeface="Times New Roman" panose="02020603050405020304" pitchFamily="18" charset="0"/>
              <a:cs typeface="Vrinda" panose="020B0502040204020203" pitchFamily="34" charset="0"/>
            </a:endParaRPr>
          </a:p>
          <a:p>
            <a:pPr algn="just">
              <a:lnSpc>
                <a:spcPct val="110000"/>
              </a:lnSpc>
            </a:pPr>
            <a:r>
              <a:rPr lang="en-US" dirty="0">
                <a:solidFill>
                  <a:srgbClr val="111111"/>
                </a:solidFill>
                <a:latin typeface="Arial" panose="020B0604020202020204" pitchFamily="34" charset="0"/>
                <a:ea typeface="Times New Roman" panose="02020603050405020304" pitchFamily="18" charset="0"/>
                <a:cs typeface="Vrinda" panose="020B0502040204020203" pitchFamily="34" charset="0"/>
              </a:rPr>
              <a:t>a single type of repeating unit.</a:t>
            </a:r>
            <a:endParaRPr lang="en-US" sz="1100" dirty="0">
              <a:latin typeface="Calibri" panose="020F0502020204030204" pitchFamily="34" charset="0"/>
              <a:ea typeface="Times New Roman" panose="02020603050405020304" pitchFamily="18" charset="0"/>
              <a:cs typeface="Vrinda" panose="020B0502040204020203" pitchFamily="34" charset="0"/>
            </a:endParaRPr>
          </a:p>
          <a:p>
            <a:pPr algn="just">
              <a:lnSpc>
                <a:spcPct val="110000"/>
              </a:lnSpc>
            </a:pPr>
            <a:r>
              <a:rPr lang="en-US" dirty="0">
                <a:solidFill>
                  <a:srgbClr val="111111"/>
                </a:solidFill>
                <a:latin typeface="Arial" panose="020B0604020202020204" pitchFamily="34" charset="0"/>
                <a:ea typeface="Times New Roman" panose="02020603050405020304" pitchFamily="18" charset="0"/>
                <a:cs typeface="Vrinda" panose="020B0502040204020203" pitchFamily="34" charset="0"/>
              </a:rPr>
              <a:t> </a:t>
            </a:r>
            <a:endParaRPr lang="en-US" sz="1100" dirty="0">
              <a:latin typeface="Calibri" panose="020F0502020204030204" pitchFamily="34" charset="0"/>
              <a:ea typeface="Times New Roman" panose="02020603050405020304" pitchFamily="18" charset="0"/>
              <a:cs typeface="Vrinda" panose="020B0502040204020203" pitchFamily="34" charset="0"/>
            </a:endParaRPr>
          </a:p>
          <a:p>
            <a:pPr algn="just">
              <a:lnSpc>
                <a:spcPct val="110000"/>
              </a:lnSpc>
            </a:pPr>
            <a:r>
              <a:rPr lang="en-US" b="1" dirty="0">
                <a:solidFill>
                  <a:srgbClr val="111111"/>
                </a:solidFill>
                <a:latin typeface="Arial" panose="020B0604020202020204" pitchFamily="34" charset="0"/>
                <a:ea typeface="Times New Roman" panose="02020603050405020304" pitchFamily="18" charset="0"/>
                <a:cs typeface="Vrinda" panose="020B0502040204020203" pitchFamily="34" charset="0"/>
              </a:rPr>
              <a:t> Copolymer</a:t>
            </a:r>
            <a:r>
              <a:rPr lang="en-US" dirty="0">
                <a:solidFill>
                  <a:srgbClr val="111111"/>
                </a:solidFill>
                <a:latin typeface="Arial" panose="020B0604020202020204" pitchFamily="34" charset="0"/>
                <a:ea typeface="Times New Roman" panose="02020603050405020304" pitchFamily="18" charset="0"/>
                <a:cs typeface="Vrinda" panose="020B0502040204020203" pitchFamily="34" charset="0"/>
              </a:rPr>
              <a:t>: When two different types of monomers are joined</a:t>
            </a:r>
            <a:endParaRPr lang="en-US" dirty="0">
              <a:latin typeface="Calibri" panose="020F0502020204030204" pitchFamily="34" charset="0"/>
              <a:ea typeface="Times New Roman" panose="02020603050405020304" pitchFamily="18" charset="0"/>
              <a:cs typeface="Vrinda" panose="020B0502040204020203" pitchFamily="34" charset="0"/>
            </a:endParaRPr>
          </a:p>
          <a:p>
            <a:pPr algn="just">
              <a:lnSpc>
                <a:spcPct val="110000"/>
              </a:lnSpc>
            </a:pPr>
            <a:r>
              <a:rPr lang="en-US" dirty="0">
                <a:solidFill>
                  <a:srgbClr val="111111"/>
                </a:solidFill>
                <a:latin typeface="Arial" panose="020B0604020202020204" pitchFamily="34" charset="0"/>
                <a:ea typeface="Times New Roman" panose="02020603050405020304" pitchFamily="18" charset="0"/>
                <a:cs typeface="Vrinda" panose="020B0502040204020203" pitchFamily="34" charset="0"/>
              </a:rPr>
              <a:t> in the same polymer chain, the polymer is called a copolymer.</a:t>
            </a:r>
            <a:endParaRPr lang="en-US" dirty="0">
              <a:latin typeface="Calibri" panose="020F0502020204030204" pitchFamily="34" charset="0"/>
              <a:ea typeface="Times New Roman" panose="02020603050405020304" pitchFamily="18" charset="0"/>
              <a:cs typeface="Vrinda" panose="020B0502040204020203" pitchFamily="34" charset="0"/>
            </a:endParaRPr>
          </a:p>
          <a:p>
            <a:pPr algn="just">
              <a:lnSpc>
                <a:spcPct val="110000"/>
              </a:lnSpc>
            </a:pPr>
            <a:r>
              <a:rPr lang="en-US" dirty="0">
                <a:solidFill>
                  <a:srgbClr val="333333"/>
                </a:solidFill>
                <a:latin typeface="Arial" panose="020B0604020202020204" pitchFamily="34" charset="0"/>
                <a:ea typeface="Times New Roman" panose="02020603050405020304" pitchFamily="18" charset="0"/>
                <a:cs typeface="Vrinda" panose="020B0502040204020203" pitchFamily="34" charset="0"/>
              </a:rPr>
              <a:t>. </a:t>
            </a:r>
            <a:r>
              <a:rPr lang="en-US" dirty="0">
                <a:solidFill>
                  <a:srgbClr val="333333"/>
                </a:solidFill>
                <a:latin typeface="Times New Roman" panose="02020603050405020304" pitchFamily="18" charset="0"/>
                <a:ea typeface="Times New Roman" panose="02020603050405020304" pitchFamily="18" charset="0"/>
                <a:cs typeface="Vrinda" panose="020B0502040204020203" pitchFamily="34" charset="0"/>
              </a:rPr>
              <a:t>Many commercially important polymers are copolymers. </a:t>
            </a:r>
            <a:endParaRPr lang="en-US" dirty="0">
              <a:latin typeface="Calibri" panose="020F0502020204030204" pitchFamily="34" charset="0"/>
              <a:ea typeface="Times New Roman" panose="02020603050405020304" pitchFamily="18" charset="0"/>
              <a:cs typeface="Vrinda" panose="020B0502040204020203" pitchFamily="34" charset="0"/>
            </a:endParaRPr>
          </a:p>
          <a:p>
            <a:r>
              <a:rPr lang="en-US" dirty="0">
                <a:solidFill>
                  <a:srgbClr val="333333"/>
                </a:solidFill>
                <a:latin typeface="Times New Roman" panose="02020603050405020304" pitchFamily="18" charset="0"/>
                <a:ea typeface="Times New Roman" panose="02020603050405020304" pitchFamily="18" charset="0"/>
                <a:cs typeface="Vrinda" panose="020B0502040204020203" pitchFamily="34" charset="0"/>
              </a:rPr>
              <a:t>Examples include polyethylene-vinyl acetate (PEVA), </a:t>
            </a:r>
            <a:r>
              <a:rPr lang="en-US" dirty="0"/>
              <a:t>nitrile rubber, and </a:t>
            </a:r>
          </a:p>
          <a:p>
            <a:r>
              <a:rPr lang="en-US" dirty="0"/>
              <a:t>acrylonitrile butadiene styrene (ABS). The process in which a copolymer is</a:t>
            </a:r>
          </a:p>
          <a:p>
            <a:r>
              <a:rPr lang="en-US" dirty="0"/>
              <a:t> formed from multiple species of monomers is known as copolymerization. </a:t>
            </a:r>
          </a:p>
          <a:p>
            <a:endParaRPr lang="en-US" sz="1100" dirty="0">
              <a:effectLst/>
              <a:latin typeface="Calibri" panose="020F0502020204030204" pitchFamily="34" charset="0"/>
              <a:ea typeface="Times New Roman" panose="02020603050405020304" pitchFamily="18" charset="0"/>
              <a:cs typeface="Vrinda" panose="020B0502040204020203" pitchFamily="34" charset="0"/>
            </a:endParaRPr>
          </a:p>
        </p:txBody>
      </p:sp>
    </p:spTree>
    <p:extLst>
      <p:ext uri="{BB962C8B-B14F-4D97-AF65-F5344CB8AC3E}">
        <p14:creationId xmlns:p14="http://schemas.microsoft.com/office/powerpoint/2010/main" val="25340769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Homopolymers-Copolymers"/>
          <p:cNvPicPr/>
          <p:nvPr/>
        </p:nvPicPr>
        <p:blipFill>
          <a:blip r:embed="rId2">
            <a:extLst>
              <a:ext uri="{28A0092B-C50C-407E-A947-70E740481C1C}">
                <a14:useLocalDpi xmlns:a14="http://schemas.microsoft.com/office/drawing/2010/main" val="0"/>
              </a:ext>
            </a:extLst>
          </a:blip>
          <a:srcRect/>
          <a:stretch>
            <a:fillRect/>
          </a:stretch>
        </p:blipFill>
        <p:spPr bwMode="auto">
          <a:xfrm>
            <a:off x="2585251" y="1085850"/>
            <a:ext cx="4530090" cy="2343150"/>
          </a:xfrm>
          <a:prstGeom prst="rect">
            <a:avLst/>
          </a:prstGeom>
          <a:noFill/>
          <a:ln>
            <a:noFill/>
          </a:ln>
        </p:spPr>
      </p:pic>
      <p:sp>
        <p:nvSpPr>
          <p:cNvPr id="4" name="Rectangle 3"/>
          <p:cNvSpPr/>
          <p:nvPr/>
        </p:nvSpPr>
        <p:spPr>
          <a:xfrm>
            <a:off x="2703444" y="3551583"/>
            <a:ext cx="6082748" cy="861774"/>
          </a:xfrm>
          <a:prstGeom prst="rect">
            <a:avLst/>
          </a:prstGeom>
        </p:spPr>
        <p:txBody>
          <a:bodyPr wrap="square">
            <a:spAutoFit/>
          </a:bodyPr>
          <a:lstStyle/>
          <a:p>
            <a:r>
              <a:rPr lang="en-US" dirty="0">
                <a:solidFill>
                  <a:srgbClr val="333333"/>
                </a:solidFill>
                <a:latin typeface="Times New Roman" panose="02020603050405020304" pitchFamily="18" charset="0"/>
                <a:ea typeface="Times New Roman" panose="02020603050405020304" pitchFamily="18" charset="0"/>
              </a:rPr>
              <a:t>It is often used to improve or modify certain properties of </a:t>
            </a:r>
            <a:r>
              <a:rPr lang="en-US" dirty="0" err="1">
                <a:solidFill>
                  <a:srgbClr val="333333"/>
                </a:solidFill>
                <a:latin typeface="Times New Roman" panose="02020603050405020304" pitchFamily="18" charset="0"/>
                <a:ea typeface="Times New Roman" panose="02020603050405020304" pitchFamily="18" charset="0"/>
              </a:rPr>
              <a:t>plastics</a:t>
            </a:r>
            <a:r>
              <a:rPr lang="en-US" b="1" spc="-85" dirty="0" err="1">
                <a:solidFill>
                  <a:srgbClr val="FFFFFF"/>
                </a:solidFill>
                <a:latin typeface="Times New Roman" panose="02020603050405020304" pitchFamily="18" charset="0"/>
                <a:ea typeface="Times New Roman" panose="02020603050405020304" pitchFamily="18" charset="0"/>
              </a:rPr>
              <a:t>ustomi</a:t>
            </a:r>
            <a:r>
              <a:rPr lang="en-US" sz="3200" b="1" spc="-85" dirty="0">
                <a:solidFill>
                  <a:srgbClr val="FFFFFF"/>
                </a:solidFill>
                <a:latin typeface="Arial" panose="020B0604020202020204" pitchFamily="34" charset="0"/>
                <a:ea typeface="Times New Roman" panose="02020603050405020304" pitchFamily="18" charset="0"/>
              </a:rPr>
              <a:t> </a:t>
            </a:r>
            <a:endParaRPr lang="en-US" dirty="0"/>
          </a:p>
        </p:txBody>
      </p:sp>
    </p:spTree>
    <p:extLst>
      <p:ext uri="{BB962C8B-B14F-4D97-AF65-F5344CB8AC3E}">
        <p14:creationId xmlns:p14="http://schemas.microsoft.com/office/powerpoint/2010/main" val="7992182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048000" y="945243"/>
            <a:ext cx="6096000" cy="4967514"/>
          </a:xfrm>
          <a:prstGeom prst="rect">
            <a:avLst/>
          </a:prstGeom>
        </p:spPr>
        <p:txBody>
          <a:bodyPr>
            <a:spAutoFit/>
          </a:bodyPr>
          <a:lstStyle/>
          <a:p>
            <a:pPr marL="457200" marR="0">
              <a:lnSpc>
                <a:spcPct val="110000"/>
              </a:lnSpc>
              <a:spcBef>
                <a:spcPts val="0"/>
              </a:spcBef>
              <a:spcAft>
                <a:spcPts val="0"/>
              </a:spcAft>
            </a:pPr>
            <a:r>
              <a:rPr lang="en-US" b="1" dirty="0">
                <a:latin typeface="Arial" panose="020B0604020202020204" pitchFamily="34" charset="0"/>
                <a:ea typeface="Times New Roman" panose="02020603050405020304" pitchFamily="18" charset="0"/>
                <a:cs typeface="Vrinda" panose="020B0502040204020203" pitchFamily="34" charset="0"/>
              </a:rPr>
              <a:t>Random copolymer:</a:t>
            </a:r>
            <a:endParaRPr lang="en-US" sz="1050" dirty="0">
              <a:latin typeface="Calibri" panose="020F0502020204030204" pitchFamily="34" charset="0"/>
              <a:ea typeface="Times New Roman" panose="02020603050405020304" pitchFamily="18" charset="0"/>
              <a:cs typeface="Vrinda" panose="020B0502040204020203" pitchFamily="34" charset="0"/>
            </a:endParaRPr>
          </a:p>
          <a:p>
            <a:pPr marL="457200" marR="0" algn="just">
              <a:lnSpc>
                <a:spcPct val="110000"/>
              </a:lnSpc>
              <a:spcBef>
                <a:spcPts val="0"/>
              </a:spcBef>
              <a:spcAft>
                <a:spcPts val="0"/>
              </a:spcAft>
            </a:pPr>
            <a:r>
              <a:rPr lang="en-US" dirty="0">
                <a:latin typeface="Arial" panose="020B0604020202020204" pitchFamily="34" charset="0"/>
                <a:ea typeface="Times New Roman" panose="02020603050405020304" pitchFamily="18" charset="0"/>
                <a:cs typeface="Vrinda" panose="020B0502040204020203" pitchFamily="34" charset="0"/>
              </a:rPr>
              <a:t>In a random copolymer, the two monomers may follow in any order (figure below). The ratio of the monomers incorporated into the copolymer is a result of a combination of the properties of the monomers, the polymerization conditions and the conversion of the polymerization, to name a few variables. </a:t>
            </a:r>
            <a:endParaRPr lang="en-US" sz="1050" dirty="0">
              <a:latin typeface="Calibri" panose="020F0502020204030204" pitchFamily="34" charset="0"/>
              <a:ea typeface="Times New Roman" panose="02020603050405020304" pitchFamily="18" charset="0"/>
              <a:cs typeface="Vrinda" panose="020B0502040204020203" pitchFamily="34" charset="0"/>
            </a:endParaRPr>
          </a:p>
          <a:p>
            <a:pPr marL="457200" marR="0" algn="just">
              <a:lnSpc>
                <a:spcPct val="110000"/>
              </a:lnSpc>
              <a:spcBef>
                <a:spcPts val="0"/>
              </a:spcBef>
              <a:spcAft>
                <a:spcPts val="0"/>
              </a:spcAft>
            </a:pPr>
            <a:r>
              <a:rPr lang="en-US" dirty="0">
                <a:latin typeface="Arial" panose="020B0604020202020204" pitchFamily="34" charset="0"/>
                <a:ea typeface="Times New Roman" panose="02020603050405020304" pitchFamily="18" charset="0"/>
                <a:cs typeface="Vrinda" panose="020B0502040204020203" pitchFamily="34" charset="0"/>
              </a:rPr>
              <a:t> </a:t>
            </a:r>
            <a:endParaRPr lang="en-US" sz="1050" dirty="0">
              <a:latin typeface="Calibri" panose="020F0502020204030204" pitchFamily="34" charset="0"/>
              <a:ea typeface="Times New Roman" panose="02020603050405020304" pitchFamily="18" charset="0"/>
              <a:cs typeface="Vrinda" panose="020B0502040204020203" pitchFamily="34" charset="0"/>
            </a:endParaRPr>
          </a:p>
          <a:p>
            <a:pPr marL="457200" marR="0" algn="just">
              <a:lnSpc>
                <a:spcPct val="110000"/>
              </a:lnSpc>
              <a:spcBef>
                <a:spcPts val="0"/>
              </a:spcBef>
              <a:spcAft>
                <a:spcPts val="600"/>
              </a:spcAft>
            </a:pPr>
            <a:r>
              <a:rPr lang="en-US" dirty="0">
                <a:latin typeface="Arial" panose="020B0604020202020204" pitchFamily="34" charset="0"/>
                <a:ea typeface="Times New Roman" panose="02020603050405020304" pitchFamily="18" charset="0"/>
                <a:cs typeface="Vrinda" panose="020B0502040204020203" pitchFamily="34" charset="0"/>
              </a:rPr>
              <a:t>For example, unless the two monomers have exactly the same reactivity, both with the other </a:t>
            </a:r>
            <a:r>
              <a:rPr lang="en-US" dirty="0" err="1">
                <a:latin typeface="Arial" panose="020B0604020202020204" pitchFamily="34" charset="0"/>
                <a:ea typeface="Times New Roman" panose="02020603050405020304" pitchFamily="18" charset="0"/>
                <a:cs typeface="Vrinda" panose="020B0502040204020203" pitchFamily="34" charset="0"/>
              </a:rPr>
              <a:t>comonomer</a:t>
            </a:r>
            <a:r>
              <a:rPr lang="en-US" dirty="0">
                <a:latin typeface="Arial" panose="020B0604020202020204" pitchFamily="34" charset="0"/>
                <a:ea typeface="Times New Roman" panose="02020603050405020304" pitchFamily="18" charset="0"/>
                <a:cs typeface="Vrinda" panose="020B0502040204020203" pitchFamily="34" charset="0"/>
              </a:rPr>
              <a:t> and with their own monomers, the ratio in the product will NOT be exactly 1-to-1. In fact, in most cases it's not, and this results in a change in the copolymer composition as the reaction proceeds. At the beginning, the more reactive monomer is incorporated more than the less reactive one</a:t>
            </a:r>
            <a:r>
              <a:rPr lang="en-US" dirty="0">
                <a:solidFill>
                  <a:srgbClr val="880000"/>
                </a:solidFill>
                <a:latin typeface="Arial" panose="020B0604020202020204" pitchFamily="34" charset="0"/>
                <a:ea typeface="Times New Roman" panose="02020603050405020304" pitchFamily="18" charset="0"/>
                <a:cs typeface="Vrinda" panose="020B0502040204020203" pitchFamily="34" charset="0"/>
              </a:rPr>
              <a:t>. </a:t>
            </a:r>
            <a:endParaRPr lang="en-US" sz="1050" dirty="0">
              <a:effectLst/>
              <a:latin typeface="Calibri" panose="020F0502020204030204" pitchFamily="34" charset="0"/>
              <a:ea typeface="Times New Roman" panose="02020603050405020304" pitchFamily="18" charset="0"/>
              <a:cs typeface="Vrinda" panose="020B0502040204020203" pitchFamily="34" charset="0"/>
            </a:endParaRPr>
          </a:p>
        </p:txBody>
      </p:sp>
    </p:spTree>
    <p:extLst>
      <p:ext uri="{BB962C8B-B14F-4D97-AF65-F5344CB8AC3E}">
        <p14:creationId xmlns:p14="http://schemas.microsoft.com/office/powerpoint/2010/main" val="37700316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457739" y="980670"/>
            <a:ext cx="6096000" cy="2987036"/>
          </a:xfrm>
          <a:prstGeom prst="rect">
            <a:avLst/>
          </a:prstGeom>
        </p:spPr>
        <p:txBody>
          <a:bodyPr>
            <a:spAutoFit/>
          </a:bodyPr>
          <a:lstStyle/>
          <a:p>
            <a:pPr algn="just">
              <a:lnSpc>
                <a:spcPct val="110000"/>
              </a:lnSpc>
              <a:spcBef>
                <a:spcPts val="1500"/>
              </a:spcBef>
              <a:spcAft>
                <a:spcPts val="750"/>
              </a:spcAft>
            </a:pPr>
            <a:r>
              <a:rPr lang="en-US" sz="2000" dirty="0">
                <a:solidFill>
                  <a:srgbClr val="800080"/>
                </a:solidFill>
                <a:latin typeface="Arial" panose="020B0604020202020204" pitchFamily="34" charset="0"/>
                <a:ea typeface="Times New Roman" panose="02020603050405020304" pitchFamily="18" charset="0"/>
                <a:cs typeface="Vrinda" panose="020B0502040204020203" pitchFamily="34" charset="0"/>
              </a:rPr>
              <a:t>Alternating Copolymers</a:t>
            </a:r>
            <a:endParaRPr lang="en-US" sz="2000" dirty="0">
              <a:latin typeface="Calibri" panose="020F0502020204030204" pitchFamily="34" charset="0"/>
              <a:ea typeface="Times New Roman" panose="02020603050405020304" pitchFamily="18" charset="0"/>
              <a:cs typeface="Vrinda" panose="020B0502040204020203" pitchFamily="34" charset="0"/>
            </a:endParaRPr>
          </a:p>
          <a:p>
            <a:pPr algn="just">
              <a:lnSpc>
                <a:spcPct val="110000"/>
              </a:lnSpc>
              <a:spcAft>
                <a:spcPts val="375"/>
              </a:spcAft>
            </a:pPr>
            <a:r>
              <a:rPr lang="en-US" sz="2000" dirty="0">
                <a:solidFill>
                  <a:srgbClr val="333333"/>
                </a:solidFill>
                <a:latin typeface="Times New Roman" panose="02020603050405020304" pitchFamily="18" charset="0"/>
                <a:ea typeface="Times New Roman" panose="02020603050405020304" pitchFamily="18" charset="0"/>
                <a:cs typeface="Vrinda" panose="020B0502040204020203" pitchFamily="34" charset="0"/>
              </a:rPr>
              <a:t>Alternating copolymers contain a single main chain with alternating monomers.</a:t>
            </a:r>
            <a:endParaRPr lang="en-US" sz="2000" dirty="0">
              <a:latin typeface="Calibri" panose="020F0502020204030204" pitchFamily="34" charset="0"/>
              <a:ea typeface="Times New Roman" panose="02020603050405020304" pitchFamily="18" charset="0"/>
              <a:cs typeface="Vrinda" panose="020B0502040204020203" pitchFamily="34" charset="0"/>
            </a:endParaRPr>
          </a:p>
          <a:p>
            <a:pPr algn="just">
              <a:lnSpc>
                <a:spcPct val="110000"/>
              </a:lnSpc>
              <a:spcAft>
                <a:spcPts val="375"/>
              </a:spcAft>
            </a:pPr>
            <a:r>
              <a:rPr lang="en-US" sz="2000" dirty="0">
                <a:solidFill>
                  <a:srgbClr val="333333"/>
                </a:solidFill>
                <a:latin typeface="Times New Roman" panose="02020603050405020304" pitchFamily="18" charset="0"/>
                <a:ea typeface="Times New Roman" panose="02020603050405020304" pitchFamily="18" charset="0"/>
                <a:cs typeface="Vrinda" panose="020B0502040204020203" pitchFamily="34" charset="0"/>
              </a:rPr>
              <a:t>The formula of an alternating copolymer made up of monomers A and B can be generalized to (-A-B-)</a:t>
            </a:r>
            <a:r>
              <a:rPr lang="en-US" sz="2000" baseline="-25000" dirty="0">
                <a:solidFill>
                  <a:srgbClr val="333333"/>
                </a:solidFill>
                <a:latin typeface="Times New Roman" panose="02020603050405020304" pitchFamily="18" charset="0"/>
                <a:ea typeface="Times New Roman" panose="02020603050405020304" pitchFamily="18" charset="0"/>
                <a:cs typeface="Vrinda" panose="020B0502040204020203" pitchFamily="34" charset="0"/>
              </a:rPr>
              <a:t>n</a:t>
            </a:r>
            <a:r>
              <a:rPr lang="en-US" sz="2000" dirty="0">
                <a:solidFill>
                  <a:srgbClr val="333333"/>
                </a:solidFill>
                <a:latin typeface="Times New Roman" panose="02020603050405020304" pitchFamily="18" charset="0"/>
                <a:ea typeface="Times New Roman" panose="02020603050405020304" pitchFamily="18" charset="0"/>
                <a:cs typeface="Vrinda" panose="020B0502040204020203" pitchFamily="34" charset="0"/>
              </a:rPr>
              <a:t>.</a:t>
            </a:r>
            <a:endParaRPr lang="en-US" sz="2000" dirty="0">
              <a:latin typeface="Calibri" panose="020F0502020204030204" pitchFamily="34" charset="0"/>
              <a:ea typeface="Times New Roman" panose="02020603050405020304" pitchFamily="18" charset="0"/>
              <a:cs typeface="Vrinda" panose="020B0502040204020203" pitchFamily="34" charset="0"/>
            </a:endParaRPr>
          </a:p>
          <a:p>
            <a:pPr algn="just">
              <a:lnSpc>
                <a:spcPct val="110000"/>
              </a:lnSpc>
              <a:spcAft>
                <a:spcPts val="375"/>
              </a:spcAft>
            </a:pPr>
            <a:r>
              <a:rPr lang="en-US" sz="2000" dirty="0">
                <a:solidFill>
                  <a:srgbClr val="333333"/>
                </a:solidFill>
                <a:latin typeface="Times New Roman" panose="02020603050405020304" pitchFamily="18" charset="0"/>
                <a:ea typeface="Times New Roman" panose="02020603050405020304" pitchFamily="18" charset="0"/>
                <a:cs typeface="Vrinda" panose="020B0502040204020203" pitchFamily="34" charset="0"/>
              </a:rPr>
              <a:t>Nylon 6,6 is an example of an alternating copolymer, consisting of alternating units of </a:t>
            </a:r>
            <a:r>
              <a:rPr lang="en-US" sz="2000" dirty="0" err="1">
                <a:solidFill>
                  <a:srgbClr val="333333"/>
                </a:solidFill>
                <a:latin typeface="Times New Roman" panose="02020603050405020304" pitchFamily="18" charset="0"/>
                <a:ea typeface="Times New Roman" panose="02020603050405020304" pitchFamily="18" charset="0"/>
                <a:cs typeface="Vrinda" panose="020B0502040204020203" pitchFamily="34" charset="0"/>
              </a:rPr>
              <a:t>hexamethylene</a:t>
            </a:r>
            <a:r>
              <a:rPr lang="en-US" sz="2000" dirty="0">
                <a:solidFill>
                  <a:srgbClr val="333333"/>
                </a:solidFill>
                <a:latin typeface="Times New Roman" panose="02020603050405020304" pitchFamily="18" charset="0"/>
                <a:ea typeface="Times New Roman" panose="02020603050405020304" pitchFamily="18" charset="0"/>
                <a:cs typeface="Vrinda" panose="020B0502040204020203" pitchFamily="34" charset="0"/>
              </a:rPr>
              <a:t> </a:t>
            </a:r>
            <a:r>
              <a:rPr lang="en-US" sz="2000" dirty="0" err="1">
                <a:solidFill>
                  <a:srgbClr val="333333"/>
                </a:solidFill>
                <a:latin typeface="Times New Roman" panose="02020603050405020304" pitchFamily="18" charset="0"/>
                <a:ea typeface="Times New Roman" panose="02020603050405020304" pitchFamily="18" charset="0"/>
                <a:cs typeface="Vrinda" panose="020B0502040204020203" pitchFamily="34" charset="0"/>
              </a:rPr>
              <a:t>diamine</a:t>
            </a:r>
            <a:r>
              <a:rPr lang="en-US" sz="2000" dirty="0">
                <a:solidFill>
                  <a:srgbClr val="333333"/>
                </a:solidFill>
                <a:latin typeface="Times New Roman" panose="02020603050405020304" pitchFamily="18" charset="0"/>
                <a:ea typeface="Times New Roman" panose="02020603050405020304" pitchFamily="18" charset="0"/>
                <a:cs typeface="Vrinda" panose="020B0502040204020203" pitchFamily="34" charset="0"/>
              </a:rPr>
              <a:t> and </a:t>
            </a:r>
            <a:r>
              <a:rPr lang="en-US" sz="2000" dirty="0" err="1">
                <a:solidFill>
                  <a:srgbClr val="333333"/>
                </a:solidFill>
                <a:latin typeface="Times New Roman" panose="02020603050405020304" pitchFamily="18" charset="0"/>
                <a:ea typeface="Times New Roman" panose="02020603050405020304" pitchFamily="18" charset="0"/>
                <a:cs typeface="Vrinda" panose="020B0502040204020203" pitchFamily="34" charset="0"/>
              </a:rPr>
              <a:t>adipic</a:t>
            </a:r>
            <a:r>
              <a:rPr lang="en-US" sz="2000" dirty="0">
                <a:solidFill>
                  <a:srgbClr val="333333"/>
                </a:solidFill>
                <a:latin typeface="Times New Roman" panose="02020603050405020304" pitchFamily="18" charset="0"/>
                <a:ea typeface="Times New Roman" panose="02020603050405020304" pitchFamily="18" charset="0"/>
                <a:cs typeface="Vrinda" panose="020B0502040204020203" pitchFamily="34" charset="0"/>
              </a:rPr>
              <a:t> </a:t>
            </a:r>
            <a:r>
              <a:rPr lang="en-US" sz="2000">
                <a:solidFill>
                  <a:srgbClr val="333333"/>
                </a:solidFill>
                <a:latin typeface="Times New Roman" panose="02020603050405020304" pitchFamily="18" charset="0"/>
                <a:ea typeface="Times New Roman" panose="02020603050405020304" pitchFamily="18" charset="0"/>
                <a:cs typeface="Vrinda" panose="020B0502040204020203" pitchFamily="34" charset="0"/>
              </a:rPr>
              <a:t>acid</a:t>
            </a:r>
            <a:r>
              <a:rPr lang="en-US" sz="2000" b="1" spc="-85">
                <a:solidFill>
                  <a:srgbClr val="FFFFFF"/>
                </a:solidFill>
                <a:latin typeface="Arial" panose="020B0604020202020204" pitchFamily="34" charset="0"/>
                <a:ea typeface="Times New Roman" panose="02020603050405020304" pitchFamily="18" charset="0"/>
                <a:cs typeface="Vrinda" panose="020B0502040204020203" pitchFamily="34" charset="0"/>
              </a:rPr>
              <a:t>seconds</a:t>
            </a:r>
            <a:endParaRPr lang="en-US" sz="2000" dirty="0">
              <a:effectLst/>
              <a:latin typeface="Calibri" panose="020F0502020204030204" pitchFamily="34" charset="0"/>
              <a:ea typeface="Times New Roman" panose="02020603050405020304" pitchFamily="18" charset="0"/>
              <a:cs typeface="Vrinda" panose="020B0502040204020203" pitchFamily="34" charset="0"/>
            </a:endParaRPr>
          </a:p>
        </p:txBody>
      </p:sp>
      <p:pic>
        <p:nvPicPr>
          <p:cNvPr id="4" name="Picture 3" descr="https://pslc.ws/macrog/images/copol01.gif"/>
          <p:cNvPicPr/>
          <p:nvPr/>
        </p:nvPicPr>
        <p:blipFill>
          <a:blip r:embed="rId2">
            <a:extLst>
              <a:ext uri="{28A0092B-C50C-407E-A947-70E740481C1C}">
                <a14:useLocalDpi xmlns:a14="http://schemas.microsoft.com/office/drawing/2010/main" val="0"/>
              </a:ext>
            </a:extLst>
          </a:blip>
          <a:srcRect/>
          <a:stretch>
            <a:fillRect/>
          </a:stretch>
        </p:blipFill>
        <p:spPr bwMode="auto">
          <a:xfrm>
            <a:off x="2027334" y="4025223"/>
            <a:ext cx="5526405" cy="954405"/>
          </a:xfrm>
          <a:prstGeom prst="rect">
            <a:avLst/>
          </a:prstGeom>
          <a:noFill/>
          <a:ln>
            <a:noFill/>
          </a:ln>
        </p:spPr>
      </p:pic>
    </p:spTree>
    <p:extLst>
      <p:ext uri="{BB962C8B-B14F-4D97-AF65-F5344CB8AC3E}">
        <p14:creationId xmlns:p14="http://schemas.microsoft.com/office/powerpoint/2010/main" val="2758123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38470" y="530087"/>
            <a:ext cx="7805530" cy="3296287"/>
          </a:xfrm>
          <a:prstGeom prst="rect">
            <a:avLst/>
          </a:prstGeom>
        </p:spPr>
        <p:txBody>
          <a:bodyPr wrap="square">
            <a:spAutoFit/>
          </a:bodyPr>
          <a:lstStyle/>
          <a:p>
            <a:pPr algn="just">
              <a:lnSpc>
                <a:spcPts val="1570"/>
              </a:lnSpc>
              <a:spcBef>
                <a:spcPts val="1500"/>
              </a:spcBef>
              <a:spcAft>
                <a:spcPts val="750"/>
              </a:spcAft>
            </a:pPr>
            <a:r>
              <a:rPr lang="en-US" dirty="0">
                <a:solidFill>
                  <a:srgbClr val="800080"/>
                </a:solidFill>
                <a:latin typeface="Arial" panose="020B0604020202020204" pitchFamily="34" charset="0"/>
                <a:ea typeface="Times New Roman" panose="02020603050405020304" pitchFamily="18" charset="0"/>
                <a:cs typeface="Vrinda" panose="020B0502040204020203" pitchFamily="34" charset="0"/>
              </a:rPr>
              <a:t>Block Copolymers</a:t>
            </a:r>
            <a:endParaRPr lang="en-US" sz="1050" dirty="0">
              <a:latin typeface="Calibri" panose="020F0502020204030204" pitchFamily="34" charset="0"/>
              <a:ea typeface="Times New Roman" panose="02020603050405020304" pitchFamily="18" charset="0"/>
              <a:cs typeface="Vrinda" panose="020B0502040204020203" pitchFamily="34" charset="0"/>
            </a:endParaRPr>
          </a:p>
          <a:p>
            <a:pPr algn="just">
              <a:lnSpc>
                <a:spcPct val="110000"/>
              </a:lnSpc>
              <a:spcAft>
                <a:spcPts val="375"/>
              </a:spcAft>
            </a:pPr>
            <a:r>
              <a:rPr lang="en-US" dirty="0">
                <a:solidFill>
                  <a:srgbClr val="333333"/>
                </a:solidFill>
                <a:latin typeface="Arial" panose="020B0604020202020204" pitchFamily="34" charset="0"/>
                <a:ea typeface="Times New Roman" panose="02020603050405020304" pitchFamily="18" charset="0"/>
                <a:cs typeface="Vrinda" panose="020B0502040204020203" pitchFamily="34" charset="0"/>
              </a:rPr>
              <a:t>When more than one </a:t>
            </a:r>
            <a:r>
              <a:rPr lang="en-US" dirty="0" err="1">
                <a:solidFill>
                  <a:srgbClr val="333333"/>
                </a:solidFill>
                <a:latin typeface="Arial" panose="020B0604020202020204" pitchFamily="34" charset="0"/>
                <a:ea typeface="Times New Roman" panose="02020603050405020304" pitchFamily="18" charset="0"/>
                <a:cs typeface="Vrinda" panose="020B0502040204020203" pitchFamily="34" charset="0"/>
              </a:rPr>
              <a:t>homopolymer</a:t>
            </a:r>
            <a:r>
              <a:rPr lang="en-US" dirty="0">
                <a:solidFill>
                  <a:srgbClr val="333333"/>
                </a:solidFill>
                <a:latin typeface="Arial" panose="020B0604020202020204" pitchFamily="34" charset="0"/>
                <a:ea typeface="Times New Roman" panose="02020603050405020304" pitchFamily="18" charset="0"/>
                <a:cs typeface="Vrinda" panose="020B0502040204020203" pitchFamily="34" charset="0"/>
              </a:rPr>
              <a:t> units are linked together via </a:t>
            </a:r>
            <a:r>
              <a:rPr lang="en-US" dirty="0">
                <a:solidFill>
                  <a:srgbClr val="0563C1"/>
                </a:solidFill>
                <a:latin typeface="Arial" panose="020B0604020202020204" pitchFamily="34" charset="0"/>
                <a:ea typeface="Times New Roman" panose="02020603050405020304" pitchFamily="18" charset="0"/>
                <a:cs typeface="Vrinda" panose="020B0502040204020203" pitchFamily="34" charset="0"/>
                <a:hlinkClick r:id="rId2"/>
              </a:rPr>
              <a:t>covalent bonds</a:t>
            </a:r>
            <a:r>
              <a:rPr lang="en-US" dirty="0">
                <a:solidFill>
                  <a:srgbClr val="333333"/>
                </a:solidFill>
                <a:latin typeface="Arial" panose="020B0604020202020204" pitchFamily="34" charset="0"/>
                <a:ea typeface="Times New Roman" panose="02020603050405020304" pitchFamily="18" charset="0"/>
                <a:cs typeface="Vrinda" panose="020B0502040204020203" pitchFamily="34" charset="0"/>
              </a:rPr>
              <a:t>, the resulting single-chain macromolecule is called a block copolymer.</a:t>
            </a:r>
            <a:endParaRPr lang="en-US" sz="1050" dirty="0">
              <a:latin typeface="Calibri" panose="020F0502020204030204" pitchFamily="34" charset="0"/>
              <a:ea typeface="Times New Roman" panose="02020603050405020304" pitchFamily="18" charset="0"/>
              <a:cs typeface="Vrinda" panose="020B0502040204020203" pitchFamily="34" charset="0"/>
            </a:endParaRPr>
          </a:p>
          <a:p>
            <a:pPr algn="just">
              <a:lnSpc>
                <a:spcPct val="110000"/>
              </a:lnSpc>
              <a:spcAft>
                <a:spcPts val="375"/>
              </a:spcAft>
            </a:pPr>
            <a:r>
              <a:rPr lang="en-US" dirty="0">
                <a:solidFill>
                  <a:srgbClr val="333333"/>
                </a:solidFill>
                <a:latin typeface="Arial" panose="020B0604020202020204" pitchFamily="34" charset="0"/>
                <a:ea typeface="Times New Roman" panose="02020603050405020304" pitchFamily="18" charset="0"/>
                <a:cs typeface="Vrinda" panose="020B0502040204020203" pitchFamily="34" charset="0"/>
              </a:rPr>
              <a:t>The intermediate unit at which the two </a:t>
            </a:r>
            <a:r>
              <a:rPr lang="en-US" dirty="0" err="1">
                <a:solidFill>
                  <a:srgbClr val="333333"/>
                </a:solidFill>
                <a:latin typeface="Arial" panose="020B0604020202020204" pitchFamily="34" charset="0"/>
                <a:ea typeface="Times New Roman" panose="02020603050405020304" pitchFamily="18" charset="0"/>
                <a:cs typeface="Vrinda" panose="020B0502040204020203" pitchFamily="34" charset="0"/>
              </a:rPr>
              <a:t>homopolymer</a:t>
            </a:r>
            <a:r>
              <a:rPr lang="en-US" dirty="0">
                <a:solidFill>
                  <a:srgbClr val="333333"/>
                </a:solidFill>
                <a:latin typeface="Arial" panose="020B0604020202020204" pitchFamily="34" charset="0"/>
                <a:ea typeface="Times New Roman" panose="02020603050405020304" pitchFamily="18" charset="0"/>
                <a:cs typeface="Vrinda" panose="020B0502040204020203" pitchFamily="34" charset="0"/>
              </a:rPr>
              <a:t> chains are linked is called a junction block.</a:t>
            </a:r>
            <a:endParaRPr lang="en-US" sz="1050" dirty="0">
              <a:latin typeface="Calibri" panose="020F0502020204030204" pitchFamily="34" charset="0"/>
              <a:ea typeface="Times New Roman" panose="02020603050405020304" pitchFamily="18" charset="0"/>
              <a:cs typeface="Vrinda" panose="020B0502040204020203" pitchFamily="34" charset="0"/>
            </a:endParaRPr>
          </a:p>
          <a:p>
            <a:pPr algn="just">
              <a:lnSpc>
                <a:spcPct val="110000"/>
              </a:lnSpc>
              <a:spcAft>
                <a:spcPts val="375"/>
              </a:spcAft>
            </a:pPr>
            <a:r>
              <a:rPr lang="en-US" dirty="0">
                <a:solidFill>
                  <a:srgbClr val="333333"/>
                </a:solidFill>
                <a:latin typeface="Arial" panose="020B0604020202020204" pitchFamily="34" charset="0"/>
                <a:ea typeface="Times New Roman" panose="02020603050405020304" pitchFamily="18" charset="0"/>
                <a:cs typeface="Vrinda" panose="020B0502040204020203" pitchFamily="34" charset="0"/>
              </a:rPr>
              <a:t>A </a:t>
            </a:r>
            <a:r>
              <a:rPr lang="en-US" dirty="0" err="1">
                <a:solidFill>
                  <a:srgbClr val="333333"/>
                </a:solidFill>
                <a:latin typeface="Arial" panose="020B0604020202020204" pitchFamily="34" charset="0"/>
                <a:ea typeface="Times New Roman" panose="02020603050405020304" pitchFamily="18" charset="0"/>
                <a:cs typeface="Vrinda" panose="020B0502040204020203" pitchFamily="34" charset="0"/>
              </a:rPr>
              <a:t>diblock</a:t>
            </a:r>
            <a:r>
              <a:rPr lang="en-US" dirty="0">
                <a:solidFill>
                  <a:srgbClr val="333333"/>
                </a:solidFill>
                <a:latin typeface="Arial" panose="020B0604020202020204" pitchFamily="34" charset="0"/>
                <a:ea typeface="Times New Roman" panose="02020603050405020304" pitchFamily="18" charset="0"/>
                <a:cs typeface="Vrinda" panose="020B0502040204020203" pitchFamily="34" charset="0"/>
              </a:rPr>
              <a:t> copolymer contains two </a:t>
            </a:r>
            <a:r>
              <a:rPr lang="en-US" dirty="0" err="1">
                <a:solidFill>
                  <a:srgbClr val="333333"/>
                </a:solidFill>
                <a:latin typeface="Arial" panose="020B0604020202020204" pitchFamily="34" charset="0"/>
                <a:ea typeface="Times New Roman" panose="02020603050405020304" pitchFamily="18" charset="0"/>
                <a:cs typeface="Vrinda" panose="020B0502040204020203" pitchFamily="34" charset="0"/>
              </a:rPr>
              <a:t>homopolymer</a:t>
            </a:r>
            <a:r>
              <a:rPr lang="en-US" dirty="0">
                <a:solidFill>
                  <a:srgbClr val="333333"/>
                </a:solidFill>
                <a:latin typeface="Arial" panose="020B0604020202020204" pitchFamily="34" charset="0"/>
                <a:ea typeface="Times New Roman" panose="02020603050405020304" pitchFamily="18" charset="0"/>
                <a:cs typeface="Vrinda" panose="020B0502040204020203" pitchFamily="34" charset="0"/>
              </a:rPr>
              <a:t> blocks whereas a </a:t>
            </a:r>
            <a:r>
              <a:rPr lang="en-US" dirty="0" err="1">
                <a:solidFill>
                  <a:srgbClr val="333333"/>
                </a:solidFill>
                <a:latin typeface="Arial" panose="020B0604020202020204" pitchFamily="34" charset="0"/>
                <a:ea typeface="Times New Roman" panose="02020603050405020304" pitchFamily="18" charset="0"/>
                <a:cs typeface="Vrinda" panose="020B0502040204020203" pitchFamily="34" charset="0"/>
              </a:rPr>
              <a:t>triblock</a:t>
            </a:r>
            <a:r>
              <a:rPr lang="en-US" dirty="0">
                <a:solidFill>
                  <a:srgbClr val="333333"/>
                </a:solidFill>
                <a:latin typeface="Arial" panose="020B0604020202020204" pitchFamily="34" charset="0"/>
                <a:ea typeface="Times New Roman" panose="02020603050405020304" pitchFamily="18" charset="0"/>
                <a:cs typeface="Vrinda" panose="020B0502040204020203" pitchFamily="34" charset="0"/>
              </a:rPr>
              <a:t> copolymer contains three distinct blocks of </a:t>
            </a:r>
            <a:r>
              <a:rPr lang="en-US" dirty="0" err="1">
                <a:solidFill>
                  <a:srgbClr val="333333"/>
                </a:solidFill>
                <a:latin typeface="Arial" panose="020B0604020202020204" pitchFamily="34" charset="0"/>
                <a:ea typeface="Times New Roman" panose="02020603050405020304" pitchFamily="18" charset="0"/>
                <a:cs typeface="Vrinda" panose="020B0502040204020203" pitchFamily="34" charset="0"/>
              </a:rPr>
              <a:t>homopolymers</a:t>
            </a:r>
            <a:r>
              <a:rPr lang="en-US" dirty="0">
                <a:solidFill>
                  <a:srgbClr val="333333"/>
                </a:solidFill>
                <a:latin typeface="Arial" panose="020B0604020202020204" pitchFamily="34" charset="0"/>
                <a:ea typeface="Times New Roman" panose="02020603050405020304" pitchFamily="18" charset="0"/>
                <a:cs typeface="Vrinda" panose="020B0502040204020203" pitchFamily="34" charset="0"/>
              </a:rPr>
              <a:t>.</a:t>
            </a:r>
            <a:endParaRPr lang="en-US" sz="1050" dirty="0">
              <a:latin typeface="Calibri" panose="020F0502020204030204" pitchFamily="34" charset="0"/>
              <a:ea typeface="Times New Roman" panose="02020603050405020304" pitchFamily="18" charset="0"/>
              <a:cs typeface="Vrinda" panose="020B0502040204020203" pitchFamily="34" charset="0"/>
            </a:endParaRPr>
          </a:p>
          <a:p>
            <a:pPr>
              <a:lnSpc>
                <a:spcPct val="110000"/>
              </a:lnSpc>
            </a:pPr>
            <a:r>
              <a:rPr lang="en-US" dirty="0">
                <a:latin typeface="Arial" panose="020B0604020202020204" pitchFamily="34" charset="0"/>
                <a:ea typeface="Times New Roman" panose="02020603050405020304" pitchFamily="18" charset="0"/>
                <a:cs typeface="Vrinda" panose="020B0502040204020203" pitchFamily="34" charset="0"/>
              </a:rPr>
              <a:t>An example of such a polymer is </a:t>
            </a:r>
            <a:r>
              <a:rPr lang="en-US" dirty="0">
                <a:solidFill>
                  <a:srgbClr val="0563C1"/>
                </a:solidFill>
                <a:latin typeface="Arial" panose="020B0604020202020204" pitchFamily="34" charset="0"/>
                <a:ea typeface="Times New Roman" panose="02020603050405020304" pitchFamily="18" charset="0"/>
                <a:cs typeface="Vrinda" panose="020B0502040204020203" pitchFamily="34" charset="0"/>
                <a:hlinkClick r:id="rId3"/>
              </a:rPr>
              <a:t>acrylonitrile</a:t>
            </a:r>
            <a:r>
              <a:rPr lang="en-US" dirty="0">
                <a:solidFill>
                  <a:srgbClr val="333333"/>
                </a:solidFill>
                <a:latin typeface="Arial" panose="020B0604020202020204" pitchFamily="34" charset="0"/>
                <a:ea typeface="Times New Roman" panose="02020603050405020304" pitchFamily="18" charset="0"/>
                <a:cs typeface="Vrinda" panose="020B0502040204020203" pitchFamily="34" charset="0"/>
              </a:rPr>
              <a:t> butadiene styrene, commonly referred to as SBS </a:t>
            </a:r>
            <a:endParaRPr lang="en-US" sz="1050" dirty="0">
              <a:effectLst/>
              <a:latin typeface="Calibri" panose="020F0502020204030204" pitchFamily="34" charset="0"/>
              <a:ea typeface="Times New Roman" panose="02020603050405020304" pitchFamily="18" charset="0"/>
              <a:cs typeface="Vrinda" panose="020B0502040204020203" pitchFamily="34" charset="0"/>
            </a:endParaRPr>
          </a:p>
        </p:txBody>
      </p:sp>
      <p:pic>
        <p:nvPicPr>
          <p:cNvPr id="3" name="Picture 2" descr="Block Copolymer"/>
          <p:cNvPicPr/>
          <p:nvPr/>
        </p:nvPicPr>
        <p:blipFill>
          <a:blip r:embed="rId4">
            <a:extLst>
              <a:ext uri="{28A0092B-C50C-407E-A947-70E740481C1C}">
                <a14:useLocalDpi xmlns:a14="http://schemas.microsoft.com/office/drawing/2010/main" val="0"/>
              </a:ext>
            </a:extLst>
          </a:blip>
          <a:srcRect/>
          <a:stretch>
            <a:fillRect/>
          </a:stretch>
        </p:blipFill>
        <p:spPr bwMode="auto">
          <a:xfrm>
            <a:off x="2269435" y="4220582"/>
            <a:ext cx="5943600" cy="1040765"/>
          </a:xfrm>
          <a:prstGeom prst="rect">
            <a:avLst/>
          </a:prstGeom>
          <a:noFill/>
          <a:ln>
            <a:noFill/>
          </a:ln>
        </p:spPr>
      </p:pic>
    </p:spTree>
    <p:extLst>
      <p:ext uri="{BB962C8B-B14F-4D97-AF65-F5344CB8AC3E}">
        <p14:creationId xmlns:p14="http://schemas.microsoft.com/office/powerpoint/2010/main" val="27236588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10748" y="636351"/>
            <a:ext cx="6096000" cy="3019288"/>
          </a:xfrm>
          <a:prstGeom prst="rect">
            <a:avLst/>
          </a:prstGeom>
        </p:spPr>
        <p:txBody>
          <a:bodyPr>
            <a:spAutoFit/>
          </a:bodyPr>
          <a:lstStyle/>
          <a:p>
            <a:pPr>
              <a:lnSpc>
                <a:spcPct val="110000"/>
              </a:lnSpc>
            </a:pPr>
            <a:r>
              <a:rPr lang="en-US" sz="2400" b="1" dirty="0">
                <a:latin typeface="Times New Roman" panose="02020603050405020304" pitchFamily="18" charset="0"/>
                <a:ea typeface="Times New Roman" panose="02020603050405020304" pitchFamily="18" charset="0"/>
                <a:cs typeface="Vrinda" panose="020B0502040204020203" pitchFamily="34" charset="0"/>
              </a:rPr>
              <a:t>Graft Copolymer. </a:t>
            </a:r>
            <a:endParaRPr lang="en-US" sz="2400" dirty="0">
              <a:latin typeface="Calibri" panose="020F0502020204030204" pitchFamily="34" charset="0"/>
              <a:ea typeface="Times New Roman" panose="02020603050405020304" pitchFamily="18" charset="0"/>
              <a:cs typeface="Vrinda" panose="020B0502040204020203" pitchFamily="34" charset="0"/>
            </a:endParaRPr>
          </a:p>
          <a:p>
            <a:pPr>
              <a:lnSpc>
                <a:spcPct val="110000"/>
              </a:lnSpc>
            </a:pPr>
            <a:r>
              <a:rPr lang="en-US" dirty="0">
                <a:latin typeface="Times New Roman" panose="02020603050405020304" pitchFamily="18" charset="0"/>
                <a:ea typeface="Times New Roman" panose="02020603050405020304" pitchFamily="18" charset="0"/>
                <a:cs typeface="Vrinda" panose="020B0502040204020203" pitchFamily="34" charset="0"/>
              </a:rPr>
              <a:t> </a:t>
            </a:r>
            <a:endParaRPr lang="en-US" sz="1050" dirty="0">
              <a:latin typeface="Calibri" panose="020F0502020204030204" pitchFamily="34" charset="0"/>
              <a:ea typeface="Times New Roman" panose="02020603050405020304" pitchFamily="18" charset="0"/>
              <a:cs typeface="Vrinda" panose="020B0502040204020203" pitchFamily="34" charset="0"/>
            </a:endParaRPr>
          </a:p>
          <a:p>
            <a:r>
              <a:rPr lang="en-US" sz="2400" dirty="0">
                <a:latin typeface="Times New Roman" panose="02020603050405020304" pitchFamily="18" charset="0"/>
                <a:ea typeface="Times New Roman" panose="02020603050405020304" pitchFamily="18" charset="0"/>
              </a:rPr>
              <a:t>Graft copolymer is a type of</a:t>
            </a:r>
            <a:r>
              <a:rPr lang="en-US" sz="2400" b="1" dirty="0">
                <a:solidFill>
                  <a:srgbClr val="767676"/>
                </a:solidFill>
                <a:latin typeface="Times New Roman" panose="02020603050405020304" pitchFamily="18" charset="0"/>
                <a:ea typeface="Times New Roman" panose="02020603050405020304" pitchFamily="18" charset="0"/>
              </a:rPr>
              <a:t> copolymer</a:t>
            </a:r>
            <a:r>
              <a:rPr lang="en-US" sz="2400" dirty="0">
                <a:latin typeface="Times New Roman" panose="02020603050405020304" pitchFamily="18" charset="0"/>
                <a:ea typeface="Times New Roman" panose="02020603050405020304" pitchFamily="18" charset="0"/>
              </a:rPr>
              <a:t> in which one or more blocks of </a:t>
            </a:r>
            <a:r>
              <a:rPr lang="en-US" sz="2400" dirty="0" err="1">
                <a:latin typeface="Times New Roman" panose="02020603050405020304" pitchFamily="18" charset="0"/>
                <a:ea typeface="Times New Roman" panose="02020603050405020304" pitchFamily="18" charset="0"/>
              </a:rPr>
              <a:t>homopolymer</a:t>
            </a:r>
            <a:r>
              <a:rPr lang="en-US" sz="2400" dirty="0">
                <a:latin typeface="Times New Roman" panose="02020603050405020304" pitchFamily="18" charset="0"/>
                <a:ea typeface="Times New Roman" panose="02020603050405020304" pitchFamily="18" charset="0"/>
              </a:rPr>
              <a:t> are grafted as branches onto a main chain, meaning it is a branched</a:t>
            </a:r>
            <a:r>
              <a:rPr lang="en-US" sz="2400" b="1" dirty="0">
                <a:solidFill>
                  <a:srgbClr val="767676"/>
                </a:solidFill>
                <a:latin typeface="Times New Roman" panose="02020603050405020304" pitchFamily="18" charset="0"/>
                <a:ea typeface="Times New Roman" panose="02020603050405020304" pitchFamily="18" charset="0"/>
              </a:rPr>
              <a:t> copolymer</a:t>
            </a:r>
            <a:r>
              <a:rPr lang="en-US" sz="2400" dirty="0">
                <a:latin typeface="Times New Roman" panose="02020603050405020304" pitchFamily="18" charset="0"/>
                <a:ea typeface="Times New Roman" panose="02020603050405020304" pitchFamily="18" charset="0"/>
              </a:rPr>
              <a:t> with one or more side chains of a </a:t>
            </a:r>
            <a:r>
              <a:rPr lang="en-US" sz="2400" dirty="0" err="1">
                <a:latin typeface="Times New Roman" panose="02020603050405020304" pitchFamily="18" charset="0"/>
                <a:ea typeface="Times New Roman" panose="02020603050405020304" pitchFamily="18" charset="0"/>
              </a:rPr>
              <a:t>homopolymer</a:t>
            </a:r>
            <a:r>
              <a:rPr lang="en-US" sz="2400" dirty="0">
                <a:latin typeface="Times New Roman" panose="02020603050405020304" pitchFamily="18" charset="0"/>
                <a:ea typeface="Times New Roman" panose="02020603050405020304" pitchFamily="18" charset="0"/>
              </a:rPr>
              <a:t> attached to the backbone of the main chain</a:t>
            </a:r>
            <a:endParaRPr lang="en-US" sz="2400" dirty="0"/>
          </a:p>
        </p:txBody>
      </p:sp>
    </p:spTree>
    <p:extLst>
      <p:ext uri="{BB962C8B-B14F-4D97-AF65-F5344CB8AC3E}">
        <p14:creationId xmlns:p14="http://schemas.microsoft.com/office/powerpoint/2010/main" val="36955250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ttps://pslc.ws/macrog/images/copol04.gif"/>
          <p:cNvPicPr/>
          <p:nvPr/>
        </p:nvPicPr>
        <p:blipFill>
          <a:blip r:embed="rId2">
            <a:extLst>
              <a:ext uri="{28A0092B-C50C-407E-A947-70E740481C1C}">
                <a14:useLocalDpi xmlns:a14="http://schemas.microsoft.com/office/drawing/2010/main" val="0"/>
              </a:ext>
            </a:extLst>
          </a:blip>
          <a:srcRect/>
          <a:stretch>
            <a:fillRect/>
          </a:stretch>
        </p:blipFill>
        <p:spPr bwMode="auto">
          <a:xfrm>
            <a:off x="3416300" y="1047432"/>
            <a:ext cx="5359400" cy="4763135"/>
          </a:xfrm>
          <a:prstGeom prst="rect">
            <a:avLst/>
          </a:prstGeom>
          <a:noFill/>
          <a:ln>
            <a:noFill/>
          </a:ln>
        </p:spPr>
      </p:pic>
    </p:spTree>
    <p:extLst>
      <p:ext uri="{BB962C8B-B14F-4D97-AF65-F5344CB8AC3E}">
        <p14:creationId xmlns:p14="http://schemas.microsoft.com/office/powerpoint/2010/main" val="39187519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2263" y="395784"/>
            <a:ext cx="10699844" cy="5909310"/>
          </a:xfrm>
          <a:prstGeom prst="rect">
            <a:avLst/>
          </a:prstGeom>
        </p:spPr>
        <p:txBody>
          <a:bodyPr wrap="square">
            <a:spAutoFit/>
          </a:bodyPr>
          <a:lstStyle/>
          <a:p>
            <a:r>
              <a:rPr lang="en-US" dirty="0">
                <a:solidFill>
                  <a:srgbClr val="092C47"/>
                </a:solidFill>
                <a:latin typeface="Open Sans"/>
              </a:rPr>
              <a:t> Preparation of Graft Copolymers</a:t>
            </a:r>
          </a:p>
          <a:p>
            <a:pPr marL="342900" indent="-342900">
              <a:buAutoNum type="arabicPeriod"/>
            </a:pPr>
            <a:r>
              <a:rPr lang="en-US" dirty="0">
                <a:solidFill>
                  <a:srgbClr val="22445F"/>
                </a:solidFill>
                <a:latin typeface="Open Sans"/>
              </a:rPr>
              <a:t>Chemical method</a:t>
            </a:r>
          </a:p>
          <a:p>
            <a:pPr marL="342900" indent="-342900">
              <a:buAutoNum type="arabicPeriod"/>
            </a:pPr>
            <a:r>
              <a:rPr lang="en-US" dirty="0">
                <a:solidFill>
                  <a:srgbClr val="22445F"/>
                </a:solidFill>
                <a:latin typeface="Open Sans"/>
              </a:rPr>
              <a:t>Radiation method</a:t>
            </a:r>
          </a:p>
          <a:p>
            <a:pPr marL="342900" indent="-342900">
              <a:buAutoNum type="arabicPeriod"/>
            </a:pPr>
            <a:r>
              <a:rPr lang="en-US" dirty="0">
                <a:solidFill>
                  <a:srgbClr val="22445F"/>
                </a:solidFill>
                <a:latin typeface="Open Sans"/>
              </a:rPr>
              <a:t>Photochemical method</a:t>
            </a:r>
          </a:p>
          <a:p>
            <a:endParaRPr lang="en-US" dirty="0">
              <a:solidFill>
                <a:srgbClr val="22445F"/>
              </a:solidFill>
              <a:latin typeface="Open Sans"/>
            </a:endParaRPr>
          </a:p>
          <a:p>
            <a:endParaRPr lang="en-US" dirty="0">
              <a:solidFill>
                <a:srgbClr val="22445F"/>
              </a:solidFill>
              <a:latin typeface="Open Sans"/>
            </a:endParaRPr>
          </a:p>
          <a:p>
            <a:r>
              <a:rPr lang="en-US" dirty="0">
                <a:solidFill>
                  <a:srgbClr val="22445F"/>
                </a:solidFill>
                <a:latin typeface="Open Sans"/>
              </a:rPr>
              <a:t>Chemical method</a:t>
            </a:r>
          </a:p>
          <a:p>
            <a:endParaRPr lang="en-US" dirty="0">
              <a:solidFill>
                <a:srgbClr val="22445F"/>
              </a:solidFill>
              <a:latin typeface="Open Sans"/>
            </a:endParaRPr>
          </a:p>
          <a:p>
            <a:r>
              <a:rPr lang="en-US" dirty="0">
                <a:solidFill>
                  <a:srgbClr val="22445F"/>
                </a:solidFill>
                <a:latin typeface="Open Sans"/>
              </a:rPr>
              <a:t>Grafting through Chain transfer</a:t>
            </a:r>
          </a:p>
          <a:p>
            <a:endParaRPr lang="en-US" dirty="0">
              <a:solidFill>
                <a:srgbClr val="22445F"/>
              </a:solidFill>
              <a:latin typeface="Open Sans"/>
            </a:endParaRPr>
          </a:p>
          <a:p>
            <a:r>
              <a:rPr lang="en-US" dirty="0">
                <a:solidFill>
                  <a:srgbClr val="22445F"/>
                </a:solidFill>
                <a:latin typeface="Open Sans"/>
              </a:rPr>
              <a:t>First base polymer(</a:t>
            </a:r>
            <a:r>
              <a:rPr lang="en-US" dirty="0" err="1">
                <a:solidFill>
                  <a:srgbClr val="22445F"/>
                </a:solidFill>
                <a:latin typeface="Open Sans"/>
              </a:rPr>
              <a:t>polyacrylonitrile</a:t>
            </a:r>
            <a:r>
              <a:rPr lang="en-US" dirty="0">
                <a:solidFill>
                  <a:srgbClr val="22445F"/>
                </a:solidFill>
                <a:latin typeface="Open Sans"/>
              </a:rPr>
              <a:t>) is dissolved in monomer such as </a:t>
            </a:r>
            <a:r>
              <a:rPr lang="en-US" dirty="0" err="1">
                <a:solidFill>
                  <a:srgbClr val="22445F"/>
                </a:solidFill>
                <a:latin typeface="Open Sans"/>
              </a:rPr>
              <a:t>styrin</a:t>
            </a:r>
            <a:r>
              <a:rPr lang="en-US" dirty="0">
                <a:solidFill>
                  <a:srgbClr val="22445F"/>
                </a:solidFill>
                <a:latin typeface="Open Sans"/>
              </a:rPr>
              <a:t> and than an initiator is added. Two possible way of polymerization</a:t>
            </a:r>
          </a:p>
          <a:p>
            <a:pPr marL="400050" indent="-400050">
              <a:buAutoNum type="romanUcParenBoth"/>
            </a:pPr>
            <a:r>
              <a:rPr lang="en-US" dirty="0">
                <a:solidFill>
                  <a:srgbClr val="22445F"/>
                </a:solidFill>
                <a:latin typeface="Open Sans"/>
              </a:rPr>
              <a:t>Formation of polystyrene </a:t>
            </a:r>
            <a:r>
              <a:rPr lang="en-US" dirty="0" err="1">
                <a:solidFill>
                  <a:srgbClr val="22445F"/>
                </a:solidFill>
                <a:latin typeface="Open Sans"/>
              </a:rPr>
              <a:t>homopolymer</a:t>
            </a:r>
            <a:endParaRPr lang="en-US" dirty="0">
              <a:solidFill>
                <a:srgbClr val="22445F"/>
              </a:solidFill>
              <a:latin typeface="Open Sans"/>
            </a:endParaRPr>
          </a:p>
          <a:p>
            <a:pPr marL="400050" indent="-400050">
              <a:buAutoNum type="romanUcParenBoth"/>
            </a:pPr>
            <a:r>
              <a:rPr lang="en-US" dirty="0">
                <a:solidFill>
                  <a:srgbClr val="22445F"/>
                </a:solidFill>
                <a:latin typeface="Open Sans"/>
              </a:rPr>
              <a:t>Grafting polystyrene onto </a:t>
            </a:r>
            <a:r>
              <a:rPr lang="en-US" dirty="0" err="1">
                <a:solidFill>
                  <a:srgbClr val="22445F"/>
                </a:solidFill>
                <a:latin typeface="Open Sans"/>
              </a:rPr>
              <a:t>polyacrylonitrile</a:t>
            </a:r>
            <a:endParaRPr lang="en-US" dirty="0">
              <a:solidFill>
                <a:srgbClr val="22445F"/>
              </a:solidFill>
              <a:latin typeface="Open Sans"/>
            </a:endParaRPr>
          </a:p>
          <a:p>
            <a:r>
              <a:rPr lang="en-US" dirty="0">
                <a:solidFill>
                  <a:srgbClr val="22445F"/>
                </a:solidFill>
                <a:latin typeface="Open Sans"/>
              </a:rPr>
              <a:t> </a:t>
            </a:r>
          </a:p>
          <a:p>
            <a:r>
              <a:rPr lang="en-US" dirty="0">
                <a:solidFill>
                  <a:srgbClr val="22445F"/>
                </a:solidFill>
                <a:latin typeface="Open Sans"/>
              </a:rPr>
              <a:t>In second one free radical created by interaction with initiator (some metals or non metal). The free radical produced on backbone of base polymer which result formation of graft copolymer</a:t>
            </a:r>
          </a:p>
          <a:p>
            <a:endParaRPr lang="en-US" dirty="0">
              <a:solidFill>
                <a:srgbClr val="22445F"/>
              </a:solidFill>
              <a:latin typeface="Open Sans"/>
            </a:endParaRPr>
          </a:p>
          <a:p>
            <a:endParaRPr lang="en-US" dirty="0">
              <a:solidFill>
                <a:srgbClr val="22445F"/>
              </a:solidFill>
              <a:latin typeface="Open Sans"/>
            </a:endParaRPr>
          </a:p>
          <a:p>
            <a:endParaRPr lang="en-US" dirty="0">
              <a:solidFill>
                <a:srgbClr val="22445F"/>
              </a:solidFill>
              <a:latin typeface="Open Sans"/>
            </a:endParaRPr>
          </a:p>
          <a:p>
            <a:endParaRPr lang="en-US" dirty="0">
              <a:solidFill>
                <a:srgbClr val="22445F"/>
              </a:solidFill>
              <a:latin typeface="Open Sans"/>
            </a:endParaRPr>
          </a:p>
        </p:txBody>
      </p:sp>
    </p:spTree>
    <p:extLst>
      <p:ext uri="{BB962C8B-B14F-4D97-AF65-F5344CB8AC3E}">
        <p14:creationId xmlns:p14="http://schemas.microsoft.com/office/powerpoint/2010/main" val="12397829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369324" y="1132764"/>
            <a:ext cx="8934735" cy="2554545"/>
          </a:xfrm>
          <a:prstGeom prst="rect">
            <a:avLst/>
          </a:prstGeom>
        </p:spPr>
        <p:txBody>
          <a:bodyPr wrap="square">
            <a:spAutoFit/>
          </a:bodyPr>
          <a:lstStyle/>
          <a:p>
            <a:pPr fontAlgn="base"/>
            <a:r>
              <a:rPr lang="en-US" sz="3200" dirty="0">
                <a:solidFill>
                  <a:srgbClr val="6DB3BF"/>
                </a:solidFill>
                <a:latin typeface="Times New Roman" panose="02020603050405020304" pitchFamily="18" charset="0"/>
                <a:cs typeface="Times New Roman" panose="02020603050405020304" pitchFamily="18" charset="0"/>
              </a:rPr>
              <a:t>Synthesis of block polymerization            </a:t>
            </a:r>
          </a:p>
          <a:p>
            <a:pPr algn="just" fontAlgn="base"/>
            <a:r>
              <a:rPr lang="en-US" sz="3200" dirty="0">
                <a:solidFill>
                  <a:srgbClr val="444444"/>
                </a:solidFill>
                <a:latin typeface="Times New Roman" panose="02020603050405020304" pitchFamily="18" charset="0"/>
                <a:cs typeface="Times New Roman" panose="02020603050405020304" pitchFamily="18" charset="0"/>
              </a:rPr>
              <a:t>The synthesis of block copolymers often requires the use of living polymerization techniques. Meanwhile, graft copolymers can be synthesized using free-radical polymerization or other methods</a:t>
            </a:r>
            <a:endParaRPr lang="en-US" sz="3200" b="0" i="0" dirty="0">
              <a:solidFill>
                <a:srgbClr val="444444"/>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97631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69073" y="968991"/>
            <a:ext cx="10872717" cy="3539430"/>
          </a:xfrm>
          <a:prstGeom prst="rect">
            <a:avLst/>
          </a:prstGeom>
        </p:spPr>
        <p:txBody>
          <a:bodyPr wrap="square">
            <a:spAutoFit/>
          </a:bodyPr>
          <a:lstStyle/>
          <a:p>
            <a:r>
              <a:rPr lang="en-US" sz="3200" dirty="0">
                <a:solidFill>
                  <a:srgbClr val="22445F"/>
                </a:solidFill>
                <a:latin typeface="Times New Roman" panose="02020603050405020304" pitchFamily="18" charset="0"/>
                <a:cs typeface="Times New Roman" panose="02020603050405020304" pitchFamily="18" charset="0"/>
              </a:rPr>
              <a:t>. These side chains can have a different chemical structure and properties than the main chain.</a:t>
            </a:r>
          </a:p>
          <a:p>
            <a:r>
              <a:rPr lang="en-US" sz="3200" dirty="0">
                <a:solidFill>
                  <a:srgbClr val="22445F"/>
                </a:solidFill>
                <a:latin typeface="Times New Roman" panose="02020603050405020304" pitchFamily="18" charset="0"/>
                <a:cs typeface="Times New Roman" panose="02020603050405020304" pitchFamily="18" charset="0"/>
              </a:rPr>
              <a:t>This offers various beneficial properties such as: versatility of properties, enhanced compatibility/bonding with other materials according to graft chemistry, improved properties from graft selection, acting as toughening additives for other polymers, and aiding nanomaterial dispersion into other chemistries</a:t>
            </a:r>
            <a:r>
              <a:rPr lang="en-US" sz="3200" dirty="0">
                <a:solidFill>
                  <a:srgbClr val="22445F"/>
                </a:solidFill>
                <a:latin typeface="Open Sans"/>
              </a:rPr>
              <a:t>.</a:t>
            </a:r>
          </a:p>
        </p:txBody>
      </p:sp>
    </p:spTree>
    <p:extLst>
      <p:ext uri="{BB962C8B-B14F-4D97-AF65-F5344CB8AC3E}">
        <p14:creationId xmlns:p14="http://schemas.microsoft.com/office/powerpoint/2010/main" val="25725555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06554" y="1869743"/>
            <a:ext cx="8934735" cy="3539430"/>
          </a:xfrm>
          <a:prstGeom prst="rect">
            <a:avLst/>
          </a:prstGeom>
        </p:spPr>
        <p:txBody>
          <a:bodyPr wrap="square">
            <a:spAutoFit/>
          </a:bodyPr>
          <a:lstStyle/>
          <a:p>
            <a:pPr fontAlgn="base"/>
            <a:r>
              <a:rPr lang="en-US" sz="3200" dirty="0">
                <a:latin typeface="Times New Roman" panose="02020603050405020304" pitchFamily="18" charset="0"/>
                <a:cs typeface="Times New Roman" panose="02020603050405020304" pitchFamily="18" charset="0"/>
              </a:rPr>
              <a:t>Synthesis of block polymerization  </a:t>
            </a:r>
          </a:p>
          <a:p>
            <a:pPr fontAlgn="base"/>
            <a:endParaRPr lang="en-US" sz="3200" dirty="0">
              <a:latin typeface="Times New Roman" panose="02020603050405020304" pitchFamily="18" charset="0"/>
              <a:cs typeface="Times New Roman" panose="02020603050405020304" pitchFamily="18" charset="0"/>
            </a:endParaRPr>
          </a:p>
          <a:p>
            <a:pPr fontAlgn="base"/>
            <a:r>
              <a:rPr lang="en-US" sz="3200" dirty="0">
                <a:latin typeface="Times New Roman" panose="02020603050405020304" pitchFamily="18" charset="0"/>
                <a:cs typeface="Times New Roman" panose="02020603050405020304" pitchFamily="18" charset="0"/>
              </a:rPr>
              <a:t>1. A second monomer can be polymerized onto existing polymer  chain.</a:t>
            </a:r>
          </a:p>
          <a:p>
            <a:pPr fontAlgn="base"/>
            <a:r>
              <a:rPr lang="en-US" sz="3200" dirty="0">
                <a:latin typeface="Times New Roman" panose="02020603050405020304" pitchFamily="18" charset="0"/>
                <a:cs typeface="Times New Roman" panose="02020603050405020304" pitchFamily="18" charset="0"/>
              </a:rPr>
              <a:t>2. </a:t>
            </a:r>
            <a:r>
              <a:rPr lang="en-US" sz="3200" dirty="0">
                <a:solidFill>
                  <a:srgbClr val="6DB3BF"/>
                </a:solidFill>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performed polymer chains could be </a:t>
            </a:r>
            <a:r>
              <a:rPr lang="en-US" sz="3200" dirty="0" err="1">
                <a:latin typeface="Times New Roman" panose="02020603050405020304" pitchFamily="18" charset="0"/>
                <a:cs typeface="Times New Roman" panose="02020603050405020304" pitchFamily="18" charset="0"/>
              </a:rPr>
              <a:t>combind</a:t>
            </a:r>
            <a:r>
              <a:rPr lang="en-US" sz="3200" dirty="0">
                <a:latin typeface="Times New Roman" panose="02020603050405020304" pitchFamily="18" charset="0"/>
                <a:cs typeface="Times New Roman" panose="02020603050405020304" pitchFamily="18" charset="0"/>
              </a:rPr>
              <a:t> with other polymeric chains with the aid of functional group</a:t>
            </a:r>
            <a:r>
              <a:rPr lang="en-US" sz="3200" dirty="0">
                <a:solidFill>
                  <a:srgbClr val="6DB3BF"/>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2182069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792894"/>
            <a:ext cx="6096000" cy="5576911"/>
          </a:xfrm>
          <a:prstGeom prst="rect">
            <a:avLst/>
          </a:prstGeom>
        </p:spPr>
        <p:txBody>
          <a:bodyPr>
            <a:spAutoFit/>
          </a:bodyPr>
          <a:lstStyle/>
          <a:p>
            <a:pPr marL="228600" marR="0">
              <a:lnSpc>
                <a:spcPct val="110000"/>
              </a:lnSpc>
              <a:spcBef>
                <a:spcPts val="0"/>
              </a:spcBef>
              <a:spcAft>
                <a:spcPts val="0"/>
              </a:spcAft>
            </a:pPr>
            <a:r>
              <a:rPr lang="en-US" dirty="0">
                <a:solidFill>
                  <a:srgbClr val="3B3835"/>
                </a:solidFill>
                <a:latin typeface="Helvetica" panose="020B0604020202020204" pitchFamily="34" charset="0"/>
                <a:ea typeface="Times New Roman" panose="02020603050405020304" pitchFamily="18" charset="0"/>
                <a:cs typeface="Times New Roman" panose="02020603050405020304" pitchFamily="18" charset="0"/>
              </a:rPr>
              <a:t>Classification based on  Applications &amp; Physical Properties </a:t>
            </a:r>
            <a:endParaRPr lang="en-US" sz="1100" dirty="0">
              <a:latin typeface="Calibri" panose="020F0502020204030204" pitchFamily="34" charset="0"/>
              <a:ea typeface="Times New Roman" panose="02020603050405020304" pitchFamily="18" charset="0"/>
              <a:cs typeface="Vrinda" panose="020B0502040204020203" pitchFamily="34" charset="0"/>
            </a:endParaRPr>
          </a:p>
          <a:p>
            <a:pPr marL="228600" marR="0">
              <a:lnSpc>
                <a:spcPct val="110000"/>
              </a:lnSpc>
              <a:spcBef>
                <a:spcPts val="0"/>
              </a:spcBef>
              <a:spcAft>
                <a:spcPts val="0"/>
              </a:spcAft>
            </a:pPr>
            <a:r>
              <a:rPr lang="en-US" dirty="0">
                <a:solidFill>
                  <a:srgbClr val="3B3835"/>
                </a:solidFill>
                <a:latin typeface="Helvetica" panose="020B0604020202020204" pitchFamily="34" charset="0"/>
                <a:ea typeface="Times New Roman" panose="02020603050405020304" pitchFamily="18" charset="0"/>
                <a:cs typeface="Times New Roman" panose="02020603050405020304" pitchFamily="18" charset="0"/>
              </a:rPr>
              <a:t> </a:t>
            </a:r>
            <a:endParaRPr lang="en-US" sz="1100" dirty="0">
              <a:latin typeface="Calibri" panose="020F0502020204030204" pitchFamily="34" charset="0"/>
              <a:ea typeface="Times New Roman" panose="02020603050405020304" pitchFamily="18" charset="0"/>
              <a:cs typeface="Vrinda" panose="020B0502040204020203" pitchFamily="34" charset="0"/>
            </a:endParaRPr>
          </a:p>
          <a:p>
            <a:pPr marL="228600" marR="0">
              <a:lnSpc>
                <a:spcPct val="110000"/>
              </a:lnSpc>
              <a:spcBef>
                <a:spcPts val="0"/>
              </a:spcBef>
              <a:spcAft>
                <a:spcPts val="0"/>
              </a:spcAft>
            </a:pPr>
            <a:r>
              <a:rPr lang="en-US" dirty="0">
                <a:solidFill>
                  <a:srgbClr val="3B3835"/>
                </a:solidFill>
                <a:latin typeface="Helvetica" panose="020B0604020202020204" pitchFamily="34" charset="0"/>
                <a:ea typeface="Times New Roman" panose="02020603050405020304" pitchFamily="18" charset="0"/>
                <a:cs typeface="Times New Roman" panose="02020603050405020304" pitchFamily="18" charset="0"/>
              </a:rPr>
              <a:t>Fibers </a:t>
            </a:r>
            <a:r>
              <a:rPr lang="en-US" dirty="0">
                <a:solidFill>
                  <a:srgbClr val="3B3835"/>
                </a:solidFill>
                <a:latin typeface="Helvetica" panose="020B0604020202020204" pitchFamily="34" charset="0"/>
                <a:ea typeface="Times New Roman" panose="02020603050405020304" pitchFamily="18" charset="0"/>
                <a:cs typeface="Times New Roman" panose="02020603050405020304" pitchFamily="18" charset="0"/>
                <a:sym typeface="Symbol" panose="05050102010706020507" pitchFamily="18" charset="2"/>
              </a:rPr>
              <a:t></a:t>
            </a:r>
            <a:r>
              <a:rPr lang="en-US" dirty="0">
                <a:solidFill>
                  <a:srgbClr val="3B3835"/>
                </a:solidFill>
                <a:latin typeface="Helvetica" panose="020B0604020202020204" pitchFamily="34" charset="0"/>
                <a:ea typeface="Times New Roman" panose="02020603050405020304" pitchFamily="18" charset="0"/>
                <a:cs typeface="Times New Roman" panose="02020603050405020304" pitchFamily="18" charset="0"/>
              </a:rPr>
              <a:t>If polymer is drawn into long filament like materiel whose length is at least 100 times it’s diameter, are said to be converted into fiber. </a:t>
            </a:r>
            <a:r>
              <a:rPr lang="en-US" dirty="0">
                <a:solidFill>
                  <a:srgbClr val="3B3835"/>
                </a:solidFill>
                <a:latin typeface="Helvetica" panose="020B0604020202020204" pitchFamily="34" charset="0"/>
                <a:ea typeface="Times New Roman" panose="02020603050405020304" pitchFamily="18" charset="0"/>
                <a:cs typeface="Times New Roman" panose="02020603050405020304" pitchFamily="18" charset="0"/>
                <a:sym typeface="Symbol" panose="05050102010706020507" pitchFamily="18" charset="2"/>
              </a:rPr>
              <a:t></a:t>
            </a:r>
            <a:r>
              <a:rPr lang="en-US" dirty="0">
                <a:solidFill>
                  <a:srgbClr val="3B3835"/>
                </a:solidFill>
                <a:latin typeface="Helvetica" panose="020B0604020202020204" pitchFamily="34" charset="0"/>
                <a:ea typeface="Times New Roman" panose="02020603050405020304" pitchFamily="18" charset="0"/>
                <a:cs typeface="Times New Roman" panose="02020603050405020304" pitchFamily="18" charset="0"/>
              </a:rPr>
              <a:t>They have high tensile strength because of high intermolecular attractive force like Hydrogen bonding. </a:t>
            </a:r>
            <a:r>
              <a:rPr lang="en-US" dirty="0">
                <a:solidFill>
                  <a:srgbClr val="3B3835"/>
                </a:solidFill>
                <a:latin typeface="Helvetica" panose="020B0604020202020204" pitchFamily="34" charset="0"/>
                <a:ea typeface="Times New Roman" panose="02020603050405020304" pitchFamily="18" charset="0"/>
                <a:cs typeface="Times New Roman" panose="02020603050405020304" pitchFamily="18" charset="0"/>
                <a:sym typeface="Symbol" panose="05050102010706020507" pitchFamily="18" charset="2"/>
              </a:rPr>
              <a:t></a:t>
            </a:r>
            <a:r>
              <a:rPr lang="en-US" dirty="0">
                <a:solidFill>
                  <a:srgbClr val="3B3835"/>
                </a:solidFill>
                <a:latin typeface="Helvetica" panose="020B0604020202020204" pitchFamily="34" charset="0"/>
                <a:ea typeface="Times New Roman" panose="02020603050405020304" pitchFamily="18" charset="0"/>
                <a:cs typeface="Times New Roman" panose="02020603050405020304" pitchFamily="18" charset="0"/>
              </a:rPr>
              <a:t>Highly crystalline. E.g. Nylon, </a:t>
            </a:r>
            <a:r>
              <a:rPr lang="en-US" dirty="0" err="1">
                <a:solidFill>
                  <a:srgbClr val="3B3835"/>
                </a:solidFill>
                <a:latin typeface="Helvetica" panose="020B0604020202020204" pitchFamily="34" charset="0"/>
                <a:ea typeface="Times New Roman" panose="02020603050405020304" pitchFamily="18" charset="0"/>
                <a:cs typeface="Times New Roman" panose="02020603050405020304" pitchFamily="18" charset="0"/>
              </a:rPr>
              <a:t>Terylene</a:t>
            </a:r>
            <a:r>
              <a:rPr lang="en-US" dirty="0">
                <a:solidFill>
                  <a:srgbClr val="3B3835"/>
                </a:solidFill>
                <a:latin typeface="Helvetica" panose="020B0604020202020204" pitchFamily="34"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Times New Roman" panose="02020603050405020304" pitchFamily="18" charset="0"/>
              <a:cs typeface="Vrinda" panose="020B0502040204020203" pitchFamily="34" charset="0"/>
            </a:endParaRPr>
          </a:p>
          <a:p>
            <a:pPr>
              <a:lnSpc>
                <a:spcPct val="110000"/>
              </a:lnSpc>
            </a:pPr>
            <a:r>
              <a:rPr lang="en-US" dirty="0">
                <a:solidFill>
                  <a:srgbClr val="3B3835"/>
                </a:solidFill>
                <a:latin typeface="Helvetica" panose="020B0604020202020204" pitchFamily="34" charset="0"/>
                <a:ea typeface="Times New Roman" panose="02020603050405020304" pitchFamily="18" charset="0"/>
                <a:cs typeface="Times New Roman" panose="02020603050405020304" pitchFamily="18" charset="0"/>
              </a:rPr>
              <a:t> </a:t>
            </a:r>
            <a:endParaRPr lang="en-US" sz="1100" dirty="0">
              <a:latin typeface="Calibri" panose="020F0502020204030204" pitchFamily="34" charset="0"/>
              <a:ea typeface="Times New Roman" panose="02020603050405020304" pitchFamily="18" charset="0"/>
              <a:cs typeface="Vrinda" panose="020B0502040204020203" pitchFamily="34" charset="0"/>
            </a:endParaRPr>
          </a:p>
          <a:p>
            <a:pPr>
              <a:lnSpc>
                <a:spcPct val="110000"/>
              </a:lnSpc>
            </a:pPr>
            <a:r>
              <a:rPr lang="en-US" dirty="0">
                <a:solidFill>
                  <a:srgbClr val="3B3835"/>
                </a:solidFill>
                <a:latin typeface="Helvetica" panose="020B0604020202020204" pitchFamily="34" charset="0"/>
                <a:ea typeface="Times New Roman" panose="02020603050405020304" pitchFamily="18" charset="0"/>
                <a:cs typeface="Times New Roman" panose="02020603050405020304" pitchFamily="18" charset="0"/>
              </a:rPr>
              <a:t> </a:t>
            </a:r>
            <a:endParaRPr lang="en-US" sz="1100" dirty="0">
              <a:latin typeface="Calibri" panose="020F0502020204030204" pitchFamily="34" charset="0"/>
              <a:ea typeface="Times New Roman" panose="02020603050405020304" pitchFamily="18" charset="0"/>
              <a:cs typeface="Vrinda" panose="020B0502040204020203" pitchFamily="34" charset="0"/>
            </a:endParaRPr>
          </a:p>
          <a:p>
            <a:pPr>
              <a:lnSpc>
                <a:spcPct val="110000"/>
              </a:lnSpc>
            </a:pPr>
            <a:r>
              <a:rPr lang="en-US" dirty="0">
                <a:solidFill>
                  <a:srgbClr val="3B3835"/>
                </a:solidFill>
                <a:latin typeface="Helvetica" panose="020B0604020202020204" pitchFamily="34" charset="0"/>
                <a:ea typeface="Times New Roman" panose="02020603050405020304" pitchFamily="18" charset="0"/>
                <a:cs typeface="Times New Roman" panose="02020603050405020304" pitchFamily="18" charset="0"/>
              </a:rPr>
              <a:t> </a:t>
            </a:r>
            <a:endParaRPr lang="en-US" sz="1100" dirty="0">
              <a:latin typeface="Calibri" panose="020F0502020204030204" pitchFamily="34" charset="0"/>
              <a:ea typeface="Times New Roman" panose="02020603050405020304" pitchFamily="18" charset="0"/>
              <a:cs typeface="Vrinda" panose="020B0502040204020203" pitchFamily="34" charset="0"/>
            </a:endParaRPr>
          </a:p>
          <a:p>
            <a:pPr marL="342900" marR="0" lvl="0" indent="-342900">
              <a:lnSpc>
                <a:spcPct val="110000"/>
              </a:lnSpc>
              <a:spcBef>
                <a:spcPts val="0"/>
              </a:spcBef>
              <a:spcAft>
                <a:spcPts val="0"/>
              </a:spcAft>
              <a:tabLst>
                <a:tab pos="457200" algn="l"/>
              </a:tabLst>
            </a:pPr>
            <a:r>
              <a:rPr lang="en-US" dirty="0">
                <a:solidFill>
                  <a:srgbClr val="3B3835"/>
                </a:solidFill>
                <a:latin typeface="Helvetica" panose="020B0604020202020204" pitchFamily="34" charset="0"/>
                <a:ea typeface="Times New Roman" panose="02020603050405020304" pitchFamily="18" charset="0"/>
                <a:cs typeface="Times New Roman" panose="02020603050405020304" pitchFamily="18" charset="0"/>
              </a:rPr>
              <a:t>Plastics </a:t>
            </a:r>
            <a:r>
              <a:rPr lang="en-US" dirty="0">
                <a:solidFill>
                  <a:srgbClr val="3B3835"/>
                </a:solidFill>
                <a:latin typeface="Helvetica" panose="020B0604020202020204" pitchFamily="34" charset="0"/>
                <a:ea typeface="Times New Roman" panose="02020603050405020304" pitchFamily="18" charset="0"/>
                <a:cs typeface="Times New Roman" panose="02020603050405020304" pitchFamily="18" charset="0"/>
                <a:sym typeface="Symbol" panose="05050102010706020507" pitchFamily="18" charset="2"/>
              </a:rPr>
              <a:t></a:t>
            </a:r>
            <a:r>
              <a:rPr lang="en-US" dirty="0">
                <a:solidFill>
                  <a:srgbClr val="3B3835"/>
                </a:solidFill>
                <a:latin typeface="Helvetica" panose="020B0604020202020204" pitchFamily="34" charset="0"/>
                <a:ea typeface="Times New Roman" panose="02020603050405020304" pitchFamily="18" charset="0"/>
                <a:cs typeface="Times New Roman" panose="02020603050405020304" pitchFamily="18" charset="0"/>
              </a:rPr>
              <a:t>Polymer is shaped into hard and tough utility articles by application of heat and pressure, is known as plastics. </a:t>
            </a:r>
            <a:r>
              <a:rPr lang="en-US" dirty="0">
                <a:solidFill>
                  <a:srgbClr val="3B3835"/>
                </a:solidFill>
                <a:latin typeface="Helvetica" panose="020B0604020202020204" pitchFamily="34" charset="0"/>
                <a:ea typeface="Times New Roman" panose="02020603050405020304" pitchFamily="18" charset="0"/>
                <a:cs typeface="Times New Roman" panose="02020603050405020304" pitchFamily="18" charset="0"/>
                <a:sym typeface="Symbol" panose="05050102010706020507" pitchFamily="18" charset="2"/>
              </a:rPr>
              <a:t></a:t>
            </a:r>
            <a:r>
              <a:rPr lang="en-US" dirty="0">
                <a:solidFill>
                  <a:srgbClr val="3B3835"/>
                </a:solidFill>
                <a:latin typeface="Helvetica" panose="020B0604020202020204" pitchFamily="34" charset="0"/>
                <a:ea typeface="Times New Roman" panose="02020603050405020304" pitchFamily="18" charset="0"/>
                <a:cs typeface="Times New Roman" panose="02020603050405020304" pitchFamily="18" charset="0"/>
              </a:rPr>
              <a:t>Here the intermolecular force between polymeric chains are intermediate between elastomers and fibers. </a:t>
            </a:r>
            <a:r>
              <a:rPr lang="en-US" dirty="0">
                <a:solidFill>
                  <a:srgbClr val="3B3835"/>
                </a:solidFill>
                <a:latin typeface="Helvetica" panose="020B0604020202020204" pitchFamily="34" charset="0"/>
                <a:ea typeface="Times New Roman" panose="02020603050405020304" pitchFamily="18" charset="0"/>
                <a:cs typeface="Times New Roman" panose="02020603050405020304" pitchFamily="18" charset="0"/>
                <a:sym typeface="Symbol" panose="05050102010706020507" pitchFamily="18" charset="2"/>
              </a:rPr>
              <a:t></a:t>
            </a:r>
            <a:r>
              <a:rPr lang="en-US" dirty="0">
                <a:solidFill>
                  <a:srgbClr val="3B3835"/>
                </a:solidFill>
                <a:latin typeface="Helvetica" panose="020B0604020202020204" pitchFamily="34" charset="0"/>
                <a:ea typeface="Times New Roman" panose="02020603050405020304" pitchFamily="18" charset="0"/>
                <a:cs typeface="Times New Roman" panose="02020603050405020304" pitchFamily="18" charset="0"/>
              </a:rPr>
              <a:t>They are partially crystalline. E.g. Polystyrene, PVC, PMMA</a:t>
            </a:r>
            <a:endParaRPr lang="en-US" sz="1100" dirty="0">
              <a:effectLst/>
              <a:latin typeface="Calibri" panose="020F0502020204030204" pitchFamily="34" charset="0"/>
              <a:ea typeface="Times New Roman" panose="02020603050405020304" pitchFamily="18" charset="0"/>
              <a:cs typeface="Vrinda" panose="020B0502040204020203" pitchFamily="34" charset="0"/>
            </a:endParaRPr>
          </a:p>
        </p:txBody>
      </p:sp>
    </p:spTree>
    <p:extLst>
      <p:ext uri="{BB962C8B-B14F-4D97-AF65-F5344CB8AC3E}">
        <p14:creationId xmlns:p14="http://schemas.microsoft.com/office/powerpoint/2010/main" val="12809893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1249942"/>
            <a:ext cx="6096000" cy="4358116"/>
          </a:xfrm>
          <a:prstGeom prst="rect">
            <a:avLst/>
          </a:prstGeom>
        </p:spPr>
        <p:txBody>
          <a:bodyPr>
            <a:spAutoFit/>
          </a:bodyPr>
          <a:lstStyle/>
          <a:p>
            <a:pPr marL="228600" marR="0">
              <a:lnSpc>
                <a:spcPct val="110000"/>
              </a:lnSpc>
              <a:spcBef>
                <a:spcPts val="0"/>
              </a:spcBef>
              <a:spcAft>
                <a:spcPts val="0"/>
              </a:spcAft>
            </a:pPr>
            <a:r>
              <a:rPr lang="en-US" dirty="0">
                <a:solidFill>
                  <a:srgbClr val="3B3835"/>
                </a:solidFill>
                <a:latin typeface="Helvetica" panose="020B0604020202020204" pitchFamily="34" charset="0"/>
                <a:ea typeface="Times New Roman" panose="02020603050405020304" pitchFamily="18" charset="0"/>
                <a:cs typeface="Times New Roman" panose="02020603050405020304" pitchFamily="18" charset="0"/>
              </a:rPr>
              <a:t> Elastomers </a:t>
            </a:r>
            <a:r>
              <a:rPr lang="en-US" dirty="0">
                <a:solidFill>
                  <a:srgbClr val="3B3835"/>
                </a:solidFill>
                <a:latin typeface="Helvetica" panose="020B0604020202020204" pitchFamily="34" charset="0"/>
                <a:ea typeface="Times New Roman" panose="02020603050405020304" pitchFamily="18" charset="0"/>
                <a:cs typeface="Times New Roman" panose="02020603050405020304" pitchFamily="18" charset="0"/>
                <a:sym typeface="Symbol" panose="05050102010706020507" pitchFamily="18" charset="2"/>
              </a:rPr>
              <a:t></a:t>
            </a:r>
            <a:r>
              <a:rPr lang="en-US" dirty="0">
                <a:solidFill>
                  <a:srgbClr val="3B3835"/>
                </a:solidFill>
                <a:latin typeface="Helvetica" panose="020B0604020202020204" pitchFamily="34" charset="0"/>
                <a:ea typeface="Times New Roman" panose="02020603050405020304" pitchFamily="18" charset="0"/>
                <a:cs typeface="Times New Roman" panose="02020603050405020304" pitchFamily="18" charset="0"/>
              </a:rPr>
              <a:t>They are solids with rubber like elastic properties</a:t>
            </a:r>
            <a:endParaRPr lang="en-US" sz="1100" dirty="0">
              <a:latin typeface="Calibri" panose="020F0502020204030204" pitchFamily="34" charset="0"/>
              <a:ea typeface="Times New Roman" panose="02020603050405020304" pitchFamily="18" charset="0"/>
              <a:cs typeface="Vrinda" panose="020B0502040204020203" pitchFamily="34" charset="0"/>
            </a:endParaRPr>
          </a:p>
          <a:p>
            <a:pPr marL="228600" marR="0">
              <a:lnSpc>
                <a:spcPct val="110000"/>
              </a:lnSpc>
              <a:spcBef>
                <a:spcPts val="0"/>
              </a:spcBef>
              <a:spcAft>
                <a:spcPts val="0"/>
              </a:spcAft>
            </a:pPr>
            <a:r>
              <a:rPr lang="en-US" dirty="0">
                <a:solidFill>
                  <a:srgbClr val="3B3835"/>
                </a:solidFill>
                <a:latin typeface="Helvetica" panose="020B0604020202020204" pitchFamily="34" charset="0"/>
                <a:ea typeface="Times New Roman" panose="02020603050405020304" pitchFamily="18" charset="0"/>
                <a:cs typeface="Times New Roman" panose="02020603050405020304" pitchFamily="18" charset="0"/>
              </a:rPr>
              <a:t>  . </a:t>
            </a:r>
            <a:r>
              <a:rPr lang="en-US" dirty="0">
                <a:solidFill>
                  <a:srgbClr val="3B3835"/>
                </a:solidFill>
                <a:latin typeface="Helvetica" panose="020B0604020202020204" pitchFamily="34" charset="0"/>
                <a:ea typeface="Times New Roman" panose="02020603050405020304" pitchFamily="18" charset="0"/>
                <a:cs typeface="Times New Roman" panose="02020603050405020304" pitchFamily="18" charset="0"/>
                <a:sym typeface="Symbol" panose="05050102010706020507" pitchFamily="18" charset="2"/>
              </a:rPr>
              <a:t></a:t>
            </a:r>
            <a:r>
              <a:rPr lang="en-US" dirty="0">
                <a:solidFill>
                  <a:srgbClr val="3B3835"/>
                </a:solidFill>
                <a:latin typeface="Helvetica" panose="020B0604020202020204" pitchFamily="34" charset="0"/>
                <a:ea typeface="Times New Roman" panose="02020603050405020304" pitchFamily="18" charset="0"/>
                <a:cs typeface="Times New Roman" panose="02020603050405020304" pitchFamily="18" charset="0"/>
              </a:rPr>
              <a:t>Here the polymeric chains   are held together by the weakest intermolecular forces so they are highly amorphous in nature. </a:t>
            </a:r>
            <a:r>
              <a:rPr lang="en-US" dirty="0">
                <a:solidFill>
                  <a:srgbClr val="3B3835"/>
                </a:solidFill>
                <a:latin typeface="Helvetica" panose="020B0604020202020204" pitchFamily="34" charset="0"/>
                <a:ea typeface="Times New Roman" panose="02020603050405020304" pitchFamily="18" charset="0"/>
                <a:cs typeface="Times New Roman" panose="02020603050405020304" pitchFamily="18" charset="0"/>
                <a:sym typeface="Symbol" panose="05050102010706020507" pitchFamily="18" charset="2"/>
              </a:rPr>
              <a:t></a:t>
            </a:r>
            <a:r>
              <a:rPr lang="en-US" dirty="0">
                <a:solidFill>
                  <a:srgbClr val="3B3835"/>
                </a:solidFill>
                <a:latin typeface="Helvetica" panose="020B0604020202020204" pitchFamily="34" charset="0"/>
                <a:ea typeface="Times New Roman" panose="02020603050405020304" pitchFamily="18" charset="0"/>
                <a:cs typeface="Times New Roman" panose="02020603050405020304" pitchFamily="18" charset="0"/>
              </a:rPr>
              <a:t>These weak binding forces permit them to be stretched. E.g. Natural rubber, BUNA-S, BUNA-N, </a:t>
            </a:r>
            <a:r>
              <a:rPr lang="en-US" dirty="0" err="1">
                <a:solidFill>
                  <a:srgbClr val="3B3835"/>
                </a:solidFill>
                <a:latin typeface="Helvetica" panose="020B0604020202020204" pitchFamily="34" charset="0"/>
                <a:ea typeface="Times New Roman" panose="02020603050405020304" pitchFamily="18" charset="0"/>
                <a:cs typeface="Times New Roman" panose="02020603050405020304" pitchFamily="18" charset="0"/>
              </a:rPr>
              <a:t>Vulcanised</a:t>
            </a:r>
            <a:r>
              <a:rPr lang="en-US" dirty="0">
                <a:solidFill>
                  <a:srgbClr val="3B3835"/>
                </a:solidFill>
                <a:latin typeface="Helvetica" panose="020B0604020202020204" pitchFamily="34" charset="0"/>
                <a:ea typeface="Times New Roman" panose="02020603050405020304" pitchFamily="18" charset="0"/>
                <a:cs typeface="Times New Roman" panose="02020603050405020304" pitchFamily="18" charset="0"/>
              </a:rPr>
              <a:t> rubber</a:t>
            </a:r>
            <a:endParaRPr lang="en-US" sz="1100" dirty="0">
              <a:latin typeface="Calibri" panose="020F0502020204030204" pitchFamily="34" charset="0"/>
              <a:ea typeface="Times New Roman" panose="02020603050405020304" pitchFamily="18" charset="0"/>
              <a:cs typeface="Vrinda" panose="020B0502040204020203" pitchFamily="34" charset="0"/>
            </a:endParaRPr>
          </a:p>
          <a:p>
            <a:pPr marL="457200" marR="0">
              <a:lnSpc>
                <a:spcPct val="110000"/>
              </a:lnSpc>
              <a:spcBef>
                <a:spcPts val="0"/>
              </a:spcBef>
              <a:spcAft>
                <a:spcPts val="0"/>
              </a:spcAft>
            </a:pPr>
            <a:r>
              <a:rPr lang="en-US" dirty="0">
                <a:solidFill>
                  <a:srgbClr val="3B3835"/>
                </a:solidFill>
                <a:latin typeface="Helvetica" panose="020B0604020202020204" pitchFamily="34" charset="0"/>
                <a:ea typeface="Times New Roman" panose="02020603050405020304" pitchFamily="18" charset="0"/>
                <a:cs typeface="Times New Roman" panose="02020603050405020304" pitchFamily="18" charset="0"/>
              </a:rPr>
              <a:t> </a:t>
            </a:r>
            <a:endParaRPr lang="en-US" sz="1100" dirty="0">
              <a:latin typeface="Calibri" panose="020F0502020204030204" pitchFamily="34" charset="0"/>
              <a:ea typeface="Times New Roman" panose="02020603050405020304" pitchFamily="18" charset="0"/>
              <a:cs typeface="Vrinda" panose="020B0502040204020203" pitchFamily="34" charset="0"/>
            </a:endParaRPr>
          </a:p>
          <a:p>
            <a:pPr marL="457200" marR="0">
              <a:lnSpc>
                <a:spcPct val="110000"/>
              </a:lnSpc>
              <a:spcBef>
                <a:spcPts val="0"/>
              </a:spcBef>
              <a:spcAft>
                <a:spcPts val="0"/>
              </a:spcAft>
            </a:pPr>
            <a:r>
              <a:rPr lang="en-US" dirty="0">
                <a:solidFill>
                  <a:srgbClr val="3B3835"/>
                </a:solidFill>
                <a:latin typeface="Helvetica" panose="020B0604020202020204" pitchFamily="34" charset="0"/>
                <a:ea typeface="Times New Roman" panose="02020603050405020304" pitchFamily="18" charset="0"/>
                <a:cs typeface="Times New Roman" panose="02020603050405020304" pitchFamily="18" charset="0"/>
              </a:rPr>
              <a:t>Resins </a:t>
            </a:r>
            <a:r>
              <a:rPr lang="en-US" dirty="0">
                <a:solidFill>
                  <a:srgbClr val="3B3835"/>
                </a:solidFill>
                <a:latin typeface="Helvetica" panose="020B0604020202020204" pitchFamily="34" charset="0"/>
                <a:ea typeface="Times New Roman" panose="02020603050405020304" pitchFamily="18" charset="0"/>
                <a:cs typeface="Times New Roman" panose="02020603050405020304" pitchFamily="18" charset="0"/>
                <a:sym typeface="Symbol" panose="05050102010706020507" pitchFamily="18" charset="2"/>
              </a:rPr>
              <a:t></a:t>
            </a:r>
            <a:r>
              <a:rPr lang="en-US" dirty="0">
                <a:solidFill>
                  <a:srgbClr val="3B3835"/>
                </a:solidFill>
                <a:latin typeface="Helvetica" panose="020B0604020202020204" pitchFamily="34" charset="0"/>
                <a:ea typeface="Times New Roman" panose="02020603050405020304" pitchFamily="18" charset="0"/>
                <a:cs typeface="Times New Roman" panose="02020603050405020304" pitchFamily="18" charset="0"/>
              </a:rPr>
              <a:t>Low molecular weight. </a:t>
            </a:r>
            <a:r>
              <a:rPr lang="en-US" dirty="0">
                <a:solidFill>
                  <a:srgbClr val="3B3835"/>
                </a:solidFill>
                <a:latin typeface="Helvetica" panose="020B0604020202020204" pitchFamily="34" charset="0"/>
                <a:ea typeface="Times New Roman" panose="02020603050405020304" pitchFamily="18" charset="0"/>
                <a:cs typeface="Times New Roman" panose="02020603050405020304" pitchFamily="18" charset="0"/>
                <a:sym typeface="Symbol" panose="05050102010706020507" pitchFamily="18" charset="2"/>
              </a:rPr>
              <a:t></a:t>
            </a:r>
            <a:r>
              <a:rPr lang="en-US" dirty="0">
                <a:solidFill>
                  <a:srgbClr val="3B3835"/>
                </a:solidFill>
                <a:latin typeface="Helvetica" panose="020B0604020202020204" pitchFamily="34" charset="0"/>
                <a:ea typeface="Times New Roman" panose="02020603050405020304" pitchFamily="18" charset="0"/>
                <a:cs typeface="Times New Roman" panose="02020603050405020304" pitchFamily="18" charset="0"/>
              </a:rPr>
              <a:t>Polymers which are used as adhesives, sealants etc., in a liquid form are described as liquid resins. E.g. Epoxy adhesives and </a:t>
            </a:r>
            <a:r>
              <a:rPr lang="en-US" dirty="0" err="1">
                <a:solidFill>
                  <a:srgbClr val="3B3835"/>
                </a:solidFill>
                <a:latin typeface="Helvetica" panose="020B0604020202020204" pitchFamily="34" charset="0"/>
                <a:ea typeface="Times New Roman" panose="02020603050405020304" pitchFamily="18" charset="0"/>
                <a:cs typeface="Times New Roman" panose="02020603050405020304" pitchFamily="18" charset="0"/>
              </a:rPr>
              <a:t>polysulphides</a:t>
            </a:r>
            <a:r>
              <a:rPr lang="en-US" dirty="0">
                <a:solidFill>
                  <a:srgbClr val="3B3835"/>
                </a:solidFill>
                <a:latin typeface="Helvetica" panose="020B0604020202020204" pitchFamily="34" charset="0"/>
                <a:ea typeface="Times New Roman" panose="02020603050405020304" pitchFamily="18" charset="0"/>
                <a:cs typeface="Times New Roman" panose="02020603050405020304" pitchFamily="18" charset="0"/>
              </a:rPr>
              <a:t> sealants.</a:t>
            </a:r>
            <a:endParaRPr lang="en-US" sz="1100" dirty="0">
              <a:latin typeface="Calibri" panose="020F0502020204030204" pitchFamily="34" charset="0"/>
              <a:ea typeface="Times New Roman" panose="02020603050405020304" pitchFamily="18" charset="0"/>
              <a:cs typeface="Vrinda" panose="020B0502040204020203" pitchFamily="34" charset="0"/>
            </a:endParaRPr>
          </a:p>
          <a:p>
            <a:pPr algn="just">
              <a:lnSpc>
                <a:spcPct val="110000"/>
              </a:lnSpc>
            </a:pPr>
            <a:r>
              <a:rPr lang="en-US" dirty="0">
                <a:solidFill>
                  <a:srgbClr val="111111"/>
                </a:solidFill>
                <a:latin typeface="Arial" panose="020B0604020202020204" pitchFamily="34" charset="0"/>
                <a:ea typeface="Times New Roman" panose="02020603050405020304" pitchFamily="18" charset="0"/>
                <a:cs typeface="Vrinda" panose="020B0502040204020203" pitchFamily="34" charset="0"/>
              </a:rPr>
              <a:t> </a:t>
            </a:r>
            <a:endParaRPr lang="en-US" sz="1100" dirty="0">
              <a:latin typeface="Calibri" panose="020F0502020204030204" pitchFamily="34" charset="0"/>
              <a:ea typeface="Times New Roman" panose="02020603050405020304" pitchFamily="18" charset="0"/>
              <a:cs typeface="Vrinda" panose="020B0502040204020203" pitchFamily="34" charset="0"/>
            </a:endParaRPr>
          </a:p>
          <a:p>
            <a:pPr algn="just">
              <a:lnSpc>
                <a:spcPct val="110000"/>
              </a:lnSpc>
            </a:pPr>
            <a:r>
              <a:rPr lang="en-US" dirty="0">
                <a:solidFill>
                  <a:srgbClr val="111111"/>
                </a:solidFill>
                <a:latin typeface="Arial" panose="020B0604020202020204" pitchFamily="34" charset="0"/>
                <a:ea typeface="Times New Roman" panose="02020603050405020304" pitchFamily="18" charset="0"/>
                <a:cs typeface="Vrinda" panose="020B0502040204020203" pitchFamily="34" charset="0"/>
              </a:rPr>
              <a:t> </a:t>
            </a:r>
            <a:endParaRPr lang="en-US" dirty="0"/>
          </a:p>
        </p:txBody>
      </p:sp>
    </p:spTree>
    <p:extLst>
      <p:ext uri="{BB962C8B-B14F-4D97-AF65-F5344CB8AC3E}">
        <p14:creationId xmlns:p14="http://schemas.microsoft.com/office/powerpoint/2010/main" val="6716398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78226" y="1417983"/>
            <a:ext cx="9462052" cy="2954655"/>
          </a:xfrm>
          <a:prstGeom prst="rect">
            <a:avLst/>
          </a:prstGeom>
        </p:spPr>
        <p:txBody>
          <a:bodyPr wrap="square">
            <a:spAutoFit/>
          </a:bodyPr>
          <a:lstStyle/>
          <a:p>
            <a:r>
              <a:rPr lang="en-US" sz="2400" b="1" dirty="0">
                <a:solidFill>
                  <a:srgbClr val="2E2E2E"/>
                </a:solidFill>
              </a:rPr>
              <a:t>Degree of Polymerization</a:t>
            </a:r>
          </a:p>
          <a:p>
            <a:r>
              <a:rPr lang="en-US" dirty="0"/>
              <a:t>The </a:t>
            </a:r>
            <a:r>
              <a:rPr lang="en-US" dirty="0">
                <a:solidFill>
                  <a:srgbClr val="2E2E2E"/>
                </a:solidFill>
              </a:rPr>
              <a:t>degree of polymerization</a:t>
            </a:r>
            <a:r>
              <a:rPr lang="en-US" dirty="0"/>
              <a:t> (DP or </a:t>
            </a:r>
            <a:r>
              <a:rPr lang="en-US" i="1" dirty="0" err="1"/>
              <a:t>X</a:t>
            </a:r>
            <a:r>
              <a:rPr lang="en-US" i="1" baseline="-25000" dirty="0" err="1"/>
              <a:t>n</a:t>
            </a:r>
            <a:r>
              <a:rPr lang="en-US" dirty="0"/>
              <a:t>) is defined as the number of </a:t>
            </a:r>
            <a:r>
              <a:rPr lang="en-US" dirty="0">
                <a:hlinkClick r:id="rId2" tooltip="Learn more about Monomer Unit from ScienceDirect's AI-generated Topic Pages"/>
              </a:rPr>
              <a:t>monomer units</a:t>
            </a:r>
            <a:r>
              <a:rPr lang="en-US" dirty="0"/>
              <a:t> in the polymer. It is calculated as the ratio of molecular weight of a polymer and molecular weight of the repeat unit. Number average DP and weight average DP are the two main types used for measuring the DP. Higher DP is desired for better mechanical properties .</a:t>
            </a:r>
          </a:p>
          <a:p>
            <a:r>
              <a:rPr lang="en-US" dirty="0"/>
              <a:t>Degree of polymerization=Mw/Mo</a:t>
            </a:r>
          </a:p>
          <a:p>
            <a:r>
              <a:rPr lang="en-US" dirty="0"/>
              <a:t>where </a:t>
            </a:r>
            <a:r>
              <a:rPr lang="en-US" i="1" dirty="0"/>
              <a:t>M</a:t>
            </a:r>
            <a:r>
              <a:rPr lang="en-US" i="1" baseline="-25000" dirty="0"/>
              <a:t>w</a:t>
            </a:r>
            <a:r>
              <a:rPr lang="en-US" dirty="0"/>
              <a:t> is the average molecular weight of the polymer and </a:t>
            </a:r>
            <a:r>
              <a:rPr lang="en-US" i="1" dirty="0"/>
              <a:t>M</a:t>
            </a:r>
            <a:r>
              <a:rPr lang="en-US" i="1" baseline="-25000" dirty="0"/>
              <a:t>o</a:t>
            </a:r>
            <a:r>
              <a:rPr lang="en-US" dirty="0"/>
              <a:t> is the molecular weight of the repeating unit or monomer.</a:t>
            </a:r>
          </a:p>
          <a:p>
            <a:r>
              <a:rPr lang="en-US" dirty="0"/>
              <a:t/>
            </a:r>
            <a:br>
              <a:rPr lang="en-US" dirty="0"/>
            </a:br>
            <a:endParaRPr lang="en-US" dirty="0"/>
          </a:p>
        </p:txBody>
      </p:sp>
    </p:spTree>
    <p:extLst>
      <p:ext uri="{BB962C8B-B14F-4D97-AF65-F5344CB8AC3E}">
        <p14:creationId xmlns:p14="http://schemas.microsoft.com/office/powerpoint/2010/main" val="27864777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1466925"/>
            <a:ext cx="6096000" cy="4201150"/>
          </a:xfrm>
          <a:prstGeom prst="rect">
            <a:avLst/>
          </a:prstGeom>
        </p:spPr>
        <p:txBody>
          <a:bodyPr>
            <a:spAutoFit/>
          </a:bodyPr>
          <a:lstStyle/>
          <a:p>
            <a:pPr>
              <a:lnSpc>
                <a:spcPts val="1800"/>
              </a:lnSpc>
            </a:pPr>
            <a:r>
              <a:rPr lang="en-US" sz="3200" b="1" dirty="0">
                <a:solidFill>
                  <a:srgbClr val="000000"/>
                </a:solidFill>
                <a:latin typeface="Arial" panose="020B0604020202020204" pitchFamily="34" charset="0"/>
                <a:ea typeface="Times New Roman" panose="02020603050405020304" pitchFamily="18" charset="0"/>
                <a:cs typeface="Vrinda" panose="020B0502040204020203" pitchFamily="34" charset="0"/>
              </a:rPr>
              <a:t>Nomenclature</a:t>
            </a:r>
            <a:endParaRPr lang="en-US" dirty="0">
              <a:latin typeface="Calibri" panose="020F0502020204030204" pitchFamily="34" charset="0"/>
              <a:ea typeface="Times New Roman" panose="02020603050405020304" pitchFamily="18" charset="0"/>
              <a:cs typeface="Vrinda" panose="020B0502040204020203" pitchFamily="34" charset="0"/>
            </a:endParaRPr>
          </a:p>
          <a:p>
            <a:pPr algn="just"/>
            <a:r>
              <a:rPr lang="en-US" dirty="0">
                <a:solidFill>
                  <a:srgbClr val="000000"/>
                </a:solidFill>
                <a:latin typeface="Arial" panose="020B0604020202020204" pitchFamily="34" charset="0"/>
                <a:ea typeface="Times New Roman" panose="02020603050405020304" pitchFamily="18" charset="0"/>
              </a:rPr>
              <a:t>A very large number of different polymer structures are possible. In order to identify these as unambiguously as possible, it is important to have a robust nomenclature system. As is already evident, polymers that  are prepared from one monomer unit are designated by attaching the prefix </a:t>
            </a:r>
            <a:r>
              <a:rPr lang="en-US" i="1" dirty="0">
                <a:solidFill>
                  <a:srgbClr val="000000"/>
                </a:solidFill>
                <a:latin typeface="Arial" panose="020B0604020202020204" pitchFamily="34" charset="0"/>
                <a:ea typeface="Times New Roman" panose="02020603050405020304" pitchFamily="18" charset="0"/>
              </a:rPr>
              <a:t>poly</a:t>
            </a:r>
            <a:r>
              <a:rPr lang="en-US" dirty="0">
                <a:solidFill>
                  <a:srgbClr val="000000"/>
                </a:solidFill>
                <a:latin typeface="Arial" panose="020B0604020202020204" pitchFamily="34" charset="0"/>
                <a:ea typeface="Times New Roman" panose="02020603050405020304" pitchFamily="18" charset="0"/>
              </a:rPr>
              <a:t> to the monomer name (e.g., polystyrene, polyethylene, and polypropylene);</a:t>
            </a:r>
          </a:p>
          <a:p>
            <a:pPr algn="just"/>
            <a:endParaRPr lang="en-US" dirty="0">
              <a:solidFill>
                <a:srgbClr val="000000"/>
              </a:solidFill>
              <a:latin typeface="Arial" panose="020B0604020202020204" pitchFamily="34" charset="0"/>
              <a:ea typeface="Times New Roman" panose="02020603050405020304" pitchFamily="18" charset="0"/>
            </a:endParaRPr>
          </a:p>
          <a:p>
            <a:pPr algn="just"/>
            <a:r>
              <a:rPr lang="en-US" dirty="0">
                <a:solidFill>
                  <a:srgbClr val="000000"/>
                </a:solidFill>
                <a:latin typeface="Arial" panose="020B0604020202020204" pitchFamily="34" charset="0"/>
                <a:ea typeface="Times New Roman" panose="02020603050405020304" pitchFamily="18" charset="0"/>
              </a:rPr>
              <a:t>However, when the monomer name consists of more than one word or is preceded by a letter or number, the monomer is enclosed by parentheses preceded by the prefix </a:t>
            </a:r>
            <a:r>
              <a:rPr lang="en-US" i="1" dirty="0">
                <a:solidFill>
                  <a:srgbClr val="000000"/>
                </a:solidFill>
                <a:latin typeface="Arial" panose="020B0604020202020204" pitchFamily="34" charset="0"/>
                <a:ea typeface="Times New Roman" panose="02020603050405020304" pitchFamily="18" charset="0"/>
              </a:rPr>
              <a:t>poly</a:t>
            </a:r>
            <a:r>
              <a:rPr lang="en-US" dirty="0">
                <a:solidFill>
                  <a:srgbClr val="000000"/>
                </a:solidFill>
                <a:latin typeface="Arial" panose="020B0604020202020204" pitchFamily="34" charset="0"/>
                <a:ea typeface="Times New Roman" panose="02020603050405020304" pitchFamily="18" charset="0"/>
              </a:rPr>
              <a:t>. For example, the polymer obtained from the polymerization of 4-chlorostyrene is poly(4-chlorostyrene) and that from vinyl acetate is poly(vinyl acetate)</a:t>
            </a:r>
            <a:endParaRPr lang="en-US" dirty="0"/>
          </a:p>
        </p:txBody>
      </p:sp>
    </p:spTree>
    <p:extLst>
      <p:ext uri="{BB962C8B-B14F-4D97-AF65-F5344CB8AC3E}">
        <p14:creationId xmlns:p14="http://schemas.microsoft.com/office/powerpoint/2010/main" val="12026207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441031721"/>
              </p:ext>
            </p:extLst>
          </p:nvPr>
        </p:nvGraphicFramePr>
        <p:xfrm>
          <a:off x="834887" y="2266123"/>
          <a:ext cx="6149008" cy="5350294"/>
        </p:xfrm>
        <a:graphic>
          <a:graphicData uri="http://schemas.openxmlformats.org/drawingml/2006/table">
            <a:tbl>
              <a:tblPr firstRow="1" firstCol="1" bandRow="1">
                <a:tableStyleId>{5C22544A-7EE6-4342-B048-85BDC9FD1C3A}</a:tableStyleId>
              </a:tblPr>
              <a:tblGrid>
                <a:gridCol w="2374705">
                  <a:extLst>
                    <a:ext uri="{9D8B030D-6E8A-4147-A177-3AD203B41FA5}">
                      <a16:colId xmlns:a16="http://schemas.microsoft.com/office/drawing/2014/main" xmlns="" val="20000"/>
                    </a:ext>
                  </a:extLst>
                </a:gridCol>
                <a:gridCol w="2427485">
                  <a:extLst>
                    <a:ext uri="{9D8B030D-6E8A-4147-A177-3AD203B41FA5}">
                      <a16:colId xmlns:a16="http://schemas.microsoft.com/office/drawing/2014/main" xmlns="" val="20001"/>
                    </a:ext>
                  </a:extLst>
                </a:gridCol>
                <a:gridCol w="1346818">
                  <a:extLst>
                    <a:ext uri="{9D8B030D-6E8A-4147-A177-3AD203B41FA5}">
                      <a16:colId xmlns:a16="http://schemas.microsoft.com/office/drawing/2014/main" xmlns="" val="20002"/>
                    </a:ext>
                  </a:extLst>
                </a:gridCol>
              </a:tblGrid>
              <a:tr h="416223">
                <a:tc>
                  <a:txBody>
                    <a:bodyPr/>
                    <a:lstStyle/>
                    <a:p>
                      <a:pPr marL="0" marR="0">
                        <a:lnSpc>
                          <a:spcPts val="1800"/>
                        </a:lnSpc>
                        <a:spcBef>
                          <a:spcPts val="0"/>
                        </a:spcBef>
                        <a:spcAft>
                          <a:spcPts val="1200"/>
                        </a:spcAft>
                      </a:pPr>
                      <a:r>
                        <a:rPr lang="en-US" sz="1400" dirty="0">
                          <a:effectLst/>
                        </a:rPr>
                        <a:t>Type</a:t>
                      </a:r>
                      <a:endParaRPr lang="en-US" sz="1400" dirty="0">
                        <a:effectLst/>
                        <a:latin typeface="Calibri" panose="020F0502020204030204" pitchFamily="34" charset="0"/>
                        <a:ea typeface="Times New Roman" panose="02020603050405020304" pitchFamily="18" charset="0"/>
                        <a:cs typeface="Vrinda" panose="020B0502040204020203" pitchFamily="34" charset="0"/>
                      </a:endParaRPr>
                    </a:p>
                  </a:txBody>
                  <a:tcPr marL="76200" marR="76200" marT="76200" marB="76200"/>
                </a:tc>
                <a:tc>
                  <a:txBody>
                    <a:bodyPr/>
                    <a:lstStyle/>
                    <a:p>
                      <a:pPr marL="0" marR="0">
                        <a:lnSpc>
                          <a:spcPts val="1800"/>
                        </a:lnSpc>
                        <a:spcBef>
                          <a:spcPts val="0"/>
                        </a:spcBef>
                        <a:spcAft>
                          <a:spcPts val="1200"/>
                        </a:spcAft>
                      </a:pPr>
                      <a:r>
                        <a:rPr lang="en-US" sz="1400">
                          <a:effectLst/>
                        </a:rPr>
                        <a:t>Connective</a:t>
                      </a:r>
                      <a:endParaRPr lang="en-US" sz="1400">
                        <a:effectLst/>
                        <a:latin typeface="Calibri" panose="020F0502020204030204" pitchFamily="34" charset="0"/>
                        <a:ea typeface="Times New Roman" panose="02020603050405020304" pitchFamily="18" charset="0"/>
                        <a:cs typeface="Vrinda" panose="020B0502040204020203" pitchFamily="34" charset="0"/>
                      </a:endParaRPr>
                    </a:p>
                  </a:txBody>
                  <a:tcPr marL="76200" marR="76200" marT="76200" marB="76200"/>
                </a:tc>
                <a:tc>
                  <a:txBody>
                    <a:bodyPr/>
                    <a:lstStyle/>
                    <a:p>
                      <a:pPr marL="0" marR="0">
                        <a:lnSpc>
                          <a:spcPts val="1800"/>
                        </a:lnSpc>
                        <a:spcBef>
                          <a:spcPts val="0"/>
                        </a:spcBef>
                        <a:spcAft>
                          <a:spcPts val="1200"/>
                        </a:spcAft>
                      </a:pPr>
                      <a:r>
                        <a:rPr lang="en-US" sz="1400">
                          <a:effectLst/>
                        </a:rPr>
                        <a:t>Example</a:t>
                      </a:r>
                      <a:endParaRPr lang="en-US" sz="1400">
                        <a:effectLst/>
                        <a:latin typeface="Calibri" panose="020F0502020204030204" pitchFamily="34" charset="0"/>
                        <a:ea typeface="Times New Roman" panose="02020603050405020304" pitchFamily="18" charset="0"/>
                        <a:cs typeface="Vrinda" panose="020B0502040204020203" pitchFamily="34" charset="0"/>
                      </a:endParaRPr>
                    </a:p>
                  </a:txBody>
                  <a:tcPr marL="76200" marR="76200" marT="76200" marB="76200"/>
                </a:tc>
                <a:extLst>
                  <a:ext uri="{0D108BD9-81ED-4DB2-BD59-A6C34878D82A}">
                    <a16:rowId xmlns:a16="http://schemas.microsoft.com/office/drawing/2014/main" xmlns="" val="10000"/>
                  </a:ext>
                </a:extLst>
              </a:tr>
              <a:tr h="853623">
                <a:tc>
                  <a:txBody>
                    <a:bodyPr/>
                    <a:lstStyle/>
                    <a:p>
                      <a:pPr marL="0" marR="0">
                        <a:lnSpc>
                          <a:spcPts val="1800"/>
                        </a:lnSpc>
                        <a:spcBef>
                          <a:spcPts val="0"/>
                        </a:spcBef>
                        <a:spcAft>
                          <a:spcPts val="1200"/>
                        </a:spcAft>
                      </a:pPr>
                      <a:r>
                        <a:rPr lang="en-US" sz="1400" dirty="0">
                          <a:effectLst/>
                        </a:rPr>
                        <a:t>Unspecified</a:t>
                      </a:r>
                      <a:endParaRPr lang="en-US" sz="1400" dirty="0">
                        <a:effectLst/>
                        <a:latin typeface="Calibri" panose="020F0502020204030204" pitchFamily="34" charset="0"/>
                        <a:ea typeface="Times New Roman" panose="02020603050405020304" pitchFamily="18" charset="0"/>
                        <a:cs typeface="Vrinda" panose="020B0502040204020203" pitchFamily="34" charset="0"/>
                      </a:endParaRPr>
                    </a:p>
                  </a:txBody>
                  <a:tcPr marL="76200" marR="76200" marT="76200" marB="76200"/>
                </a:tc>
                <a:tc>
                  <a:txBody>
                    <a:bodyPr/>
                    <a:lstStyle/>
                    <a:p>
                      <a:pPr marL="0" marR="0">
                        <a:lnSpc>
                          <a:spcPts val="1800"/>
                        </a:lnSpc>
                        <a:spcBef>
                          <a:spcPts val="0"/>
                        </a:spcBef>
                        <a:spcAft>
                          <a:spcPts val="1200"/>
                        </a:spcAft>
                      </a:pPr>
                      <a:r>
                        <a:rPr lang="en-US" sz="1400">
                          <a:effectLst/>
                        </a:rPr>
                        <a:t>-co-</a:t>
                      </a:r>
                      <a:endParaRPr lang="en-US" sz="1400">
                        <a:effectLst/>
                        <a:latin typeface="Calibri" panose="020F0502020204030204" pitchFamily="34" charset="0"/>
                        <a:ea typeface="Times New Roman" panose="02020603050405020304" pitchFamily="18" charset="0"/>
                        <a:cs typeface="Vrinda" panose="020B0502040204020203" pitchFamily="34" charset="0"/>
                      </a:endParaRPr>
                    </a:p>
                  </a:txBody>
                  <a:tcPr marL="76200" marR="76200" marT="76200" marB="76200"/>
                </a:tc>
                <a:tc>
                  <a:txBody>
                    <a:bodyPr/>
                    <a:lstStyle/>
                    <a:p>
                      <a:pPr marL="0" marR="0">
                        <a:lnSpc>
                          <a:spcPts val="1800"/>
                        </a:lnSpc>
                        <a:spcBef>
                          <a:spcPts val="0"/>
                        </a:spcBef>
                        <a:spcAft>
                          <a:spcPts val="1200"/>
                        </a:spcAft>
                      </a:pPr>
                      <a:r>
                        <a:rPr lang="en-US" sz="1400">
                          <a:effectLst/>
                        </a:rPr>
                        <a:t>Poly[styrene-co-(methyl methacrylate)]</a:t>
                      </a:r>
                      <a:endParaRPr lang="en-US" sz="1400">
                        <a:effectLst/>
                        <a:latin typeface="Calibri" panose="020F0502020204030204" pitchFamily="34" charset="0"/>
                        <a:ea typeface="Times New Roman" panose="02020603050405020304" pitchFamily="18" charset="0"/>
                        <a:cs typeface="Vrinda" panose="020B0502040204020203" pitchFamily="34" charset="0"/>
                      </a:endParaRPr>
                    </a:p>
                  </a:txBody>
                  <a:tcPr marL="76200" marR="76200" marT="76200" marB="76200"/>
                </a:tc>
                <a:extLst>
                  <a:ext uri="{0D108BD9-81ED-4DB2-BD59-A6C34878D82A}">
                    <a16:rowId xmlns:a16="http://schemas.microsoft.com/office/drawing/2014/main" xmlns="" val="10001"/>
                  </a:ext>
                </a:extLst>
              </a:tr>
              <a:tr h="665956">
                <a:tc>
                  <a:txBody>
                    <a:bodyPr/>
                    <a:lstStyle/>
                    <a:p>
                      <a:pPr marL="0" marR="0">
                        <a:lnSpc>
                          <a:spcPts val="1800"/>
                        </a:lnSpc>
                        <a:spcBef>
                          <a:spcPts val="0"/>
                        </a:spcBef>
                        <a:spcAft>
                          <a:spcPts val="1200"/>
                        </a:spcAft>
                      </a:pPr>
                      <a:r>
                        <a:rPr lang="en-US" sz="1400" dirty="0" err="1">
                          <a:effectLst/>
                        </a:rPr>
                        <a:t>Statistical</a:t>
                      </a:r>
                      <a:r>
                        <a:rPr lang="en-US" sz="1400" u="sng" baseline="30000" dirty="0" err="1">
                          <a:effectLst/>
                        </a:rPr>
                        <a:t>a</a:t>
                      </a:r>
                      <a:endParaRPr lang="en-US" sz="1400" dirty="0">
                        <a:effectLst/>
                        <a:latin typeface="Calibri" panose="020F0502020204030204" pitchFamily="34" charset="0"/>
                        <a:ea typeface="Times New Roman" panose="02020603050405020304" pitchFamily="18" charset="0"/>
                        <a:cs typeface="Vrinda" panose="020B0502040204020203" pitchFamily="34" charset="0"/>
                      </a:endParaRPr>
                    </a:p>
                  </a:txBody>
                  <a:tcPr marL="76200" marR="76200" marT="76200" marB="76200"/>
                </a:tc>
                <a:tc>
                  <a:txBody>
                    <a:bodyPr/>
                    <a:lstStyle/>
                    <a:p>
                      <a:pPr marL="0" marR="0">
                        <a:lnSpc>
                          <a:spcPts val="1800"/>
                        </a:lnSpc>
                        <a:spcBef>
                          <a:spcPts val="0"/>
                        </a:spcBef>
                        <a:spcAft>
                          <a:spcPts val="1200"/>
                        </a:spcAft>
                      </a:pPr>
                      <a:r>
                        <a:rPr lang="en-US" sz="1400">
                          <a:effectLst/>
                        </a:rPr>
                        <a:t>-stat-</a:t>
                      </a:r>
                      <a:endParaRPr lang="en-US" sz="1400">
                        <a:effectLst/>
                        <a:latin typeface="Calibri" panose="020F0502020204030204" pitchFamily="34" charset="0"/>
                        <a:ea typeface="Times New Roman" panose="02020603050405020304" pitchFamily="18" charset="0"/>
                        <a:cs typeface="Vrinda" panose="020B0502040204020203" pitchFamily="34" charset="0"/>
                      </a:endParaRPr>
                    </a:p>
                  </a:txBody>
                  <a:tcPr marL="76200" marR="76200" marT="76200" marB="76200"/>
                </a:tc>
                <a:tc>
                  <a:txBody>
                    <a:bodyPr/>
                    <a:lstStyle/>
                    <a:p>
                      <a:pPr marL="0" marR="0">
                        <a:lnSpc>
                          <a:spcPts val="1800"/>
                        </a:lnSpc>
                        <a:spcBef>
                          <a:spcPts val="0"/>
                        </a:spcBef>
                        <a:spcAft>
                          <a:spcPts val="1200"/>
                        </a:spcAft>
                      </a:pPr>
                      <a:r>
                        <a:rPr lang="en-US" sz="1400">
                          <a:effectLst/>
                        </a:rPr>
                        <a:t>Poly(styrene-stat-butadiene)</a:t>
                      </a:r>
                      <a:endParaRPr lang="en-US" sz="1400">
                        <a:effectLst/>
                        <a:latin typeface="Calibri" panose="020F0502020204030204" pitchFamily="34" charset="0"/>
                        <a:ea typeface="Times New Roman" panose="02020603050405020304" pitchFamily="18" charset="0"/>
                        <a:cs typeface="Vrinda" panose="020B0502040204020203" pitchFamily="34" charset="0"/>
                      </a:endParaRPr>
                    </a:p>
                  </a:txBody>
                  <a:tcPr marL="76200" marR="76200" marT="76200" marB="76200"/>
                </a:tc>
                <a:extLst>
                  <a:ext uri="{0D108BD9-81ED-4DB2-BD59-A6C34878D82A}">
                    <a16:rowId xmlns:a16="http://schemas.microsoft.com/office/drawing/2014/main" xmlns="" val="10002"/>
                  </a:ext>
                </a:extLst>
              </a:tr>
              <a:tr h="853623">
                <a:tc>
                  <a:txBody>
                    <a:bodyPr/>
                    <a:lstStyle/>
                    <a:p>
                      <a:pPr marL="0" marR="0">
                        <a:lnSpc>
                          <a:spcPts val="1800"/>
                        </a:lnSpc>
                        <a:spcBef>
                          <a:spcPts val="0"/>
                        </a:spcBef>
                        <a:spcAft>
                          <a:spcPts val="1200"/>
                        </a:spcAft>
                      </a:pPr>
                      <a:r>
                        <a:rPr lang="en-US" sz="1400" dirty="0">
                          <a:effectLst/>
                        </a:rPr>
                        <a:t>Random</a:t>
                      </a:r>
                      <a:endParaRPr lang="en-US" sz="1400" dirty="0">
                        <a:effectLst/>
                        <a:latin typeface="Calibri" panose="020F0502020204030204" pitchFamily="34" charset="0"/>
                        <a:ea typeface="Times New Roman" panose="02020603050405020304" pitchFamily="18" charset="0"/>
                        <a:cs typeface="Vrinda" panose="020B0502040204020203" pitchFamily="34" charset="0"/>
                      </a:endParaRPr>
                    </a:p>
                  </a:txBody>
                  <a:tcPr marL="76200" marR="76200" marT="76200" marB="76200"/>
                </a:tc>
                <a:tc>
                  <a:txBody>
                    <a:bodyPr/>
                    <a:lstStyle/>
                    <a:p>
                      <a:pPr marL="0" marR="0">
                        <a:lnSpc>
                          <a:spcPts val="1800"/>
                        </a:lnSpc>
                        <a:spcBef>
                          <a:spcPts val="0"/>
                        </a:spcBef>
                        <a:spcAft>
                          <a:spcPts val="1200"/>
                        </a:spcAft>
                      </a:pPr>
                      <a:r>
                        <a:rPr lang="en-US" sz="1400">
                          <a:effectLst/>
                        </a:rPr>
                        <a:t>-ran-</a:t>
                      </a:r>
                      <a:endParaRPr lang="en-US" sz="1400">
                        <a:effectLst/>
                        <a:latin typeface="Calibri" panose="020F0502020204030204" pitchFamily="34" charset="0"/>
                        <a:ea typeface="Times New Roman" panose="02020603050405020304" pitchFamily="18" charset="0"/>
                        <a:cs typeface="Vrinda" panose="020B0502040204020203" pitchFamily="34" charset="0"/>
                      </a:endParaRPr>
                    </a:p>
                  </a:txBody>
                  <a:tcPr marL="76200" marR="76200" marT="76200" marB="76200"/>
                </a:tc>
                <a:tc>
                  <a:txBody>
                    <a:bodyPr/>
                    <a:lstStyle/>
                    <a:p>
                      <a:pPr marL="0" marR="0">
                        <a:lnSpc>
                          <a:spcPts val="1800"/>
                        </a:lnSpc>
                        <a:spcBef>
                          <a:spcPts val="0"/>
                        </a:spcBef>
                        <a:spcAft>
                          <a:spcPts val="1200"/>
                        </a:spcAft>
                      </a:pPr>
                      <a:r>
                        <a:rPr lang="en-US" sz="1400">
                          <a:effectLst/>
                        </a:rPr>
                        <a:t>Poly[ethylene-ran-(vinyl acetate)]</a:t>
                      </a:r>
                      <a:endParaRPr lang="en-US" sz="1400">
                        <a:effectLst/>
                        <a:latin typeface="Calibri" panose="020F0502020204030204" pitchFamily="34" charset="0"/>
                        <a:ea typeface="Times New Roman" panose="02020603050405020304" pitchFamily="18" charset="0"/>
                        <a:cs typeface="Vrinda" panose="020B0502040204020203" pitchFamily="34" charset="0"/>
                      </a:endParaRPr>
                    </a:p>
                  </a:txBody>
                  <a:tcPr marL="76200" marR="76200" marT="76200" marB="76200"/>
                </a:tc>
                <a:extLst>
                  <a:ext uri="{0D108BD9-81ED-4DB2-BD59-A6C34878D82A}">
                    <a16:rowId xmlns:a16="http://schemas.microsoft.com/office/drawing/2014/main" xmlns="" val="10003"/>
                  </a:ext>
                </a:extLst>
              </a:tr>
              <a:tr h="853623">
                <a:tc>
                  <a:txBody>
                    <a:bodyPr/>
                    <a:lstStyle/>
                    <a:p>
                      <a:pPr marL="0" marR="0">
                        <a:lnSpc>
                          <a:spcPts val="1800"/>
                        </a:lnSpc>
                        <a:spcBef>
                          <a:spcPts val="0"/>
                        </a:spcBef>
                        <a:spcAft>
                          <a:spcPts val="1200"/>
                        </a:spcAft>
                      </a:pPr>
                      <a:r>
                        <a:rPr lang="en-US" sz="1400" dirty="0">
                          <a:effectLst/>
                        </a:rPr>
                        <a:t>Alternating</a:t>
                      </a:r>
                      <a:endParaRPr lang="en-US" sz="1400" dirty="0">
                        <a:effectLst/>
                        <a:latin typeface="Calibri" panose="020F0502020204030204" pitchFamily="34" charset="0"/>
                        <a:ea typeface="Times New Roman" panose="02020603050405020304" pitchFamily="18" charset="0"/>
                        <a:cs typeface="Vrinda" panose="020B0502040204020203" pitchFamily="34" charset="0"/>
                      </a:endParaRPr>
                    </a:p>
                  </a:txBody>
                  <a:tcPr marL="76200" marR="76200" marT="76200" marB="76200"/>
                </a:tc>
                <a:tc>
                  <a:txBody>
                    <a:bodyPr/>
                    <a:lstStyle/>
                    <a:p>
                      <a:pPr marL="0" marR="0">
                        <a:lnSpc>
                          <a:spcPts val="1800"/>
                        </a:lnSpc>
                        <a:spcBef>
                          <a:spcPts val="0"/>
                        </a:spcBef>
                        <a:spcAft>
                          <a:spcPts val="1200"/>
                        </a:spcAft>
                      </a:pPr>
                      <a:r>
                        <a:rPr lang="en-US" sz="1400">
                          <a:effectLst/>
                        </a:rPr>
                        <a:t>-alt-</a:t>
                      </a:r>
                      <a:endParaRPr lang="en-US" sz="1400">
                        <a:effectLst/>
                        <a:latin typeface="Calibri" panose="020F0502020204030204" pitchFamily="34" charset="0"/>
                        <a:ea typeface="Times New Roman" panose="02020603050405020304" pitchFamily="18" charset="0"/>
                        <a:cs typeface="Vrinda" panose="020B0502040204020203" pitchFamily="34" charset="0"/>
                      </a:endParaRPr>
                    </a:p>
                  </a:txBody>
                  <a:tcPr marL="76200" marR="76200" marT="76200" marB="76200"/>
                </a:tc>
                <a:tc>
                  <a:txBody>
                    <a:bodyPr/>
                    <a:lstStyle/>
                    <a:p>
                      <a:pPr marL="0" marR="0">
                        <a:lnSpc>
                          <a:spcPts val="1800"/>
                        </a:lnSpc>
                        <a:spcBef>
                          <a:spcPts val="0"/>
                        </a:spcBef>
                        <a:spcAft>
                          <a:spcPts val="1200"/>
                        </a:spcAft>
                      </a:pPr>
                      <a:r>
                        <a:rPr lang="en-US" sz="1400">
                          <a:effectLst/>
                        </a:rPr>
                        <a:t>Poly[styrene-alt-(maleic anhydride)]</a:t>
                      </a:r>
                      <a:endParaRPr lang="en-US" sz="1400">
                        <a:effectLst/>
                        <a:latin typeface="Calibri" panose="020F0502020204030204" pitchFamily="34" charset="0"/>
                        <a:ea typeface="Times New Roman" panose="02020603050405020304" pitchFamily="18" charset="0"/>
                        <a:cs typeface="Vrinda" panose="020B0502040204020203" pitchFamily="34" charset="0"/>
                      </a:endParaRPr>
                    </a:p>
                  </a:txBody>
                  <a:tcPr marL="76200" marR="76200" marT="76200" marB="76200"/>
                </a:tc>
                <a:extLst>
                  <a:ext uri="{0D108BD9-81ED-4DB2-BD59-A6C34878D82A}">
                    <a16:rowId xmlns:a16="http://schemas.microsoft.com/office/drawing/2014/main" xmlns="" val="10004"/>
                  </a:ext>
                </a:extLst>
              </a:tr>
              <a:tr h="853623">
                <a:tc>
                  <a:txBody>
                    <a:bodyPr/>
                    <a:lstStyle/>
                    <a:p>
                      <a:pPr marL="0" marR="0">
                        <a:lnSpc>
                          <a:spcPts val="1800"/>
                        </a:lnSpc>
                        <a:spcBef>
                          <a:spcPts val="0"/>
                        </a:spcBef>
                        <a:spcAft>
                          <a:spcPts val="1200"/>
                        </a:spcAft>
                      </a:pPr>
                      <a:r>
                        <a:rPr lang="en-US" sz="1400" dirty="0">
                          <a:effectLst/>
                        </a:rPr>
                        <a:t>Block</a:t>
                      </a:r>
                      <a:endParaRPr lang="en-US" sz="1400" dirty="0">
                        <a:effectLst/>
                        <a:latin typeface="Calibri" panose="020F0502020204030204" pitchFamily="34" charset="0"/>
                        <a:ea typeface="Times New Roman" panose="02020603050405020304" pitchFamily="18" charset="0"/>
                        <a:cs typeface="Vrinda" panose="020B0502040204020203" pitchFamily="34" charset="0"/>
                      </a:endParaRPr>
                    </a:p>
                  </a:txBody>
                  <a:tcPr marL="76200" marR="76200" marT="76200" marB="76200"/>
                </a:tc>
                <a:tc>
                  <a:txBody>
                    <a:bodyPr/>
                    <a:lstStyle/>
                    <a:p>
                      <a:pPr marL="0" marR="0">
                        <a:lnSpc>
                          <a:spcPts val="1800"/>
                        </a:lnSpc>
                        <a:spcBef>
                          <a:spcPts val="0"/>
                        </a:spcBef>
                        <a:spcAft>
                          <a:spcPts val="1200"/>
                        </a:spcAft>
                      </a:pPr>
                      <a:r>
                        <a:rPr lang="en-US" sz="1400" dirty="0">
                          <a:effectLst/>
                        </a:rPr>
                        <a:t>-block-</a:t>
                      </a:r>
                      <a:endParaRPr lang="en-US" sz="1400" dirty="0">
                        <a:effectLst/>
                        <a:latin typeface="Calibri" panose="020F0502020204030204" pitchFamily="34" charset="0"/>
                        <a:ea typeface="Times New Roman" panose="02020603050405020304" pitchFamily="18" charset="0"/>
                        <a:cs typeface="Vrinda" panose="020B0502040204020203" pitchFamily="34" charset="0"/>
                      </a:endParaRPr>
                    </a:p>
                  </a:txBody>
                  <a:tcPr marL="76200" marR="76200" marT="76200" marB="76200"/>
                </a:tc>
                <a:tc>
                  <a:txBody>
                    <a:bodyPr/>
                    <a:lstStyle/>
                    <a:p>
                      <a:pPr marL="0" marR="0">
                        <a:lnSpc>
                          <a:spcPts val="1800"/>
                        </a:lnSpc>
                        <a:spcBef>
                          <a:spcPts val="0"/>
                        </a:spcBef>
                        <a:spcAft>
                          <a:spcPts val="1200"/>
                        </a:spcAft>
                      </a:pPr>
                      <a:r>
                        <a:rPr lang="en-US" sz="1400">
                          <a:effectLst/>
                        </a:rPr>
                        <a:t>Polystyrene-block-polybutadiene</a:t>
                      </a:r>
                      <a:endParaRPr lang="en-US" sz="1400">
                        <a:effectLst/>
                        <a:latin typeface="Calibri" panose="020F0502020204030204" pitchFamily="34" charset="0"/>
                        <a:ea typeface="Times New Roman" panose="02020603050405020304" pitchFamily="18" charset="0"/>
                        <a:cs typeface="Vrinda" panose="020B0502040204020203" pitchFamily="34" charset="0"/>
                      </a:endParaRPr>
                    </a:p>
                  </a:txBody>
                  <a:tcPr marL="76200" marR="76200" marT="76200" marB="76200"/>
                </a:tc>
                <a:extLst>
                  <a:ext uri="{0D108BD9-81ED-4DB2-BD59-A6C34878D82A}">
                    <a16:rowId xmlns:a16="http://schemas.microsoft.com/office/drawing/2014/main" xmlns="" val="10005"/>
                  </a:ext>
                </a:extLst>
              </a:tr>
              <a:tr h="853623">
                <a:tc>
                  <a:txBody>
                    <a:bodyPr/>
                    <a:lstStyle/>
                    <a:p>
                      <a:pPr marL="0" marR="0">
                        <a:lnSpc>
                          <a:spcPts val="1800"/>
                        </a:lnSpc>
                        <a:spcBef>
                          <a:spcPts val="0"/>
                        </a:spcBef>
                        <a:spcAft>
                          <a:spcPts val="1200"/>
                        </a:spcAft>
                      </a:pPr>
                      <a:r>
                        <a:rPr lang="en-US" sz="1400">
                          <a:effectLst/>
                        </a:rPr>
                        <a:t>Graft</a:t>
                      </a:r>
                      <a:endParaRPr lang="en-US" sz="1400">
                        <a:effectLst/>
                        <a:latin typeface="Calibri" panose="020F0502020204030204" pitchFamily="34" charset="0"/>
                        <a:ea typeface="Times New Roman" panose="02020603050405020304" pitchFamily="18" charset="0"/>
                        <a:cs typeface="Vrinda" panose="020B0502040204020203" pitchFamily="34" charset="0"/>
                      </a:endParaRPr>
                    </a:p>
                  </a:txBody>
                  <a:tcPr marL="76200" marR="76200" marT="76200" marB="76200"/>
                </a:tc>
                <a:tc>
                  <a:txBody>
                    <a:bodyPr/>
                    <a:lstStyle/>
                    <a:p>
                      <a:pPr marL="0" marR="0">
                        <a:lnSpc>
                          <a:spcPts val="1800"/>
                        </a:lnSpc>
                        <a:spcBef>
                          <a:spcPts val="0"/>
                        </a:spcBef>
                        <a:spcAft>
                          <a:spcPts val="1200"/>
                        </a:spcAft>
                      </a:pPr>
                      <a:r>
                        <a:rPr lang="en-US" sz="1400" dirty="0">
                          <a:effectLst/>
                        </a:rPr>
                        <a:t>-graft-</a:t>
                      </a:r>
                      <a:endParaRPr lang="en-US" sz="1400" dirty="0">
                        <a:effectLst/>
                        <a:latin typeface="Calibri" panose="020F0502020204030204" pitchFamily="34" charset="0"/>
                        <a:ea typeface="Times New Roman" panose="02020603050405020304" pitchFamily="18" charset="0"/>
                        <a:cs typeface="Vrinda" panose="020B0502040204020203" pitchFamily="34" charset="0"/>
                      </a:endParaRPr>
                    </a:p>
                  </a:txBody>
                  <a:tcPr marL="76200" marR="76200" marT="76200" marB="76200"/>
                </a:tc>
                <a:tc>
                  <a:txBody>
                    <a:bodyPr/>
                    <a:lstStyle/>
                    <a:p>
                      <a:pPr marL="0" marR="0">
                        <a:lnSpc>
                          <a:spcPts val="1800"/>
                        </a:lnSpc>
                        <a:spcBef>
                          <a:spcPts val="0"/>
                        </a:spcBef>
                        <a:spcAft>
                          <a:spcPts val="1200"/>
                        </a:spcAft>
                      </a:pPr>
                      <a:r>
                        <a:rPr lang="en-US" sz="1400" dirty="0" err="1">
                          <a:effectLst/>
                        </a:rPr>
                        <a:t>Polybutadiene</a:t>
                      </a:r>
                      <a:r>
                        <a:rPr lang="en-US" sz="1400" dirty="0">
                          <a:effectLst/>
                        </a:rPr>
                        <a:t>-graft-polystyrene</a:t>
                      </a:r>
                      <a:endParaRPr lang="en-US" sz="1400" dirty="0">
                        <a:effectLst/>
                        <a:latin typeface="Calibri" panose="020F0502020204030204" pitchFamily="34" charset="0"/>
                        <a:ea typeface="Times New Roman" panose="02020603050405020304" pitchFamily="18" charset="0"/>
                        <a:cs typeface="Vrinda" panose="020B0502040204020203" pitchFamily="34" charset="0"/>
                      </a:endParaRPr>
                    </a:p>
                  </a:txBody>
                  <a:tcPr marL="76200" marR="76200" marT="76200" marB="76200"/>
                </a:tc>
                <a:extLst>
                  <a:ext uri="{0D108BD9-81ED-4DB2-BD59-A6C34878D82A}">
                    <a16:rowId xmlns:a16="http://schemas.microsoft.com/office/drawing/2014/main" xmlns="" val="10006"/>
                  </a:ext>
                </a:extLst>
              </a:tr>
            </a:tbl>
          </a:graphicData>
        </a:graphic>
      </p:graphicFrame>
      <p:sp>
        <p:nvSpPr>
          <p:cNvPr id="3" name="Rectangle 1"/>
          <p:cNvSpPr>
            <a:spLocks noChangeArrowheads="1"/>
          </p:cNvSpPr>
          <p:nvPr/>
        </p:nvSpPr>
        <p:spPr bwMode="auto">
          <a:xfrm>
            <a:off x="596348" y="936574"/>
            <a:ext cx="8971721" cy="1354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Following IUPAC recommendations, copolymers are named by incorporating an italicized connective term between the names of monomers contained within parentheses or brackets or between two or more polymer names. The connective term designates the type of copolymer as indicated for six important classes of copolymers in Table</a:t>
            </a:r>
            <a:endParaRPr kumimoji="0" 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214058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272209" y="0"/>
            <a:ext cx="6096000" cy="5201424"/>
          </a:xfrm>
          <a:prstGeom prst="rect">
            <a:avLst/>
          </a:prstGeom>
        </p:spPr>
        <p:txBody>
          <a:bodyPr>
            <a:spAutoFit/>
          </a:bodyPr>
          <a:lstStyle/>
          <a:p>
            <a:pPr>
              <a:lnSpc>
                <a:spcPct val="110000"/>
              </a:lnSpc>
              <a:spcAft>
                <a:spcPts val="600"/>
              </a:spcAft>
            </a:pPr>
            <a:r>
              <a:rPr lang="en-US" sz="1200" dirty="0">
                <a:latin typeface="Calibri" panose="020F0502020204030204" pitchFamily="34" charset="0"/>
                <a:ea typeface="Times New Roman" panose="02020603050405020304" pitchFamily="18" charset="0"/>
                <a:cs typeface="Vrinda" panose="020B0502040204020203" pitchFamily="34" charset="0"/>
              </a:rPr>
              <a:t> </a:t>
            </a:r>
          </a:p>
          <a:p>
            <a:pPr>
              <a:lnSpc>
                <a:spcPct val="110000"/>
              </a:lnSpc>
              <a:spcAft>
                <a:spcPts val="300"/>
              </a:spcAft>
            </a:pPr>
            <a:r>
              <a:rPr lang="en-US" sz="3600" kern="1800" dirty="0" err="1">
                <a:solidFill>
                  <a:srgbClr val="000000"/>
                </a:solidFill>
                <a:latin typeface="Georgia" panose="02040502050405020303" pitchFamily="18" charset="0"/>
                <a:ea typeface="Times New Roman" panose="02020603050405020304" pitchFamily="18" charset="0"/>
                <a:cs typeface="Times New Roman" panose="02020603050405020304" pitchFamily="18" charset="0"/>
              </a:rPr>
              <a:t>Tacticity</a:t>
            </a:r>
            <a:endParaRPr lang="en-US" sz="1200" dirty="0">
              <a:latin typeface="Calibri" panose="020F0502020204030204" pitchFamily="34" charset="0"/>
              <a:ea typeface="Times New Roman" panose="02020603050405020304" pitchFamily="18" charset="0"/>
              <a:cs typeface="Vrinda" panose="020B0502040204020203" pitchFamily="34" charset="0"/>
            </a:endParaRPr>
          </a:p>
          <a:p>
            <a:pPr>
              <a:lnSpc>
                <a:spcPct val="110000"/>
              </a:lnSpc>
              <a:spcAft>
                <a:spcPts val="300"/>
              </a:spcAft>
            </a:pPr>
            <a:r>
              <a:rPr lang="en-US" sz="3600" kern="1800" dirty="0">
                <a:solidFill>
                  <a:srgbClr val="000000"/>
                </a:solidFill>
                <a:latin typeface="Georgia" panose="02040502050405020303" pitchFamily="18" charset="0"/>
                <a:ea typeface="Times New Roman" panose="02020603050405020304" pitchFamily="18" charset="0"/>
                <a:cs typeface="Times New Roman" panose="02020603050405020304" pitchFamily="18" charset="0"/>
              </a:rPr>
              <a:t> </a:t>
            </a:r>
            <a:endParaRPr lang="en-US" dirty="0">
              <a:latin typeface="Calibri" panose="020F0502020204030204" pitchFamily="34" charset="0"/>
              <a:ea typeface="Times New Roman" panose="02020603050405020304" pitchFamily="18" charset="0"/>
              <a:cs typeface="Vrinda" panose="020B0502040204020203" pitchFamily="34" charset="0"/>
            </a:endParaRPr>
          </a:p>
          <a:p>
            <a:pPr algn="just">
              <a:lnSpc>
                <a:spcPts val="1680"/>
              </a:lnSpc>
              <a:spcAft>
                <a:spcPts val="600"/>
              </a:spcAft>
              <a:tabLst>
                <a:tab pos="5943600" algn="r"/>
              </a:tabLst>
            </a:pPr>
            <a:r>
              <a:rPr lang="en-US" dirty="0">
                <a:latin typeface="Arial" panose="020B0604020202020204" pitchFamily="34" charset="0"/>
                <a:ea typeface="Times New Roman" panose="02020603050405020304" pitchFamily="18" charset="0"/>
                <a:cs typeface="Vrinda" panose="020B0502040204020203" pitchFamily="34" charset="0"/>
              </a:rPr>
              <a:t>.</a:t>
            </a:r>
            <a:r>
              <a:rPr lang="en-US" dirty="0" err="1">
                <a:latin typeface="Arial" panose="020B0604020202020204" pitchFamily="34" charset="0"/>
                <a:ea typeface="Times New Roman" panose="02020603050405020304" pitchFamily="18" charset="0"/>
                <a:cs typeface="Vrinda" panose="020B0502040204020203" pitchFamily="34" charset="0"/>
              </a:rPr>
              <a:t>T</a:t>
            </a:r>
            <a:r>
              <a:rPr lang="en-US" b="1" dirty="0" err="1">
                <a:latin typeface="Arial" panose="020B0604020202020204" pitchFamily="34" charset="0"/>
                <a:ea typeface="Times New Roman" panose="02020603050405020304" pitchFamily="18" charset="0"/>
                <a:cs typeface="Vrinda" panose="020B0502040204020203" pitchFamily="34" charset="0"/>
              </a:rPr>
              <a:t>acticity</a:t>
            </a:r>
            <a:r>
              <a:rPr lang="en-US" dirty="0">
                <a:latin typeface="Arial" panose="020B0604020202020204" pitchFamily="34" charset="0"/>
                <a:ea typeface="Times New Roman" panose="02020603050405020304" pitchFamily="18" charset="0"/>
                <a:cs typeface="Vrinda" panose="020B0502040204020203" pitchFamily="34" charset="0"/>
              </a:rPr>
              <a:t> (from Greek word  </a:t>
            </a:r>
            <a:r>
              <a:rPr lang="en-US" i="1" dirty="0" err="1">
                <a:latin typeface="Arial" panose="020B0604020202020204" pitchFamily="34" charset="0"/>
                <a:ea typeface="Times New Roman" panose="02020603050405020304" pitchFamily="18" charset="0"/>
                <a:cs typeface="Vrinda" panose="020B0502040204020203" pitchFamily="34" charset="0"/>
              </a:rPr>
              <a:t>taktikos</a:t>
            </a:r>
            <a:r>
              <a:rPr lang="en-US" dirty="0">
                <a:latin typeface="Arial" panose="020B0604020202020204" pitchFamily="34" charset="0"/>
                <a:ea typeface="Times New Roman" panose="02020603050405020304" pitchFamily="18" charset="0"/>
                <a:cs typeface="Vrinda" panose="020B0502040204020203" pitchFamily="34" charset="0"/>
              </a:rPr>
              <a:t> "of or relating to arrangement or order") is the relative stereochemistry of adjacent chiral centers within a macromolecule. </a:t>
            </a:r>
            <a:endParaRPr lang="en-US" sz="1200" dirty="0">
              <a:latin typeface="Calibri" panose="020F0502020204030204" pitchFamily="34" charset="0"/>
              <a:ea typeface="Times New Roman" panose="02020603050405020304" pitchFamily="18" charset="0"/>
              <a:cs typeface="Vrinda" panose="020B0502040204020203" pitchFamily="34" charset="0"/>
            </a:endParaRPr>
          </a:p>
          <a:p>
            <a:pPr algn="just">
              <a:lnSpc>
                <a:spcPts val="1680"/>
              </a:lnSpc>
              <a:spcAft>
                <a:spcPts val="600"/>
              </a:spcAft>
              <a:tabLst>
                <a:tab pos="5943600" algn="r"/>
              </a:tabLst>
            </a:pPr>
            <a:r>
              <a:rPr lang="en-US" dirty="0">
                <a:latin typeface="Arial" panose="020B0604020202020204" pitchFamily="34" charset="0"/>
                <a:ea typeface="Times New Roman" panose="02020603050405020304" pitchFamily="18" charset="0"/>
                <a:cs typeface="Vrinda" panose="020B0502040204020203" pitchFamily="34" charset="0"/>
              </a:rPr>
              <a:t>The practical significance of </a:t>
            </a:r>
            <a:r>
              <a:rPr lang="en-US" dirty="0" err="1">
                <a:latin typeface="Arial" panose="020B0604020202020204" pitchFamily="34" charset="0"/>
                <a:ea typeface="Times New Roman" panose="02020603050405020304" pitchFamily="18" charset="0"/>
                <a:cs typeface="Vrinda" panose="020B0502040204020203" pitchFamily="34" charset="0"/>
              </a:rPr>
              <a:t>tacticity</a:t>
            </a:r>
            <a:r>
              <a:rPr lang="en-US" dirty="0">
                <a:latin typeface="Arial" panose="020B0604020202020204" pitchFamily="34" charset="0"/>
                <a:ea typeface="Times New Roman" panose="02020603050405020304" pitchFamily="18" charset="0"/>
                <a:cs typeface="Vrinda" panose="020B0502040204020203" pitchFamily="34" charset="0"/>
              </a:rPr>
              <a:t> rests on the effects on the physical properties of the polymer. The regularity of the macromolecular structure influences the degree to which it has rigid, crystalline long range order or flexible, amorphous long range disorder. Precise knowledge of </a:t>
            </a:r>
            <a:r>
              <a:rPr lang="en-US" dirty="0" err="1">
                <a:latin typeface="Arial" panose="020B0604020202020204" pitchFamily="34" charset="0"/>
                <a:ea typeface="Times New Roman" panose="02020603050405020304" pitchFamily="18" charset="0"/>
                <a:cs typeface="Vrinda" panose="020B0502040204020203" pitchFamily="34" charset="0"/>
              </a:rPr>
              <a:t>tacticity</a:t>
            </a:r>
            <a:r>
              <a:rPr lang="en-US" dirty="0">
                <a:latin typeface="Arial" panose="020B0604020202020204" pitchFamily="34" charset="0"/>
                <a:ea typeface="Times New Roman" panose="02020603050405020304" pitchFamily="18" charset="0"/>
                <a:cs typeface="Vrinda" panose="020B0502040204020203" pitchFamily="34" charset="0"/>
              </a:rPr>
              <a:t> of a polymer also helps understanding at what temperature a polymer melts, how soluble it is in a solvent and its mechanical properties.</a:t>
            </a:r>
            <a:endParaRPr lang="en-US" sz="1200" dirty="0">
              <a:latin typeface="Calibri" panose="020F0502020204030204" pitchFamily="34" charset="0"/>
              <a:ea typeface="Times New Roman" panose="02020603050405020304" pitchFamily="18" charset="0"/>
              <a:cs typeface="Vrinda" panose="020B0502040204020203" pitchFamily="34" charset="0"/>
            </a:endParaRPr>
          </a:p>
          <a:p>
            <a:pPr algn="just">
              <a:lnSpc>
                <a:spcPct val="110000"/>
              </a:lnSpc>
              <a:spcAft>
                <a:spcPts val="600"/>
              </a:spcAft>
            </a:pPr>
            <a:r>
              <a:rPr lang="en-US" sz="1200" dirty="0">
                <a:latin typeface="Calibri" panose="020F0502020204030204" pitchFamily="34" charset="0"/>
                <a:ea typeface="Times New Roman" panose="02020603050405020304" pitchFamily="18" charset="0"/>
                <a:cs typeface="Vrinda" panose="020B0502040204020203" pitchFamily="34" charset="0"/>
              </a:rPr>
              <a:t> </a:t>
            </a:r>
          </a:p>
          <a:p>
            <a:pPr algn="just">
              <a:lnSpc>
                <a:spcPct val="110000"/>
              </a:lnSpc>
              <a:spcAft>
                <a:spcPts val="600"/>
              </a:spcAft>
            </a:pPr>
            <a:r>
              <a:rPr lang="en-US" sz="1200" dirty="0">
                <a:latin typeface="Calibri" panose="020F0502020204030204" pitchFamily="34" charset="0"/>
                <a:ea typeface="Times New Roman" panose="02020603050405020304" pitchFamily="18" charset="0"/>
                <a:cs typeface="Vrinda" panose="020B0502040204020203" pitchFamily="34" charset="0"/>
              </a:rPr>
              <a:t> </a:t>
            </a:r>
          </a:p>
          <a:p>
            <a:pPr>
              <a:lnSpc>
                <a:spcPct val="110000"/>
              </a:lnSpc>
              <a:spcAft>
                <a:spcPts val="600"/>
              </a:spcAft>
            </a:pPr>
            <a:r>
              <a:rPr lang="en-US" sz="1200" dirty="0">
                <a:latin typeface="Calibri" panose="020F0502020204030204" pitchFamily="34" charset="0"/>
                <a:ea typeface="Times New Roman" panose="02020603050405020304" pitchFamily="18" charset="0"/>
                <a:cs typeface="Vrinda" panose="020B0502040204020203" pitchFamily="34" charset="0"/>
              </a:rPr>
              <a:t> </a:t>
            </a:r>
            <a:endParaRPr lang="en-US" sz="1200" dirty="0">
              <a:effectLst/>
              <a:latin typeface="Calibri" panose="020F0502020204030204" pitchFamily="34" charset="0"/>
              <a:ea typeface="Times New Roman" panose="02020603050405020304" pitchFamily="18" charset="0"/>
              <a:cs typeface="Vrinda" panose="020B0502040204020203" pitchFamily="34" charset="0"/>
            </a:endParaRPr>
          </a:p>
        </p:txBody>
      </p:sp>
    </p:spTree>
    <p:extLst>
      <p:ext uri="{BB962C8B-B14F-4D97-AF65-F5344CB8AC3E}">
        <p14:creationId xmlns:p14="http://schemas.microsoft.com/office/powerpoint/2010/main" val="30350141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914400" y="927438"/>
            <a:ext cx="9501809"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a:ln>
                  <a:noFill/>
                </a:ln>
                <a:effectLst/>
                <a:latin typeface="Arial" panose="020B0604020202020204" pitchFamily="34" charset="0"/>
                <a:ea typeface="Times New Roman" panose="02020603050405020304" pitchFamily="18" charset="0"/>
                <a:cs typeface="Arial" panose="020B0604020202020204" pitchFamily="34" charset="0"/>
              </a:rPr>
              <a:t>Isotactic polymers</a:t>
            </a:r>
            <a:endParaRPr kumimoji="0" lang="en-US" b="0" i="0" u="none" strike="noStrike" cap="none" normalizeH="0" baseline="0" dirty="0">
              <a:ln>
                <a:noFill/>
              </a:ln>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effectLst/>
                <a:latin typeface="Arial" panose="020B0604020202020204" pitchFamily="34" charset="0"/>
                <a:ea typeface="Times New Roman" panose="02020603050405020304" pitchFamily="18" charset="0"/>
                <a:cs typeface="Arial" panose="020B0604020202020204" pitchFamily="34" charset="0"/>
              </a:rPr>
              <a:t>Isotactic polymers are composed of isotactic macromolecules (IUPAC definition). In isotactic macromolecules all the substituents are located on the same side of the macromolecular backbone. </a:t>
            </a:r>
            <a:endParaRPr kumimoji="0" lang="en-US" b="0" i="0" u="none" strike="noStrike" cap="none" normalizeH="0" baseline="0" dirty="0">
              <a:ln>
                <a:noFill/>
              </a:ln>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effectLst/>
                <a:latin typeface="Arial" panose="020B0604020202020204" pitchFamily="34" charset="0"/>
                <a:ea typeface="Times New Roman" panose="02020603050405020304" pitchFamily="18" charset="0"/>
                <a:cs typeface="Arial" panose="020B0604020202020204" pitchFamily="34" charset="0"/>
              </a:rPr>
              <a:t>Polypropylene</a:t>
            </a:r>
            <a:r>
              <a:rPr kumimoji="0" lang="en-US" b="0" i="0" u="none" strike="noStrike" cap="none" normalizeH="0" baseline="0" dirty="0">
                <a:ln>
                  <a:noFill/>
                </a:ln>
                <a:effectLst/>
                <a:latin typeface="Calibri" panose="020F0502020204030204" pitchFamily="34" charset="0"/>
                <a:ea typeface="Times New Roman" panose="02020603050405020304" pitchFamily="18" charset="0"/>
                <a:cs typeface="Arial" panose="020B0604020202020204" pitchFamily="34" charset="0"/>
              </a:rPr>
              <a:t> </a:t>
            </a:r>
            <a:r>
              <a:rPr kumimoji="0" lang="en-US" b="0" i="0" u="none" strike="noStrike" cap="none" normalizeH="0" baseline="0" dirty="0">
                <a:ln>
                  <a:noFill/>
                </a:ln>
                <a:effectLst/>
                <a:latin typeface="Arial" panose="020B0604020202020204" pitchFamily="34" charset="0"/>
                <a:ea typeface="Times New Roman" panose="02020603050405020304" pitchFamily="18" charset="0"/>
                <a:cs typeface="Arial" panose="020B0604020202020204" pitchFamily="34" charset="0"/>
              </a:rPr>
              <a:t>formed by</a:t>
            </a:r>
            <a:r>
              <a:rPr kumimoji="0" lang="en-US" b="0" i="0" u="none" strike="noStrike" cap="none" normalizeH="0" baseline="0" dirty="0">
                <a:ln>
                  <a:noFill/>
                </a:ln>
                <a:effectLst/>
                <a:latin typeface="Calibri" panose="020F0502020204030204" pitchFamily="34" charset="0"/>
                <a:ea typeface="Times New Roman" panose="02020603050405020304" pitchFamily="18" charset="0"/>
                <a:cs typeface="Arial" panose="020B0604020202020204" pitchFamily="34" charset="0"/>
              </a:rPr>
              <a:t> </a:t>
            </a:r>
            <a:r>
              <a:rPr kumimoji="0" lang="en-US" b="0" i="0" u="none" strike="noStrike" cap="none" normalizeH="0" baseline="0" dirty="0">
                <a:ln>
                  <a:noFill/>
                </a:ln>
                <a:effectLst/>
                <a:latin typeface="Arial" panose="020B0604020202020204" pitchFamily="34" charset="0"/>
                <a:ea typeface="Times New Roman" panose="02020603050405020304" pitchFamily="18" charset="0"/>
                <a:cs typeface="Arial" panose="020B0604020202020204" pitchFamily="34" charset="0"/>
              </a:rPr>
              <a:t>Ziegler</a:t>
            </a:r>
            <a:r>
              <a:rPr kumimoji="0" lang="en-US" b="0" i="0" u="none" strike="noStrike" cap="none" normalizeH="0" baseline="0" dirty="0">
                <a:ln>
                  <a:noFill/>
                </a:ln>
                <a:effectLst/>
                <a:latin typeface="Calibri" panose="020F0502020204030204" pitchFamily="34" charset="0"/>
                <a:ea typeface="Times New Roman" panose="02020603050405020304" pitchFamily="18" charset="0"/>
                <a:cs typeface="Arial" panose="020B0604020202020204" pitchFamily="34" charset="0"/>
              </a:rPr>
              <a:t>–</a:t>
            </a:r>
            <a:r>
              <a:rPr kumimoji="0" lang="en-US" b="0" i="0" u="none" strike="noStrike" cap="none" normalizeH="0" baseline="0" dirty="0">
                <a:ln>
                  <a:noFill/>
                </a:ln>
                <a:effectLst/>
                <a:latin typeface="Arial" panose="020B0604020202020204" pitchFamily="34" charset="0"/>
                <a:ea typeface="Times New Roman" panose="02020603050405020304" pitchFamily="18" charset="0"/>
                <a:cs typeface="Arial" panose="020B0604020202020204" pitchFamily="34" charset="0"/>
              </a:rPr>
              <a:t>Natta catalysis</a:t>
            </a:r>
            <a:r>
              <a:rPr kumimoji="0" lang="en-US" b="0" i="0" u="none" strike="noStrike" cap="none" normalizeH="0" baseline="0" dirty="0">
                <a:ln>
                  <a:noFill/>
                </a:ln>
                <a:effectLst/>
                <a:latin typeface="Calibri" panose="020F0502020204030204" pitchFamily="34" charset="0"/>
                <a:ea typeface="Times New Roman" panose="02020603050405020304" pitchFamily="18" charset="0"/>
                <a:cs typeface="Arial" panose="020B0604020202020204" pitchFamily="34" charset="0"/>
              </a:rPr>
              <a:t> </a:t>
            </a:r>
            <a:r>
              <a:rPr kumimoji="0" lang="en-US" b="0" i="0" u="none" strike="noStrike" cap="none" normalizeH="0" baseline="0" dirty="0">
                <a:ln>
                  <a:noFill/>
                </a:ln>
                <a:effectLst/>
                <a:latin typeface="Arial" panose="020B0604020202020204" pitchFamily="34" charset="0"/>
                <a:ea typeface="Times New Roman" panose="02020603050405020304" pitchFamily="18" charset="0"/>
                <a:cs typeface="Arial" panose="020B0604020202020204" pitchFamily="34" charset="0"/>
              </a:rPr>
              <a:t>is an isotactic polymer.</a:t>
            </a:r>
            <a:r>
              <a:rPr kumimoji="0" lang="en-US" b="0" i="0" u="none" strike="noStrike" cap="none" normalizeH="0" baseline="0" dirty="0">
                <a:ln>
                  <a:noFill/>
                </a:ln>
                <a:effectLst/>
                <a:latin typeface="Calibri" panose="020F0502020204030204" pitchFamily="34" charset="0"/>
                <a:ea typeface="Times New Roman" panose="02020603050405020304" pitchFamily="18" charset="0"/>
                <a:cs typeface="Arial" panose="020B0604020202020204" pitchFamily="34" charset="0"/>
              </a:rPr>
              <a:t> </a:t>
            </a:r>
            <a:r>
              <a:rPr kumimoji="0" lang="en-US" b="0" i="0" u="none" strike="noStrike" cap="none" normalizeH="0" baseline="0" dirty="0">
                <a:ln>
                  <a:noFill/>
                </a:ln>
                <a:effectLst/>
                <a:latin typeface="Arial" panose="020B0604020202020204" pitchFamily="34" charset="0"/>
                <a:ea typeface="Times New Roman" panose="02020603050405020304" pitchFamily="18" charset="0"/>
                <a:cs typeface="Arial" panose="020B0604020202020204" pitchFamily="34" charset="0"/>
              </a:rPr>
              <a:t>Isotactic polymers are usually</a:t>
            </a:r>
            <a:r>
              <a:rPr kumimoji="0" lang="en-US" b="0" i="0" u="none" strike="noStrike" cap="none" normalizeH="0" baseline="0" dirty="0">
                <a:ln>
                  <a:noFill/>
                </a:ln>
                <a:effectLst/>
                <a:latin typeface="Calibri" panose="020F0502020204030204" pitchFamily="34" charset="0"/>
                <a:ea typeface="Times New Roman" panose="02020603050405020304" pitchFamily="18" charset="0"/>
                <a:cs typeface="Arial" panose="020B0604020202020204" pitchFamily="34" charset="0"/>
              </a:rPr>
              <a:t> </a:t>
            </a:r>
            <a:r>
              <a:rPr kumimoji="0" lang="en-US" b="0" i="0" u="none" strike="noStrike" cap="none" normalizeH="0" baseline="0" dirty="0" err="1">
                <a:ln>
                  <a:noFill/>
                </a:ln>
                <a:effectLst/>
                <a:latin typeface="Arial" panose="020B0604020202020204" pitchFamily="34" charset="0"/>
                <a:ea typeface="Times New Roman" panose="02020603050405020304" pitchFamily="18" charset="0"/>
                <a:cs typeface="Arial" panose="020B0604020202020204" pitchFamily="34" charset="0"/>
              </a:rPr>
              <a:t>semicrystalline</a:t>
            </a:r>
            <a:r>
              <a:rPr kumimoji="0" lang="en-US" b="0" i="0" u="none" strike="noStrike" cap="none" normalizeH="0" baseline="0" dirty="0">
                <a:ln>
                  <a:noFill/>
                </a:ln>
                <a:effectLst/>
                <a:latin typeface="Calibri" panose="020F0502020204030204" pitchFamily="34" charset="0"/>
                <a:ea typeface="Times New Roman" panose="02020603050405020304" pitchFamily="18" charset="0"/>
                <a:cs typeface="Arial" panose="020B0604020202020204" pitchFamily="34" charset="0"/>
              </a:rPr>
              <a:t> </a:t>
            </a:r>
            <a:r>
              <a:rPr kumimoji="0" lang="en-US" b="0" i="0" u="none" strike="noStrike" cap="none" normalizeH="0" baseline="0" dirty="0">
                <a:ln>
                  <a:noFill/>
                </a:ln>
                <a:effectLst/>
                <a:latin typeface="Arial" panose="020B0604020202020204" pitchFamily="34" charset="0"/>
                <a:ea typeface="Times New Roman" panose="02020603050405020304" pitchFamily="18" charset="0"/>
                <a:cs typeface="Arial" panose="020B0604020202020204" pitchFamily="34" charset="0"/>
              </a:rPr>
              <a:t>and often form a helix configuration.</a:t>
            </a:r>
            <a:endParaRPr kumimoji="0" lang="en-US"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pic>
        <p:nvPicPr>
          <p:cNvPr id="3073" name="Picture 5" descr="isotactic polymer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28900" y="4061791"/>
            <a:ext cx="3467100" cy="10287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0" y="14859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562492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51721" y="463826"/>
            <a:ext cx="8428383" cy="1929759"/>
          </a:xfrm>
          <a:prstGeom prst="rect">
            <a:avLst/>
          </a:prstGeom>
        </p:spPr>
        <p:txBody>
          <a:bodyPr wrap="square">
            <a:spAutoFit/>
          </a:bodyPr>
          <a:lstStyle/>
          <a:p>
            <a:pPr>
              <a:lnSpc>
                <a:spcPct val="110000"/>
              </a:lnSpc>
              <a:spcBef>
                <a:spcPts val="360"/>
              </a:spcBef>
            </a:pPr>
            <a:r>
              <a:rPr lang="en-US" sz="3200" b="1" dirty="0" err="1">
                <a:solidFill>
                  <a:srgbClr val="000000"/>
                </a:solidFill>
                <a:latin typeface="Arial" panose="020B0604020202020204" pitchFamily="34" charset="0"/>
                <a:ea typeface="Times New Roman" panose="02020603050405020304" pitchFamily="18" charset="0"/>
                <a:cs typeface="Vrinda" panose="020B0502040204020203" pitchFamily="34" charset="0"/>
              </a:rPr>
              <a:t>Syndiotactic</a:t>
            </a:r>
            <a:r>
              <a:rPr lang="en-US" sz="3200" b="1" dirty="0">
                <a:solidFill>
                  <a:srgbClr val="000000"/>
                </a:solidFill>
                <a:latin typeface="Arial" panose="020B0604020202020204" pitchFamily="34" charset="0"/>
                <a:ea typeface="Times New Roman" panose="02020603050405020304" pitchFamily="18" charset="0"/>
                <a:cs typeface="Vrinda" panose="020B0502040204020203" pitchFamily="34" charset="0"/>
              </a:rPr>
              <a:t> polymers</a:t>
            </a:r>
            <a:endParaRPr lang="en-US" sz="1600" dirty="0">
              <a:latin typeface="Calibri" panose="020F0502020204030204" pitchFamily="34" charset="0"/>
              <a:ea typeface="Times New Roman" panose="02020603050405020304" pitchFamily="18" charset="0"/>
              <a:cs typeface="Vrinda" panose="020B0502040204020203" pitchFamily="34" charset="0"/>
            </a:endParaRPr>
          </a:p>
          <a:p>
            <a:pPr algn="just">
              <a:lnSpc>
                <a:spcPct val="110000"/>
              </a:lnSpc>
              <a:spcBef>
                <a:spcPts val="600"/>
              </a:spcBef>
              <a:spcAft>
                <a:spcPts val="600"/>
              </a:spcAft>
            </a:pPr>
            <a:r>
              <a:rPr lang="en-US" dirty="0">
                <a:latin typeface="Arial" panose="020B0604020202020204" pitchFamily="34" charset="0"/>
                <a:ea typeface="Times New Roman" panose="02020603050405020304" pitchFamily="18" charset="0"/>
                <a:cs typeface="Vrinda" panose="020B0502040204020203" pitchFamily="34" charset="0"/>
              </a:rPr>
              <a:t>In </a:t>
            </a:r>
            <a:r>
              <a:rPr lang="en-US" dirty="0" err="1">
                <a:latin typeface="Arial" panose="020B0604020202020204" pitchFamily="34" charset="0"/>
                <a:ea typeface="Times New Roman" panose="02020603050405020304" pitchFamily="18" charset="0"/>
                <a:cs typeface="Vrinda" panose="020B0502040204020203" pitchFamily="34" charset="0"/>
              </a:rPr>
              <a:t>syndiotactic</a:t>
            </a:r>
            <a:r>
              <a:rPr lang="en-US" dirty="0">
                <a:latin typeface="Arial" panose="020B0604020202020204" pitchFamily="34" charset="0"/>
                <a:ea typeface="Times New Roman" panose="02020603050405020304" pitchFamily="18" charset="0"/>
                <a:cs typeface="Vrinda" panose="020B0502040204020203" pitchFamily="34" charset="0"/>
              </a:rPr>
              <a:t> or </a:t>
            </a:r>
            <a:r>
              <a:rPr lang="en-US" b="1" dirty="0">
                <a:latin typeface="Arial" panose="020B0604020202020204" pitchFamily="34" charset="0"/>
                <a:ea typeface="Times New Roman" panose="02020603050405020304" pitchFamily="18" charset="0"/>
                <a:cs typeface="Vrinda" panose="020B0502040204020203" pitchFamily="34" charset="0"/>
              </a:rPr>
              <a:t>syntactic</a:t>
            </a:r>
            <a:r>
              <a:rPr lang="en-US" dirty="0">
                <a:latin typeface="Arial" panose="020B0604020202020204" pitchFamily="34" charset="0"/>
                <a:ea typeface="Times New Roman" panose="02020603050405020304" pitchFamily="18" charset="0"/>
                <a:cs typeface="Vrinda" panose="020B0502040204020203" pitchFamily="34" charset="0"/>
              </a:rPr>
              <a:t> macromolecules the substituents have alternate positions along the chain. The </a:t>
            </a:r>
            <a:r>
              <a:rPr lang="en-US" dirty="0" err="1">
                <a:latin typeface="Arial" panose="020B0604020202020204" pitchFamily="34" charset="0"/>
                <a:ea typeface="Times New Roman" panose="02020603050405020304" pitchFamily="18" charset="0"/>
                <a:cs typeface="Vrinda" panose="020B0502040204020203" pitchFamily="34" charset="0"/>
              </a:rPr>
              <a:t>metallocene</a:t>
            </a:r>
            <a:r>
              <a:rPr lang="en-US" dirty="0">
                <a:latin typeface="Arial" panose="020B0604020202020204" pitchFamily="34" charset="0"/>
                <a:ea typeface="Times New Roman" panose="02020603050405020304" pitchFamily="18" charset="0"/>
                <a:cs typeface="Vrinda" panose="020B0502040204020203" pitchFamily="34" charset="0"/>
              </a:rPr>
              <a:t> catalysis polymerization is crystalline with a melting point of 161 °C. </a:t>
            </a:r>
            <a:r>
              <a:rPr lang="en-US" dirty="0" err="1">
                <a:latin typeface="Arial" panose="020B0604020202020204" pitchFamily="34" charset="0"/>
                <a:ea typeface="Times New Roman" panose="02020603050405020304" pitchFamily="18" charset="0"/>
                <a:cs typeface="Vrinda" panose="020B0502040204020203" pitchFamily="34" charset="0"/>
              </a:rPr>
              <a:t>Gutta</a:t>
            </a:r>
            <a:r>
              <a:rPr lang="en-US" dirty="0">
                <a:latin typeface="Arial" panose="020B0604020202020204" pitchFamily="34" charset="0"/>
                <a:ea typeface="Times New Roman" panose="02020603050405020304" pitchFamily="18" charset="0"/>
                <a:cs typeface="Vrinda" panose="020B0502040204020203" pitchFamily="34" charset="0"/>
              </a:rPr>
              <a:t> </a:t>
            </a:r>
            <a:r>
              <a:rPr lang="en-US" dirty="0" err="1">
                <a:latin typeface="Arial" panose="020B0604020202020204" pitchFamily="34" charset="0"/>
                <a:ea typeface="Times New Roman" panose="02020603050405020304" pitchFamily="18" charset="0"/>
                <a:cs typeface="Vrinda" panose="020B0502040204020203" pitchFamily="34" charset="0"/>
              </a:rPr>
              <a:t>percha</a:t>
            </a:r>
            <a:r>
              <a:rPr lang="en-US" dirty="0">
                <a:latin typeface="Arial" panose="020B0604020202020204" pitchFamily="34" charset="0"/>
                <a:ea typeface="Times New Roman" panose="02020603050405020304" pitchFamily="18" charset="0"/>
                <a:cs typeface="Vrinda" panose="020B0502040204020203" pitchFamily="34" charset="0"/>
              </a:rPr>
              <a:t> is also an example for </a:t>
            </a:r>
            <a:r>
              <a:rPr lang="en-US" dirty="0" err="1">
                <a:latin typeface="Arial" panose="020B0604020202020204" pitchFamily="34" charset="0"/>
                <a:ea typeface="Times New Roman" panose="02020603050405020304" pitchFamily="18" charset="0"/>
                <a:cs typeface="Vrinda" panose="020B0502040204020203" pitchFamily="34" charset="0"/>
              </a:rPr>
              <a:t>Syndiotactic</a:t>
            </a:r>
            <a:r>
              <a:rPr lang="en-US" dirty="0">
                <a:latin typeface="Arial" panose="020B0604020202020204" pitchFamily="34" charset="0"/>
                <a:ea typeface="Times New Roman" panose="02020603050405020304" pitchFamily="18" charset="0"/>
                <a:cs typeface="Vrinda" panose="020B0502040204020203" pitchFamily="34" charset="0"/>
              </a:rPr>
              <a:t> polymer.   </a:t>
            </a:r>
            <a:endParaRPr lang="en-US" sz="1600" dirty="0">
              <a:effectLst/>
              <a:latin typeface="Calibri" panose="020F0502020204030204" pitchFamily="34" charset="0"/>
              <a:ea typeface="Times New Roman" panose="02020603050405020304" pitchFamily="18" charset="0"/>
              <a:cs typeface="Vrinda" panose="020B0502040204020203" pitchFamily="34" charset="0"/>
            </a:endParaRPr>
          </a:p>
        </p:txBody>
      </p:sp>
      <p:pic>
        <p:nvPicPr>
          <p:cNvPr id="3" name="Picture 2" descr="syndiotactic polymers">
            <a:hlinkClick r:id="rId2" tooltip="&quot;syndiotactic polymers&quot;"/>
          </p:cNvPr>
          <p:cNvPicPr/>
          <p:nvPr/>
        </p:nvPicPr>
        <p:blipFill>
          <a:blip r:embed="rId3">
            <a:extLst>
              <a:ext uri="{28A0092B-C50C-407E-A947-70E740481C1C}">
                <a14:useLocalDpi xmlns:a14="http://schemas.microsoft.com/office/drawing/2010/main" val="0"/>
              </a:ext>
            </a:extLst>
          </a:blip>
          <a:srcRect/>
          <a:stretch>
            <a:fillRect/>
          </a:stretch>
        </p:blipFill>
        <p:spPr bwMode="auto">
          <a:xfrm>
            <a:off x="2809461" y="2796209"/>
            <a:ext cx="5191539" cy="1118566"/>
          </a:xfrm>
          <a:prstGeom prst="rect">
            <a:avLst/>
          </a:prstGeom>
          <a:noFill/>
          <a:ln>
            <a:noFill/>
          </a:ln>
        </p:spPr>
      </p:pic>
    </p:spTree>
    <p:extLst>
      <p:ext uri="{BB962C8B-B14F-4D97-AF65-F5344CB8AC3E}">
        <p14:creationId xmlns:p14="http://schemas.microsoft.com/office/powerpoint/2010/main" val="31607544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40419" y="950142"/>
            <a:ext cx="6096000" cy="2625334"/>
          </a:xfrm>
          <a:prstGeom prst="rect">
            <a:avLst/>
          </a:prstGeom>
        </p:spPr>
        <p:txBody>
          <a:bodyPr>
            <a:spAutoFit/>
          </a:bodyPr>
          <a:lstStyle/>
          <a:p>
            <a:pPr>
              <a:lnSpc>
                <a:spcPct val="110000"/>
              </a:lnSpc>
              <a:spcBef>
                <a:spcPts val="360"/>
              </a:spcBef>
            </a:pPr>
            <a:r>
              <a:rPr lang="en-US" sz="3200" b="1" dirty="0" err="1">
                <a:solidFill>
                  <a:srgbClr val="000000"/>
                </a:solidFill>
                <a:latin typeface="Arial" panose="020B0604020202020204" pitchFamily="34" charset="0"/>
                <a:ea typeface="Times New Roman" panose="02020603050405020304" pitchFamily="18" charset="0"/>
                <a:cs typeface="Vrinda" panose="020B0502040204020203" pitchFamily="34" charset="0"/>
              </a:rPr>
              <a:t>Atactic</a:t>
            </a:r>
            <a:r>
              <a:rPr lang="en-US" sz="3200" b="1" dirty="0">
                <a:solidFill>
                  <a:srgbClr val="000000"/>
                </a:solidFill>
                <a:latin typeface="Arial" panose="020B0604020202020204" pitchFamily="34" charset="0"/>
                <a:ea typeface="Times New Roman" panose="02020603050405020304" pitchFamily="18" charset="0"/>
                <a:cs typeface="Vrinda" panose="020B0502040204020203" pitchFamily="34" charset="0"/>
              </a:rPr>
              <a:t> polymers</a:t>
            </a:r>
            <a:endParaRPr lang="en-US" sz="1600" dirty="0">
              <a:latin typeface="Calibri" panose="020F0502020204030204" pitchFamily="34" charset="0"/>
              <a:ea typeface="Times New Roman" panose="02020603050405020304" pitchFamily="18" charset="0"/>
              <a:cs typeface="Vrinda" panose="020B0502040204020203" pitchFamily="34" charset="0"/>
            </a:endParaRPr>
          </a:p>
          <a:p>
            <a:pPr algn="just">
              <a:lnSpc>
                <a:spcPct val="110000"/>
              </a:lnSpc>
              <a:spcBef>
                <a:spcPts val="600"/>
              </a:spcBef>
              <a:spcAft>
                <a:spcPts val="600"/>
              </a:spcAft>
            </a:pPr>
            <a:r>
              <a:rPr lang="en-US" dirty="0">
                <a:solidFill>
                  <a:srgbClr val="202122"/>
                </a:solidFill>
                <a:latin typeface="Arial" panose="020B0604020202020204" pitchFamily="34" charset="0"/>
                <a:ea typeface="Times New Roman" panose="02020603050405020304" pitchFamily="18" charset="0"/>
                <a:cs typeface="Vrinda" panose="020B0502040204020203" pitchFamily="34" charset="0"/>
              </a:rPr>
              <a:t>In </a:t>
            </a:r>
            <a:r>
              <a:rPr lang="en-US" dirty="0" err="1">
                <a:solidFill>
                  <a:srgbClr val="202122"/>
                </a:solidFill>
                <a:latin typeface="Arial" panose="020B0604020202020204" pitchFamily="34" charset="0"/>
                <a:ea typeface="Times New Roman" panose="02020603050405020304" pitchFamily="18" charset="0"/>
                <a:cs typeface="Vrinda" panose="020B0502040204020203" pitchFamily="34" charset="0"/>
              </a:rPr>
              <a:t>atactic</a:t>
            </a:r>
            <a:r>
              <a:rPr lang="en-US" dirty="0">
                <a:solidFill>
                  <a:srgbClr val="202122"/>
                </a:solidFill>
                <a:latin typeface="Arial" panose="020B0604020202020204" pitchFamily="34" charset="0"/>
                <a:ea typeface="Times New Roman" panose="02020603050405020304" pitchFamily="18" charset="0"/>
                <a:cs typeface="Vrinda" panose="020B0502040204020203" pitchFamily="34" charset="0"/>
              </a:rPr>
              <a:t> macromolecules the substituents are placed randomly along the chain.. With the aid of spectroscopic techniques such as </a:t>
            </a:r>
            <a:r>
              <a:rPr lang="en-US" dirty="0">
                <a:solidFill>
                  <a:srgbClr val="0645AD"/>
                </a:solidFill>
                <a:latin typeface="Arial" panose="020B0604020202020204" pitchFamily="34" charset="0"/>
                <a:ea typeface="Times New Roman" panose="02020603050405020304" pitchFamily="18" charset="0"/>
                <a:cs typeface="Vrinda" panose="020B0502040204020203" pitchFamily="34" charset="0"/>
                <a:hlinkClick r:id="rId2" tooltip="Nuclear magnetic resonance"/>
              </a:rPr>
              <a:t>NMR</a:t>
            </a:r>
            <a:r>
              <a:rPr lang="en-US" dirty="0">
                <a:solidFill>
                  <a:srgbClr val="202122"/>
                </a:solidFill>
                <a:latin typeface="Arial" panose="020B0604020202020204" pitchFamily="34" charset="0"/>
                <a:ea typeface="Times New Roman" panose="02020603050405020304" pitchFamily="18" charset="0"/>
                <a:cs typeface="Vrinda" panose="020B0502040204020203" pitchFamily="34" charset="0"/>
              </a:rPr>
              <a:t> it is possible to pinpoint the composition of a polymer in terms of the percentages  </a:t>
            </a:r>
            <a:endParaRPr lang="en-US" sz="1600" dirty="0">
              <a:latin typeface="Calibri" panose="020F0502020204030204" pitchFamily="34" charset="0"/>
              <a:ea typeface="Times New Roman" panose="02020603050405020304" pitchFamily="18" charset="0"/>
              <a:cs typeface="Vrinda" panose="020B0502040204020203" pitchFamily="34" charset="0"/>
            </a:endParaRPr>
          </a:p>
          <a:p>
            <a:pPr>
              <a:lnSpc>
                <a:spcPct val="110000"/>
              </a:lnSpc>
              <a:spcAft>
                <a:spcPts val="600"/>
              </a:spcAft>
            </a:pPr>
            <a:r>
              <a:rPr lang="en-US" sz="1600" dirty="0">
                <a:latin typeface="Calibri" panose="020F0502020204030204" pitchFamily="34" charset="0"/>
                <a:ea typeface="Times New Roman" panose="02020603050405020304" pitchFamily="18" charset="0"/>
                <a:cs typeface="Vrinda" panose="020B0502040204020203" pitchFamily="34" charset="0"/>
              </a:rPr>
              <a:t> </a:t>
            </a:r>
          </a:p>
          <a:p>
            <a:pPr>
              <a:lnSpc>
                <a:spcPct val="110000"/>
              </a:lnSpc>
              <a:spcAft>
                <a:spcPts val="600"/>
              </a:spcAft>
            </a:pPr>
            <a:r>
              <a:rPr lang="en-US" sz="1600" dirty="0">
                <a:latin typeface="Calibri" panose="020F0502020204030204" pitchFamily="34" charset="0"/>
                <a:ea typeface="Times New Roman" panose="02020603050405020304" pitchFamily="18" charset="0"/>
                <a:cs typeface="Vrinda" panose="020B0502040204020203" pitchFamily="34" charset="0"/>
              </a:rPr>
              <a:t> </a:t>
            </a:r>
            <a:endParaRPr lang="en-US" sz="1600" dirty="0">
              <a:effectLst/>
              <a:latin typeface="Calibri" panose="020F0502020204030204" pitchFamily="34" charset="0"/>
              <a:ea typeface="Times New Roman" panose="02020603050405020304" pitchFamily="18" charset="0"/>
              <a:cs typeface="Vrinda" panose="020B0502040204020203" pitchFamily="34" charset="0"/>
            </a:endParaRPr>
          </a:p>
        </p:txBody>
      </p:sp>
      <p:pic>
        <p:nvPicPr>
          <p:cNvPr id="3" name="Picture 2" descr="atactic polymers"/>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93428" y="3469458"/>
            <a:ext cx="4306570" cy="1276350"/>
          </a:xfrm>
          <a:prstGeom prst="rect">
            <a:avLst/>
          </a:prstGeom>
          <a:noFill/>
          <a:ln>
            <a:noFill/>
          </a:ln>
        </p:spPr>
      </p:pic>
    </p:spTree>
    <p:extLst>
      <p:ext uri="{BB962C8B-B14F-4D97-AF65-F5344CB8AC3E}">
        <p14:creationId xmlns:p14="http://schemas.microsoft.com/office/powerpoint/2010/main" val="24395723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2040928"/>
            <a:ext cx="6096000" cy="3232039"/>
          </a:xfrm>
          <a:prstGeom prst="rect">
            <a:avLst/>
          </a:prstGeom>
        </p:spPr>
        <p:txBody>
          <a:bodyPr>
            <a:spAutoFit/>
          </a:bodyPr>
          <a:lstStyle/>
          <a:p>
            <a:pPr>
              <a:lnSpc>
                <a:spcPct val="110000"/>
              </a:lnSpc>
              <a:spcAft>
                <a:spcPts val="600"/>
              </a:spcAft>
            </a:pPr>
            <a:r>
              <a:rPr lang="en-US" sz="2800" b="1" dirty="0">
                <a:solidFill>
                  <a:srgbClr val="0372A6"/>
                </a:solidFill>
                <a:latin typeface="Tahoma" panose="020B0604030504040204" pitchFamily="34" charset="0"/>
                <a:ea typeface="Times New Roman" panose="02020603050405020304" pitchFamily="18" charset="0"/>
                <a:cs typeface="Vrinda" panose="020B0502040204020203" pitchFamily="34" charset="0"/>
              </a:rPr>
              <a:t> Intermolecular forces in polymer</a:t>
            </a:r>
            <a:endParaRPr lang="en-US" sz="1200" dirty="0">
              <a:latin typeface="Calibri" panose="020F0502020204030204" pitchFamily="34" charset="0"/>
              <a:ea typeface="Times New Roman" panose="02020603050405020304" pitchFamily="18" charset="0"/>
              <a:cs typeface="Vrinda" panose="020B0502040204020203" pitchFamily="34" charset="0"/>
            </a:endParaRPr>
          </a:p>
          <a:p>
            <a:pPr algn="just">
              <a:lnSpc>
                <a:spcPct val="110000"/>
              </a:lnSpc>
              <a:spcAft>
                <a:spcPts val="600"/>
              </a:spcAft>
            </a:pPr>
            <a:r>
              <a:rPr lang="en-US" dirty="0">
                <a:solidFill>
                  <a:srgbClr val="000000"/>
                </a:solidFill>
                <a:latin typeface="Tahoma" panose="020B0604030504040204" pitchFamily="34" charset="0"/>
                <a:ea typeface="Times New Roman" panose="02020603050405020304" pitchFamily="18" charset="0"/>
                <a:cs typeface="Vrinda" panose="020B0502040204020203" pitchFamily="34" charset="0"/>
              </a:rPr>
              <a:t>The intermolecular forces for polymers are the same as for small molecules. Because polymer molecules are so large, though, the magnitude of their intermolecular forces can vastly exceed those between small molecules. The presence of strong intermolecular forces is one of the main factors leading to the unique physical properties of polymers.</a:t>
            </a:r>
            <a:endParaRPr lang="en-US" sz="1200" dirty="0">
              <a:effectLst/>
              <a:latin typeface="Calibri" panose="020F0502020204030204" pitchFamily="34" charset="0"/>
              <a:ea typeface="Times New Roman" panose="02020603050405020304" pitchFamily="18" charset="0"/>
              <a:cs typeface="Vrinda" panose="020B0502040204020203" pitchFamily="34" charset="0"/>
            </a:endParaRPr>
          </a:p>
        </p:txBody>
      </p:sp>
    </p:spTree>
    <p:extLst>
      <p:ext uri="{BB962C8B-B14F-4D97-AF65-F5344CB8AC3E}">
        <p14:creationId xmlns:p14="http://schemas.microsoft.com/office/powerpoint/2010/main" val="313309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image.slideserve.com/1460398/types-of-intermolecular-forces-l.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070" y="139148"/>
            <a:ext cx="9753600" cy="7315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24027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97039" y="709683"/>
            <a:ext cx="8386648" cy="3616375"/>
          </a:xfrm>
          <a:prstGeom prst="rect">
            <a:avLst/>
          </a:prstGeom>
        </p:spPr>
        <p:txBody>
          <a:bodyPr wrap="square">
            <a:spAutoFit/>
          </a:bodyPr>
          <a:lstStyle/>
          <a:p>
            <a:pPr algn="just">
              <a:lnSpc>
                <a:spcPct val="110000"/>
              </a:lnSpc>
              <a:spcAft>
                <a:spcPts val="600"/>
              </a:spcAft>
            </a:pPr>
            <a:r>
              <a:rPr lang="en-US" sz="2800" b="1" dirty="0">
                <a:solidFill>
                  <a:srgbClr val="0372A6"/>
                </a:solidFill>
                <a:latin typeface="Tahoma" panose="020B0604030504040204" pitchFamily="34" charset="0"/>
                <a:ea typeface="Times New Roman" panose="02020603050405020304" pitchFamily="18" charset="0"/>
                <a:cs typeface="Vrinda" panose="020B0502040204020203" pitchFamily="34" charset="0"/>
              </a:rPr>
              <a:t>Dispersion Forces</a:t>
            </a:r>
            <a:endParaRPr lang="en-US" sz="1200" dirty="0">
              <a:latin typeface="Calibri" panose="020F0502020204030204" pitchFamily="34" charset="0"/>
              <a:ea typeface="Times New Roman" panose="02020603050405020304" pitchFamily="18" charset="0"/>
              <a:cs typeface="Vrinda" panose="020B0502040204020203" pitchFamily="34" charset="0"/>
            </a:endParaRPr>
          </a:p>
          <a:p>
            <a:pPr algn="just">
              <a:lnSpc>
                <a:spcPct val="110000"/>
              </a:lnSpc>
              <a:spcAft>
                <a:spcPts val="600"/>
              </a:spcAft>
            </a:pPr>
            <a:r>
              <a:rPr lang="en-US" dirty="0">
                <a:solidFill>
                  <a:srgbClr val="000000"/>
                </a:solidFill>
                <a:latin typeface="Tahoma" panose="020B0604030504040204" pitchFamily="34" charset="0"/>
                <a:ea typeface="Times New Roman" panose="02020603050405020304" pitchFamily="18" charset="0"/>
                <a:cs typeface="Vrinda" panose="020B0502040204020203" pitchFamily="34" charset="0"/>
              </a:rPr>
              <a:t>Dispersion forces are due to instantaneous dipoles that form as the charge clouds in the molecules fluctuate. Dispersion forces, the weakest of the intermolecular forces, are present in all polymers. They are the only forces possible for nonpolar polymers such as polyethylene.</a:t>
            </a:r>
            <a:endParaRPr lang="en-US" sz="1200" dirty="0">
              <a:latin typeface="Calibri" panose="020F0502020204030204" pitchFamily="34" charset="0"/>
              <a:ea typeface="Times New Roman" panose="02020603050405020304" pitchFamily="18" charset="0"/>
              <a:cs typeface="Vrinda" panose="020B0502040204020203" pitchFamily="34" charset="0"/>
            </a:endParaRPr>
          </a:p>
          <a:p>
            <a:pPr algn="just">
              <a:lnSpc>
                <a:spcPct val="110000"/>
              </a:lnSpc>
              <a:spcAft>
                <a:spcPts val="600"/>
              </a:spcAft>
            </a:pPr>
            <a:r>
              <a:rPr lang="en-US" dirty="0">
                <a:solidFill>
                  <a:srgbClr val="000000"/>
                </a:solidFill>
                <a:latin typeface="Tahoma" panose="020B0604030504040204" pitchFamily="34" charset="0"/>
                <a:ea typeface="Times New Roman" panose="02020603050405020304" pitchFamily="18" charset="0"/>
                <a:cs typeface="Vrinda" panose="020B0502040204020203" pitchFamily="34" charset="0"/>
              </a:rPr>
              <a:t>Dispersion forces depend on the </a:t>
            </a:r>
            <a:r>
              <a:rPr lang="en-US" dirty="0" err="1">
                <a:solidFill>
                  <a:srgbClr val="000000"/>
                </a:solidFill>
                <a:latin typeface="Tahoma" panose="020B0604030504040204" pitchFamily="34" charset="0"/>
                <a:ea typeface="Times New Roman" panose="02020603050405020304" pitchFamily="18" charset="0"/>
                <a:cs typeface="Vrinda" panose="020B0502040204020203" pitchFamily="34" charset="0"/>
              </a:rPr>
              <a:t>polarizability</a:t>
            </a:r>
            <a:r>
              <a:rPr lang="en-US" dirty="0">
                <a:solidFill>
                  <a:srgbClr val="000000"/>
                </a:solidFill>
                <a:latin typeface="Tahoma" panose="020B0604030504040204" pitchFamily="34" charset="0"/>
                <a:ea typeface="Times New Roman" panose="02020603050405020304" pitchFamily="18" charset="0"/>
                <a:cs typeface="Vrinda" panose="020B0502040204020203" pitchFamily="34" charset="0"/>
              </a:rPr>
              <a:t> of a molecule. </a:t>
            </a:r>
          </a:p>
          <a:p>
            <a:pPr algn="just">
              <a:lnSpc>
                <a:spcPct val="110000"/>
              </a:lnSpc>
              <a:spcAft>
                <a:spcPts val="600"/>
              </a:spcAft>
            </a:pPr>
            <a:r>
              <a:rPr lang="en-US" dirty="0">
                <a:solidFill>
                  <a:srgbClr val="000000"/>
                </a:solidFill>
                <a:latin typeface="Tahoma" panose="020B0604030504040204" pitchFamily="34" charset="0"/>
                <a:ea typeface="Times New Roman" panose="02020603050405020304" pitchFamily="18" charset="0"/>
                <a:cs typeface="Vrinda" panose="020B0502040204020203" pitchFamily="34" charset="0"/>
              </a:rPr>
              <a:t>Larger molecules generally are more polarizable, so large polymers with high molecular weights can have significant dispersion forces.</a:t>
            </a:r>
          </a:p>
          <a:p>
            <a:pPr algn="just">
              <a:lnSpc>
                <a:spcPct val="110000"/>
              </a:lnSpc>
              <a:spcAft>
                <a:spcPts val="600"/>
              </a:spcAft>
            </a:pPr>
            <a:r>
              <a:rPr lang="en-US" dirty="0">
                <a:solidFill>
                  <a:srgbClr val="000000"/>
                </a:solidFill>
                <a:latin typeface="Tahoma" panose="020B0604030504040204" pitchFamily="34" charset="0"/>
                <a:ea typeface="Times New Roman" panose="02020603050405020304" pitchFamily="18" charset="0"/>
                <a:cs typeface="Vrinda" panose="020B0502040204020203" pitchFamily="34" charset="0"/>
              </a:rPr>
              <a:t> Ultra high molecular weight polyethylene (UHMWPE), which has a molecular weight in excess of 3,000,000 g/mole, is used to make bulletproof vests.</a:t>
            </a:r>
            <a:endParaRPr lang="en-US" sz="1200" dirty="0">
              <a:latin typeface="Calibri" panose="020F0502020204030204" pitchFamily="34" charset="0"/>
              <a:ea typeface="Times New Roman" panose="02020603050405020304" pitchFamily="18" charset="0"/>
              <a:cs typeface="Vrinda" panose="020B0502040204020203" pitchFamily="34" charset="0"/>
            </a:endParaRPr>
          </a:p>
        </p:txBody>
      </p:sp>
    </p:spTree>
    <p:extLst>
      <p:ext uri="{BB962C8B-B14F-4D97-AF65-F5344CB8AC3E}">
        <p14:creationId xmlns:p14="http://schemas.microsoft.com/office/powerpoint/2010/main" val="37677321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i.ytimg.com/vi/L2sOiXp5unU/maxresdefaul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60694"/>
            <a:ext cx="12192000" cy="6858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52710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55927" y="548569"/>
            <a:ext cx="9385111" cy="3573286"/>
          </a:xfrm>
          <a:prstGeom prst="rect">
            <a:avLst/>
          </a:prstGeom>
        </p:spPr>
        <p:txBody>
          <a:bodyPr wrap="square">
            <a:spAutoFit/>
          </a:bodyPr>
          <a:lstStyle/>
          <a:p>
            <a:pPr algn="just">
              <a:lnSpc>
                <a:spcPct val="110000"/>
              </a:lnSpc>
              <a:spcAft>
                <a:spcPts val="600"/>
              </a:spcAft>
            </a:pPr>
            <a:r>
              <a:rPr lang="en-US" sz="3200" b="1" dirty="0">
                <a:solidFill>
                  <a:srgbClr val="0372A6"/>
                </a:solidFill>
                <a:latin typeface="Tahoma" panose="020B0604030504040204" pitchFamily="34" charset="0"/>
                <a:ea typeface="Times New Roman" panose="02020603050405020304" pitchFamily="18" charset="0"/>
                <a:cs typeface="Vrinda" panose="020B0502040204020203" pitchFamily="34" charset="0"/>
              </a:rPr>
              <a:t>Dipole-Dipole Forces</a:t>
            </a:r>
            <a:endParaRPr lang="en-US" sz="3200" dirty="0">
              <a:latin typeface="Calibri" panose="020F0502020204030204" pitchFamily="34" charset="0"/>
              <a:ea typeface="Times New Roman" panose="02020603050405020304" pitchFamily="18" charset="0"/>
              <a:cs typeface="Vrinda" panose="020B0502040204020203" pitchFamily="34" charset="0"/>
            </a:endParaRPr>
          </a:p>
          <a:p>
            <a:pPr algn="just">
              <a:lnSpc>
                <a:spcPct val="110000"/>
              </a:lnSpc>
              <a:spcAft>
                <a:spcPts val="600"/>
              </a:spcAft>
            </a:pPr>
            <a:r>
              <a:rPr lang="en-US" sz="3200" dirty="0">
                <a:solidFill>
                  <a:srgbClr val="000000"/>
                </a:solidFill>
                <a:latin typeface="Tahoma" panose="020B0604030504040204" pitchFamily="34" charset="0"/>
                <a:ea typeface="Times New Roman" panose="02020603050405020304" pitchFamily="18" charset="0"/>
                <a:cs typeface="Vrinda" panose="020B0502040204020203" pitchFamily="34" charset="0"/>
              </a:rPr>
              <a:t>Dipole-dipole forces result from the attraction between polar groups,</a:t>
            </a:r>
          </a:p>
          <a:p>
            <a:pPr algn="just">
              <a:lnSpc>
                <a:spcPct val="110000"/>
              </a:lnSpc>
              <a:spcAft>
                <a:spcPts val="600"/>
              </a:spcAft>
            </a:pPr>
            <a:endParaRPr lang="en-US" sz="3200" dirty="0">
              <a:solidFill>
                <a:srgbClr val="000000"/>
              </a:solidFill>
              <a:latin typeface="Tahoma" panose="020B0604030504040204" pitchFamily="34" charset="0"/>
              <a:ea typeface="Times New Roman" panose="02020603050405020304" pitchFamily="18" charset="0"/>
              <a:cs typeface="Vrinda" panose="020B0502040204020203" pitchFamily="34" charset="0"/>
            </a:endParaRPr>
          </a:p>
          <a:p>
            <a:pPr algn="just">
              <a:lnSpc>
                <a:spcPct val="110000"/>
              </a:lnSpc>
              <a:spcAft>
                <a:spcPts val="600"/>
              </a:spcAft>
            </a:pPr>
            <a:r>
              <a:rPr lang="en-US" sz="3200" dirty="0">
                <a:solidFill>
                  <a:srgbClr val="000000"/>
                </a:solidFill>
                <a:latin typeface="Tahoma" panose="020B0604030504040204" pitchFamily="34" charset="0"/>
                <a:ea typeface="Times New Roman" panose="02020603050405020304" pitchFamily="18" charset="0"/>
                <a:cs typeface="Vrinda" panose="020B0502040204020203" pitchFamily="34" charset="0"/>
              </a:rPr>
              <a:t> such as those in polyesters and vinyl polymers with chlorine pendant groups.</a:t>
            </a:r>
            <a:endParaRPr lang="en-US" sz="3200" dirty="0">
              <a:latin typeface="Calibri" panose="020F0502020204030204" pitchFamily="34" charset="0"/>
              <a:ea typeface="Times New Roman" panose="02020603050405020304" pitchFamily="18" charset="0"/>
              <a:cs typeface="Vrinda" panose="020B0502040204020203" pitchFamily="34" charset="0"/>
            </a:endParaRPr>
          </a:p>
        </p:txBody>
      </p:sp>
    </p:spTree>
    <p:extLst>
      <p:ext uri="{BB962C8B-B14F-4D97-AF65-F5344CB8AC3E}">
        <p14:creationId xmlns:p14="http://schemas.microsoft.com/office/powerpoint/2010/main" val="31157636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9241" y="873456"/>
            <a:ext cx="8871045" cy="5293757"/>
          </a:xfrm>
          <a:prstGeom prst="rect">
            <a:avLst/>
          </a:prstGeom>
        </p:spPr>
        <p:txBody>
          <a:bodyPr wrap="square">
            <a:spAutoFit/>
          </a:bodyPr>
          <a:lstStyle/>
          <a:p>
            <a:pPr>
              <a:lnSpc>
                <a:spcPct val="110000"/>
              </a:lnSpc>
              <a:spcAft>
                <a:spcPts val="600"/>
              </a:spcAft>
            </a:pPr>
            <a:r>
              <a:rPr lang="en-US" sz="2800" b="1" dirty="0">
                <a:solidFill>
                  <a:srgbClr val="0372A6"/>
                </a:solidFill>
                <a:latin typeface="Tahoma" panose="020B0604030504040204" pitchFamily="34" charset="0"/>
                <a:ea typeface="Times New Roman" panose="02020603050405020304" pitchFamily="18" charset="0"/>
                <a:cs typeface="Vrinda" panose="020B0502040204020203" pitchFamily="34" charset="0"/>
              </a:rPr>
              <a:t>Hydrogen Bonding</a:t>
            </a:r>
            <a:endParaRPr lang="en-US" sz="1200" dirty="0">
              <a:latin typeface="Calibri" panose="020F0502020204030204" pitchFamily="34" charset="0"/>
              <a:ea typeface="Times New Roman" panose="02020603050405020304" pitchFamily="18" charset="0"/>
              <a:cs typeface="Vrinda" panose="020B0502040204020203" pitchFamily="34" charset="0"/>
            </a:endParaRPr>
          </a:p>
          <a:p>
            <a:pPr>
              <a:lnSpc>
                <a:spcPct val="110000"/>
              </a:lnSpc>
              <a:spcAft>
                <a:spcPts val="600"/>
              </a:spcAft>
            </a:pPr>
            <a:r>
              <a:rPr lang="en-US" sz="2800" dirty="0">
                <a:solidFill>
                  <a:srgbClr val="000000"/>
                </a:solidFill>
                <a:latin typeface="Tahoma" panose="020B0604030504040204" pitchFamily="34" charset="0"/>
                <a:ea typeface="Times New Roman" panose="02020603050405020304" pitchFamily="18" charset="0"/>
                <a:cs typeface="Vrinda" panose="020B0502040204020203" pitchFamily="34" charset="0"/>
              </a:rPr>
              <a:t>Hydrogen bonding can take place when the polymer molecule contains -OH or -NH groups. </a:t>
            </a:r>
          </a:p>
          <a:p>
            <a:pPr>
              <a:lnSpc>
                <a:spcPct val="110000"/>
              </a:lnSpc>
              <a:spcAft>
                <a:spcPts val="600"/>
              </a:spcAft>
            </a:pPr>
            <a:endParaRPr lang="en-US" sz="2800" dirty="0">
              <a:solidFill>
                <a:srgbClr val="000000"/>
              </a:solidFill>
              <a:latin typeface="Tahoma" panose="020B0604030504040204" pitchFamily="34" charset="0"/>
              <a:ea typeface="Times New Roman" panose="02020603050405020304" pitchFamily="18" charset="0"/>
              <a:cs typeface="Vrinda" panose="020B0502040204020203" pitchFamily="34" charset="0"/>
            </a:endParaRPr>
          </a:p>
          <a:p>
            <a:pPr>
              <a:lnSpc>
                <a:spcPct val="110000"/>
              </a:lnSpc>
              <a:spcAft>
                <a:spcPts val="600"/>
              </a:spcAft>
            </a:pPr>
            <a:r>
              <a:rPr lang="en-US" sz="2800" dirty="0">
                <a:solidFill>
                  <a:srgbClr val="000000"/>
                </a:solidFill>
                <a:latin typeface="Tahoma" panose="020B0604030504040204" pitchFamily="34" charset="0"/>
                <a:ea typeface="Times New Roman" panose="02020603050405020304" pitchFamily="18" charset="0"/>
                <a:cs typeface="Vrinda" panose="020B0502040204020203" pitchFamily="34" charset="0"/>
              </a:rPr>
              <a:t>Hydrogen bonding is the strongest of the intermolecular forces. </a:t>
            </a:r>
          </a:p>
          <a:p>
            <a:pPr>
              <a:lnSpc>
                <a:spcPct val="110000"/>
              </a:lnSpc>
              <a:spcAft>
                <a:spcPts val="600"/>
              </a:spcAft>
            </a:pPr>
            <a:endParaRPr lang="en-US" sz="2800" dirty="0">
              <a:solidFill>
                <a:srgbClr val="000000"/>
              </a:solidFill>
              <a:latin typeface="Tahoma" panose="020B0604030504040204" pitchFamily="34" charset="0"/>
              <a:ea typeface="Times New Roman" panose="02020603050405020304" pitchFamily="18" charset="0"/>
              <a:cs typeface="Vrinda" panose="020B0502040204020203" pitchFamily="34" charset="0"/>
            </a:endParaRPr>
          </a:p>
          <a:p>
            <a:pPr>
              <a:lnSpc>
                <a:spcPct val="110000"/>
              </a:lnSpc>
              <a:spcAft>
                <a:spcPts val="600"/>
              </a:spcAft>
            </a:pPr>
            <a:r>
              <a:rPr lang="en-US" sz="2800" dirty="0">
                <a:solidFill>
                  <a:srgbClr val="000000"/>
                </a:solidFill>
                <a:latin typeface="Tahoma" panose="020B0604030504040204" pitchFamily="34" charset="0"/>
                <a:ea typeface="Times New Roman" panose="02020603050405020304" pitchFamily="18" charset="0"/>
                <a:cs typeface="Vrinda" panose="020B0502040204020203" pitchFamily="34" charset="0"/>
              </a:rPr>
              <a:t>Polymers such as poly(vinyl alcohol) and polyamides are hydrogen bonded.</a:t>
            </a:r>
            <a:endParaRPr lang="en-US" sz="2800" dirty="0">
              <a:latin typeface="Calibri" panose="020F0502020204030204" pitchFamily="34" charset="0"/>
              <a:ea typeface="Times New Roman" panose="02020603050405020304" pitchFamily="18" charset="0"/>
              <a:cs typeface="Vrinda" panose="020B0502040204020203" pitchFamily="34" charset="0"/>
            </a:endParaRPr>
          </a:p>
          <a:p>
            <a:pPr>
              <a:lnSpc>
                <a:spcPct val="110000"/>
              </a:lnSpc>
              <a:spcAft>
                <a:spcPts val="600"/>
              </a:spcAft>
            </a:pPr>
            <a:r>
              <a:rPr lang="en-US" sz="2800" b="1" dirty="0">
                <a:solidFill>
                  <a:srgbClr val="0372A6"/>
                </a:solidFill>
                <a:latin typeface="Tahoma" panose="020B0604030504040204" pitchFamily="34" charset="0"/>
                <a:ea typeface="Times New Roman" panose="02020603050405020304" pitchFamily="18" charset="0"/>
                <a:cs typeface="Vrinda" panose="020B0502040204020203" pitchFamily="34" charset="0"/>
              </a:rPr>
              <a:t> </a:t>
            </a:r>
            <a:endParaRPr lang="en-US" sz="2800" dirty="0">
              <a:effectLst/>
              <a:latin typeface="Calibri" panose="020F0502020204030204" pitchFamily="34" charset="0"/>
              <a:ea typeface="Times New Roman" panose="02020603050405020304" pitchFamily="18" charset="0"/>
              <a:cs typeface="Vrinda" panose="020B0502040204020203" pitchFamily="34" charset="0"/>
            </a:endParaRPr>
          </a:p>
        </p:txBody>
      </p:sp>
    </p:spTree>
    <p:extLst>
      <p:ext uri="{BB962C8B-B14F-4D97-AF65-F5344CB8AC3E}">
        <p14:creationId xmlns:p14="http://schemas.microsoft.com/office/powerpoint/2010/main" val="31260143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s://tse3.mm.bing.net/th?id=OIP.VULeujKqp5SlPQtlfaA9_AHaDT&amp;pid=Api&amp;P=0&amp;w=357&amp;h=1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5436" y="2509631"/>
            <a:ext cx="7516826" cy="3347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74457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38249" y="1047751"/>
            <a:ext cx="9629775" cy="4893647"/>
          </a:xfrm>
          <a:prstGeom prst="rect">
            <a:avLst/>
          </a:prstGeom>
        </p:spPr>
        <p:txBody>
          <a:bodyPr wrap="square">
            <a:spAutoFit/>
          </a:bodyPr>
          <a:lstStyle/>
          <a:p>
            <a:r>
              <a:rPr lang="en-US" sz="3200" b="1" dirty="0"/>
              <a:t>Ionic Bond </a:t>
            </a:r>
          </a:p>
          <a:p>
            <a:pPr algn="just"/>
            <a:r>
              <a:rPr lang="en-US" sz="2800" dirty="0"/>
              <a:t>In chemical bonds, atoms can either transfer or share their valence electrons. In the extreme case where one or more atoms lose electrons and other atoms gain them in order to produce a noble gas electron configuration, the bond is called an ionic bond The bonding force in sodium chloride is a result of the electrostatic attraction between the two ions. </a:t>
            </a:r>
          </a:p>
          <a:p>
            <a:pPr algn="just"/>
            <a:endParaRPr lang="en-US" sz="2800" dirty="0"/>
          </a:p>
          <a:p>
            <a:pPr algn="just"/>
            <a:r>
              <a:rPr lang="en-US" sz="2800" dirty="0"/>
              <a:t>-Not common in polymeric materials (However, divalent ions are known to act as cross-links between carboxyl groups in natural resins.</a:t>
            </a:r>
          </a:p>
        </p:txBody>
      </p:sp>
    </p:spTree>
    <p:extLst>
      <p:ext uri="{BB962C8B-B14F-4D97-AF65-F5344CB8AC3E}">
        <p14:creationId xmlns:p14="http://schemas.microsoft.com/office/powerpoint/2010/main" val="5733995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7842" y="457200"/>
            <a:ext cx="10934558" cy="6001643"/>
          </a:xfrm>
          <a:prstGeom prst="rect">
            <a:avLst/>
          </a:prstGeom>
        </p:spPr>
        <p:txBody>
          <a:bodyPr wrap="square">
            <a:spAutoFit/>
          </a:bodyPr>
          <a:lstStyle/>
          <a:p>
            <a:pPr algn="just"/>
            <a:r>
              <a:rPr lang="en-US" sz="3200" dirty="0" err="1">
                <a:solidFill>
                  <a:srgbClr val="555555"/>
                </a:solidFill>
                <a:latin typeface="Times New Roman" panose="02020603050405020304" pitchFamily="18" charset="0"/>
                <a:ea typeface="Times New Roman" panose="02020603050405020304" pitchFamily="18" charset="0"/>
                <a:cs typeface="Times New Roman" panose="02020603050405020304" pitchFamily="18" charset="0"/>
              </a:rPr>
              <a:t>CovalentBonding</a:t>
            </a:r>
            <a:r>
              <a:rPr lang="en-US" sz="3200" dirty="0">
                <a:solidFill>
                  <a:srgbClr val="555555"/>
                </a:solidFill>
                <a:latin typeface="Times New Roman" panose="02020603050405020304" pitchFamily="18" charset="0"/>
                <a:ea typeface="Times New Roman" panose="02020603050405020304" pitchFamily="18" charset="0"/>
                <a:cs typeface="Times New Roman" panose="02020603050405020304" pitchFamily="18" charset="0"/>
              </a:rPr>
              <a:t>:</a:t>
            </a:r>
            <a:br>
              <a:rPr lang="en-US" sz="3200" dirty="0">
                <a:solidFill>
                  <a:srgbClr val="555555"/>
                </a:solidFill>
                <a:latin typeface="Times New Roman" panose="02020603050405020304" pitchFamily="18" charset="0"/>
                <a:ea typeface="Times New Roman" panose="02020603050405020304" pitchFamily="18" charset="0"/>
                <a:cs typeface="Times New Roman" panose="02020603050405020304" pitchFamily="18" charset="0"/>
              </a:rPr>
            </a:br>
            <a:r>
              <a:rPr lang="en-US" sz="3200" dirty="0">
                <a:solidFill>
                  <a:srgbClr val="555555"/>
                </a:solidFill>
                <a:latin typeface="Times New Roman" panose="02020603050405020304" pitchFamily="18" charset="0"/>
                <a:ea typeface="Times New Roman" panose="02020603050405020304" pitchFamily="18" charset="0"/>
                <a:cs typeface="Times New Roman" panose="02020603050405020304" pitchFamily="18" charset="0"/>
              </a:rPr>
              <a:t>Exists in giant covalent and simple molecular compounds. A covalent bond is a shared pair of electrons,</a:t>
            </a:r>
            <a:br>
              <a:rPr lang="en-US" sz="3200" dirty="0">
                <a:solidFill>
                  <a:srgbClr val="555555"/>
                </a:solidFill>
                <a:latin typeface="Times New Roman" panose="02020603050405020304" pitchFamily="18" charset="0"/>
                <a:ea typeface="Times New Roman" panose="02020603050405020304" pitchFamily="18" charset="0"/>
                <a:cs typeface="Times New Roman" panose="02020603050405020304" pitchFamily="18" charset="0"/>
              </a:rPr>
            </a:br>
            <a:r>
              <a:rPr lang="en-US" sz="3200" dirty="0">
                <a:solidFill>
                  <a:srgbClr val="555555"/>
                </a:solidFill>
                <a:latin typeface="Times New Roman" panose="02020603050405020304" pitchFamily="18" charset="0"/>
                <a:ea typeface="Times New Roman" panose="02020603050405020304" pitchFamily="18" charset="0"/>
                <a:cs typeface="Times New Roman" panose="02020603050405020304" pitchFamily="18" charset="0"/>
              </a:rPr>
              <a:t>with one electron being supplied by each atom in the bond. </a:t>
            </a:r>
          </a:p>
          <a:p>
            <a:pPr algn="just"/>
            <a:endParaRPr lang="en-US" sz="3200" dirty="0">
              <a:solidFill>
                <a:srgbClr val="555555"/>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sz="3200" dirty="0">
                <a:solidFill>
                  <a:srgbClr val="555555"/>
                </a:solidFill>
                <a:latin typeface="Times New Roman" panose="02020603050405020304" pitchFamily="18" charset="0"/>
                <a:ea typeface="Times New Roman" panose="02020603050405020304" pitchFamily="18" charset="0"/>
                <a:cs typeface="Times New Roman" panose="02020603050405020304" pitchFamily="18" charset="0"/>
              </a:rPr>
              <a:t>Atoms share electrons in order to gain the</a:t>
            </a:r>
            <a:br>
              <a:rPr lang="en-US" sz="3200" dirty="0">
                <a:solidFill>
                  <a:srgbClr val="555555"/>
                </a:solidFill>
                <a:latin typeface="Times New Roman" panose="02020603050405020304" pitchFamily="18" charset="0"/>
                <a:ea typeface="Times New Roman" panose="02020603050405020304" pitchFamily="18" charset="0"/>
                <a:cs typeface="Times New Roman" panose="02020603050405020304" pitchFamily="18" charset="0"/>
              </a:rPr>
            </a:br>
            <a:r>
              <a:rPr lang="en-US" sz="3200" dirty="0">
                <a:solidFill>
                  <a:srgbClr val="555555"/>
                </a:solidFill>
                <a:latin typeface="Times New Roman" panose="02020603050405020304" pitchFamily="18" charset="0"/>
                <a:ea typeface="Times New Roman" panose="02020603050405020304" pitchFamily="18" charset="0"/>
                <a:cs typeface="Times New Roman" panose="02020603050405020304" pitchFamily="18" charset="0"/>
              </a:rPr>
              <a:t>most stable electron configuration; that of a noble gas</a:t>
            </a:r>
            <a:br>
              <a:rPr lang="en-US" sz="3200" dirty="0">
                <a:solidFill>
                  <a:srgbClr val="555555"/>
                </a:solidFill>
                <a:latin typeface="Times New Roman" panose="02020603050405020304" pitchFamily="18" charset="0"/>
                <a:ea typeface="Times New Roman" panose="02020603050405020304" pitchFamily="18" charset="0"/>
                <a:cs typeface="Times New Roman" panose="02020603050405020304" pitchFamily="18" charset="0"/>
              </a:rPr>
            </a:br>
            <a:endParaRPr lang="en-US" sz="3200" dirty="0">
              <a:solidFill>
                <a:srgbClr val="555555"/>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sz="3200" dirty="0">
                <a:solidFill>
                  <a:srgbClr val="555555"/>
                </a:solidFill>
                <a:latin typeface="Times New Roman" panose="02020603050405020304" pitchFamily="18" charset="0"/>
                <a:ea typeface="Times New Roman" panose="02020603050405020304" pitchFamily="18" charset="0"/>
                <a:cs typeface="Times New Roman" panose="02020603050405020304" pitchFamily="18" charset="0"/>
              </a:rPr>
              <a:t>Dative covalent bonds (Co-ordinate bonds) are formed when both of the electrons are donated by a single</a:t>
            </a:r>
            <a:br>
              <a:rPr lang="en-US" sz="3200" dirty="0">
                <a:solidFill>
                  <a:srgbClr val="555555"/>
                </a:solidFill>
                <a:latin typeface="Times New Roman" panose="02020603050405020304" pitchFamily="18" charset="0"/>
                <a:ea typeface="Times New Roman" panose="02020603050405020304" pitchFamily="18" charset="0"/>
                <a:cs typeface="Times New Roman" panose="02020603050405020304" pitchFamily="18" charset="0"/>
              </a:rPr>
            </a:br>
            <a:r>
              <a:rPr lang="en-US" sz="3200" dirty="0">
                <a:solidFill>
                  <a:srgbClr val="555555"/>
                </a:solidFill>
                <a:latin typeface="Times New Roman" panose="02020603050405020304" pitchFamily="18" charset="0"/>
                <a:ea typeface="Times New Roman" panose="02020603050405020304" pitchFamily="18" charset="0"/>
                <a:cs typeface="Times New Roman" panose="02020603050405020304" pitchFamily="18" charset="0"/>
              </a:rPr>
              <a:t>species which is </a:t>
            </a:r>
            <a:r>
              <a:rPr lang="en-US" sz="3200" dirty="0" err="1">
                <a:solidFill>
                  <a:srgbClr val="555555"/>
                </a:solidFill>
                <a:latin typeface="Times New Roman" panose="02020603050405020304" pitchFamily="18" charset="0"/>
                <a:ea typeface="Times New Roman" panose="02020603050405020304" pitchFamily="18" charset="0"/>
                <a:cs typeface="Times New Roman" panose="02020603050405020304" pitchFamily="18" charset="0"/>
              </a:rPr>
              <a:t>elehctron</a:t>
            </a:r>
            <a:r>
              <a:rPr lang="en-US" sz="3200" dirty="0">
                <a:solidFill>
                  <a:srgbClr val="555555"/>
                </a:solidFill>
                <a:latin typeface="Times New Roman" panose="02020603050405020304" pitchFamily="18" charset="0"/>
                <a:ea typeface="Times New Roman" panose="02020603050405020304" pitchFamily="18" charset="0"/>
                <a:cs typeface="Times New Roman" panose="02020603050405020304" pitchFamily="18" charset="0"/>
              </a:rPr>
              <a:t> rich (a nucleophile) to a single electron deficient species (electrophile</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79102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4275" y="750626"/>
            <a:ext cx="10768083" cy="3970318"/>
          </a:xfrm>
          <a:prstGeom prst="rect">
            <a:avLst/>
          </a:prstGeom>
        </p:spPr>
        <p:txBody>
          <a:bodyPr wrap="square">
            <a:spAutoFit/>
          </a:bodyPr>
          <a:lstStyle/>
          <a:p>
            <a:r>
              <a:rPr lang="en-US" sz="2800" dirty="0">
                <a:solidFill>
                  <a:srgbClr val="555555"/>
                </a:solidFill>
                <a:latin typeface="Helvetica" panose="020B0604020202020204" pitchFamily="34" charset="0"/>
                <a:ea typeface="Times New Roman" panose="02020603050405020304" pitchFamily="18" charset="0"/>
                <a:cs typeface="Times New Roman" panose="02020603050405020304" pitchFamily="18" charset="0"/>
              </a:rPr>
              <a:t>Metallic Bonding:</a:t>
            </a:r>
            <a:br>
              <a:rPr lang="en-US" sz="2800" dirty="0">
                <a:solidFill>
                  <a:srgbClr val="555555"/>
                </a:solidFill>
                <a:latin typeface="Helvetica" panose="020B0604020202020204" pitchFamily="34" charset="0"/>
                <a:ea typeface="Times New Roman" panose="02020603050405020304" pitchFamily="18" charset="0"/>
                <a:cs typeface="Times New Roman" panose="02020603050405020304" pitchFamily="18" charset="0"/>
              </a:rPr>
            </a:br>
            <a:r>
              <a:rPr lang="en-US" sz="2800" dirty="0">
                <a:solidFill>
                  <a:srgbClr val="555555"/>
                </a:solidFill>
                <a:latin typeface="Helvetica" panose="020B0604020202020204" pitchFamily="34" charset="0"/>
                <a:ea typeface="Times New Roman" panose="02020603050405020304" pitchFamily="18" charset="0"/>
                <a:cs typeface="Times New Roman" panose="02020603050405020304" pitchFamily="18" charset="0"/>
              </a:rPr>
              <a:t>This type of bonding exists in all metals. Metal atoms achieve stability by offloading their outer electrons to</a:t>
            </a:r>
            <a:br>
              <a:rPr lang="en-US" sz="2800" dirty="0">
                <a:solidFill>
                  <a:srgbClr val="555555"/>
                </a:solidFill>
                <a:latin typeface="Helvetica" panose="020B0604020202020204" pitchFamily="34" charset="0"/>
                <a:ea typeface="Times New Roman" panose="02020603050405020304" pitchFamily="18" charset="0"/>
                <a:cs typeface="Times New Roman" panose="02020603050405020304" pitchFamily="18" charset="0"/>
              </a:rPr>
            </a:br>
            <a:r>
              <a:rPr lang="en-US" sz="2800" dirty="0">
                <a:solidFill>
                  <a:srgbClr val="555555"/>
                </a:solidFill>
                <a:latin typeface="Helvetica" panose="020B0604020202020204" pitchFamily="34" charset="0"/>
                <a:ea typeface="Times New Roman" panose="02020603050405020304" pitchFamily="18" charset="0"/>
                <a:cs typeface="Times New Roman" panose="02020603050405020304" pitchFamily="18" charset="0"/>
              </a:rPr>
              <a:t>a </a:t>
            </a:r>
            <a:r>
              <a:rPr lang="en-US" sz="2800" dirty="0" err="1">
                <a:solidFill>
                  <a:srgbClr val="555555"/>
                </a:solidFill>
                <a:latin typeface="Helvetica" panose="020B0604020202020204" pitchFamily="34" charset="0"/>
                <a:ea typeface="Times New Roman" panose="02020603050405020304" pitchFamily="18" charset="0"/>
                <a:cs typeface="Times New Roman" panose="02020603050405020304" pitchFamily="18" charset="0"/>
              </a:rPr>
              <a:t>delocalised</a:t>
            </a:r>
            <a:r>
              <a:rPr lang="en-US" sz="2800" dirty="0">
                <a:solidFill>
                  <a:srgbClr val="555555"/>
                </a:solidFill>
                <a:latin typeface="Helvetica" panose="020B0604020202020204" pitchFamily="34" charset="0"/>
                <a:ea typeface="Times New Roman" panose="02020603050405020304" pitchFamily="18" charset="0"/>
                <a:cs typeface="Times New Roman" panose="02020603050405020304" pitchFamily="18" charset="0"/>
              </a:rPr>
              <a:t> electron cloud, forming positive metal ions in the process. </a:t>
            </a:r>
          </a:p>
          <a:p>
            <a:endParaRPr lang="en-US" sz="2800" dirty="0">
              <a:solidFill>
                <a:srgbClr val="555555"/>
              </a:solidFill>
              <a:latin typeface="Helvetica" panose="020B0604020202020204" pitchFamily="34" charset="0"/>
              <a:ea typeface="Times New Roman" panose="02020603050405020304" pitchFamily="18" charset="0"/>
              <a:cs typeface="Times New Roman" panose="02020603050405020304" pitchFamily="18" charset="0"/>
            </a:endParaRPr>
          </a:p>
          <a:p>
            <a:r>
              <a:rPr lang="en-US" sz="2800" dirty="0">
                <a:solidFill>
                  <a:srgbClr val="555555"/>
                </a:solidFill>
                <a:latin typeface="Helvetica" panose="020B0604020202020204" pitchFamily="34" charset="0"/>
                <a:ea typeface="Times New Roman" panose="02020603050405020304" pitchFamily="18" charset="0"/>
                <a:cs typeface="Times New Roman" panose="02020603050405020304" pitchFamily="18" charset="0"/>
              </a:rPr>
              <a:t>The cloud of </a:t>
            </a:r>
            <a:r>
              <a:rPr lang="en-US" sz="2800" dirty="0" err="1">
                <a:solidFill>
                  <a:srgbClr val="555555"/>
                </a:solidFill>
                <a:latin typeface="Helvetica" panose="020B0604020202020204" pitchFamily="34" charset="0"/>
                <a:ea typeface="Times New Roman" panose="02020603050405020304" pitchFamily="18" charset="0"/>
                <a:cs typeface="Times New Roman" panose="02020603050405020304" pitchFamily="18" charset="0"/>
              </a:rPr>
              <a:t>delocalised</a:t>
            </a:r>
            <a:r>
              <a:rPr lang="en-US" sz="2800" dirty="0">
                <a:solidFill>
                  <a:srgbClr val="555555"/>
                </a:solidFill>
                <a:latin typeface="Helvetica" panose="020B0604020202020204" pitchFamily="34" charset="0"/>
                <a:ea typeface="Times New Roman" panose="02020603050405020304" pitchFamily="18" charset="0"/>
                <a:cs typeface="Times New Roman" panose="02020603050405020304" pitchFamily="18" charset="0"/>
              </a:rPr>
              <a:t> negative</a:t>
            </a:r>
            <a:br>
              <a:rPr lang="en-US" sz="2800" dirty="0">
                <a:solidFill>
                  <a:srgbClr val="555555"/>
                </a:solidFill>
                <a:latin typeface="Helvetica" panose="020B0604020202020204" pitchFamily="34" charset="0"/>
                <a:ea typeface="Times New Roman" panose="02020603050405020304" pitchFamily="18" charset="0"/>
                <a:cs typeface="Times New Roman" panose="02020603050405020304" pitchFamily="18" charset="0"/>
              </a:rPr>
            </a:br>
            <a:r>
              <a:rPr lang="en-US" sz="2800" dirty="0">
                <a:solidFill>
                  <a:srgbClr val="555555"/>
                </a:solidFill>
                <a:latin typeface="Helvetica" panose="020B0604020202020204" pitchFamily="34" charset="0"/>
                <a:ea typeface="Times New Roman" panose="02020603050405020304" pitchFamily="18" charset="0"/>
                <a:cs typeface="Times New Roman" panose="02020603050405020304" pitchFamily="18" charset="0"/>
              </a:rPr>
              <a:t>electrons surrounds the positive metal ions holding them in place via electrostatic attraction. </a:t>
            </a:r>
            <a:endParaRPr lang="en-US" sz="2800" dirty="0"/>
          </a:p>
        </p:txBody>
      </p:sp>
    </p:spTree>
    <p:extLst>
      <p:ext uri="{BB962C8B-B14F-4D97-AF65-F5344CB8AC3E}">
        <p14:creationId xmlns:p14="http://schemas.microsoft.com/office/powerpoint/2010/main" val="35562941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5750" y="0"/>
            <a:ext cx="11630025" cy="6309420"/>
          </a:xfrm>
          <a:prstGeom prst="rect">
            <a:avLst/>
          </a:prstGeom>
        </p:spPr>
        <p:txBody>
          <a:bodyPr wrap="square">
            <a:spAutoFit/>
          </a:bodyPr>
          <a:lstStyle/>
          <a:p>
            <a:r>
              <a:rPr lang="en-US" sz="4000" b="1" dirty="0"/>
              <a:t>Covalent Bond </a:t>
            </a:r>
            <a:endParaRPr lang="en-US" sz="4000" b="1" dirty="0" smtClean="0"/>
          </a:p>
          <a:p>
            <a:endParaRPr lang="en-US" sz="4000" dirty="0"/>
          </a:p>
          <a:p>
            <a:pPr algn="just"/>
            <a:r>
              <a:rPr lang="en-US" sz="3600" dirty="0"/>
              <a:t>Covalent chemical bonds involve the sharing of a pair of valence electrons by two atoms, in contrast to the transfer of electrons in ionic bonds. Such bonds lead to stable molecules if they share electrons in such a way as to create a noble gas configuration for each atom . -predominant bond in polymers -can be single, double or triple depending on the number of electron pairs -atoms are free to rotate about single bonds (flexible), they remain spatially fixed (rigid) for double and triple bonds.</a:t>
            </a:r>
          </a:p>
        </p:txBody>
      </p:sp>
    </p:spTree>
    <p:extLst>
      <p:ext uri="{BB962C8B-B14F-4D97-AF65-F5344CB8AC3E}">
        <p14:creationId xmlns:p14="http://schemas.microsoft.com/office/powerpoint/2010/main" val="19907754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955</TotalTime>
  <Words>1567</Words>
  <Application>Microsoft Office PowerPoint</Application>
  <PresentationFormat>Custom</PresentationFormat>
  <Paragraphs>249</Paragraphs>
  <Slides>53</Slides>
  <Notes>0</Notes>
  <HiddenSlides>0</HiddenSlides>
  <MMClips>0</MMClips>
  <ScaleCrop>false</ScaleCrop>
  <HeadingPairs>
    <vt:vector size="4" baseType="variant">
      <vt:variant>
        <vt:lpstr>Theme</vt:lpstr>
      </vt:variant>
      <vt:variant>
        <vt:i4>1</vt:i4>
      </vt:variant>
      <vt:variant>
        <vt:lpstr>Slide Titles</vt:lpstr>
      </vt:variant>
      <vt:variant>
        <vt:i4>53</vt:i4>
      </vt:variant>
    </vt:vector>
  </HeadingPairs>
  <TitlesOfParts>
    <vt:vector size="54" baseType="lpstr">
      <vt:lpstr>Office Theme</vt:lpstr>
      <vt:lpstr>Polymer Chemistry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Sudipta</dc:creator>
  <cp:lastModifiedBy>user</cp:lastModifiedBy>
  <cp:revision>87</cp:revision>
  <dcterms:created xsi:type="dcterms:W3CDTF">2021-03-05T02:51:57Z</dcterms:created>
  <dcterms:modified xsi:type="dcterms:W3CDTF">2025-04-17T13:50:40Z</dcterms:modified>
</cp:coreProperties>
</file>