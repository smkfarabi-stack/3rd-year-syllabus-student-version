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335" r:id="rId2"/>
    <p:sldId id="476" r:id="rId3"/>
    <p:sldId id="477" r:id="rId4"/>
    <p:sldId id="478" r:id="rId5"/>
    <p:sldId id="479" r:id="rId6"/>
    <p:sldId id="480" r:id="rId7"/>
    <p:sldId id="481" r:id="rId8"/>
    <p:sldId id="482" r:id="rId9"/>
    <p:sldId id="483" r:id="rId10"/>
    <p:sldId id="484" r:id="rId11"/>
    <p:sldId id="485" r:id="rId12"/>
    <p:sldId id="336" r:id="rId13"/>
    <p:sldId id="486" r:id="rId14"/>
    <p:sldId id="487" r:id="rId15"/>
    <p:sldId id="430" r:id="rId16"/>
    <p:sldId id="488" r:id="rId17"/>
    <p:sldId id="489" r:id="rId18"/>
    <p:sldId id="490" r:id="rId19"/>
    <p:sldId id="491" r:id="rId20"/>
    <p:sldId id="492" r:id="rId21"/>
    <p:sldId id="493" r:id="rId22"/>
    <p:sldId id="494" r:id="rId23"/>
    <p:sldId id="500" r:id="rId24"/>
    <p:sldId id="495" r:id="rId25"/>
    <p:sldId id="496" r:id="rId26"/>
    <p:sldId id="497" r:id="rId27"/>
    <p:sldId id="498" r:id="rId28"/>
    <p:sldId id="499" r:id="rId29"/>
    <p:sldId id="501" r:id="rId30"/>
    <p:sldId id="502" r:id="rId31"/>
    <p:sldId id="503" r:id="rId32"/>
    <p:sldId id="504" r:id="rId33"/>
    <p:sldId id="505" r:id="rId34"/>
    <p:sldId id="506" r:id="rId35"/>
    <p:sldId id="507" r:id="rId36"/>
    <p:sldId id="508" r:id="rId37"/>
    <p:sldId id="509" r:id="rId38"/>
    <p:sldId id="510" r:id="rId39"/>
    <p:sldId id="511" r:id="rId40"/>
    <p:sldId id="512" r:id="rId41"/>
    <p:sldId id="513" r:id="rId42"/>
    <p:sldId id="514" r:id="rId43"/>
    <p:sldId id="515" r:id="rId44"/>
    <p:sldId id="516" r:id="rId45"/>
    <p:sldId id="517" r:id="rId46"/>
    <p:sldId id="518" r:id="rId47"/>
    <p:sldId id="519" r:id="rId48"/>
    <p:sldId id="520" r:id="rId49"/>
    <p:sldId id="521" r:id="rId50"/>
    <p:sldId id="522" r:id="rId51"/>
  </p:sldIdLst>
  <p:sldSz cx="9144000" cy="6858000" type="screen4x3"/>
  <p:notesSz cx="6735763" cy="9866313"/>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15"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5BFF"/>
    <a:srgbClr val="FF0066"/>
    <a:srgbClr val="FF0000"/>
    <a:srgbClr val="009900"/>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4162" autoAdjust="0"/>
  </p:normalViewPr>
  <p:slideViewPr>
    <p:cSldViewPr snapToGrid="0">
      <p:cViewPr varScale="1">
        <p:scale>
          <a:sx n="64" d="100"/>
          <a:sy n="64" d="100"/>
        </p:scale>
        <p:origin x="672" y="66"/>
      </p:cViewPr>
      <p:guideLst>
        <p:guide orient="horz" pos="2115"/>
        <p:guide pos="2880"/>
      </p:guideLst>
    </p:cSldViewPr>
  </p:slideViewPr>
  <p:notesTextViewPr>
    <p:cViewPr>
      <p:scale>
        <a:sx n="1" d="1"/>
        <a:sy n="1" d="1"/>
      </p:scale>
      <p:origin x="0" y="0"/>
    </p:cViewPr>
  </p:notesTextViewPr>
  <p:sorterViewPr>
    <p:cViewPr>
      <p:scale>
        <a:sx n="100" d="100"/>
        <a:sy n="100" d="100"/>
      </p:scale>
      <p:origin x="0" y="-113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9413" cy="4953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14763" y="0"/>
            <a:ext cx="2919412" cy="495300"/>
          </a:xfrm>
          <a:prstGeom prst="rect">
            <a:avLst/>
          </a:prstGeom>
        </p:spPr>
        <p:txBody>
          <a:bodyPr vert="horz" lIns="91440" tIns="45720" rIns="91440" bIns="45720" rtlCol="0"/>
          <a:lstStyle>
            <a:lvl1pPr algn="r">
              <a:defRPr sz="1200"/>
            </a:lvl1pPr>
          </a:lstStyle>
          <a:p>
            <a:fld id="{93197EF1-2A45-4AAC-AD74-DB0ED6CE3701}" type="datetimeFigureOut">
              <a:rPr lang="en-IN" smtClean="0"/>
              <a:t>14-07-2025</a:t>
            </a:fld>
            <a:endParaRPr lang="en-IN" dirty="0"/>
          </a:p>
        </p:txBody>
      </p:sp>
      <p:sp>
        <p:nvSpPr>
          <p:cNvPr id="4" name="Slide Image Placeholder 3"/>
          <p:cNvSpPr>
            <a:spLocks noGrp="1" noRot="1" noChangeAspect="1"/>
          </p:cNvSpPr>
          <p:nvPr>
            <p:ph type="sldImg" idx="2"/>
          </p:nvPr>
        </p:nvSpPr>
        <p:spPr>
          <a:xfrm>
            <a:off x="1147763" y="1233488"/>
            <a:ext cx="4440237" cy="3328987"/>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73100" y="4748213"/>
            <a:ext cx="5389563" cy="38846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371013"/>
            <a:ext cx="2919413" cy="4953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14763" y="9371013"/>
            <a:ext cx="2919412" cy="495300"/>
          </a:xfrm>
          <a:prstGeom prst="rect">
            <a:avLst/>
          </a:prstGeom>
        </p:spPr>
        <p:txBody>
          <a:bodyPr vert="horz" lIns="91440" tIns="45720" rIns="91440" bIns="45720" rtlCol="0" anchor="b"/>
          <a:lstStyle>
            <a:lvl1pPr algn="r">
              <a:defRPr sz="1200"/>
            </a:lvl1pPr>
          </a:lstStyle>
          <a:p>
            <a:fld id="{EFDA2DBE-A6B8-471F-B9EC-2850793E91A2}" type="slidenum">
              <a:rPr lang="en-IN" smtClean="0"/>
              <a:t>‹#›</a:t>
            </a:fld>
            <a:endParaRPr lang="en-IN" dirty="0"/>
          </a:p>
        </p:txBody>
      </p:sp>
    </p:spTree>
    <p:extLst>
      <p:ext uri="{BB962C8B-B14F-4D97-AF65-F5344CB8AC3E}">
        <p14:creationId xmlns:p14="http://schemas.microsoft.com/office/powerpoint/2010/main" val="18832821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lvl1pPr>
              <a:defRPr/>
            </a:lvl1pPr>
          </a:lstStyle>
          <a:p>
            <a:pPr>
              <a:defRPr/>
            </a:pPr>
            <a:fld id="{F7E1AA3C-2168-4568-9C43-F4A5E5C3C4A8}" type="datetimeFigureOut">
              <a:rPr lang="ja-JP" altLang="en-US"/>
              <a:pPr>
                <a:defRPr/>
              </a:pPr>
              <a:t>2025/7/14</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1974E3E5-7E6F-4DF7-9B19-1EE77C0FE3E1}" type="slidenum">
              <a:rPr lang="ja-JP" altLang="en-US"/>
              <a:pPr>
                <a:defRPr/>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vl1pPr>
          </a:lstStyle>
          <a:p>
            <a:pPr>
              <a:defRPr/>
            </a:pPr>
            <a:fld id="{B536479C-ED03-4EF5-BDEE-EAC41DA922F7}" type="datetimeFigureOut">
              <a:rPr lang="ja-JP" altLang="en-US"/>
              <a:pPr>
                <a:defRPr/>
              </a:pPr>
              <a:t>2025/7/14</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155D871C-9074-4659-B0AA-FEC1F7788B2B}" type="slidenum">
              <a:rPr lang="ja-JP" altLang="en-US"/>
              <a:pPr>
                <a:defRPr/>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lvl1pPr>
              <a:defRPr/>
            </a:lvl1pPr>
          </a:lstStyle>
          <a:p>
            <a:pPr>
              <a:defRPr/>
            </a:pPr>
            <a:fld id="{EBD377A3-0141-47E9-98DB-7276B85BF7EE}" type="datetimeFigureOut">
              <a:rPr lang="ja-JP" altLang="en-US"/>
              <a:pPr>
                <a:defRPr/>
              </a:pPr>
              <a:t>2025/7/14</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036CECF7-76B3-4ECE-B25F-9C4325BEB67F}" type="slidenum">
              <a:rPr lang="ja-JP" altLang="en-US"/>
              <a:pPr>
                <a:defRPr/>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3"/>
          <p:cNvSpPr>
            <a:spLocks noGrp="1"/>
          </p:cNvSpPr>
          <p:nvPr>
            <p:ph type="dt" sz="half" idx="10"/>
          </p:nvPr>
        </p:nvSpPr>
        <p:spPr/>
        <p:txBody>
          <a:bodyPr/>
          <a:lstStyle>
            <a:lvl1pPr>
              <a:defRPr/>
            </a:lvl1pPr>
          </a:lstStyle>
          <a:p>
            <a:pPr>
              <a:defRPr/>
            </a:pPr>
            <a:fld id="{0FA77B22-2B6C-420F-A5FE-0108D5AA7C04}" type="datetimeFigureOut">
              <a:rPr lang="ja-JP" altLang="en-US"/>
              <a:pPr>
                <a:defRPr/>
              </a:pPr>
              <a:t>2025/7/14</a:t>
            </a:fld>
            <a:endParaRPr lang="ja-JP" altLang="en-US"/>
          </a:p>
        </p:txBody>
      </p:sp>
      <p:sp>
        <p:nvSpPr>
          <p:cNvPr id="6" name="Footer Placeholder 4"/>
          <p:cNvSpPr>
            <a:spLocks noGrp="1"/>
          </p:cNvSpPr>
          <p:nvPr>
            <p:ph type="ftr" sz="quarter" idx="11"/>
          </p:nvPr>
        </p:nvSpPr>
        <p:spPr/>
        <p:txBody>
          <a:bodyPr/>
          <a:lstStyle>
            <a:lvl1pPr>
              <a:defRPr/>
            </a:lvl1pPr>
          </a:lstStyle>
          <a:p>
            <a:pPr>
              <a:defRPr/>
            </a:pPr>
            <a:endParaRPr lang="ja-JP" altLang="en-US"/>
          </a:p>
        </p:txBody>
      </p:sp>
      <p:sp>
        <p:nvSpPr>
          <p:cNvPr id="7" name="Slide Number Placeholder 5"/>
          <p:cNvSpPr>
            <a:spLocks noGrp="1"/>
          </p:cNvSpPr>
          <p:nvPr>
            <p:ph type="sldNum" sz="quarter" idx="12"/>
          </p:nvPr>
        </p:nvSpPr>
        <p:spPr/>
        <p:txBody>
          <a:bodyPr/>
          <a:lstStyle>
            <a:lvl1pPr>
              <a:defRPr/>
            </a:lvl1pPr>
          </a:lstStyle>
          <a:p>
            <a:pPr>
              <a:defRPr/>
            </a:pPr>
            <a:fld id="{C631AB4E-B25E-4D86-8CE8-2040B664B7D5}" type="slidenum">
              <a:rPr lang="ja-JP" altLang="en-US"/>
              <a:pPr>
                <a:defRPr/>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3"/>
          <p:cNvSpPr>
            <a:spLocks noGrp="1"/>
          </p:cNvSpPr>
          <p:nvPr>
            <p:ph type="dt" sz="half" idx="10"/>
          </p:nvPr>
        </p:nvSpPr>
        <p:spPr/>
        <p:txBody>
          <a:bodyPr/>
          <a:lstStyle>
            <a:lvl1pPr>
              <a:defRPr/>
            </a:lvl1pPr>
          </a:lstStyle>
          <a:p>
            <a:pPr>
              <a:defRPr/>
            </a:pPr>
            <a:fld id="{BB0016B1-AF1E-4887-8326-5B404B6EEDFA}" type="datetimeFigureOut">
              <a:rPr lang="ja-JP" altLang="en-US"/>
              <a:pPr>
                <a:defRPr/>
              </a:pPr>
              <a:t>2025/7/14</a:t>
            </a:fld>
            <a:endParaRPr lang="ja-JP" altLang="en-US"/>
          </a:p>
        </p:txBody>
      </p:sp>
      <p:sp>
        <p:nvSpPr>
          <p:cNvPr id="8" name="Footer Placeholder 4"/>
          <p:cNvSpPr>
            <a:spLocks noGrp="1"/>
          </p:cNvSpPr>
          <p:nvPr>
            <p:ph type="ftr" sz="quarter" idx="11"/>
          </p:nvPr>
        </p:nvSpPr>
        <p:spPr/>
        <p:txBody>
          <a:bodyPr/>
          <a:lstStyle>
            <a:lvl1pPr>
              <a:defRPr/>
            </a:lvl1pPr>
          </a:lstStyle>
          <a:p>
            <a:pPr>
              <a:defRPr/>
            </a:pPr>
            <a:endParaRPr lang="ja-JP" altLang="en-US"/>
          </a:p>
        </p:txBody>
      </p:sp>
      <p:sp>
        <p:nvSpPr>
          <p:cNvPr id="9" name="Slide Number Placeholder 5"/>
          <p:cNvSpPr>
            <a:spLocks noGrp="1"/>
          </p:cNvSpPr>
          <p:nvPr>
            <p:ph type="sldNum" sz="quarter" idx="12"/>
          </p:nvPr>
        </p:nvSpPr>
        <p:spPr/>
        <p:txBody>
          <a:bodyPr/>
          <a:lstStyle>
            <a:lvl1pPr>
              <a:defRPr/>
            </a:lvl1pPr>
          </a:lstStyle>
          <a:p>
            <a:pPr>
              <a:defRPr/>
            </a:pPr>
            <a:fld id="{EF595BED-B940-455D-AB94-20B82F3E66AD}" type="slidenum">
              <a:rPr lang="ja-JP" altLang="en-US"/>
              <a:pPr>
                <a:defRPr/>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3"/>
          <p:cNvSpPr>
            <a:spLocks noGrp="1"/>
          </p:cNvSpPr>
          <p:nvPr>
            <p:ph type="dt" sz="half" idx="10"/>
          </p:nvPr>
        </p:nvSpPr>
        <p:spPr/>
        <p:txBody>
          <a:bodyPr/>
          <a:lstStyle>
            <a:lvl1pPr>
              <a:defRPr/>
            </a:lvl1pPr>
          </a:lstStyle>
          <a:p>
            <a:pPr>
              <a:defRPr/>
            </a:pPr>
            <a:fld id="{0AA7FB61-7843-4C15-AF63-6F701DCA245D}" type="datetimeFigureOut">
              <a:rPr lang="ja-JP" altLang="en-US"/>
              <a:pPr>
                <a:defRPr/>
              </a:pPr>
              <a:t>2025/7/14</a:t>
            </a:fld>
            <a:endParaRPr lang="ja-JP" altLang="en-US"/>
          </a:p>
        </p:txBody>
      </p:sp>
      <p:sp>
        <p:nvSpPr>
          <p:cNvPr id="4" name="Footer Placeholder 4"/>
          <p:cNvSpPr>
            <a:spLocks noGrp="1"/>
          </p:cNvSpPr>
          <p:nvPr>
            <p:ph type="ftr" sz="quarter" idx="11"/>
          </p:nvPr>
        </p:nvSpPr>
        <p:spPr/>
        <p:txBody>
          <a:bodyPr/>
          <a:lstStyle>
            <a:lvl1pPr>
              <a:defRPr/>
            </a:lvl1pPr>
          </a:lstStyle>
          <a:p>
            <a:pPr>
              <a:defRPr/>
            </a:pPr>
            <a:endParaRPr lang="ja-JP" altLang="en-US"/>
          </a:p>
        </p:txBody>
      </p:sp>
      <p:sp>
        <p:nvSpPr>
          <p:cNvPr id="5" name="Slide Number Placeholder 5"/>
          <p:cNvSpPr>
            <a:spLocks noGrp="1"/>
          </p:cNvSpPr>
          <p:nvPr>
            <p:ph type="sldNum" sz="quarter" idx="12"/>
          </p:nvPr>
        </p:nvSpPr>
        <p:spPr/>
        <p:txBody>
          <a:bodyPr/>
          <a:lstStyle>
            <a:lvl1pPr>
              <a:defRPr/>
            </a:lvl1pPr>
          </a:lstStyle>
          <a:p>
            <a:pPr>
              <a:defRPr/>
            </a:pPr>
            <a:fld id="{163D33F6-272A-4F50-8AF6-D55352A3E811}" type="slidenum">
              <a:rPr lang="ja-JP" altLang="en-US"/>
              <a:pPr>
                <a:defRPr/>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7B74B64-CD9B-4AE7-AF19-6679F54D6CBA}" type="datetimeFigureOut">
              <a:rPr lang="ja-JP" altLang="en-US"/>
              <a:pPr>
                <a:defRPr/>
              </a:pPr>
              <a:t>2025/7/14</a:t>
            </a:fld>
            <a:endParaRPr lang="ja-JP" altLang="en-US"/>
          </a:p>
        </p:txBody>
      </p:sp>
      <p:sp>
        <p:nvSpPr>
          <p:cNvPr id="3" name="Footer Placeholder 4"/>
          <p:cNvSpPr>
            <a:spLocks noGrp="1"/>
          </p:cNvSpPr>
          <p:nvPr>
            <p:ph type="ftr" sz="quarter" idx="11"/>
          </p:nvPr>
        </p:nvSpPr>
        <p:spPr/>
        <p:txBody>
          <a:bodyPr/>
          <a:lstStyle>
            <a:lvl1pPr>
              <a:defRPr/>
            </a:lvl1pPr>
          </a:lstStyle>
          <a:p>
            <a:pPr>
              <a:defRPr/>
            </a:pPr>
            <a:endParaRPr lang="ja-JP" altLang="en-US"/>
          </a:p>
        </p:txBody>
      </p:sp>
      <p:sp>
        <p:nvSpPr>
          <p:cNvPr id="4" name="Slide Number Placeholder 5"/>
          <p:cNvSpPr>
            <a:spLocks noGrp="1"/>
          </p:cNvSpPr>
          <p:nvPr>
            <p:ph type="sldNum" sz="quarter" idx="12"/>
          </p:nvPr>
        </p:nvSpPr>
        <p:spPr/>
        <p:txBody>
          <a:bodyPr/>
          <a:lstStyle>
            <a:lvl1pPr>
              <a:defRPr/>
            </a:lvl1pPr>
          </a:lstStyle>
          <a:p>
            <a:pPr>
              <a:defRPr/>
            </a:pPr>
            <a:fld id="{876DE7AA-71D7-4C95-9E60-CE138D66AE31}" type="slidenum">
              <a:rPr lang="ja-JP" altLang="en-US"/>
              <a:pPr>
                <a:defRPr/>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3"/>
          <p:cNvSpPr>
            <a:spLocks noGrp="1"/>
          </p:cNvSpPr>
          <p:nvPr>
            <p:ph type="dt" sz="half" idx="10"/>
          </p:nvPr>
        </p:nvSpPr>
        <p:spPr/>
        <p:txBody>
          <a:bodyPr/>
          <a:lstStyle>
            <a:lvl1pPr>
              <a:defRPr/>
            </a:lvl1pPr>
          </a:lstStyle>
          <a:p>
            <a:pPr>
              <a:defRPr/>
            </a:pPr>
            <a:fld id="{E8856929-421E-436C-BE2D-8B90F1C90A68}" type="datetimeFigureOut">
              <a:rPr lang="ja-JP" altLang="en-US"/>
              <a:pPr>
                <a:defRPr/>
              </a:pPr>
              <a:t>2025/7/14</a:t>
            </a:fld>
            <a:endParaRPr lang="ja-JP" altLang="en-US"/>
          </a:p>
        </p:txBody>
      </p:sp>
      <p:sp>
        <p:nvSpPr>
          <p:cNvPr id="6" name="Footer Placeholder 4"/>
          <p:cNvSpPr>
            <a:spLocks noGrp="1"/>
          </p:cNvSpPr>
          <p:nvPr>
            <p:ph type="ftr" sz="quarter" idx="11"/>
          </p:nvPr>
        </p:nvSpPr>
        <p:spPr/>
        <p:txBody>
          <a:bodyPr/>
          <a:lstStyle>
            <a:lvl1pPr>
              <a:defRPr/>
            </a:lvl1pPr>
          </a:lstStyle>
          <a:p>
            <a:pPr>
              <a:defRPr/>
            </a:pPr>
            <a:endParaRPr lang="ja-JP" altLang="en-US"/>
          </a:p>
        </p:txBody>
      </p:sp>
      <p:sp>
        <p:nvSpPr>
          <p:cNvPr id="7" name="Slide Number Placeholder 5"/>
          <p:cNvSpPr>
            <a:spLocks noGrp="1"/>
          </p:cNvSpPr>
          <p:nvPr>
            <p:ph type="sldNum" sz="quarter" idx="12"/>
          </p:nvPr>
        </p:nvSpPr>
        <p:spPr/>
        <p:txBody>
          <a:bodyPr/>
          <a:lstStyle>
            <a:lvl1pPr>
              <a:defRPr/>
            </a:lvl1pPr>
          </a:lstStyle>
          <a:p>
            <a:pPr>
              <a:defRPr/>
            </a:pPr>
            <a:fld id="{32521F6A-F312-4078-B706-4D596F34F5CD}" type="slidenum">
              <a:rPr lang="ja-JP" altLang="en-US"/>
              <a:pPr>
                <a:defRPr/>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図を追加</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3"/>
          <p:cNvSpPr>
            <a:spLocks noGrp="1"/>
          </p:cNvSpPr>
          <p:nvPr>
            <p:ph type="dt" sz="half" idx="10"/>
          </p:nvPr>
        </p:nvSpPr>
        <p:spPr/>
        <p:txBody>
          <a:bodyPr/>
          <a:lstStyle>
            <a:lvl1pPr>
              <a:defRPr/>
            </a:lvl1pPr>
          </a:lstStyle>
          <a:p>
            <a:pPr>
              <a:defRPr/>
            </a:pPr>
            <a:fld id="{79FFACE3-68E7-4FAF-B737-AABF8D72AE81}" type="datetimeFigureOut">
              <a:rPr lang="ja-JP" altLang="en-US"/>
              <a:pPr>
                <a:defRPr/>
              </a:pPr>
              <a:t>2025/7/14</a:t>
            </a:fld>
            <a:endParaRPr lang="ja-JP" altLang="en-US"/>
          </a:p>
        </p:txBody>
      </p:sp>
      <p:sp>
        <p:nvSpPr>
          <p:cNvPr id="6" name="Footer Placeholder 4"/>
          <p:cNvSpPr>
            <a:spLocks noGrp="1"/>
          </p:cNvSpPr>
          <p:nvPr>
            <p:ph type="ftr" sz="quarter" idx="11"/>
          </p:nvPr>
        </p:nvSpPr>
        <p:spPr/>
        <p:txBody>
          <a:bodyPr/>
          <a:lstStyle>
            <a:lvl1pPr>
              <a:defRPr/>
            </a:lvl1pPr>
          </a:lstStyle>
          <a:p>
            <a:pPr>
              <a:defRPr/>
            </a:pPr>
            <a:endParaRPr lang="ja-JP" altLang="en-US"/>
          </a:p>
        </p:txBody>
      </p:sp>
      <p:sp>
        <p:nvSpPr>
          <p:cNvPr id="7" name="Slide Number Placeholder 5"/>
          <p:cNvSpPr>
            <a:spLocks noGrp="1"/>
          </p:cNvSpPr>
          <p:nvPr>
            <p:ph type="sldNum" sz="quarter" idx="12"/>
          </p:nvPr>
        </p:nvSpPr>
        <p:spPr/>
        <p:txBody>
          <a:bodyPr/>
          <a:lstStyle>
            <a:lvl1pPr>
              <a:defRPr/>
            </a:lvl1pPr>
          </a:lstStyle>
          <a:p>
            <a:pPr>
              <a:defRPr/>
            </a:pPr>
            <a:fld id="{631B8013-4F9A-460C-9F99-808936274DB5}" type="slidenum">
              <a:rPr lang="ja-JP" altLang="en-US"/>
              <a:pPr>
                <a:defRPr/>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vl1pPr>
          </a:lstStyle>
          <a:p>
            <a:pPr>
              <a:defRPr/>
            </a:pPr>
            <a:fld id="{DD4A4F40-E202-48B1-91CC-6DC20BFCCF50}" type="datetimeFigureOut">
              <a:rPr lang="ja-JP" altLang="en-US"/>
              <a:pPr>
                <a:defRPr/>
              </a:pPr>
              <a:t>2025/7/14</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14976DA8-6D19-4944-AAF4-A977E81E1F34}" type="slidenum">
              <a:rPr lang="ja-JP" altLang="en-US"/>
              <a:pPr>
                <a:defRPr/>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lvl1pPr>
              <a:defRPr/>
            </a:lvl1pPr>
          </a:lstStyle>
          <a:p>
            <a:pPr>
              <a:defRPr/>
            </a:pPr>
            <a:fld id="{B2DD5818-5052-4190-AC9F-F263C9F1485A}" type="datetimeFigureOut">
              <a:rPr lang="ja-JP" altLang="en-US"/>
              <a:pPr>
                <a:defRPr/>
              </a:pPr>
              <a:t>2025/7/14</a:t>
            </a:fld>
            <a:endParaRPr lang="ja-JP" altLang="en-US"/>
          </a:p>
        </p:txBody>
      </p:sp>
      <p:sp>
        <p:nvSpPr>
          <p:cNvPr id="5" name="Footer Placeholder 4"/>
          <p:cNvSpPr>
            <a:spLocks noGrp="1"/>
          </p:cNvSpPr>
          <p:nvPr>
            <p:ph type="ftr" sz="quarter" idx="11"/>
          </p:nvPr>
        </p:nvSpPr>
        <p:spPr/>
        <p:txBody>
          <a:bodyPr/>
          <a:lstStyle>
            <a:lvl1pPr>
              <a:defRPr/>
            </a:lvl1pPr>
          </a:lstStyle>
          <a:p>
            <a:pPr>
              <a:defRPr/>
            </a:pPr>
            <a:endParaRPr lang="ja-JP" altLang="en-US"/>
          </a:p>
        </p:txBody>
      </p:sp>
      <p:sp>
        <p:nvSpPr>
          <p:cNvPr id="6" name="Slide Number Placeholder 5"/>
          <p:cNvSpPr>
            <a:spLocks noGrp="1"/>
          </p:cNvSpPr>
          <p:nvPr>
            <p:ph type="sldNum" sz="quarter" idx="12"/>
          </p:nvPr>
        </p:nvSpPr>
        <p:spPr/>
        <p:txBody>
          <a:bodyPr/>
          <a:lstStyle>
            <a:lvl1pPr>
              <a:defRPr/>
            </a:lvl1pPr>
          </a:lstStyle>
          <a:p>
            <a:pPr>
              <a:defRPr/>
            </a:pPr>
            <a:fld id="{A7D84544-0271-418D-BC59-2CB2EC8E711E}" type="slidenum">
              <a:rPr lang="ja-JP" altLang="en-US"/>
              <a:pPr>
                <a:defRPr/>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マスター タイトルの書式設定</a:t>
            </a:r>
            <a:endParaRPr lang="en-US"/>
          </a:p>
        </p:txBody>
      </p:sp>
      <p:sp>
        <p:nvSpPr>
          <p:cNvPr id="1027" name="Text Placeholder 2"/>
          <p:cNvSpPr>
            <a:spLocks noGrp="1"/>
          </p:cNvSpPr>
          <p:nvPr>
            <p:ph type="body" idx="1"/>
          </p:nvPr>
        </p:nvSpPr>
        <p:spPr bwMode="auto">
          <a:xfrm>
            <a:off x="628650" y="1825625"/>
            <a:ext cx="78867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469BC2C1-6EDA-4955-9E49-7AF1D360E712}" type="datetimeFigureOut">
              <a:rPr lang="ja-JP" altLang="en-US"/>
              <a:pPr>
                <a:defRPr/>
              </a:pPr>
              <a:t>2025/7/14</a:t>
            </a:fld>
            <a:endParaRPr lang="ja-JP" alt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29418F69-7615-414E-8F94-7E1970911310}" type="slidenum">
              <a:rPr lang="ja-JP" altLang="en-US"/>
              <a:pPr>
                <a:defRPr/>
              </a:pPr>
              <a:t>‹#›</a:t>
            </a:fld>
            <a:endParaRPr lang="ja-JP" altLang="en-US"/>
          </a:p>
        </p:txBody>
      </p:sp>
    </p:spTree>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rtl="0" fontAlgn="base">
        <a:lnSpc>
          <a:spcPct val="90000"/>
        </a:lnSpc>
        <a:spcBef>
          <a:spcPct val="0"/>
        </a:spcBef>
        <a:spcAft>
          <a:spcPct val="0"/>
        </a:spcAft>
        <a:defRPr kumimoji="1" sz="4400" kern="1200">
          <a:solidFill>
            <a:schemeClr val="tx1"/>
          </a:solidFill>
          <a:latin typeface="+mj-lt"/>
          <a:ea typeface="+mj-ea"/>
          <a:cs typeface="+mj-cs"/>
        </a:defRPr>
      </a:lvl1pPr>
      <a:lvl2pPr algn="l" rtl="0" fontAlgn="base">
        <a:lnSpc>
          <a:spcPct val="90000"/>
        </a:lnSpc>
        <a:spcBef>
          <a:spcPct val="0"/>
        </a:spcBef>
        <a:spcAft>
          <a:spcPct val="0"/>
        </a:spcAft>
        <a:defRPr kumimoji="1" sz="4400">
          <a:solidFill>
            <a:schemeClr val="tx1"/>
          </a:solidFill>
          <a:latin typeface="Calibri Light"/>
          <a:ea typeface="ＭＳ Ｐゴシック" charset="-128"/>
        </a:defRPr>
      </a:lvl2pPr>
      <a:lvl3pPr algn="l" rtl="0" fontAlgn="base">
        <a:lnSpc>
          <a:spcPct val="90000"/>
        </a:lnSpc>
        <a:spcBef>
          <a:spcPct val="0"/>
        </a:spcBef>
        <a:spcAft>
          <a:spcPct val="0"/>
        </a:spcAft>
        <a:defRPr kumimoji="1" sz="4400">
          <a:solidFill>
            <a:schemeClr val="tx1"/>
          </a:solidFill>
          <a:latin typeface="Calibri Light"/>
          <a:ea typeface="ＭＳ Ｐゴシック" charset="-128"/>
        </a:defRPr>
      </a:lvl3pPr>
      <a:lvl4pPr algn="l" rtl="0" fontAlgn="base">
        <a:lnSpc>
          <a:spcPct val="90000"/>
        </a:lnSpc>
        <a:spcBef>
          <a:spcPct val="0"/>
        </a:spcBef>
        <a:spcAft>
          <a:spcPct val="0"/>
        </a:spcAft>
        <a:defRPr kumimoji="1" sz="4400">
          <a:solidFill>
            <a:schemeClr val="tx1"/>
          </a:solidFill>
          <a:latin typeface="Calibri Light"/>
          <a:ea typeface="ＭＳ Ｐゴシック" charset="-128"/>
        </a:defRPr>
      </a:lvl4pPr>
      <a:lvl5pPr algn="l" rtl="0" fontAlgn="base">
        <a:lnSpc>
          <a:spcPct val="90000"/>
        </a:lnSpc>
        <a:spcBef>
          <a:spcPct val="0"/>
        </a:spcBef>
        <a:spcAft>
          <a:spcPct val="0"/>
        </a:spcAft>
        <a:defRPr kumimoji="1" sz="4400">
          <a:solidFill>
            <a:schemeClr val="tx1"/>
          </a:solidFill>
          <a:latin typeface="Calibri Light"/>
          <a:ea typeface="ＭＳ Ｐゴシック" charset="-128"/>
        </a:defRPr>
      </a:lvl5pPr>
      <a:lvl6pPr marL="457200" algn="l" rtl="0" fontAlgn="base">
        <a:lnSpc>
          <a:spcPct val="90000"/>
        </a:lnSpc>
        <a:spcBef>
          <a:spcPct val="0"/>
        </a:spcBef>
        <a:spcAft>
          <a:spcPct val="0"/>
        </a:spcAft>
        <a:defRPr kumimoji="1" sz="4400">
          <a:solidFill>
            <a:schemeClr val="tx1"/>
          </a:solidFill>
          <a:latin typeface="Calibri Light"/>
          <a:ea typeface="ＭＳ Ｐゴシック" charset="-128"/>
        </a:defRPr>
      </a:lvl6pPr>
      <a:lvl7pPr marL="914400" algn="l" rtl="0" fontAlgn="base">
        <a:lnSpc>
          <a:spcPct val="90000"/>
        </a:lnSpc>
        <a:spcBef>
          <a:spcPct val="0"/>
        </a:spcBef>
        <a:spcAft>
          <a:spcPct val="0"/>
        </a:spcAft>
        <a:defRPr kumimoji="1" sz="4400">
          <a:solidFill>
            <a:schemeClr val="tx1"/>
          </a:solidFill>
          <a:latin typeface="Calibri Light"/>
          <a:ea typeface="ＭＳ Ｐゴシック" charset="-128"/>
        </a:defRPr>
      </a:lvl7pPr>
      <a:lvl8pPr marL="1371600" algn="l" rtl="0" fontAlgn="base">
        <a:lnSpc>
          <a:spcPct val="90000"/>
        </a:lnSpc>
        <a:spcBef>
          <a:spcPct val="0"/>
        </a:spcBef>
        <a:spcAft>
          <a:spcPct val="0"/>
        </a:spcAft>
        <a:defRPr kumimoji="1" sz="4400">
          <a:solidFill>
            <a:schemeClr val="tx1"/>
          </a:solidFill>
          <a:latin typeface="Calibri Light"/>
          <a:ea typeface="ＭＳ Ｐゴシック" charset="-128"/>
        </a:defRPr>
      </a:lvl8pPr>
      <a:lvl9pPr marL="1828800" algn="l" rtl="0" fontAlgn="base">
        <a:lnSpc>
          <a:spcPct val="90000"/>
        </a:lnSpc>
        <a:spcBef>
          <a:spcPct val="0"/>
        </a:spcBef>
        <a:spcAft>
          <a:spcPct val="0"/>
        </a:spcAft>
        <a:defRPr kumimoji="1" sz="4400">
          <a:solidFill>
            <a:schemeClr val="tx1"/>
          </a:solidFill>
          <a:latin typeface="Calibri Light"/>
          <a:ea typeface="ＭＳ Ｐゴシック" charset="-128"/>
        </a:defRPr>
      </a:lvl9pPr>
    </p:titleStyle>
    <p:bodyStyle>
      <a:lvl1pPr marL="228600" indent="-228600" algn="l" rtl="0" fontAlgn="base">
        <a:lnSpc>
          <a:spcPct val="90000"/>
        </a:lnSpc>
        <a:spcBef>
          <a:spcPts val="1000"/>
        </a:spcBef>
        <a:spcAft>
          <a:spcPct val="0"/>
        </a:spcAft>
        <a:buFont typeface="Arial" charset="0"/>
        <a:buChar char="•"/>
        <a:defRPr kumimoji="1"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kumimoji="1"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kumimoji="1"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umimoji="1"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3.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42.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5170646"/>
          </a:xfrm>
          <a:prstGeom prst="rect">
            <a:avLst/>
          </a:prstGeom>
          <a:noFill/>
          <a:ln w="9525">
            <a:noFill/>
            <a:miter lim="800000"/>
            <a:headEnd/>
            <a:tailEnd/>
          </a:ln>
        </p:spPr>
        <p:txBody>
          <a:bodyPr wrap="square">
            <a:spAutoFit/>
          </a:bodyPr>
          <a:lstStyle/>
          <a:p>
            <a:pPr algn="just">
              <a:lnSpc>
                <a:spcPct val="15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Structure of Atoms:</a:t>
            </a:r>
          </a:p>
          <a:p>
            <a:pPr marL="442913" indent="-442913" algn="just">
              <a:lnSpc>
                <a:spcPct val="150000"/>
              </a:lnSpc>
              <a:buFont typeface="Symbol" panose="05050102010706020507" pitchFamily="18" charset="2"/>
              <a:buChar char="®"/>
              <a:tabLst>
                <a:tab pos="1520825" algn="l"/>
              </a:tabLst>
            </a:pPr>
            <a:r>
              <a:rPr lang="en-US" sz="2000" b="1" dirty="0"/>
              <a:t>Electronic Wave Functions:</a:t>
            </a:r>
          </a:p>
          <a:p>
            <a:pPr marL="442913" indent="-442913" algn="just">
              <a:lnSpc>
                <a:spcPct val="150000"/>
              </a:lnSpc>
              <a:buFont typeface="Symbol" panose="05050102010706020507" pitchFamily="18" charset="2"/>
              <a:buChar char="®"/>
              <a:tabLst>
                <a:tab pos="1520825" algn="l"/>
              </a:tabLst>
            </a:pPr>
            <a:r>
              <a:rPr lang="en-US" sz="2000" dirty="0"/>
              <a:t>It is well known that an atom consists of a central, positively charged nucleus, which contributes nearly all the mass to the system, surrounded by negatively charged electrons in sufficient number to balance the nuclear charge. Hydrogen, the smallest and simplest atom, has a nuclear charge of +1 units (where the unit is the electronic charge, 1.60 x 10</a:t>
            </a:r>
            <a:r>
              <a:rPr lang="en-US" sz="2000" baseline="30000" dirty="0"/>
              <a:t>-19</a:t>
            </a:r>
            <a:r>
              <a:rPr lang="en-US" sz="2000" dirty="0"/>
              <a:t> coulomb) and one electron; each succeeding atom increases the nuclear charge and electron total by unity, up to atoms with 100 or more electrons.</a:t>
            </a:r>
            <a:endParaRPr lang="en-IN" sz="2000" dirty="0">
              <a:latin typeface="Arial" panose="020B0604020202020204" pitchFamily="34" charset="0"/>
              <a:cs typeface="Arial" panose="020B0604020202020204" pitchFamily="34" charset="0"/>
            </a:endParaRPr>
          </a:p>
          <a:p>
            <a:pPr marL="442913" indent="-442913" algn="just">
              <a:lnSpc>
                <a:spcPct val="150000"/>
              </a:lnSpc>
              <a:buFont typeface="Symbol" panose="05050102010706020507" pitchFamily="18" charset="2"/>
              <a:buChar char="®"/>
              <a:tabLst>
                <a:tab pos="1520825" algn="l"/>
              </a:tabLst>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44057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5632311"/>
          </a:xfrm>
          <a:prstGeom prst="rect">
            <a:avLst/>
          </a:prstGeom>
          <a:noFill/>
          <a:ln w="9525">
            <a:noFill/>
            <a:miter lim="800000"/>
            <a:headEnd/>
            <a:tailEnd/>
          </a:ln>
        </p:spPr>
        <p:txBody>
          <a:bodyPr wrap="square">
            <a:spAutoFit/>
          </a:bodyPr>
          <a:lstStyle/>
          <a:p>
            <a:pPr algn="just">
              <a:lnSpc>
                <a:spcPct val="15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Structure of Atoms:</a:t>
            </a:r>
          </a:p>
          <a:p>
            <a:pPr marL="442913" indent="-442913" algn="just">
              <a:lnSpc>
                <a:spcPct val="150000"/>
              </a:lnSpc>
              <a:buFont typeface="Symbol" panose="05050102010706020507" pitchFamily="18" charset="2"/>
              <a:buChar char="®"/>
              <a:tabLst>
                <a:tab pos="1520825" algn="l"/>
              </a:tabLst>
            </a:pPr>
            <a:r>
              <a:rPr lang="en-US" sz="2000" b="1" dirty="0"/>
              <a:t>Electronic Wave Functions:</a:t>
            </a:r>
          </a:p>
          <a:p>
            <a:pPr marL="442913" indent="-442913" algn="just">
              <a:lnSpc>
                <a:spcPct val="150000"/>
              </a:lnSpc>
              <a:buFont typeface="Symbol" panose="05050102010706020507" pitchFamily="18" charset="2"/>
              <a:buChar char="®"/>
              <a:tabLst>
                <a:tab pos="1520825" algn="l"/>
              </a:tabLst>
            </a:pPr>
            <a:r>
              <a:rPr lang="en-IN" sz="2000" dirty="0"/>
              <a:t>Modern theories have long ceased to regard the electron as a particle which obeys the laws of classical mechanics applicable to massive, everyday objects; instead, in common with all entities of subatomic size, we consider that it obeys the laws of quantum mechanics (or wave mechanics) as embodied in the Schrödinger wave equation.</a:t>
            </a:r>
          </a:p>
          <a:p>
            <a:pPr algn="just">
              <a:lnSpc>
                <a:spcPct val="150000"/>
              </a:lnSpc>
              <a:tabLst>
                <a:tab pos="1520825" algn="l"/>
              </a:tabLst>
            </a:pPr>
            <a:endParaRPr lang="en-IN" sz="2000" dirty="0">
              <a:latin typeface="Arial" panose="020B0604020202020204" pitchFamily="34" charset="0"/>
              <a:cs typeface="Arial" panose="020B0604020202020204" pitchFamily="34" charset="0"/>
            </a:endParaRPr>
          </a:p>
          <a:p>
            <a:pPr marL="442913" indent="-442913" algn="just">
              <a:lnSpc>
                <a:spcPct val="150000"/>
              </a:lnSpc>
              <a:buFont typeface="Symbol" panose="05050102010706020507" pitchFamily="18" charset="2"/>
              <a:buChar char="®"/>
              <a:tabLst>
                <a:tab pos="1520825" algn="l"/>
              </a:tabLst>
            </a:pPr>
            <a:r>
              <a:rPr lang="en-IN" sz="2000" dirty="0">
                <a:latin typeface="Arial" panose="020B0604020202020204" pitchFamily="34" charset="0"/>
                <a:cs typeface="Arial" panose="020B0604020202020204" pitchFamily="34" charset="0"/>
              </a:rPr>
              <a:t>In principle, this equation may be used to determine many things: e.g., the way in which electrons group themselves about a nucleus when forming an atom, the energy which each electron may have, the way in which it can undergo transitions between energy states, etc. </a:t>
            </a:r>
          </a:p>
        </p:txBody>
      </p:sp>
    </p:spTree>
    <p:extLst>
      <p:ext uri="{BB962C8B-B14F-4D97-AF65-F5344CB8AC3E}">
        <p14:creationId xmlns:p14="http://schemas.microsoft.com/office/powerpoint/2010/main" val="3003245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5170646"/>
          </a:xfrm>
          <a:prstGeom prst="rect">
            <a:avLst/>
          </a:prstGeom>
          <a:noFill/>
          <a:ln w="9525">
            <a:noFill/>
            <a:miter lim="800000"/>
            <a:headEnd/>
            <a:tailEnd/>
          </a:ln>
        </p:spPr>
        <p:txBody>
          <a:bodyPr wrap="square">
            <a:spAutoFit/>
          </a:bodyPr>
          <a:lstStyle/>
          <a:p>
            <a:pPr algn="just">
              <a:lnSpc>
                <a:spcPct val="15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Structure of Atoms:</a:t>
            </a:r>
          </a:p>
          <a:p>
            <a:pPr marL="442913" indent="-442913" algn="just">
              <a:lnSpc>
                <a:spcPct val="150000"/>
              </a:lnSpc>
              <a:buFont typeface="Symbol" panose="05050102010706020507" pitchFamily="18" charset="2"/>
              <a:buChar char="®"/>
              <a:tabLst>
                <a:tab pos="1520825" algn="l"/>
              </a:tabLst>
            </a:pPr>
            <a:r>
              <a:rPr lang="en-US" sz="2000" b="1" dirty="0"/>
              <a:t>Electronic Wave Functions:</a:t>
            </a:r>
          </a:p>
          <a:p>
            <a:pPr marL="442913" indent="-442913" algn="just">
              <a:lnSpc>
                <a:spcPct val="150000"/>
              </a:lnSpc>
              <a:buFont typeface="Symbol" panose="05050102010706020507" pitchFamily="18" charset="2"/>
              <a:buChar char="®"/>
              <a:tabLst>
                <a:tab pos="1520825" algn="l"/>
              </a:tabLst>
            </a:pPr>
            <a:r>
              <a:rPr lang="en-IN" sz="2000" dirty="0"/>
              <a:t>The Schrödinger theory can be used to predict the probability of an electron with a particular energy being at a particular point in space, and it expresses this probability in terms of a very important algebraic expression called the wave function of the electron.</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US" sz="2000" dirty="0"/>
              <a:t>The wave function is given the Greek symbol </a:t>
            </a:r>
            <a:r>
              <a:rPr lang="el-GR" sz="2000" dirty="0"/>
              <a:t>Ψ</a:t>
            </a:r>
            <a:r>
              <a:rPr lang="en-US" sz="2000" dirty="0"/>
              <a:t>. Quite simply, the probability of tending an electron, whose wave function is </a:t>
            </a:r>
            <a:r>
              <a:rPr lang="el-GR" sz="2000" dirty="0"/>
              <a:t>Ψ</a:t>
            </a:r>
            <a:r>
              <a:rPr lang="en-US" sz="2000" dirty="0"/>
              <a:t>, within unit volume at a given point in space, is proportional to </a:t>
            </a:r>
            <a:r>
              <a:rPr lang="el-GR" sz="2000" dirty="0"/>
              <a:t>Ψ</a:t>
            </a:r>
            <a:r>
              <a:rPr lang="en-IN" sz="2000" baseline="30000" dirty="0"/>
              <a:t>2</a:t>
            </a:r>
            <a:r>
              <a:rPr lang="en-US" sz="2000" dirty="0"/>
              <a:t> the value of at that point:</a:t>
            </a:r>
            <a:endParaRPr lang="en-IN" sz="20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lum bright="-20000" contrast="40000"/>
          </a:blip>
          <a:stretch>
            <a:fillRect/>
          </a:stretch>
        </p:blipFill>
        <p:spPr>
          <a:xfrm>
            <a:off x="2704641" y="5692902"/>
            <a:ext cx="4079852" cy="523550"/>
          </a:xfrm>
          <a:prstGeom prst="rect">
            <a:avLst/>
          </a:prstGeom>
        </p:spPr>
      </p:pic>
    </p:spTree>
    <p:extLst>
      <p:ext uri="{BB962C8B-B14F-4D97-AF65-F5344CB8AC3E}">
        <p14:creationId xmlns:p14="http://schemas.microsoft.com/office/powerpoint/2010/main" val="2612807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701730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dirty="0"/>
              <a:t>Electronic Wave Functions:</a:t>
            </a:r>
          </a:p>
          <a:p>
            <a:pPr marL="442913" indent="-442913" algn="just">
              <a:lnSpc>
                <a:spcPct val="150000"/>
              </a:lnSpc>
              <a:buFont typeface="Symbol" panose="05050102010706020507" pitchFamily="18" charset="2"/>
              <a:buChar char="®"/>
              <a:tabLst>
                <a:tab pos="1520825" algn="l"/>
              </a:tabLst>
            </a:pPr>
            <a:r>
              <a:rPr lang="en-US" sz="2000" b="1" dirty="0"/>
              <a:t>Let us see what this means. </a:t>
            </a:r>
            <a:r>
              <a:rPr lang="en-US" sz="2000" dirty="0"/>
              <a:t>Electronic wave functions consist of three elements: </a:t>
            </a:r>
          </a:p>
          <a:p>
            <a:pPr marL="442913" indent="-442913" algn="just">
              <a:lnSpc>
                <a:spcPct val="150000"/>
              </a:lnSpc>
              <a:buFont typeface="Symbol" panose="05050102010706020507" pitchFamily="18" charset="2"/>
              <a:buChar char="®"/>
              <a:tabLst>
                <a:tab pos="1520825" algn="l"/>
              </a:tabLst>
            </a:pPr>
            <a:r>
              <a:rPr lang="en-US" sz="2000" dirty="0"/>
              <a:t>(1) some fundamental physical constants (It, h, c, m, e, etc.—where m and e are the mass and charge, respectively, of the electron);</a:t>
            </a:r>
          </a:p>
          <a:p>
            <a:pPr marL="442913" indent="-442913" algn="just">
              <a:lnSpc>
                <a:spcPct val="150000"/>
              </a:lnSpc>
              <a:buFont typeface="Symbol" panose="05050102010706020507" pitchFamily="18" charset="2"/>
              <a:buChar char="®"/>
              <a:tabLst>
                <a:tab pos="1520825" algn="l"/>
              </a:tabLst>
            </a:pPr>
            <a:r>
              <a:rPr lang="en-US" sz="2000" dirty="0"/>
              <a:t> (2) parameters peculiar to the system under discussion—e.g., for atoms, distance from the nucleus, either radially (r) or along some coordinate axes (x, y, z); </a:t>
            </a:r>
          </a:p>
          <a:p>
            <a:pPr marL="442913" indent="-442913" algn="just">
              <a:lnSpc>
                <a:spcPct val="150000"/>
              </a:lnSpc>
              <a:buFont typeface="Symbol" panose="05050102010706020507" pitchFamily="18" charset="2"/>
              <a:buChar char="®"/>
              <a:tabLst>
                <a:tab pos="1520825" algn="l"/>
              </a:tabLst>
            </a:pPr>
            <a:r>
              <a:rPr lang="en-US" sz="2000" dirty="0"/>
              <a:t>(3) one or more quantum numbers. </a:t>
            </a:r>
          </a:p>
          <a:p>
            <a:pPr marL="442913" indent="-442913" algn="just">
              <a:lnSpc>
                <a:spcPct val="150000"/>
              </a:lnSpc>
              <a:buFont typeface="Symbol" panose="05050102010706020507" pitchFamily="18" charset="2"/>
              <a:buChar char="®"/>
              <a:tabLst>
                <a:tab pos="1520825" algn="l"/>
              </a:tabLst>
            </a:pPr>
            <a:r>
              <a:rPr lang="en-US" sz="2000" dirty="0"/>
              <a:t>These latter are by no means arbitrarily introduced into the problem in order to make the predictions match experiment; they belong to the solution of the Schrödinger equation in the sense that </a:t>
            </a:r>
            <a:r>
              <a:rPr lang="el-GR" sz="2000" dirty="0"/>
              <a:t>Ψ</a:t>
            </a:r>
            <a:r>
              <a:rPr lang="en-US" sz="2000" dirty="0"/>
              <a:t> represents a sensible physical situation only if the quantum numbers have certain values.</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6431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lum bright="-20000" contrast="40000"/>
          </a:blip>
          <a:stretch>
            <a:fillRect/>
          </a:stretch>
        </p:blipFill>
        <p:spPr>
          <a:xfrm>
            <a:off x="261938" y="545948"/>
            <a:ext cx="8755549" cy="4397092"/>
          </a:xfrm>
          <a:prstGeom prst="rect">
            <a:avLst/>
          </a:prstGeom>
        </p:spPr>
      </p:pic>
      <p:pic>
        <p:nvPicPr>
          <p:cNvPr id="8" name="Picture 7"/>
          <p:cNvPicPr>
            <a:picLocks noChangeAspect="1"/>
          </p:cNvPicPr>
          <p:nvPr/>
        </p:nvPicPr>
        <p:blipFill>
          <a:blip r:embed="rId3">
            <a:lum bright="-20000" contrast="40000"/>
          </a:blip>
          <a:stretch>
            <a:fillRect/>
          </a:stretch>
        </p:blipFill>
        <p:spPr>
          <a:xfrm>
            <a:off x="171937" y="5431669"/>
            <a:ext cx="8845550" cy="1150256"/>
          </a:xfrm>
          <a:prstGeom prst="rect">
            <a:avLst/>
          </a:prstGeom>
        </p:spPr>
      </p:pic>
    </p:spTree>
    <p:extLst>
      <p:ext uri="{BB962C8B-B14F-4D97-AF65-F5344CB8AC3E}">
        <p14:creationId xmlns:p14="http://schemas.microsoft.com/office/powerpoint/2010/main" val="2945489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240065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The Shape of Atomic Orbitals; Atomic Quantum Numbers:</a:t>
            </a:r>
          </a:p>
          <a:p>
            <a:pPr marL="442913" indent="-442913" algn="just">
              <a:lnSpc>
                <a:spcPct val="150000"/>
              </a:lnSpc>
              <a:buFont typeface="Symbol" panose="05050102010706020507" pitchFamily="18" charset="2"/>
              <a:buChar char="®"/>
              <a:tabLst>
                <a:tab pos="1520825" algn="l"/>
              </a:tabLst>
            </a:pPr>
            <a:r>
              <a:rPr lang="en-IN" sz="2000" dirty="0"/>
              <a:t>The principal quantum number, as stated earlier can take integral values from one to infinity. It governs the </a:t>
            </a:r>
            <a:r>
              <a:rPr lang="en-US" sz="2000" dirty="0"/>
              <a:t>energy of the electron mainly (although we shall see later that the other quantum numbers also affect this energy to some extent). </a:t>
            </a:r>
            <a:endParaRPr lang="en-IN" sz="2000"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lum bright="-20000" contrast="40000"/>
          </a:blip>
          <a:stretch>
            <a:fillRect/>
          </a:stretch>
        </p:blipFill>
        <p:spPr>
          <a:xfrm>
            <a:off x="876300" y="2950099"/>
            <a:ext cx="7850122" cy="3552301"/>
          </a:xfrm>
          <a:prstGeom prst="rect">
            <a:avLst/>
          </a:prstGeom>
        </p:spPr>
      </p:pic>
    </p:spTree>
    <p:extLst>
      <p:ext uri="{BB962C8B-B14F-4D97-AF65-F5344CB8AC3E}">
        <p14:creationId xmlns:p14="http://schemas.microsoft.com/office/powerpoint/2010/main" val="1613134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1042986" y="517372"/>
            <a:ext cx="6647668" cy="6340628"/>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5142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517064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The Energies of Atomic Orbitals; Hydrogen Atom Spectrum:</a:t>
            </a:r>
          </a:p>
          <a:p>
            <a:pPr marL="442913" indent="-442913" algn="just">
              <a:lnSpc>
                <a:spcPct val="150000"/>
              </a:lnSpc>
              <a:buFont typeface="Symbol" panose="05050102010706020507" pitchFamily="18" charset="2"/>
              <a:buChar char="®"/>
              <a:tabLst>
                <a:tab pos="1520825" algn="l"/>
              </a:tabLst>
            </a:pPr>
            <a:r>
              <a:rPr lang="en-IN" sz="2000" dirty="0"/>
              <a:t>However an atom its electrons take up orbitals of the s, p, d, . type (according to very specific laws which we shall discuss later) and so the overall shape of each electron's domain is unaltered.</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 The energy of each orbital, on the other hand, varies considerably from atom to atom. </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There are two main contributions to this energy: </a:t>
            </a:r>
          </a:p>
          <a:p>
            <a:pPr lvl="1" algn="just">
              <a:lnSpc>
                <a:spcPct val="150000"/>
              </a:lnSpc>
              <a:tabLst>
                <a:tab pos="1520825" algn="l"/>
              </a:tabLst>
            </a:pPr>
            <a:r>
              <a:rPr lang="en-IN" sz="2000" dirty="0"/>
              <a:t>(1) attraction between electrons and nucleus, </a:t>
            </a:r>
          </a:p>
          <a:p>
            <a:pPr lvl="1" algn="just">
              <a:lnSpc>
                <a:spcPct val="150000"/>
              </a:lnSpc>
              <a:tabLst>
                <a:tab pos="1520825" algn="l"/>
              </a:tabLst>
            </a:pPr>
            <a:r>
              <a:rPr lang="en-IN" sz="2000" dirty="0"/>
              <a:t>(2) repulsion between electrons in the same atom.</a:t>
            </a:r>
          </a:p>
        </p:txBody>
      </p:sp>
    </p:spTree>
    <p:extLst>
      <p:ext uri="{BB962C8B-B14F-4D97-AF65-F5344CB8AC3E}">
        <p14:creationId xmlns:p14="http://schemas.microsoft.com/office/powerpoint/2010/main" val="3791722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4247317"/>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The Energies Of Atomic Orbitals; Hydrogen Atom Spectrum:</a:t>
            </a:r>
          </a:p>
          <a:p>
            <a:pPr marL="442913" indent="-442913" algn="just">
              <a:lnSpc>
                <a:spcPct val="150000"/>
              </a:lnSpc>
              <a:buFont typeface="Symbol" panose="05050102010706020507" pitchFamily="18" charset="2"/>
              <a:buChar char="®"/>
              <a:tabLst>
                <a:tab pos="1520825" algn="l"/>
              </a:tabLst>
            </a:pPr>
            <a:r>
              <a:rPr lang="en-IN" sz="2000" dirty="0"/>
              <a:t>We consider first the case of hydrogen in some detail: this is the simplest because, having only one electron, factor </a:t>
            </a:r>
            <a:r>
              <a:rPr lang="en-IN" sz="2000" b="1" dirty="0"/>
              <a:t>(2) </a:t>
            </a:r>
            <a:r>
              <a:rPr lang="en-IN" sz="2000" dirty="0"/>
              <a:t>is completely absent. </a:t>
            </a:r>
          </a:p>
          <a:p>
            <a:pPr marL="442913" indent="-442913" algn="just">
              <a:lnSpc>
                <a:spcPct val="150000"/>
              </a:lnSpc>
              <a:buFont typeface="Symbol" panose="05050102010706020507" pitchFamily="18" charset="2"/>
              <a:buChar char="®"/>
              <a:tabLst>
                <a:tab pos="1520825" algn="l"/>
              </a:tabLst>
            </a:pPr>
            <a:r>
              <a:rPr lang="en-IN" sz="2000" dirty="0"/>
              <a:t> Because of the absence of </a:t>
            </a:r>
            <a:r>
              <a:rPr lang="en-IN" sz="2000" dirty="0" err="1"/>
              <a:t>interelectronic</a:t>
            </a:r>
            <a:r>
              <a:rPr lang="en-IN" sz="2000" dirty="0"/>
              <a:t> effects all orbitals with the same n value have the same energy in hydrogen. Thus the 2s and 2P orbitals, for instance, are degenerate, as are the 3s, 3p, and 3d. However the energies of the 2s, 3s, 4s, . . orbitals differ considerably. For the s orbitals given by Eq. </a:t>
            </a:r>
          </a:p>
        </p:txBody>
      </p:sp>
      <p:pic>
        <p:nvPicPr>
          <p:cNvPr id="7" name="Picture 6"/>
          <p:cNvPicPr>
            <a:picLocks noChangeAspect="1"/>
          </p:cNvPicPr>
          <p:nvPr/>
        </p:nvPicPr>
        <p:blipFill>
          <a:blip r:embed="rId2">
            <a:lum bright="-20000" contrast="40000"/>
          </a:blip>
          <a:stretch>
            <a:fillRect/>
          </a:stretch>
        </p:blipFill>
        <p:spPr>
          <a:xfrm>
            <a:off x="2624562" y="4943216"/>
            <a:ext cx="3047575" cy="852863"/>
          </a:xfrm>
          <a:prstGeom prst="rect">
            <a:avLst/>
          </a:prstGeom>
        </p:spPr>
      </p:pic>
    </p:spTree>
    <p:extLst>
      <p:ext uri="{BB962C8B-B14F-4D97-AF65-F5344CB8AC3E}">
        <p14:creationId xmlns:p14="http://schemas.microsoft.com/office/powerpoint/2010/main" val="1447944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lum bright="-20000" contrast="40000"/>
          </a:blip>
          <a:stretch>
            <a:fillRect/>
          </a:stretch>
        </p:blipFill>
        <p:spPr>
          <a:xfrm>
            <a:off x="428296" y="531660"/>
            <a:ext cx="8417254" cy="2060776"/>
          </a:xfrm>
          <a:prstGeom prst="rect">
            <a:avLst/>
          </a:prstGeom>
        </p:spPr>
      </p:pic>
      <p:pic>
        <p:nvPicPr>
          <p:cNvPr id="8" name="Picture 7"/>
          <p:cNvPicPr>
            <a:picLocks noChangeAspect="1"/>
          </p:cNvPicPr>
          <p:nvPr/>
        </p:nvPicPr>
        <p:blipFill>
          <a:blip r:embed="rId3">
            <a:lum bright="-20000" contrast="40000"/>
          </a:blip>
          <a:stretch>
            <a:fillRect/>
          </a:stretch>
        </p:blipFill>
        <p:spPr>
          <a:xfrm>
            <a:off x="104775" y="2629026"/>
            <a:ext cx="8886533" cy="1616006"/>
          </a:xfrm>
          <a:prstGeom prst="rect">
            <a:avLst/>
          </a:prstGeom>
        </p:spPr>
      </p:pic>
      <p:pic>
        <p:nvPicPr>
          <p:cNvPr id="9" name="Picture 8"/>
          <p:cNvPicPr>
            <a:picLocks noChangeAspect="1"/>
          </p:cNvPicPr>
          <p:nvPr/>
        </p:nvPicPr>
        <p:blipFill>
          <a:blip r:embed="rId4">
            <a:lum bright="-20000" contrast="40000"/>
          </a:blip>
          <a:stretch>
            <a:fillRect/>
          </a:stretch>
        </p:blipFill>
        <p:spPr>
          <a:xfrm>
            <a:off x="145758" y="4581792"/>
            <a:ext cx="8845550" cy="1797196"/>
          </a:xfrm>
          <a:prstGeom prst="rect">
            <a:avLst/>
          </a:prstGeom>
        </p:spPr>
      </p:pic>
    </p:spTree>
    <p:extLst>
      <p:ext uri="{BB962C8B-B14F-4D97-AF65-F5344CB8AC3E}">
        <p14:creationId xmlns:p14="http://schemas.microsoft.com/office/powerpoint/2010/main" val="32693563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942975" y="481621"/>
            <a:ext cx="7186612" cy="6376379"/>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552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線コネクタ 2"/>
          <p:cNvCxnSpPr/>
          <p:nvPr/>
        </p:nvCxnSpPr>
        <p:spPr>
          <a:xfrm>
            <a:off x="261938" y="508187"/>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lum bright="-20000" contrast="40000"/>
          </a:blip>
          <a:stretch>
            <a:fillRect/>
          </a:stretch>
        </p:blipFill>
        <p:spPr>
          <a:xfrm>
            <a:off x="261938" y="562634"/>
            <a:ext cx="8326137" cy="3923635"/>
          </a:xfrm>
          <a:prstGeom prst="rect">
            <a:avLst/>
          </a:prstGeom>
        </p:spPr>
      </p:pic>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pic>
        <p:nvPicPr>
          <p:cNvPr id="4" name="Picture 3"/>
          <p:cNvPicPr>
            <a:picLocks noChangeAspect="1"/>
          </p:cNvPicPr>
          <p:nvPr/>
        </p:nvPicPr>
        <p:blipFill>
          <a:blip r:embed="rId3">
            <a:lum bright="-20000" contrast="40000"/>
          </a:blip>
          <a:stretch>
            <a:fillRect/>
          </a:stretch>
        </p:blipFill>
        <p:spPr>
          <a:xfrm>
            <a:off x="113788" y="4729156"/>
            <a:ext cx="8846066" cy="2128844"/>
          </a:xfrm>
          <a:prstGeom prst="rect">
            <a:avLst/>
          </a:prstGeom>
        </p:spPr>
      </p:pic>
    </p:spTree>
    <p:extLst>
      <p:ext uri="{BB962C8B-B14F-4D97-AF65-F5344CB8AC3E}">
        <p14:creationId xmlns:p14="http://schemas.microsoft.com/office/powerpoint/2010/main" val="91456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261938" y="515032"/>
            <a:ext cx="8886825" cy="3228942"/>
          </a:xfrm>
          <a:prstGeom prst="rect">
            <a:avLst/>
          </a:prstGeom>
        </p:spPr>
      </p:pic>
      <p:cxnSp>
        <p:nvCxnSpPr>
          <p:cNvPr id="5"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pic>
        <p:nvPicPr>
          <p:cNvPr id="7" name="Picture 6"/>
          <p:cNvPicPr>
            <a:picLocks noChangeAspect="1"/>
          </p:cNvPicPr>
          <p:nvPr/>
        </p:nvPicPr>
        <p:blipFill>
          <a:blip r:embed="rId3">
            <a:lum bright="-20000" contrast="40000"/>
          </a:blip>
          <a:stretch>
            <a:fillRect/>
          </a:stretch>
        </p:blipFill>
        <p:spPr>
          <a:xfrm>
            <a:off x="1303162" y="3743974"/>
            <a:ext cx="6501164" cy="3092894"/>
          </a:xfrm>
          <a:prstGeom prst="rect">
            <a:avLst/>
          </a:prstGeom>
        </p:spPr>
      </p:pic>
    </p:spTree>
    <p:extLst>
      <p:ext uri="{BB962C8B-B14F-4D97-AF65-F5344CB8AC3E}">
        <p14:creationId xmlns:p14="http://schemas.microsoft.com/office/powerpoint/2010/main" val="3410730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pic>
        <p:nvPicPr>
          <p:cNvPr id="6" name="Picture 5"/>
          <p:cNvPicPr>
            <a:picLocks noChangeAspect="1"/>
          </p:cNvPicPr>
          <p:nvPr/>
        </p:nvPicPr>
        <p:blipFill>
          <a:blip r:embed="rId2">
            <a:lum bright="-20000" contrast="40000"/>
          </a:blip>
          <a:stretch>
            <a:fillRect/>
          </a:stretch>
        </p:blipFill>
        <p:spPr>
          <a:xfrm>
            <a:off x="0" y="543608"/>
            <a:ext cx="9040574" cy="2338313"/>
          </a:xfrm>
          <a:prstGeom prst="rect">
            <a:avLst/>
          </a:prstGeom>
        </p:spPr>
      </p:pic>
      <p:pic>
        <p:nvPicPr>
          <p:cNvPr id="7" name="Picture 6"/>
          <p:cNvPicPr>
            <a:picLocks noChangeAspect="1"/>
          </p:cNvPicPr>
          <p:nvPr/>
        </p:nvPicPr>
        <p:blipFill>
          <a:blip r:embed="rId3">
            <a:lum bright="-20000" contrast="40000"/>
          </a:blip>
          <a:stretch>
            <a:fillRect/>
          </a:stretch>
        </p:blipFill>
        <p:spPr>
          <a:xfrm>
            <a:off x="56180" y="3219385"/>
            <a:ext cx="8789370" cy="1924116"/>
          </a:xfrm>
          <a:prstGeom prst="rect">
            <a:avLst/>
          </a:prstGeom>
        </p:spPr>
      </p:pic>
    </p:spTree>
    <p:extLst>
      <p:ext uri="{BB962C8B-B14F-4D97-AF65-F5344CB8AC3E}">
        <p14:creationId xmlns:p14="http://schemas.microsoft.com/office/powerpoint/2010/main" val="1821154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テキスト ボックス 6"/>
          <p:cNvSpPr txBox="1">
            <a:spLocks noChangeArrowheads="1"/>
          </p:cNvSpPr>
          <p:nvPr/>
        </p:nvSpPr>
        <p:spPr bwMode="auto">
          <a:xfrm>
            <a:off x="311273" y="522256"/>
            <a:ext cx="8484942" cy="609397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dirty="0">
                <a:solidFill>
                  <a:srgbClr val="095BFF"/>
                </a:solidFill>
              </a:rPr>
              <a:t>The Energies Of Atomic Orbitals; Hydrogen Atom Spectrum:</a:t>
            </a:r>
          </a:p>
          <a:p>
            <a:pPr marL="442913" indent="-442913" algn="just">
              <a:lnSpc>
                <a:spcPct val="150000"/>
              </a:lnSpc>
              <a:buFont typeface="Symbol" panose="05050102010706020507" pitchFamily="18" charset="2"/>
              <a:buChar char="®"/>
              <a:tabLst>
                <a:tab pos="1520825" algn="l"/>
              </a:tabLst>
            </a:pPr>
            <a:r>
              <a:rPr lang="en-IN" sz="2000" dirty="0"/>
              <a:t>It should be mentioned that each line series discussed above shows a continuous absorption or emission to high wavenumbers of the convergence limits.</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 The convergence limit represents the situation where the atomic electron has absorbed just sufficient energy from radiation to escape from the nucleus with zero velocity. </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It can, however, absorb more energy than this and hence escape with higher velocities and since the kinetic energy of an electron moving in free space is not quantized, any energy above the ionization energy can be absorbed. Hence the spectrum in this region is continuous.</a:t>
            </a:r>
          </a:p>
        </p:txBody>
      </p:sp>
    </p:spTree>
    <p:extLst>
      <p:ext uri="{BB962C8B-B14F-4D97-AF65-F5344CB8AC3E}">
        <p14:creationId xmlns:p14="http://schemas.microsoft.com/office/powerpoint/2010/main" val="2274231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22256"/>
            <a:ext cx="8484942" cy="5632311"/>
          </a:xfrm>
          <a:prstGeom prst="rect">
            <a:avLst/>
          </a:prstGeom>
          <a:noFill/>
          <a:ln w="9525">
            <a:noFill/>
            <a:miter lim="800000"/>
            <a:headEnd/>
            <a:tailEnd/>
          </a:ln>
        </p:spPr>
        <p:txBody>
          <a:bodyPr wrap="square">
            <a:spAutoFit/>
          </a:bodyPr>
          <a:lstStyle/>
          <a:p>
            <a:pPr algn="just">
              <a:lnSpc>
                <a:spcPct val="150000"/>
              </a:lnSpc>
              <a:tabLst>
                <a:tab pos="1520825" algn="l"/>
              </a:tabLst>
            </a:pPr>
            <a:r>
              <a:rPr lang="en-US" altLang="ja-JP" sz="2000" dirty="0">
                <a:latin typeface="Arial" pitchFamily="34" charset="0"/>
                <a:cs typeface="Arial" pitchFamily="34" charset="0"/>
              </a:rPr>
              <a:t>■ </a:t>
            </a:r>
            <a:r>
              <a:rPr lang="en-IN" sz="2000" b="1" dirty="0">
                <a:solidFill>
                  <a:srgbClr val="095BFF"/>
                </a:solidFill>
              </a:rPr>
              <a:t>Electronic Angular Momentum:</a:t>
            </a:r>
          </a:p>
          <a:p>
            <a:pPr marL="442913" indent="-442913" algn="just">
              <a:lnSpc>
                <a:spcPct val="150000"/>
              </a:lnSpc>
              <a:buFont typeface="Symbol" panose="05050102010706020507" pitchFamily="18" charset="2"/>
              <a:buChar char="®"/>
              <a:tabLst>
                <a:tab pos="1520825" algn="l"/>
              </a:tabLst>
            </a:pPr>
            <a:r>
              <a:rPr lang="en-US" sz="2000" b="1" i="1" dirty="0">
                <a:solidFill>
                  <a:srgbClr val="FF0000"/>
                </a:solidFill>
              </a:rPr>
              <a:t>Orbital Angular Momentum:</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 An electron moving in its orbital about a nucleus possesses orbital angular momentum, a measure of which is given by the I value corresponding to the orbital. This momentum is, of course, quantized, and it is usually expressed in terms of the unit h/2</a:t>
            </a:r>
            <a:r>
              <a:rPr lang="el-GR" sz="2000" dirty="0"/>
              <a:t>π</a:t>
            </a:r>
            <a:r>
              <a:rPr lang="en-IN" sz="2000" dirty="0"/>
              <a:t>, where h is Planck's constant. We may write:</a:t>
            </a:r>
          </a:p>
          <a:p>
            <a:pPr marL="442913" indent="-442913" algn="just">
              <a:lnSpc>
                <a:spcPct val="150000"/>
              </a:lnSpc>
              <a:buFont typeface="Symbol" panose="05050102010706020507" pitchFamily="18" charset="2"/>
              <a:buChar char="®"/>
              <a:tabLst>
                <a:tab pos="1520825" algn="l"/>
              </a:tabLst>
            </a:pPr>
            <a:endParaRPr lang="en-IN" sz="2000" dirty="0"/>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Now angular momentum is a vector quantity, by which we mean that its direction is important as well as its magnitude—the axis of a spinning top, for instance, points in a particular direction. </a:t>
            </a:r>
          </a:p>
        </p:txBody>
      </p:sp>
      <p:pic>
        <p:nvPicPr>
          <p:cNvPr id="7" name="Picture 6"/>
          <p:cNvPicPr>
            <a:picLocks noChangeAspect="1"/>
          </p:cNvPicPr>
          <p:nvPr/>
        </p:nvPicPr>
        <p:blipFill>
          <a:blip r:embed="rId2">
            <a:lum bright="-20000" contrast="40000"/>
          </a:blip>
          <a:stretch>
            <a:fillRect/>
          </a:stretch>
        </p:blipFill>
        <p:spPr>
          <a:xfrm>
            <a:off x="638819" y="3988899"/>
            <a:ext cx="7829849" cy="629306"/>
          </a:xfrm>
          <a:prstGeom prst="rect">
            <a:avLst/>
          </a:prstGeom>
        </p:spPr>
      </p:pic>
    </p:spTree>
    <p:extLst>
      <p:ext uri="{BB962C8B-B14F-4D97-AF65-F5344CB8AC3E}">
        <p14:creationId xmlns:p14="http://schemas.microsoft.com/office/powerpoint/2010/main" val="225608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22256"/>
            <a:ext cx="8484942" cy="6093976"/>
          </a:xfrm>
          <a:prstGeom prst="rect">
            <a:avLst/>
          </a:prstGeom>
          <a:noFill/>
          <a:ln w="9525">
            <a:noFill/>
            <a:miter lim="800000"/>
            <a:headEnd/>
            <a:tailEnd/>
          </a:ln>
        </p:spPr>
        <p:txBody>
          <a:bodyPr wrap="square">
            <a:spAutoFit/>
          </a:bodyPr>
          <a:lstStyle/>
          <a:p>
            <a:pPr algn="just">
              <a:lnSpc>
                <a:spcPct val="150000"/>
              </a:lnSpc>
              <a:tabLst>
                <a:tab pos="1520825" algn="l"/>
              </a:tabLst>
            </a:pPr>
            <a:r>
              <a:rPr lang="en-US" altLang="ja-JP" sz="2000" dirty="0">
                <a:latin typeface="Arial" pitchFamily="34" charset="0"/>
                <a:cs typeface="Arial" pitchFamily="34" charset="0"/>
              </a:rPr>
              <a:t>■ </a:t>
            </a:r>
            <a:r>
              <a:rPr lang="en-IN" sz="2000" b="1" dirty="0">
                <a:solidFill>
                  <a:srgbClr val="095BFF"/>
                </a:solidFill>
              </a:rPr>
              <a:t>Electronic Angular Momentum:</a:t>
            </a:r>
          </a:p>
          <a:p>
            <a:pPr marL="442913" indent="-442913" algn="just">
              <a:lnSpc>
                <a:spcPct val="150000"/>
              </a:lnSpc>
              <a:buFont typeface="Symbol" panose="05050102010706020507" pitchFamily="18" charset="2"/>
              <a:buChar char="®"/>
              <a:tabLst>
                <a:tab pos="1520825" algn="l"/>
              </a:tabLst>
            </a:pPr>
            <a:r>
              <a:rPr lang="en-US" sz="2000" b="1" i="1" dirty="0">
                <a:solidFill>
                  <a:srgbClr val="FF0000"/>
                </a:solidFill>
              </a:rPr>
              <a:t>Orbital Angular Momentum:</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It is usual to distinguish vector quantities by the use of bold-face type and we shall accordingly represent orbital angular momentum by the symbol </a:t>
            </a:r>
            <a:r>
              <a:rPr lang="en-IN" sz="2000" b="1" dirty="0"/>
              <a:t>I </a:t>
            </a:r>
            <a:r>
              <a:rPr lang="en-IN" sz="2000" dirty="0"/>
              <a:t>where:</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Now angular momentum is a vector quantity, by which we mean that its direction is important as well as its magnitude—the axis of a spinning top, for instance, points in a particular direction. </a:t>
            </a:r>
          </a:p>
          <a:p>
            <a:pPr marL="442913" indent="-442913" algn="just">
              <a:lnSpc>
                <a:spcPct val="150000"/>
              </a:lnSpc>
              <a:buFont typeface="Symbol" panose="05050102010706020507" pitchFamily="18" charset="2"/>
              <a:buChar char="®"/>
              <a:tabLst>
                <a:tab pos="1520825" algn="l"/>
              </a:tabLst>
            </a:pPr>
            <a:r>
              <a:rPr lang="en-US" sz="2000" dirty="0"/>
              <a:t>The angular momentum vector can point only so that its components along the reference direction are integral multiples of h/2</a:t>
            </a:r>
            <a:r>
              <a:rPr lang="el-GR" sz="2000" dirty="0"/>
              <a:t>π</a:t>
            </a:r>
            <a:r>
              <a:rPr lang="en-US" sz="2000" dirty="0"/>
              <a:t> Figure 5.4(a) and (b) show the situation for an electron with I = 1 and I = 2 respectively (i.e., a </a:t>
            </a:r>
            <a:r>
              <a:rPr lang="en-US" sz="2000" i="1" dirty="0"/>
              <a:t>p</a:t>
            </a:r>
            <a:r>
              <a:rPr lang="en-US" sz="2000" dirty="0"/>
              <a:t> and a</a:t>
            </a:r>
            <a:r>
              <a:rPr lang="en-US" sz="2000" i="1" dirty="0"/>
              <a:t> d </a:t>
            </a:r>
            <a:r>
              <a:rPr lang="en-US" sz="2000" dirty="0"/>
              <a:t>electron). </a:t>
            </a:r>
            <a:endParaRPr lang="en-IN" sz="2000" dirty="0"/>
          </a:p>
        </p:txBody>
      </p:sp>
      <p:pic>
        <p:nvPicPr>
          <p:cNvPr id="8" name="Picture 7"/>
          <p:cNvPicPr>
            <a:picLocks noChangeAspect="1"/>
          </p:cNvPicPr>
          <p:nvPr/>
        </p:nvPicPr>
        <p:blipFill>
          <a:blip r:embed="rId2">
            <a:lum bright="-20000" contrast="40000"/>
          </a:blip>
          <a:stretch>
            <a:fillRect/>
          </a:stretch>
        </p:blipFill>
        <p:spPr>
          <a:xfrm>
            <a:off x="3145288" y="2806621"/>
            <a:ext cx="2384968" cy="450929"/>
          </a:xfrm>
          <a:prstGeom prst="rect">
            <a:avLst/>
          </a:prstGeom>
        </p:spPr>
      </p:pic>
    </p:spTree>
    <p:extLst>
      <p:ext uri="{BB962C8B-B14F-4D97-AF65-F5344CB8AC3E}">
        <p14:creationId xmlns:p14="http://schemas.microsoft.com/office/powerpoint/2010/main" val="34858270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876300" y="485022"/>
            <a:ext cx="7239000" cy="6372978"/>
          </a:xfrm>
          <a:prstGeom prst="rect">
            <a:avLst/>
          </a:prstGeom>
        </p:spPr>
      </p:pic>
      <p:cxnSp>
        <p:nvCxnSpPr>
          <p:cNvPr id="5"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Tree>
    <p:extLst>
      <p:ext uri="{BB962C8B-B14F-4D97-AF65-F5344CB8AC3E}">
        <p14:creationId xmlns:p14="http://schemas.microsoft.com/office/powerpoint/2010/main" val="1864690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22256"/>
            <a:ext cx="8484942" cy="5170646"/>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i="1" dirty="0">
                <a:solidFill>
                  <a:srgbClr val="FF0000"/>
                </a:solidFill>
              </a:rPr>
              <a:t>Orbital Angular Momentum:</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The reference direction, here taken to be vertical in the figure, is conventionally used to define the z axis, and so we can write the components of I in this direction as (note the use of bold-face type for I: , since the components of angular momentum are clearly vectors, having both magnitude and direction). Alternatively, since we know that the </a:t>
            </a:r>
            <a:r>
              <a:rPr lang="en-IN" sz="2000" dirty="0" err="1"/>
              <a:t>I</a:t>
            </a:r>
            <a:r>
              <a:rPr lang="en-IN" sz="2000" baseline="-25000" dirty="0" err="1"/>
              <a:t>z</a:t>
            </a:r>
            <a:r>
              <a:rPr lang="en-IN" sz="2000" dirty="0"/>
              <a:t> are integral multiples of h/2</a:t>
            </a:r>
            <a:r>
              <a:rPr lang="el-GR" sz="2000" dirty="0"/>
              <a:t>π</a:t>
            </a:r>
            <a:r>
              <a:rPr lang="en-IN" sz="2000" dirty="0"/>
              <a:t>, we can represent the components in terms of an integral number l: (not bold-face), where</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8" name="Picture 7"/>
          <p:cNvPicPr>
            <a:picLocks noChangeAspect="1"/>
          </p:cNvPicPr>
          <p:nvPr/>
        </p:nvPicPr>
        <p:blipFill>
          <a:blip r:embed="rId2">
            <a:lum bright="-20000" contrast="40000"/>
          </a:blip>
          <a:stretch>
            <a:fillRect/>
          </a:stretch>
        </p:blipFill>
        <p:spPr>
          <a:xfrm>
            <a:off x="3379303" y="4215500"/>
            <a:ext cx="1578307" cy="703941"/>
          </a:xfrm>
          <a:prstGeom prst="rect">
            <a:avLst/>
          </a:prstGeom>
        </p:spPr>
      </p:pic>
    </p:spTree>
    <p:extLst>
      <p:ext uri="{BB962C8B-B14F-4D97-AF65-F5344CB8AC3E}">
        <p14:creationId xmlns:p14="http://schemas.microsoft.com/office/powerpoint/2010/main" val="890855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396845" y="2544894"/>
            <a:ext cx="8356422" cy="1798506"/>
          </a:xfrm>
          <a:prstGeom prst="rect">
            <a:avLst/>
          </a:prstGeom>
        </p:spPr>
      </p:pic>
      <p:pic>
        <p:nvPicPr>
          <p:cNvPr id="5" name="Picture 4"/>
          <p:cNvPicPr>
            <a:picLocks noChangeAspect="1"/>
          </p:cNvPicPr>
          <p:nvPr/>
        </p:nvPicPr>
        <p:blipFill>
          <a:blip r:embed="rId3">
            <a:lum bright="-20000" contrast="40000"/>
          </a:blip>
          <a:stretch>
            <a:fillRect/>
          </a:stretch>
        </p:blipFill>
        <p:spPr>
          <a:xfrm>
            <a:off x="396845" y="833822"/>
            <a:ext cx="8605169" cy="1371150"/>
          </a:xfrm>
          <a:prstGeom prst="rect">
            <a:avLst/>
          </a:prstGeom>
        </p:spPr>
      </p:pic>
      <p:cxnSp>
        <p:nvCxnSpPr>
          <p:cNvPr id="6"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Tree>
    <p:extLst>
      <p:ext uri="{BB962C8B-B14F-4D97-AF65-F5344CB8AC3E}">
        <p14:creationId xmlns:p14="http://schemas.microsoft.com/office/powerpoint/2010/main" val="2155080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22256"/>
            <a:ext cx="8484942" cy="7340471"/>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i="1" dirty="0">
                <a:solidFill>
                  <a:srgbClr val="FF0000"/>
                </a:solidFill>
              </a:rPr>
              <a:t>Electron Spin Angular Momentum:</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Every electron in an atom can be considered to be spinning about an axis as well as orbiting about the nucleus. Its spin motion is designated by the spin quantum number s, which can be shown to have a value of ½ only. Thus the spin angular momentum is given by:</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1400" dirty="0"/>
          </a:p>
          <a:p>
            <a:pPr marL="442913" indent="-442913" algn="just">
              <a:lnSpc>
                <a:spcPct val="150000"/>
              </a:lnSpc>
              <a:buFont typeface="Symbol" panose="05050102010706020507" pitchFamily="18" charset="2"/>
              <a:buChar char="®"/>
              <a:tabLst>
                <a:tab pos="1520825" algn="l"/>
              </a:tabLst>
            </a:pPr>
            <a:r>
              <a:rPr lang="en-US" sz="2000" dirty="0"/>
              <a:t>The quantization law for spin momentum is that the vector can point so as to have components in the reference direction which are half-integral multiples of h/2</a:t>
            </a:r>
            <a:r>
              <a:rPr lang="el-GR" sz="2000" dirty="0"/>
              <a:t>π</a:t>
            </a:r>
            <a:r>
              <a:rPr lang="en-US" sz="2000" dirty="0"/>
              <a:t>, that is that </a:t>
            </a:r>
            <a:r>
              <a:rPr lang="en-US" sz="2000" b="1" dirty="0" err="1"/>
              <a:t>S</a:t>
            </a:r>
            <a:r>
              <a:rPr lang="en-US" sz="2000" baseline="-25000" dirty="0" err="1"/>
              <a:t>z</a:t>
            </a:r>
            <a:r>
              <a:rPr lang="en-US" sz="2000" dirty="0"/>
              <a:t> = s × h/2</a:t>
            </a:r>
            <a:r>
              <a:rPr lang="el-GR" sz="2000" dirty="0"/>
              <a:t>π</a:t>
            </a:r>
            <a:r>
              <a:rPr lang="en-US" sz="2000" dirty="0"/>
              <a:t> with taking the values of + ½ or – ½ .</a:t>
            </a:r>
          </a:p>
          <a:p>
            <a:pPr marL="442913" indent="-442913" algn="just">
              <a:lnSpc>
                <a:spcPct val="150000"/>
              </a:lnSpc>
              <a:buFont typeface="Symbol" panose="05050102010706020507" pitchFamily="18" charset="2"/>
              <a:buChar char="®"/>
              <a:tabLst>
                <a:tab pos="1520825" algn="l"/>
              </a:tabLst>
            </a:pPr>
            <a:r>
              <a:rPr lang="en-US" sz="2000" dirty="0"/>
              <a:t>The two (that is, 2s + I) allowed directions are shown in Fig. 5.4(c); they are normally degenerate.</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8" name="Picture 7"/>
          <p:cNvPicPr>
            <a:picLocks noChangeAspect="1"/>
          </p:cNvPicPr>
          <p:nvPr/>
        </p:nvPicPr>
        <p:blipFill>
          <a:blip r:embed="rId2">
            <a:lum bright="-20000" contrast="40000"/>
          </a:blip>
          <a:stretch>
            <a:fillRect/>
          </a:stretch>
        </p:blipFill>
        <p:spPr>
          <a:xfrm>
            <a:off x="2212059" y="2953856"/>
            <a:ext cx="4031580" cy="1229935"/>
          </a:xfrm>
          <a:prstGeom prst="rect">
            <a:avLst/>
          </a:prstGeom>
        </p:spPr>
      </p:pic>
    </p:spTree>
    <p:extLst>
      <p:ext uri="{BB962C8B-B14F-4D97-AF65-F5344CB8AC3E}">
        <p14:creationId xmlns:p14="http://schemas.microsoft.com/office/powerpoint/2010/main" val="2502433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93696"/>
            <a:ext cx="8484942" cy="6647974"/>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US" sz="2000" b="1" i="1" dirty="0">
                <a:solidFill>
                  <a:srgbClr val="FF0000"/>
                </a:solidFill>
              </a:rPr>
              <a:t>Total Electronic Angular Momentum:</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We now need to discover some means whereby the orbital and spin contributions to the electronic angular momentum may be combined. Formally we can write:</a:t>
            </a:r>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IN" sz="2000" dirty="0"/>
              <a:t>where</a:t>
            </a:r>
            <a:r>
              <a:rPr lang="en-IN" sz="2000" b="1" dirty="0"/>
              <a:t> j </a:t>
            </a:r>
            <a:r>
              <a:rPr lang="en-IN" sz="2000" dirty="0"/>
              <a:t>is the total angular momentum. Since </a:t>
            </a:r>
            <a:r>
              <a:rPr lang="en-IN" sz="2000" b="1" dirty="0"/>
              <a:t>I</a:t>
            </a:r>
            <a:r>
              <a:rPr lang="en-IN" sz="2000" dirty="0"/>
              <a:t> and</a:t>
            </a:r>
            <a:r>
              <a:rPr lang="en-IN" sz="2000" b="1" dirty="0"/>
              <a:t> s </a:t>
            </a:r>
            <a:r>
              <a:rPr lang="en-IN" sz="2000" dirty="0"/>
              <a:t>are vectors, Eq. must be taken to imply vector addition. Also formally, we can express </a:t>
            </a:r>
            <a:r>
              <a:rPr lang="en-IN" sz="2000" b="1" dirty="0"/>
              <a:t>j</a:t>
            </a:r>
            <a:r>
              <a:rPr lang="en-IN" sz="2000" dirty="0"/>
              <a:t> in terms of a total angular momentum quantum number j:</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dirty="0"/>
              <a:t>where j is half-integral (since s is half-integral for a one-electron atom), and a quantal law applies equally to j as to I and s : j can have z-components which are half-integral only, i.e.,</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8" name="Picture 7"/>
          <p:cNvPicPr>
            <a:picLocks noChangeAspect="1"/>
          </p:cNvPicPr>
          <p:nvPr/>
        </p:nvPicPr>
        <p:blipFill>
          <a:blip r:embed="rId2">
            <a:lum bright="-20000" contrast="40000"/>
          </a:blip>
          <a:stretch>
            <a:fillRect/>
          </a:stretch>
        </p:blipFill>
        <p:spPr>
          <a:xfrm>
            <a:off x="2924104" y="2400301"/>
            <a:ext cx="1749655" cy="381571"/>
          </a:xfrm>
          <a:prstGeom prst="rect">
            <a:avLst/>
          </a:prstGeom>
        </p:spPr>
      </p:pic>
      <p:pic>
        <p:nvPicPr>
          <p:cNvPr id="9" name="Picture 8"/>
          <p:cNvPicPr>
            <a:picLocks noChangeAspect="1"/>
          </p:cNvPicPr>
          <p:nvPr/>
        </p:nvPicPr>
        <p:blipFill>
          <a:blip r:embed="rId3">
            <a:lum bright="-20000" contrast="40000"/>
          </a:blip>
          <a:stretch>
            <a:fillRect/>
          </a:stretch>
        </p:blipFill>
        <p:spPr>
          <a:xfrm>
            <a:off x="2668438" y="4161010"/>
            <a:ext cx="4010642" cy="689653"/>
          </a:xfrm>
          <a:prstGeom prst="rect">
            <a:avLst/>
          </a:prstGeom>
        </p:spPr>
      </p:pic>
      <p:pic>
        <p:nvPicPr>
          <p:cNvPr id="10" name="Picture 9"/>
          <p:cNvPicPr>
            <a:picLocks noChangeAspect="1"/>
          </p:cNvPicPr>
          <p:nvPr/>
        </p:nvPicPr>
        <p:blipFill>
          <a:blip r:embed="rId4">
            <a:lum bright="-20000" contrast="40000"/>
          </a:blip>
          <a:stretch>
            <a:fillRect/>
          </a:stretch>
        </p:blipFill>
        <p:spPr>
          <a:xfrm>
            <a:off x="2299177" y="6206005"/>
            <a:ext cx="4509134" cy="630168"/>
          </a:xfrm>
          <a:prstGeom prst="rect">
            <a:avLst/>
          </a:prstGeom>
        </p:spPr>
      </p:pic>
    </p:spTree>
    <p:extLst>
      <p:ext uri="{BB962C8B-B14F-4D97-AF65-F5344CB8AC3E}">
        <p14:creationId xmlns:p14="http://schemas.microsoft.com/office/powerpoint/2010/main" val="2519444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pic>
        <p:nvPicPr>
          <p:cNvPr id="6" name="Picture 5"/>
          <p:cNvPicPr>
            <a:picLocks noChangeAspect="1"/>
          </p:cNvPicPr>
          <p:nvPr/>
        </p:nvPicPr>
        <p:blipFill>
          <a:blip r:embed="rId2">
            <a:lum bright="-20000" contrast="40000"/>
          </a:blip>
          <a:stretch>
            <a:fillRect/>
          </a:stretch>
        </p:blipFill>
        <p:spPr>
          <a:xfrm>
            <a:off x="261938" y="543603"/>
            <a:ext cx="8634369" cy="5628593"/>
          </a:xfrm>
          <a:prstGeom prst="rect">
            <a:avLst/>
          </a:prstGeom>
        </p:spPr>
      </p:pic>
    </p:spTree>
    <p:extLst>
      <p:ext uri="{BB962C8B-B14F-4D97-AF65-F5344CB8AC3E}">
        <p14:creationId xmlns:p14="http://schemas.microsoft.com/office/powerpoint/2010/main" val="1771652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22256"/>
            <a:ext cx="8484942" cy="2431435"/>
          </a:xfrm>
          <a:prstGeom prst="rect">
            <a:avLst/>
          </a:prstGeom>
          <a:noFill/>
          <a:ln w="9525">
            <a:noFill/>
            <a:miter lim="800000"/>
            <a:headEnd/>
            <a:tailEnd/>
          </a:ln>
        </p:spPr>
        <p:txBody>
          <a:bodyPr wrap="square">
            <a:spAutoFit/>
          </a:bodyPr>
          <a:lstStyle/>
          <a:p>
            <a:pPr marL="442913" indent="-442913" algn="just">
              <a:buFont typeface="Symbol" panose="05050102010706020507" pitchFamily="18" charset="2"/>
              <a:buChar char="®"/>
              <a:tabLst>
                <a:tab pos="1520825" algn="l"/>
              </a:tabLst>
            </a:pPr>
            <a:r>
              <a:rPr lang="en-IN" sz="2000" b="1" i="1" dirty="0">
                <a:solidFill>
                  <a:srgbClr val="FF0000"/>
                </a:solidFill>
              </a:rPr>
              <a:t>The Fine Structure of the Hydrogen Atom Spectrum</a:t>
            </a:r>
            <a:r>
              <a:rPr lang="en-US" sz="2000" b="1" i="1" dirty="0">
                <a:solidFill>
                  <a:srgbClr val="FF0000"/>
                </a:solidFill>
              </a:rPr>
              <a:t>:</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The hydrogen atom contains but one electron and so the coupling of orbital and spin momenta and consequent splitting of energy levels will be exactly as described above. The essential details of the energy levels</a:t>
            </a:r>
            <a:endParaRPr lang="en-IN" sz="800" dirty="0"/>
          </a:p>
          <a:p>
            <a:pPr marL="442913" indent="-442913" algn="just">
              <a:lnSpc>
                <a:spcPct val="150000"/>
              </a:lnSpc>
              <a:buFont typeface="Symbol" panose="05050102010706020507" pitchFamily="18" charset="2"/>
              <a:buChar char="®"/>
              <a:tabLst>
                <a:tab pos="1520825" algn="l"/>
              </a:tabLst>
            </a:pPr>
            <a:endParaRPr lang="en-IN" sz="800" dirty="0"/>
          </a:p>
        </p:txBody>
      </p:sp>
      <p:pic>
        <p:nvPicPr>
          <p:cNvPr id="10" name="Picture 9"/>
          <p:cNvPicPr>
            <a:picLocks noChangeAspect="1"/>
          </p:cNvPicPr>
          <p:nvPr/>
        </p:nvPicPr>
        <p:blipFill>
          <a:blip r:embed="rId2">
            <a:lum bright="-20000" contrast="40000"/>
          </a:blip>
          <a:stretch>
            <a:fillRect/>
          </a:stretch>
        </p:blipFill>
        <p:spPr>
          <a:xfrm>
            <a:off x="1700213" y="2243139"/>
            <a:ext cx="6350299" cy="4614862"/>
          </a:xfrm>
          <a:prstGeom prst="rect">
            <a:avLst/>
          </a:prstGeom>
        </p:spPr>
      </p:pic>
    </p:spTree>
    <p:extLst>
      <p:ext uri="{BB962C8B-B14F-4D97-AF65-F5344CB8AC3E}">
        <p14:creationId xmlns:p14="http://schemas.microsoft.com/office/powerpoint/2010/main" val="29271037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2245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10" name="テキスト ボックス 6"/>
          <p:cNvSpPr txBox="1">
            <a:spLocks noChangeArrowheads="1"/>
          </p:cNvSpPr>
          <p:nvPr/>
        </p:nvSpPr>
        <p:spPr bwMode="auto">
          <a:xfrm>
            <a:off x="311273" y="450816"/>
            <a:ext cx="8484942" cy="2708434"/>
          </a:xfrm>
          <a:prstGeom prst="rect">
            <a:avLst/>
          </a:prstGeom>
          <a:noFill/>
          <a:ln w="9525">
            <a:noFill/>
            <a:miter lim="800000"/>
            <a:headEnd/>
            <a:tailEnd/>
          </a:ln>
        </p:spPr>
        <p:txBody>
          <a:bodyPr wrap="square">
            <a:spAutoFit/>
          </a:bodyPr>
          <a:lstStyle/>
          <a:p>
            <a:pPr marL="442913" indent="-442913" algn="just">
              <a:buFont typeface="Symbol" panose="05050102010706020507" pitchFamily="18" charset="2"/>
              <a:buChar char="®"/>
              <a:tabLst>
                <a:tab pos="1520825" algn="l"/>
              </a:tabLst>
            </a:pPr>
            <a:r>
              <a:rPr lang="en-IN" sz="2000" b="1" i="1" dirty="0">
                <a:solidFill>
                  <a:srgbClr val="FF0000"/>
                </a:solidFill>
              </a:rPr>
              <a:t>The Fine Structure of the Hydrogen Atom Spectrum</a:t>
            </a:r>
            <a:r>
              <a:rPr lang="en-US" sz="2000" b="1" i="1" dirty="0">
                <a:solidFill>
                  <a:srgbClr val="FF0000"/>
                </a:solidFill>
              </a:rPr>
              <a:t>:</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Each level is labelled with its n quantum number on the extreme left, and its j value on the right; the I value is indicated by the state symbols S, P, D, at the top of each column. </a:t>
            </a:r>
          </a:p>
          <a:p>
            <a:pPr marL="442913" indent="-442913" algn="just">
              <a:lnSpc>
                <a:spcPct val="150000"/>
              </a:lnSpc>
              <a:buFont typeface="Symbol" panose="05050102010706020507" pitchFamily="18" charset="2"/>
              <a:buChar char="®"/>
              <a:tabLst>
                <a:tab pos="1520825" algn="l"/>
              </a:tabLst>
            </a:pPr>
            <a:r>
              <a:rPr lang="en-US" sz="2000" dirty="0"/>
              <a:t>The selection rules for n and I are the same as before:</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11" name="Picture 10"/>
          <p:cNvPicPr>
            <a:picLocks noChangeAspect="1"/>
          </p:cNvPicPr>
          <p:nvPr/>
        </p:nvPicPr>
        <p:blipFill>
          <a:blip r:embed="rId2">
            <a:lum bright="-20000" contrast="40000"/>
          </a:blip>
          <a:stretch>
            <a:fillRect/>
          </a:stretch>
        </p:blipFill>
        <p:spPr>
          <a:xfrm>
            <a:off x="463550" y="2589066"/>
            <a:ext cx="8046922" cy="2902799"/>
          </a:xfrm>
          <a:prstGeom prst="rect">
            <a:avLst/>
          </a:prstGeom>
        </p:spPr>
      </p:pic>
      <p:pic>
        <p:nvPicPr>
          <p:cNvPr id="12" name="Picture 11"/>
          <p:cNvPicPr>
            <a:picLocks noChangeAspect="1"/>
          </p:cNvPicPr>
          <p:nvPr/>
        </p:nvPicPr>
        <p:blipFill>
          <a:blip r:embed="rId3">
            <a:lum bright="-20000" contrast="40000"/>
          </a:blip>
          <a:stretch>
            <a:fillRect/>
          </a:stretch>
        </p:blipFill>
        <p:spPr>
          <a:xfrm>
            <a:off x="463550" y="5397296"/>
            <a:ext cx="8382000" cy="1492200"/>
          </a:xfrm>
          <a:prstGeom prst="rect">
            <a:avLst/>
          </a:prstGeom>
        </p:spPr>
      </p:pic>
    </p:spTree>
    <p:extLst>
      <p:ext uri="{BB962C8B-B14F-4D97-AF65-F5344CB8AC3E}">
        <p14:creationId xmlns:p14="http://schemas.microsoft.com/office/powerpoint/2010/main" val="1241931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2245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450816"/>
            <a:ext cx="8484942" cy="958660"/>
          </a:xfrm>
          <a:prstGeom prst="rect">
            <a:avLst/>
          </a:prstGeom>
          <a:noFill/>
          <a:ln w="9525">
            <a:noFill/>
            <a:miter lim="800000"/>
            <a:headEnd/>
            <a:tailEnd/>
          </a:ln>
        </p:spPr>
        <p:txBody>
          <a:bodyPr wrap="square">
            <a:spAutoFit/>
          </a:bodyPr>
          <a:lstStyle/>
          <a:p>
            <a:pPr marL="442913" indent="-442913" algn="just">
              <a:lnSpc>
                <a:spcPct val="150000"/>
              </a:lnSpc>
              <a:buFont typeface="Symbol" panose="05050102010706020507" pitchFamily="18" charset="2"/>
              <a:buChar char="®"/>
              <a:tabLst>
                <a:tab pos="1520825" algn="l"/>
              </a:tabLst>
            </a:pPr>
            <a:r>
              <a:rPr lang="en-IN" sz="2000" b="1" i="1" dirty="0">
                <a:solidFill>
                  <a:srgbClr val="FF0000"/>
                </a:solidFill>
              </a:rPr>
              <a:t>The Fine Structure of the Hydrogen Atom Spectrum</a:t>
            </a:r>
            <a:r>
              <a:rPr lang="en-US" sz="2000" b="1" i="1" dirty="0">
                <a:solidFill>
                  <a:srgbClr val="FF0000"/>
                </a:solidFill>
              </a:rPr>
              <a:t>:</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endParaRPr lang="en-IN" sz="2000" dirty="0"/>
          </a:p>
        </p:txBody>
      </p:sp>
      <p:pic>
        <p:nvPicPr>
          <p:cNvPr id="9" name="Picture 8"/>
          <p:cNvPicPr>
            <a:picLocks noChangeAspect="1"/>
          </p:cNvPicPr>
          <p:nvPr/>
        </p:nvPicPr>
        <p:blipFill>
          <a:blip r:embed="rId2">
            <a:lum bright="-20000" contrast="40000"/>
          </a:blip>
          <a:stretch>
            <a:fillRect/>
          </a:stretch>
        </p:blipFill>
        <p:spPr>
          <a:xfrm>
            <a:off x="161925" y="1058734"/>
            <a:ext cx="8472741" cy="2691282"/>
          </a:xfrm>
          <a:prstGeom prst="rect">
            <a:avLst/>
          </a:prstGeom>
        </p:spPr>
      </p:pic>
      <p:pic>
        <p:nvPicPr>
          <p:cNvPr id="10" name="Picture 9"/>
          <p:cNvPicPr>
            <a:picLocks noChangeAspect="1"/>
          </p:cNvPicPr>
          <p:nvPr/>
        </p:nvPicPr>
        <p:blipFill>
          <a:blip r:embed="rId3">
            <a:lum bright="-20000" contrast="40000"/>
          </a:blip>
          <a:stretch>
            <a:fillRect/>
          </a:stretch>
        </p:blipFill>
        <p:spPr>
          <a:xfrm>
            <a:off x="62595" y="3717640"/>
            <a:ext cx="8782955" cy="864847"/>
          </a:xfrm>
          <a:prstGeom prst="rect">
            <a:avLst/>
          </a:prstGeom>
        </p:spPr>
      </p:pic>
    </p:spTree>
    <p:extLst>
      <p:ext uri="{BB962C8B-B14F-4D97-AF65-F5344CB8AC3E}">
        <p14:creationId xmlns:p14="http://schemas.microsoft.com/office/powerpoint/2010/main" val="2021756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607645" y="806230"/>
            <a:ext cx="8136377" cy="5708869"/>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7"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8248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
        <p:nvSpPr>
          <p:cNvPr id="6" name="テキスト ボックス 6"/>
          <p:cNvSpPr txBox="1">
            <a:spLocks noChangeArrowheads="1"/>
          </p:cNvSpPr>
          <p:nvPr/>
        </p:nvSpPr>
        <p:spPr bwMode="auto">
          <a:xfrm>
            <a:off x="311273" y="522256"/>
            <a:ext cx="8484942" cy="7017306"/>
          </a:xfrm>
          <a:prstGeom prst="rect">
            <a:avLst/>
          </a:prstGeom>
          <a:noFill/>
          <a:ln w="9525">
            <a:noFill/>
            <a:miter lim="800000"/>
            <a:headEnd/>
            <a:tailEnd/>
          </a:ln>
        </p:spPr>
        <p:txBody>
          <a:bodyPr wrap="square">
            <a:spAutoFit/>
          </a:bodyPr>
          <a:lstStyle/>
          <a:p>
            <a:pPr algn="just">
              <a:tabLst>
                <a:tab pos="1520825" algn="l"/>
              </a:tabLst>
            </a:pPr>
            <a:r>
              <a:rPr lang="en-US" altLang="ja-JP" sz="2000" dirty="0">
                <a:latin typeface="Arial" pitchFamily="34" charset="0"/>
                <a:cs typeface="Arial" pitchFamily="34" charset="0"/>
              </a:rPr>
              <a:t>■ </a:t>
            </a:r>
            <a:r>
              <a:rPr lang="en-IN" sz="2000" b="1" dirty="0">
                <a:solidFill>
                  <a:srgbClr val="095BFF"/>
                </a:solidFill>
              </a:rPr>
              <a:t>Many-electron Atoms:</a:t>
            </a:r>
          </a:p>
          <a:p>
            <a:pPr marL="442913" indent="-442913" algn="just">
              <a:lnSpc>
                <a:spcPct val="150000"/>
              </a:lnSpc>
              <a:buFont typeface="Symbol" panose="05050102010706020507" pitchFamily="18" charset="2"/>
              <a:buChar char="®"/>
              <a:tabLst>
                <a:tab pos="1520825" algn="l"/>
              </a:tabLst>
            </a:pPr>
            <a:r>
              <a:rPr lang="en-US" sz="2000" b="1" i="1" dirty="0">
                <a:solidFill>
                  <a:srgbClr val="FF0000"/>
                </a:solidFill>
              </a:rPr>
              <a:t>The Building-up Principle:</a:t>
            </a:r>
            <a:endParaRPr lang="en-IN" sz="2000" b="1" i="1" dirty="0">
              <a:solidFill>
                <a:srgbClr val="FF0000"/>
              </a:solidFill>
            </a:endParaRPr>
          </a:p>
          <a:p>
            <a:pPr marL="442913" indent="-442913" algn="just">
              <a:lnSpc>
                <a:spcPct val="150000"/>
              </a:lnSpc>
              <a:buFont typeface="Symbol" panose="05050102010706020507" pitchFamily="18" charset="2"/>
              <a:buChar char="®"/>
              <a:tabLst>
                <a:tab pos="1520825" algn="l"/>
              </a:tabLst>
            </a:pPr>
            <a:r>
              <a:rPr lang="en-IN" sz="2000" dirty="0"/>
              <a:t>The Schrödinger equation shows that electrons in atoms occupy orbitals of the same type and shape as the s, p, d, , orbitals discussed for the hydrogen atom, but that the energies of these electrons differ markedly from atom to atom. </a:t>
            </a:r>
          </a:p>
          <a:p>
            <a:pPr marL="442913" indent="-442913" algn="just">
              <a:lnSpc>
                <a:spcPct val="150000"/>
              </a:lnSpc>
              <a:buFont typeface="Symbol" panose="05050102010706020507" pitchFamily="18" charset="2"/>
              <a:buChar char="®"/>
              <a:tabLst>
                <a:tab pos="1520825" algn="l"/>
              </a:tabLst>
            </a:pPr>
            <a:r>
              <a:rPr lang="en-US" sz="2000" dirty="0"/>
              <a:t>There are three basic rules, known as the building-up rules, which determine how electrons in large atoms occupy orbitals. These may be summarized as:</a:t>
            </a:r>
            <a:endParaRPr lang="en-IN" sz="2000" dirty="0"/>
          </a:p>
          <a:p>
            <a:pPr marL="442913" indent="-442913" algn="just">
              <a:lnSpc>
                <a:spcPct val="150000"/>
              </a:lnSpc>
              <a:buFont typeface="Symbol" panose="05050102010706020507" pitchFamily="18" charset="2"/>
              <a:buChar char="®"/>
              <a:tabLst>
                <a:tab pos="1520825" algn="l"/>
              </a:tabLst>
            </a:pPr>
            <a:r>
              <a:rPr lang="en-IN" sz="2000" dirty="0"/>
              <a:t>1. Pauli's principle: no two electrons in an atom may have the same set of values for n, l, </a:t>
            </a:r>
            <a:r>
              <a:rPr lang="en-IN" sz="2000" dirty="0" err="1"/>
              <a:t>I</a:t>
            </a:r>
            <a:r>
              <a:rPr lang="en-IN" sz="2000" baseline="-25000" dirty="0" err="1"/>
              <a:t>z</a:t>
            </a:r>
            <a:r>
              <a:rPr lang="en-IN" sz="2000" dirty="0"/>
              <a:t> ( = m), and </a:t>
            </a:r>
            <a:r>
              <a:rPr lang="en-IN" sz="2000" dirty="0" err="1"/>
              <a:t>s</a:t>
            </a:r>
            <a:r>
              <a:rPr lang="en-IN" sz="2000" baseline="-25000" dirty="0" err="1"/>
              <a:t>z</a:t>
            </a:r>
            <a:r>
              <a:rPr lang="en-IN" sz="2000" dirty="0"/>
              <a:t>.</a:t>
            </a:r>
          </a:p>
          <a:p>
            <a:pPr marL="442913" indent="-442913" algn="just">
              <a:lnSpc>
                <a:spcPct val="150000"/>
              </a:lnSpc>
              <a:buFont typeface="Symbol" panose="05050102010706020507" pitchFamily="18" charset="2"/>
              <a:buChar char="®"/>
              <a:tabLst>
                <a:tab pos="1520825" algn="l"/>
              </a:tabLst>
            </a:pPr>
            <a:r>
              <a:rPr lang="en-IN" sz="2000" dirty="0"/>
              <a:t>2.Electrons tend to occupy the orbital with lowest energy available.</a:t>
            </a:r>
          </a:p>
          <a:p>
            <a:pPr marL="442913" indent="-442913" algn="just">
              <a:lnSpc>
                <a:spcPct val="150000"/>
              </a:lnSpc>
              <a:buFont typeface="Symbol" panose="05050102010706020507" pitchFamily="18" charset="2"/>
              <a:buChar char="®"/>
              <a:tabLst>
                <a:tab pos="1520825" algn="l"/>
              </a:tabLst>
            </a:pPr>
            <a:r>
              <a:rPr lang="en-IN" sz="2000" dirty="0"/>
              <a:t>3.Hund's principle: electrons tend to occupy degenerate orbitals singly with their spins parallel.</a:t>
            </a:r>
          </a:p>
          <a:p>
            <a:pPr marL="442913" indent="-442913" algn="just">
              <a:lnSpc>
                <a:spcPct val="150000"/>
              </a:lnSpc>
              <a:buFont typeface="Symbol" panose="05050102010706020507" pitchFamily="18" charset="2"/>
              <a:buChar char="®"/>
              <a:tabLst>
                <a:tab pos="1520825" algn="l"/>
              </a:tabLst>
            </a:pPr>
            <a:endParaRPr lang="en-IN" sz="2000" dirty="0"/>
          </a:p>
        </p:txBody>
      </p:sp>
    </p:spTree>
    <p:extLst>
      <p:ext uri="{BB962C8B-B14F-4D97-AF65-F5344CB8AC3E}">
        <p14:creationId xmlns:p14="http://schemas.microsoft.com/office/powerpoint/2010/main" val="34447354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156548" y="657226"/>
            <a:ext cx="8987452" cy="5972175"/>
          </a:xfrm>
          <a:prstGeom prst="rect">
            <a:avLst/>
          </a:prstGeom>
        </p:spPr>
      </p:pic>
      <p:cxnSp>
        <p:nvCxnSpPr>
          <p:cNvPr id="5"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Tree>
    <p:extLst>
      <p:ext uri="{BB962C8B-B14F-4D97-AF65-F5344CB8AC3E}">
        <p14:creationId xmlns:p14="http://schemas.microsoft.com/office/powerpoint/2010/main" val="40050254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261938" y="515032"/>
            <a:ext cx="8547416" cy="2781056"/>
          </a:xfrm>
          <a:prstGeom prst="rect">
            <a:avLst/>
          </a:prstGeom>
        </p:spPr>
      </p:pic>
      <p:cxnSp>
        <p:nvCxnSpPr>
          <p:cNvPr id="5" name="直線コネクタ 2"/>
          <p:cNvCxnSpPr/>
          <p:nvPr/>
        </p:nvCxnSpPr>
        <p:spPr>
          <a:xfrm>
            <a:off x="261938" y="49389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spTree>
    <p:extLst>
      <p:ext uri="{BB962C8B-B14F-4D97-AF65-F5344CB8AC3E}">
        <p14:creationId xmlns:p14="http://schemas.microsoft.com/office/powerpoint/2010/main" val="23162150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5016758"/>
          </a:xfrm>
          <a:prstGeom prst="rect">
            <a:avLst/>
          </a:prstGeom>
          <a:noFill/>
          <a:ln w="9525">
            <a:noFill/>
            <a:miter lim="800000"/>
            <a:headEnd/>
            <a:tailEnd/>
          </a:ln>
        </p:spPr>
        <p:txBody>
          <a:bodyPr wrap="square">
            <a:spAutoFit/>
          </a:bodyPr>
          <a:lstStyle/>
          <a:p>
            <a:pPr algn="just">
              <a:lnSpc>
                <a:spcPct val="20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Spectrum of Lithium and Other Hydrogen-like Species:</a:t>
            </a:r>
          </a:p>
          <a:p>
            <a:pPr marL="442913" indent="-442913" algn="just">
              <a:lnSpc>
                <a:spcPct val="200000"/>
              </a:lnSpc>
              <a:buFont typeface="Symbol" panose="05050102010706020507" pitchFamily="18" charset="2"/>
              <a:buChar char="®"/>
              <a:tabLst>
                <a:tab pos="1520825" algn="l"/>
              </a:tabLst>
            </a:pPr>
            <a:r>
              <a:rPr lang="en-IN" sz="2000" dirty="0"/>
              <a:t>The alkali metals, lithium, sodium, potassium, rubidium, and </a:t>
            </a:r>
            <a:r>
              <a:rPr lang="en-IN" sz="2000" dirty="0" err="1"/>
              <a:t>cesium</a:t>
            </a:r>
            <a:r>
              <a:rPr lang="en-IN" sz="2000" dirty="0"/>
              <a:t>, all have a single electron outside a closed-shell core (cf. lithium in Table 5.2). Superficially, then, they resemble hydrogen and this resemblance is augmented by the fact that we can ignore the angular momentum of the core and deal merely with the spin and orbital momentum of the outer electron. Thus we immediately expect the p, d, levels to be split into doublets because of coupling between I and s.</a:t>
            </a:r>
          </a:p>
        </p:txBody>
      </p:sp>
    </p:spTree>
    <p:extLst>
      <p:ext uri="{BB962C8B-B14F-4D97-AF65-F5344CB8AC3E}">
        <p14:creationId xmlns:p14="http://schemas.microsoft.com/office/powerpoint/2010/main" val="2428836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36544"/>
            <a:ext cx="8484942" cy="6247864"/>
          </a:xfrm>
          <a:prstGeom prst="rect">
            <a:avLst/>
          </a:prstGeom>
          <a:noFill/>
          <a:ln w="9525">
            <a:noFill/>
            <a:miter lim="800000"/>
            <a:headEnd/>
            <a:tailEnd/>
          </a:ln>
        </p:spPr>
        <p:txBody>
          <a:bodyPr wrap="square">
            <a:spAutoFit/>
          </a:bodyPr>
          <a:lstStyle/>
          <a:p>
            <a:pPr algn="just">
              <a:lnSpc>
                <a:spcPct val="20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Spectrum of Lithium and Other Hydrogen-like Species:</a:t>
            </a:r>
          </a:p>
          <a:p>
            <a:pPr marL="442913" indent="-442913" algn="just">
              <a:lnSpc>
                <a:spcPct val="200000"/>
              </a:lnSpc>
              <a:buFont typeface="Symbol" panose="05050102010706020507" pitchFamily="18" charset="2"/>
              <a:buChar char="®"/>
              <a:tabLst>
                <a:tab pos="1520825" algn="l"/>
              </a:tabLst>
            </a:pPr>
            <a:r>
              <a:rPr lang="en-IN" sz="2000" dirty="0"/>
              <a:t>The energy levels of lithium are sketched in Fig. 5.8, which figure should be compared with the corresponding Fig. 5.6 for hydrogen. The two diagrams are similar except for the energy difference between the s, p, and d orbitals of given n in the case of lithium, and the fact that, for this metal, the Is state is filled with electrons which do not generally take part in spectroscopic transitions, it requiring much less energy to induce the 2s electron to undergo a transition. Under high energy conditions, however, one or both of the Is electrons may be promoted.</a:t>
            </a:r>
          </a:p>
        </p:txBody>
      </p:sp>
    </p:spTree>
    <p:extLst>
      <p:ext uri="{BB962C8B-B14F-4D97-AF65-F5344CB8AC3E}">
        <p14:creationId xmlns:p14="http://schemas.microsoft.com/office/powerpoint/2010/main" val="14132681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6432530"/>
          </a:xfrm>
          <a:prstGeom prst="rect">
            <a:avLst/>
          </a:prstGeom>
          <a:noFill/>
          <a:ln w="9525">
            <a:noFill/>
            <a:miter lim="800000"/>
            <a:headEnd/>
            <a:tailEnd/>
          </a:ln>
        </p:spPr>
        <p:txBody>
          <a:bodyPr wrap="square">
            <a:spAutoFit/>
          </a:bodyPr>
          <a:lstStyle/>
          <a:p>
            <a:pPr algn="just">
              <a:lnSpc>
                <a:spcPct val="20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Spectrum of Lithium and Other Hydrogen-like Species:</a:t>
            </a:r>
          </a:p>
          <a:p>
            <a:pPr marL="442913" indent="-442913" algn="just">
              <a:lnSpc>
                <a:spcPct val="150000"/>
              </a:lnSpc>
              <a:buFont typeface="Symbol" panose="05050102010706020507" pitchFamily="18" charset="2"/>
              <a:buChar char="®"/>
              <a:tabLst>
                <a:tab pos="1520825" algn="l"/>
              </a:tabLst>
            </a:pPr>
            <a:r>
              <a:rPr lang="en-IN" sz="2000" dirty="0"/>
              <a:t>The selection rules for alkali metals are the same as for hydrogen, that is, </a:t>
            </a:r>
            <a:r>
              <a:rPr lang="el-GR" sz="2000" dirty="0"/>
              <a:t>Δ</a:t>
            </a:r>
            <a:r>
              <a:rPr lang="en-IN" sz="2000" dirty="0"/>
              <a:t>n = anything, </a:t>
            </a:r>
            <a:r>
              <a:rPr lang="el-GR" sz="2000" dirty="0"/>
              <a:t>Δ</a:t>
            </a:r>
            <a:r>
              <a:rPr lang="en-IN" sz="2000" dirty="0"/>
              <a:t>l ± 1, </a:t>
            </a:r>
            <a:r>
              <a:rPr lang="el-GR" sz="2000" dirty="0"/>
              <a:t>Δ</a:t>
            </a:r>
            <a:r>
              <a:rPr lang="en-IN" sz="2000" dirty="0"/>
              <a:t>j = O, ± 1, and so the spectra will be similar also. Thus transitions from the ground state (1s</a:t>
            </a:r>
            <a:r>
              <a:rPr lang="en-IN" sz="2000" baseline="30000" dirty="0"/>
              <a:t>2</a:t>
            </a:r>
            <a:r>
              <a:rPr lang="en-IN" sz="2000" dirty="0"/>
              <a:t> 2s</a:t>
            </a:r>
            <a:r>
              <a:rPr lang="en-IN" sz="2000" baseline="30000" dirty="0"/>
              <a:t>1</a:t>
            </a:r>
            <a:r>
              <a:rPr lang="en-IN" sz="2000" dirty="0"/>
              <a:t>) can occur to p levels: 2S</a:t>
            </a:r>
            <a:r>
              <a:rPr lang="en-IN" sz="2000" baseline="-25000" dirty="0"/>
              <a:t>1/2</a:t>
            </a:r>
            <a:r>
              <a:rPr lang="en-IN" sz="2000" dirty="0"/>
              <a:t>—• nP</a:t>
            </a:r>
            <a:r>
              <a:rPr lang="en-IN" sz="2000" baseline="-25000" dirty="0"/>
              <a:t>1/2</a:t>
            </a:r>
            <a:r>
              <a:rPr lang="en-IN" sz="2000" dirty="0"/>
              <a:t>, and a series of doublets similar to the </a:t>
            </a:r>
            <a:r>
              <a:rPr lang="en-IN" sz="2000" b="1" dirty="0"/>
              <a:t>Lyman series </a:t>
            </a:r>
            <a:r>
              <a:rPr lang="en-IN" sz="2000" dirty="0"/>
              <a:t>will be formed converging to some point from which the ionization potential can be found. From the 2P state, however, two separate series of lines will be seen :</a:t>
            </a:r>
          </a:p>
          <a:p>
            <a:pPr algn="just">
              <a:lnSpc>
                <a:spcPct val="150000"/>
              </a:lnSpc>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r>
              <a:rPr lang="en-IN" sz="2000" dirty="0"/>
              <a:t>And</a:t>
            </a:r>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dirty="0"/>
              <a:t>The former will be doublets, the latter compound doublets, but their frequencies will differ because the s and d orbital energies are no longer the same.</a:t>
            </a:r>
            <a:endParaRPr lang="en-IN" sz="2000" dirty="0"/>
          </a:p>
        </p:txBody>
      </p:sp>
      <p:pic>
        <p:nvPicPr>
          <p:cNvPr id="7" name="Picture 6"/>
          <p:cNvPicPr>
            <a:picLocks noChangeAspect="1"/>
          </p:cNvPicPr>
          <p:nvPr/>
        </p:nvPicPr>
        <p:blipFill>
          <a:blip r:embed="rId2">
            <a:lum bright="-20000" contrast="40000"/>
          </a:blip>
          <a:stretch>
            <a:fillRect/>
          </a:stretch>
        </p:blipFill>
        <p:spPr>
          <a:xfrm>
            <a:off x="3563916" y="4461796"/>
            <a:ext cx="2350108" cy="479476"/>
          </a:xfrm>
          <a:prstGeom prst="rect">
            <a:avLst/>
          </a:prstGeom>
        </p:spPr>
      </p:pic>
      <p:pic>
        <p:nvPicPr>
          <p:cNvPr id="8" name="Picture 7"/>
          <p:cNvPicPr>
            <a:picLocks noChangeAspect="1"/>
          </p:cNvPicPr>
          <p:nvPr/>
        </p:nvPicPr>
        <p:blipFill>
          <a:blip r:embed="rId3">
            <a:lum bright="-20000" contrast="40000"/>
          </a:blip>
          <a:stretch>
            <a:fillRect/>
          </a:stretch>
        </p:blipFill>
        <p:spPr>
          <a:xfrm>
            <a:off x="3678216" y="4998115"/>
            <a:ext cx="2649635" cy="387011"/>
          </a:xfrm>
          <a:prstGeom prst="rect">
            <a:avLst/>
          </a:prstGeom>
        </p:spPr>
      </p:pic>
    </p:spTree>
    <p:extLst>
      <p:ext uri="{BB962C8B-B14F-4D97-AF65-F5344CB8AC3E}">
        <p14:creationId xmlns:p14="http://schemas.microsoft.com/office/powerpoint/2010/main" val="3868938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lum bright="-20000" contrast="40000"/>
          </a:blip>
          <a:stretch>
            <a:fillRect/>
          </a:stretch>
        </p:blipFill>
        <p:spPr>
          <a:xfrm>
            <a:off x="985838" y="575068"/>
            <a:ext cx="6972300" cy="6282933"/>
          </a:xfrm>
          <a:prstGeom prst="rect">
            <a:avLst/>
          </a:prstGeom>
        </p:spPr>
      </p:pic>
    </p:spTree>
    <p:extLst>
      <p:ext uri="{BB962C8B-B14F-4D97-AF65-F5344CB8AC3E}">
        <p14:creationId xmlns:p14="http://schemas.microsoft.com/office/powerpoint/2010/main" val="40275455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6155531"/>
          </a:xfrm>
          <a:prstGeom prst="rect">
            <a:avLst/>
          </a:prstGeom>
          <a:noFill/>
          <a:ln w="9525">
            <a:noFill/>
            <a:miter lim="800000"/>
            <a:headEnd/>
            <a:tailEnd/>
          </a:ln>
        </p:spPr>
        <p:txBody>
          <a:bodyPr wrap="square">
            <a:spAutoFit/>
          </a:bodyPr>
          <a:lstStyle/>
          <a:p>
            <a:pPr algn="just">
              <a:lnSpc>
                <a:spcPct val="20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Angular Momentum of Many Electron Atoms:</a:t>
            </a:r>
          </a:p>
          <a:p>
            <a:pPr marL="442913" indent="-442913" algn="just">
              <a:lnSpc>
                <a:spcPct val="150000"/>
              </a:lnSpc>
              <a:buFont typeface="Symbol" panose="05050102010706020507" pitchFamily="18" charset="2"/>
              <a:buChar char="®"/>
              <a:tabLst>
                <a:tab pos="1520825" algn="l"/>
              </a:tabLst>
            </a:pPr>
            <a:r>
              <a:rPr lang="en-IN" sz="2000" dirty="0"/>
              <a:t>We turn now to consider the contribution of two or more electrons in the outer shell to the total angular momentum of the atom. There are two different ways in which we might sum the orbital and spin momentum of several electrons:</a:t>
            </a:r>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dirty="0"/>
              <a:t>1. </a:t>
            </a:r>
            <a:r>
              <a:rPr lang="en-IN" sz="2000" dirty="0"/>
              <a:t>First sum the orbital contributions, and then the spin contributions separately, finally add the total orbital and total spin contributions to reach the grand total. Symbolically:</a:t>
            </a:r>
          </a:p>
          <a:p>
            <a:pPr marL="442913" indent="-442913" algn="just">
              <a:lnSpc>
                <a:spcPct val="150000"/>
              </a:lnSpc>
              <a:buFont typeface="Symbol" panose="05050102010706020507" pitchFamily="18" charset="2"/>
              <a:buChar char="®"/>
              <a:tabLst>
                <a:tab pos="1520825" algn="l"/>
              </a:tabLst>
            </a:pPr>
            <a:endParaRPr lang="en-IN" sz="2000" dirty="0"/>
          </a:p>
          <a:p>
            <a:pPr marL="442913" indent="-442913" algn="just">
              <a:lnSpc>
                <a:spcPct val="150000"/>
              </a:lnSpc>
              <a:buFont typeface="Symbol" panose="05050102010706020507" pitchFamily="18" charset="2"/>
              <a:buChar char="®"/>
              <a:tabLst>
                <a:tab pos="1520825" algn="l"/>
              </a:tabLst>
            </a:pPr>
            <a:endParaRPr lang="en-IN" sz="800" dirty="0"/>
          </a:p>
          <a:p>
            <a:pPr marL="442913" indent="-442913" algn="just">
              <a:lnSpc>
                <a:spcPct val="150000"/>
              </a:lnSpc>
              <a:buFont typeface="Symbol" panose="05050102010706020507" pitchFamily="18" charset="2"/>
              <a:buChar char="®"/>
              <a:tabLst>
                <a:tab pos="1520825" algn="l"/>
              </a:tabLst>
            </a:pPr>
            <a:r>
              <a:rPr lang="en-US" sz="2000" dirty="0"/>
              <a:t>2. Sum the orbital and spin momenta of each electron separately, finally summing the individual totals to form the grand total:</a:t>
            </a:r>
            <a:endParaRPr lang="en-IN" sz="2000" dirty="0"/>
          </a:p>
          <a:p>
            <a:pPr marL="442913" indent="-442913" algn="just">
              <a:lnSpc>
                <a:spcPct val="150000"/>
              </a:lnSpc>
              <a:buFont typeface="Symbol" panose="05050102010706020507" pitchFamily="18" charset="2"/>
              <a:buChar char="®"/>
              <a:tabLst>
                <a:tab pos="1520825" algn="l"/>
              </a:tabLst>
            </a:pPr>
            <a:endParaRPr lang="en-IN" sz="2000" dirty="0"/>
          </a:p>
        </p:txBody>
      </p:sp>
      <p:pic>
        <p:nvPicPr>
          <p:cNvPr id="9" name="Picture 8"/>
          <p:cNvPicPr>
            <a:picLocks noChangeAspect="1"/>
          </p:cNvPicPr>
          <p:nvPr/>
        </p:nvPicPr>
        <p:blipFill>
          <a:blip r:embed="rId2">
            <a:lum bright="-20000" contrast="40000"/>
          </a:blip>
          <a:stretch>
            <a:fillRect/>
          </a:stretch>
        </p:blipFill>
        <p:spPr>
          <a:xfrm>
            <a:off x="2456064" y="4646462"/>
            <a:ext cx="4195360" cy="413112"/>
          </a:xfrm>
          <a:prstGeom prst="rect">
            <a:avLst/>
          </a:prstGeom>
        </p:spPr>
      </p:pic>
      <p:pic>
        <p:nvPicPr>
          <p:cNvPr id="10" name="Picture 9"/>
          <p:cNvPicPr>
            <a:picLocks noChangeAspect="1"/>
          </p:cNvPicPr>
          <p:nvPr/>
        </p:nvPicPr>
        <p:blipFill>
          <a:blip r:embed="rId3">
            <a:lum bright="-20000" contrast="40000"/>
          </a:blip>
          <a:stretch>
            <a:fillRect/>
          </a:stretch>
        </p:blipFill>
        <p:spPr>
          <a:xfrm>
            <a:off x="3137581" y="6221391"/>
            <a:ext cx="3049418" cy="483582"/>
          </a:xfrm>
          <a:prstGeom prst="rect">
            <a:avLst/>
          </a:prstGeom>
        </p:spPr>
      </p:pic>
    </p:spTree>
    <p:extLst>
      <p:ext uri="{BB962C8B-B14F-4D97-AF65-F5344CB8AC3E}">
        <p14:creationId xmlns:p14="http://schemas.microsoft.com/office/powerpoint/2010/main" val="3621110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テキスト ボックス 6"/>
          <p:cNvSpPr txBox="1">
            <a:spLocks noChangeArrowheads="1"/>
          </p:cNvSpPr>
          <p:nvPr/>
        </p:nvSpPr>
        <p:spPr bwMode="auto">
          <a:xfrm>
            <a:off x="311273" y="522256"/>
            <a:ext cx="8484942" cy="3690177"/>
          </a:xfrm>
          <a:prstGeom prst="rect">
            <a:avLst/>
          </a:prstGeom>
          <a:noFill/>
          <a:ln w="9525">
            <a:noFill/>
            <a:miter lim="800000"/>
            <a:headEnd/>
            <a:tailEnd/>
          </a:ln>
        </p:spPr>
        <p:txBody>
          <a:bodyPr wrap="square">
            <a:spAutoFit/>
          </a:bodyPr>
          <a:lstStyle/>
          <a:p>
            <a:pPr algn="just">
              <a:lnSpc>
                <a:spcPct val="200000"/>
              </a:lnSpc>
              <a:tabLst>
                <a:tab pos="1520825" algn="l"/>
              </a:tabLst>
            </a:pPr>
            <a:r>
              <a:rPr lang="en-US" altLang="ja-JP" sz="2000" dirty="0">
                <a:latin typeface="Arial" pitchFamily="34" charset="0"/>
                <a:cs typeface="Arial" pitchFamily="34" charset="0"/>
              </a:rPr>
              <a:t>■ </a:t>
            </a:r>
            <a:r>
              <a:rPr lang="en-IN" sz="2000" b="1" dirty="0">
                <a:solidFill>
                  <a:srgbClr val="095BFF"/>
                </a:solidFill>
                <a:latin typeface="Arial" panose="020B0604020202020204" pitchFamily="34" charset="0"/>
                <a:cs typeface="Arial" panose="020B0604020202020204" pitchFamily="34" charset="0"/>
              </a:rPr>
              <a:t>The Angular Momentum of Many Electron Atoms:</a:t>
            </a:r>
          </a:p>
          <a:p>
            <a:pPr marL="442913" indent="-442913" algn="just">
              <a:lnSpc>
                <a:spcPct val="200000"/>
              </a:lnSpc>
              <a:buFont typeface="Symbol" panose="05050102010706020507" pitchFamily="18" charset="2"/>
              <a:buChar char="®"/>
              <a:tabLst>
                <a:tab pos="1520825" algn="l"/>
              </a:tabLst>
            </a:pPr>
            <a:r>
              <a:rPr lang="en-US" sz="2000" dirty="0"/>
              <a:t>The first method, known as Russell—Saunders coupling, gives results in accordance with the spectra of small and medium-sized atoms, while the second (called j, j coupling, since individual j's are summed) applies better to large atoms.</a:t>
            </a:r>
          </a:p>
          <a:p>
            <a:pPr algn="just">
              <a:lnSpc>
                <a:spcPct val="200000"/>
              </a:lnSpc>
              <a:tabLst>
                <a:tab pos="1520825" algn="l"/>
              </a:tabLst>
            </a:pPr>
            <a:endParaRPr lang="en-IN" sz="2000" dirty="0"/>
          </a:p>
        </p:txBody>
      </p:sp>
    </p:spTree>
    <p:extLst>
      <p:ext uri="{BB962C8B-B14F-4D97-AF65-F5344CB8AC3E}">
        <p14:creationId xmlns:p14="http://schemas.microsoft.com/office/powerpoint/2010/main" val="3611355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lum bright="-20000" contrast="40000"/>
          </a:blip>
          <a:stretch>
            <a:fillRect/>
          </a:stretch>
        </p:blipFill>
        <p:spPr>
          <a:xfrm>
            <a:off x="261938" y="545948"/>
            <a:ext cx="8684033" cy="6154891"/>
          </a:xfrm>
          <a:prstGeom prst="rect">
            <a:avLst/>
          </a:prstGeom>
        </p:spPr>
      </p:pic>
    </p:spTree>
    <p:extLst>
      <p:ext uri="{BB962C8B-B14F-4D97-AF65-F5344CB8AC3E}">
        <p14:creationId xmlns:p14="http://schemas.microsoft.com/office/powerpoint/2010/main" val="4507490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61938" y="495069"/>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lum bright="-20000" contrast="40000"/>
          </a:blip>
          <a:stretch>
            <a:fillRect/>
          </a:stretch>
        </p:blipFill>
        <p:spPr>
          <a:xfrm>
            <a:off x="81756" y="1358713"/>
            <a:ext cx="8964130" cy="4413432"/>
          </a:xfrm>
          <a:prstGeom prst="rect">
            <a:avLst/>
          </a:prstGeom>
        </p:spPr>
      </p:pic>
    </p:spTree>
    <p:extLst>
      <p:ext uri="{BB962C8B-B14F-4D97-AF65-F5344CB8AC3E}">
        <p14:creationId xmlns:p14="http://schemas.microsoft.com/office/powerpoint/2010/main" val="26157743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2">
            <a:lum bright="-20000" contrast="40000"/>
          </a:blip>
          <a:stretch>
            <a:fillRect/>
          </a:stretch>
        </p:blipFill>
        <p:spPr>
          <a:xfrm>
            <a:off x="387333" y="585674"/>
            <a:ext cx="8269201" cy="5372213"/>
          </a:xfrm>
          <a:prstGeom prst="rect">
            <a:avLst/>
          </a:prstGeom>
        </p:spPr>
      </p:pic>
    </p:spTree>
    <p:extLst>
      <p:ext uri="{BB962C8B-B14F-4D97-AF65-F5344CB8AC3E}">
        <p14:creationId xmlns:p14="http://schemas.microsoft.com/office/powerpoint/2010/main" val="290074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lum bright="-20000" contrast="40000"/>
          </a:blip>
          <a:stretch>
            <a:fillRect/>
          </a:stretch>
        </p:blipFill>
        <p:spPr>
          <a:xfrm>
            <a:off x="442193" y="501343"/>
            <a:ext cx="7959019" cy="2827877"/>
          </a:xfrm>
          <a:prstGeom prst="rect">
            <a:avLst/>
          </a:prstGeom>
        </p:spPr>
      </p:pic>
      <p:pic>
        <p:nvPicPr>
          <p:cNvPr id="7" name="Picture 6"/>
          <p:cNvPicPr>
            <a:picLocks noChangeAspect="1"/>
          </p:cNvPicPr>
          <p:nvPr/>
        </p:nvPicPr>
        <p:blipFill>
          <a:blip r:embed="rId3">
            <a:lum bright="-20000" contrast="40000"/>
          </a:blip>
          <a:stretch>
            <a:fillRect/>
          </a:stretch>
        </p:blipFill>
        <p:spPr>
          <a:xfrm>
            <a:off x="287529" y="3143924"/>
            <a:ext cx="8503853" cy="1902775"/>
          </a:xfrm>
          <a:prstGeom prst="rect">
            <a:avLst/>
          </a:prstGeom>
        </p:spPr>
      </p:pic>
    </p:spTree>
    <p:extLst>
      <p:ext uri="{BB962C8B-B14F-4D97-AF65-F5344CB8AC3E}">
        <p14:creationId xmlns:p14="http://schemas.microsoft.com/office/powerpoint/2010/main" val="489290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366381" y="472767"/>
            <a:ext cx="8346149" cy="1246957"/>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lum bright="-20000" contrast="40000"/>
          </a:blip>
          <a:stretch>
            <a:fillRect/>
          </a:stretch>
        </p:blipFill>
        <p:spPr>
          <a:xfrm>
            <a:off x="366381" y="1619710"/>
            <a:ext cx="8458485" cy="3338051"/>
          </a:xfrm>
          <a:prstGeom prst="rect">
            <a:avLst/>
          </a:prstGeom>
        </p:spPr>
      </p:pic>
      <p:pic>
        <p:nvPicPr>
          <p:cNvPr id="8" name="Picture 7"/>
          <p:cNvPicPr>
            <a:picLocks noChangeAspect="1"/>
          </p:cNvPicPr>
          <p:nvPr/>
        </p:nvPicPr>
        <p:blipFill>
          <a:blip r:embed="rId4">
            <a:lum bright="-20000" contrast="40000"/>
          </a:blip>
          <a:stretch>
            <a:fillRect/>
          </a:stretch>
        </p:blipFill>
        <p:spPr>
          <a:xfrm>
            <a:off x="1824306" y="4957761"/>
            <a:ext cx="5768159" cy="1773084"/>
          </a:xfrm>
          <a:prstGeom prst="rect">
            <a:avLst/>
          </a:prstGeom>
        </p:spPr>
      </p:pic>
    </p:spTree>
    <p:extLst>
      <p:ext uri="{BB962C8B-B14F-4D97-AF65-F5344CB8AC3E}">
        <p14:creationId xmlns:p14="http://schemas.microsoft.com/office/powerpoint/2010/main" val="728102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361210" y="502702"/>
            <a:ext cx="8470052" cy="1807528"/>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14287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lum bright="-20000" contrast="40000"/>
          </a:blip>
          <a:stretch>
            <a:fillRect/>
          </a:stretch>
        </p:blipFill>
        <p:spPr>
          <a:xfrm>
            <a:off x="434836" y="501343"/>
            <a:ext cx="8237816" cy="5485120"/>
          </a:xfrm>
          <a:prstGeom prst="rect">
            <a:avLst/>
          </a:prstGeom>
        </p:spPr>
      </p:pic>
    </p:spTree>
    <p:extLst>
      <p:ext uri="{BB962C8B-B14F-4D97-AF65-F5344CB8AC3E}">
        <p14:creationId xmlns:p14="http://schemas.microsoft.com/office/powerpoint/2010/main" val="19887387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lum bright="-20000" contrast="40000"/>
          </a:blip>
          <a:stretch>
            <a:fillRect/>
          </a:stretch>
        </p:blipFill>
        <p:spPr>
          <a:xfrm>
            <a:off x="247650" y="535973"/>
            <a:ext cx="8449307" cy="3621685"/>
          </a:xfrm>
          <a:prstGeom prst="rect">
            <a:avLst/>
          </a:prstGeom>
        </p:spPr>
      </p:pic>
      <p:pic>
        <p:nvPicPr>
          <p:cNvPr id="9" name="Picture 8"/>
          <p:cNvPicPr>
            <a:picLocks noChangeAspect="1"/>
          </p:cNvPicPr>
          <p:nvPr/>
        </p:nvPicPr>
        <p:blipFill>
          <a:blip r:embed="rId3">
            <a:lum bright="-20000" contrast="40000"/>
          </a:blip>
          <a:stretch>
            <a:fillRect/>
          </a:stretch>
        </p:blipFill>
        <p:spPr>
          <a:xfrm>
            <a:off x="247650" y="4326408"/>
            <a:ext cx="8301756" cy="2531592"/>
          </a:xfrm>
          <a:prstGeom prst="rect">
            <a:avLst/>
          </a:prstGeom>
        </p:spPr>
      </p:pic>
    </p:spTree>
    <p:extLst>
      <p:ext uri="{BB962C8B-B14F-4D97-AF65-F5344CB8AC3E}">
        <p14:creationId xmlns:p14="http://schemas.microsoft.com/office/powerpoint/2010/main" val="41693026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lum bright="-20000" contrast="40000"/>
          </a:blip>
          <a:stretch>
            <a:fillRect/>
          </a:stretch>
        </p:blipFill>
        <p:spPr>
          <a:xfrm>
            <a:off x="491055" y="506582"/>
            <a:ext cx="8088693" cy="1150763"/>
          </a:xfrm>
          <a:prstGeom prst="rect">
            <a:avLst/>
          </a:prstGeom>
        </p:spPr>
      </p:pic>
      <p:pic>
        <p:nvPicPr>
          <p:cNvPr id="7" name="Picture 6"/>
          <p:cNvPicPr>
            <a:picLocks noChangeAspect="1"/>
          </p:cNvPicPr>
          <p:nvPr/>
        </p:nvPicPr>
        <p:blipFill>
          <a:blip r:embed="rId3">
            <a:lum bright="-20000" contrast="40000"/>
          </a:blip>
          <a:stretch>
            <a:fillRect/>
          </a:stretch>
        </p:blipFill>
        <p:spPr>
          <a:xfrm>
            <a:off x="362468" y="1691160"/>
            <a:ext cx="8337030" cy="2261485"/>
          </a:xfrm>
          <a:prstGeom prst="rect">
            <a:avLst/>
          </a:prstGeom>
        </p:spPr>
      </p:pic>
    </p:spTree>
    <p:extLst>
      <p:ext uri="{BB962C8B-B14F-4D97-AF65-F5344CB8AC3E}">
        <p14:creationId xmlns:p14="http://schemas.microsoft.com/office/powerpoint/2010/main" val="11288747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5"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lum bright="-20000" contrast="40000"/>
          </a:blip>
          <a:stretch>
            <a:fillRect/>
          </a:stretch>
        </p:blipFill>
        <p:spPr>
          <a:xfrm>
            <a:off x="339645" y="501343"/>
            <a:ext cx="8491617" cy="5437576"/>
          </a:xfrm>
          <a:prstGeom prst="rect">
            <a:avLst/>
          </a:prstGeom>
        </p:spPr>
      </p:pic>
    </p:spTree>
    <p:extLst>
      <p:ext uri="{BB962C8B-B14F-4D97-AF65-F5344CB8AC3E}">
        <p14:creationId xmlns:p14="http://schemas.microsoft.com/office/powerpoint/2010/main" val="1023347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399914" y="472767"/>
            <a:ext cx="8883908" cy="6385233"/>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1854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0" y="438013"/>
            <a:ext cx="9144000" cy="6419987"/>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767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322478" y="586831"/>
            <a:ext cx="8492910" cy="6271169"/>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30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20000" contrast="40000"/>
          </a:blip>
          <a:stretch>
            <a:fillRect/>
          </a:stretch>
        </p:blipFill>
        <p:spPr>
          <a:xfrm>
            <a:off x="136740" y="705422"/>
            <a:ext cx="8821522" cy="5995415"/>
          </a:xfrm>
          <a:prstGeom prst="rect">
            <a:avLst/>
          </a:prstGeom>
        </p:spPr>
      </p:pic>
      <p:sp>
        <p:nvSpPr>
          <p:cNvPr id="5" name="テキスト ボックス 3"/>
          <p:cNvSpPr txBox="1">
            <a:spLocks noChangeArrowheads="1"/>
          </p:cNvSpPr>
          <p:nvPr/>
        </p:nvSpPr>
        <p:spPr bwMode="auto">
          <a:xfrm>
            <a:off x="876300" y="10805"/>
            <a:ext cx="7354888" cy="461962"/>
          </a:xfrm>
          <a:prstGeom prst="rect">
            <a:avLst/>
          </a:prstGeom>
          <a:noFill/>
          <a:ln w="9525">
            <a:noFill/>
            <a:miter lim="800000"/>
            <a:headEnd/>
            <a:tailEnd/>
          </a:ln>
        </p:spPr>
        <p:txBody>
          <a:bodyPr>
            <a:spAutoFit/>
          </a:bodyPr>
          <a:lstStyle/>
          <a:p>
            <a:pPr algn="ctr"/>
            <a:r>
              <a:rPr lang="en-IN" altLang="ja-JP" sz="2400" b="1" dirty="0">
                <a:cs typeface="Arial" charset="0"/>
              </a:rPr>
              <a:t>Electronic Spectroscopy of Atoms</a:t>
            </a:r>
            <a:endParaRPr lang="en-US" altLang="ja-JP" sz="2400" b="1" dirty="0">
              <a:cs typeface="Arial" charset="0"/>
            </a:endParaRPr>
          </a:p>
        </p:txBody>
      </p:sp>
      <p:cxnSp>
        <p:nvCxnSpPr>
          <p:cNvPr id="6" name="直線コネクタ 2"/>
          <p:cNvCxnSpPr/>
          <p:nvPr/>
        </p:nvCxnSpPr>
        <p:spPr>
          <a:xfrm>
            <a:off x="247650" y="453486"/>
            <a:ext cx="85836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58360"/>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17380</TotalTime>
  <Words>2464</Words>
  <Application>Microsoft Office PowerPoint</Application>
  <PresentationFormat>On-screen Show (4:3)</PresentationFormat>
  <Paragraphs>150</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Symbol</vt:lpstr>
      <vt:lpstr>Office テーマ</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杉浦健一</dc:creator>
  <cp:lastModifiedBy>USER</cp:lastModifiedBy>
  <cp:revision>1005</cp:revision>
  <cp:lastPrinted>2022-07-28T03:51:52Z</cp:lastPrinted>
  <dcterms:created xsi:type="dcterms:W3CDTF">2018-03-16T00:23:28Z</dcterms:created>
  <dcterms:modified xsi:type="dcterms:W3CDTF">2025-07-15T06:36:40Z</dcterms:modified>
</cp:coreProperties>
</file>