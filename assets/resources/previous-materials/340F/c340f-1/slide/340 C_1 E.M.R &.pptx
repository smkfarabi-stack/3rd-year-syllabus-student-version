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6" r:id="rId2"/>
    <p:sldId id="297" r:id="rId3"/>
    <p:sldId id="298" r:id="rId4"/>
    <p:sldId id="299" r:id="rId5"/>
    <p:sldId id="300" r:id="rId6"/>
    <p:sldId id="301" r:id="rId7"/>
    <p:sldId id="302" r:id="rId8"/>
    <p:sldId id="303" r:id="rId9"/>
    <p:sldId id="310" r:id="rId10"/>
    <p:sldId id="311" r:id="rId11"/>
    <p:sldId id="304" r:id="rId12"/>
    <p:sldId id="305" r:id="rId13"/>
    <p:sldId id="306" r:id="rId14"/>
    <p:sldId id="307" r:id="rId15"/>
    <p:sldId id="312" r:id="rId16"/>
    <p:sldId id="308" r:id="rId17"/>
    <p:sldId id="309" r:id="rId18"/>
    <p:sldId id="258" r:id="rId19"/>
    <p:sldId id="263" r:id="rId20"/>
    <p:sldId id="259" r:id="rId21"/>
    <p:sldId id="260" r:id="rId22"/>
    <p:sldId id="262" r:id="rId23"/>
    <p:sldId id="264" r:id="rId24"/>
    <p:sldId id="265" r:id="rId25"/>
    <p:sldId id="281" r:id="rId26"/>
    <p:sldId id="313" r:id="rId27"/>
    <p:sldId id="266" r:id="rId28"/>
    <p:sldId id="267" r:id="rId29"/>
    <p:sldId id="282" r:id="rId30"/>
    <p:sldId id="283" r:id="rId31"/>
    <p:sldId id="314" r:id="rId32"/>
    <p:sldId id="284" r:id="rId33"/>
    <p:sldId id="316" r:id="rId34"/>
    <p:sldId id="315" r:id="rId35"/>
    <p:sldId id="317" r:id="rId36"/>
    <p:sldId id="318" r:id="rId37"/>
    <p:sldId id="292" r:id="rId38"/>
    <p:sldId id="319" r:id="rId39"/>
    <p:sldId id="320" r:id="rId40"/>
    <p:sldId id="321" r:id="rId41"/>
    <p:sldId id="322" r:id="rId42"/>
    <p:sldId id="323" r:id="rId43"/>
    <p:sldId id="325" r:id="rId44"/>
    <p:sldId id="326" r:id="rId45"/>
    <p:sldId id="327" r:id="rId46"/>
    <p:sldId id="328" r:id="rId47"/>
    <p:sldId id="329" r:id="rId48"/>
    <p:sldId id="330" r:id="rId49"/>
    <p:sldId id="331" r:id="rId50"/>
    <p:sldId id="332" r:id="rId51"/>
    <p:sldId id="333" r:id="rId52"/>
  </p:sldIdLst>
  <p:sldSz cx="9144000" cy="6858000" type="screen4x3"/>
  <p:notesSz cx="6735763" cy="9866313"/>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15"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9900"/>
    <a:srgbClr val="095BFF"/>
    <a:srgbClr val="FF0000"/>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24" autoAdjust="0"/>
    <p:restoredTop sz="94660"/>
  </p:normalViewPr>
  <p:slideViewPr>
    <p:cSldViewPr snapToGrid="0">
      <p:cViewPr varScale="1">
        <p:scale>
          <a:sx n="90" d="100"/>
          <a:sy n="90" d="100"/>
        </p:scale>
        <p:origin x="630" y="84"/>
      </p:cViewPr>
      <p:guideLst>
        <p:guide orient="horz" pos="2115"/>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lvl1pPr>
              <a:defRPr/>
            </a:lvl1pPr>
          </a:lstStyle>
          <a:p>
            <a:pPr>
              <a:defRPr/>
            </a:pPr>
            <a:fld id="{F7E1AA3C-2168-4568-9C43-F4A5E5C3C4A8}" type="datetimeFigureOut">
              <a:rPr lang="ja-JP" altLang="en-US"/>
              <a:pPr>
                <a:defRPr/>
              </a:pPr>
              <a:t>2025/2/26</a:t>
            </a:fld>
            <a:endParaRPr lang="ja-JP" altLang="en-US"/>
          </a:p>
        </p:txBody>
      </p:sp>
      <p:sp>
        <p:nvSpPr>
          <p:cNvPr id="5" name="Footer Placeholder 4"/>
          <p:cNvSpPr>
            <a:spLocks noGrp="1"/>
          </p:cNvSpPr>
          <p:nvPr>
            <p:ph type="ftr" sz="quarter" idx="11"/>
          </p:nvPr>
        </p:nvSpPr>
        <p:spPr/>
        <p:txBody>
          <a:bodyPr/>
          <a:lstStyle>
            <a:lvl1pPr>
              <a:defRPr/>
            </a:lvl1pPr>
          </a:lstStyle>
          <a:p>
            <a:pPr>
              <a:defRPr/>
            </a:pPr>
            <a:endParaRPr lang="ja-JP" altLang="en-US"/>
          </a:p>
        </p:txBody>
      </p:sp>
      <p:sp>
        <p:nvSpPr>
          <p:cNvPr id="6" name="Slide Number Placeholder 5"/>
          <p:cNvSpPr>
            <a:spLocks noGrp="1"/>
          </p:cNvSpPr>
          <p:nvPr>
            <p:ph type="sldNum" sz="quarter" idx="12"/>
          </p:nvPr>
        </p:nvSpPr>
        <p:spPr/>
        <p:txBody>
          <a:bodyPr/>
          <a:lstStyle>
            <a:lvl1pPr>
              <a:defRPr/>
            </a:lvl1pPr>
          </a:lstStyle>
          <a:p>
            <a:pPr>
              <a:defRPr/>
            </a:pPr>
            <a:fld id="{1974E3E5-7E6F-4DF7-9B19-1EE77C0FE3E1}" type="slidenum">
              <a:rPr lang="ja-JP" altLang="en-US"/>
              <a:pPr>
                <a:defRPr/>
              </a:pPr>
              <a: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vl1pPr>
          </a:lstStyle>
          <a:p>
            <a:pPr>
              <a:defRPr/>
            </a:pPr>
            <a:fld id="{B536479C-ED03-4EF5-BDEE-EAC41DA922F7}" type="datetimeFigureOut">
              <a:rPr lang="ja-JP" altLang="en-US"/>
              <a:pPr>
                <a:defRPr/>
              </a:pPr>
              <a:t>2025/2/26</a:t>
            </a:fld>
            <a:endParaRPr lang="ja-JP" altLang="en-US"/>
          </a:p>
        </p:txBody>
      </p:sp>
      <p:sp>
        <p:nvSpPr>
          <p:cNvPr id="5" name="Footer Placeholder 4"/>
          <p:cNvSpPr>
            <a:spLocks noGrp="1"/>
          </p:cNvSpPr>
          <p:nvPr>
            <p:ph type="ftr" sz="quarter" idx="11"/>
          </p:nvPr>
        </p:nvSpPr>
        <p:spPr/>
        <p:txBody>
          <a:bodyPr/>
          <a:lstStyle>
            <a:lvl1pPr>
              <a:defRPr/>
            </a:lvl1pPr>
          </a:lstStyle>
          <a:p>
            <a:pPr>
              <a:defRPr/>
            </a:pPr>
            <a:endParaRPr lang="ja-JP" altLang="en-US"/>
          </a:p>
        </p:txBody>
      </p:sp>
      <p:sp>
        <p:nvSpPr>
          <p:cNvPr id="6" name="Slide Number Placeholder 5"/>
          <p:cNvSpPr>
            <a:spLocks noGrp="1"/>
          </p:cNvSpPr>
          <p:nvPr>
            <p:ph type="sldNum" sz="quarter" idx="12"/>
          </p:nvPr>
        </p:nvSpPr>
        <p:spPr/>
        <p:txBody>
          <a:bodyPr/>
          <a:lstStyle>
            <a:lvl1pPr>
              <a:defRPr/>
            </a:lvl1pPr>
          </a:lstStyle>
          <a:p>
            <a:pPr>
              <a:defRPr/>
            </a:pPr>
            <a:fld id="{155D871C-9074-4659-B0AA-FEC1F7788B2B}" type="slidenum">
              <a:rPr lang="ja-JP" altLang="en-US"/>
              <a:pPr>
                <a:def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lvl1pPr>
              <a:defRPr/>
            </a:lvl1pPr>
          </a:lstStyle>
          <a:p>
            <a:pPr>
              <a:defRPr/>
            </a:pPr>
            <a:fld id="{EBD377A3-0141-47E9-98DB-7276B85BF7EE}" type="datetimeFigureOut">
              <a:rPr lang="ja-JP" altLang="en-US"/>
              <a:pPr>
                <a:defRPr/>
              </a:pPr>
              <a:t>2025/2/26</a:t>
            </a:fld>
            <a:endParaRPr lang="ja-JP" altLang="en-US"/>
          </a:p>
        </p:txBody>
      </p:sp>
      <p:sp>
        <p:nvSpPr>
          <p:cNvPr id="5" name="Footer Placeholder 4"/>
          <p:cNvSpPr>
            <a:spLocks noGrp="1"/>
          </p:cNvSpPr>
          <p:nvPr>
            <p:ph type="ftr" sz="quarter" idx="11"/>
          </p:nvPr>
        </p:nvSpPr>
        <p:spPr/>
        <p:txBody>
          <a:bodyPr/>
          <a:lstStyle>
            <a:lvl1pPr>
              <a:defRPr/>
            </a:lvl1pPr>
          </a:lstStyle>
          <a:p>
            <a:pPr>
              <a:defRPr/>
            </a:pPr>
            <a:endParaRPr lang="ja-JP" altLang="en-US"/>
          </a:p>
        </p:txBody>
      </p:sp>
      <p:sp>
        <p:nvSpPr>
          <p:cNvPr id="6" name="Slide Number Placeholder 5"/>
          <p:cNvSpPr>
            <a:spLocks noGrp="1"/>
          </p:cNvSpPr>
          <p:nvPr>
            <p:ph type="sldNum" sz="quarter" idx="12"/>
          </p:nvPr>
        </p:nvSpPr>
        <p:spPr/>
        <p:txBody>
          <a:bodyPr/>
          <a:lstStyle>
            <a:lvl1pPr>
              <a:defRPr/>
            </a:lvl1pPr>
          </a:lstStyle>
          <a:p>
            <a:pPr>
              <a:defRPr/>
            </a:pPr>
            <a:fld id="{036CECF7-76B3-4ECE-B25F-9C4325BEB67F}" type="slidenum">
              <a:rPr lang="ja-JP" altLang="en-US"/>
              <a:pPr>
                <a:defRPr/>
              </a:pPr>
              <a: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3"/>
          <p:cNvSpPr>
            <a:spLocks noGrp="1"/>
          </p:cNvSpPr>
          <p:nvPr>
            <p:ph type="dt" sz="half" idx="10"/>
          </p:nvPr>
        </p:nvSpPr>
        <p:spPr/>
        <p:txBody>
          <a:bodyPr/>
          <a:lstStyle>
            <a:lvl1pPr>
              <a:defRPr/>
            </a:lvl1pPr>
          </a:lstStyle>
          <a:p>
            <a:pPr>
              <a:defRPr/>
            </a:pPr>
            <a:fld id="{0FA77B22-2B6C-420F-A5FE-0108D5AA7C04}" type="datetimeFigureOut">
              <a:rPr lang="ja-JP" altLang="en-US"/>
              <a:pPr>
                <a:defRPr/>
              </a:pPr>
              <a:t>2025/2/26</a:t>
            </a:fld>
            <a:endParaRPr lang="ja-JP" altLang="en-US"/>
          </a:p>
        </p:txBody>
      </p:sp>
      <p:sp>
        <p:nvSpPr>
          <p:cNvPr id="6" name="Footer Placeholder 4"/>
          <p:cNvSpPr>
            <a:spLocks noGrp="1"/>
          </p:cNvSpPr>
          <p:nvPr>
            <p:ph type="ftr" sz="quarter" idx="11"/>
          </p:nvPr>
        </p:nvSpPr>
        <p:spPr/>
        <p:txBody>
          <a:bodyPr/>
          <a:lstStyle>
            <a:lvl1pPr>
              <a:defRPr/>
            </a:lvl1pPr>
          </a:lstStyle>
          <a:p>
            <a:pPr>
              <a:defRPr/>
            </a:pPr>
            <a:endParaRPr lang="ja-JP" altLang="en-US"/>
          </a:p>
        </p:txBody>
      </p:sp>
      <p:sp>
        <p:nvSpPr>
          <p:cNvPr id="7" name="Slide Number Placeholder 5"/>
          <p:cNvSpPr>
            <a:spLocks noGrp="1"/>
          </p:cNvSpPr>
          <p:nvPr>
            <p:ph type="sldNum" sz="quarter" idx="12"/>
          </p:nvPr>
        </p:nvSpPr>
        <p:spPr/>
        <p:txBody>
          <a:bodyPr/>
          <a:lstStyle>
            <a:lvl1pPr>
              <a:defRPr/>
            </a:lvl1pPr>
          </a:lstStyle>
          <a:p>
            <a:pPr>
              <a:defRPr/>
            </a:pPr>
            <a:fld id="{C631AB4E-B25E-4D86-8CE8-2040B664B7D5}" type="slidenum">
              <a:rPr lang="ja-JP" altLang="en-US"/>
              <a:pPr>
                <a:def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3"/>
          <p:cNvSpPr>
            <a:spLocks noGrp="1"/>
          </p:cNvSpPr>
          <p:nvPr>
            <p:ph type="dt" sz="half" idx="10"/>
          </p:nvPr>
        </p:nvSpPr>
        <p:spPr/>
        <p:txBody>
          <a:bodyPr/>
          <a:lstStyle>
            <a:lvl1pPr>
              <a:defRPr/>
            </a:lvl1pPr>
          </a:lstStyle>
          <a:p>
            <a:pPr>
              <a:defRPr/>
            </a:pPr>
            <a:fld id="{BB0016B1-AF1E-4887-8326-5B404B6EEDFA}" type="datetimeFigureOut">
              <a:rPr lang="ja-JP" altLang="en-US"/>
              <a:pPr>
                <a:defRPr/>
              </a:pPr>
              <a:t>2025/2/26</a:t>
            </a:fld>
            <a:endParaRPr lang="ja-JP" altLang="en-US"/>
          </a:p>
        </p:txBody>
      </p:sp>
      <p:sp>
        <p:nvSpPr>
          <p:cNvPr id="8" name="Footer Placeholder 4"/>
          <p:cNvSpPr>
            <a:spLocks noGrp="1"/>
          </p:cNvSpPr>
          <p:nvPr>
            <p:ph type="ftr" sz="quarter" idx="11"/>
          </p:nvPr>
        </p:nvSpPr>
        <p:spPr/>
        <p:txBody>
          <a:bodyPr/>
          <a:lstStyle>
            <a:lvl1pPr>
              <a:defRPr/>
            </a:lvl1pPr>
          </a:lstStyle>
          <a:p>
            <a:pPr>
              <a:defRPr/>
            </a:pPr>
            <a:endParaRPr lang="ja-JP" altLang="en-US"/>
          </a:p>
        </p:txBody>
      </p:sp>
      <p:sp>
        <p:nvSpPr>
          <p:cNvPr id="9" name="Slide Number Placeholder 5"/>
          <p:cNvSpPr>
            <a:spLocks noGrp="1"/>
          </p:cNvSpPr>
          <p:nvPr>
            <p:ph type="sldNum" sz="quarter" idx="12"/>
          </p:nvPr>
        </p:nvSpPr>
        <p:spPr/>
        <p:txBody>
          <a:bodyPr/>
          <a:lstStyle>
            <a:lvl1pPr>
              <a:defRPr/>
            </a:lvl1pPr>
          </a:lstStyle>
          <a:p>
            <a:pPr>
              <a:defRPr/>
            </a:pPr>
            <a:fld id="{EF595BED-B940-455D-AB94-20B82F3E66AD}" type="slidenum">
              <a:rPr lang="ja-JP" altLang="en-US"/>
              <a:pPr>
                <a:def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3"/>
          <p:cNvSpPr>
            <a:spLocks noGrp="1"/>
          </p:cNvSpPr>
          <p:nvPr>
            <p:ph type="dt" sz="half" idx="10"/>
          </p:nvPr>
        </p:nvSpPr>
        <p:spPr/>
        <p:txBody>
          <a:bodyPr/>
          <a:lstStyle>
            <a:lvl1pPr>
              <a:defRPr/>
            </a:lvl1pPr>
          </a:lstStyle>
          <a:p>
            <a:pPr>
              <a:defRPr/>
            </a:pPr>
            <a:fld id="{0AA7FB61-7843-4C15-AF63-6F701DCA245D}" type="datetimeFigureOut">
              <a:rPr lang="ja-JP" altLang="en-US"/>
              <a:pPr>
                <a:defRPr/>
              </a:pPr>
              <a:t>2025/2/26</a:t>
            </a:fld>
            <a:endParaRPr lang="ja-JP" altLang="en-US"/>
          </a:p>
        </p:txBody>
      </p:sp>
      <p:sp>
        <p:nvSpPr>
          <p:cNvPr id="4" name="Footer Placeholder 4"/>
          <p:cNvSpPr>
            <a:spLocks noGrp="1"/>
          </p:cNvSpPr>
          <p:nvPr>
            <p:ph type="ftr" sz="quarter" idx="11"/>
          </p:nvPr>
        </p:nvSpPr>
        <p:spPr/>
        <p:txBody>
          <a:bodyPr/>
          <a:lstStyle>
            <a:lvl1pPr>
              <a:defRPr/>
            </a:lvl1pPr>
          </a:lstStyle>
          <a:p>
            <a:pPr>
              <a:defRPr/>
            </a:pPr>
            <a:endParaRPr lang="ja-JP" altLang="en-US"/>
          </a:p>
        </p:txBody>
      </p:sp>
      <p:sp>
        <p:nvSpPr>
          <p:cNvPr id="5" name="Slide Number Placeholder 5"/>
          <p:cNvSpPr>
            <a:spLocks noGrp="1"/>
          </p:cNvSpPr>
          <p:nvPr>
            <p:ph type="sldNum" sz="quarter" idx="12"/>
          </p:nvPr>
        </p:nvSpPr>
        <p:spPr/>
        <p:txBody>
          <a:bodyPr/>
          <a:lstStyle>
            <a:lvl1pPr>
              <a:defRPr/>
            </a:lvl1pPr>
          </a:lstStyle>
          <a:p>
            <a:pPr>
              <a:defRPr/>
            </a:pPr>
            <a:fld id="{163D33F6-272A-4F50-8AF6-D55352A3E811}" type="slidenum">
              <a:rPr lang="ja-JP" altLang="en-US"/>
              <a:pPr>
                <a:defRPr/>
              </a:pPr>
              <a: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7B74B64-CD9B-4AE7-AF19-6679F54D6CBA}" type="datetimeFigureOut">
              <a:rPr lang="ja-JP" altLang="en-US"/>
              <a:pPr>
                <a:defRPr/>
              </a:pPr>
              <a:t>2025/2/26</a:t>
            </a:fld>
            <a:endParaRPr lang="ja-JP" altLang="en-US"/>
          </a:p>
        </p:txBody>
      </p:sp>
      <p:sp>
        <p:nvSpPr>
          <p:cNvPr id="3" name="Footer Placeholder 4"/>
          <p:cNvSpPr>
            <a:spLocks noGrp="1"/>
          </p:cNvSpPr>
          <p:nvPr>
            <p:ph type="ftr" sz="quarter" idx="11"/>
          </p:nvPr>
        </p:nvSpPr>
        <p:spPr/>
        <p:txBody>
          <a:bodyPr/>
          <a:lstStyle>
            <a:lvl1pPr>
              <a:defRPr/>
            </a:lvl1pPr>
          </a:lstStyle>
          <a:p>
            <a:pPr>
              <a:defRPr/>
            </a:pPr>
            <a:endParaRPr lang="ja-JP" altLang="en-US"/>
          </a:p>
        </p:txBody>
      </p:sp>
      <p:sp>
        <p:nvSpPr>
          <p:cNvPr id="4" name="Slide Number Placeholder 5"/>
          <p:cNvSpPr>
            <a:spLocks noGrp="1"/>
          </p:cNvSpPr>
          <p:nvPr>
            <p:ph type="sldNum" sz="quarter" idx="12"/>
          </p:nvPr>
        </p:nvSpPr>
        <p:spPr/>
        <p:txBody>
          <a:bodyPr/>
          <a:lstStyle>
            <a:lvl1pPr>
              <a:defRPr/>
            </a:lvl1pPr>
          </a:lstStyle>
          <a:p>
            <a:pPr>
              <a:defRPr/>
            </a:pPr>
            <a:fld id="{876DE7AA-71D7-4C95-9E60-CE138D66AE31}" type="slidenum">
              <a:rPr lang="ja-JP" altLang="en-US"/>
              <a:pPr>
                <a:def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3"/>
          <p:cNvSpPr>
            <a:spLocks noGrp="1"/>
          </p:cNvSpPr>
          <p:nvPr>
            <p:ph type="dt" sz="half" idx="10"/>
          </p:nvPr>
        </p:nvSpPr>
        <p:spPr/>
        <p:txBody>
          <a:bodyPr/>
          <a:lstStyle>
            <a:lvl1pPr>
              <a:defRPr/>
            </a:lvl1pPr>
          </a:lstStyle>
          <a:p>
            <a:pPr>
              <a:defRPr/>
            </a:pPr>
            <a:fld id="{E8856929-421E-436C-BE2D-8B90F1C90A68}" type="datetimeFigureOut">
              <a:rPr lang="ja-JP" altLang="en-US"/>
              <a:pPr>
                <a:defRPr/>
              </a:pPr>
              <a:t>2025/2/26</a:t>
            </a:fld>
            <a:endParaRPr lang="ja-JP" altLang="en-US"/>
          </a:p>
        </p:txBody>
      </p:sp>
      <p:sp>
        <p:nvSpPr>
          <p:cNvPr id="6" name="Footer Placeholder 4"/>
          <p:cNvSpPr>
            <a:spLocks noGrp="1"/>
          </p:cNvSpPr>
          <p:nvPr>
            <p:ph type="ftr" sz="quarter" idx="11"/>
          </p:nvPr>
        </p:nvSpPr>
        <p:spPr/>
        <p:txBody>
          <a:bodyPr/>
          <a:lstStyle>
            <a:lvl1pPr>
              <a:defRPr/>
            </a:lvl1pPr>
          </a:lstStyle>
          <a:p>
            <a:pPr>
              <a:defRPr/>
            </a:pPr>
            <a:endParaRPr lang="ja-JP" altLang="en-US"/>
          </a:p>
        </p:txBody>
      </p:sp>
      <p:sp>
        <p:nvSpPr>
          <p:cNvPr id="7" name="Slide Number Placeholder 5"/>
          <p:cNvSpPr>
            <a:spLocks noGrp="1"/>
          </p:cNvSpPr>
          <p:nvPr>
            <p:ph type="sldNum" sz="quarter" idx="12"/>
          </p:nvPr>
        </p:nvSpPr>
        <p:spPr/>
        <p:txBody>
          <a:bodyPr/>
          <a:lstStyle>
            <a:lvl1pPr>
              <a:defRPr/>
            </a:lvl1pPr>
          </a:lstStyle>
          <a:p>
            <a:pPr>
              <a:defRPr/>
            </a:pPr>
            <a:fld id="{32521F6A-F312-4078-B706-4D596F34F5CD}" type="slidenum">
              <a:rPr lang="ja-JP" altLang="en-US"/>
              <a:pPr>
                <a:def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図を追加</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3"/>
          <p:cNvSpPr>
            <a:spLocks noGrp="1"/>
          </p:cNvSpPr>
          <p:nvPr>
            <p:ph type="dt" sz="half" idx="10"/>
          </p:nvPr>
        </p:nvSpPr>
        <p:spPr/>
        <p:txBody>
          <a:bodyPr/>
          <a:lstStyle>
            <a:lvl1pPr>
              <a:defRPr/>
            </a:lvl1pPr>
          </a:lstStyle>
          <a:p>
            <a:pPr>
              <a:defRPr/>
            </a:pPr>
            <a:fld id="{79FFACE3-68E7-4FAF-B737-AABF8D72AE81}" type="datetimeFigureOut">
              <a:rPr lang="ja-JP" altLang="en-US"/>
              <a:pPr>
                <a:defRPr/>
              </a:pPr>
              <a:t>2025/2/26</a:t>
            </a:fld>
            <a:endParaRPr lang="ja-JP" altLang="en-US"/>
          </a:p>
        </p:txBody>
      </p:sp>
      <p:sp>
        <p:nvSpPr>
          <p:cNvPr id="6" name="Footer Placeholder 4"/>
          <p:cNvSpPr>
            <a:spLocks noGrp="1"/>
          </p:cNvSpPr>
          <p:nvPr>
            <p:ph type="ftr" sz="quarter" idx="11"/>
          </p:nvPr>
        </p:nvSpPr>
        <p:spPr/>
        <p:txBody>
          <a:bodyPr/>
          <a:lstStyle>
            <a:lvl1pPr>
              <a:defRPr/>
            </a:lvl1pPr>
          </a:lstStyle>
          <a:p>
            <a:pPr>
              <a:defRPr/>
            </a:pPr>
            <a:endParaRPr lang="ja-JP" altLang="en-US"/>
          </a:p>
        </p:txBody>
      </p:sp>
      <p:sp>
        <p:nvSpPr>
          <p:cNvPr id="7" name="Slide Number Placeholder 5"/>
          <p:cNvSpPr>
            <a:spLocks noGrp="1"/>
          </p:cNvSpPr>
          <p:nvPr>
            <p:ph type="sldNum" sz="quarter" idx="12"/>
          </p:nvPr>
        </p:nvSpPr>
        <p:spPr/>
        <p:txBody>
          <a:bodyPr/>
          <a:lstStyle>
            <a:lvl1pPr>
              <a:defRPr/>
            </a:lvl1pPr>
          </a:lstStyle>
          <a:p>
            <a:pPr>
              <a:defRPr/>
            </a:pPr>
            <a:fld id="{631B8013-4F9A-460C-9F99-808936274DB5}" type="slidenum">
              <a:rPr lang="ja-JP" altLang="en-US"/>
              <a:pPr>
                <a:def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vl1pPr>
          </a:lstStyle>
          <a:p>
            <a:pPr>
              <a:defRPr/>
            </a:pPr>
            <a:fld id="{DD4A4F40-E202-48B1-91CC-6DC20BFCCF50}" type="datetimeFigureOut">
              <a:rPr lang="ja-JP" altLang="en-US"/>
              <a:pPr>
                <a:defRPr/>
              </a:pPr>
              <a:t>2025/2/26</a:t>
            </a:fld>
            <a:endParaRPr lang="ja-JP" altLang="en-US"/>
          </a:p>
        </p:txBody>
      </p:sp>
      <p:sp>
        <p:nvSpPr>
          <p:cNvPr id="5" name="Footer Placeholder 4"/>
          <p:cNvSpPr>
            <a:spLocks noGrp="1"/>
          </p:cNvSpPr>
          <p:nvPr>
            <p:ph type="ftr" sz="quarter" idx="11"/>
          </p:nvPr>
        </p:nvSpPr>
        <p:spPr/>
        <p:txBody>
          <a:bodyPr/>
          <a:lstStyle>
            <a:lvl1pPr>
              <a:defRPr/>
            </a:lvl1pPr>
          </a:lstStyle>
          <a:p>
            <a:pPr>
              <a:defRPr/>
            </a:pPr>
            <a:endParaRPr lang="ja-JP" altLang="en-US"/>
          </a:p>
        </p:txBody>
      </p:sp>
      <p:sp>
        <p:nvSpPr>
          <p:cNvPr id="6" name="Slide Number Placeholder 5"/>
          <p:cNvSpPr>
            <a:spLocks noGrp="1"/>
          </p:cNvSpPr>
          <p:nvPr>
            <p:ph type="sldNum" sz="quarter" idx="12"/>
          </p:nvPr>
        </p:nvSpPr>
        <p:spPr/>
        <p:txBody>
          <a:bodyPr/>
          <a:lstStyle>
            <a:lvl1pPr>
              <a:defRPr/>
            </a:lvl1pPr>
          </a:lstStyle>
          <a:p>
            <a:pPr>
              <a:defRPr/>
            </a:pPr>
            <a:fld id="{14976DA8-6D19-4944-AAF4-A977E81E1F34}" type="slidenum">
              <a:rPr lang="ja-JP" altLang="en-US"/>
              <a:pPr>
                <a:def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vl1pPr>
          </a:lstStyle>
          <a:p>
            <a:pPr>
              <a:defRPr/>
            </a:pPr>
            <a:fld id="{B2DD5818-5052-4190-AC9F-F263C9F1485A}" type="datetimeFigureOut">
              <a:rPr lang="ja-JP" altLang="en-US"/>
              <a:pPr>
                <a:defRPr/>
              </a:pPr>
              <a:t>2025/2/26</a:t>
            </a:fld>
            <a:endParaRPr lang="ja-JP" altLang="en-US"/>
          </a:p>
        </p:txBody>
      </p:sp>
      <p:sp>
        <p:nvSpPr>
          <p:cNvPr id="5" name="Footer Placeholder 4"/>
          <p:cNvSpPr>
            <a:spLocks noGrp="1"/>
          </p:cNvSpPr>
          <p:nvPr>
            <p:ph type="ftr" sz="quarter" idx="11"/>
          </p:nvPr>
        </p:nvSpPr>
        <p:spPr/>
        <p:txBody>
          <a:bodyPr/>
          <a:lstStyle>
            <a:lvl1pPr>
              <a:defRPr/>
            </a:lvl1pPr>
          </a:lstStyle>
          <a:p>
            <a:pPr>
              <a:defRPr/>
            </a:pPr>
            <a:endParaRPr lang="ja-JP" altLang="en-US"/>
          </a:p>
        </p:txBody>
      </p:sp>
      <p:sp>
        <p:nvSpPr>
          <p:cNvPr id="6" name="Slide Number Placeholder 5"/>
          <p:cNvSpPr>
            <a:spLocks noGrp="1"/>
          </p:cNvSpPr>
          <p:nvPr>
            <p:ph type="sldNum" sz="quarter" idx="12"/>
          </p:nvPr>
        </p:nvSpPr>
        <p:spPr/>
        <p:txBody>
          <a:bodyPr/>
          <a:lstStyle>
            <a:lvl1pPr>
              <a:defRPr/>
            </a:lvl1pPr>
          </a:lstStyle>
          <a:p>
            <a:pPr>
              <a:defRPr/>
            </a:pPr>
            <a:fld id="{A7D84544-0271-418D-BC59-2CB2EC8E711E}" type="slidenum">
              <a:rPr lang="ja-JP" altLang="en-US"/>
              <a:pPr>
                <a:def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マスター タイトルの書式設定</a:t>
            </a:r>
            <a:endParaRPr lang="en-US"/>
          </a:p>
        </p:txBody>
      </p:sp>
      <p:sp>
        <p:nvSpPr>
          <p:cNvPr id="1027" name="Text Placeholder 2"/>
          <p:cNvSpPr>
            <a:spLocks noGrp="1"/>
          </p:cNvSpPr>
          <p:nvPr>
            <p:ph type="body" idx="1"/>
          </p:nvPr>
        </p:nvSpPr>
        <p:spPr bwMode="auto">
          <a:xfrm>
            <a:off x="628650" y="1825625"/>
            <a:ext cx="78867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469BC2C1-6EDA-4955-9E49-7AF1D360E712}" type="datetimeFigureOut">
              <a:rPr lang="ja-JP" altLang="en-US"/>
              <a:pPr>
                <a:defRPr/>
              </a:pPr>
              <a:t>2025/2/26</a:t>
            </a:fld>
            <a:endParaRPr lang="ja-JP"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ja-JP" alt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29418F69-7615-414E-8F94-7E1970911310}"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rtl="0" fontAlgn="base">
        <a:lnSpc>
          <a:spcPct val="90000"/>
        </a:lnSpc>
        <a:spcBef>
          <a:spcPct val="0"/>
        </a:spcBef>
        <a:spcAft>
          <a:spcPct val="0"/>
        </a:spcAft>
        <a:defRPr kumimoji="1" sz="4400" kern="1200">
          <a:solidFill>
            <a:schemeClr val="tx1"/>
          </a:solidFill>
          <a:latin typeface="+mj-lt"/>
          <a:ea typeface="+mj-ea"/>
          <a:cs typeface="+mj-cs"/>
        </a:defRPr>
      </a:lvl1pPr>
      <a:lvl2pPr algn="l" rtl="0" fontAlgn="base">
        <a:lnSpc>
          <a:spcPct val="90000"/>
        </a:lnSpc>
        <a:spcBef>
          <a:spcPct val="0"/>
        </a:spcBef>
        <a:spcAft>
          <a:spcPct val="0"/>
        </a:spcAft>
        <a:defRPr kumimoji="1" sz="4400">
          <a:solidFill>
            <a:schemeClr val="tx1"/>
          </a:solidFill>
          <a:latin typeface="Calibri Light"/>
          <a:ea typeface="ＭＳ Ｐゴシック" charset="-128"/>
        </a:defRPr>
      </a:lvl2pPr>
      <a:lvl3pPr algn="l" rtl="0" fontAlgn="base">
        <a:lnSpc>
          <a:spcPct val="90000"/>
        </a:lnSpc>
        <a:spcBef>
          <a:spcPct val="0"/>
        </a:spcBef>
        <a:spcAft>
          <a:spcPct val="0"/>
        </a:spcAft>
        <a:defRPr kumimoji="1" sz="4400">
          <a:solidFill>
            <a:schemeClr val="tx1"/>
          </a:solidFill>
          <a:latin typeface="Calibri Light"/>
          <a:ea typeface="ＭＳ Ｐゴシック" charset="-128"/>
        </a:defRPr>
      </a:lvl3pPr>
      <a:lvl4pPr algn="l" rtl="0" fontAlgn="base">
        <a:lnSpc>
          <a:spcPct val="90000"/>
        </a:lnSpc>
        <a:spcBef>
          <a:spcPct val="0"/>
        </a:spcBef>
        <a:spcAft>
          <a:spcPct val="0"/>
        </a:spcAft>
        <a:defRPr kumimoji="1" sz="4400">
          <a:solidFill>
            <a:schemeClr val="tx1"/>
          </a:solidFill>
          <a:latin typeface="Calibri Light"/>
          <a:ea typeface="ＭＳ Ｐゴシック" charset="-128"/>
        </a:defRPr>
      </a:lvl4pPr>
      <a:lvl5pPr algn="l" rtl="0" fontAlgn="base">
        <a:lnSpc>
          <a:spcPct val="90000"/>
        </a:lnSpc>
        <a:spcBef>
          <a:spcPct val="0"/>
        </a:spcBef>
        <a:spcAft>
          <a:spcPct val="0"/>
        </a:spcAft>
        <a:defRPr kumimoji="1" sz="4400">
          <a:solidFill>
            <a:schemeClr val="tx1"/>
          </a:solidFill>
          <a:latin typeface="Calibri Light"/>
          <a:ea typeface="ＭＳ Ｐゴシック" charset="-128"/>
        </a:defRPr>
      </a:lvl5pPr>
      <a:lvl6pPr marL="457200" algn="l" rtl="0" fontAlgn="base">
        <a:lnSpc>
          <a:spcPct val="90000"/>
        </a:lnSpc>
        <a:spcBef>
          <a:spcPct val="0"/>
        </a:spcBef>
        <a:spcAft>
          <a:spcPct val="0"/>
        </a:spcAft>
        <a:defRPr kumimoji="1" sz="4400">
          <a:solidFill>
            <a:schemeClr val="tx1"/>
          </a:solidFill>
          <a:latin typeface="Calibri Light"/>
          <a:ea typeface="ＭＳ Ｐゴシック" charset="-128"/>
        </a:defRPr>
      </a:lvl6pPr>
      <a:lvl7pPr marL="914400" algn="l" rtl="0" fontAlgn="base">
        <a:lnSpc>
          <a:spcPct val="90000"/>
        </a:lnSpc>
        <a:spcBef>
          <a:spcPct val="0"/>
        </a:spcBef>
        <a:spcAft>
          <a:spcPct val="0"/>
        </a:spcAft>
        <a:defRPr kumimoji="1" sz="4400">
          <a:solidFill>
            <a:schemeClr val="tx1"/>
          </a:solidFill>
          <a:latin typeface="Calibri Light"/>
          <a:ea typeface="ＭＳ Ｐゴシック" charset="-128"/>
        </a:defRPr>
      </a:lvl7pPr>
      <a:lvl8pPr marL="1371600" algn="l" rtl="0" fontAlgn="base">
        <a:lnSpc>
          <a:spcPct val="90000"/>
        </a:lnSpc>
        <a:spcBef>
          <a:spcPct val="0"/>
        </a:spcBef>
        <a:spcAft>
          <a:spcPct val="0"/>
        </a:spcAft>
        <a:defRPr kumimoji="1" sz="4400">
          <a:solidFill>
            <a:schemeClr val="tx1"/>
          </a:solidFill>
          <a:latin typeface="Calibri Light"/>
          <a:ea typeface="ＭＳ Ｐゴシック" charset="-128"/>
        </a:defRPr>
      </a:lvl8pPr>
      <a:lvl9pPr marL="1828800" algn="l" rtl="0" fontAlgn="base">
        <a:lnSpc>
          <a:spcPct val="90000"/>
        </a:lnSpc>
        <a:spcBef>
          <a:spcPct val="0"/>
        </a:spcBef>
        <a:spcAft>
          <a:spcPct val="0"/>
        </a:spcAft>
        <a:defRPr kumimoji="1" sz="4400">
          <a:solidFill>
            <a:schemeClr val="tx1"/>
          </a:solidFill>
          <a:latin typeface="Calibri Light"/>
          <a:ea typeface="ＭＳ Ｐゴシック" charset="-128"/>
        </a:defRPr>
      </a:lvl9pPr>
    </p:titleStyle>
    <p:bodyStyle>
      <a:lvl1pPr marL="228600" indent="-228600" algn="l" rtl="0" fontAlgn="base">
        <a:lnSpc>
          <a:spcPct val="90000"/>
        </a:lnSpc>
        <a:spcBef>
          <a:spcPts val="1000"/>
        </a:spcBef>
        <a:spcAft>
          <a:spcPct val="0"/>
        </a:spcAft>
        <a:buFont typeface="Arial" charset="0"/>
        <a:buChar char="•"/>
        <a:defRPr kumimoji="1"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kumimoji="1"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kumimoji="1"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umimoji="1"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テキスト ボックス 3"/>
          <p:cNvSpPr txBox="1">
            <a:spLocks noChangeArrowheads="1"/>
          </p:cNvSpPr>
          <p:nvPr/>
        </p:nvSpPr>
        <p:spPr bwMode="auto">
          <a:xfrm>
            <a:off x="894556" y="-15255"/>
            <a:ext cx="7354888" cy="461665"/>
          </a:xfrm>
          <a:prstGeom prst="rect">
            <a:avLst/>
          </a:prstGeom>
          <a:noFill/>
          <a:ln w="9525">
            <a:noFill/>
            <a:miter lim="800000"/>
            <a:headEnd/>
            <a:tailEnd/>
          </a:ln>
        </p:spPr>
        <p:txBody>
          <a:bodyPr>
            <a:spAutoFit/>
          </a:bodyPr>
          <a:lstStyle/>
          <a:p>
            <a:pPr algn="ctr"/>
            <a:r>
              <a:rPr lang="en-IN" altLang="ja-JP" sz="2400" dirty="0">
                <a:cs typeface="Arial" charset="0"/>
              </a:rPr>
              <a:t>Characterization of Electromagnetic Radiation</a:t>
            </a:r>
            <a:endParaRPr lang="en-US" altLang="ja-JP" sz="2400" dirty="0">
              <a:cs typeface="Arial" charset="0"/>
            </a:endParaRPr>
          </a:p>
        </p:txBody>
      </p:sp>
      <p:cxnSp>
        <p:nvCxnSpPr>
          <p:cNvPr id="3"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340" name="テキスト ボックス 6"/>
          <p:cNvSpPr txBox="1">
            <a:spLocks noChangeArrowheads="1"/>
          </p:cNvSpPr>
          <p:nvPr/>
        </p:nvSpPr>
        <p:spPr bwMode="auto">
          <a:xfrm>
            <a:off x="563526" y="446409"/>
            <a:ext cx="8061404" cy="6637137"/>
          </a:xfrm>
          <a:prstGeom prst="rect">
            <a:avLst/>
          </a:prstGeom>
          <a:noFill/>
          <a:ln w="9525">
            <a:noFill/>
            <a:miter lim="800000"/>
            <a:headEnd/>
            <a:tailEnd/>
          </a:ln>
        </p:spPr>
        <p:txBody>
          <a:bodyPr wrap="square">
            <a:spAutoFit/>
          </a:bodyPr>
          <a:lstStyle/>
          <a:p>
            <a:pPr algn="just">
              <a:lnSpc>
                <a:spcPct val="150000"/>
              </a:lnSpc>
              <a:tabLst>
                <a:tab pos="1520825" algn="l"/>
              </a:tabLst>
            </a:pPr>
            <a:r>
              <a:rPr lang="en-US" altLang="ja-JP" sz="2000" dirty="0">
                <a:latin typeface="Arial" pitchFamily="34" charset="0"/>
                <a:cs typeface="Arial" pitchFamily="34" charset="0"/>
              </a:rPr>
              <a:t>■ </a:t>
            </a:r>
            <a:r>
              <a:rPr lang="en-IN" sz="2000" b="1" dirty="0">
                <a:solidFill>
                  <a:srgbClr val="095BFF"/>
                </a:solidFill>
              </a:rPr>
              <a:t>Molecular Spectroscopy:</a:t>
            </a:r>
          </a:p>
          <a:p>
            <a:pPr marL="442913" indent="-442913" algn="just">
              <a:lnSpc>
                <a:spcPct val="150000"/>
              </a:lnSpc>
              <a:buFont typeface="Symbol" panose="05050102010706020507" pitchFamily="18" charset="2"/>
              <a:buChar char="®"/>
              <a:tabLst>
                <a:tab pos="1520825" algn="l"/>
              </a:tabLst>
            </a:pPr>
            <a:r>
              <a:rPr lang="en-IN" sz="2000" b="1" dirty="0">
                <a:highlight>
                  <a:srgbClr val="FFFF00"/>
                </a:highlight>
              </a:rPr>
              <a:t>It is defined as the study of the interaction of electromagnetic radiation and matter (Molecules, Atoms).</a:t>
            </a:r>
            <a:endParaRPr lang="en-IN" sz="800" dirty="0"/>
          </a:p>
          <a:p>
            <a:pPr marL="442913" indent="-442913" algn="just">
              <a:lnSpc>
                <a:spcPct val="150000"/>
              </a:lnSpc>
              <a:buFont typeface="Symbol" panose="05050102010706020507" pitchFamily="18" charset="2"/>
              <a:buChar char="®"/>
              <a:tabLst>
                <a:tab pos="1520825" algn="l"/>
              </a:tabLst>
            </a:pPr>
            <a:r>
              <a:rPr lang="en-IN" sz="2000" dirty="0"/>
              <a:t>Due to interaction the incident of </a:t>
            </a:r>
            <a:r>
              <a:rPr lang="en-IN" sz="2000" dirty="0">
                <a:highlight>
                  <a:srgbClr val="FFFF00"/>
                </a:highlight>
              </a:rPr>
              <a:t>absorption or emission of electromagnetic radiation by the molecules happens.</a:t>
            </a:r>
            <a:endParaRPr lang="en-IN" sz="800" dirty="0">
              <a:highlight>
                <a:srgbClr val="FFFF00"/>
              </a:highlight>
            </a:endParaRPr>
          </a:p>
          <a:p>
            <a:pPr marL="442913" indent="-442913" algn="just">
              <a:lnSpc>
                <a:spcPct val="150000"/>
              </a:lnSpc>
              <a:buFont typeface="Symbol" panose="05050102010706020507" pitchFamily="18" charset="2"/>
              <a:buChar char="®"/>
              <a:tabLst>
                <a:tab pos="1520825" algn="l"/>
              </a:tabLst>
            </a:pPr>
            <a:r>
              <a:rPr lang="en-US" sz="2000" dirty="0"/>
              <a:t>Electromagnetic radiation, of </a:t>
            </a:r>
            <a:r>
              <a:rPr lang="en-US" sz="2000" dirty="0">
                <a:highlight>
                  <a:srgbClr val="FFFF00"/>
                </a:highlight>
              </a:rPr>
              <a:t>which visible light forms </a:t>
            </a:r>
            <a:r>
              <a:rPr lang="en-US" sz="2000" dirty="0"/>
              <a:t>an obvious but </a:t>
            </a:r>
            <a:r>
              <a:rPr lang="en-US" sz="2000" dirty="0">
                <a:highlight>
                  <a:srgbClr val="FFFF00"/>
                </a:highlight>
              </a:rPr>
              <a:t>very small part</a:t>
            </a:r>
            <a:r>
              <a:rPr lang="en-US" sz="2000" dirty="0"/>
              <a:t>, may be considered as a </a:t>
            </a:r>
            <a:r>
              <a:rPr lang="en-US" sz="2000" dirty="0">
                <a:highlight>
                  <a:srgbClr val="FFFF00"/>
                </a:highlight>
              </a:rPr>
              <a:t>simple harmonic wave </a:t>
            </a:r>
            <a:r>
              <a:rPr lang="en-US" sz="2000" dirty="0"/>
              <a:t>propagated from  a  source and  </a:t>
            </a:r>
            <a:r>
              <a:rPr lang="en-US" sz="2000" dirty="0">
                <a:highlight>
                  <a:srgbClr val="FFFF00"/>
                </a:highlight>
              </a:rPr>
              <a:t>travelling  in straight  lines except  when  </a:t>
            </a:r>
            <a:r>
              <a:rPr lang="en-US" sz="2000" b="1" dirty="0">
                <a:highlight>
                  <a:srgbClr val="FFFF00"/>
                </a:highlight>
              </a:rPr>
              <a:t>refracted  or reflected.</a:t>
            </a:r>
            <a:endParaRPr lang="en-US" sz="800" b="1" dirty="0"/>
          </a:p>
          <a:p>
            <a:pPr marL="442913" indent="-442913" algn="just">
              <a:lnSpc>
                <a:spcPct val="150000"/>
              </a:lnSpc>
              <a:buFont typeface="Symbol" panose="05050102010706020507" pitchFamily="18" charset="2"/>
              <a:buChar char="®"/>
              <a:tabLst>
                <a:tab pos="1520825" algn="l"/>
              </a:tabLst>
            </a:pPr>
            <a:r>
              <a:rPr lang="en-IN" sz="2000" dirty="0"/>
              <a:t>The properties which undulate(up &amp; down motion)—</a:t>
            </a:r>
            <a:r>
              <a:rPr lang="en-IN" sz="2000" dirty="0">
                <a:highlight>
                  <a:srgbClr val="FFFF00"/>
                </a:highlight>
              </a:rPr>
              <a:t>corresponding to the physical displacement of a stretched string </a:t>
            </a:r>
            <a:r>
              <a:rPr lang="en-IN" sz="2000" dirty="0"/>
              <a:t>vibrating, or the alternate compressions and rarefactions of the atmosphere during the </a:t>
            </a:r>
            <a:r>
              <a:rPr lang="en-IN" sz="2000" dirty="0">
                <a:highlight>
                  <a:srgbClr val="FFFF00"/>
                </a:highlight>
              </a:rPr>
              <a:t>passage of a sound wave</a:t>
            </a:r>
            <a:r>
              <a:rPr lang="en-IN" sz="2000" dirty="0"/>
              <a:t>— are </a:t>
            </a:r>
            <a:r>
              <a:rPr lang="en-IN" sz="2000" dirty="0">
                <a:highlight>
                  <a:srgbClr val="FFFF00"/>
                </a:highlight>
              </a:rPr>
              <a:t>interconnected electric and magnetic fields.</a:t>
            </a:r>
          </a:p>
        </p:txBody>
      </p:sp>
    </p:spTree>
    <p:extLst>
      <p:ext uri="{BB962C8B-B14F-4D97-AF65-F5344CB8AC3E}">
        <p14:creationId xmlns:p14="http://schemas.microsoft.com/office/powerpoint/2010/main" val="248614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3"/>
          <p:cNvSpPr txBox="1">
            <a:spLocks noChangeArrowheads="1"/>
          </p:cNvSpPr>
          <p:nvPr/>
        </p:nvSpPr>
        <p:spPr bwMode="auto">
          <a:xfrm>
            <a:off x="876300" y="100013"/>
            <a:ext cx="7354888" cy="461962"/>
          </a:xfrm>
          <a:prstGeom prst="rect">
            <a:avLst/>
          </a:prstGeom>
          <a:noFill/>
          <a:ln w="9525">
            <a:noFill/>
            <a:miter lim="800000"/>
            <a:headEnd/>
            <a:tailEnd/>
          </a:ln>
        </p:spPr>
        <p:txBody>
          <a:bodyPr>
            <a:spAutoFit/>
          </a:bodyPr>
          <a:lstStyle/>
          <a:p>
            <a:pPr algn="ctr"/>
            <a:r>
              <a:rPr lang="en-IN" altLang="ja-JP" sz="2400" dirty="0">
                <a:cs typeface="Arial" charset="0"/>
              </a:rPr>
              <a:t>Characterization of Electromagnetic Radiation</a:t>
            </a:r>
            <a:endParaRPr lang="en-US" altLang="ja-JP" sz="2400" dirty="0">
              <a:cs typeface="Arial" charset="0"/>
            </a:endParaRPr>
          </a:p>
        </p:txBody>
      </p:sp>
      <p:cxnSp>
        <p:nvCxnSpPr>
          <p:cNvPr id="6"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a:spLocks noChangeArrowheads="1"/>
          </p:cNvSpPr>
          <p:nvPr/>
        </p:nvSpPr>
        <p:spPr bwMode="auto">
          <a:xfrm>
            <a:off x="311273" y="574673"/>
            <a:ext cx="8534277" cy="3016210"/>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It is these </a:t>
            </a:r>
            <a:r>
              <a:rPr lang="en-IN" sz="2000" dirty="0">
                <a:highlight>
                  <a:srgbClr val="FFFF00"/>
                </a:highlight>
              </a:rPr>
              <a:t>undulatory fields which interact with matter giving rise to a spectrum.</a:t>
            </a:r>
          </a:p>
          <a:p>
            <a:pPr algn="just">
              <a:tabLst>
                <a:tab pos="1520825" algn="l"/>
              </a:tabLst>
            </a:pPr>
            <a:endParaRPr lang="en-US" sz="1000" b="1" dirty="0"/>
          </a:p>
          <a:p>
            <a:pPr marL="442913" indent="-442913" algn="just">
              <a:lnSpc>
                <a:spcPct val="150000"/>
              </a:lnSpc>
              <a:buFont typeface="Symbol" panose="05050102010706020507" pitchFamily="18" charset="2"/>
              <a:buChar char="®"/>
              <a:tabLst>
                <a:tab pos="1520825" algn="l"/>
              </a:tabLst>
            </a:pPr>
            <a:r>
              <a:rPr lang="en-US" sz="2000" dirty="0"/>
              <a:t>Any simple harmonic  wave  has  properties  of the sine wave, defined by </a:t>
            </a:r>
            <a:r>
              <a:rPr lang="en-US" sz="2000" i="1" dirty="0"/>
              <a:t>y </a:t>
            </a:r>
            <a:r>
              <a:rPr lang="en-US" sz="2000" dirty="0"/>
              <a:t>= </a:t>
            </a:r>
            <a:r>
              <a:rPr lang="en-US" sz="2000" i="1" dirty="0"/>
              <a:t>A </a:t>
            </a:r>
            <a:r>
              <a:rPr lang="en-US" sz="2000" dirty="0"/>
              <a:t>sin </a:t>
            </a:r>
            <a:r>
              <a:rPr lang="el-GR" sz="2000" i="1" dirty="0"/>
              <a:t>θ</a:t>
            </a:r>
            <a:r>
              <a:rPr lang="en-US" sz="2000" i="1" dirty="0"/>
              <a:t>. </a:t>
            </a:r>
            <a:r>
              <a:rPr lang="en-US" sz="2000" dirty="0"/>
              <a:t>Here </a:t>
            </a:r>
            <a:r>
              <a:rPr lang="en-US" sz="2000" i="1" dirty="0"/>
              <a:t>y </a:t>
            </a:r>
            <a:r>
              <a:rPr lang="en-US" sz="2000" dirty="0"/>
              <a:t>is the displacement with a maximum value </a:t>
            </a:r>
            <a:r>
              <a:rPr lang="en-US" sz="2000" i="1" dirty="0"/>
              <a:t>A, </a:t>
            </a:r>
            <a:r>
              <a:rPr lang="en-US" sz="2000" dirty="0"/>
              <a:t>and </a:t>
            </a:r>
            <a:r>
              <a:rPr lang="el-GR" sz="2000" i="1" dirty="0"/>
              <a:t>θ</a:t>
            </a:r>
            <a:r>
              <a:rPr lang="en-US" sz="2000" i="1" dirty="0"/>
              <a:t> </a:t>
            </a:r>
            <a:r>
              <a:rPr lang="en-US" sz="2000" dirty="0"/>
              <a:t>is an angle varying between 0 and 360 (or 0 and 2n radians). </a:t>
            </a:r>
            <a:endParaRPr lang="en-IN" sz="2000" b="1" dirty="0"/>
          </a:p>
          <a:p>
            <a:pPr marL="442913" indent="-442913" algn="just">
              <a:lnSpc>
                <a:spcPct val="150000"/>
              </a:lnSpc>
              <a:buFont typeface="Symbol" panose="05050102010706020507" pitchFamily="18" charset="2"/>
              <a:buChar char="®"/>
              <a:tabLst>
                <a:tab pos="1520825" algn="l"/>
              </a:tabLst>
            </a:pPr>
            <a:endParaRPr lang="en-IN" sz="2000" dirty="0"/>
          </a:p>
        </p:txBody>
      </p:sp>
      <p:pic>
        <p:nvPicPr>
          <p:cNvPr id="3" name="Picture 2"/>
          <p:cNvPicPr>
            <a:picLocks noChangeAspect="1"/>
          </p:cNvPicPr>
          <p:nvPr/>
        </p:nvPicPr>
        <p:blipFill>
          <a:blip r:embed="rId2">
            <a:lum bright="-20000" contrast="40000"/>
          </a:blip>
          <a:stretch>
            <a:fillRect/>
          </a:stretch>
        </p:blipFill>
        <p:spPr>
          <a:xfrm>
            <a:off x="1915481" y="3129566"/>
            <a:ext cx="5287693" cy="3264107"/>
          </a:xfrm>
          <a:prstGeom prst="rect">
            <a:avLst/>
          </a:prstGeom>
        </p:spPr>
      </p:pic>
      <p:pic>
        <p:nvPicPr>
          <p:cNvPr id="8" name="Picture 7"/>
          <p:cNvPicPr>
            <a:picLocks noChangeAspect="1"/>
          </p:cNvPicPr>
          <p:nvPr/>
        </p:nvPicPr>
        <p:blipFill>
          <a:blip r:embed="rId3">
            <a:lum bright="-20000" contrast="40000"/>
          </a:blip>
          <a:stretch>
            <a:fillRect/>
          </a:stretch>
        </p:blipFill>
        <p:spPr>
          <a:xfrm>
            <a:off x="2470141" y="6382048"/>
            <a:ext cx="2900350" cy="448096"/>
          </a:xfrm>
          <a:prstGeom prst="rect">
            <a:avLst/>
          </a:prstGeom>
        </p:spPr>
      </p:pic>
    </p:spTree>
    <p:extLst>
      <p:ext uri="{BB962C8B-B14F-4D97-AF65-F5344CB8AC3E}">
        <p14:creationId xmlns:p14="http://schemas.microsoft.com/office/powerpoint/2010/main" val="1668768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0013"/>
            <a:ext cx="7354888" cy="461665"/>
          </a:xfrm>
          <a:prstGeom prst="rect">
            <a:avLst/>
          </a:prstGeom>
          <a:noFill/>
          <a:ln w="9525">
            <a:noFill/>
            <a:miter lim="800000"/>
            <a:headEnd/>
            <a:tailEnd/>
          </a:ln>
        </p:spPr>
        <p:txBody>
          <a:bodyPr>
            <a:spAutoFit/>
          </a:bodyPr>
          <a:lstStyle/>
          <a:p>
            <a:pPr algn="ctr"/>
            <a:r>
              <a:rPr lang="en-IN" altLang="ja-JP" sz="2400" dirty="0">
                <a:cs typeface="Arial" charset="0"/>
              </a:rPr>
              <a:t>Characterization of Electromagnetic Radiation</a:t>
            </a:r>
            <a:endParaRPr lang="en-US" altLang="ja-JP" sz="2400" dirty="0">
              <a:cs typeface="Arial" charset="0"/>
            </a:endParaRPr>
          </a:p>
        </p:txBody>
      </p:sp>
      <p:cxnSp>
        <p:nvCxnSpPr>
          <p:cNvPr id="5"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3374265"/>
            <a:ext cx="8484942" cy="3477875"/>
          </a:xfrm>
          <a:prstGeom prst="rect">
            <a:avLst/>
          </a:prstGeom>
          <a:noFill/>
          <a:ln w="9525">
            <a:noFill/>
            <a:miter lim="800000"/>
            <a:headEnd/>
            <a:tailEnd/>
          </a:ln>
        </p:spPr>
        <p:txBody>
          <a:bodyPr wrap="square">
            <a:spAutoFit/>
          </a:bodyPr>
          <a:lstStyle/>
          <a:p>
            <a:pPr algn="just">
              <a:tabLst>
                <a:tab pos="1520825" algn="l"/>
              </a:tabLst>
            </a:pPr>
            <a:endParaRPr lang="en-IN" sz="1000" dirty="0"/>
          </a:p>
          <a:p>
            <a:pPr marL="442913" indent="-442913" algn="just">
              <a:lnSpc>
                <a:spcPct val="150000"/>
              </a:lnSpc>
              <a:buFont typeface="Symbol" panose="05050102010706020507" pitchFamily="18" charset="2"/>
              <a:buChar char="®"/>
              <a:tabLst>
                <a:tab pos="1520825" algn="l"/>
              </a:tabLst>
            </a:pPr>
            <a:r>
              <a:rPr lang="en-US" sz="2000" dirty="0"/>
              <a:t>A point </a:t>
            </a:r>
            <a:r>
              <a:rPr lang="en-US" sz="2000" b="1" dirty="0"/>
              <a:t>P</a:t>
            </a:r>
            <a:r>
              <a:rPr lang="en-US" sz="2000" dirty="0"/>
              <a:t> travels with uniform angular </a:t>
            </a:r>
            <a:r>
              <a:rPr lang="en-US" sz="2000" dirty="0">
                <a:highlight>
                  <a:srgbClr val="FFFF00"/>
                </a:highlight>
              </a:rPr>
              <a:t>velocity </a:t>
            </a:r>
            <a:r>
              <a:rPr lang="el-GR" sz="2000" dirty="0">
                <a:highlight>
                  <a:srgbClr val="FFFF00"/>
                </a:highlight>
              </a:rPr>
              <a:t>ω</a:t>
            </a:r>
            <a:r>
              <a:rPr lang="en-US" sz="2000" dirty="0">
                <a:highlight>
                  <a:srgbClr val="FFFF00"/>
                </a:highlight>
              </a:rPr>
              <a:t> rad s</a:t>
            </a:r>
            <a:r>
              <a:rPr lang="en-US" sz="2000" baseline="30000" dirty="0">
                <a:highlight>
                  <a:srgbClr val="FFFF00"/>
                </a:highlight>
              </a:rPr>
              <a:t>-1 </a:t>
            </a:r>
            <a:r>
              <a:rPr lang="en-US" sz="2000" dirty="0"/>
              <a:t>in a circular path of radius </a:t>
            </a:r>
            <a:r>
              <a:rPr lang="en-US" sz="2000" b="1" dirty="0"/>
              <a:t>A</a:t>
            </a:r>
            <a:r>
              <a:rPr lang="en-US" sz="2000" dirty="0"/>
              <a:t>; we measure the time from the instant When </a:t>
            </a:r>
            <a:r>
              <a:rPr lang="en-US" sz="2000" b="1" dirty="0"/>
              <a:t>P</a:t>
            </a:r>
            <a:r>
              <a:rPr lang="en-US" sz="2000" dirty="0"/>
              <a:t> passes </a:t>
            </a:r>
            <a:r>
              <a:rPr lang="en-US" sz="2000" b="1" dirty="0"/>
              <a:t>O' </a:t>
            </a:r>
            <a:r>
              <a:rPr lang="en-US" sz="2000" dirty="0"/>
              <a:t>and then, after a </a:t>
            </a:r>
            <a:r>
              <a:rPr lang="en-US" sz="2000" dirty="0">
                <a:highlight>
                  <a:srgbClr val="FFFF00"/>
                </a:highlight>
              </a:rPr>
              <a:t>time t seconds</a:t>
            </a:r>
            <a:r>
              <a:rPr lang="en-US" sz="2000" dirty="0"/>
              <a:t>, we imagine </a:t>
            </a:r>
            <a:r>
              <a:rPr lang="en-US" sz="2000" b="1" dirty="0"/>
              <a:t>P </a:t>
            </a:r>
            <a:r>
              <a:rPr lang="en-US" sz="2000" dirty="0"/>
              <a:t>to have described an angle </a:t>
            </a:r>
            <a:r>
              <a:rPr lang="el-GR" sz="2000" b="1" dirty="0">
                <a:highlight>
                  <a:srgbClr val="FFFF00"/>
                </a:highlight>
              </a:rPr>
              <a:t>θ</a:t>
            </a:r>
            <a:r>
              <a:rPr lang="en-US" sz="2000" b="1" dirty="0">
                <a:highlight>
                  <a:srgbClr val="FFFF00"/>
                </a:highlight>
              </a:rPr>
              <a:t> = </a:t>
            </a:r>
            <a:r>
              <a:rPr lang="el-GR" sz="2000" b="1" dirty="0">
                <a:highlight>
                  <a:srgbClr val="FFFF00"/>
                </a:highlight>
              </a:rPr>
              <a:t>ω</a:t>
            </a:r>
            <a:r>
              <a:rPr lang="en-US" sz="2000" b="1" dirty="0">
                <a:highlight>
                  <a:srgbClr val="FFFF00"/>
                </a:highlight>
              </a:rPr>
              <a:t>t [s = </a:t>
            </a:r>
            <a:r>
              <a:rPr lang="en-US" sz="2000" b="1" dirty="0" err="1">
                <a:highlight>
                  <a:srgbClr val="FFFF00"/>
                </a:highlight>
              </a:rPr>
              <a:t>vt</a:t>
            </a:r>
            <a:r>
              <a:rPr lang="en-US" sz="2000" b="1" dirty="0">
                <a:highlight>
                  <a:srgbClr val="FFFF00"/>
                </a:highlight>
              </a:rPr>
              <a:t>] </a:t>
            </a:r>
            <a:r>
              <a:rPr lang="en-US" sz="2000" dirty="0"/>
              <a:t>radians. Its vertical displacement is then </a:t>
            </a:r>
            <a:r>
              <a:rPr lang="en-US" sz="2000" b="1" dirty="0"/>
              <a:t>y = A sin</a:t>
            </a:r>
            <a:r>
              <a:rPr lang="el-GR" sz="2000" b="1" dirty="0"/>
              <a:t>θ</a:t>
            </a:r>
            <a:r>
              <a:rPr lang="en-US" sz="2000" b="1" dirty="0"/>
              <a:t> = A sin</a:t>
            </a:r>
            <a:r>
              <a:rPr lang="el-GR" sz="2000" b="1" dirty="0"/>
              <a:t> ω</a:t>
            </a:r>
            <a:r>
              <a:rPr lang="en-US" sz="2000" b="1" dirty="0"/>
              <a:t>t</a:t>
            </a:r>
            <a:r>
              <a:rPr lang="en-US" sz="2000" dirty="0"/>
              <a:t>, and we can plot this displacement against time as on the right-hand side of Fig. After a time of</a:t>
            </a:r>
            <a:r>
              <a:rPr lang="en-US" sz="2000" b="1" dirty="0"/>
              <a:t> 2</a:t>
            </a:r>
            <a:r>
              <a:rPr lang="el-GR" sz="2000" b="1" dirty="0"/>
              <a:t>π</a:t>
            </a:r>
            <a:r>
              <a:rPr lang="en-US" sz="2000" b="1" dirty="0"/>
              <a:t>/</a:t>
            </a:r>
            <a:r>
              <a:rPr lang="el-GR" sz="2000" b="1" dirty="0"/>
              <a:t>ω</a:t>
            </a:r>
            <a:r>
              <a:rPr lang="en-US" sz="2000" b="1" dirty="0"/>
              <a:t> </a:t>
            </a:r>
            <a:r>
              <a:rPr lang="en-US" sz="2000" dirty="0"/>
              <a:t>seconds, </a:t>
            </a:r>
            <a:r>
              <a:rPr lang="en-US" sz="2000" b="1" dirty="0"/>
              <a:t>P</a:t>
            </a:r>
            <a:r>
              <a:rPr lang="en-US" sz="2000" dirty="0"/>
              <a:t> will return to </a:t>
            </a:r>
            <a:r>
              <a:rPr lang="en-US" sz="2000" b="1" dirty="0"/>
              <a:t>O'</a:t>
            </a:r>
            <a:r>
              <a:rPr lang="en-US" sz="2000" dirty="0"/>
              <a:t>, completing a 'cycle'. </a:t>
            </a:r>
            <a:endParaRPr lang="en-IN" sz="2000" b="1" dirty="0"/>
          </a:p>
        </p:txBody>
      </p:sp>
      <p:pic>
        <p:nvPicPr>
          <p:cNvPr id="7" name="Picture 6"/>
          <p:cNvPicPr/>
          <p:nvPr/>
        </p:nvPicPr>
        <p:blipFill>
          <a:blip r:embed="rId2"/>
          <a:stretch>
            <a:fillRect/>
          </a:stretch>
        </p:blipFill>
        <p:spPr>
          <a:xfrm>
            <a:off x="1940251" y="606754"/>
            <a:ext cx="5709799" cy="2986452"/>
          </a:xfrm>
          <a:prstGeom prst="rect">
            <a:avLst/>
          </a:prstGeom>
        </p:spPr>
      </p:pic>
    </p:spTree>
    <p:extLst>
      <p:ext uri="{BB962C8B-B14F-4D97-AF65-F5344CB8AC3E}">
        <p14:creationId xmlns:p14="http://schemas.microsoft.com/office/powerpoint/2010/main" val="1764191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3"/>
          <p:cNvSpPr txBox="1">
            <a:spLocks noChangeArrowheads="1"/>
          </p:cNvSpPr>
          <p:nvPr/>
        </p:nvSpPr>
        <p:spPr bwMode="auto">
          <a:xfrm>
            <a:off x="876300" y="100013"/>
            <a:ext cx="7354888" cy="461665"/>
          </a:xfrm>
          <a:prstGeom prst="rect">
            <a:avLst/>
          </a:prstGeom>
          <a:noFill/>
          <a:ln w="9525">
            <a:noFill/>
            <a:miter lim="800000"/>
            <a:headEnd/>
            <a:tailEnd/>
          </a:ln>
        </p:spPr>
        <p:txBody>
          <a:bodyPr>
            <a:spAutoFit/>
          </a:bodyPr>
          <a:lstStyle/>
          <a:p>
            <a:pPr algn="ctr"/>
            <a:r>
              <a:rPr lang="en-IN" altLang="ja-JP" sz="2400" dirty="0">
                <a:cs typeface="Arial" charset="0"/>
              </a:rPr>
              <a:t>Characterization of Electromagnetic Radiation</a:t>
            </a:r>
            <a:endParaRPr lang="en-US" altLang="ja-JP" sz="2400" dirty="0">
              <a:cs typeface="Arial" charset="0"/>
            </a:endParaRPr>
          </a:p>
        </p:txBody>
      </p:sp>
      <p:sp>
        <p:nvSpPr>
          <p:cNvPr id="11" name="テキスト ボックス 6"/>
          <p:cNvSpPr txBox="1">
            <a:spLocks noChangeArrowheads="1"/>
          </p:cNvSpPr>
          <p:nvPr/>
        </p:nvSpPr>
        <p:spPr bwMode="auto">
          <a:xfrm>
            <a:off x="311273" y="600313"/>
            <a:ext cx="8484942" cy="5940088"/>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In one second the pattern will repeat itself </a:t>
            </a:r>
            <a:r>
              <a:rPr lang="el-GR" sz="2000" b="1" dirty="0"/>
              <a:t>ω</a:t>
            </a:r>
            <a:r>
              <a:rPr lang="en-IN" sz="2000" b="1" dirty="0"/>
              <a:t>/</a:t>
            </a:r>
            <a:r>
              <a:rPr lang="en-US" sz="2000" b="1" dirty="0"/>
              <a:t>2</a:t>
            </a:r>
            <a:r>
              <a:rPr lang="el-GR" sz="2000" b="1" dirty="0"/>
              <a:t>π</a:t>
            </a:r>
            <a:r>
              <a:rPr lang="en-US" sz="2000" b="1" dirty="0"/>
              <a:t> </a:t>
            </a:r>
            <a:r>
              <a:rPr lang="en-US" sz="2000" dirty="0"/>
              <a:t>times, and this is referred to as the </a:t>
            </a:r>
            <a:r>
              <a:rPr lang="en-US" sz="2000" b="1" dirty="0"/>
              <a:t>frequency (</a:t>
            </a:r>
            <a:r>
              <a:rPr lang="el-GR" sz="2000" b="1" dirty="0">
                <a:latin typeface="Times New Roman" panose="02020603050405020304" pitchFamily="18" charset="0"/>
                <a:cs typeface="Times New Roman" panose="02020603050405020304" pitchFamily="18" charset="0"/>
              </a:rPr>
              <a:t>ν</a:t>
            </a:r>
            <a:r>
              <a:rPr lang="en-US" sz="2000" b="1" dirty="0"/>
              <a:t>)</a:t>
            </a:r>
            <a:r>
              <a:rPr lang="en-US" sz="2000" dirty="0"/>
              <a:t> of the wave.</a:t>
            </a:r>
            <a:endParaRPr lang="en-US" sz="800" b="1" dirty="0"/>
          </a:p>
          <a:p>
            <a:pPr marL="442913" indent="-442913" algn="just">
              <a:lnSpc>
                <a:spcPct val="150000"/>
              </a:lnSpc>
              <a:buFont typeface="Symbol" panose="05050102010706020507" pitchFamily="18" charset="2"/>
              <a:buChar char="®"/>
              <a:tabLst>
                <a:tab pos="1520825" algn="l"/>
              </a:tabLst>
            </a:pPr>
            <a:r>
              <a:rPr lang="en-IN" sz="2000" dirty="0"/>
              <a:t>The SI unit of frequency is called the </a:t>
            </a:r>
            <a:r>
              <a:rPr lang="en-IN" sz="2000" b="1" dirty="0"/>
              <a:t>hertz (abbreviated to Hz) </a:t>
            </a:r>
            <a:r>
              <a:rPr lang="en-IN" sz="2000" dirty="0"/>
              <a:t>and has the dimensions of reciprocal seconds (abbreviated s</a:t>
            </a:r>
            <a:r>
              <a:rPr lang="en-IN" sz="2000" baseline="30000" dirty="0"/>
              <a:t>-1</a:t>
            </a:r>
            <a:r>
              <a:rPr lang="en-IN" sz="2000" dirty="0"/>
              <a:t>). We may then write:</a:t>
            </a:r>
            <a:r>
              <a:rPr lang="en-US" sz="2000" dirty="0"/>
              <a:t> then </a:t>
            </a:r>
          </a:p>
          <a:p>
            <a:pPr algn="just">
              <a:lnSpc>
                <a:spcPct val="150000"/>
              </a:lnSpc>
              <a:tabLst>
                <a:tab pos="1520825" algn="l"/>
              </a:tabLst>
            </a:pPr>
            <a:r>
              <a:rPr lang="en-US" sz="2000" b="1" dirty="0"/>
              <a:t>                                         y = A sin</a:t>
            </a:r>
            <a:r>
              <a:rPr lang="el-GR" sz="2000" b="1" dirty="0"/>
              <a:t> ω</a:t>
            </a:r>
            <a:r>
              <a:rPr lang="en-US" sz="2000" b="1" dirty="0"/>
              <a:t>t = A sin</a:t>
            </a:r>
            <a:r>
              <a:rPr lang="el-GR" sz="2000" b="1" dirty="0"/>
              <a:t> </a:t>
            </a:r>
            <a:r>
              <a:rPr lang="en-US" sz="2000" b="1" dirty="0"/>
              <a:t>2</a:t>
            </a:r>
            <a:r>
              <a:rPr lang="el-GR" sz="2000" b="1" dirty="0"/>
              <a:t>π</a:t>
            </a:r>
            <a:r>
              <a:rPr lang="el-GR" sz="2000" b="1" dirty="0">
                <a:latin typeface="Times New Roman" panose="02020603050405020304" pitchFamily="18" charset="0"/>
                <a:cs typeface="Times New Roman" panose="02020603050405020304" pitchFamily="18" charset="0"/>
              </a:rPr>
              <a:t>ν</a:t>
            </a:r>
            <a:r>
              <a:rPr lang="en-IN" sz="2000" b="1" dirty="0">
                <a:latin typeface="Times New Roman" panose="02020603050405020304" pitchFamily="18" charset="0"/>
                <a:cs typeface="Times New Roman" panose="02020603050405020304" pitchFamily="18" charset="0"/>
              </a:rPr>
              <a:t>t</a:t>
            </a:r>
            <a:r>
              <a:rPr lang="en-US" sz="2000" b="1" dirty="0">
                <a:latin typeface="Times New Roman" panose="02020603050405020304" pitchFamily="18" charset="0"/>
                <a:cs typeface="Times New Roman" panose="02020603050405020304" pitchFamily="18" charset="0"/>
              </a:rPr>
              <a:t> ………….(1)</a:t>
            </a:r>
          </a:p>
          <a:p>
            <a:pPr algn="just">
              <a:lnSpc>
                <a:spcPct val="150000"/>
              </a:lnSpc>
              <a:tabLst>
                <a:tab pos="1520825" algn="l"/>
              </a:tabLst>
            </a:pPr>
            <a:r>
              <a:rPr lang="en-US" sz="2000" i="1" dirty="0"/>
              <a:t>                                     </a:t>
            </a:r>
            <a:r>
              <a:rPr lang="en-US" sz="2000" b="1" i="1" dirty="0">
                <a:solidFill>
                  <a:srgbClr val="009900"/>
                </a:solidFill>
              </a:rPr>
              <a:t>Basic equation of wave motion.</a:t>
            </a:r>
            <a:endParaRPr lang="en-IN" sz="2000" dirty="0">
              <a:latin typeface="Times New Roman" panose="02020603050405020304" pitchFamily="18" charset="0"/>
              <a:cs typeface="Times New Roman" panose="02020603050405020304" pitchFamily="18" charset="0"/>
            </a:endParaRPr>
          </a:p>
          <a:p>
            <a:pPr marL="442913" indent="-442913" algn="just">
              <a:lnSpc>
                <a:spcPct val="150000"/>
              </a:lnSpc>
              <a:buFont typeface="Symbol" panose="05050102010706020507" pitchFamily="18" charset="2"/>
              <a:buChar char="®"/>
              <a:tabLst>
                <a:tab pos="1520825" algn="l"/>
              </a:tabLst>
            </a:pPr>
            <a:r>
              <a:rPr lang="en-US" sz="2000" dirty="0"/>
              <a:t> For the distance variation of the </a:t>
            </a:r>
            <a:r>
              <a:rPr lang="en-US" sz="2000" dirty="0" err="1"/>
              <a:t>displacement,We</a:t>
            </a:r>
            <a:r>
              <a:rPr lang="en-US" sz="2000" dirty="0"/>
              <a:t> need the   fundamental distance—time relationship:</a:t>
            </a:r>
            <a:endParaRPr lang="en-IN" sz="2000" dirty="0"/>
          </a:p>
          <a:p>
            <a:r>
              <a:rPr lang="en-US" sz="2000" dirty="0"/>
              <a:t>	</a:t>
            </a:r>
            <a:r>
              <a:rPr lang="en-US" sz="2000" b="1" dirty="0"/>
              <a:t>                                   x = </a:t>
            </a:r>
            <a:r>
              <a:rPr lang="en-US" sz="2000" b="1" dirty="0" err="1"/>
              <a:t>ct</a:t>
            </a:r>
            <a:r>
              <a:rPr lang="en-US" sz="2000" b="1" dirty="0"/>
              <a:t>   …………..(2)</a:t>
            </a:r>
            <a:endParaRPr lang="en-IN" sz="2000" b="1" dirty="0"/>
          </a:p>
          <a:p>
            <a:pPr>
              <a:lnSpc>
                <a:spcPct val="150000"/>
              </a:lnSpc>
            </a:pPr>
            <a:r>
              <a:rPr lang="en-US" sz="2000" dirty="0"/>
              <a:t>       Where x is the distance covered in time t at a speed c. Combining (1)  </a:t>
            </a:r>
          </a:p>
          <a:p>
            <a:pPr>
              <a:lnSpc>
                <a:spcPct val="150000"/>
              </a:lnSpc>
            </a:pPr>
            <a:r>
              <a:rPr lang="en-US" sz="2000" dirty="0"/>
              <a:t>       and (2) we have:</a:t>
            </a:r>
            <a:endParaRPr lang="en-IN" sz="2000" dirty="0"/>
          </a:p>
          <a:p>
            <a:pPr>
              <a:lnSpc>
                <a:spcPct val="150000"/>
              </a:lnSpc>
            </a:pPr>
            <a:r>
              <a:rPr lang="en-US" sz="2000" b="1" dirty="0"/>
              <a:t>                             y = A sin</a:t>
            </a:r>
            <a:r>
              <a:rPr lang="el-GR" sz="2000" b="1" dirty="0"/>
              <a:t> </a:t>
            </a:r>
            <a:r>
              <a:rPr lang="en-US" sz="2000" b="1" dirty="0"/>
              <a:t>2</a:t>
            </a:r>
            <a:r>
              <a:rPr lang="el-GR" sz="2000" b="1" dirty="0"/>
              <a:t>π</a:t>
            </a:r>
            <a:r>
              <a:rPr lang="el-GR" sz="2000" b="1" dirty="0">
                <a:latin typeface="Times New Roman" panose="02020603050405020304" pitchFamily="18" charset="0"/>
                <a:cs typeface="Times New Roman" panose="02020603050405020304" pitchFamily="18" charset="0"/>
              </a:rPr>
              <a:t>ν</a:t>
            </a:r>
            <a:r>
              <a:rPr lang="en-IN" sz="2000" b="1" dirty="0">
                <a:latin typeface="Times New Roman" panose="02020603050405020304" pitchFamily="18" charset="0"/>
                <a:cs typeface="Times New Roman" panose="02020603050405020304" pitchFamily="18" charset="0"/>
              </a:rPr>
              <a:t>t</a:t>
            </a:r>
            <a:r>
              <a:rPr lang="en-US" sz="2000" b="1" dirty="0">
                <a:latin typeface="Times New Roman" panose="02020603050405020304" pitchFamily="18" charset="0"/>
                <a:cs typeface="Times New Roman" panose="02020603050405020304" pitchFamily="18" charset="0"/>
              </a:rPr>
              <a:t> </a:t>
            </a:r>
            <a:r>
              <a:rPr lang="en-US" sz="2000" b="1" dirty="0"/>
              <a:t>= A sin</a:t>
            </a:r>
            <a:r>
              <a:rPr lang="el-GR" sz="2000" b="1" dirty="0"/>
              <a:t> </a:t>
            </a:r>
            <a:r>
              <a:rPr lang="en-US" sz="2000" b="1" dirty="0"/>
              <a:t>2</a:t>
            </a:r>
            <a:r>
              <a:rPr lang="el-GR" sz="2000" b="1" dirty="0"/>
              <a:t>π</a:t>
            </a:r>
            <a:r>
              <a:rPr lang="el-GR" sz="2000" b="1" dirty="0">
                <a:latin typeface="Times New Roman" panose="02020603050405020304" pitchFamily="18" charset="0"/>
                <a:cs typeface="Times New Roman" panose="02020603050405020304" pitchFamily="18" charset="0"/>
              </a:rPr>
              <a:t>ν</a:t>
            </a:r>
            <a:r>
              <a:rPr lang="en-IN" sz="2000" b="1" dirty="0">
                <a:latin typeface="Times New Roman" panose="02020603050405020304" pitchFamily="18" charset="0"/>
                <a:cs typeface="Times New Roman" panose="02020603050405020304" pitchFamily="18" charset="0"/>
              </a:rPr>
              <a:t>x/c  …………….(3)</a:t>
            </a:r>
            <a:endParaRPr lang="en-IN" sz="2000" b="1" i="1" dirty="0">
              <a:solidFill>
                <a:srgbClr val="009900"/>
              </a:solidFill>
            </a:endParaRPr>
          </a:p>
        </p:txBody>
      </p:sp>
    </p:spTree>
    <p:extLst>
      <p:ext uri="{BB962C8B-B14F-4D97-AF65-F5344CB8AC3E}">
        <p14:creationId xmlns:p14="http://schemas.microsoft.com/office/powerpoint/2010/main" val="2391005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0013"/>
            <a:ext cx="7354888" cy="461665"/>
          </a:xfrm>
          <a:prstGeom prst="rect">
            <a:avLst/>
          </a:prstGeom>
          <a:noFill/>
          <a:ln w="9525">
            <a:noFill/>
            <a:miter lim="800000"/>
            <a:headEnd/>
            <a:tailEnd/>
          </a:ln>
        </p:spPr>
        <p:txBody>
          <a:bodyPr>
            <a:spAutoFit/>
          </a:bodyPr>
          <a:lstStyle/>
          <a:p>
            <a:pPr algn="ctr"/>
            <a:r>
              <a:rPr lang="en-IN" altLang="ja-JP" sz="2400" dirty="0">
                <a:cs typeface="Arial" charset="0"/>
              </a:rPr>
              <a:t>Characterization of Electromagnetic Radiation</a:t>
            </a:r>
            <a:endParaRPr lang="en-US" altLang="ja-JP" sz="2400" dirty="0">
              <a:cs typeface="Arial" charset="0"/>
            </a:endParaRPr>
          </a:p>
        </p:txBody>
      </p:sp>
      <p:sp>
        <p:nvSpPr>
          <p:cNvPr id="6" name="テキスト ボックス 6"/>
          <p:cNvSpPr txBox="1">
            <a:spLocks noChangeArrowheads="1"/>
          </p:cNvSpPr>
          <p:nvPr/>
        </p:nvSpPr>
        <p:spPr bwMode="auto">
          <a:xfrm>
            <a:off x="261938" y="3283153"/>
            <a:ext cx="8484942" cy="3046988"/>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Besides the frequency </a:t>
            </a:r>
            <a:r>
              <a:rPr lang="el-GR" sz="2400" b="1" dirty="0">
                <a:latin typeface="Times New Roman" panose="02020603050405020304" pitchFamily="18" charset="0"/>
                <a:cs typeface="Times New Roman" panose="02020603050405020304" pitchFamily="18" charset="0"/>
              </a:rPr>
              <a:t>ν</a:t>
            </a:r>
            <a:r>
              <a:rPr lang="en-IN" sz="2000" dirty="0"/>
              <a:t>, we now have another property by which we can characterize the wave is its wavelength </a:t>
            </a:r>
            <a:r>
              <a:rPr lang="el-GR" sz="2000" b="1" dirty="0"/>
              <a:t>λ</a:t>
            </a:r>
            <a:r>
              <a:rPr lang="en-IN" sz="2000" dirty="0"/>
              <a:t>, which is the distance travelled during a complete cycle. When the velocity is </a:t>
            </a:r>
            <a:r>
              <a:rPr lang="en-IN" sz="2000" b="1" dirty="0"/>
              <a:t>c</a:t>
            </a:r>
            <a:r>
              <a:rPr lang="en-IN" sz="2000" dirty="0"/>
              <a:t> metres per second and there are </a:t>
            </a:r>
            <a:r>
              <a:rPr lang="el-GR" sz="2400" b="1" dirty="0">
                <a:latin typeface="Times New Roman" panose="02020603050405020304" pitchFamily="18" charset="0"/>
                <a:cs typeface="Times New Roman" panose="02020603050405020304" pitchFamily="18" charset="0"/>
              </a:rPr>
              <a:t>ν</a:t>
            </a:r>
            <a:r>
              <a:rPr lang="en-IN" sz="2000" dirty="0"/>
              <a:t> cycles per second, there are evidently </a:t>
            </a:r>
            <a:r>
              <a:rPr lang="el-GR" sz="2400" b="1" dirty="0">
                <a:latin typeface="Times New Roman" panose="02020603050405020304" pitchFamily="18" charset="0"/>
                <a:cs typeface="Times New Roman" panose="02020603050405020304" pitchFamily="18" charset="0"/>
              </a:rPr>
              <a:t>ν</a:t>
            </a:r>
            <a:r>
              <a:rPr lang="en-IN" sz="2400" dirty="0"/>
              <a:t> </a:t>
            </a:r>
            <a:r>
              <a:rPr lang="en-IN" sz="2000" dirty="0"/>
              <a:t>waves in </a:t>
            </a:r>
            <a:r>
              <a:rPr lang="en-IN" sz="2000" b="1" dirty="0"/>
              <a:t>c</a:t>
            </a:r>
            <a:r>
              <a:rPr lang="en-IN" sz="2000" dirty="0"/>
              <a:t> metres, or</a:t>
            </a:r>
          </a:p>
          <a:p>
            <a:pPr lvl="2" algn="just">
              <a:lnSpc>
                <a:spcPct val="150000"/>
              </a:lnSpc>
              <a:tabLst>
                <a:tab pos="1520825" algn="l"/>
              </a:tabLst>
            </a:pPr>
            <a:r>
              <a:rPr lang="en-IN" sz="2000" dirty="0"/>
              <a:t>				</a:t>
            </a:r>
            <a:endParaRPr lang="en-US" sz="2000" dirty="0"/>
          </a:p>
        </p:txBody>
      </p:sp>
      <p:pic>
        <p:nvPicPr>
          <p:cNvPr id="7" name="Picture 6"/>
          <p:cNvPicPr/>
          <p:nvPr/>
        </p:nvPicPr>
        <p:blipFill>
          <a:blip r:embed="rId2"/>
          <a:stretch>
            <a:fillRect/>
          </a:stretch>
        </p:blipFill>
        <p:spPr>
          <a:xfrm>
            <a:off x="2082556" y="663610"/>
            <a:ext cx="5039460" cy="2576344"/>
          </a:xfrm>
          <a:prstGeom prst="rect">
            <a:avLst/>
          </a:prstGeom>
        </p:spPr>
      </p:pic>
      <p:pic>
        <p:nvPicPr>
          <p:cNvPr id="9" name="Picture 8"/>
          <p:cNvPicPr>
            <a:picLocks noChangeAspect="1"/>
          </p:cNvPicPr>
          <p:nvPr/>
        </p:nvPicPr>
        <p:blipFill>
          <a:blip r:embed="rId3">
            <a:lum bright="-20000" contrast="40000"/>
          </a:blip>
          <a:stretch>
            <a:fillRect/>
          </a:stretch>
        </p:blipFill>
        <p:spPr>
          <a:xfrm>
            <a:off x="3080774" y="5819097"/>
            <a:ext cx="4041242" cy="427562"/>
          </a:xfrm>
          <a:prstGeom prst="rect">
            <a:avLst/>
          </a:prstGeom>
        </p:spPr>
      </p:pic>
      <p:pic>
        <p:nvPicPr>
          <p:cNvPr id="10" name="Picture 9"/>
          <p:cNvPicPr>
            <a:picLocks noChangeAspect="1"/>
          </p:cNvPicPr>
          <p:nvPr/>
        </p:nvPicPr>
        <p:blipFill>
          <a:blip r:embed="rId4">
            <a:lum bright="-20000" contrast="40000"/>
          </a:blip>
          <a:stretch>
            <a:fillRect/>
          </a:stretch>
        </p:blipFill>
        <p:spPr>
          <a:xfrm>
            <a:off x="3860287" y="6289858"/>
            <a:ext cx="1726419" cy="568142"/>
          </a:xfrm>
          <a:prstGeom prst="rect">
            <a:avLst/>
          </a:prstGeom>
        </p:spPr>
      </p:pic>
    </p:spTree>
    <p:extLst>
      <p:ext uri="{BB962C8B-B14F-4D97-AF65-F5344CB8AC3E}">
        <p14:creationId xmlns:p14="http://schemas.microsoft.com/office/powerpoint/2010/main" val="83925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テキスト ボックス 3"/>
          <p:cNvSpPr txBox="1">
            <a:spLocks noChangeArrowheads="1"/>
          </p:cNvSpPr>
          <p:nvPr/>
        </p:nvSpPr>
        <p:spPr bwMode="auto">
          <a:xfrm>
            <a:off x="876300" y="100013"/>
            <a:ext cx="7354888" cy="461665"/>
          </a:xfrm>
          <a:prstGeom prst="rect">
            <a:avLst/>
          </a:prstGeom>
          <a:noFill/>
          <a:ln w="9525">
            <a:noFill/>
            <a:miter lim="800000"/>
            <a:headEnd/>
            <a:tailEnd/>
          </a:ln>
        </p:spPr>
        <p:txBody>
          <a:bodyPr>
            <a:spAutoFit/>
          </a:bodyPr>
          <a:lstStyle/>
          <a:p>
            <a:pPr algn="ctr"/>
            <a:r>
              <a:rPr lang="en-IN" altLang="ja-JP" sz="2400" dirty="0">
                <a:cs typeface="Arial" charset="0"/>
              </a:rPr>
              <a:t>Characterization of Electromagnetic Radiation</a:t>
            </a:r>
            <a:endParaRPr lang="en-US" altLang="ja-JP" sz="2400" dirty="0">
              <a:cs typeface="Arial" charset="0"/>
            </a:endParaRPr>
          </a:p>
        </p:txBody>
      </p:sp>
      <p:sp>
        <p:nvSpPr>
          <p:cNvPr id="14" name="テキスト ボックス 6"/>
          <p:cNvSpPr txBox="1">
            <a:spLocks noChangeArrowheads="1"/>
          </p:cNvSpPr>
          <p:nvPr/>
        </p:nvSpPr>
        <p:spPr bwMode="auto">
          <a:xfrm>
            <a:off x="311273" y="600313"/>
            <a:ext cx="8484942" cy="4939814"/>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In spectroscopy wavelengths are expressed in a variety of units, </a:t>
            </a:r>
          </a:p>
          <a:p>
            <a:pPr marL="442913" indent="-442913" algn="just">
              <a:lnSpc>
                <a:spcPct val="150000"/>
              </a:lnSpc>
              <a:buFont typeface="Symbol" panose="05050102010706020507" pitchFamily="18" charset="2"/>
              <a:buChar char="®"/>
              <a:tabLst>
                <a:tab pos="1520825" algn="l"/>
              </a:tabLst>
            </a:pPr>
            <a:r>
              <a:rPr lang="en-US" sz="2000" dirty="0"/>
              <a:t>In the </a:t>
            </a:r>
            <a:r>
              <a:rPr lang="en-US" sz="2000" b="1" dirty="0"/>
              <a:t>microwave region</a:t>
            </a:r>
            <a:r>
              <a:rPr lang="en-US" sz="2000" dirty="0"/>
              <a:t>, </a:t>
            </a:r>
            <a:r>
              <a:rPr lang="el-GR" sz="2000" b="1" dirty="0"/>
              <a:t>λ</a:t>
            </a:r>
            <a:r>
              <a:rPr lang="en-US" sz="2000" dirty="0"/>
              <a:t> is measured in </a:t>
            </a:r>
            <a:r>
              <a:rPr lang="en-US" sz="2000" b="1" dirty="0"/>
              <a:t>centimeters or millimeters</a:t>
            </a:r>
          </a:p>
          <a:p>
            <a:pPr marL="442913" indent="-442913" algn="just">
              <a:lnSpc>
                <a:spcPct val="150000"/>
              </a:lnSpc>
              <a:buFont typeface="Symbol" panose="05050102010706020507" pitchFamily="18" charset="2"/>
              <a:buChar char="®"/>
              <a:tabLst>
                <a:tab pos="1520825" algn="l"/>
              </a:tabLst>
            </a:pPr>
            <a:r>
              <a:rPr lang="en-US" sz="2000" b="1" dirty="0">
                <a:highlight>
                  <a:srgbClr val="FFFF00"/>
                </a:highlight>
              </a:rPr>
              <a:t>Infra-red</a:t>
            </a:r>
            <a:r>
              <a:rPr lang="en-US" sz="2000" dirty="0">
                <a:highlight>
                  <a:srgbClr val="FFFF00"/>
                </a:highlight>
              </a:rPr>
              <a:t> it is usually given in </a:t>
            </a:r>
            <a:r>
              <a:rPr lang="en-US" sz="2000" b="1" dirty="0">
                <a:highlight>
                  <a:srgbClr val="FFFF00"/>
                </a:highlight>
              </a:rPr>
              <a:t>micrometers.</a:t>
            </a:r>
          </a:p>
          <a:p>
            <a:pPr marL="442913" indent="-442913" algn="just">
              <a:lnSpc>
                <a:spcPct val="150000"/>
              </a:lnSpc>
              <a:buFont typeface="Symbol" panose="05050102010706020507" pitchFamily="18" charset="2"/>
              <a:buChar char="®"/>
              <a:tabLst>
                <a:tab pos="1520825" algn="l"/>
              </a:tabLst>
            </a:pPr>
            <a:r>
              <a:rPr lang="en-US" sz="2000" dirty="0"/>
              <a:t>In the </a:t>
            </a:r>
            <a:r>
              <a:rPr lang="en-US" sz="2000" b="1" dirty="0"/>
              <a:t>visible and ultra-violet </a:t>
            </a:r>
            <a:r>
              <a:rPr lang="en-US" sz="2000" dirty="0"/>
              <a:t>region, is still often expressed in </a:t>
            </a:r>
            <a:r>
              <a:rPr lang="en-US" sz="2000" b="1" dirty="0">
                <a:highlight>
                  <a:srgbClr val="FFFF00"/>
                </a:highlight>
              </a:rPr>
              <a:t>Angstrom</a:t>
            </a:r>
            <a:r>
              <a:rPr lang="en-US" sz="2000" dirty="0"/>
              <a:t> units (Å). </a:t>
            </a:r>
          </a:p>
          <a:p>
            <a:pPr algn="just">
              <a:lnSpc>
                <a:spcPct val="150000"/>
              </a:lnSpc>
              <a:tabLst>
                <a:tab pos="1520825" algn="l"/>
              </a:tabLst>
            </a:pPr>
            <a:endParaRPr lang="en-US" sz="1000" b="1" i="1" dirty="0"/>
          </a:p>
          <a:p>
            <a:pPr marL="442913" indent="-442913" algn="just">
              <a:lnSpc>
                <a:spcPct val="150000"/>
              </a:lnSpc>
              <a:buFont typeface="Symbol" panose="05050102010706020507" pitchFamily="18" charset="2"/>
              <a:buChar char="®"/>
              <a:tabLst>
                <a:tab pos="1520825" algn="l"/>
              </a:tabLst>
            </a:pPr>
            <a:r>
              <a:rPr lang="en-US" sz="2000" dirty="0"/>
              <a:t>There is yet a third way in which electromagnetic radiation can be usefully characterized, and this is in terms of the</a:t>
            </a:r>
            <a:r>
              <a:rPr lang="en-US" sz="2000" dirty="0">
                <a:highlight>
                  <a:srgbClr val="FFFF00"/>
                </a:highlight>
              </a:rPr>
              <a:t> </a:t>
            </a:r>
            <a:r>
              <a:rPr lang="en-US" sz="2000" b="1" dirty="0">
                <a:highlight>
                  <a:srgbClr val="FFFF00"/>
                </a:highlight>
              </a:rPr>
              <a:t>wavenumber</a:t>
            </a:r>
            <a:r>
              <a:rPr lang="en-US" sz="2000" dirty="0">
                <a:highlight>
                  <a:srgbClr val="FFFF00"/>
                </a:highlight>
              </a:rPr>
              <a:t> </a:t>
            </a:r>
            <a:r>
              <a:rPr lang="el-GR" sz="2000" b="1" dirty="0">
                <a:highlight>
                  <a:srgbClr val="FFFF00"/>
                </a:highlight>
                <a:latin typeface="Times New Roman" panose="02020603050405020304" pitchFamily="18" charset="0"/>
                <a:cs typeface="Times New Roman" panose="02020603050405020304" pitchFamily="18" charset="0"/>
              </a:rPr>
              <a:t>ν</a:t>
            </a:r>
            <a:r>
              <a:rPr lang="en-US" sz="2000" dirty="0">
                <a:highlight>
                  <a:srgbClr val="FFFF00"/>
                </a:highlight>
              </a:rPr>
              <a:t>. </a:t>
            </a:r>
            <a:r>
              <a:rPr lang="en-US" sz="2000" dirty="0"/>
              <a:t>Formally this is defined as the reciprocal of the wavelength expressed </a:t>
            </a:r>
            <a:r>
              <a:rPr lang="en-US" sz="2000" dirty="0">
                <a:highlight>
                  <a:srgbClr val="FFFF00"/>
                </a:highlight>
              </a:rPr>
              <a:t>in </a:t>
            </a:r>
            <a:r>
              <a:rPr lang="en-US" sz="2000" b="1" i="1" dirty="0" err="1">
                <a:highlight>
                  <a:srgbClr val="FFFF00"/>
                </a:highlight>
              </a:rPr>
              <a:t>centimetres</a:t>
            </a:r>
            <a:r>
              <a:rPr lang="en-US" sz="2000" b="1" i="1" dirty="0">
                <a:highlight>
                  <a:srgbClr val="FFFF00"/>
                </a:highlight>
              </a:rPr>
              <a:t>.</a:t>
            </a:r>
            <a:endParaRPr lang="en-IN" sz="2000" b="1" i="1" dirty="0">
              <a:highlight>
                <a:srgbClr val="FFFF00"/>
              </a:highlight>
            </a:endParaRPr>
          </a:p>
        </p:txBody>
      </p:sp>
      <p:cxnSp>
        <p:nvCxnSpPr>
          <p:cNvPr id="4" name="Straight Connector 3"/>
          <p:cNvCxnSpPr/>
          <p:nvPr/>
        </p:nvCxnSpPr>
        <p:spPr>
          <a:xfrm>
            <a:off x="8500056" y="4250028"/>
            <a:ext cx="141668" cy="0"/>
          </a:xfrm>
          <a:prstGeom prst="line">
            <a:avLst/>
          </a:prstGeom>
          <a:ln w="38100"/>
        </p:spPr>
        <p:style>
          <a:lnRef idx="1">
            <a:schemeClr val="dk1"/>
          </a:lnRef>
          <a:fillRef idx="0">
            <a:schemeClr val="dk1"/>
          </a:fillRef>
          <a:effectRef idx="0">
            <a:schemeClr val="dk1"/>
          </a:effectRef>
          <a:fontRef idx="minor">
            <a:schemeClr val="tx1"/>
          </a:fontRef>
        </p:style>
      </p:cxnSp>
      <p:pic>
        <p:nvPicPr>
          <p:cNvPr id="5" name="Picture 4"/>
          <p:cNvPicPr>
            <a:picLocks noChangeAspect="1"/>
          </p:cNvPicPr>
          <p:nvPr/>
        </p:nvPicPr>
        <p:blipFill>
          <a:blip r:embed="rId2">
            <a:lum bright="-20000" contrast="40000"/>
          </a:blip>
          <a:stretch>
            <a:fillRect/>
          </a:stretch>
        </p:blipFill>
        <p:spPr>
          <a:xfrm>
            <a:off x="3376953" y="5540127"/>
            <a:ext cx="1949450" cy="448549"/>
          </a:xfrm>
          <a:prstGeom prst="rect">
            <a:avLst/>
          </a:prstGeom>
        </p:spPr>
      </p:pic>
      <p:pic>
        <p:nvPicPr>
          <p:cNvPr id="6" name="Picture 5"/>
          <p:cNvPicPr>
            <a:picLocks noChangeAspect="1"/>
          </p:cNvPicPr>
          <p:nvPr/>
        </p:nvPicPr>
        <p:blipFill>
          <a:blip r:embed="rId3">
            <a:lum bright="-20000" contrast="40000"/>
          </a:blip>
          <a:stretch>
            <a:fillRect/>
          </a:stretch>
        </p:blipFill>
        <p:spPr>
          <a:xfrm>
            <a:off x="3449391" y="6186801"/>
            <a:ext cx="1877012" cy="355667"/>
          </a:xfrm>
          <a:prstGeom prst="rect">
            <a:avLst/>
          </a:prstGeom>
        </p:spPr>
      </p:pic>
    </p:spTree>
    <p:extLst>
      <p:ext uri="{BB962C8B-B14F-4D97-AF65-F5344CB8AC3E}">
        <p14:creationId xmlns:p14="http://schemas.microsoft.com/office/powerpoint/2010/main" val="2808129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0013"/>
            <a:ext cx="7354888" cy="461962"/>
          </a:xfrm>
          <a:prstGeom prst="rect">
            <a:avLst/>
          </a:prstGeom>
          <a:noFill/>
          <a:ln w="9525">
            <a:noFill/>
            <a:miter lim="800000"/>
            <a:headEnd/>
            <a:tailEnd/>
          </a:ln>
        </p:spPr>
        <p:txBody>
          <a:bodyPr>
            <a:spAutoFit/>
          </a:bodyPr>
          <a:lstStyle/>
          <a:p>
            <a:pPr algn="ctr"/>
            <a:r>
              <a:rPr lang="en-IN" altLang="ja-JP" sz="2400" dirty="0">
                <a:cs typeface="Arial" charset="0"/>
              </a:rPr>
              <a:t>The Quantization of Energy</a:t>
            </a:r>
            <a:endParaRPr lang="en-US" altLang="ja-JP" sz="2400" dirty="0">
              <a:cs typeface="Arial" charset="0"/>
            </a:endParaRPr>
          </a:p>
        </p:txBody>
      </p:sp>
      <p:cxnSp>
        <p:nvCxnSpPr>
          <p:cNvPr id="5"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89162"/>
            <a:ext cx="8484942" cy="6463308"/>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In 1900 Max Planck published the revolutionary idea that</a:t>
            </a:r>
            <a:r>
              <a:rPr lang="en-IN" sz="2000" b="1" dirty="0">
                <a:highlight>
                  <a:srgbClr val="FFFF00"/>
                </a:highlight>
              </a:rPr>
              <a:t> </a:t>
            </a:r>
            <a:r>
              <a:rPr lang="en-IN" sz="2000" b="1" dirty="0">
                <a:solidFill>
                  <a:srgbClr val="FF0000"/>
                </a:solidFill>
                <a:highlight>
                  <a:srgbClr val="FFFF00"/>
                </a:highlight>
              </a:rPr>
              <a:t>the energy of an oscillator is discontinuous and that any change in its energy content can occur only by means of a jump between two distinct energy states</a:t>
            </a:r>
            <a:r>
              <a:rPr lang="en-IN" sz="2000" dirty="0">
                <a:highlight>
                  <a:srgbClr val="FFFF00"/>
                </a:highlight>
              </a:rPr>
              <a:t>. </a:t>
            </a:r>
            <a:r>
              <a:rPr lang="en-IN" sz="2000" dirty="0"/>
              <a:t>The idea was later extended to cover many other forms of the energy of matter.</a:t>
            </a:r>
          </a:p>
          <a:p>
            <a:pPr algn="just">
              <a:lnSpc>
                <a:spcPct val="150000"/>
              </a:lnSpc>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IN" sz="2000" dirty="0"/>
              <a:t>A molecule in space can have many sorts of energy; e.g., it may possess </a:t>
            </a:r>
            <a:r>
              <a:rPr lang="en-IN" sz="2000" b="1" dirty="0">
                <a:highlight>
                  <a:srgbClr val="FFFF00"/>
                </a:highlight>
              </a:rPr>
              <a:t>rotational energy </a:t>
            </a:r>
            <a:r>
              <a:rPr lang="en-IN" sz="2000" dirty="0"/>
              <a:t>by virtue of bodily rotation about its centre of gravity; it will have </a:t>
            </a:r>
            <a:r>
              <a:rPr lang="en-IN" sz="2000" b="1" dirty="0">
                <a:highlight>
                  <a:srgbClr val="FFFF00"/>
                </a:highlight>
              </a:rPr>
              <a:t>vibrational energy </a:t>
            </a:r>
            <a:r>
              <a:rPr lang="en-IN" sz="2000" dirty="0"/>
              <a:t>due to the periodic displacement of its atoms from their equilibrium positions; it will have </a:t>
            </a:r>
            <a:r>
              <a:rPr lang="en-IN" sz="2000" b="1" dirty="0">
                <a:highlight>
                  <a:srgbClr val="FFFF00"/>
                </a:highlight>
              </a:rPr>
              <a:t>electronic energy </a:t>
            </a:r>
            <a:r>
              <a:rPr lang="en-IN" sz="2000" dirty="0"/>
              <a:t>since the electrons associated with each</a:t>
            </a:r>
            <a:r>
              <a:rPr lang="en-IN" sz="2000" dirty="0">
                <a:highlight>
                  <a:srgbClr val="FFFF00"/>
                </a:highlight>
              </a:rPr>
              <a:t> atom or bond are in unceasing motion</a:t>
            </a:r>
            <a:r>
              <a:rPr lang="en-IN" sz="2000" dirty="0"/>
              <a:t>, etc. </a:t>
            </a:r>
          </a:p>
          <a:p>
            <a:pPr algn="just">
              <a:lnSpc>
                <a:spcPct val="150000"/>
              </a:lnSpc>
              <a:tabLst>
                <a:tab pos="1520825" algn="l"/>
              </a:tabLst>
            </a:pPr>
            <a:endParaRPr lang="en-IN" sz="500" dirty="0"/>
          </a:p>
          <a:p>
            <a:pPr marL="442913" indent="-442913" algn="just">
              <a:lnSpc>
                <a:spcPct val="150000"/>
              </a:lnSpc>
              <a:buFont typeface="Symbol" panose="05050102010706020507" pitchFamily="18" charset="2"/>
              <a:buChar char="®"/>
              <a:tabLst>
                <a:tab pos="1520825" algn="l"/>
              </a:tabLst>
            </a:pPr>
            <a:r>
              <a:rPr lang="en-US" sz="2000" dirty="0"/>
              <a:t>Electron can exist in one of several discrete energy levels: the energy as being quantized. </a:t>
            </a:r>
            <a:endParaRPr lang="en-IN" sz="2000" dirty="0"/>
          </a:p>
        </p:txBody>
      </p:sp>
    </p:spTree>
    <p:extLst>
      <p:ext uri="{BB962C8B-B14F-4D97-AF65-F5344CB8AC3E}">
        <p14:creationId xmlns:p14="http://schemas.microsoft.com/office/powerpoint/2010/main" val="4246427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3"/>
          <p:cNvSpPr txBox="1">
            <a:spLocks noChangeArrowheads="1"/>
          </p:cNvSpPr>
          <p:nvPr/>
        </p:nvSpPr>
        <p:spPr bwMode="auto">
          <a:xfrm>
            <a:off x="876300" y="100013"/>
            <a:ext cx="7354888" cy="461962"/>
          </a:xfrm>
          <a:prstGeom prst="rect">
            <a:avLst/>
          </a:prstGeom>
          <a:noFill/>
          <a:ln w="9525">
            <a:noFill/>
            <a:miter lim="800000"/>
            <a:headEnd/>
            <a:tailEnd/>
          </a:ln>
        </p:spPr>
        <p:txBody>
          <a:bodyPr>
            <a:spAutoFit/>
          </a:bodyPr>
          <a:lstStyle/>
          <a:p>
            <a:pPr algn="ctr"/>
            <a:r>
              <a:rPr lang="en-IN" altLang="ja-JP" sz="2400" dirty="0">
                <a:cs typeface="Arial" charset="0"/>
              </a:rPr>
              <a:t>The Quantization of Energy</a:t>
            </a:r>
            <a:endParaRPr lang="en-US" altLang="ja-JP" sz="2400" dirty="0">
              <a:cs typeface="Arial" charset="0"/>
            </a:endParaRPr>
          </a:p>
        </p:txBody>
      </p:sp>
      <p:cxnSp>
        <p:nvCxnSpPr>
          <p:cNvPr id="7"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テキスト ボックス 6"/>
          <p:cNvSpPr txBox="1">
            <a:spLocks noChangeArrowheads="1"/>
          </p:cNvSpPr>
          <p:nvPr/>
        </p:nvSpPr>
        <p:spPr bwMode="auto">
          <a:xfrm>
            <a:off x="261938" y="4034371"/>
            <a:ext cx="8484942" cy="2562496"/>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In much the same way the rotational, vibrational, and other energies of a molecule are also quantized—a particular molecule can exist in a variety of rotational, vibrational, etc., energy levels and can move from one level to another only </a:t>
            </a:r>
            <a:r>
              <a:rPr lang="en-IN" sz="2000" dirty="0">
                <a:highlight>
                  <a:srgbClr val="FFFF00"/>
                </a:highlight>
              </a:rPr>
              <a:t>by a sudden jump involving a </a:t>
            </a:r>
            <a:r>
              <a:rPr lang="en-IN" sz="2000" b="1" dirty="0">
                <a:highlight>
                  <a:srgbClr val="FFFF00"/>
                </a:highlight>
              </a:rPr>
              <a:t>finite</a:t>
            </a:r>
            <a:r>
              <a:rPr lang="en-IN" sz="2000" dirty="0">
                <a:highlight>
                  <a:srgbClr val="FFFF00"/>
                </a:highlight>
              </a:rPr>
              <a:t> amount of energy.</a:t>
            </a:r>
          </a:p>
          <a:p>
            <a:pPr algn="just">
              <a:lnSpc>
                <a:spcPct val="150000"/>
              </a:lnSpc>
              <a:tabLst>
                <a:tab pos="1520825" algn="l"/>
              </a:tabLst>
            </a:pPr>
            <a:endParaRPr lang="en-IN" sz="800" dirty="0"/>
          </a:p>
        </p:txBody>
      </p:sp>
      <p:pic>
        <p:nvPicPr>
          <p:cNvPr id="11" name="Picture 10" descr="D:\Chem-340\main-qimg-696f33c86b2289656a78e8d790916436-lq.jpg"/>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472069" y="595428"/>
            <a:ext cx="5731510" cy="3227070"/>
          </a:xfrm>
          <a:prstGeom prst="rect">
            <a:avLst/>
          </a:prstGeom>
          <a:noFill/>
          <a:ln>
            <a:noFill/>
          </a:ln>
        </p:spPr>
      </p:pic>
    </p:spTree>
    <p:extLst>
      <p:ext uri="{BB962C8B-B14F-4D97-AF65-F5344CB8AC3E}">
        <p14:creationId xmlns:p14="http://schemas.microsoft.com/office/powerpoint/2010/main" val="3881559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3"/>
          <p:cNvSpPr txBox="1">
            <a:spLocks noChangeArrowheads="1"/>
          </p:cNvSpPr>
          <p:nvPr/>
        </p:nvSpPr>
        <p:spPr bwMode="auto">
          <a:xfrm>
            <a:off x="876300" y="-5494"/>
            <a:ext cx="7354888" cy="461962"/>
          </a:xfrm>
          <a:prstGeom prst="rect">
            <a:avLst/>
          </a:prstGeom>
          <a:noFill/>
          <a:ln w="9525">
            <a:noFill/>
            <a:miter lim="800000"/>
            <a:headEnd/>
            <a:tailEnd/>
          </a:ln>
        </p:spPr>
        <p:txBody>
          <a:bodyPr>
            <a:spAutoFit/>
          </a:bodyPr>
          <a:lstStyle/>
          <a:p>
            <a:pPr algn="ctr"/>
            <a:r>
              <a:rPr lang="en-IN" altLang="ja-JP" sz="2400" dirty="0">
                <a:cs typeface="Arial" charset="0"/>
              </a:rPr>
              <a:t>The Quantization of Energy</a:t>
            </a:r>
            <a:endParaRPr lang="en-US" altLang="ja-JP" sz="2400" dirty="0">
              <a:cs typeface="Arial" charset="0"/>
            </a:endParaRPr>
          </a:p>
        </p:txBody>
      </p:sp>
      <p:cxnSp>
        <p:nvCxnSpPr>
          <p:cNvPr id="6" name="直線コネクタ 2"/>
          <p:cNvCxnSpPr/>
          <p:nvPr/>
        </p:nvCxnSpPr>
        <p:spPr>
          <a:xfrm>
            <a:off x="261938" y="456468"/>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7" name="Picture 6"/>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981404" y="539262"/>
            <a:ext cx="7249783" cy="6131169"/>
          </a:xfrm>
          <a:prstGeom prst="rect">
            <a:avLst/>
          </a:prstGeom>
          <a:noFill/>
          <a:ln>
            <a:noFill/>
          </a:ln>
          <a:extLst/>
        </p:spPr>
      </p:pic>
    </p:spTree>
    <p:extLst>
      <p:ext uri="{BB962C8B-B14F-4D97-AF65-F5344CB8AC3E}">
        <p14:creationId xmlns:p14="http://schemas.microsoft.com/office/powerpoint/2010/main" val="2673473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1297328" y="556845"/>
            <a:ext cx="6510241" cy="6301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テキスト ボックス 3"/>
          <p:cNvSpPr txBox="1">
            <a:spLocks noChangeArrowheads="1"/>
          </p:cNvSpPr>
          <p:nvPr/>
        </p:nvSpPr>
        <p:spPr bwMode="auto">
          <a:xfrm>
            <a:off x="876300" y="-5494"/>
            <a:ext cx="7354888" cy="461962"/>
          </a:xfrm>
          <a:prstGeom prst="rect">
            <a:avLst/>
          </a:prstGeom>
          <a:noFill/>
          <a:ln w="9525">
            <a:noFill/>
            <a:miter lim="800000"/>
            <a:headEnd/>
            <a:tailEnd/>
          </a:ln>
        </p:spPr>
        <p:txBody>
          <a:bodyPr>
            <a:spAutoFit/>
          </a:bodyPr>
          <a:lstStyle/>
          <a:p>
            <a:pPr algn="ctr"/>
            <a:r>
              <a:rPr lang="en-IN" altLang="ja-JP" sz="2400" dirty="0">
                <a:cs typeface="Arial" charset="0"/>
              </a:rPr>
              <a:t>The Quantization of Energy</a:t>
            </a:r>
            <a:endParaRPr lang="en-US" altLang="ja-JP" sz="2400" dirty="0">
              <a:cs typeface="Arial" charset="0"/>
            </a:endParaRPr>
          </a:p>
        </p:txBody>
      </p:sp>
      <p:cxnSp>
        <p:nvCxnSpPr>
          <p:cNvPr id="8" name="直線コネクタ 2"/>
          <p:cNvCxnSpPr/>
          <p:nvPr/>
        </p:nvCxnSpPr>
        <p:spPr>
          <a:xfrm>
            <a:off x="261938" y="456468"/>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7237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3"/>
          <p:cNvSpPr txBox="1">
            <a:spLocks noChangeArrowheads="1"/>
          </p:cNvSpPr>
          <p:nvPr/>
        </p:nvSpPr>
        <p:spPr bwMode="auto">
          <a:xfrm>
            <a:off x="876300" y="100013"/>
            <a:ext cx="7354888" cy="461962"/>
          </a:xfrm>
          <a:prstGeom prst="rect">
            <a:avLst/>
          </a:prstGeom>
          <a:noFill/>
          <a:ln w="9525">
            <a:noFill/>
            <a:miter lim="800000"/>
            <a:headEnd/>
            <a:tailEnd/>
          </a:ln>
        </p:spPr>
        <p:txBody>
          <a:bodyPr>
            <a:spAutoFit/>
          </a:bodyPr>
          <a:lstStyle/>
          <a:p>
            <a:pPr algn="ctr"/>
            <a:r>
              <a:rPr lang="en-IN" altLang="ja-JP" sz="2400" dirty="0">
                <a:cs typeface="Arial" charset="0"/>
              </a:rPr>
              <a:t>The Quantization of Energy</a:t>
            </a:r>
            <a:endParaRPr lang="en-US" altLang="ja-JP" sz="2400" dirty="0">
              <a:cs typeface="Arial" charset="0"/>
            </a:endParaRPr>
          </a:p>
        </p:txBody>
      </p:sp>
      <p:cxnSp>
        <p:nvCxnSpPr>
          <p:cNvPr id="8"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テキスト ボックス 6"/>
          <p:cNvSpPr txBox="1">
            <a:spLocks noChangeArrowheads="1"/>
          </p:cNvSpPr>
          <p:nvPr/>
        </p:nvSpPr>
        <p:spPr bwMode="auto">
          <a:xfrm>
            <a:off x="311273" y="589162"/>
            <a:ext cx="8484942" cy="5978560"/>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Consider two possible energy states of a system—two rotational energy levels of a molecule, for example—labelled E</a:t>
            </a:r>
            <a:r>
              <a:rPr lang="en-IN" sz="2000" baseline="-25000" dirty="0"/>
              <a:t>l</a:t>
            </a:r>
            <a:r>
              <a:rPr lang="en-IN" sz="2000" dirty="0"/>
              <a:t> and E</a:t>
            </a:r>
            <a:r>
              <a:rPr lang="en-IN" sz="2000" baseline="-25000" dirty="0"/>
              <a:t>2</a:t>
            </a:r>
            <a:r>
              <a:rPr lang="en-IN" sz="2000" dirty="0"/>
              <a:t> in the following diagram. The suffixes 1 and 2 used to distinguish these levels are in fact </a:t>
            </a:r>
            <a:r>
              <a:rPr lang="en-IN" sz="2000" b="1" dirty="0"/>
              <a:t>quantum numbers.</a:t>
            </a:r>
            <a:endParaRPr lang="en-IN" sz="800" b="1" dirty="0"/>
          </a:p>
          <a:p>
            <a:pPr marL="442913" indent="-442913" algn="just">
              <a:lnSpc>
                <a:spcPct val="150000"/>
              </a:lnSpc>
              <a:buFont typeface="Symbol" panose="05050102010706020507" pitchFamily="18" charset="2"/>
              <a:buChar char="®"/>
              <a:tabLst>
                <a:tab pos="1520825" algn="l"/>
              </a:tabLst>
            </a:pPr>
            <a:endParaRPr lang="en-IN" sz="2000" dirty="0"/>
          </a:p>
          <a:p>
            <a:pPr algn="just">
              <a:lnSpc>
                <a:spcPct val="150000"/>
              </a:lnSpc>
              <a:tabLst>
                <a:tab pos="1520825" algn="l"/>
              </a:tabLst>
            </a:pPr>
            <a:endParaRPr lang="en-IN" sz="2000" dirty="0"/>
          </a:p>
          <a:p>
            <a:pPr algn="just">
              <a:lnSpc>
                <a:spcPct val="150000"/>
              </a:lnSpc>
              <a:tabLst>
                <a:tab pos="1520825" algn="l"/>
              </a:tabLst>
            </a:pPr>
            <a:endParaRPr lang="en-IN" sz="2000" dirty="0"/>
          </a:p>
          <a:p>
            <a:pPr algn="just">
              <a:lnSpc>
                <a:spcPct val="150000"/>
              </a:lnSpc>
              <a:tabLst>
                <a:tab pos="1520825" algn="l"/>
              </a:tabLst>
            </a:pPr>
            <a:endParaRPr lang="en-IN" sz="2000" dirty="0"/>
          </a:p>
          <a:p>
            <a:pPr algn="just">
              <a:lnSpc>
                <a:spcPct val="150000"/>
              </a:lnSpc>
              <a:tabLst>
                <a:tab pos="1520825" algn="l"/>
              </a:tabLst>
            </a:pPr>
            <a:endParaRPr lang="en-IN" sz="500" dirty="0"/>
          </a:p>
          <a:p>
            <a:pPr algn="just">
              <a:lnSpc>
                <a:spcPct val="150000"/>
              </a:lnSpc>
              <a:tabLst>
                <a:tab pos="1520825" algn="l"/>
              </a:tabLst>
            </a:pPr>
            <a:endParaRPr lang="en-IN" sz="500" dirty="0"/>
          </a:p>
          <a:p>
            <a:pPr algn="just">
              <a:lnSpc>
                <a:spcPct val="150000"/>
              </a:lnSpc>
              <a:tabLst>
                <a:tab pos="1520825" algn="l"/>
              </a:tabLst>
            </a:pPr>
            <a:endParaRPr lang="en-IN" sz="500" dirty="0"/>
          </a:p>
          <a:p>
            <a:pPr algn="just">
              <a:lnSpc>
                <a:spcPct val="150000"/>
              </a:lnSpc>
              <a:tabLst>
                <a:tab pos="1520825" algn="l"/>
              </a:tabLst>
            </a:pPr>
            <a:endParaRPr lang="en-IN" sz="500" dirty="0"/>
          </a:p>
          <a:p>
            <a:pPr algn="just">
              <a:lnSpc>
                <a:spcPct val="150000"/>
              </a:lnSpc>
              <a:tabLst>
                <a:tab pos="1520825" algn="l"/>
              </a:tabLst>
            </a:pPr>
            <a:endParaRPr lang="en-IN" sz="500" dirty="0"/>
          </a:p>
          <a:p>
            <a:pPr algn="just">
              <a:lnSpc>
                <a:spcPct val="150000"/>
              </a:lnSpc>
              <a:tabLst>
                <a:tab pos="1520825" algn="l"/>
              </a:tabLst>
            </a:pPr>
            <a:endParaRPr lang="en-IN" sz="500" dirty="0"/>
          </a:p>
          <a:p>
            <a:pPr algn="just">
              <a:lnSpc>
                <a:spcPct val="150000"/>
              </a:lnSpc>
              <a:tabLst>
                <a:tab pos="1520825" algn="l"/>
              </a:tabLst>
            </a:pPr>
            <a:endParaRPr lang="en-IN" sz="500" dirty="0"/>
          </a:p>
          <a:p>
            <a:pPr marL="442913" indent="-442913" algn="just">
              <a:lnSpc>
                <a:spcPct val="150000"/>
              </a:lnSpc>
              <a:buFont typeface="Symbol" panose="05050102010706020507" pitchFamily="18" charset="2"/>
              <a:buChar char="®"/>
              <a:tabLst>
                <a:tab pos="1520825" algn="l"/>
              </a:tabLst>
            </a:pPr>
            <a:r>
              <a:rPr lang="en-IN" sz="2000" dirty="0"/>
              <a:t>Transitions can take place between the levels E</a:t>
            </a:r>
            <a:r>
              <a:rPr lang="en-IN" sz="2000" baseline="-25000" dirty="0"/>
              <a:t>l </a:t>
            </a:r>
            <a:r>
              <a:rPr lang="en-IN" sz="2000" dirty="0"/>
              <a:t>and E</a:t>
            </a:r>
            <a:r>
              <a:rPr lang="en-IN" sz="2000" baseline="-25000" dirty="0"/>
              <a:t>2</a:t>
            </a:r>
            <a:r>
              <a:rPr lang="en-IN" sz="2000" dirty="0"/>
              <a:t> provided the appropriate amount of energy, </a:t>
            </a:r>
            <a:r>
              <a:rPr lang="el-GR" sz="2000" dirty="0"/>
              <a:t>Δ</a:t>
            </a:r>
            <a:r>
              <a:rPr lang="en-IN" sz="2000" dirty="0"/>
              <a:t>E = E</a:t>
            </a:r>
            <a:r>
              <a:rPr lang="en-IN" sz="2000" baseline="-25000" dirty="0"/>
              <a:t>2</a:t>
            </a:r>
            <a:r>
              <a:rPr lang="en-IN" sz="2000" dirty="0"/>
              <a:t> — E</a:t>
            </a:r>
            <a:r>
              <a:rPr lang="en-IN" sz="2000" baseline="-25000" dirty="0"/>
              <a:t>l</a:t>
            </a:r>
            <a:r>
              <a:rPr lang="en-IN" sz="2000" dirty="0"/>
              <a:t>, can be either absorbed or emitted by the system. </a:t>
            </a:r>
          </a:p>
        </p:txBody>
      </p:sp>
      <p:pic>
        <p:nvPicPr>
          <p:cNvPr id="14" name="Picture 13"/>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997320" y="2777769"/>
            <a:ext cx="3112848" cy="2073012"/>
          </a:xfrm>
          <a:prstGeom prst="rect">
            <a:avLst/>
          </a:prstGeom>
        </p:spPr>
      </p:pic>
    </p:spTree>
    <p:extLst>
      <p:ext uri="{BB962C8B-B14F-4D97-AF65-F5344CB8AC3E}">
        <p14:creationId xmlns:p14="http://schemas.microsoft.com/office/powerpoint/2010/main" val="2353751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テキスト ボックス 3"/>
          <p:cNvSpPr txBox="1">
            <a:spLocks noChangeArrowheads="1"/>
          </p:cNvSpPr>
          <p:nvPr/>
        </p:nvSpPr>
        <p:spPr bwMode="auto">
          <a:xfrm>
            <a:off x="876300" y="100013"/>
            <a:ext cx="7354888" cy="461962"/>
          </a:xfrm>
          <a:prstGeom prst="rect">
            <a:avLst/>
          </a:prstGeom>
          <a:noFill/>
          <a:ln w="9525">
            <a:noFill/>
            <a:miter lim="800000"/>
            <a:headEnd/>
            <a:tailEnd/>
          </a:ln>
        </p:spPr>
        <p:txBody>
          <a:bodyPr>
            <a:spAutoFit/>
          </a:bodyPr>
          <a:lstStyle/>
          <a:p>
            <a:pPr algn="ctr"/>
            <a:r>
              <a:rPr lang="en-IN" altLang="ja-JP" sz="2400" dirty="0">
                <a:cs typeface="Arial" charset="0"/>
              </a:rPr>
              <a:t>The Quantization of Energy</a:t>
            </a:r>
            <a:endParaRPr lang="en-US" altLang="ja-JP" sz="2400" dirty="0">
              <a:cs typeface="Arial" charset="0"/>
            </a:endParaRPr>
          </a:p>
        </p:txBody>
      </p:sp>
      <p:cxnSp>
        <p:nvCxnSpPr>
          <p:cNvPr id="16"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テキスト ボックス 6"/>
          <p:cNvSpPr txBox="1">
            <a:spLocks noChangeArrowheads="1"/>
          </p:cNvSpPr>
          <p:nvPr/>
        </p:nvSpPr>
        <p:spPr bwMode="auto">
          <a:xfrm>
            <a:off x="311273" y="589162"/>
            <a:ext cx="8484942" cy="6209392"/>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Planck suggested that such absorbed or emitted energy can take the form of electromagnetic radiation and that the frequency of the radiation has the simple form:</a:t>
            </a:r>
          </a:p>
          <a:p>
            <a:pPr algn="just">
              <a:lnSpc>
                <a:spcPct val="150000"/>
              </a:lnSpc>
              <a:tabLst>
                <a:tab pos="1520825" algn="l"/>
              </a:tabLst>
            </a:pPr>
            <a:r>
              <a:rPr lang="en-IN" sz="2000" b="1" dirty="0">
                <a:latin typeface="Times New Roman" panose="02020603050405020304" pitchFamily="18" charset="0"/>
                <a:cs typeface="Times New Roman" panose="02020603050405020304" pitchFamily="18" charset="0"/>
              </a:rPr>
              <a:t>				</a:t>
            </a:r>
            <a:r>
              <a:rPr lang="el-GR" sz="2000" b="1" dirty="0">
                <a:latin typeface="Times New Roman" panose="02020603050405020304" pitchFamily="18" charset="0"/>
                <a:cs typeface="Times New Roman" panose="02020603050405020304" pitchFamily="18" charset="0"/>
              </a:rPr>
              <a:t>ν</a:t>
            </a:r>
            <a:r>
              <a:rPr lang="en-IN" sz="2000" b="1" dirty="0">
                <a:latin typeface="Times New Roman" panose="02020603050405020304" pitchFamily="18" charset="0"/>
                <a:cs typeface="Times New Roman" panose="02020603050405020304" pitchFamily="18" charset="0"/>
              </a:rPr>
              <a:t> = </a:t>
            </a:r>
            <a:r>
              <a:rPr lang="el-GR" sz="2000" b="1" dirty="0">
                <a:latin typeface="Times New Roman" panose="02020603050405020304" pitchFamily="18" charset="0"/>
                <a:cs typeface="Times New Roman" panose="02020603050405020304" pitchFamily="18" charset="0"/>
              </a:rPr>
              <a:t>Δ</a:t>
            </a:r>
            <a:r>
              <a:rPr lang="en-IN" sz="2000" b="1" dirty="0">
                <a:latin typeface="Times New Roman" panose="02020603050405020304" pitchFamily="18" charset="0"/>
                <a:cs typeface="Times New Roman" panose="02020603050405020304" pitchFamily="18" charset="0"/>
              </a:rPr>
              <a:t>E / h  Hz</a:t>
            </a:r>
          </a:p>
          <a:p>
            <a:pPr algn="just">
              <a:lnSpc>
                <a:spcPct val="150000"/>
              </a:lnSpc>
              <a:tabLst>
                <a:tab pos="1520825" algn="l"/>
              </a:tabLst>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i.e., 				</a:t>
            </a:r>
            <a:r>
              <a:rPr lang="el-GR" sz="2000" b="1" dirty="0">
                <a:latin typeface="Times New Roman" panose="02020603050405020304" pitchFamily="18" charset="0"/>
                <a:cs typeface="Times New Roman" panose="02020603050405020304" pitchFamily="18" charset="0"/>
              </a:rPr>
              <a:t> Δ</a:t>
            </a:r>
            <a:r>
              <a:rPr lang="en-IN" sz="2000" b="1" dirty="0">
                <a:latin typeface="Times New Roman" panose="02020603050405020304" pitchFamily="18" charset="0"/>
                <a:cs typeface="Times New Roman" panose="02020603050405020304" pitchFamily="18" charset="0"/>
              </a:rPr>
              <a:t>E = h</a:t>
            </a:r>
            <a:r>
              <a:rPr lang="el-GR" sz="2000" b="1" dirty="0">
                <a:latin typeface="Times New Roman" panose="02020603050405020304" pitchFamily="18" charset="0"/>
                <a:cs typeface="Times New Roman" panose="02020603050405020304" pitchFamily="18" charset="0"/>
              </a:rPr>
              <a:t>ν</a:t>
            </a:r>
            <a:r>
              <a:rPr lang="en-IN" sz="2000" b="1" dirty="0">
                <a:latin typeface="Times New Roman" panose="02020603050405020304" pitchFamily="18" charset="0"/>
                <a:cs typeface="Times New Roman" panose="02020603050405020304" pitchFamily="18" charset="0"/>
              </a:rPr>
              <a:t>  Joules</a:t>
            </a:r>
          </a:p>
          <a:p>
            <a:pPr marL="442913" indent="-442913" algn="just">
              <a:lnSpc>
                <a:spcPct val="150000"/>
              </a:lnSpc>
              <a:buFont typeface="Symbol" panose="05050102010706020507" pitchFamily="18" charset="2"/>
              <a:buChar char="®"/>
              <a:tabLst>
                <a:tab pos="1520825" algn="l"/>
              </a:tabLst>
            </a:pPr>
            <a:r>
              <a:rPr lang="en-US" sz="2000" dirty="0"/>
              <a:t>where we express our energies </a:t>
            </a:r>
            <a:r>
              <a:rPr lang="en-US" sz="2000" b="1" dirty="0"/>
              <a:t>E</a:t>
            </a:r>
            <a:r>
              <a:rPr lang="en-US" sz="2000" dirty="0"/>
              <a:t> in terms of the joule, and</a:t>
            </a:r>
            <a:r>
              <a:rPr lang="en-US" sz="2000" b="1" dirty="0"/>
              <a:t> h </a:t>
            </a:r>
            <a:r>
              <a:rPr lang="en-US" sz="2000" dirty="0"/>
              <a:t>is a universal constant—</a:t>
            </a:r>
            <a:r>
              <a:rPr lang="en-US" sz="2000" b="1" i="1" dirty="0"/>
              <a:t>Planck's constant</a:t>
            </a:r>
            <a:r>
              <a:rPr lang="en-US" sz="2000" dirty="0"/>
              <a:t>.</a:t>
            </a:r>
          </a:p>
          <a:p>
            <a:pPr algn="just">
              <a:lnSpc>
                <a:spcPct val="150000"/>
              </a:lnSpc>
              <a:tabLst>
                <a:tab pos="1520825" algn="l"/>
              </a:tabLst>
            </a:pPr>
            <a:endParaRPr lang="en-US" sz="500" dirty="0"/>
          </a:p>
          <a:p>
            <a:pPr marL="442913" indent="-442913" algn="just">
              <a:lnSpc>
                <a:spcPct val="150000"/>
              </a:lnSpc>
              <a:buFont typeface="Symbol" panose="05050102010706020507" pitchFamily="18" charset="2"/>
              <a:buChar char="®"/>
              <a:tabLst>
                <a:tab pos="1520825" algn="l"/>
              </a:tabLst>
            </a:pPr>
            <a:r>
              <a:rPr lang="en-US" sz="2000" dirty="0"/>
              <a:t>The significance of this is that if we take a molecule in state </a:t>
            </a:r>
            <a:r>
              <a:rPr lang="en-US" sz="2000" b="1" dirty="0"/>
              <a:t>I</a:t>
            </a:r>
            <a:r>
              <a:rPr lang="en-US" sz="2000" dirty="0"/>
              <a:t> and direct on to it a beam of radiation of a single frequency </a:t>
            </a:r>
            <a:r>
              <a:rPr lang="en-US" sz="2000" b="1" dirty="0"/>
              <a:t>v</a:t>
            </a:r>
            <a:r>
              <a:rPr lang="en-US" sz="2000" dirty="0"/>
              <a:t> (monochromatic radiation), where </a:t>
            </a:r>
            <a:r>
              <a:rPr lang="en-US" sz="2000" b="1" dirty="0"/>
              <a:t>v = </a:t>
            </a:r>
            <a:r>
              <a:rPr lang="el-GR" sz="2000" b="1" dirty="0"/>
              <a:t>Δ</a:t>
            </a:r>
            <a:r>
              <a:rPr lang="en-US" sz="2000" b="1" dirty="0"/>
              <a:t>E/h</a:t>
            </a:r>
            <a:r>
              <a:rPr lang="en-US" sz="2000" dirty="0"/>
              <a:t>, energy will be absorbed from the beam and the molecule will jump to state </a:t>
            </a:r>
            <a:r>
              <a:rPr lang="en-US" sz="2000" b="1" dirty="0"/>
              <a:t>2</a:t>
            </a:r>
            <a:r>
              <a:rPr lang="en-US" sz="2000" dirty="0"/>
              <a:t>. A </a:t>
            </a:r>
            <a:r>
              <a:rPr lang="en-US" sz="2000" dirty="0">
                <a:highlight>
                  <a:srgbClr val="FFFF00"/>
                </a:highlight>
              </a:rPr>
              <a:t>detector </a:t>
            </a:r>
            <a:r>
              <a:rPr lang="en-US" sz="2000" dirty="0"/>
              <a:t>placed to </a:t>
            </a:r>
            <a:r>
              <a:rPr lang="en-US" sz="2000" dirty="0">
                <a:highlight>
                  <a:srgbClr val="FFFF00"/>
                </a:highlight>
              </a:rPr>
              <a:t>collect the radiation </a:t>
            </a:r>
            <a:r>
              <a:rPr lang="en-US" sz="2000" dirty="0"/>
              <a:t>after </a:t>
            </a:r>
            <a:r>
              <a:rPr lang="en-US" sz="2000" dirty="0">
                <a:highlight>
                  <a:srgbClr val="FFFF00"/>
                </a:highlight>
              </a:rPr>
              <a:t>its interaction with the molecule will show that its intensity has decreased</a:t>
            </a:r>
            <a:r>
              <a:rPr lang="en-US" sz="2000" dirty="0"/>
              <a:t>.</a:t>
            </a:r>
            <a:endParaRPr lang="en-IN" sz="2000" dirty="0"/>
          </a:p>
        </p:txBody>
      </p:sp>
    </p:spTree>
    <p:extLst>
      <p:ext uri="{BB962C8B-B14F-4D97-AF65-F5344CB8AC3E}">
        <p14:creationId xmlns:p14="http://schemas.microsoft.com/office/powerpoint/2010/main" val="2340594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3"/>
          <p:cNvSpPr txBox="1">
            <a:spLocks noChangeArrowheads="1"/>
          </p:cNvSpPr>
          <p:nvPr/>
        </p:nvSpPr>
        <p:spPr bwMode="auto">
          <a:xfrm>
            <a:off x="876300" y="100013"/>
            <a:ext cx="7354888" cy="461962"/>
          </a:xfrm>
          <a:prstGeom prst="rect">
            <a:avLst/>
          </a:prstGeom>
          <a:noFill/>
          <a:ln w="9525">
            <a:noFill/>
            <a:miter lim="800000"/>
            <a:headEnd/>
            <a:tailEnd/>
          </a:ln>
        </p:spPr>
        <p:txBody>
          <a:bodyPr>
            <a:spAutoFit/>
          </a:bodyPr>
          <a:lstStyle/>
          <a:p>
            <a:pPr algn="ctr"/>
            <a:r>
              <a:rPr lang="en-IN" altLang="ja-JP" sz="2400" dirty="0">
                <a:cs typeface="Arial" charset="0"/>
              </a:rPr>
              <a:t>The Quantization of Energy</a:t>
            </a:r>
            <a:endParaRPr lang="en-US" altLang="ja-JP" sz="2400" dirty="0">
              <a:cs typeface="Arial" charset="0"/>
            </a:endParaRPr>
          </a:p>
        </p:txBody>
      </p:sp>
      <p:cxnSp>
        <p:nvCxnSpPr>
          <p:cNvPr id="9" name="直線コネクタ 2"/>
          <p:cNvCxnSpPr/>
          <p:nvPr/>
        </p:nvCxnSpPr>
        <p:spPr>
          <a:xfrm>
            <a:off x="261938" y="56197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テキスト ボックス 6"/>
          <p:cNvSpPr txBox="1">
            <a:spLocks noChangeArrowheads="1"/>
          </p:cNvSpPr>
          <p:nvPr/>
        </p:nvSpPr>
        <p:spPr bwMode="auto">
          <a:xfrm>
            <a:off x="311273" y="589162"/>
            <a:ext cx="8484942" cy="6440225"/>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Also if we use a beam containing a </a:t>
            </a:r>
            <a:r>
              <a:rPr lang="en-IN" sz="2000" dirty="0">
                <a:highlight>
                  <a:srgbClr val="FFFF00"/>
                </a:highlight>
              </a:rPr>
              <a:t>wide range of frequencies </a:t>
            </a:r>
            <a:r>
              <a:rPr lang="en-IN" sz="2000" dirty="0"/>
              <a:t>('white' radiation), the </a:t>
            </a:r>
            <a:r>
              <a:rPr lang="en-IN" sz="2000" dirty="0">
                <a:highlight>
                  <a:srgbClr val="FFFF00"/>
                </a:highlight>
              </a:rPr>
              <a:t>detector will show that energy has been absorbed only from that frequency </a:t>
            </a:r>
            <a:r>
              <a:rPr lang="en-IN" sz="2000" b="1" dirty="0">
                <a:highlight>
                  <a:srgbClr val="FFFF00"/>
                </a:highlight>
              </a:rPr>
              <a:t>v = </a:t>
            </a:r>
            <a:r>
              <a:rPr lang="el-GR" sz="2000" b="1" dirty="0">
                <a:highlight>
                  <a:srgbClr val="FFFF00"/>
                </a:highlight>
              </a:rPr>
              <a:t>Δ</a:t>
            </a:r>
            <a:r>
              <a:rPr lang="en-IN" sz="2000" b="1" dirty="0">
                <a:highlight>
                  <a:srgbClr val="FFFF00"/>
                </a:highlight>
              </a:rPr>
              <a:t>E/h</a:t>
            </a:r>
            <a:r>
              <a:rPr lang="en-IN" sz="2000" dirty="0">
                <a:highlight>
                  <a:srgbClr val="FFFF00"/>
                </a:highlight>
              </a:rPr>
              <a:t>, </a:t>
            </a:r>
            <a:r>
              <a:rPr lang="en-IN" sz="2000" dirty="0"/>
              <a:t>all other frequencies being </a:t>
            </a:r>
            <a:r>
              <a:rPr lang="en-IN" sz="2000" dirty="0">
                <a:highlight>
                  <a:srgbClr val="FFFF00"/>
                </a:highlight>
              </a:rPr>
              <a:t>undiminished in intensity</a:t>
            </a:r>
            <a:r>
              <a:rPr lang="en-IN" sz="2000" dirty="0"/>
              <a:t>. In this way we have produced a spectrum—an </a:t>
            </a:r>
            <a:r>
              <a:rPr lang="en-IN" sz="2000" b="1" dirty="0">
                <a:highlight>
                  <a:srgbClr val="FFFF00"/>
                </a:highlight>
              </a:rPr>
              <a:t>absorption spectrum</a:t>
            </a:r>
            <a:r>
              <a:rPr lang="en-IN" sz="2000" dirty="0"/>
              <a:t>.</a:t>
            </a:r>
            <a:r>
              <a:rPr lang="en-IN" sz="2000" b="1" dirty="0">
                <a:latin typeface="Times New Roman" panose="02020603050405020304" pitchFamily="18" charset="0"/>
                <a:cs typeface="Times New Roman" panose="02020603050405020304" pitchFamily="18" charset="0"/>
              </a:rPr>
              <a:t>				</a:t>
            </a:r>
          </a:p>
          <a:p>
            <a:pPr algn="just">
              <a:lnSpc>
                <a:spcPct val="150000"/>
              </a:lnSpc>
              <a:tabLst>
                <a:tab pos="1520825" algn="l"/>
              </a:tabLst>
            </a:pPr>
            <a:endParaRPr lang="en-IN" sz="500" b="1" dirty="0">
              <a:latin typeface="Times New Roman" panose="02020603050405020304" pitchFamily="18" charset="0"/>
              <a:cs typeface="Times New Roman" panose="02020603050405020304" pitchFamily="18" charset="0"/>
            </a:endParaRPr>
          </a:p>
          <a:p>
            <a:pPr marL="442913" indent="-442913" algn="just">
              <a:lnSpc>
                <a:spcPct val="150000"/>
              </a:lnSpc>
              <a:buFont typeface="Symbol" panose="05050102010706020507" pitchFamily="18" charset="2"/>
              <a:buChar char="®"/>
              <a:tabLst>
                <a:tab pos="1520825" algn="l"/>
              </a:tabLst>
            </a:pPr>
            <a:r>
              <a:rPr lang="en-IN" sz="2000" dirty="0"/>
              <a:t>Alternatively the molecule may already be in state </a:t>
            </a:r>
            <a:r>
              <a:rPr lang="en-IN" sz="2000" b="1" dirty="0"/>
              <a:t>2</a:t>
            </a:r>
            <a:r>
              <a:rPr lang="en-IN" sz="2000" dirty="0"/>
              <a:t> and may revert to state </a:t>
            </a:r>
            <a:r>
              <a:rPr lang="en-IN" sz="2000" b="1" dirty="0"/>
              <a:t>1</a:t>
            </a:r>
            <a:r>
              <a:rPr lang="en-IN" sz="2000" dirty="0"/>
              <a:t> with the consequent emission of radiation. A detector would show this radiation to have frequency </a:t>
            </a:r>
            <a:r>
              <a:rPr lang="en-IN" sz="2000" b="1" dirty="0"/>
              <a:t>v = </a:t>
            </a:r>
            <a:r>
              <a:rPr lang="el-GR" sz="2000" b="1" dirty="0"/>
              <a:t>Δ </a:t>
            </a:r>
            <a:r>
              <a:rPr lang="en-IN" sz="2000" b="1" dirty="0"/>
              <a:t>E/h </a:t>
            </a:r>
            <a:r>
              <a:rPr lang="en-IN" sz="2000" dirty="0"/>
              <a:t>only, and the </a:t>
            </a:r>
            <a:r>
              <a:rPr lang="en-IN" sz="2000" dirty="0">
                <a:highlight>
                  <a:srgbClr val="FFFF00"/>
                </a:highlight>
              </a:rPr>
              <a:t>emission spectrum so found is plainly complementary to the </a:t>
            </a:r>
            <a:r>
              <a:rPr lang="en-IN" sz="2000" b="1" dirty="0">
                <a:highlight>
                  <a:srgbClr val="FFFF00"/>
                </a:highlight>
              </a:rPr>
              <a:t>absorption spectrum </a:t>
            </a:r>
            <a:r>
              <a:rPr lang="en-IN" sz="2000" dirty="0">
                <a:highlight>
                  <a:srgbClr val="FFFF00"/>
                </a:highlight>
              </a:rPr>
              <a:t>of the previous paragraph.</a:t>
            </a:r>
          </a:p>
          <a:p>
            <a:pPr algn="just">
              <a:lnSpc>
                <a:spcPct val="150000"/>
              </a:lnSpc>
              <a:tabLst>
                <a:tab pos="1520825" algn="l"/>
              </a:tabLst>
            </a:pPr>
            <a:endParaRPr lang="en-IN" sz="500" dirty="0"/>
          </a:p>
          <a:p>
            <a:pPr marL="442913" indent="-442913" algn="just">
              <a:lnSpc>
                <a:spcPct val="150000"/>
              </a:lnSpc>
              <a:buFont typeface="Symbol" panose="05050102010706020507" pitchFamily="18" charset="2"/>
              <a:buChar char="®"/>
              <a:tabLst>
                <a:tab pos="1520825" algn="l"/>
              </a:tabLst>
            </a:pPr>
            <a:r>
              <a:rPr lang="en-US" sz="2000" dirty="0">
                <a:highlight>
                  <a:srgbClr val="FFFF00"/>
                </a:highlight>
              </a:rPr>
              <a:t>The actual energy differences between the rotational, vibrational, and electronic energy levels are very small and may be measured in joules per molecule (or atom).</a:t>
            </a:r>
            <a:endParaRPr lang="en-IN" sz="2000" dirty="0">
              <a:highlight>
                <a:srgbClr val="FFFF00"/>
              </a:highlight>
            </a:endParaRPr>
          </a:p>
        </p:txBody>
      </p:sp>
    </p:spTree>
    <p:extLst>
      <p:ext uri="{BB962C8B-B14F-4D97-AF65-F5344CB8AC3E}">
        <p14:creationId xmlns:p14="http://schemas.microsoft.com/office/powerpoint/2010/main" val="3025194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Regions of the Spectrum</a:t>
            </a:r>
            <a:endParaRPr lang="en-US" altLang="ja-JP" sz="2400"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1592744"/>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The following figure illustrates the various, rather arbitrary, regions into which electromagnetic radiation has been divided. </a:t>
            </a:r>
            <a:r>
              <a:rPr lang="en-IN" sz="2000" b="1" dirty="0">
                <a:latin typeface="Times New Roman" panose="02020603050405020304" pitchFamily="18" charset="0"/>
                <a:cs typeface="Times New Roman" panose="02020603050405020304" pitchFamily="18" charset="0"/>
              </a:rPr>
              <a:t>			</a:t>
            </a:r>
          </a:p>
          <a:p>
            <a:pPr algn="just">
              <a:lnSpc>
                <a:spcPct val="150000"/>
              </a:lnSpc>
              <a:tabLst>
                <a:tab pos="1520825" algn="l"/>
              </a:tabLst>
            </a:pPr>
            <a:endParaRPr lang="en-IN" sz="500"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11273" y="1430215"/>
            <a:ext cx="8645158" cy="5427785"/>
          </a:xfrm>
          <a:prstGeom prst="rect">
            <a:avLst/>
          </a:prstGeom>
          <a:noFill/>
          <a:ln>
            <a:noFill/>
          </a:ln>
          <a:extLst/>
        </p:spPr>
      </p:pic>
    </p:spTree>
    <p:extLst>
      <p:ext uri="{BB962C8B-B14F-4D97-AF65-F5344CB8AC3E}">
        <p14:creationId xmlns:p14="http://schemas.microsoft.com/office/powerpoint/2010/main" val="546340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Mspectr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790" y="517372"/>
            <a:ext cx="9420616" cy="3179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790" y="3697132"/>
            <a:ext cx="9418761" cy="3114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Regions of the Spectrum</a:t>
            </a:r>
            <a:endParaRPr lang="en-US" altLang="ja-JP" sz="2400" dirty="0">
              <a:cs typeface="Arial" charset="0"/>
            </a:endParaRPr>
          </a:p>
        </p:txBody>
      </p:sp>
      <p:cxnSp>
        <p:nvCxnSpPr>
          <p:cNvPr id="7"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7839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Regions of the Spectrum</a:t>
            </a:r>
            <a:endParaRPr lang="en-US" altLang="ja-JP" sz="2400" dirty="0">
              <a:cs typeface="Arial" charset="0"/>
            </a:endParaRPr>
          </a:p>
        </p:txBody>
      </p:sp>
      <p:cxnSp>
        <p:nvCxnSpPr>
          <p:cNvPr id="10"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テキスト ボックス 6"/>
          <p:cNvSpPr txBox="1">
            <a:spLocks noChangeArrowheads="1"/>
          </p:cNvSpPr>
          <p:nvPr/>
        </p:nvSpPr>
        <p:spPr bwMode="auto">
          <a:xfrm>
            <a:off x="311273" y="522256"/>
            <a:ext cx="8484942" cy="6440225"/>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b="1" dirty="0"/>
              <a:t>Radiofrequency region</a:t>
            </a:r>
            <a:r>
              <a:rPr lang="en-US" sz="2000" dirty="0"/>
              <a:t>: 3 x 10</a:t>
            </a:r>
            <a:r>
              <a:rPr lang="en-US" sz="2000" baseline="30000" dirty="0"/>
              <a:t>6 </a:t>
            </a:r>
            <a:r>
              <a:rPr lang="en-US" sz="2000" dirty="0"/>
              <a:t>to 3 x 10</a:t>
            </a:r>
            <a:r>
              <a:rPr lang="en-US" sz="2000" baseline="30000" dirty="0"/>
              <a:t>10 </a:t>
            </a:r>
            <a:r>
              <a:rPr lang="en-US" sz="2000" dirty="0"/>
              <a:t>Hz; 10 m</a:t>
            </a:r>
            <a:r>
              <a:rPr lang="en-US" sz="2000" baseline="30000" dirty="0"/>
              <a:t> </a:t>
            </a:r>
            <a:r>
              <a:rPr lang="en-US" sz="2000" dirty="0"/>
              <a:t>to 1 cm wavelength. </a:t>
            </a:r>
            <a:r>
              <a:rPr lang="en-US" sz="2000" dirty="0">
                <a:highlight>
                  <a:srgbClr val="FFFF00"/>
                </a:highlight>
              </a:rPr>
              <a:t>Nuclear magnetic resonance (</a:t>
            </a:r>
            <a:r>
              <a:rPr lang="en-US" sz="2000" dirty="0" err="1">
                <a:highlight>
                  <a:srgbClr val="FFFF00"/>
                </a:highlight>
              </a:rPr>
              <a:t>n.m.r</a:t>
            </a:r>
            <a:r>
              <a:rPr lang="en-US" sz="2000" dirty="0">
                <a:highlight>
                  <a:srgbClr val="FFFF00"/>
                </a:highlight>
              </a:rPr>
              <a:t>.) and electron spin resonance (</a:t>
            </a:r>
            <a:r>
              <a:rPr lang="en-US" sz="2000" dirty="0" err="1">
                <a:highlight>
                  <a:srgbClr val="FFFF00"/>
                </a:highlight>
              </a:rPr>
              <a:t>e.s.r</a:t>
            </a:r>
            <a:r>
              <a:rPr lang="en-US" sz="2000" dirty="0">
                <a:highlight>
                  <a:srgbClr val="FFFF00"/>
                </a:highlight>
              </a:rPr>
              <a:t>.) spectroscopy</a:t>
            </a:r>
            <a:r>
              <a:rPr lang="en-US" sz="2000" dirty="0"/>
              <a:t>. </a:t>
            </a:r>
            <a:r>
              <a:rPr lang="en-US" sz="2000" b="1" dirty="0"/>
              <a:t>The energy change involved is that </a:t>
            </a:r>
            <a:r>
              <a:rPr lang="en-US" sz="2000" b="1" dirty="0">
                <a:highlight>
                  <a:srgbClr val="FFFF00"/>
                </a:highlight>
              </a:rPr>
              <a:t>arising from the reversal of spin of a nucleus or electron</a:t>
            </a:r>
            <a:r>
              <a:rPr lang="en-US" sz="2000" dirty="0"/>
              <a:t>, and is of the order 0.001—10 joules/mole.</a:t>
            </a:r>
          </a:p>
          <a:p>
            <a:pPr marL="442913" indent="-442913" algn="just">
              <a:lnSpc>
                <a:spcPct val="150000"/>
              </a:lnSpc>
              <a:buFont typeface="Symbol" panose="05050102010706020507" pitchFamily="18" charset="2"/>
              <a:buChar char="®"/>
              <a:tabLst>
                <a:tab pos="1520825" algn="l"/>
              </a:tabLst>
            </a:pPr>
            <a:endParaRPr lang="en-US" sz="500" b="1" dirty="0"/>
          </a:p>
          <a:p>
            <a:pPr marL="442913" indent="-442913" algn="just">
              <a:lnSpc>
                <a:spcPct val="150000"/>
              </a:lnSpc>
              <a:buFont typeface="Symbol" panose="05050102010706020507" pitchFamily="18" charset="2"/>
              <a:buChar char="®"/>
              <a:tabLst>
                <a:tab pos="1520825" algn="l"/>
              </a:tabLst>
            </a:pPr>
            <a:r>
              <a:rPr lang="en-US" sz="2000" b="1" dirty="0"/>
              <a:t>Microwave region</a:t>
            </a:r>
            <a:r>
              <a:rPr lang="en-US" sz="2000" dirty="0"/>
              <a:t>: 3 x 10</a:t>
            </a:r>
            <a:r>
              <a:rPr lang="en-US" sz="2000" baseline="30000" dirty="0"/>
              <a:t>10</a:t>
            </a:r>
            <a:r>
              <a:rPr lang="en-US" sz="2000" dirty="0"/>
              <a:t> to 3 x 10</a:t>
            </a:r>
            <a:r>
              <a:rPr lang="en-US" sz="2000" baseline="30000" dirty="0"/>
              <a:t>12 </a:t>
            </a:r>
            <a:r>
              <a:rPr lang="en-US" sz="2000" dirty="0"/>
              <a:t>Hz; 1 cm to 100 </a:t>
            </a:r>
            <a:r>
              <a:rPr lang="el-GR" sz="2000" dirty="0"/>
              <a:t>μ</a:t>
            </a:r>
            <a:r>
              <a:rPr lang="en-US" sz="2000" dirty="0"/>
              <a:t>m wavelength. </a:t>
            </a:r>
            <a:r>
              <a:rPr lang="en-US" sz="2000" b="1" dirty="0">
                <a:highlight>
                  <a:srgbClr val="FFFF00"/>
                </a:highlight>
              </a:rPr>
              <a:t>Rotational spectroscopy</a:t>
            </a:r>
            <a:r>
              <a:rPr lang="en-US" sz="2000" dirty="0"/>
              <a:t>. Separations between the rotational levels of molecules are of the order of hundreds of joules per mole.</a:t>
            </a:r>
          </a:p>
          <a:p>
            <a:pPr marL="442913" indent="-442913" algn="just">
              <a:lnSpc>
                <a:spcPct val="150000"/>
              </a:lnSpc>
              <a:buFont typeface="Symbol" panose="05050102010706020507" pitchFamily="18" charset="2"/>
              <a:buChar char="®"/>
              <a:tabLst>
                <a:tab pos="1520825" algn="l"/>
              </a:tabLst>
            </a:pPr>
            <a:endParaRPr lang="en-US" sz="500" dirty="0"/>
          </a:p>
          <a:p>
            <a:pPr marL="442913" indent="-442913" algn="just">
              <a:lnSpc>
                <a:spcPct val="150000"/>
              </a:lnSpc>
              <a:buFont typeface="Symbol" panose="05050102010706020507" pitchFamily="18" charset="2"/>
              <a:buChar char="®"/>
              <a:tabLst>
                <a:tab pos="1520825" algn="l"/>
              </a:tabLst>
            </a:pPr>
            <a:r>
              <a:rPr lang="en-US" sz="2000" b="1" dirty="0"/>
              <a:t>Infra-red region</a:t>
            </a:r>
            <a:r>
              <a:rPr lang="en-US" sz="2000" dirty="0"/>
              <a:t>: 3 x 10</a:t>
            </a:r>
            <a:r>
              <a:rPr lang="en-US" sz="2000" baseline="30000" dirty="0"/>
              <a:t>12</a:t>
            </a:r>
            <a:r>
              <a:rPr lang="en-US" sz="2000" dirty="0"/>
              <a:t> to 3 x 10</a:t>
            </a:r>
            <a:r>
              <a:rPr lang="en-US" sz="2000" baseline="30000" dirty="0"/>
              <a:t>14 </a:t>
            </a:r>
            <a:r>
              <a:rPr lang="en-US" sz="2000" dirty="0"/>
              <a:t>Hz; 100 </a:t>
            </a:r>
            <a:r>
              <a:rPr lang="el-GR" sz="2000" dirty="0"/>
              <a:t>μ</a:t>
            </a:r>
            <a:r>
              <a:rPr lang="en-US" sz="2000" dirty="0"/>
              <a:t>m to1 </a:t>
            </a:r>
            <a:r>
              <a:rPr lang="el-GR" sz="2000" dirty="0"/>
              <a:t>μ</a:t>
            </a:r>
            <a:r>
              <a:rPr lang="en-US" sz="2000" dirty="0"/>
              <a:t>m wavelength. </a:t>
            </a:r>
            <a:r>
              <a:rPr lang="en-US" sz="2000" b="1" dirty="0">
                <a:highlight>
                  <a:srgbClr val="FFFF00"/>
                </a:highlight>
              </a:rPr>
              <a:t>Vibrational spectroscopy</a:t>
            </a:r>
            <a:r>
              <a:rPr lang="en-US" sz="2000" dirty="0"/>
              <a:t>. One of the most valuable spectroscopic regions for the chemist. Separations between levels are some </a:t>
            </a:r>
            <a:r>
              <a:rPr lang="en-US" sz="2000" dirty="0">
                <a:highlight>
                  <a:srgbClr val="FFFF00"/>
                </a:highlight>
              </a:rPr>
              <a:t>10</a:t>
            </a:r>
            <a:r>
              <a:rPr lang="en-US" sz="2000" baseline="30000" dirty="0">
                <a:highlight>
                  <a:srgbClr val="FFFF00"/>
                </a:highlight>
              </a:rPr>
              <a:t>4 </a:t>
            </a:r>
            <a:r>
              <a:rPr lang="en-US" sz="2000" dirty="0">
                <a:highlight>
                  <a:srgbClr val="FFFF00"/>
                </a:highlight>
              </a:rPr>
              <a:t>joules/ mole</a:t>
            </a:r>
            <a:r>
              <a:rPr lang="en-IN" sz="2000" b="1" dirty="0">
                <a:highlight>
                  <a:srgbClr val="FFFF00"/>
                </a:highlight>
                <a:latin typeface="Times New Roman" panose="02020603050405020304" pitchFamily="18" charset="0"/>
                <a:cs typeface="Times New Roman" panose="02020603050405020304" pitchFamily="18" charset="0"/>
              </a:rPr>
              <a:t>			</a:t>
            </a:r>
          </a:p>
          <a:p>
            <a:pPr algn="just">
              <a:lnSpc>
                <a:spcPct val="150000"/>
              </a:lnSpc>
              <a:tabLst>
                <a:tab pos="1520825" algn="l"/>
              </a:tabLst>
            </a:pPr>
            <a:endParaRPr lang="en-IN" sz="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247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Regions of the Spectrum</a:t>
            </a:r>
            <a:endParaRPr lang="en-US" altLang="ja-JP" sz="2400" dirty="0">
              <a:cs typeface="Arial" charset="0"/>
            </a:endParaRPr>
          </a:p>
        </p:txBody>
      </p:sp>
      <p:cxnSp>
        <p:nvCxnSpPr>
          <p:cNvPr id="12"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テキスト ボックス 6"/>
          <p:cNvSpPr txBox="1">
            <a:spLocks noChangeArrowheads="1"/>
          </p:cNvSpPr>
          <p:nvPr/>
        </p:nvSpPr>
        <p:spPr bwMode="auto">
          <a:xfrm>
            <a:off x="311273" y="522256"/>
            <a:ext cx="8484942" cy="6324808"/>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b="1" dirty="0"/>
              <a:t>Visible and ultra-violet regions</a:t>
            </a:r>
            <a:r>
              <a:rPr lang="en-US" sz="2000" dirty="0"/>
              <a:t>: 3 x 10</a:t>
            </a:r>
            <a:r>
              <a:rPr lang="en-US" sz="2000" baseline="30000" dirty="0"/>
              <a:t>14</a:t>
            </a:r>
            <a:r>
              <a:rPr lang="en-US" sz="2000" dirty="0"/>
              <a:t> to 3 x 10</a:t>
            </a:r>
            <a:r>
              <a:rPr lang="en-US" sz="2000" baseline="30000" dirty="0"/>
              <a:t>16 </a:t>
            </a:r>
            <a:r>
              <a:rPr lang="en-US" sz="2000" dirty="0"/>
              <a:t>Hz; 1 </a:t>
            </a:r>
            <a:r>
              <a:rPr lang="el-GR" sz="2000" dirty="0"/>
              <a:t>μ</a:t>
            </a:r>
            <a:r>
              <a:rPr lang="en-US" sz="2000" dirty="0"/>
              <a:t>m to 10 nm wavelength</a:t>
            </a:r>
            <a:r>
              <a:rPr lang="en-US" sz="2000" dirty="0">
                <a:highlight>
                  <a:srgbClr val="FFFF00"/>
                </a:highlight>
              </a:rPr>
              <a:t>. </a:t>
            </a:r>
            <a:r>
              <a:rPr lang="en-US" sz="2000" b="1" dirty="0">
                <a:highlight>
                  <a:srgbClr val="FFFF00"/>
                </a:highlight>
              </a:rPr>
              <a:t>Electronic spectroscopy</a:t>
            </a:r>
            <a:r>
              <a:rPr lang="en-US" sz="2000" dirty="0"/>
              <a:t>. The separations between the energies of valence electrons are </a:t>
            </a:r>
            <a:r>
              <a:rPr lang="en-US" sz="2000" dirty="0">
                <a:highlight>
                  <a:srgbClr val="FFFF00"/>
                </a:highlight>
              </a:rPr>
              <a:t>some hundreds of kilojoules per mole. </a:t>
            </a:r>
          </a:p>
          <a:p>
            <a:pPr marL="442913" indent="-442913" algn="just">
              <a:lnSpc>
                <a:spcPct val="150000"/>
              </a:lnSpc>
              <a:buFont typeface="Symbol" panose="05050102010706020507" pitchFamily="18" charset="2"/>
              <a:buChar char="®"/>
              <a:tabLst>
                <a:tab pos="1520825" algn="l"/>
              </a:tabLst>
            </a:pPr>
            <a:endParaRPr lang="en-US" sz="500" b="1" dirty="0"/>
          </a:p>
          <a:p>
            <a:pPr marL="442913" indent="-442913" algn="just">
              <a:lnSpc>
                <a:spcPct val="150000"/>
              </a:lnSpc>
              <a:buFont typeface="Symbol" panose="05050102010706020507" pitchFamily="18" charset="2"/>
              <a:buChar char="®"/>
              <a:tabLst>
                <a:tab pos="1520825" algn="l"/>
              </a:tabLst>
            </a:pPr>
            <a:r>
              <a:rPr lang="en-US" sz="2000" b="1" dirty="0"/>
              <a:t>X-ray region</a:t>
            </a:r>
            <a:r>
              <a:rPr lang="en-US" sz="2000" dirty="0"/>
              <a:t>: 3 x 10</a:t>
            </a:r>
            <a:r>
              <a:rPr lang="en-US" sz="2000" baseline="30000" dirty="0"/>
              <a:t>16</a:t>
            </a:r>
            <a:r>
              <a:rPr lang="en-US" sz="2000" dirty="0"/>
              <a:t> to 3 x 10</a:t>
            </a:r>
            <a:r>
              <a:rPr lang="en-US" sz="2000" baseline="30000" dirty="0"/>
              <a:t>18 </a:t>
            </a:r>
            <a:r>
              <a:rPr lang="en-US" sz="2000" dirty="0"/>
              <a:t>Hz; 10 nm to 100 pm wavelength. </a:t>
            </a:r>
            <a:r>
              <a:rPr lang="en-US" sz="2000" dirty="0">
                <a:highlight>
                  <a:srgbClr val="FFFF00"/>
                </a:highlight>
              </a:rPr>
              <a:t>Energy changes involving the inner electrons </a:t>
            </a:r>
            <a:r>
              <a:rPr lang="en-US" sz="2000" dirty="0"/>
              <a:t>of an atom or a molecule, which may be of order ten thousand kilojoules</a:t>
            </a:r>
          </a:p>
          <a:p>
            <a:pPr marL="442913" indent="-442913" algn="just">
              <a:lnSpc>
                <a:spcPct val="150000"/>
              </a:lnSpc>
              <a:buFont typeface="Symbol" panose="05050102010706020507" pitchFamily="18" charset="2"/>
              <a:buChar char="®"/>
              <a:tabLst>
                <a:tab pos="1520825" algn="l"/>
              </a:tabLst>
            </a:pPr>
            <a:endParaRPr lang="en-US" sz="500" dirty="0"/>
          </a:p>
          <a:p>
            <a:pPr marL="442913" indent="-442913" algn="just">
              <a:lnSpc>
                <a:spcPct val="150000"/>
              </a:lnSpc>
              <a:buFont typeface="Symbol" panose="05050102010706020507" pitchFamily="18" charset="2"/>
              <a:buChar char="®"/>
              <a:tabLst>
                <a:tab pos="1520825" algn="l"/>
              </a:tabLst>
            </a:pPr>
            <a:endParaRPr lang="en-US" sz="500" dirty="0"/>
          </a:p>
          <a:p>
            <a:pPr marL="442913" indent="-442913" algn="just">
              <a:lnSpc>
                <a:spcPct val="150000"/>
              </a:lnSpc>
              <a:buFont typeface="Symbol" panose="05050102010706020507" pitchFamily="18" charset="2"/>
              <a:buChar char="®"/>
              <a:tabLst>
                <a:tab pos="1520825" algn="l"/>
              </a:tabLst>
            </a:pPr>
            <a:r>
              <a:rPr lang="el-GR" sz="2000" b="1" dirty="0"/>
              <a:t>γ</a:t>
            </a:r>
            <a:r>
              <a:rPr lang="en-US" sz="2000" b="1" dirty="0"/>
              <a:t>-ray region</a:t>
            </a:r>
            <a:r>
              <a:rPr lang="en-US" sz="2000" dirty="0"/>
              <a:t>: 3 x 10</a:t>
            </a:r>
            <a:r>
              <a:rPr lang="en-US" sz="2000" baseline="30000" dirty="0"/>
              <a:t>18</a:t>
            </a:r>
            <a:r>
              <a:rPr lang="en-US" sz="2000" dirty="0"/>
              <a:t> to 3 x 10</a:t>
            </a:r>
            <a:r>
              <a:rPr lang="en-US" sz="2000" baseline="30000" dirty="0"/>
              <a:t>20 </a:t>
            </a:r>
            <a:r>
              <a:rPr lang="en-US" sz="2000" dirty="0"/>
              <a:t>Hz; 100 pm to 1 pm wavelength. Energy changes involve the </a:t>
            </a:r>
            <a:r>
              <a:rPr lang="en-US" sz="2000" dirty="0">
                <a:highlight>
                  <a:srgbClr val="FFFF00"/>
                </a:highlight>
              </a:rPr>
              <a:t>rearrangement of nuclear particles</a:t>
            </a:r>
            <a:r>
              <a:rPr lang="en-US" sz="2000" dirty="0"/>
              <a:t>, having energies of 10</a:t>
            </a:r>
            <a:r>
              <a:rPr lang="en-US" sz="2000" baseline="30000" dirty="0"/>
              <a:t>9</a:t>
            </a:r>
            <a:r>
              <a:rPr lang="en-US" sz="2000" dirty="0"/>
              <a:t> to 10 </a:t>
            </a:r>
            <a:r>
              <a:rPr lang="en-US" sz="2000" baseline="30000" dirty="0"/>
              <a:t>11 </a:t>
            </a:r>
            <a:r>
              <a:rPr lang="en-US" sz="2000" dirty="0"/>
              <a:t>joules per gram atom.</a:t>
            </a:r>
            <a:r>
              <a:rPr lang="en-IN" sz="2000" b="1" dirty="0">
                <a:latin typeface="Times New Roman" panose="02020603050405020304" pitchFamily="18" charset="0"/>
                <a:cs typeface="Times New Roman" panose="02020603050405020304" pitchFamily="18" charset="0"/>
              </a:rPr>
              <a:t>	</a:t>
            </a:r>
          </a:p>
          <a:p>
            <a:pPr marL="442913" indent="-442913" algn="just">
              <a:lnSpc>
                <a:spcPct val="150000"/>
              </a:lnSpc>
              <a:buFont typeface="Symbol" panose="05050102010706020507" pitchFamily="18" charset="2"/>
              <a:buChar char="®"/>
              <a:tabLst>
                <a:tab pos="1520825" algn="l"/>
              </a:tabLst>
            </a:pPr>
            <a:endParaRPr lang="en-IN" sz="500" b="1" dirty="0">
              <a:latin typeface="Times New Roman" panose="02020603050405020304" pitchFamily="18" charset="0"/>
              <a:cs typeface="Times New Roman" panose="02020603050405020304" pitchFamily="18" charset="0"/>
            </a:endParaRPr>
          </a:p>
          <a:p>
            <a:pPr marL="442913" indent="-442913" algn="just">
              <a:lnSpc>
                <a:spcPct val="150000"/>
              </a:lnSpc>
              <a:buFont typeface="Symbol" panose="05050102010706020507" pitchFamily="18" charset="2"/>
              <a:buChar char="®"/>
              <a:tabLst>
                <a:tab pos="1520825" algn="l"/>
              </a:tabLst>
            </a:pPr>
            <a:endParaRPr lang="en-IN" sz="500" b="1" dirty="0">
              <a:latin typeface="Times New Roman" panose="02020603050405020304" pitchFamily="18" charset="0"/>
              <a:cs typeface="Times New Roman" panose="02020603050405020304" pitchFamily="18" charset="0"/>
            </a:endParaRPr>
          </a:p>
          <a:p>
            <a:pPr marL="442913" indent="-442913" algn="just">
              <a:lnSpc>
                <a:spcPct val="150000"/>
              </a:lnSpc>
              <a:buFont typeface="Symbol" panose="05050102010706020507" pitchFamily="18" charset="2"/>
              <a:buChar char="®"/>
              <a:tabLst>
                <a:tab pos="1520825" algn="l"/>
              </a:tabLst>
            </a:pPr>
            <a:r>
              <a:rPr lang="en-US" sz="2000" b="1" dirty="0">
                <a:solidFill>
                  <a:srgbClr val="C00000"/>
                </a:solidFill>
              </a:rPr>
              <a:t>One other type Of spectroscopy, that discovered by </a:t>
            </a:r>
            <a:r>
              <a:rPr lang="en-US" sz="2000" b="1" dirty="0">
                <a:solidFill>
                  <a:srgbClr val="C00000"/>
                </a:solidFill>
                <a:highlight>
                  <a:srgbClr val="FFFF00"/>
                </a:highlight>
              </a:rPr>
              <a:t>Raman and bearing his name.</a:t>
            </a:r>
            <a:endParaRPr lang="en-IN" sz="2000" b="1" dirty="0">
              <a:solidFill>
                <a:srgbClr val="C00000"/>
              </a:solidFill>
              <a:highlight>
                <a:srgbClr val="FFFF00"/>
              </a:highlight>
              <a:latin typeface="Times New Roman" panose="02020603050405020304" pitchFamily="18" charset="0"/>
              <a:cs typeface="Times New Roman" panose="02020603050405020304" pitchFamily="18" charset="0"/>
            </a:endParaRPr>
          </a:p>
          <a:p>
            <a:pPr algn="just">
              <a:lnSpc>
                <a:spcPct val="150000"/>
              </a:lnSpc>
              <a:tabLst>
                <a:tab pos="1520825" algn="l"/>
              </a:tabLst>
            </a:pPr>
            <a:endParaRPr lang="en-IN" sz="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8083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Regions of the Spectrum</a:t>
            </a:r>
            <a:endParaRPr lang="en-US" altLang="ja-JP" sz="2400" dirty="0">
              <a:cs typeface="Arial" charset="0"/>
            </a:endParaRPr>
          </a:p>
        </p:txBody>
      </p:sp>
      <p:cxnSp>
        <p:nvCxnSpPr>
          <p:cNvPr id="8"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テキスト ボックス 6"/>
          <p:cNvSpPr txBox="1">
            <a:spLocks noChangeArrowheads="1"/>
          </p:cNvSpPr>
          <p:nvPr/>
        </p:nvSpPr>
        <p:spPr bwMode="auto">
          <a:xfrm>
            <a:off x="311273" y="522256"/>
            <a:ext cx="8484942" cy="6555641"/>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Due to the interaction between the </a:t>
            </a:r>
            <a:r>
              <a:rPr lang="en-US" sz="2000" dirty="0">
                <a:highlight>
                  <a:srgbClr val="FFFF00"/>
                </a:highlight>
              </a:rPr>
              <a:t>incident radiation and the nuclear</a:t>
            </a:r>
            <a:r>
              <a:rPr lang="en-US" sz="2000" dirty="0"/>
              <a:t>, molecular, or electronic changes, there must be some </a:t>
            </a:r>
            <a:r>
              <a:rPr lang="en-US" sz="2000" dirty="0">
                <a:highlight>
                  <a:srgbClr val="FFFF00"/>
                </a:highlight>
              </a:rPr>
              <a:t>electric or magnetic effect produced</a:t>
            </a:r>
            <a:r>
              <a:rPr lang="en-US" sz="2000" dirty="0"/>
              <a:t> by the change which can be influenced by the electric or magnetic fields associated with the radiation. There are several possibilities:</a:t>
            </a:r>
          </a:p>
          <a:p>
            <a:pPr marL="442913" indent="-442913" algn="just">
              <a:lnSpc>
                <a:spcPct val="150000"/>
              </a:lnSpc>
              <a:buFont typeface="Symbol" panose="05050102010706020507" pitchFamily="18" charset="2"/>
              <a:buChar char="®"/>
              <a:tabLst>
                <a:tab pos="1520825" algn="l"/>
              </a:tabLst>
            </a:pPr>
            <a:endParaRPr lang="en-US" sz="2000" b="1" dirty="0">
              <a:latin typeface="Times New Roman" panose="02020603050405020304" pitchFamily="18" charset="0"/>
              <a:cs typeface="Times New Roman" panose="02020603050405020304" pitchFamily="18" charset="0"/>
            </a:endParaRPr>
          </a:p>
          <a:p>
            <a:pPr marL="442913" indent="-442913" algn="just">
              <a:lnSpc>
                <a:spcPct val="150000"/>
              </a:lnSpc>
              <a:buFont typeface="Symbol" panose="05050102010706020507" pitchFamily="18" charset="2"/>
              <a:buChar char="®"/>
              <a:tabLst>
                <a:tab pos="1520825" algn="l"/>
              </a:tabLst>
            </a:pPr>
            <a:r>
              <a:rPr lang="en-US" sz="2000" b="1" dirty="0"/>
              <a:t>The radiofrequency region. </a:t>
            </a:r>
            <a:r>
              <a:rPr lang="en-US" sz="2000" dirty="0"/>
              <a:t>We may consider the nucleus and electron to be </a:t>
            </a:r>
            <a:r>
              <a:rPr lang="en-US" sz="2000" dirty="0">
                <a:highlight>
                  <a:srgbClr val="FFFF00"/>
                </a:highlight>
              </a:rPr>
              <a:t>tiny charged particles</a:t>
            </a:r>
            <a:r>
              <a:rPr lang="en-US" sz="2000" dirty="0"/>
              <a:t>, and it follows that their </a:t>
            </a:r>
            <a:r>
              <a:rPr lang="en-US" sz="2000" dirty="0">
                <a:highlight>
                  <a:srgbClr val="FFFF00"/>
                </a:highlight>
              </a:rPr>
              <a:t>spin is associated with a tiny magnetic dipole</a:t>
            </a:r>
            <a:r>
              <a:rPr lang="en-US" sz="2000" dirty="0"/>
              <a:t>. The reversal of this dipole consequent upon the </a:t>
            </a:r>
            <a:r>
              <a:rPr lang="en-US" sz="2000" dirty="0">
                <a:highlight>
                  <a:srgbClr val="FFFF00"/>
                </a:highlight>
              </a:rPr>
              <a:t>spin reversal </a:t>
            </a:r>
            <a:r>
              <a:rPr lang="en-US" sz="2000" dirty="0"/>
              <a:t>can interact with the magnetic field of electromagnetic radiation at the appropriate frequency. Consequently all such </a:t>
            </a:r>
            <a:r>
              <a:rPr lang="en-US" sz="2000" dirty="0">
                <a:highlight>
                  <a:srgbClr val="FFFF00"/>
                </a:highlight>
              </a:rPr>
              <a:t>spin reversals produce an absorption or emission spectrum</a:t>
            </a:r>
            <a:r>
              <a:rPr lang="en-US" sz="2000" dirty="0"/>
              <a:t>.</a:t>
            </a:r>
            <a:endParaRPr lang="en-IN" sz="2000" dirty="0"/>
          </a:p>
          <a:p>
            <a:pPr algn="just">
              <a:lnSpc>
                <a:spcPct val="150000"/>
              </a:lnSpc>
              <a:tabLst>
                <a:tab pos="1520825" algn="l"/>
              </a:tabLst>
            </a:pP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Regions of the Spectrum</a:t>
            </a:r>
            <a:endParaRPr lang="en-US" altLang="ja-JP" sz="2400" dirty="0">
              <a:cs typeface="Arial" charset="0"/>
            </a:endParaRPr>
          </a:p>
        </p:txBody>
      </p:sp>
      <p:cxnSp>
        <p:nvCxnSpPr>
          <p:cNvPr id="8"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テキスト ボックス 6"/>
          <p:cNvSpPr txBox="1">
            <a:spLocks noChangeArrowheads="1"/>
          </p:cNvSpPr>
          <p:nvPr/>
        </p:nvSpPr>
        <p:spPr bwMode="auto">
          <a:xfrm>
            <a:off x="311273" y="522256"/>
            <a:ext cx="8484942" cy="4478149"/>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b="1" dirty="0"/>
              <a:t>The visible and ultra-violet region: </a:t>
            </a:r>
            <a:r>
              <a:rPr lang="en-IN" sz="2000" dirty="0">
                <a:highlight>
                  <a:srgbClr val="FFFF00"/>
                </a:highlight>
              </a:rPr>
              <a:t>The excitation of a valence electron</a:t>
            </a:r>
            <a:r>
              <a:rPr lang="en-IN" sz="2000" dirty="0"/>
              <a:t> involves the </a:t>
            </a:r>
            <a:r>
              <a:rPr lang="en-IN" sz="2000" dirty="0">
                <a:highlight>
                  <a:srgbClr val="FFFF00"/>
                </a:highlight>
              </a:rPr>
              <a:t>moving of electronic charges </a:t>
            </a:r>
            <a:r>
              <a:rPr lang="en-IN" sz="2000" dirty="0"/>
              <a:t>in the molecule. The consequent change in the </a:t>
            </a:r>
            <a:r>
              <a:rPr lang="en-IN" sz="2000" dirty="0">
                <a:highlight>
                  <a:srgbClr val="FFFF00"/>
                </a:highlight>
              </a:rPr>
              <a:t>electric dipole gives </a:t>
            </a:r>
            <a:r>
              <a:rPr lang="en-IN" sz="2000" dirty="0"/>
              <a:t>rise to </a:t>
            </a:r>
            <a:r>
              <a:rPr lang="en-IN" sz="2000" dirty="0">
                <a:highlight>
                  <a:srgbClr val="FFFF00"/>
                </a:highlight>
              </a:rPr>
              <a:t>a spectrum </a:t>
            </a:r>
            <a:r>
              <a:rPr lang="en-IN" sz="2000" dirty="0"/>
              <a:t>by its interaction with the undulatory electric field of radiation.</a:t>
            </a:r>
          </a:p>
          <a:p>
            <a:pPr algn="just">
              <a:lnSpc>
                <a:spcPct val="150000"/>
              </a:lnSpc>
              <a:tabLst>
                <a:tab pos="1520825" algn="l"/>
              </a:tabLst>
            </a:pPr>
            <a:endParaRPr lang="en-US" sz="500" b="1" dirty="0">
              <a:latin typeface="Times New Roman" panose="02020603050405020304" pitchFamily="18" charset="0"/>
              <a:cs typeface="Times New Roman" panose="02020603050405020304" pitchFamily="18" charset="0"/>
            </a:endParaRPr>
          </a:p>
          <a:p>
            <a:pPr algn="just">
              <a:lnSpc>
                <a:spcPct val="150000"/>
              </a:lnSpc>
              <a:tabLst>
                <a:tab pos="1520825" algn="l"/>
              </a:tabLst>
            </a:pPr>
            <a:endParaRPr lang="en-US" sz="500" b="1" dirty="0">
              <a:latin typeface="Times New Roman" panose="02020603050405020304" pitchFamily="18" charset="0"/>
              <a:cs typeface="Times New Roman" panose="02020603050405020304" pitchFamily="18" charset="0"/>
            </a:endParaRPr>
          </a:p>
          <a:p>
            <a:pPr marL="442913" indent="-442913" algn="just">
              <a:lnSpc>
                <a:spcPct val="150000"/>
              </a:lnSpc>
              <a:buFont typeface="Symbol" panose="05050102010706020507" pitchFamily="18" charset="2"/>
              <a:buChar char="®"/>
              <a:tabLst>
                <a:tab pos="1520825" algn="l"/>
              </a:tabLst>
            </a:pPr>
            <a:r>
              <a:rPr lang="en-IN" sz="2000" b="1" dirty="0"/>
              <a:t>The microwave region. </a:t>
            </a:r>
            <a:r>
              <a:rPr lang="en-IN" sz="2000" dirty="0"/>
              <a:t>A molecule such as hydrogen chloride, HCI, in which one atom (the hydrogen) carries a permanent net positive charge and the other a net negative charge, is said to have a permanent electric dipole moment. H</a:t>
            </a:r>
            <a:r>
              <a:rPr lang="en-IN" sz="2000" baseline="-25000" dirty="0"/>
              <a:t>2</a:t>
            </a:r>
            <a:r>
              <a:rPr lang="en-IN" sz="2000" dirty="0"/>
              <a:t> or Cl</a:t>
            </a:r>
            <a:r>
              <a:rPr lang="en-IN" sz="2000" baseline="-25000" dirty="0"/>
              <a:t>2</a:t>
            </a:r>
            <a:r>
              <a:rPr lang="en-IN" sz="2000" dirty="0"/>
              <a:t>, on the other hand, in which there is no such charge separation, have a zero dipole. </a:t>
            </a: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Regions of the Spectrum</a:t>
            </a:r>
            <a:endParaRPr lang="en-US" altLang="ja-JP" sz="2400" dirty="0">
              <a:cs typeface="Arial" charset="0"/>
            </a:endParaRPr>
          </a:p>
        </p:txBody>
      </p:sp>
      <p:cxnSp>
        <p:nvCxnSpPr>
          <p:cNvPr id="13"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テキスト ボックス 6"/>
          <p:cNvSpPr txBox="1">
            <a:spLocks noChangeArrowheads="1"/>
          </p:cNvSpPr>
          <p:nvPr/>
        </p:nvSpPr>
        <p:spPr bwMode="auto">
          <a:xfrm>
            <a:off x="311273" y="3534013"/>
            <a:ext cx="8484942" cy="3323987"/>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Due to the rotation of HCI, the component dipole moment in a given direction (say upwards in the plane of the paper) fluctuates regularly. This fluctuation is plotted in the lower half of Fig and it is seen to be exactly similar in form to the fluctuating electric field of radiation.</a:t>
            </a:r>
          </a:p>
          <a:p>
            <a:pPr marL="442913" indent="-442913" algn="just">
              <a:lnSpc>
                <a:spcPct val="150000"/>
              </a:lnSpc>
              <a:buFont typeface="Symbol" panose="05050102010706020507" pitchFamily="18" charset="2"/>
              <a:buChar char="®"/>
              <a:tabLst>
                <a:tab pos="1520825" algn="l"/>
              </a:tabLst>
            </a:pPr>
            <a:r>
              <a:rPr lang="en-US" sz="2000" dirty="0"/>
              <a:t>Thus interaction can occur, energy can be absorbed or emitted, and the rotation gives rise to a spectrum. </a:t>
            </a:r>
            <a:r>
              <a:rPr lang="en-US" sz="2000" b="1" dirty="0">
                <a:highlight>
                  <a:srgbClr val="FFFF00"/>
                </a:highlight>
              </a:rPr>
              <a:t>All molecules having a permanent moment are said to be 'microwave active</a:t>
            </a:r>
            <a:r>
              <a:rPr lang="en-US" sz="2000" dirty="0"/>
              <a:t>'. </a:t>
            </a:r>
            <a:endParaRPr lang="en-IN" sz="2000" b="1" dirty="0">
              <a:latin typeface="Times New Roman" panose="02020603050405020304" pitchFamily="18" charset="0"/>
              <a:cs typeface="Times New Roman" panose="02020603050405020304" pitchFamily="18" charset="0"/>
            </a:endParaRPr>
          </a:p>
        </p:txBody>
      </p:sp>
      <p:pic>
        <p:nvPicPr>
          <p:cNvPr id="15" name="Picture 14"/>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1638654" y="517372"/>
            <a:ext cx="5324854" cy="287059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Regions of the Spectrum</a:t>
            </a:r>
            <a:endParaRPr lang="en-US" altLang="ja-JP" sz="2400" dirty="0">
              <a:cs typeface="Arial" charset="0"/>
            </a:endParaRPr>
          </a:p>
        </p:txBody>
      </p:sp>
      <p:cxnSp>
        <p:nvCxnSpPr>
          <p:cNvPr id="10"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テキスト ボックス 6"/>
          <p:cNvSpPr txBox="1">
            <a:spLocks noChangeArrowheads="1"/>
          </p:cNvSpPr>
          <p:nvPr/>
        </p:nvSpPr>
        <p:spPr bwMode="auto">
          <a:xfrm>
            <a:off x="311273" y="521186"/>
            <a:ext cx="8484942" cy="5286062"/>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b="1" dirty="0"/>
              <a:t>The infra-red region: </a:t>
            </a:r>
            <a:r>
              <a:rPr lang="en-IN" sz="2000" dirty="0"/>
              <a:t>Here it is a </a:t>
            </a:r>
            <a:r>
              <a:rPr lang="en-IN" sz="2000" b="1" dirty="0">
                <a:highlight>
                  <a:srgbClr val="FFFF00"/>
                </a:highlight>
              </a:rPr>
              <a:t>vibration</a:t>
            </a:r>
            <a:r>
              <a:rPr lang="en-IN" sz="2000" dirty="0"/>
              <a:t>, rather than a rotation, which must </a:t>
            </a:r>
            <a:r>
              <a:rPr lang="en-IN" sz="2000" dirty="0">
                <a:highlight>
                  <a:srgbClr val="FFFF00"/>
                </a:highlight>
              </a:rPr>
              <a:t>give rise to a dipole change</a:t>
            </a:r>
            <a:r>
              <a:rPr lang="en-IN" sz="2000" dirty="0"/>
              <a:t>. Consider the carbon dioxide molecule, in which the three atoms are arranged linearly with a small net positive charge on the carbon and small negative charges on the oxygens:</a:t>
            </a:r>
          </a:p>
          <a:p>
            <a:pPr marL="442913" indent="-442913" algn="just">
              <a:lnSpc>
                <a:spcPct val="150000"/>
              </a:lnSpc>
              <a:buFont typeface="Symbol" panose="05050102010706020507" pitchFamily="18" charset="2"/>
              <a:buChar char="®"/>
              <a:tabLst>
                <a:tab pos="1520825" algn="l"/>
              </a:tabLst>
            </a:pPr>
            <a:endParaRPr lang="en-IN" sz="500" dirty="0"/>
          </a:p>
          <a:p>
            <a:pPr marL="442913" indent="-442913" algn="just">
              <a:lnSpc>
                <a:spcPct val="150000"/>
              </a:lnSpc>
              <a:buFont typeface="Symbol" panose="05050102010706020507" pitchFamily="18" charset="2"/>
              <a:buChar char="®"/>
              <a:tabLst>
                <a:tab pos="1520825" algn="l"/>
              </a:tabLst>
            </a:pPr>
            <a:r>
              <a:rPr lang="en-US" sz="2000" dirty="0"/>
              <a:t>During the mode of vibration known as the </a:t>
            </a:r>
            <a:r>
              <a:rPr lang="en-US" sz="2000" b="1" dirty="0">
                <a:highlight>
                  <a:srgbClr val="FFFF00"/>
                </a:highlight>
              </a:rPr>
              <a:t>'symmetric stretch'</a:t>
            </a:r>
            <a:r>
              <a:rPr lang="en-US" sz="2000" dirty="0">
                <a:highlight>
                  <a:srgbClr val="FFFF00"/>
                </a:highlight>
              </a:rPr>
              <a:t>, </a:t>
            </a:r>
            <a:r>
              <a:rPr lang="en-US" sz="2000" dirty="0"/>
              <a:t>the molecule is alternately stretched and compressed, both C—O bonds changing simultaneously. </a:t>
            </a:r>
            <a:r>
              <a:rPr lang="en-US" sz="2000" dirty="0">
                <a:highlight>
                  <a:srgbClr val="FFFF00"/>
                </a:highlight>
              </a:rPr>
              <a:t>The dipole moment remains zero throughout the whole of this motion</a:t>
            </a:r>
            <a:r>
              <a:rPr lang="en-US" sz="2000" dirty="0"/>
              <a:t>, and </a:t>
            </a:r>
            <a:r>
              <a:rPr lang="en-US" sz="2000" dirty="0">
                <a:highlight>
                  <a:srgbClr val="FFFF00"/>
                </a:highlight>
              </a:rPr>
              <a:t>this particular vibration is thus </a:t>
            </a:r>
            <a:r>
              <a:rPr lang="en-US" sz="2000" b="1" dirty="0">
                <a:highlight>
                  <a:srgbClr val="FFFF00"/>
                </a:highlight>
              </a:rPr>
              <a:t>'infra-red inactive'</a:t>
            </a:r>
            <a:r>
              <a:rPr lang="en-US" sz="2000" dirty="0"/>
              <a:t>.</a:t>
            </a:r>
            <a:endParaRPr lang="en-IN" sz="2000" dirty="0"/>
          </a:p>
          <a:p>
            <a:pPr marL="442913" indent="-442913" algn="just">
              <a:lnSpc>
                <a:spcPct val="150000"/>
              </a:lnSpc>
              <a:buFont typeface="Symbol" panose="05050102010706020507" pitchFamily="18" charset="2"/>
              <a:buChar char="®"/>
              <a:tabLst>
                <a:tab pos="1520825" algn="l"/>
              </a:tabLst>
            </a:pPr>
            <a:endParaRPr lang="en-IN" sz="2000" b="1" dirty="0">
              <a:latin typeface="Times New Roman" panose="02020603050405020304" pitchFamily="18" charset="0"/>
              <a:cs typeface="Times New Roman" panose="02020603050405020304" pitchFamily="18" charset="0"/>
            </a:endParaRPr>
          </a:p>
        </p:txBody>
      </p:sp>
      <p:pic>
        <p:nvPicPr>
          <p:cNvPr id="21" name="Picture 20"/>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063749" y="5368435"/>
            <a:ext cx="3903297" cy="1301995"/>
          </a:xfrm>
          <a:prstGeom prst="rect">
            <a:avLst/>
          </a:prstGeom>
        </p:spPr>
      </p:pic>
      <p:sp>
        <p:nvSpPr>
          <p:cNvPr id="22" name="Rectangle 21"/>
          <p:cNvSpPr/>
          <p:nvPr/>
        </p:nvSpPr>
        <p:spPr>
          <a:xfrm>
            <a:off x="3200400" y="5217387"/>
            <a:ext cx="4853354" cy="1646220"/>
          </a:xfrm>
          <a:prstGeom prst="rect">
            <a:avLst/>
          </a:prstGeom>
        </p:spPr>
        <p:txBody>
          <a:bodyPr wrap="square">
            <a:spAutoFit/>
          </a:bodyPr>
          <a:lstStyle/>
          <a:p>
            <a:pPr marL="3048000" marR="237490" indent="-255905">
              <a:lnSpc>
                <a:spcPct val="187000"/>
              </a:lnSpc>
              <a:spcAft>
                <a:spcPts val="25"/>
              </a:spcAft>
            </a:pPr>
            <a:r>
              <a:rPr lang="en-US" b="1" dirty="0">
                <a:solidFill>
                  <a:srgbClr val="000000"/>
                </a:solidFill>
                <a:latin typeface="Times New Roman" panose="02020603050405020304" pitchFamily="18" charset="0"/>
                <a:ea typeface="Times New Roman" panose="02020603050405020304" pitchFamily="18" charset="0"/>
              </a:rPr>
              <a:t>stretched normal compressed</a:t>
            </a:r>
            <a:endParaRPr lang="en-IN" b="1" dirty="0">
              <a:solidFill>
                <a:srgbClr val="000000"/>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Regions of the Spectrum</a:t>
            </a:r>
            <a:endParaRPr lang="en-US" altLang="ja-JP" sz="2400" dirty="0">
              <a:cs typeface="Arial" charset="0"/>
            </a:endParaRPr>
          </a:p>
        </p:txBody>
      </p:sp>
      <p:cxnSp>
        <p:nvCxnSpPr>
          <p:cNvPr id="8"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テキスト ボックス 6"/>
          <p:cNvSpPr txBox="1">
            <a:spLocks noChangeArrowheads="1"/>
          </p:cNvSpPr>
          <p:nvPr/>
        </p:nvSpPr>
        <p:spPr bwMode="auto">
          <a:xfrm>
            <a:off x="261938" y="630330"/>
            <a:ext cx="8484942" cy="2516073"/>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There is another stretching vibration called the </a:t>
            </a:r>
            <a:r>
              <a:rPr lang="en-US" sz="2000" b="1" dirty="0" err="1">
                <a:highlight>
                  <a:srgbClr val="FFFF00"/>
                </a:highlight>
              </a:rPr>
              <a:t>antisymmetrical</a:t>
            </a:r>
            <a:r>
              <a:rPr lang="en-US" sz="2000" b="1" dirty="0">
                <a:highlight>
                  <a:srgbClr val="FFFF00"/>
                </a:highlight>
              </a:rPr>
              <a:t> </a:t>
            </a:r>
            <a:r>
              <a:rPr lang="en-US" sz="2000" dirty="0"/>
              <a:t>stretch. Here one bond stretches while the other is compressed, and vice versa. As the figure shows, there is a periodic alteration in the dipole moment, and the vibration is thus </a:t>
            </a:r>
            <a:r>
              <a:rPr lang="en-US" sz="2000" b="1" dirty="0">
                <a:highlight>
                  <a:srgbClr val="FFFF00"/>
                </a:highlight>
              </a:rPr>
              <a:t>'infrared active'</a:t>
            </a:r>
            <a:r>
              <a:rPr lang="en-US" sz="2000" dirty="0">
                <a:highlight>
                  <a:srgbClr val="FFFF00"/>
                </a:highlight>
              </a:rPr>
              <a:t>.</a:t>
            </a:r>
          </a:p>
          <a:p>
            <a:pPr marL="442913" indent="-442913" algn="just">
              <a:lnSpc>
                <a:spcPct val="150000"/>
              </a:lnSpc>
              <a:buFont typeface="Symbol" panose="05050102010706020507" pitchFamily="18" charset="2"/>
              <a:buChar char="®"/>
              <a:tabLst>
                <a:tab pos="1520825" algn="l"/>
              </a:tabLst>
            </a:pPr>
            <a:endParaRPr lang="en-IN" sz="500" dirty="0"/>
          </a:p>
          <a:p>
            <a:pPr algn="just">
              <a:lnSpc>
                <a:spcPct val="150000"/>
              </a:lnSpc>
              <a:tabLst>
                <a:tab pos="1520825" algn="l"/>
              </a:tabLst>
            </a:pPr>
            <a:endParaRPr lang="en-IN" sz="2000" b="1" dirty="0">
              <a:latin typeface="Times New Roman" panose="02020603050405020304" pitchFamily="18" charset="0"/>
              <a:cs typeface="Times New Roman" panose="02020603050405020304" pitchFamily="18" charset="0"/>
            </a:endParaRPr>
          </a:p>
        </p:txBody>
      </p:sp>
      <p:pic>
        <p:nvPicPr>
          <p:cNvPr id="17" name="Picture 16"/>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819822" y="2600039"/>
            <a:ext cx="3796458" cy="1491315"/>
          </a:xfrm>
          <a:prstGeom prst="rect">
            <a:avLst/>
          </a:prstGeom>
        </p:spPr>
      </p:pic>
      <p:sp>
        <p:nvSpPr>
          <p:cNvPr id="2" name="Rectangle 2"/>
          <p:cNvSpPr>
            <a:spLocks noChangeArrowheads="1"/>
          </p:cNvSpPr>
          <p:nvPr/>
        </p:nvSpPr>
        <p:spPr bwMode="auto">
          <a:xfrm>
            <a:off x="1629508" y="409135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36406" tIns="914112" rIns="530058" bIns="914112" numCol="1" anchor="ctr" anchorCtr="0" compatLnSpc="1">
            <a:prstTxWarp prst="textNoShape">
              <a:avLst/>
            </a:prstTxWarp>
            <a:spAutoFit/>
          </a:bodyPr>
          <a:lstStyle/>
          <a:p>
            <a:endParaRPr lang="en-IN"/>
          </a:p>
        </p:txBody>
      </p:sp>
      <p:pic>
        <p:nvPicPr>
          <p:cNvPr id="3073" name="Picture 325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9401" y="4091354"/>
            <a:ext cx="4157300" cy="151129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1418665" y="5557505"/>
            <a:ext cx="708399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The asymmetric stretching vibration of the carbon dioxide molecule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showing the fluctuation in the dipole moment.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9" name="Rectangle 18"/>
          <p:cNvSpPr>
            <a:spLocks noChangeArrowheads="1"/>
          </p:cNvSpPr>
          <p:nvPr/>
        </p:nvSpPr>
        <p:spPr bwMode="auto">
          <a:xfrm>
            <a:off x="261938" y="4642432"/>
            <a:ext cx="23134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Component of dipole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Regions of the Spectrum</a:t>
            </a:r>
            <a:endParaRPr lang="en-US" altLang="ja-JP" sz="2400" dirty="0">
              <a:cs typeface="Arial" charset="0"/>
            </a:endParaRPr>
          </a:p>
        </p:txBody>
      </p:sp>
      <p:cxnSp>
        <p:nvCxnSpPr>
          <p:cNvPr id="12"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テキスト ボックス 6"/>
          <p:cNvSpPr txBox="1">
            <a:spLocks noChangeArrowheads="1"/>
          </p:cNvSpPr>
          <p:nvPr/>
        </p:nvSpPr>
        <p:spPr bwMode="auto">
          <a:xfrm>
            <a:off x="311273" y="5299999"/>
            <a:ext cx="8484942" cy="1938992"/>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There is a rather special requirement for a molecular motion to be </a:t>
            </a:r>
            <a:r>
              <a:rPr lang="en-US" sz="2000" b="1" dirty="0">
                <a:highlight>
                  <a:srgbClr val="FFFF00"/>
                </a:highlight>
              </a:rPr>
              <a:t>'Raman active'; </a:t>
            </a:r>
            <a:r>
              <a:rPr lang="en-US" sz="2000" dirty="0"/>
              <a:t>this is that </a:t>
            </a:r>
            <a:r>
              <a:rPr lang="en-US" sz="2000" b="1" dirty="0">
                <a:highlight>
                  <a:srgbClr val="FFFF00"/>
                </a:highlight>
              </a:rPr>
              <a:t>the electrical polarizability of the molecule must change during the motion. </a:t>
            </a:r>
            <a:endParaRPr lang="en-IN" sz="500" b="1" dirty="0">
              <a:highlight>
                <a:srgbClr val="FFFF00"/>
              </a:highlight>
            </a:endParaRPr>
          </a:p>
          <a:p>
            <a:pPr algn="just">
              <a:lnSpc>
                <a:spcPct val="150000"/>
              </a:lnSpc>
              <a:tabLst>
                <a:tab pos="1520825" algn="l"/>
              </a:tabLst>
            </a:pPr>
            <a:endParaRPr lang="en-IN" sz="2000" b="1" dirty="0">
              <a:latin typeface="Times New Roman" panose="02020603050405020304" pitchFamily="18" charset="0"/>
              <a:cs typeface="Times New Roman" panose="02020603050405020304" pitchFamily="18" charset="0"/>
            </a:endParaRPr>
          </a:p>
        </p:txBody>
      </p:sp>
      <p:sp>
        <p:nvSpPr>
          <p:cNvPr id="6" name="Rectangle 5"/>
          <p:cNvSpPr>
            <a:spLocks noChangeArrowheads="1"/>
          </p:cNvSpPr>
          <p:nvPr/>
        </p:nvSpPr>
        <p:spPr bwMode="auto">
          <a:xfrm>
            <a:off x="1922585" y="113462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2052" name="Picture 10761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2585" y="937343"/>
            <a:ext cx="6024192" cy="98637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6"/>
          <p:cNvSpPr>
            <a:spLocks noChangeArrowheads="1"/>
          </p:cNvSpPr>
          <p:nvPr/>
        </p:nvSpPr>
        <p:spPr bwMode="auto">
          <a:xfrm>
            <a:off x="155755" y="1014612"/>
            <a:ext cx="17668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Bending vibration</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pic>
        <p:nvPicPr>
          <p:cNvPr id="17" name="Picture 16"/>
          <p:cNvPicPr/>
          <p:nvPr/>
        </p:nvPicPr>
        <p:blipFill>
          <a:blip r:embed="rId3"/>
          <a:stretch>
            <a:fillRect/>
          </a:stretch>
        </p:blipFill>
        <p:spPr>
          <a:xfrm>
            <a:off x="2377094" y="1959598"/>
            <a:ext cx="3543059" cy="2049972"/>
          </a:xfrm>
          <a:prstGeom prst="rect">
            <a:avLst/>
          </a:prstGeom>
        </p:spPr>
      </p:pic>
      <p:sp>
        <p:nvSpPr>
          <p:cNvPr id="15" name="Rectangle 14"/>
          <p:cNvSpPr/>
          <p:nvPr/>
        </p:nvSpPr>
        <p:spPr>
          <a:xfrm>
            <a:off x="1259988" y="4081341"/>
            <a:ext cx="6971200" cy="814325"/>
          </a:xfrm>
          <a:prstGeom prst="rect">
            <a:avLst/>
          </a:prstGeom>
        </p:spPr>
        <p:txBody>
          <a:bodyPr wrap="square">
            <a:spAutoFit/>
          </a:bodyPr>
          <a:lstStyle/>
          <a:p>
            <a:pPr marL="8890" marR="8890" algn="just">
              <a:spcAft>
                <a:spcPts val="1910"/>
              </a:spcAft>
            </a:pPr>
            <a:r>
              <a:rPr lang="en-US" dirty="0">
                <a:solidFill>
                  <a:srgbClr val="000000"/>
                </a:solidFill>
                <a:latin typeface="Arial" panose="020B0604020202020204" pitchFamily="34" charset="0"/>
                <a:ea typeface="Times New Roman" panose="02020603050405020304" pitchFamily="18" charset="0"/>
                <a:cs typeface="Arial" panose="020B0604020202020204" pitchFamily="34" charset="0"/>
              </a:rPr>
              <a:t>The bending motion of the carbon dioxide molecule and its associated dipole fluctuation.</a:t>
            </a:r>
            <a:endParaRPr lang="en-IN" sz="2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Representation of Spectra</a:t>
            </a:r>
            <a:endParaRPr lang="en-US" altLang="ja-JP" sz="2400" dirty="0">
              <a:cs typeface="Arial" charset="0"/>
            </a:endParaRPr>
          </a:p>
        </p:txBody>
      </p:sp>
      <p:cxnSp>
        <p:nvCxnSpPr>
          <p:cNvPr id="9"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テキスト ボックス 6"/>
          <p:cNvSpPr txBox="1">
            <a:spLocks noChangeArrowheads="1"/>
          </p:cNvSpPr>
          <p:nvPr/>
        </p:nvSpPr>
        <p:spPr bwMode="auto">
          <a:xfrm>
            <a:off x="311273" y="521186"/>
            <a:ext cx="8484942" cy="3366243"/>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dirty="0"/>
              <a:t>The following figure a highly schematic diagram of a spectrometer suitable for use in the </a:t>
            </a:r>
            <a:r>
              <a:rPr lang="en-IN" b="1" dirty="0"/>
              <a:t>visible and ultra-violet </a:t>
            </a:r>
            <a:r>
              <a:rPr lang="en-IN" dirty="0"/>
              <a:t>regions of the spectrum. A 'white' source is focused </a:t>
            </a:r>
            <a:r>
              <a:rPr lang="en-IN" dirty="0">
                <a:highlight>
                  <a:srgbClr val="FFFF00"/>
                </a:highlight>
              </a:rPr>
              <a:t>by lens </a:t>
            </a:r>
            <a:r>
              <a:rPr lang="en-IN" b="1" dirty="0">
                <a:highlight>
                  <a:srgbClr val="FFFF00"/>
                </a:highlight>
              </a:rPr>
              <a:t>I</a:t>
            </a:r>
            <a:r>
              <a:rPr lang="en-IN" dirty="0">
                <a:highlight>
                  <a:srgbClr val="FFFF00"/>
                </a:highlight>
              </a:rPr>
              <a:t> on to a narrow slit (arranged perpendicularly to the plane of the paper)</a:t>
            </a:r>
            <a:r>
              <a:rPr lang="en-IN" dirty="0"/>
              <a:t> and is then made into a parallel beam by lens </a:t>
            </a:r>
            <a:r>
              <a:rPr lang="en-IN" b="1" dirty="0"/>
              <a:t>2</a:t>
            </a:r>
            <a:r>
              <a:rPr lang="en-IN" dirty="0"/>
              <a:t>. After passing through the sample it is </a:t>
            </a:r>
            <a:r>
              <a:rPr lang="en-IN" dirty="0">
                <a:highlight>
                  <a:srgbClr val="FFFF00"/>
                </a:highlight>
              </a:rPr>
              <a:t>separated into its constituent frequencies by a prism </a:t>
            </a:r>
            <a:r>
              <a:rPr lang="en-IN" dirty="0"/>
              <a:t>and is then focused on to </a:t>
            </a:r>
            <a:r>
              <a:rPr lang="en-IN" dirty="0">
                <a:highlight>
                  <a:srgbClr val="FFFF00"/>
                </a:highlight>
              </a:rPr>
              <a:t>a photographic plate by lens </a:t>
            </a:r>
            <a:r>
              <a:rPr lang="en-IN" b="1" dirty="0">
                <a:highlight>
                  <a:srgbClr val="FFFF00"/>
                </a:highlight>
              </a:rPr>
              <a:t>3</a:t>
            </a:r>
            <a:r>
              <a:rPr lang="en-IN" dirty="0">
                <a:highlight>
                  <a:srgbClr val="FFFF00"/>
                </a:highlight>
              </a:rPr>
              <a:t>; </a:t>
            </a:r>
            <a:r>
              <a:rPr lang="en-IN" dirty="0"/>
              <a:t>the vertical image of the slit will thus appear on the plate. Rays have been drawn to show the points at which two frequencies, </a:t>
            </a:r>
            <a:r>
              <a:rPr lang="en-IN" b="1" dirty="0">
                <a:highlight>
                  <a:srgbClr val="FFFF00"/>
                </a:highlight>
              </a:rPr>
              <a:t>v</a:t>
            </a:r>
            <a:r>
              <a:rPr lang="en-IN" b="1" baseline="-25000" dirty="0">
                <a:highlight>
                  <a:srgbClr val="FFFF00"/>
                </a:highlight>
              </a:rPr>
              <a:t>1</a:t>
            </a:r>
            <a:r>
              <a:rPr lang="en-IN" dirty="0">
                <a:highlight>
                  <a:srgbClr val="FFFF00"/>
                </a:highlight>
              </a:rPr>
              <a:t> and </a:t>
            </a:r>
            <a:r>
              <a:rPr lang="en-IN" b="1" dirty="0">
                <a:highlight>
                  <a:srgbClr val="FFFF00"/>
                </a:highlight>
              </a:rPr>
              <a:t>v</a:t>
            </a:r>
            <a:r>
              <a:rPr lang="en-IN" b="1" baseline="-25000" dirty="0">
                <a:highlight>
                  <a:srgbClr val="FFFF00"/>
                </a:highlight>
              </a:rPr>
              <a:t>2</a:t>
            </a:r>
            <a:r>
              <a:rPr lang="en-IN" dirty="0">
                <a:highlight>
                  <a:srgbClr val="FFFF00"/>
                </a:highlight>
              </a:rPr>
              <a:t>, are focused</a:t>
            </a:r>
            <a:r>
              <a:rPr lang="en-IN" dirty="0"/>
              <a:t>.</a:t>
            </a:r>
            <a:endParaRPr lang="en-IN" dirty="0">
              <a:latin typeface="Times New Roman" panose="02020603050405020304" pitchFamily="18" charset="0"/>
              <a:cs typeface="Times New Roman" panose="02020603050405020304" pitchFamily="18" charset="0"/>
            </a:endParaRPr>
          </a:p>
        </p:txBody>
      </p:sp>
      <p:pic>
        <p:nvPicPr>
          <p:cNvPr id="12" name="Picture 1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rot="10800000">
            <a:off x="1644922" y="3940841"/>
            <a:ext cx="5874993" cy="29444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Representation of Spectra</a:t>
            </a:r>
            <a:endParaRPr lang="en-US" altLang="ja-JP" sz="2400" dirty="0">
              <a:cs typeface="Arial" charset="0"/>
            </a:endParaRPr>
          </a:p>
        </p:txBody>
      </p:sp>
      <p:cxnSp>
        <p:nvCxnSpPr>
          <p:cNvPr id="10"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テキスト ボックス 6"/>
          <p:cNvSpPr txBox="1">
            <a:spLocks noChangeArrowheads="1"/>
          </p:cNvSpPr>
          <p:nvPr/>
        </p:nvSpPr>
        <p:spPr bwMode="auto">
          <a:xfrm>
            <a:off x="311273" y="521186"/>
            <a:ext cx="8484942" cy="6463308"/>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If the sample container is </a:t>
            </a:r>
            <a:r>
              <a:rPr lang="en-US" sz="2000" dirty="0">
                <a:highlight>
                  <a:srgbClr val="FFFF00"/>
                </a:highlight>
              </a:rPr>
              <a:t>empty,</a:t>
            </a:r>
            <a:r>
              <a:rPr lang="en-US" sz="2000" dirty="0"/>
              <a:t> the photographic plate, after development, should ideally show an </a:t>
            </a:r>
            <a:r>
              <a:rPr lang="en-US" sz="2000" dirty="0">
                <a:highlight>
                  <a:srgbClr val="FFFF00"/>
                </a:highlight>
              </a:rPr>
              <a:t>even blackening over the whole range of frequencies covered (i.e., from A to B).</a:t>
            </a:r>
          </a:p>
          <a:p>
            <a:pPr algn="just">
              <a:lnSpc>
                <a:spcPct val="150000"/>
              </a:lnSpc>
              <a:tabLst>
                <a:tab pos="1520825" algn="l"/>
              </a:tabLst>
            </a:pPr>
            <a:endParaRPr lang="en-US" sz="800" dirty="0"/>
          </a:p>
          <a:p>
            <a:pPr marL="442913" indent="-442913" algn="just">
              <a:lnSpc>
                <a:spcPct val="150000"/>
              </a:lnSpc>
              <a:buFont typeface="Symbol" panose="05050102010706020507" pitchFamily="18" charset="2"/>
              <a:buChar char="®"/>
              <a:tabLst>
                <a:tab pos="1520825" algn="l"/>
              </a:tabLst>
            </a:pPr>
            <a:r>
              <a:rPr lang="en-US" sz="2000" dirty="0"/>
              <a:t>If we now imagine the sample space to be filled with a substance having only two possible energy levels, E</a:t>
            </a:r>
            <a:r>
              <a:rPr lang="en-US" sz="2000" baseline="-25000" dirty="0"/>
              <a:t>l</a:t>
            </a:r>
            <a:r>
              <a:rPr lang="en-US" sz="2000" dirty="0"/>
              <a:t> and E</a:t>
            </a:r>
            <a:r>
              <a:rPr lang="en-US" sz="2000" baseline="-25000" dirty="0"/>
              <a:t>2</a:t>
            </a:r>
            <a:r>
              <a:rPr lang="en-US" sz="2000" dirty="0"/>
              <a:t>, the photographic plate, after development</a:t>
            </a:r>
            <a:r>
              <a:rPr lang="en-US" sz="2000" dirty="0">
                <a:highlight>
                  <a:srgbClr val="FFFF00"/>
                </a:highlight>
              </a:rPr>
              <a:t>, will show a blackening at all points except at the frequency v = (E</a:t>
            </a:r>
            <a:r>
              <a:rPr lang="en-US" sz="2000" baseline="-25000" dirty="0">
                <a:highlight>
                  <a:srgbClr val="FFFF00"/>
                </a:highlight>
              </a:rPr>
              <a:t>2</a:t>
            </a:r>
            <a:r>
              <a:rPr lang="en-US" sz="2000" dirty="0">
                <a:highlight>
                  <a:srgbClr val="FFFF00"/>
                </a:highlight>
              </a:rPr>
              <a:t> — E</a:t>
            </a:r>
            <a:r>
              <a:rPr lang="en-US" sz="2000" baseline="-25000" dirty="0">
                <a:highlight>
                  <a:srgbClr val="FFFF00"/>
                </a:highlight>
              </a:rPr>
              <a:t>l</a:t>
            </a:r>
            <a:r>
              <a:rPr lang="en-US" sz="2000" dirty="0">
                <a:highlight>
                  <a:srgbClr val="FFFF00"/>
                </a:highlight>
              </a:rPr>
              <a:t>)/h</a:t>
            </a:r>
            <a:r>
              <a:rPr lang="en-US" sz="2000" dirty="0"/>
              <a:t>, since energy at this frequency will have been absorbed by the sample </a:t>
            </a:r>
            <a:r>
              <a:rPr lang="en-US" sz="2000" dirty="0">
                <a:highlight>
                  <a:srgbClr val="FFFF00"/>
                </a:highlight>
              </a:rPr>
              <a:t>in raising each molecule from state 1 to state 2.</a:t>
            </a:r>
          </a:p>
          <a:p>
            <a:pPr algn="just">
              <a:lnSpc>
                <a:spcPct val="150000"/>
              </a:lnSpc>
              <a:tabLst>
                <a:tab pos="1520825" algn="l"/>
              </a:tabLst>
            </a:pPr>
            <a:endParaRPr lang="en-US" sz="800" dirty="0"/>
          </a:p>
          <a:p>
            <a:pPr marL="442913" indent="-442913" algn="just">
              <a:lnSpc>
                <a:spcPct val="150000"/>
              </a:lnSpc>
              <a:buFont typeface="Symbol" panose="05050102010706020507" pitchFamily="18" charset="2"/>
              <a:buChar char="®"/>
              <a:tabLst>
                <a:tab pos="1520825" algn="l"/>
              </a:tabLst>
            </a:pPr>
            <a:r>
              <a:rPr lang="en-US" sz="2000" dirty="0"/>
              <a:t> Further if, as is almost always the case, there are many possible energy levels, E</a:t>
            </a:r>
            <a:r>
              <a:rPr lang="en-US" sz="2000" baseline="-25000" dirty="0"/>
              <a:t>1</a:t>
            </a:r>
            <a:r>
              <a:rPr lang="en-US" sz="2000" dirty="0"/>
              <a:t>, E</a:t>
            </a:r>
            <a:r>
              <a:rPr lang="en-US" sz="2000" baseline="-25000" dirty="0"/>
              <a:t>2</a:t>
            </a:r>
            <a:r>
              <a:rPr lang="en-US" sz="2000" dirty="0"/>
              <a:t>….. </a:t>
            </a:r>
            <a:r>
              <a:rPr lang="en-US" sz="2000" dirty="0" err="1"/>
              <a:t>E</a:t>
            </a:r>
            <a:r>
              <a:rPr lang="en-US" sz="2000" baseline="-25000" dirty="0" err="1"/>
              <a:t>j</a:t>
            </a:r>
            <a:r>
              <a:rPr lang="en-US" sz="2000" dirty="0"/>
              <a:t>, </a:t>
            </a:r>
            <a:r>
              <a:rPr lang="en-US" sz="2000" dirty="0" err="1"/>
              <a:t>E</a:t>
            </a:r>
            <a:r>
              <a:rPr lang="en-US" sz="2000" baseline="-25000" dirty="0" err="1"/>
              <a:t>k</a:t>
            </a:r>
            <a:r>
              <a:rPr lang="en-US" sz="2000" dirty="0"/>
              <a:t>,…. available to the sample, a series of absorption lines will appear on the photographic plate at frequencies given by v = (</a:t>
            </a:r>
            <a:r>
              <a:rPr lang="en-US" sz="2000" dirty="0" err="1"/>
              <a:t>E</a:t>
            </a:r>
            <a:r>
              <a:rPr lang="en-US" sz="2000" baseline="-25000" dirty="0" err="1"/>
              <a:t>j</a:t>
            </a:r>
            <a:r>
              <a:rPr lang="en-US" sz="2000" dirty="0"/>
              <a:t> — </a:t>
            </a:r>
            <a:r>
              <a:rPr lang="en-US" sz="2000" dirty="0" err="1"/>
              <a:t>E</a:t>
            </a:r>
            <a:r>
              <a:rPr lang="en-US" sz="2000" baseline="-25000" dirty="0" err="1"/>
              <a:t>k</a:t>
            </a:r>
            <a:r>
              <a:rPr lang="en-US" sz="2000" dirty="0"/>
              <a:t>)/h.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316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1103313" y="472767"/>
            <a:ext cx="6942617" cy="2816625"/>
          </a:xfrm>
          <a:prstGeom prst="rect">
            <a:avLst/>
          </a:prstGeom>
          <a:noFill/>
          <a:ln>
            <a:noFill/>
          </a:ln>
        </p:spPr>
      </p:pic>
      <p:sp>
        <p:nvSpPr>
          <p:cNvPr id="11"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Representation of Spectra</a:t>
            </a:r>
            <a:endParaRPr lang="en-US" altLang="ja-JP" sz="2400" dirty="0">
              <a:cs typeface="Arial" charset="0"/>
            </a:endParaRPr>
          </a:p>
        </p:txBody>
      </p:sp>
      <p:cxnSp>
        <p:nvCxnSpPr>
          <p:cNvPr id="12"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960970" y="3289392"/>
            <a:ext cx="7185546" cy="814325"/>
          </a:xfrm>
          <a:prstGeom prst="rect">
            <a:avLst/>
          </a:prstGeom>
        </p:spPr>
        <p:txBody>
          <a:bodyPr wrap="square">
            <a:spAutoFit/>
          </a:bodyPr>
          <a:lstStyle/>
          <a:p>
            <a:pPr marL="8890" marR="8890" algn="just">
              <a:lnSpc>
                <a:spcPct val="102000"/>
              </a:lnSpc>
              <a:spcAft>
                <a:spcPts val="1600"/>
              </a:spcAft>
            </a:pPr>
            <a:r>
              <a:rPr lang="en-US" b="1" dirty="0">
                <a:solidFill>
                  <a:srgbClr val="000000"/>
                </a:solidFill>
                <a:latin typeface="Times New Roman" panose="02020603050405020304" pitchFamily="18" charset="0"/>
                <a:ea typeface="Times New Roman" panose="02020603050405020304" pitchFamily="18" charset="0"/>
              </a:rPr>
              <a:t>Figure: Schematic diagram of the absorption spectrum of atomic hydrogen recorded on a photographic plate.</a:t>
            </a:r>
            <a:endParaRPr lang="en-IN" sz="2800" b="1" dirty="0">
              <a:solidFill>
                <a:srgbClr val="000000"/>
              </a:solidFill>
              <a:effectLst/>
              <a:latin typeface="Times New Roman" panose="02020603050405020304" pitchFamily="18" charset="0"/>
              <a:ea typeface="Times New Roman" panose="02020603050405020304" pitchFamily="18" charset="0"/>
            </a:endParaRPr>
          </a:p>
        </p:txBody>
      </p:sp>
      <p:sp>
        <p:nvSpPr>
          <p:cNvPr id="14" name="テキスト ボックス 6"/>
          <p:cNvSpPr txBox="1">
            <a:spLocks noChangeArrowheads="1"/>
          </p:cNvSpPr>
          <p:nvPr/>
        </p:nvSpPr>
        <p:spPr bwMode="auto">
          <a:xfrm>
            <a:off x="311272" y="4112151"/>
            <a:ext cx="8484942" cy="2806666"/>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In the ultra-violet, visible, and infra-red regions it is an </a:t>
            </a:r>
            <a:r>
              <a:rPr lang="en-IN" sz="2000" b="1" dirty="0"/>
              <a:t>experimental </a:t>
            </a:r>
            <a:r>
              <a:rPr lang="en-IN" sz="2000" dirty="0"/>
              <a:t>fact that a given sample continues to show an absorption spectrum for as long as we care to irradiate it—in other words, a finite number of sample molecules appear to be capable of absorbing an infinite amount of energy. Plainly the molecules must be able to rid themselves of the absorbed energy.</a:t>
            </a:r>
            <a:endParaRPr lang="en-IN" sz="2000" b="1" dirty="0">
              <a:latin typeface="Times New Roman" panose="02020603050405020304" pitchFamily="18" charset="0"/>
              <a:cs typeface="Times New Roman" panose="02020603050405020304" pitchFamily="18" charset="0"/>
            </a:endParaRPr>
          </a:p>
        </p:txBody>
      </p:sp>
      <p:pic>
        <p:nvPicPr>
          <p:cNvPr id="2052" name="Picture 383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0" cy="476250"/>
          </a:xfrm>
          <a:prstGeom prst="rect">
            <a:avLst/>
          </a:prstGeom>
          <a:noFill/>
          <a:extLst>
            <a:ext uri="{909E8E84-426E-40DD-AFC4-6F175D3DCCD1}">
              <a14:hiddenFill xmlns:a14="http://schemas.microsoft.com/office/drawing/2010/main">
                <a:solidFill>
                  <a:srgbClr val="FFFFFF"/>
                </a:solidFill>
              </a14:hiddenFill>
            </a:ext>
          </a:extLst>
        </p:spPr>
      </p:pic>
      <p:grpSp>
        <p:nvGrpSpPr>
          <p:cNvPr id="2049" name="Group 1077476"/>
          <p:cNvGrpSpPr>
            <a:grpSpLocks/>
          </p:cNvGrpSpPr>
          <p:nvPr/>
        </p:nvGrpSpPr>
        <p:grpSpPr bwMode="auto">
          <a:xfrm>
            <a:off x="0" y="0"/>
            <a:ext cx="1103313" cy="481013"/>
            <a:chOff x="0" y="0"/>
            <a:chExt cx="11033" cy="4815"/>
          </a:xfrm>
        </p:grpSpPr>
      </p:grpSp>
    </p:spTree>
    <p:extLst>
      <p:ext uri="{BB962C8B-B14F-4D97-AF65-F5344CB8AC3E}">
        <p14:creationId xmlns:p14="http://schemas.microsoft.com/office/powerpoint/2010/main" val="3766965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Representation of Spectra</a:t>
            </a:r>
            <a:endParaRPr lang="en-US" altLang="ja-JP" sz="2400" dirty="0">
              <a:cs typeface="Arial" charset="0"/>
            </a:endParaRPr>
          </a:p>
        </p:txBody>
      </p:sp>
      <p:cxnSp>
        <p:nvCxnSpPr>
          <p:cNvPr id="12"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テキスト ボックス 6"/>
          <p:cNvSpPr txBox="1">
            <a:spLocks noChangeArrowheads="1"/>
          </p:cNvSpPr>
          <p:nvPr/>
        </p:nvSpPr>
        <p:spPr bwMode="auto">
          <a:xfrm>
            <a:off x="311273" y="521186"/>
            <a:ext cx="8484942" cy="4893647"/>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A possible mechanism for this is by thermal collisions. </a:t>
            </a:r>
            <a:r>
              <a:rPr lang="en-IN" sz="2000" dirty="0">
                <a:highlight>
                  <a:srgbClr val="FFFF00"/>
                </a:highlight>
              </a:rPr>
              <a:t>An energized molecule collides with its neighbours </a:t>
            </a:r>
            <a:r>
              <a:rPr lang="en-IN" sz="2000" dirty="0"/>
              <a:t>and gradually </a:t>
            </a:r>
            <a:r>
              <a:rPr lang="en-IN" sz="2000" dirty="0">
                <a:highlight>
                  <a:srgbClr val="FFFF00"/>
                </a:highlight>
              </a:rPr>
              <a:t>loses its excess energy to them as kinetic energy</a:t>
            </a:r>
            <a:r>
              <a:rPr lang="en-IN" sz="2000" dirty="0"/>
              <a:t>—the sample as a whole becomes </a:t>
            </a:r>
            <a:r>
              <a:rPr lang="en-IN" sz="2000" dirty="0">
                <a:highlight>
                  <a:srgbClr val="FFFF00"/>
                </a:highlight>
              </a:rPr>
              <a:t>warm.</a:t>
            </a:r>
          </a:p>
          <a:p>
            <a:pPr marL="442913" indent="-442913" algn="just">
              <a:lnSpc>
                <a:spcPct val="150000"/>
              </a:lnSpc>
              <a:buFont typeface="Symbol" panose="05050102010706020507" pitchFamily="18" charset="2"/>
              <a:buChar char="®"/>
              <a:tabLst>
                <a:tab pos="1520825" algn="l"/>
              </a:tabLst>
            </a:pPr>
            <a:endParaRPr lang="en-US" sz="800" dirty="0"/>
          </a:p>
          <a:p>
            <a:pPr marL="442913" indent="-442913" algn="just">
              <a:lnSpc>
                <a:spcPct val="150000"/>
              </a:lnSpc>
              <a:buFont typeface="Symbol" panose="05050102010706020507" pitchFamily="18" charset="2"/>
              <a:buChar char="®"/>
              <a:tabLst>
                <a:tab pos="1520825" algn="l"/>
              </a:tabLst>
            </a:pPr>
            <a:r>
              <a:rPr lang="en-US" sz="2000" dirty="0"/>
              <a:t>Another mechanism is that energy gained from radiation is lost as radiation once more. A molecule in the ground state absorbs energy at frequency v and its energy is raised an amount </a:t>
            </a:r>
            <a:r>
              <a:rPr lang="el-GR" sz="2000" dirty="0"/>
              <a:t>Δ</a:t>
            </a:r>
            <a:r>
              <a:rPr lang="en-US" sz="2000" dirty="0"/>
              <a:t>E = </a:t>
            </a:r>
            <a:r>
              <a:rPr lang="en-US" sz="2000" dirty="0" err="1"/>
              <a:t>hv</a:t>
            </a:r>
            <a:r>
              <a:rPr lang="en-US" sz="2000" dirty="0"/>
              <a:t> above the ground state. It is thus </a:t>
            </a:r>
            <a:r>
              <a:rPr lang="en-US" sz="2000" dirty="0">
                <a:highlight>
                  <a:srgbClr val="FFFF00"/>
                </a:highlight>
              </a:rPr>
              <a:t>in an excited, unstable condition</a:t>
            </a:r>
            <a:r>
              <a:rPr lang="en-US" sz="2000" dirty="0"/>
              <a:t>, but by </a:t>
            </a:r>
            <a:r>
              <a:rPr lang="en-US" sz="2000" dirty="0">
                <a:highlight>
                  <a:srgbClr val="FFFF00"/>
                </a:highlight>
              </a:rPr>
              <a:t>emitting radiation of frequency v again</a:t>
            </a:r>
            <a:r>
              <a:rPr lang="en-US" sz="2000" dirty="0"/>
              <a:t>, it can </a:t>
            </a:r>
            <a:r>
              <a:rPr lang="en-US" sz="2000" dirty="0">
                <a:highlight>
                  <a:srgbClr val="FFFF00"/>
                </a:highlight>
              </a:rPr>
              <a:t>revert to the ground </a:t>
            </a:r>
            <a:r>
              <a:rPr lang="en-US" sz="2000" dirty="0"/>
              <a:t>state and is </a:t>
            </a:r>
            <a:r>
              <a:rPr lang="en-US" sz="2000" dirty="0">
                <a:highlight>
                  <a:srgbClr val="FFFF00"/>
                </a:highlight>
              </a:rPr>
              <a:t>able to reabsorb </a:t>
            </a:r>
            <a:r>
              <a:rPr lang="en-US" sz="2000" dirty="0"/>
              <a:t>from the </a:t>
            </a:r>
            <a:r>
              <a:rPr lang="en-US" sz="2000" dirty="0">
                <a:highlight>
                  <a:srgbClr val="FFFF00"/>
                </a:highlight>
              </a:rPr>
              <a:t>radiation beam once more. </a:t>
            </a:r>
            <a:endParaRPr lang="en-IN" sz="2000" dirty="0">
              <a:highlight>
                <a:srgbClr val="FFFF00"/>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Representation of Spectra</a:t>
            </a:r>
            <a:endParaRPr lang="en-US" altLang="ja-JP" sz="2400" dirty="0">
              <a:cs typeface="Arial" charset="0"/>
            </a:endParaRPr>
          </a:p>
        </p:txBody>
      </p:sp>
      <p:cxnSp>
        <p:nvCxnSpPr>
          <p:cNvPr id="14"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19" name="Picture 18"/>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rot="10800000">
            <a:off x="1216109" y="560408"/>
            <a:ext cx="6387437" cy="2785385"/>
          </a:xfrm>
          <a:prstGeom prst="rect">
            <a:avLst/>
          </a:prstGeom>
        </p:spPr>
      </p:pic>
      <p:pic>
        <p:nvPicPr>
          <p:cNvPr id="20" name="Picture 19"/>
          <p:cNvPicPr/>
          <p:nvPr/>
        </p:nvPicPr>
        <p:blipFill>
          <a:blip r:embed="rId4">
            <a:lum bright="-20000" contrast="40000"/>
            <a:extLst>
              <a:ext uri="{28A0092B-C50C-407E-A947-70E740481C1C}">
                <a14:useLocalDpi xmlns:a14="http://schemas.microsoft.com/office/drawing/2010/main" val="0"/>
              </a:ext>
            </a:extLst>
          </a:blip>
          <a:srcRect/>
          <a:stretch>
            <a:fillRect/>
          </a:stretch>
        </p:blipFill>
        <p:spPr bwMode="auto">
          <a:xfrm>
            <a:off x="1216108" y="3512206"/>
            <a:ext cx="6387437" cy="2976462"/>
          </a:xfrm>
          <a:prstGeom prst="rect">
            <a:avLst/>
          </a:prstGeom>
          <a:noFill/>
          <a:ln>
            <a:noFill/>
          </a:ln>
        </p:spPr>
      </p:pic>
      <p:sp>
        <p:nvSpPr>
          <p:cNvPr id="3" name="Rectangle 2"/>
          <p:cNvSpPr/>
          <p:nvPr/>
        </p:nvSpPr>
        <p:spPr>
          <a:xfrm>
            <a:off x="1405851" y="6488668"/>
            <a:ext cx="6578639" cy="369332"/>
          </a:xfrm>
          <a:prstGeom prst="rect">
            <a:avLst/>
          </a:prstGeom>
        </p:spPr>
        <p:txBody>
          <a:bodyPr wrap="square">
            <a:spAutoFit/>
          </a:bodyPr>
          <a:lstStyle/>
          <a:p>
            <a:r>
              <a:rPr lang="en-US" dirty="0">
                <a:solidFill>
                  <a:srgbClr val="000000"/>
                </a:solidFill>
                <a:latin typeface="Times New Roman" panose="02020603050405020304" pitchFamily="18" charset="0"/>
                <a:ea typeface="Times New Roman" panose="02020603050405020304" pitchFamily="18" charset="0"/>
              </a:rPr>
              <a:t>The idealized spectrum of a molecule undergoing a single transition.</a:t>
            </a: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Representation of Spectra</a:t>
            </a:r>
            <a:endParaRPr lang="en-US" altLang="ja-JP" sz="2400" dirty="0">
              <a:cs typeface="Arial" charset="0"/>
            </a:endParaRPr>
          </a:p>
        </p:txBody>
      </p:sp>
      <p:cxnSp>
        <p:nvCxnSpPr>
          <p:cNvPr id="8" name="直線コネクタ 2"/>
          <p:cNvCxnSpPr/>
          <p:nvPr/>
        </p:nvCxnSpPr>
        <p:spPr>
          <a:xfrm>
            <a:off x="261938" y="399533"/>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テキスト ボックス 6"/>
          <p:cNvSpPr txBox="1">
            <a:spLocks noChangeArrowheads="1"/>
          </p:cNvSpPr>
          <p:nvPr/>
        </p:nvSpPr>
        <p:spPr bwMode="auto">
          <a:xfrm>
            <a:off x="311273" y="412002"/>
            <a:ext cx="8484942" cy="6740307"/>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In modern spectrometers the detector is rarely the simple photographic plate. One of the most sensitive and useful devices in the visible and ultra-violet region is the </a:t>
            </a:r>
            <a:r>
              <a:rPr lang="en-US" sz="2000" dirty="0">
                <a:highlight>
                  <a:srgbClr val="FFFF00"/>
                </a:highlight>
              </a:rPr>
              <a:t>photomultiplier tube</a:t>
            </a:r>
            <a:r>
              <a:rPr lang="en-US" sz="2000" dirty="0"/>
              <a:t>, consisting of </a:t>
            </a:r>
            <a:r>
              <a:rPr lang="en-US" sz="2000" dirty="0">
                <a:highlight>
                  <a:srgbClr val="FFFF00"/>
                </a:highlight>
              </a:rPr>
              <a:t>a light-sensitive </a:t>
            </a:r>
            <a:r>
              <a:rPr lang="en-US" sz="2000" dirty="0"/>
              <a:t>surface which </a:t>
            </a:r>
            <a:r>
              <a:rPr lang="en-US" sz="2000" dirty="0">
                <a:highlight>
                  <a:srgbClr val="FFFF00"/>
                </a:highlight>
              </a:rPr>
              <a:t>emits electrons when light falls upon it</a:t>
            </a:r>
            <a:r>
              <a:rPr lang="en-US" sz="2000" dirty="0"/>
              <a:t>. </a:t>
            </a:r>
            <a:r>
              <a:rPr lang="en-US" sz="2000" dirty="0">
                <a:highlight>
                  <a:srgbClr val="FFFF00"/>
                </a:highlight>
              </a:rPr>
              <a:t>The tiny electron current may be amplified and applied to an ammeter or pen recorder.</a:t>
            </a:r>
          </a:p>
          <a:p>
            <a:pPr marL="442913" indent="-442913" algn="just">
              <a:lnSpc>
                <a:spcPct val="150000"/>
              </a:lnSpc>
              <a:buFont typeface="Symbol" panose="05050102010706020507" pitchFamily="18" charset="2"/>
              <a:buChar char="®"/>
              <a:tabLst>
                <a:tab pos="1520825" algn="l"/>
              </a:tabLst>
            </a:pPr>
            <a:r>
              <a:rPr lang="en-US" sz="2000" dirty="0"/>
              <a:t>Again, the ideal situation of spectrum of the molecule is seldom attained. Not only does the source emissivity vary with frequency, but often the sensitivity of the photomultiplier is also frequency-dependent.</a:t>
            </a:r>
          </a:p>
          <a:p>
            <a:pPr marL="442913" indent="-442913" algn="just">
              <a:lnSpc>
                <a:spcPct val="150000"/>
              </a:lnSpc>
              <a:buFont typeface="Symbol" panose="05050102010706020507" pitchFamily="18" charset="2"/>
              <a:buChar char="®"/>
              <a:tabLst>
                <a:tab pos="1520825" algn="l"/>
              </a:tabLst>
            </a:pPr>
            <a:r>
              <a:rPr lang="en-US" sz="2000" dirty="0"/>
              <a:t>Since it is impossible to make either of the slits infinitely narrow, a range of frequencies, rather than just a single frequency, falls on the photomultiplier at any given setting of the prism. This results in a broadening of the absorbance peak.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43763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Representation of Spectra</a:t>
            </a:r>
            <a:endParaRPr lang="en-US" altLang="ja-JP" sz="2400" dirty="0">
              <a:cs typeface="Arial" charset="0"/>
            </a:endParaRPr>
          </a:p>
        </p:txBody>
      </p:sp>
      <p:cxnSp>
        <p:nvCxnSpPr>
          <p:cNvPr id="7" name="直線コネクタ 2"/>
          <p:cNvCxnSpPr/>
          <p:nvPr/>
        </p:nvCxnSpPr>
        <p:spPr>
          <a:xfrm>
            <a:off x="261938" y="399533"/>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15" name="Picture 14"/>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1214925" y="440476"/>
            <a:ext cx="6864549" cy="3609641"/>
          </a:xfrm>
          <a:prstGeom prst="rect">
            <a:avLst/>
          </a:prstGeom>
          <a:noFill/>
          <a:ln>
            <a:noFill/>
          </a:ln>
        </p:spPr>
      </p:pic>
      <p:sp>
        <p:nvSpPr>
          <p:cNvPr id="3" name="Rectangle 2"/>
          <p:cNvSpPr/>
          <p:nvPr/>
        </p:nvSpPr>
        <p:spPr>
          <a:xfrm>
            <a:off x="585658" y="3971164"/>
            <a:ext cx="7936172" cy="1477328"/>
          </a:xfrm>
          <a:prstGeom prst="rect">
            <a:avLst/>
          </a:prstGeom>
        </p:spPr>
        <p:txBody>
          <a:bodyPr wrap="square">
            <a:spAutoFit/>
          </a:bodyPr>
          <a:lstStyle/>
          <a:p>
            <a:pPr algn="just">
              <a:lnSpc>
                <a:spcPct val="150000"/>
              </a:lnSpc>
            </a:pPr>
            <a:r>
              <a:rPr lang="en-US" sz="2000" b="1" dirty="0">
                <a:solidFill>
                  <a:srgbClr val="7030A0"/>
                </a:solidFill>
                <a:latin typeface="Times New Roman" panose="02020603050405020304" pitchFamily="18" charset="0"/>
                <a:ea typeface="Times New Roman" panose="02020603050405020304" pitchFamily="18" charset="0"/>
              </a:rPr>
              <a:t>The usual appearance of the spectrum of a molecule undergoing a single transition; here the background is no longer constant and the absorption region is of finite width.</a:t>
            </a:r>
            <a:endParaRPr lang="en-IN" sz="2000" b="1" dirty="0">
              <a:solidFill>
                <a:srgbClr val="7030A0"/>
              </a:solidFill>
            </a:endParaRPr>
          </a:p>
        </p:txBody>
      </p:sp>
      <p:sp>
        <p:nvSpPr>
          <p:cNvPr id="16" name="テキスト ボックス 6"/>
          <p:cNvSpPr txBox="1">
            <a:spLocks noChangeArrowheads="1"/>
          </p:cNvSpPr>
          <p:nvPr/>
        </p:nvSpPr>
        <p:spPr bwMode="auto">
          <a:xfrm>
            <a:off x="404728" y="5448492"/>
            <a:ext cx="8484942" cy="1421671"/>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we have plotted absorbance upwards from O to 100% and transmittance—its complement—downwards. This is the usual way in which such spectra are represented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3265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rot="5400000">
            <a:off x="1951792" y="-504806"/>
            <a:ext cx="4631496" cy="6586641"/>
          </a:xfrm>
          <a:prstGeom prst="rect">
            <a:avLst/>
          </a:prstGeom>
        </p:spPr>
      </p:pic>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dirty="0">
                <a:cs typeface="Arial" charset="0"/>
              </a:rPr>
              <a:t>Representation of Spectra</a:t>
            </a:r>
            <a:endParaRPr lang="en-US" altLang="ja-JP" sz="2400" dirty="0">
              <a:cs typeface="Arial" charset="0"/>
            </a:endParaRPr>
          </a:p>
        </p:txBody>
      </p:sp>
      <p:cxnSp>
        <p:nvCxnSpPr>
          <p:cNvPr id="6" name="直線コネクタ 2"/>
          <p:cNvCxnSpPr/>
          <p:nvPr/>
        </p:nvCxnSpPr>
        <p:spPr>
          <a:xfrm>
            <a:off x="261938" y="454125"/>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261938" y="5293225"/>
            <a:ext cx="8741391" cy="1420325"/>
          </a:xfrm>
          <a:prstGeom prst="rect">
            <a:avLst/>
          </a:prstGeom>
        </p:spPr>
        <p:txBody>
          <a:bodyPr wrap="square">
            <a:spAutoFit/>
          </a:bodyPr>
          <a:lstStyle/>
          <a:p>
            <a:pPr algn="just">
              <a:lnSpc>
                <a:spcPct val="150000"/>
              </a:lnSpc>
            </a:pPr>
            <a:r>
              <a:rPr lang="en-US" sz="2000" dirty="0">
                <a:solidFill>
                  <a:srgbClr val="095BFF"/>
                </a:solidFill>
                <a:latin typeface="Arial" panose="020B0604020202020204" pitchFamily="34" charset="0"/>
                <a:ea typeface="Times New Roman" panose="02020603050405020304" pitchFamily="18" charset="0"/>
                <a:cs typeface="Arial" panose="020B0604020202020204" pitchFamily="34" charset="0"/>
              </a:rPr>
              <a:t>The derivative of a curve is simply its slope at a given point. In calculus notation, the derivative of the spectral trace is </a:t>
            </a:r>
            <a:r>
              <a:rPr lang="en-US" sz="2000" dirty="0" err="1">
                <a:solidFill>
                  <a:srgbClr val="095BFF"/>
                </a:solidFill>
                <a:latin typeface="Arial" panose="020B0604020202020204" pitchFamily="34" charset="0"/>
                <a:ea typeface="Times New Roman" panose="02020603050405020304" pitchFamily="18" charset="0"/>
                <a:cs typeface="Arial" panose="020B0604020202020204" pitchFamily="34" charset="0"/>
              </a:rPr>
              <a:t>dA</a:t>
            </a:r>
            <a:r>
              <a:rPr lang="en-US" sz="2000" dirty="0">
                <a:solidFill>
                  <a:srgbClr val="095BFF"/>
                </a:solidFill>
                <a:latin typeface="Arial" panose="020B0604020202020204" pitchFamily="34" charset="0"/>
                <a:ea typeface="Times New Roman" panose="02020603050405020304" pitchFamily="18" charset="0"/>
                <a:cs typeface="Arial" panose="020B0604020202020204" pitchFamily="34" charset="0"/>
              </a:rPr>
              <a:t>/dv, where A is the absorbance. The derivative record is thus a plot of the slope </a:t>
            </a:r>
            <a:r>
              <a:rPr lang="en-US" sz="2000" dirty="0" err="1">
                <a:solidFill>
                  <a:srgbClr val="095BFF"/>
                </a:solidFill>
                <a:latin typeface="Arial" panose="020B0604020202020204" pitchFamily="34" charset="0"/>
                <a:ea typeface="Times New Roman" panose="02020603050405020304" pitchFamily="18" charset="0"/>
                <a:cs typeface="Arial" panose="020B0604020202020204" pitchFamily="34" charset="0"/>
              </a:rPr>
              <a:t>dA</a:t>
            </a:r>
            <a:r>
              <a:rPr lang="en-US" sz="2000" dirty="0">
                <a:solidFill>
                  <a:srgbClr val="095BFF"/>
                </a:solidFill>
                <a:latin typeface="Arial" panose="020B0604020202020204" pitchFamily="34" charset="0"/>
                <a:ea typeface="Times New Roman" panose="02020603050405020304" pitchFamily="18" charset="0"/>
                <a:cs typeface="Arial" panose="020B0604020202020204" pitchFamily="34" charset="0"/>
              </a:rPr>
              <a:t>/dv against v</a:t>
            </a:r>
            <a:endParaRPr lang="en-IN" sz="2000" dirty="0">
              <a:solidFill>
                <a:srgbClr val="095B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4304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Basic Elements of Practical Spectroscopy</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a:spLocks noChangeArrowheads="1"/>
          </p:cNvSpPr>
          <p:nvPr/>
        </p:nvSpPr>
        <p:spPr bwMode="auto">
          <a:xfrm>
            <a:off x="311273" y="496150"/>
            <a:ext cx="8484942" cy="5355312"/>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Spectrometers used in various regions of the spectrum naturally differ widely from each other in construction. but here we show the basic features which are common' to all types of spectrometer.</a:t>
            </a:r>
          </a:p>
          <a:p>
            <a:pPr marL="442913" indent="-442913" algn="just">
              <a:lnSpc>
                <a:spcPct val="150000"/>
              </a:lnSpc>
              <a:buFont typeface="Symbol" panose="05050102010706020507" pitchFamily="18" charset="2"/>
              <a:buChar char="®"/>
              <a:tabLst>
                <a:tab pos="1520825" algn="l"/>
              </a:tabLst>
            </a:pPr>
            <a:endParaRPr lang="en-US" sz="800" dirty="0"/>
          </a:p>
          <a:p>
            <a:pPr marL="442913" indent="-442913" algn="just">
              <a:lnSpc>
                <a:spcPct val="150000"/>
              </a:lnSpc>
              <a:buFont typeface="Symbol" panose="05050102010706020507" pitchFamily="18" charset="2"/>
              <a:buChar char="®"/>
              <a:tabLst>
                <a:tab pos="1520825" algn="l"/>
              </a:tabLst>
            </a:pPr>
            <a:r>
              <a:rPr lang="en-US" sz="2000" b="1" dirty="0">
                <a:solidFill>
                  <a:srgbClr val="C00000"/>
                </a:solidFill>
                <a:highlight>
                  <a:srgbClr val="FFFF00"/>
                </a:highlight>
              </a:rPr>
              <a:t>Absorption instruments:</a:t>
            </a:r>
          </a:p>
          <a:p>
            <a:pPr marL="442913" indent="-442913" algn="just">
              <a:lnSpc>
                <a:spcPct val="150000"/>
              </a:lnSpc>
              <a:buFont typeface="Symbol" panose="05050102010706020507" pitchFamily="18" charset="2"/>
              <a:buChar char="®"/>
              <a:tabLst>
                <a:tab pos="1520825" algn="l"/>
              </a:tabLst>
            </a:pPr>
            <a:r>
              <a:rPr lang="en-US" sz="2000" dirty="0"/>
              <a:t> The figure shows, in block diagram form, the components of an absorption spectrometer which might be used in the</a:t>
            </a:r>
            <a:r>
              <a:rPr lang="en-US" sz="2000" dirty="0">
                <a:highlight>
                  <a:srgbClr val="FFFF00"/>
                </a:highlight>
              </a:rPr>
              <a:t> infra-red, visible, and ultra-violet regions.</a:t>
            </a:r>
            <a:r>
              <a:rPr lang="en-US" sz="2000" dirty="0"/>
              <a:t> </a:t>
            </a:r>
          </a:p>
          <a:p>
            <a:pPr marL="442913" indent="-442913" algn="just">
              <a:lnSpc>
                <a:spcPct val="150000"/>
              </a:lnSpc>
              <a:buFont typeface="Symbol" panose="05050102010706020507" pitchFamily="18" charset="2"/>
              <a:buChar char="®"/>
              <a:tabLst>
                <a:tab pos="1520825" algn="l"/>
              </a:tabLst>
            </a:pPr>
            <a:r>
              <a:rPr lang="en-US" sz="2000" dirty="0"/>
              <a:t>The radiation from a white source is directed by some </a:t>
            </a:r>
            <a:r>
              <a:rPr lang="en-US" sz="2000" dirty="0">
                <a:highlight>
                  <a:srgbClr val="FFFF00"/>
                </a:highlight>
              </a:rPr>
              <a:t>guiding device </a:t>
            </a:r>
            <a:r>
              <a:rPr lang="en-US" sz="2000" b="1" dirty="0"/>
              <a:t>(e.g</a:t>
            </a:r>
            <a:r>
              <a:rPr lang="en-US" sz="2000" b="1" dirty="0">
                <a:highlight>
                  <a:srgbClr val="FFFF00"/>
                </a:highlight>
              </a:rPr>
              <a:t>., the lens of Fig. 1.9, or mirrors</a:t>
            </a:r>
            <a:r>
              <a:rPr lang="en-US" sz="2000" b="1" dirty="0"/>
              <a:t>) </a:t>
            </a:r>
            <a:r>
              <a:rPr lang="en-US" sz="2000" dirty="0"/>
              <a:t>on to the sample, from which it passes through </a:t>
            </a:r>
            <a:r>
              <a:rPr lang="en-US" sz="2000" dirty="0">
                <a:highlight>
                  <a:srgbClr val="FFFF00"/>
                </a:highlight>
              </a:rPr>
              <a:t>an analyzer </a:t>
            </a:r>
            <a:r>
              <a:rPr lang="en-US" sz="2000" b="1" dirty="0"/>
              <a:t>(e.g</a:t>
            </a:r>
            <a:r>
              <a:rPr lang="en-US" sz="2000" b="1" dirty="0">
                <a:highlight>
                  <a:srgbClr val="FFFF00"/>
                </a:highlight>
              </a:rPr>
              <a:t>., the prism of Fig. 1.9</a:t>
            </a:r>
            <a:r>
              <a:rPr lang="en-US" sz="2000" b="1" dirty="0"/>
              <a:t>), </a:t>
            </a:r>
            <a:r>
              <a:rPr lang="en-US" sz="2000" dirty="0"/>
              <a:t>which </a:t>
            </a:r>
            <a:r>
              <a:rPr lang="en-US" sz="2000" dirty="0">
                <a:highlight>
                  <a:srgbClr val="FFFF00"/>
                </a:highlight>
              </a:rPr>
              <a:t>selects the frequency reaching the detector at any given time</a:t>
            </a:r>
            <a:r>
              <a:rPr lang="en-US" sz="2000" dirty="0"/>
              <a:t>. </a:t>
            </a:r>
          </a:p>
        </p:txBody>
      </p:sp>
    </p:spTree>
    <p:extLst>
      <p:ext uri="{BB962C8B-B14F-4D97-AF65-F5344CB8AC3E}">
        <p14:creationId xmlns:p14="http://schemas.microsoft.com/office/powerpoint/2010/main" val="2126674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Basic Elements of Practical Spectroscopy</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96150"/>
            <a:ext cx="8484942" cy="5632311"/>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b="1" dirty="0">
                <a:solidFill>
                  <a:srgbClr val="C00000"/>
                </a:solidFill>
              </a:rPr>
              <a:t>Absorption instruments:</a:t>
            </a:r>
          </a:p>
          <a:p>
            <a:pPr marL="442913" indent="-442913" algn="just">
              <a:lnSpc>
                <a:spcPct val="150000"/>
              </a:lnSpc>
              <a:buFont typeface="Symbol" panose="05050102010706020507" pitchFamily="18" charset="2"/>
              <a:buChar char="®"/>
              <a:tabLst>
                <a:tab pos="1520825" algn="l"/>
              </a:tabLst>
            </a:pPr>
            <a:r>
              <a:rPr lang="en-IN" sz="2000" dirty="0"/>
              <a:t>A modulator; this mechanical or electronic device interrupts the radiation beam a certain number of times per second, usually fixed somewhere between</a:t>
            </a:r>
            <a:r>
              <a:rPr lang="en-IN" sz="2000" dirty="0">
                <a:highlight>
                  <a:srgbClr val="FFFF00"/>
                </a:highlight>
              </a:rPr>
              <a:t> </a:t>
            </a:r>
            <a:r>
              <a:rPr lang="en-IN" sz="2000" dirty="0"/>
              <a:t>10 and 1000 times, and </a:t>
            </a:r>
            <a:r>
              <a:rPr lang="en-IN" sz="2000" dirty="0">
                <a:highlight>
                  <a:srgbClr val="FFFF00"/>
                </a:highlight>
              </a:rPr>
              <a:t>its effect is to cause the detector to send an alternating current signal to the recorder</a:t>
            </a:r>
            <a:r>
              <a:rPr lang="en-IN" sz="2000" dirty="0"/>
              <a:t>, with a fixed frequency of 10-1000 Hz, rather than the direct current signal which would result from a steady, uninterrupted beam. </a:t>
            </a:r>
            <a:endParaRPr lang="en-US" sz="2000" dirty="0"/>
          </a:p>
          <a:p>
            <a:pPr marL="442913" indent="-442913" algn="just">
              <a:lnSpc>
                <a:spcPct val="150000"/>
              </a:lnSpc>
              <a:buFont typeface="Symbol" panose="05050102010706020507" pitchFamily="18" charset="2"/>
              <a:buChar char="®"/>
              <a:tabLst>
                <a:tab pos="1520825" algn="l"/>
              </a:tabLst>
            </a:pPr>
            <a:endParaRPr lang="en-US" sz="2000" b="1" dirty="0">
              <a:solidFill>
                <a:srgbClr val="C00000"/>
              </a:solidFill>
            </a:endParaRPr>
          </a:p>
          <a:p>
            <a:pPr marL="442913" indent="-442913" algn="just">
              <a:lnSpc>
                <a:spcPct val="150000"/>
              </a:lnSpc>
              <a:buFont typeface="Symbol" panose="05050102010706020507" pitchFamily="18" charset="2"/>
              <a:buChar char="®"/>
              <a:tabLst>
                <a:tab pos="1520825" algn="l"/>
              </a:tabLst>
            </a:pPr>
            <a:r>
              <a:rPr lang="en-US" sz="2000" b="1" dirty="0"/>
              <a:t>In the microwave and radiofrequency regions </a:t>
            </a:r>
            <a:r>
              <a:rPr lang="en-US" sz="2000" dirty="0"/>
              <a:t>it is possible to construct monochromatic sources whose emission frequency can be varied over a range. In this case, no analyzer is necessary, the source being, in a sense, its own analyzer.</a:t>
            </a:r>
          </a:p>
        </p:txBody>
      </p:sp>
    </p:spTree>
    <p:extLst>
      <p:ext uri="{BB962C8B-B14F-4D97-AF65-F5344CB8AC3E}">
        <p14:creationId xmlns:p14="http://schemas.microsoft.com/office/powerpoint/2010/main" val="14540826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rot="5400000">
            <a:off x="1663457" y="-1022013"/>
            <a:ext cx="5817084" cy="9144000"/>
          </a:xfrm>
          <a:prstGeom prst="rect">
            <a:avLst/>
          </a:prstGeom>
          <a:noFill/>
          <a:ln>
            <a:noFill/>
          </a:ln>
        </p:spPr>
      </p:pic>
      <p:sp>
        <p:nvSpPr>
          <p:cNvPr id="5"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Basic Elements of Practical Spectroscopy</a:t>
            </a:r>
            <a:endParaRPr lang="en-US" altLang="ja-JP" sz="2400" dirty="0">
              <a:cs typeface="Arial" charset="0"/>
            </a:endParaRPr>
          </a:p>
        </p:txBody>
      </p:sp>
      <p:cxnSp>
        <p:nvCxnSpPr>
          <p:cNvPr id="6"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989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Basic Elements of Practical Spectroscopy</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96150"/>
            <a:ext cx="8484942" cy="6093976"/>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b="1" dirty="0">
                <a:solidFill>
                  <a:srgbClr val="C00000"/>
                </a:solidFill>
              </a:rPr>
              <a:t>Emission instruments:</a:t>
            </a:r>
          </a:p>
          <a:p>
            <a:pPr marL="442913" indent="-442913" algn="just">
              <a:lnSpc>
                <a:spcPct val="150000"/>
              </a:lnSpc>
              <a:buFont typeface="Symbol" panose="05050102010706020507" pitchFamily="18" charset="2"/>
              <a:buChar char="®"/>
              <a:tabLst>
                <a:tab pos="1520825" algn="l"/>
              </a:tabLst>
            </a:pPr>
            <a:r>
              <a:rPr lang="en-US" sz="2000" dirty="0"/>
              <a:t>The layout now differs in that the sample, after excitation, is its own source, and it is necessary only to collect the emitted radiation, analyze, and record it in the usual way. </a:t>
            </a:r>
          </a:p>
          <a:p>
            <a:pPr algn="just">
              <a:lnSpc>
                <a:spcPct val="150000"/>
              </a:lnSpc>
              <a:tabLst>
                <a:tab pos="1520825" algn="l"/>
              </a:tabLst>
            </a:pPr>
            <a:endParaRPr lang="en-US" sz="2000" dirty="0"/>
          </a:p>
          <a:p>
            <a:pPr marL="442913" indent="-442913" algn="just">
              <a:lnSpc>
                <a:spcPct val="150000"/>
              </a:lnSpc>
              <a:buFont typeface="Symbol" panose="05050102010706020507" pitchFamily="18" charset="2"/>
              <a:buChar char="®"/>
              <a:tabLst>
                <a:tab pos="1520825" algn="l"/>
              </a:tabLst>
            </a:pPr>
            <a:r>
              <a:rPr lang="en-US" sz="2000" dirty="0"/>
              <a:t>The </a:t>
            </a:r>
            <a:r>
              <a:rPr lang="en-US" sz="2000" dirty="0">
                <a:highlight>
                  <a:srgbClr val="FFFF00"/>
                </a:highlight>
              </a:rPr>
              <a:t>excitation can be thermal or electrical</a:t>
            </a:r>
            <a:r>
              <a:rPr lang="en-US" sz="2000" dirty="0"/>
              <a:t>, but often takes the form of </a:t>
            </a:r>
            <a:r>
              <a:rPr lang="en-US" sz="2000" dirty="0">
                <a:highlight>
                  <a:srgbClr val="FFFF00"/>
                </a:highlight>
              </a:rPr>
              <a:t>electromagnetic radiation.</a:t>
            </a:r>
          </a:p>
          <a:p>
            <a:pPr algn="just">
              <a:lnSpc>
                <a:spcPct val="150000"/>
              </a:lnSpc>
              <a:tabLst>
                <a:tab pos="1520825" algn="l"/>
              </a:tabLst>
            </a:pPr>
            <a:endParaRPr lang="en-US" sz="2000" dirty="0"/>
          </a:p>
          <a:p>
            <a:pPr marL="442913" indent="-442913" algn="just">
              <a:lnSpc>
                <a:spcPct val="150000"/>
              </a:lnSpc>
              <a:buFont typeface="Symbol" panose="05050102010706020507" pitchFamily="18" charset="2"/>
              <a:buChar char="®"/>
              <a:tabLst>
                <a:tab pos="1520825" algn="l"/>
              </a:tabLst>
            </a:pPr>
            <a:r>
              <a:rPr lang="en-US" sz="2000" dirty="0"/>
              <a:t>A </a:t>
            </a:r>
            <a:r>
              <a:rPr lang="en-US" sz="2000" dirty="0">
                <a:highlight>
                  <a:srgbClr val="FFFF00"/>
                </a:highlight>
              </a:rPr>
              <a:t>modulator placed between the source of excitation </a:t>
            </a:r>
            <a:r>
              <a:rPr lang="en-US" sz="2000" dirty="0"/>
              <a:t>and</a:t>
            </a:r>
            <a:r>
              <a:rPr lang="en-US" sz="2000" dirty="0">
                <a:highlight>
                  <a:srgbClr val="FFFF00"/>
                </a:highlight>
              </a:rPr>
              <a:t> the sample</a:t>
            </a:r>
            <a:r>
              <a:rPr lang="en-US" sz="2000" dirty="0"/>
              <a:t>, together with a tuned detector-amplifier, ensures that the only emission recorded from the sample arises directly from excitation; any other spontaneous emission is ignored.</a:t>
            </a:r>
            <a:endParaRPr lang="en-IN" sz="2000" dirty="0"/>
          </a:p>
          <a:p>
            <a:pPr algn="just">
              <a:lnSpc>
                <a:spcPct val="150000"/>
              </a:lnSpc>
              <a:tabLst>
                <a:tab pos="1520825" algn="l"/>
              </a:tabLst>
            </a:pPr>
            <a:endParaRPr lang="en-US" sz="2000" b="1" dirty="0">
              <a:solidFill>
                <a:srgbClr val="C00000"/>
              </a:solidFill>
            </a:endParaRPr>
          </a:p>
        </p:txBody>
      </p:sp>
    </p:spTree>
    <p:extLst>
      <p:ext uri="{BB962C8B-B14F-4D97-AF65-F5344CB8AC3E}">
        <p14:creationId xmlns:p14="http://schemas.microsoft.com/office/powerpoint/2010/main" val="18625233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275030" y="661839"/>
            <a:ext cx="8570520" cy="4879152"/>
          </a:xfrm>
          <a:prstGeom prst="rect">
            <a:avLst/>
          </a:prstGeom>
          <a:noFill/>
          <a:ln>
            <a:noFill/>
          </a:ln>
        </p:spPr>
      </p:pic>
      <p:sp>
        <p:nvSpPr>
          <p:cNvPr id="6"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Basic Elements of Practical Spectroscopy</a:t>
            </a:r>
            <a:endParaRPr lang="en-US" altLang="ja-JP" sz="2400" dirty="0">
              <a:cs typeface="Arial" charset="0"/>
            </a:endParaRPr>
          </a:p>
        </p:txBody>
      </p:sp>
      <p:cxnSp>
        <p:nvCxnSpPr>
          <p:cNvPr id="7"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3716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Signal-to-Noise: Resolving Power</a:t>
            </a:r>
            <a:endParaRPr lang="en-US" altLang="ja-JP" sz="2400" dirty="0">
              <a:cs typeface="Arial" charset="0"/>
            </a:endParaRPr>
          </a:p>
        </p:txBody>
      </p:sp>
      <p:cxnSp>
        <p:nvCxnSpPr>
          <p:cNvPr id="12"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テキスト ボックス 6"/>
          <p:cNvSpPr txBox="1">
            <a:spLocks noChangeArrowheads="1"/>
          </p:cNvSpPr>
          <p:nvPr/>
        </p:nvSpPr>
        <p:spPr bwMode="auto">
          <a:xfrm>
            <a:off x="311273" y="496150"/>
            <a:ext cx="8484942" cy="5816977"/>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b="1" dirty="0">
                <a:solidFill>
                  <a:srgbClr val="C00000"/>
                </a:solidFill>
              </a:rPr>
              <a:t>Signal-to-Noise Ratio:</a:t>
            </a:r>
          </a:p>
          <a:p>
            <a:pPr marL="442913" indent="-442913" algn="just">
              <a:lnSpc>
                <a:spcPct val="150000"/>
              </a:lnSpc>
              <a:buFont typeface="Symbol" panose="05050102010706020507" pitchFamily="18" charset="2"/>
              <a:buChar char="®"/>
              <a:tabLst>
                <a:tab pos="1520825" algn="l"/>
              </a:tabLst>
            </a:pPr>
            <a:r>
              <a:rPr lang="en-IN" sz="2000" dirty="0"/>
              <a:t>Since almost all modern spectrometers use some form of </a:t>
            </a:r>
            <a:r>
              <a:rPr lang="en-IN" sz="2000" b="1" dirty="0">
                <a:highlight>
                  <a:srgbClr val="FFFF00"/>
                </a:highlight>
              </a:rPr>
              <a:t>electronic amplification</a:t>
            </a:r>
            <a:r>
              <a:rPr lang="en-IN" sz="2000" dirty="0">
                <a:highlight>
                  <a:srgbClr val="FFFF00"/>
                </a:highlight>
              </a:rPr>
              <a:t> to </a:t>
            </a:r>
            <a:r>
              <a:rPr lang="en-IN" sz="2000" b="1" dirty="0">
                <a:highlight>
                  <a:srgbClr val="FFFF00"/>
                </a:highlight>
              </a:rPr>
              <a:t>magnify the signal produced by the detector</a:t>
            </a:r>
            <a:r>
              <a:rPr lang="en-IN" sz="2000" dirty="0"/>
              <a:t>, every recorded spectrum has a background of </a:t>
            </a:r>
            <a:r>
              <a:rPr lang="en-IN" sz="2000" dirty="0">
                <a:highlight>
                  <a:srgbClr val="FFFF00"/>
                </a:highlight>
              </a:rPr>
              <a:t>random fluctuations </a:t>
            </a:r>
            <a:r>
              <a:rPr lang="en-IN" sz="2000" dirty="0"/>
              <a:t>caused by spurious(False) electronic signals produced by the </a:t>
            </a:r>
            <a:r>
              <a:rPr lang="en-IN" sz="2000" dirty="0">
                <a:highlight>
                  <a:srgbClr val="FFFF00"/>
                </a:highlight>
              </a:rPr>
              <a:t>detector,</a:t>
            </a:r>
            <a:r>
              <a:rPr lang="en-IN" sz="2000" dirty="0"/>
              <a:t> or generated in the </a:t>
            </a:r>
            <a:r>
              <a:rPr lang="en-IN" sz="2000" dirty="0">
                <a:highlight>
                  <a:srgbClr val="FFFF00"/>
                </a:highlight>
              </a:rPr>
              <a:t>amplifying equipment</a:t>
            </a:r>
            <a:r>
              <a:rPr lang="en-IN" sz="2000" dirty="0"/>
              <a:t>.</a:t>
            </a:r>
          </a:p>
          <a:p>
            <a:pPr algn="just">
              <a:lnSpc>
                <a:spcPct val="150000"/>
              </a:lnSpc>
              <a:tabLst>
                <a:tab pos="1520825" algn="l"/>
              </a:tabLst>
            </a:pPr>
            <a:endParaRPr lang="en-US" sz="800" dirty="0"/>
          </a:p>
          <a:p>
            <a:pPr marL="442913" indent="-442913" algn="just">
              <a:lnSpc>
                <a:spcPct val="150000"/>
              </a:lnSpc>
              <a:buFont typeface="Symbol" panose="05050102010706020507" pitchFamily="18" charset="2"/>
              <a:buChar char="®"/>
              <a:tabLst>
                <a:tab pos="1520825" algn="l"/>
              </a:tabLst>
            </a:pPr>
            <a:r>
              <a:rPr lang="en-IN" sz="2000" dirty="0"/>
              <a:t>These </a:t>
            </a:r>
            <a:r>
              <a:rPr lang="en-IN" sz="2000" dirty="0">
                <a:highlight>
                  <a:srgbClr val="FFFF00"/>
                </a:highlight>
              </a:rPr>
              <a:t>fluctuations are usually referred to as 'noise</a:t>
            </a:r>
            <a:r>
              <a:rPr lang="en-IN" sz="2000" dirty="0"/>
              <a:t>'. </a:t>
            </a:r>
          </a:p>
          <a:p>
            <a:pPr algn="just">
              <a:lnSpc>
                <a:spcPct val="150000"/>
              </a:lnSpc>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IN" sz="2000" dirty="0"/>
              <a:t>A </a:t>
            </a:r>
            <a:r>
              <a:rPr lang="en-IN" sz="2000" dirty="0">
                <a:highlight>
                  <a:srgbClr val="FFFF00"/>
                </a:highlight>
              </a:rPr>
              <a:t>real spectral peak </a:t>
            </a:r>
            <a:r>
              <a:rPr lang="en-IN" sz="2000" dirty="0"/>
              <a:t>should show itself as such and be sufficiently </a:t>
            </a:r>
            <a:r>
              <a:rPr lang="en-IN" sz="2000" dirty="0">
                <a:highlight>
                  <a:srgbClr val="FFFF00"/>
                </a:highlight>
              </a:rPr>
              <a:t>distinguished from the noise</a:t>
            </a:r>
            <a:r>
              <a:rPr lang="en-IN" sz="2000" dirty="0"/>
              <a:t>, it must have an intensity some </a:t>
            </a:r>
            <a:r>
              <a:rPr lang="en-IN" sz="2000" b="1" dirty="0">
                <a:highlight>
                  <a:srgbClr val="FFFF00"/>
                </a:highlight>
              </a:rPr>
              <a:t>three or four times </a:t>
            </a:r>
            <a:r>
              <a:rPr lang="en-IN" sz="2000" dirty="0"/>
              <a:t>that of the </a:t>
            </a:r>
            <a:r>
              <a:rPr lang="en-IN" sz="2000" dirty="0">
                <a:highlight>
                  <a:srgbClr val="FFFF00"/>
                </a:highlight>
              </a:rPr>
              <a:t>noise fluctuations (a signal-to-noise ratio of three or four). </a:t>
            </a:r>
          </a:p>
        </p:txBody>
      </p:sp>
    </p:spTree>
    <p:extLst>
      <p:ext uri="{BB962C8B-B14F-4D97-AF65-F5344CB8AC3E}">
        <p14:creationId xmlns:p14="http://schemas.microsoft.com/office/powerpoint/2010/main" val="1348321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739" y="847165"/>
            <a:ext cx="7158919" cy="5211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Signal-to-Noise: Resolving Power</a:t>
            </a:r>
            <a:endParaRPr lang="en-US" altLang="ja-JP" sz="2400" dirty="0">
              <a:cs typeface="Arial" charset="0"/>
            </a:endParaRPr>
          </a:p>
        </p:txBody>
      </p:sp>
      <p:cxnSp>
        <p:nvCxnSpPr>
          <p:cNvPr id="6"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51685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Signal-to-Noise: Resolving Power</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96150"/>
            <a:ext cx="8484942" cy="5632311"/>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b="1" dirty="0">
                <a:solidFill>
                  <a:srgbClr val="C00000"/>
                </a:solidFill>
              </a:rPr>
              <a:t>Resolving Power:</a:t>
            </a:r>
          </a:p>
          <a:p>
            <a:pPr marL="442913" indent="-442913" algn="just">
              <a:lnSpc>
                <a:spcPct val="150000"/>
              </a:lnSpc>
              <a:buFont typeface="Symbol" panose="05050102010706020507" pitchFamily="18" charset="2"/>
              <a:buChar char="®"/>
              <a:tabLst>
                <a:tab pos="1520825" algn="l"/>
              </a:tabLst>
            </a:pPr>
            <a:r>
              <a:rPr lang="en-US" sz="2000" dirty="0"/>
              <a:t>The term used as a </a:t>
            </a:r>
            <a:r>
              <a:rPr lang="en-US" sz="2000" dirty="0">
                <a:highlight>
                  <a:srgbClr val="FFFF00"/>
                </a:highlight>
              </a:rPr>
              <a:t>measure of the performance of a spectrometer</a:t>
            </a:r>
            <a:r>
              <a:rPr lang="en-US" sz="2000" dirty="0"/>
              <a:t>.</a:t>
            </a:r>
            <a:endParaRPr lang="en-US" sz="800" dirty="0"/>
          </a:p>
          <a:p>
            <a:pPr marL="442913" indent="-442913" algn="just">
              <a:lnSpc>
                <a:spcPct val="150000"/>
              </a:lnSpc>
              <a:buFont typeface="Symbol" panose="05050102010706020507" pitchFamily="18" charset="2"/>
              <a:buChar char="®"/>
              <a:tabLst>
                <a:tab pos="1520825" algn="l"/>
              </a:tabLst>
            </a:pPr>
            <a:r>
              <a:rPr lang="en-IN" sz="2000" dirty="0"/>
              <a:t>Ability of a spectrometer to </a:t>
            </a:r>
            <a:r>
              <a:rPr lang="en-IN" sz="2000" dirty="0">
                <a:highlight>
                  <a:srgbClr val="FFFF00"/>
                </a:highlight>
              </a:rPr>
              <a:t>resolve / separate </a:t>
            </a:r>
            <a:r>
              <a:rPr lang="en-IN" sz="2000" dirty="0"/>
              <a:t>adjacent peaks in a spectrum. </a:t>
            </a:r>
          </a:p>
          <a:p>
            <a:pPr marL="442913" indent="-442913" algn="just">
              <a:lnSpc>
                <a:spcPct val="150000"/>
              </a:lnSpc>
              <a:buFont typeface="Symbol" panose="05050102010706020507" pitchFamily="18" charset="2"/>
              <a:buChar char="®"/>
              <a:tabLst>
                <a:tab pos="1520825" algn="l"/>
              </a:tabLst>
            </a:pPr>
            <a:r>
              <a:rPr lang="en-US" sz="2000" dirty="0">
                <a:highlight>
                  <a:srgbClr val="FFFF00"/>
                </a:highlight>
              </a:rPr>
              <a:t>No molecular absorption takes place at a single frequency only</a:t>
            </a:r>
            <a:r>
              <a:rPr lang="en-US" sz="2000" dirty="0"/>
              <a:t>, but always </a:t>
            </a:r>
            <a:r>
              <a:rPr lang="en-US" sz="2000" dirty="0">
                <a:highlight>
                  <a:srgbClr val="FFFF00"/>
                </a:highlight>
              </a:rPr>
              <a:t>over a spread of frequencies</a:t>
            </a:r>
            <a:r>
              <a:rPr lang="en-US" sz="2000" dirty="0"/>
              <a:t>, usually very </a:t>
            </a:r>
            <a:r>
              <a:rPr lang="en-US" sz="2000" dirty="0">
                <a:highlight>
                  <a:srgbClr val="FFFF00"/>
                </a:highlight>
              </a:rPr>
              <a:t>narrow</a:t>
            </a:r>
            <a:r>
              <a:rPr lang="en-US" sz="2000" dirty="0"/>
              <a:t> but </a:t>
            </a:r>
            <a:r>
              <a:rPr lang="en-US" sz="2000" dirty="0">
                <a:highlight>
                  <a:srgbClr val="FFFF00"/>
                </a:highlight>
              </a:rPr>
              <a:t>sometimes quite large.</a:t>
            </a:r>
          </a:p>
          <a:p>
            <a:pPr algn="just">
              <a:lnSpc>
                <a:spcPct val="150000"/>
              </a:lnSpc>
              <a:tabLst>
                <a:tab pos="1520825" algn="l"/>
              </a:tabLst>
            </a:pPr>
            <a:endParaRPr lang="en-US" sz="2000" dirty="0"/>
          </a:p>
          <a:p>
            <a:pPr marL="442913" indent="-442913" algn="just">
              <a:lnSpc>
                <a:spcPct val="150000"/>
              </a:lnSpc>
              <a:buFont typeface="Symbol" panose="05050102010706020507" pitchFamily="18" charset="2"/>
              <a:buChar char="®"/>
              <a:tabLst>
                <a:tab pos="1520825" algn="l"/>
              </a:tabLst>
            </a:pPr>
            <a:r>
              <a:rPr lang="en-US" sz="2000" dirty="0"/>
              <a:t>Let us consider two such lines close together, as on the right of Fig. </a:t>
            </a:r>
            <a:r>
              <a:rPr lang="en-US" sz="2000" b="1" dirty="0"/>
              <a:t>(a)</a:t>
            </a:r>
            <a:r>
              <a:rPr lang="en-US" sz="2000" dirty="0"/>
              <a:t>: the dotted curve represents the absorption due to each line separately, the full line their combined absorption. We shall first take the exit slit width to be larger than the separation between the lines.</a:t>
            </a:r>
            <a:endParaRPr lang="en-IN" sz="2000" dirty="0"/>
          </a:p>
        </p:txBody>
      </p:sp>
    </p:spTree>
    <p:extLst>
      <p:ext uri="{BB962C8B-B14F-4D97-AF65-F5344CB8AC3E}">
        <p14:creationId xmlns:p14="http://schemas.microsoft.com/office/powerpoint/2010/main" val="10920900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1356620" y="495560"/>
            <a:ext cx="6240967" cy="6068901"/>
          </a:xfrm>
          <a:prstGeom prst="rect">
            <a:avLst/>
          </a:prstGeom>
          <a:noFill/>
          <a:ln>
            <a:noFill/>
          </a:ln>
        </p:spPr>
      </p:pic>
      <p:sp>
        <p:nvSpPr>
          <p:cNvPr id="6"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Signal-to-Noise: Resolving Power</a:t>
            </a:r>
            <a:endParaRPr lang="en-US" altLang="ja-JP" sz="2400" dirty="0">
              <a:cs typeface="Arial" charset="0"/>
            </a:endParaRPr>
          </a:p>
        </p:txBody>
      </p:sp>
      <p:cxnSp>
        <p:nvCxnSpPr>
          <p:cNvPr id="7"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357478" y="6488668"/>
            <a:ext cx="6899016" cy="369332"/>
          </a:xfrm>
          <a:prstGeom prst="rect">
            <a:avLst/>
          </a:prstGeom>
        </p:spPr>
        <p:txBody>
          <a:bodyPr wrap="square">
            <a:spAutoFit/>
          </a:bodyPr>
          <a:lstStyle/>
          <a:p>
            <a:r>
              <a:rPr lang="en-US" b="1" dirty="0">
                <a:solidFill>
                  <a:srgbClr val="000000"/>
                </a:solidFill>
                <a:latin typeface="Times New Roman" panose="02020603050405020304" pitchFamily="18" charset="0"/>
                <a:ea typeface="Times New Roman" panose="02020603050405020304" pitchFamily="18" charset="0"/>
              </a:rPr>
              <a:t>Illustrating the relation between slit width and resolving power</a:t>
            </a:r>
            <a:endParaRPr lang="en-IN" b="1" dirty="0"/>
          </a:p>
        </p:txBody>
      </p:sp>
    </p:spTree>
    <p:extLst>
      <p:ext uri="{BB962C8B-B14F-4D97-AF65-F5344CB8AC3E}">
        <p14:creationId xmlns:p14="http://schemas.microsoft.com/office/powerpoint/2010/main" val="2660146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Signal-to-Noise: Resolving Power</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96150"/>
            <a:ext cx="8484942" cy="6278642"/>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Scanning the spectrum plainly involves moving the twin </a:t>
            </a:r>
            <a:r>
              <a:rPr lang="en-IN" sz="2000" dirty="0">
                <a:highlight>
                  <a:srgbClr val="FFFF00"/>
                </a:highlight>
              </a:rPr>
              <a:t>absorbance peaks steadily to the left so that they pass across the exit slit and into the detector;</a:t>
            </a:r>
            <a:r>
              <a:rPr lang="en-IN" sz="2000" dirty="0"/>
              <a:t> the situation at successive stages is shown in (b), (c), and (d) of above Fig. the </a:t>
            </a:r>
            <a:r>
              <a:rPr lang="en-IN" sz="2000" dirty="0">
                <a:highlight>
                  <a:srgbClr val="FFFF00"/>
                </a:highlight>
              </a:rPr>
              <a:t>shaded area </a:t>
            </a:r>
            <a:r>
              <a:rPr lang="en-IN" sz="2000" dirty="0"/>
              <a:t>showing the amount of </a:t>
            </a:r>
            <a:r>
              <a:rPr lang="en-IN" sz="2000" dirty="0">
                <a:highlight>
                  <a:srgbClr val="FFFF00"/>
                </a:highlight>
              </a:rPr>
              <a:t>absorbance which the detector would register.</a:t>
            </a:r>
          </a:p>
          <a:p>
            <a:pPr marL="442913" indent="-442913" algn="just">
              <a:lnSpc>
                <a:spcPct val="150000"/>
              </a:lnSpc>
              <a:buFont typeface="Symbol" panose="05050102010706020507" pitchFamily="18" charset="2"/>
              <a:buChar char="®"/>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IN" sz="2000" dirty="0"/>
              <a:t> </a:t>
            </a:r>
            <a:r>
              <a:rPr lang="en-IN" sz="2000" dirty="0">
                <a:highlight>
                  <a:srgbClr val="FFFF00"/>
                </a:highlight>
              </a:rPr>
              <a:t>At (e) of this figure, the absorbance is plotted against frequency, together with the approximate positions of stages (a), (b), (c), and (d).</a:t>
            </a:r>
          </a:p>
          <a:p>
            <a:pPr algn="just">
              <a:lnSpc>
                <a:spcPct val="150000"/>
              </a:lnSpc>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US" sz="2000" dirty="0"/>
              <a:t>It is quite evident that the separation between </a:t>
            </a:r>
            <a:r>
              <a:rPr lang="en-US" sz="2000" dirty="0">
                <a:highlight>
                  <a:srgbClr val="FFFF00"/>
                </a:highlight>
              </a:rPr>
              <a:t>the lines has disappeared under these conditions</a:t>
            </a:r>
            <a:r>
              <a:rPr lang="en-US" sz="2000" dirty="0"/>
              <a:t>—-the lines are not resolved.</a:t>
            </a:r>
          </a:p>
          <a:p>
            <a:pPr algn="just">
              <a:lnSpc>
                <a:spcPct val="150000"/>
              </a:lnSpc>
              <a:tabLst>
                <a:tab pos="1520825" algn="l"/>
              </a:tabLst>
            </a:pPr>
            <a:endParaRPr lang="en-US" sz="2000" dirty="0"/>
          </a:p>
          <a:p>
            <a:pPr marL="442913" indent="-442913" algn="just">
              <a:lnSpc>
                <a:spcPct val="150000"/>
              </a:lnSpc>
              <a:buFont typeface="Symbol" panose="05050102010706020507" pitchFamily="18" charset="2"/>
              <a:buChar char="®"/>
              <a:tabLst>
                <a:tab pos="1520825" algn="l"/>
              </a:tabLst>
            </a:pPr>
            <a:r>
              <a:rPr lang="en-US" sz="2000" dirty="0"/>
              <a:t>It is equally evident that the use of </a:t>
            </a:r>
            <a:r>
              <a:rPr lang="en-US" sz="2000" dirty="0">
                <a:highlight>
                  <a:srgbClr val="FFFF00"/>
                </a:highlight>
              </a:rPr>
              <a:t>a much narrower slit would result in their resolution</a:t>
            </a:r>
            <a:r>
              <a:rPr lang="en-US" sz="2000" dirty="0"/>
              <a:t>—</a:t>
            </a:r>
            <a:r>
              <a:rPr lang="en-US" sz="2000" dirty="0">
                <a:highlight>
                  <a:srgbClr val="FFFF00"/>
                </a:highlight>
              </a:rPr>
              <a:t>the resolving power would be increased</a:t>
            </a:r>
            <a:r>
              <a:rPr lang="en-US" sz="2000" dirty="0"/>
              <a:t>.</a:t>
            </a:r>
          </a:p>
        </p:txBody>
      </p:sp>
    </p:spTree>
    <p:extLst>
      <p:ext uri="{BB962C8B-B14F-4D97-AF65-F5344CB8AC3E}">
        <p14:creationId xmlns:p14="http://schemas.microsoft.com/office/powerpoint/2010/main" val="29444650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Signal-to-Noise: Resolving Power</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96150"/>
            <a:ext cx="8484942" cy="6463308"/>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In fact, provided the </a:t>
            </a:r>
            <a:r>
              <a:rPr lang="en-US" sz="2000" dirty="0">
                <a:highlight>
                  <a:srgbClr val="FFFF00"/>
                </a:highlight>
              </a:rPr>
              <a:t>slit width is less than the separation </a:t>
            </a:r>
            <a:r>
              <a:rPr lang="en-US" sz="2000" dirty="0"/>
              <a:t>between the lines, the </a:t>
            </a:r>
            <a:r>
              <a:rPr lang="en-US" sz="2000" dirty="0">
                <a:highlight>
                  <a:srgbClr val="FFFF00"/>
                </a:highlight>
              </a:rPr>
              <a:t>detector output will show a minimum between them.</a:t>
            </a:r>
          </a:p>
          <a:p>
            <a:pPr marL="442913" indent="-442913" algn="just">
              <a:lnSpc>
                <a:spcPct val="150000"/>
              </a:lnSpc>
              <a:buFont typeface="Symbol" panose="05050102010706020507" pitchFamily="18" charset="2"/>
              <a:buChar char="®"/>
              <a:tabLst>
                <a:tab pos="1520825" algn="l"/>
              </a:tabLst>
            </a:pPr>
            <a:endParaRPr lang="en-US" sz="800" dirty="0"/>
          </a:p>
          <a:p>
            <a:pPr marL="442913" indent="-442913" algn="just">
              <a:lnSpc>
                <a:spcPct val="150000"/>
              </a:lnSpc>
              <a:buFont typeface="Symbol" panose="05050102010706020507" pitchFamily="18" charset="2"/>
              <a:buChar char="®"/>
              <a:tabLst>
                <a:tab pos="1520825" algn="l"/>
              </a:tabLst>
            </a:pPr>
            <a:r>
              <a:rPr lang="en-US" sz="2000" dirty="0"/>
              <a:t>However, it must be remembered that a </a:t>
            </a:r>
            <a:r>
              <a:rPr lang="en-US" sz="2000" dirty="0">
                <a:highlight>
                  <a:srgbClr val="FFFF00"/>
                </a:highlight>
              </a:rPr>
              <a:t>narrower slit allows less total energy from the beam to reach the detector </a:t>
            </a:r>
            <a:r>
              <a:rPr lang="en-US" sz="2000" dirty="0"/>
              <a:t>and consequently the intrinsic signal strength </a:t>
            </a:r>
            <a:r>
              <a:rPr lang="en-US" sz="2000" dirty="0">
                <a:highlight>
                  <a:srgbClr val="FFFF00"/>
                </a:highlight>
              </a:rPr>
              <a:t>will be less. </a:t>
            </a:r>
            <a:endParaRPr lang="en-IN" sz="2000" dirty="0">
              <a:highlight>
                <a:srgbClr val="FFFF00"/>
              </a:highlight>
            </a:endParaRPr>
          </a:p>
          <a:p>
            <a:pPr marL="442913" indent="-442913" algn="just">
              <a:lnSpc>
                <a:spcPct val="150000"/>
              </a:lnSpc>
              <a:buFont typeface="Symbol" panose="05050102010706020507" pitchFamily="18" charset="2"/>
              <a:buChar char="®"/>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US" sz="2000" dirty="0"/>
              <a:t>There comes a point when </a:t>
            </a:r>
            <a:r>
              <a:rPr lang="en-US" sz="2000" dirty="0">
                <a:highlight>
                  <a:srgbClr val="FFFF00"/>
                </a:highlight>
              </a:rPr>
              <a:t>decreasing the slit width results </a:t>
            </a:r>
            <a:r>
              <a:rPr lang="en-US" sz="2000" dirty="0"/>
              <a:t>in such </a:t>
            </a:r>
            <a:r>
              <a:rPr lang="en-US" sz="2000" dirty="0">
                <a:highlight>
                  <a:srgbClr val="FFFF00"/>
                </a:highlight>
              </a:rPr>
              <a:t>weak signals </a:t>
            </a:r>
            <a:r>
              <a:rPr lang="en-US" sz="2000" dirty="0"/>
              <a:t>that they become </a:t>
            </a:r>
            <a:r>
              <a:rPr lang="en-US" sz="2000" dirty="0">
                <a:highlight>
                  <a:srgbClr val="FFFF00"/>
                </a:highlight>
              </a:rPr>
              <a:t>indistinguishable from the background noise.</a:t>
            </a:r>
          </a:p>
          <a:p>
            <a:pPr marL="442913" indent="-442913" algn="just">
              <a:lnSpc>
                <a:spcPct val="150000"/>
              </a:lnSpc>
              <a:buFont typeface="Symbol" panose="05050102010706020507" pitchFamily="18" charset="2"/>
              <a:buChar char="®"/>
              <a:tabLst>
                <a:tab pos="1520825" algn="l"/>
              </a:tabLst>
            </a:pPr>
            <a:r>
              <a:rPr lang="en-US" sz="2000" dirty="0"/>
              <a:t>Thus spectroscopy is a </a:t>
            </a:r>
            <a:r>
              <a:rPr lang="en-US" sz="2000" dirty="0">
                <a:highlight>
                  <a:srgbClr val="FFFF00"/>
                </a:highlight>
              </a:rPr>
              <a:t>continual battle to find the minimum slit width consistent With acceptable signal-to-noise values. </a:t>
            </a:r>
            <a:r>
              <a:rPr lang="en-US" sz="2000" dirty="0"/>
              <a:t>Improvements in resolving power may arise not only as a result of obtaining better </a:t>
            </a:r>
            <a:r>
              <a:rPr lang="en-US" sz="2000" dirty="0">
                <a:highlight>
                  <a:srgbClr val="FFFF00"/>
                </a:highlight>
              </a:rPr>
              <a:t>dispersion of the radiation by the analyzer</a:t>
            </a:r>
            <a:r>
              <a:rPr lang="en-US" sz="2000" dirty="0"/>
              <a:t> but also </a:t>
            </a:r>
            <a:r>
              <a:rPr lang="en-US" sz="2000" dirty="0">
                <a:highlight>
                  <a:srgbClr val="FFFF00"/>
                </a:highlight>
              </a:rPr>
              <a:t>by using a more sensitive detector.</a:t>
            </a:r>
            <a:endParaRPr lang="en-IN" sz="2000" dirty="0">
              <a:highlight>
                <a:srgbClr val="FFFF00"/>
              </a:highlight>
            </a:endParaRPr>
          </a:p>
        </p:txBody>
      </p:sp>
    </p:spTree>
    <p:extLst>
      <p:ext uri="{BB962C8B-B14F-4D97-AF65-F5344CB8AC3E}">
        <p14:creationId xmlns:p14="http://schemas.microsoft.com/office/powerpoint/2010/main" val="16438871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The Width and Intensity of Spectral Transitions</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96150"/>
            <a:ext cx="8484942" cy="6463308"/>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b="1" dirty="0">
                <a:solidFill>
                  <a:srgbClr val="095BFF"/>
                </a:solidFill>
              </a:rPr>
              <a:t>The Width of Spectral Lines:</a:t>
            </a:r>
            <a:endParaRPr lang="en-US" sz="800" b="1" dirty="0">
              <a:solidFill>
                <a:srgbClr val="095BFF"/>
              </a:solidFill>
            </a:endParaRPr>
          </a:p>
          <a:p>
            <a:pPr marL="442913" indent="-442913" algn="just">
              <a:lnSpc>
                <a:spcPct val="150000"/>
              </a:lnSpc>
              <a:buFont typeface="Symbol" panose="05050102010706020507" pitchFamily="18" charset="2"/>
              <a:buChar char="®"/>
              <a:tabLst>
                <a:tab pos="1520825" algn="l"/>
              </a:tabLst>
            </a:pPr>
            <a:r>
              <a:rPr lang="en-US" sz="2000" dirty="0"/>
              <a:t>Throughout this chapter we have </a:t>
            </a:r>
            <a:r>
              <a:rPr lang="en-US" sz="2000" dirty="0">
                <a:highlight>
                  <a:srgbClr val="FFFF00"/>
                </a:highlight>
              </a:rPr>
              <a:t>drawn </a:t>
            </a:r>
            <a:r>
              <a:rPr lang="en-US" sz="2000" b="1" dirty="0">
                <a:highlight>
                  <a:srgbClr val="FFFF00"/>
                </a:highlight>
              </a:rPr>
              <a:t>spectral absorptions and emissions not as infinitely sharp lines </a:t>
            </a:r>
            <a:r>
              <a:rPr lang="en-US" sz="2000" dirty="0">
                <a:highlight>
                  <a:srgbClr val="FFFF00"/>
                </a:highlight>
              </a:rPr>
              <a:t>but as </a:t>
            </a:r>
            <a:r>
              <a:rPr lang="en-US" sz="2000" b="1" dirty="0">
                <a:highlight>
                  <a:srgbClr val="FFFF00"/>
                </a:highlight>
              </a:rPr>
              <a:t>more or less broad peaks</a:t>
            </a:r>
            <a:r>
              <a:rPr lang="en-US" sz="2000" dirty="0"/>
              <a:t>; we have seen that one reason for this is that the mechanical </a:t>
            </a:r>
            <a:r>
              <a:rPr lang="en-US" sz="2000" b="1" dirty="0"/>
              <a:t>slits in spectrometers are not infinitely narrow </a:t>
            </a:r>
            <a:r>
              <a:rPr lang="en-US" sz="2000" dirty="0"/>
              <a:t>and thus allow a range of frequencies, rather than a single </a:t>
            </a:r>
            <a:r>
              <a:rPr lang="en-IN" sz="2000" dirty="0"/>
              <a:t>frequency, to fall on the detector, hence blurring the pattern. </a:t>
            </a:r>
          </a:p>
          <a:p>
            <a:pPr algn="just">
              <a:lnSpc>
                <a:spcPct val="150000"/>
              </a:lnSpc>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IN" sz="2000" dirty="0">
                <a:highlight>
                  <a:srgbClr val="FFFF00"/>
                </a:highlight>
              </a:rPr>
              <a:t>Improvements in spectrometer design</a:t>
            </a:r>
            <a:r>
              <a:rPr lang="en-IN" sz="2000" dirty="0"/>
              <a:t> </a:t>
            </a:r>
            <a:r>
              <a:rPr lang="en-IN" sz="2000" dirty="0">
                <a:highlight>
                  <a:srgbClr val="FFFF00"/>
                </a:highlight>
              </a:rPr>
              <a:t>can improve the resolving power of an instrument</a:t>
            </a:r>
            <a:r>
              <a:rPr lang="en-IN" sz="2000" dirty="0"/>
              <a:t>, however, </a:t>
            </a:r>
            <a:r>
              <a:rPr lang="en-IN" sz="2000" dirty="0">
                <a:highlight>
                  <a:srgbClr val="FFFF00"/>
                </a:highlight>
              </a:rPr>
              <a:t>there is nonetheless a minimum width inherent in any atomic or molecular transition</a:t>
            </a:r>
            <a:r>
              <a:rPr lang="en-IN" sz="2000" dirty="0"/>
              <a:t>—the natural line width—beyond which no instrument. This width arises essentially because the energy levels of atomic and molecular systems are not precisely determined, but have a certain fuzziness or imprecision. </a:t>
            </a:r>
          </a:p>
        </p:txBody>
      </p:sp>
    </p:spTree>
    <p:extLst>
      <p:ext uri="{BB962C8B-B14F-4D97-AF65-F5344CB8AC3E}">
        <p14:creationId xmlns:p14="http://schemas.microsoft.com/office/powerpoint/2010/main" val="5123355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The Width and Intensity of Spectral Transitions</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02021"/>
            <a:ext cx="8484942" cy="6555641"/>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b="1" dirty="0">
                <a:solidFill>
                  <a:srgbClr val="095BFF"/>
                </a:solidFill>
              </a:rPr>
              <a:t>1.Collision broadening:</a:t>
            </a:r>
          </a:p>
          <a:p>
            <a:pPr algn="just">
              <a:lnSpc>
                <a:spcPct val="150000"/>
              </a:lnSpc>
              <a:tabLst>
                <a:tab pos="1520825" algn="l"/>
              </a:tabLst>
            </a:pPr>
            <a:r>
              <a:rPr lang="en-US" sz="2000" dirty="0"/>
              <a:t>Atoms or molecules in liquid and gaseous phases are in continual motion and collide frequently with each other. These collisions inevitably cause some deformation of the particles and hence perturb, to some extent, the energies of at least the outer electrons in each. This immediately gives a possible explanation for the width of visible and ultra-violet spectral lines, since these deal largely with transitions between outer electronic shells. </a:t>
            </a:r>
            <a:endParaRPr lang="en-IN" sz="800" dirty="0"/>
          </a:p>
          <a:p>
            <a:pPr algn="just">
              <a:lnSpc>
                <a:spcPct val="150000"/>
              </a:lnSpc>
              <a:tabLst>
                <a:tab pos="1520825" algn="l"/>
              </a:tabLst>
            </a:pPr>
            <a:endParaRPr lang="en-IN" sz="2000" dirty="0"/>
          </a:p>
          <a:p>
            <a:pPr algn="just">
              <a:lnSpc>
                <a:spcPct val="150000"/>
              </a:lnSpc>
              <a:tabLst>
                <a:tab pos="1520825" algn="l"/>
              </a:tabLst>
            </a:pPr>
            <a:r>
              <a:rPr lang="en-IN" sz="2000" dirty="0"/>
              <a:t>In general, </a:t>
            </a:r>
            <a:r>
              <a:rPr lang="en-IN" sz="2000" dirty="0">
                <a:highlight>
                  <a:srgbClr val="FFFF00"/>
                </a:highlight>
              </a:rPr>
              <a:t>molecular interactions are more severe in liquids than in gases, and gas-phase spectra usually exhibit sharper lines than those of the corresponding liquid.</a:t>
            </a:r>
            <a:r>
              <a:rPr lang="en-IN" sz="2000" dirty="0"/>
              <a:t> In the case of solids, the motions of the particles are more limited in extent and less random in direction, so that solid-phase spectra are often sharp but show evidence of interactions by the splitting of lines into two or more components.</a:t>
            </a:r>
          </a:p>
        </p:txBody>
      </p:sp>
    </p:spTree>
    <p:extLst>
      <p:ext uri="{BB962C8B-B14F-4D97-AF65-F5344CB8AC3E}">
        <p14:creationId xmlns:p14="http://schemas.microsoft.com/office/powerpoint/2010/main" val="15784417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The Width and Intensity of Spectral Transitions</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02021"/>
            <a:ext cx="8484942" cy="6555641"/>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solidFill>
                  <a:srgbClr val="095BFF"/>
                </a:solidFill>
              </a:rPr>
              <a:t>2. </a:t>
            </a:r>
            <a:r>
              <a:rPr lang="en-IN" sz="2000" b="1" dirty="0">
                <a:solidFill>
                  <a:srgbClr val="095BFF"/>
                </a:solidFill>
              </a:rPr>
              <a:t>Doppler broadening:</a:t>
            </a:r>
          </a:p>
          <a:p>
            <a:pPr algn="just">
              <a:lnSpc>
                <a:spcPct val="150000"/>
              </a:lnSpc>
              <a:tabLst>
                <a:tab pos="1520825" algn="l"/>
              </a:tabLst>
            </a:pPr>
            <a:r>
              <a:rPr lang="en-IN" sz="2000" dirty="0"/>
              <a:t>Again in liquids and gases the motion of the particles causes their absorption and emission frequencies to show a Doppler shift; since the </a:t>
            </a:r>
            <a:r>
              <a:rPr lang="en-IN" sz="2000" dirty="0">
                <a:highlight>
                  <a:srgbClr val="FFFF00"/>
                </a:highlight>
              </a:rPr>
              <a:t>motion is random in a given sample</a:t>
            </a:r>
            <a:r>
              <a:rPr lang="en-IN" sz="2000" dirty="0"/>
              <a:t>, </a:t>
            </a:r>
            <a:r>
              <a:rPr lang="en-IN" sz="2000" dirty="0">
                <a:highlight>
                  <a:srgbClr val="FFFF00"/>
                </a:highlight>
              </a:rPr>
              <a:t>shifts to both high and low frequencies occur and hence the spectral line is broadened</a:t>
            </a:r>
            <a:r>
              <a:rPr lang="en-IN" sz="2000" dirty="0"/>
              <a:t>. </a:t>
            </a:r>
          </a:p>
          <a:p>
            <a:pPr algn="just">
              <a:lnSpc>
                <a:spcPct val="150000"/>
              </a:lnSpc>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IN" sz="2000" b="1" dirty="0">
                <a:solidFill>
                  <a:srgbClr val="095BFF"/>
                </a:solidFill>
              </a:rPr>
              <a:t>3.Heisenberg uncertainty principle. </a:t>
            </a:r>
          </a:p>
          <a:p>
            <a:pPr algn="just">
              <a:lnSpc>
                <a:spcPct val="150000"/>
              </a:lnSpc>
              <a:tabLst>
                <a:tab pos="1520825" algn="l"/>
              </a:tabLst>
            </a:pPr>
            <a:r>
              <a:rPr lang="en-IN" sz="2000" dirty="0"/>
              <a:t>Even in an isolated, </a:t>
            </a:r>
            <a:r>
              <a:rPr lang="en-IN" sz="2000" dirty="0">
                <a:highlight>
                  <a:srgbClr val="FFFF00"/>
                </a:highlight>
              </a:rPr>
              <a:t>stationary molecule or atom the energy levels are not infinitely sharp</a:t>
            </a:r>
            <a:r>
              <a:rPr lang="en-IN" sz="2000" dirty="0"/>
              <a:t>, due to the operation of a fundamental and very important principle, the Uncertainty Principle of Heisenberg. In effect this says that, </a:t>
            </a:r>
            <a:r>
              <a:rPr lang="en-IN" sz="2000" dirty="0">
                <a:highlight>
                  <a:srgbClr val="FFFF00"/>
                </a:highlight>
              </a:rPr>
              <a:t>if a system exists in an energy state for a limited time ẟt seconds</a:t>
            </a:r>
            <a:r>
              <a:rPr lang="en-IN" sz="2000" dirty="0"/>
              <a:t>, t</a:t>
            </a:r>
            <a:r>
              <a:rPr lang="en-IN" sz="2000" dirty="0">
                <a:highlight>
                  <a:srgbClr val="FFFF00"/>
                </a:highlight>
              </a:rPr>
              <a:t>hen the energy of that state will be uncertain (fuzzy) to an extent ẟE</a:t>
            </a:r>
            <a:r>
              <a:rPr lang="en-IN" sz="2000" dirty="0"/>
              <a:t>,</a:t>
            </a:r>
          </a:p>
          <a:p>
            <a:pPr algn="just">
              <a:lnSpc>
                <a:spcPct val="150000"/>
              </a:lnSpc>
              <a:tabLst>
                <a:tab pos="1520825" algn="l"/>
              </a:tabLst>
            </a:pPr>
            <a:endParaRPr lang="en-IN" sz="800" dirty="0"/>
          </a:p>
          <a:p>
            <a:pPr algn="just">
              <a:lnSpc>
                <a:spcPct val="150000"/>
              </a:lnSpc>
              <a:tabLst>
                <a:tab pos="1520825" algn="l"/>
              </a:tabLst>
            </a:pPr>
            <a:endParaRPr lang="en-IN" sz="800" dirty="0"/>
          </a:p>
          <a:p>
            <a:pPr algn="just">
              <a:lnSpc>
                <a:spcPct val="150000"/>
              </a:lnSpc>
              <a:tabLst>
                <a:tab pos="1520825" algn="l"/>
              </a:tabLst>
            </a:pPr>
            <a:endParaRPr lang="en-IN" sz="800" dirty="0"/>
          </a:p>
          <a:p>
            <a:pPr algn="just">
              <a:lnSpc>
                <a:spcPct val="150000"/>
              </a:lnSpc>
              <a:tabLst>
                <a:tab pos="1520825" algn="l"/>
              </a:tabLst>
            </a:pPr>
            <a:endParaRPr lang="en-IN" sz="800" dirty="0"/>
          </a:p>
          <a:p>
            <a:pPr algn="just">
              <a:lnSpc>
                <a:spcPct val="150000"/>
              </a:lnSpc>
              <a:tabLst>
                <a:tab pos="1520825" algn="l"/>
              </a:tabLst>
            </a:pPr>
            <a:r>
              <a:rPr lang="en-IN" sz="2000" dirty="0"/>
              <a:t>                           where h is again Planck's constant. </a:t>
            </a:r>
          </a:p>
        </p:txBody>
      </p:sp>
      <p:pic>
        <p:nvPicPr>
          <p:cNvPr id="8" name="Picture 7"/>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3199444" y="5715000"/>
            <a:ext cx="2797944" cy="510988"/>
          </a:xfrm>
          <a:prstGeom prst="rect">
            <a:avLst/>
          </a:prstGeom>
          <a:noFill/>
          <a:ln>
            <a:noFill/>
          </a:ln>
        </p:spPr>
      </p:pic>
    </p:spTree>
    <p:extLst>
      <p:ext uri="{BB962C8B-B14F-4D97-AF65-F5344CB8AC3E}">
        <p14:creationId xmlns:p14="http://schemas.microsoft.com/office/powerpoint/2010/main" val="11660684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The Width and Intensity of Spectral Transitions</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02021"/>
            <a:ext cx="8484942" cy="4985980"/>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Thus we see that the lowest energy state of a system is sharply defined since, left to itself, the system will remain in that state for an infinite time; thus it ẟt = </a:t>
            </a:r>
            <a:r>
              <a:rPr lang="en-IN" sz="2400" dirty="0"/>
              <a:t>∞</a:t>
            </a:r>
            <a:r>
              <a:rPr lang="en-IN" sz="2000" dirty="0"/>
              <a:t>, and ẟE = 0. But, for example, the lifetime of an excited electronic state is usually only about 10</a:t>
            </a:r>
            <a:r>
              <a:rPr lang="en-IN" sz="2000" baseline="30000" dirty="0"/>
              <a:t>-8 </a:t>
            </a:r>
            <a:r>
              <a:rPr lang="en-IN" sz="2000" dirty="0"/>
              <a:t>s, which gives a value for ẟE of about 10</a:t>
            </a:r>
            <a:r>
              <a:rPr lang="en-IN" sz="2000" baseline="30000" dirty="0"/>
              <a:t>-34</a:t>
            </a:r>
            <a:r>
              <a:rPr lang="en-IN" sz="2000" dirty="0"/>
              <a:t>/10</a:t>
            </a:r>
            <a:r>
              <a:rPr lang="en-IN" sz="2000" baseline="30000" dirty="0"/>
              <a:t>-8</a:t>
            </a:r>
            <a:r>
              <a:rPr lang="en-IN" sz="2000" dirty="0"/>
              <a:t> = 10</a:t>
            </a:r>
            <a:r>
              <a:rPr lang="en-IN" sz="2000" baseline="30000" dirty="0"/>
              <a:t>-26</a:t>
            </a:r>
            <a:r>
              <a:rPr lang="en-IN" sz="2000" dirty="0"/>
              <a:t> J. </a:t>
            </a:r>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IN" sz="2000" dirty="0"/>
              <a:t>A transition between this state and the ground state will thus have an energy uncertainty of  ẟE , and a corresponding uncertainty in the associated radiation frequency of  ẟE/h, which we can </a:t>
            </a:r>
          </a:p>
          <a:p>
            <a:pPr algn="just">
              <a:lnSpc>
                <a:spcPct val="150000"/>
              </a:lnSpc>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endParaRPr lang="en-IN" sz="800" dirty="0"/>
          </a:p>
        </p:txBody>
      </p:sp>
      <p:pic>
        <p:nvPicPr>
          <p:cNvPr id="12" name="Picture 1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3191716" y="4888885"/>
            <a:ext cx="2859460" cy="1095056"/>
          </a:xfrm>
          <a:prstGeom prst="rect">
            <a:avLst/>
          </a:prstGeom>
          <a:noFill/>
          <a:ln>
            <a:noFill/>
          </a:ln>
        </p:spPr>
      </p:pic>
    </p:spTree>
    <p:extLst>
      <p:ext uri="{BB962C8B-B14F-4D97-AF65-F5344CB8AC3E}">
        <p14:creationId xmlns:p14="http://schemas.microsoft.com/office/powerpoint/2010/main" val="1697319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The Width and Intensity of Spectral Transitions</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96150"/>
            <a:ext cx="8484942" cy="5816977"/>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b="1" dirty="0">
                <a:solidFill>
                  <a:srgbClr val="095BFF"/>
                </a:solidFill>
              </a:rPr>
              <a:t>The Intensity of Spectral Lines:</a:t>
            </a:r>
            <a:endParaRPr lang="en-US" sz="800" b="1" dirty="0">
              <a:solidFill>
                <a:srgbClr val="095BFF"/>
              </a:solidFill>
            </a:endParaRPr>
          </a:p>
          <a:p>
            <a:pPr marL="442913" indent="-442913" algn="just">
              <a:lnSpc>
                <a:spcPct val="150000"/>
              </a:lnSpc>
              <a:buFont typeface="Symbol" panose="05050102010706020507" pitchFamily="18" charset="2"/>
              <a:buChar char="®"/>
              <a:tabLst>
                <a:tab pos="1520825" algn="l"/>
              </a:tabLst>
            </a:pPr>
            <a:r>
              <a:rPr lang="en-IN" sz="2000" dirty="0"/>
              <a:t>When discussing </a:t>
            </a:r>
            <a:r>
              <a:rPr lang="en-IN" sz="2000" dirty="0">
                <a:highlight>
                  <a:srgbClr val="FFFF00"/>
                </a:highlight>
              </a:rPr>
              <a:t>spectral intensities there are three main factors to be considered: the likelihood of a system </a:t>
            </a:r>
            <a:r>
              <a:rPr lang="en-IN" sz="2000" dirty="0"/>
              <a:t>in </a:t>
            </a:r>
            <a:r>
              <a:rPr lang="en-IN" sz="2000" dirty="0">
                <a:highlight>
                  <a:srgbClr val="FFFF00"/>
                </a:highlight>
              </a:rPr>
              <a:t>one state changing </a:t>
            </a:r>
            <a:r>
              <a:rPr lang="en-IN" sz="2000" dirty="0"/>
              <a:t>to </a:t>
            </a:r>
            <a:r>
              <a:rPr lang="en-IN" sz="2000" dirty="0">
                <a:highlight>
                  <a:srgbClr val="FFFF00"/>
                </a:highlight>
              </a:rPr>
              <a:t>another state— </a:t>
            </a:r>
            <a:r>
              <a:rPr lang="en-IN" sz="2000" b="1" dirty="0">
                <a:solidFill>
                  <a:srgbClr val="C00000"/>
                </a:solidFill>
                <a:highlight>
                  <a:srgbClr val="FFFF00"/>
                </a:highlight>
              </a:rPr>
              <a:t>the transition probability</a:t>
            </a:r>
            <a:r>
              <a:rPr lang="en-IN" sz="2000" dirty="0"/>
              <a:t>; </a:t>
            </a:r>
            <a:r>
              <a:rPr lang="en-IN" sz="2000" dirty="0">
                <a:highlight>
                  <a:srgbClr val="FFFF00"/>
                </a:highlight>
              </a:rPr>
              <a:t>the number of atoms or </a:t>
            </a:r>
            <a:r>
              <a:rPr lang="en-IN" sz="2000" dirty="0"/>
              <a:t>molecules initially in the state from which </a:t>
            </a:r>
            <a:r>
              <a:rPr lang="en-IN" sz="2000" dirty="0">
                <a:highlight>
                  <a:srgbClr val="FFFF00"/>
                </a:highlight>
              </a:rPr>
              <a:t>the transition occurs</a:t>
            </a:r>
            <a:r>
              <a:rPr lang="en-IN" sz="2000" dirty="0"/>
              <a:t>—</a:t>
            </a:r>
            <a:r>
              <a:rPr lang="en-IN" sz="2000" b="1" dirty="0">
                <a:solidFill>
                  <a:srgbClr val="009900"/>
                </a:solidFill>
              </a:rPr>
              <a:t>the </a:t>
            </a:r>
            <a:r>
              <a:rPr lang="en-IN" sz="2000" b="1" dirty="0">
                <a:solidFill>
                  <a:srgbClr val="009900"/>
                </a:solidFill>
                <a:highlight>
                  <a:srgbClr val="FFFF00"/>
                </a:highlight>
              </a:rPr>
              <a:t>population; </a:t>
            </a:r>
            <a:r>
              <a:rPr lang="en-IN" sz="2000" dirty="0"/>
              <a:t>and the amount of </a:t>
            </a:r>
            <a:r>
              <a:rPr lang="en-IN" sz="2000" dirty="0">
                <a:highlight>
                  <a:srgbClr val="FFFF00"/>
                </a:highlight>
              </a:rPr>
              <a:t>material present giving rise to the spectrum</a:t>
            </a:r>
            <a:r>
              <a:rPr lang="en-IN" sz="2000" dirty="0"/>
              <a:t>—</a:t>
            </a:r>
            <a:r>
              <a:rPr lang="en-IN" sz="2000" b="1" dirty="0">
                <a:solidFill>
                  <a:srgbClr val="FF0066"/>
                </a:solidFill>
                <a:highlight>
                  <a:srgbClr val="FFFF00"/>
                </a:highlight>
              </a:rPr>
              <a:t>the concentration or path length of the sample</a:t>
            </a:r>
            <a:r>
              <a:rPr lang="en-IN" sz="2000" dirty="0">
                <a:highlight>
                  <a:srgbClr val="FFFF00"/>
                </a:highlight>
              </a:rPr>
              <a:t>.</a:t>
            </a:r>
            <a:endParaRPr lang="en-IN" sz="800" dirty="0">
              <a:highlight>
                <a:srgbClr val="FFFF00"/>
              </a:highlight>
            </a:endParaRPr>
          </a:p>
          <a:p>
            <a:pPr marL="442913" indent="-442913" algn="just">
              <a:lnSpc>
                <a:spcPct val="150000"/>
              </a:lnSpc>
              <a:buFont typeface="Symbol" panose="05050102010706020507" pitchFamily="18" charset="2"/>
              <a:buChar char="®"/>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US" sz="2000" b="1" dirty="0">
                <a:solidFill>
                  <a:srgbClr val="C00000"/>
                </a:solidFill>
              </a:rPr>
              <a:t>Transition probability:</a:t>
            </a:r>
            <a:endParaRPr lang="en-IN" sz="2000" b="1" dirty="0">
              <a:solidFill>
                <a:srgbClr val="C00000"/>
              </a:solidFill>
            </a:endParaRPr>
          </a:p>
          <a:p>
            <a:pPr marL="442913" indent="-442913" algn="just">
              <a:lnSpc>
                <a:spcPct val="150000"/>
              </a:lnSpc>
              <a:buFont typeface="Symbol" panose="05050102010706020507" pitchFamily="18" charset="2"/>
              <a:buChar char="®"/>
              <a:tabLst>
                <a:tab pos="1520825" algn="l"/>
              </a:tabLst>
            </a:pPr>
            <a:r>
              <a:rPr lang="en-IN" sz="2000" dirty="0"/>
              <a:t>The detailed calculation of absolute transition probabilities is basically a straightforward matter, but as it involves a knowledge of the precise </a:t>
            </a:r>
            <a:r>
              <a:rPr lang="en-IN" sz="2000" dirty="0">
                <a:highlight>
                  <a:srgbClr val="FFFF00"/>
                </a:highlight>
              </a:rPr>
              <a:t>quantum mechanical </a:t>
            </a:r>
            <a:r>
              <a:rPr lang="en-IN" sz="2000" dirty="0"/>
              <a:t>wave functions of the two states between which </a:t>
            </a:r>
            <a:r>
              <a:rPr lang="en-IN" sz="2000" dirty="0">
                <a:highlight>
                  <a:srgbClr val="FFFF00"/>
                </a:highlight>
              </a:rPr>
              <a:t>the transition occurs, it can seldom be done with accuracy</a:t>
            </a:r>
            <a:r>
              <a:rPr lang="en-IN" sz="2000" dirty="0"/>
              <a:t>.</a:t>
            </a:r>
          </a:p>
        </p:txBody>
      </p:sp>
    </p:spTree>
    <p:extLst>
      <p:ext uri="{BB962C8B-B14F-4D97-AF65-F5344CB8AC3E}">
        <p14:creationId xmlns:p14="http://schemas.microsoft.com/office/powerpoint/2010/main" val="20864610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The Width and Intensity of Spectral Transitions</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29529" y="495560"/>
            <a:ext cx="8484942" cy="6036974"/>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however, it is </a:t>
            </a:r>
            <a:r>
              <a:rPr lang="en-US" sz="2000" dirty="0">
                <a:highlight>
                  <a:srgbClr val="FFFF00"/>
                </a:highlight>
              </a:rPr>
              <a:t>often possible </a:t>
            </a:r>
            <a:r>
              <a:rPr lang="en-US" sz="2000" dirty="0"/>
              <a:t>to decide whether a particular transition is </a:t>
            </a:r>
            <a:r>
              <a:rPr lang="en-US" sz="2000" dirty="0">
                <a:highlight>
                  <a:srgbClr val="FFFF00"/>
                </a:highlight>
              </a:rPr>
              <a:t>forbidden or allowed </a:t>
            </a:r>
            <a:r>
              <a:rPr lang="en-US" sz="2000" dirty="0"/>
              <a:t>(i.e., whether the transition </a:t>
            </a:r>
            <a:r>
              <a:rPr lang="en-US" sz="2000" dirty="0">
                <a:highlight>
                  <a:srgbClr val="FFFF00"/>
                </a:highlight>
              </a:rPr>
              <a:t>probability is zero or non-zero)</a:t>
            </a:r>
            <a:r>
              <a:rPr lang="en-US" sz="2000" dirty="0"/>
              <a:t>. This process is essentially the deduction </a:t>
            </a:r>
            <a:r>
              <a:rPr lang="en-US" sz="2000" dirty="0">
                <a:highlight>
                  <a:srgbClr val="FFFF00"/>
                </a:highlight>
              </a:rPr>
              <a:t>of selection rules, which allow us to decide between which levels transitions will give rise to spectral lines.</a:t>
            </a:r>
            <a:endParaRPr lang="en-US" sz="800" dirty="0">
              <a:highlight>
                <a:srgbClr val="FFFF00"/>
              </a:highlight>
            </a:endParaRPr>
          </a:p>
          <a:p>
            <a:pPr marL="442913" indent="-442913" algn="just">
              <a:lnSpc>
                <a:spcPct val="150000"/>
              </a:lnSpc>
              <a:buFont typeface="Symbol" panose="05050102010706020507" pitchFamily="18" charset="2"/>
              <a:buChar char="®"/>
              <a:tabLst>
                <a:tab pos="1520825" algn="l"/>
              </a:tabLst>
            </a:pPr>
            <a:r>
              <a:rPr lang="en-US" sz="2000" b="1" dirty="0">
                <a:solidFill>
                  <a:srgbClr val="009900"/>
                </a:solidFill>
              </a:rPr>
              <a:t>Population of states:</a:t>
            </a:r>
          </a:p>
          <a:p>
            <a:pPr marL="442913" indent="-442913" algn="just">
              <a:lnSpc>
                <a:spcPct val="150000"/>
              </a:lnSpc>
              <a:buFont typeface="Symbol" panose="05050102010706020507" pitchFamily="18" charset="2"/>
              <a:buChar char="®"/>
              <a:tabLst>
                <a:tab pos="1520825" algn="l"/>
              </a:tabLst>
            </a:pPr>
            <a:r>
              <a:rPr lang="en-IN" sz="2000" dirty="0">
                <a:highlight>
                  <a:srgbClr val="FFFF00"/>
                </a:highlight>
              </a:rPr>
              <a:t>If we have two levels from which transitions to a third are equally probable, then obviously the most intense spectral line will arise from the level which initially has the greater population</a:t>
            </a:r>
            <a:r>
              <a:rPr lang="en-IN" sz="2000" dirty="0"/>
              <a:t>. There </a:t>
            </a:r>
            <a:r>
              <a:rPr lang="en-US" sz="2000" dirty="0"/>
              <a:t>is a simple statistical rule governing the population of a set of energy levels.</a:t>
            </a:r>
            <a:endParaRPr lang="en-IN" sz="800" dirty="0"/>
          </a:p>
          <a:p>
            <a:pPr marL="442913" indent="-442913" algn="just">
              <a:lnSpc>
                <a:spcPct val="150000"/>
              </a:lnSpc>
              <a:buFont typeface="Symbol" panose="05050102010706020507" pitchFamily="18" charset="2"/>
              <a:buChar char="®"/>
              <a:tabLst>
                <a:tab pos="1520825" algn="l"/>
              </a:tabLst>
            </a:pPr>
            <a:r>
              <a:rPr lang="en-US" sz="2000" dirty="0"/>
              <a:t>For example, if we have a total of N molecules distributed between two different energy states, a lower and an upper with energies </a:t>
            </a:r>
            <a:r>
              <a:rPr lang="en-US" sz="2000" dirty="0" err="1"/>
              <a:t>E</a:t>
            </a:r>
            <a:r>
              <a:rPr lang="en-US" sz="2000" baseline="-25000" dirty="0" err="1"/>
              <a:t>lower</a:t>
            </a:r>
            <a:r>
              <a:rPr lang="en-US" sz="2000" dirty="0"/>
              <a:t> and </a:t>
            </a:r>
            <a:r>
              <a:rPr lang="en-US" sz="2000" dirty="0" err="1"/>
              <a:t>E</a:t>
            </a:r>
            <a:r>
              <a:rPr lang="en-US" sz="2000" baseline="-25000" dirty="0" err="1"/>
              <a:t>upper</a:t>
            </a:r>
            <a:r>
              <a:rPr lang="en-US" sz="2000" dirty="0"/>
              <a:t> respectively.</a:t>
            </a:r>
            <a:endParaRPr lang="en-IN" sz="2000" dirty="0"/>
          </a:p>
        </p:txBody>
      </p:sp>
    </p:spTree>
    <p:extLst>
      <p:ext uri="{BB962C8B-B14F-4D97-AF65-F5344CB8AC3E}">
        <p14:creationId xmlns:p14="http://schemas.microsoft.com/office/powerpoint/2010/main" val="39895335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The Width and Intensity of Spectral Transitions</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96150"/>
            <a:ext cx="8484942" cy="6555641"/>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dirty="0"/>
              <a:t>we would intuitively expect most of the molecules to occupy the lower state. Proper statistical analysis bears this out and shows that, at equilibrium;</a:t>
            </a:r>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US" sz="2000" dirty="0"/>
              <a:t>where </a:t>
            </a:r>
            <a:r>
              <a:rPr lang="el-GR" sz="2000" dirty="0"/>
              <a:t>Δ</a:t>
            </a:r>
            <a:r>
              <a:rPr lang="en-US" sz="2000" dirty="0"/>
              <a:t>E = </a:t>
            </a:r>
            <a:r>
              <a:rPr lang="en-US" sz="2000" dirty="0" err="1"/>
              <a:t>E</a:t>
            </a:r>
            <a:r>
              <a:rPr lang="en-US" sz="2000" baseline="-25000" dirty="0" err="1"/>
              <a:t>upper</a:t>
            </a:r>
            <a:r>
              <a:rPr lang="en-US" sz="2000" dirty="0"/>
              <a:t> - </a:t>
            </a:r>
            <a:r>
              <a:rPr lang="en-US" sz="2000" dirty="0" err="1"/>
              <a:t>E</a:t>
            </a:r>
            <a:r>
              <a:rPr lang="en-US" sz="2000" baseline="-25000" dirty="0" err="1"/>
              <a:t>lower</a:t>
            </a:r>
            <a:r>
              <a:rPr lang="en-US" sz="2000" dirty="0" err="1"/>
              <a:t>,T</a:t>
            </a:r>
            <a:r>
              <a:rPr lang="en-US" sz="2000" dirty="0"/>
              <a:t> is the temperature in K, and k is a universal constant. </a:t>
            </a:r>
          </a:p>
          <a:p>
            <a:pPr marL="442913" indent="-442913" algn="just">
              <a:lnSpc>
                <a:spcPct val="150000"/>
              </a:lnSpc>
              <a:buFont typeface="Symbol" panose="05050102010706020507" pitchFamily="18" charset="2"/>
              <a:buChar char="®"/>
              <a:tabLst>
                <a:tab pos="1520825" algn="l"/>
              </a:tabLst>
            </a:pPr>
            <a:r>
              <a:rPr lang="en-US" sz="2000" dirty="0"/>
              <a:t>The expression is known as the </a:t>
            </a:r>
            <a:r>
              <a:rPr lang="en-US" sz="2000" b="1" dirty="0">
                <a:highlight>
                  <a:srgbClr val="FFFF00"/>
                </a:highlight>
              </a:rPr>
              <a:t>Boltzmann distribution</a:t>
            </a:r>
            <a:r>
              <a:rPr lang="en-US" sz="2000" dirty="0">
                <a:highlight>
                  <a:srgbClr val="FFFF00"/>
                </a:highlight>
              </a:rPr>
              <a:t>, </a:t>
            </a:r>
            <a:r>
              <a:rPr lang="en-US" sz="2000" dirty="0"/>
              <a:t>after its originator, and k, which has a value of 1.38 x 10</a:t>
            </a:r>
            <a:r>
              <a:rPr lang="en-US" sz="2000" baseline="30000" dirty="0"/>
              <a:t>-23 </a:t>
            </a:r>
            <a:r>
              <a:rPr lang="en-US" sz="2000" dirty="0"/>
              <a:t>J K</a:t>
            </a:r>
            <a:r>
              <a:rPr lang="en-US" sz="2000" baseline="30000" dirty="0"/>
              <a:t>-1</a:t>
            </a:r>
            <a:r>
              <a:rPr lang="en-US" sz="2000" dirty="0"/>
              <a:t>, as Boltzmann's constant.</a:t>
            </a:r>
            <a:endParaRPr lang="en-US" sz="800" dirty="0"/>
          </a:p>
          <a:p>
            <a:pPr marL="442913" indent="-442913" algn="just">
              <a:lnSpc>
                <a:spcPct val="150000"/>
              </a:lnSpc>
              <a:buFont typeface="Symbol" panose="05050102010706020507" pitchFamily="18" charset="2"/>
              <a:buChar char="®"/>
              <a:tabLst>
                <a:tab pos="1520825" algn="l"/>
              </a:tabLst>
            </a:pPr>
            <a:r>
              <a:rPr lang="en-US" sz="2000" b="1" dirty="0">
                <a:solidFill>
                  <a:srgbClr val="FF0066"/>
                </a:solidFill>
                <a:highlight>
                  <a:srgbClr val="FFFF00"/>
                </a:highlight>
              </a:rPr>
              <a:t>Path length of sample:</a:t>
            </a:r>
          </a:p>
          <a:p>
            <a:pPr marL="442913" indent="-442913" algn="just">
              <a:lnSpc>
                <a:spcPct val="150000"/>
              </a:lnSpc>
              <a:buFont typeface="Symbol" panose="05050102010706020507" pitchFamily="18" charset="2"/>
              <a:buChar char="®"/>
              <a:tabLst>
                <a:tab pos="1520825" algn="l"/>
              </a:tabLst>
            </a:pPr>
            <a:r>
              <a:rPr lang="en-IN" sz="2000" dirty="0"/>
              <a:t>Clearly if a sample is absorbing energy from a beam of radiation, the more sample the beam traverses the more energy will be absorbed from it. We might expect that twice as much sample would give twice the absorption, but a very simple argument shows that this is not so.</a:t>
            </a:r>
          </a:p>
        </p:txBody>
      </p:sp>
      <p:pic>
        <p:nvPicPr>
          <p:cNvPr id="7" name="Picture 6"/>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2955271" y="1590394"/>
            <a:ext cx="2490788" cy="816630"/>
          </a:xfrm>
          <a:prstGeom prst="rect">
            <a:avLst/>
          </a:prstGeom>
          <a:noFill/>
          <a:ln>
            <a:noFill/>
          </a:ln>
        </p:spPr>
      </p:pic>
    </p:spTree>
    <p:extLst>
      <p:ext uri="{BB962C8B-B14F-4D97-AF65-F5344CB8AC3E}">
        <p14:creationId xmlns:p14="http://schemas.microsoft.com/office/powerpoint/2010/main" val="42689365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The Width and Intensity of Spectral Transitions</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96150"/>
            <a:ext cx="8484942" cy="6036974"/>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Consider two identical samples of the same material, </a:t>
            </a:r>
            <a:r>
              <a:rPr lang="en-US" sz="2000" dirty="0" err="1"/>
              <a:t>S</a:t>
            </a:r>
            <a:r>
              <a:rPr lang="en-US" sz="2000" baseline="-25000" dirty="0" err="1"/>
              <a:t>l</a:t>
            </a:r>
            <a:r>
              <a:rPr lang="en-US" sz="2000" dirty="0"/>
              <a:t> and S</a:t>
            </a:r>
            <a:r>
              <a:rPr lang="en-US" sz="2000" baseline="-25000" dirty="0"/>
              <a:t>2</a:t>
            </a:r>
            <a:r>
              <a:rPr lang="en-US" sz="2000" dirty="0"/>
              <a:t> , and assume that </a:t>
            </a:r>
            <a:r>
              <a:rPr lang="en-US" sz="2000" dirty="0" err="1"/>
              <a:t>S</a:t>
            </a:r>
            <a:r>
              <a:rPr lang="en-US" sz="2000" baseline="-25000" dirty="0" err="1"/>
              <a:t>l</a:t>
            </a:r>
            <a:r>
              <a:rPr lang="en-US" sz="2000" dirty="0"/>
              <a:t> or S</a:t>
            </a:r>
            <a:r>
              <a:rPr lang="en-US" sz="2000" baseline="-25000" dirty="0"/>
              <a:t>2</a:t>
            </a:r>
            <a:r>
              <a:rPr lang="en-US" sz="2000" dirty="0"/>
              <a:t> alone absorb 50 per cent of the energy falling on them, allowing the remaining 50 per cent to pass through. If we pass a beam of initial intensity I</a:t>
            </a:r>
            <a:r>
              <a:rPr lang="en-US" sz="2000" baseline="-25000" dirty="0"/>
              <a:t>o</a:t>
            </a:r>
            <a:r>
              <a:rPr lang="en-US" sz="2000" dirty="0"/>
              <a:t> through S</a:t>
            </a:r>
            <a:r>
              <a:rPr lang="en-US" sz="2000" baseline="-25000" dirty="0"/>
              <a:t>1</a:t>
            </a:r>
            <a:r>
              <a:rPr lang="en-US" sz="2000" dirty="0"/>
              <a:t>, 50 per cent of I</a:t>
            </a:r>
            <a:r>
              <a:rPr lang="en-US" sz="2000" baseline="-25000" dirty="0"/>
              <a:t>o</a:t>
            </a:r>
            <a:r>
              <a:rPr lang="en-US" sz="2000" dirty="0"/>
              <a:t> will be absorbed and the intensity of the beam leaving </a:t>
            </a:r>
            <a:r>
              <a:rPr lang="en-US" sz="2000" dirty="0" err="1"/>
              <a:t>S</a:t>
            </a:r>
            <a:r>
              <a:rPr lang="en-US" sz="2000" baseline="-25000" dirty="0" err="1"/>
              <a:t>l</a:t>
            </a:r>
            <a:r>
              <a:rPr lang="en-US" sz="2000" dirty="0"/>
              <a:t> will be ½ I</a:t>
            </a:r>
            <a:r>
              <a:rPr lang="en-US" sz="2000" baseline="-25000" dirty="0"/>
              <a:t>o</a:t>
            </a:r>
            <a:r>
              <a:rPr lang="en-US" sz="2000" dirty="0"/>
              <a:t>, if we then pass this beam through S</a:t>
            </a:r>
            <a:r>
              <a:rPr lang="en-US" sz="2000" baseline="-25000" dirty="0"/>
              <a:t>2</a:t>
            </a:r>
            <a:r>
              <a:rPr lang="en-US" sz="2000" dirty="0"/>
              <a:t> a further 50 per cent will be absorbed, an</a:t>
            </a:r>
            <a:r>
              <a:rPr lang="en-US" sz="2000" dirty="0">
                <a:highlight>
                  <a:srgbClr val="FFFF00"/>
                </a:highlight>
              </a:rPr>
              <a:t>d 1/2 ×1/2 I</a:t>
            </a:r>
            <a:r>
              <a:rPr lang="en-US" sz="2000" baseline="-25000" dirty="0">
                <a:highlight>
                  <a:srgbClr val="FFFF00"/>
                </a:highlight>
              </a:rPr>
              <a:t>o</a:t>
            </a:r>
            <a:r>
              <a:rPr lang="en-US" sz="2000" dirty="0">
                <a:highlight>
                  <a:srgbClr val="FFFF00"/>
                </a:highlight>
              </a:rPr>
              <a:t> = ¼ I</a:t>
            </a:r>
            <a:r>
              <a:rPr lang="en-US" sz="2000" baseline="-25000" dirty="0">
                <a:highlight>
                  <a:srgbClr val="FFFF00"/>
                </a:highlight>
              </a:rPr>
              <a:t>o</a:t>
            </a:r>
            <a:r>
              <a:rPr lang="en-US" sz="2000" dirty="0">
                <a:highlight>
                  <a:srgbClr val="FFFF00"/>
                </a:highlight>
              </a:rPr>
              <a:t> will leave S</a:t>
            </a:r>
            <a:r>
              <a:rPr lang="en-US" sz="2000" baseline="-25000" dirty="0">
                <a:highlight>
                  <a:srgbClr val="FFFF00"/>
                </a:highlight>
              </a:rPr>
              <a:t>2</a:t>
            </a:r>
            <a:r>
              <a:rPr lang="en-US" sz="2000" dirty="0"/>
              <a:t>. </a:t>
            </a:r>
          </a:p>
          <a:p>
            <a:pPr marL="442913" indent="-442913" algn="just">
              <a:lnSpc>
                <a:spcPct val="150000"/>
              </a:lnSpc>
              <a:buFont typeface="Symbol" panose="05050102010706020507" pitchFamily="18" charset="2"/>
              <a:buChar char="®"/>
              <a:tabLst>
                <a:tab pos="1520825" algn="l"/>
              </a:tabLst>
            </a:pPr>
            <a:r>
              <a:rPr lang="en-US" sz="2000" dirty="0"/>
              <a:t>Thus two 50 per cent absorptions in succession do not add </a:t>
            </a:r>
            <a:r>
              <a:rPr lang="en-US" sz="2000" dirty="0">
                <a:highlight>
                  <a:srgbClr val="FFFF00"/>
                </a:highlight>
              </a:rPr>
              <a:t>up to 100 </a:t>
            </a:r>
            <a:r>
              <a:rPr lang="en-US" sz="2000" dirty="0"/>
              <a:t>per cent but only to </a:t>
            </a:r>
            <a:r>
              <a:rPr lang="en-US" sz="2000" dirty="0">
                <a:highlight>
                  <a:srgbClr val="FFFF00"/>
                </a:highlight>
              </a:rPr>
              <a:t>75 per cent </a:t>
            </a:r>
            <a:r>
              <a:rPr lang="en-US" sz="2000" dirty="0"/>
              <a:t>absorption. An exactly similar relationship exists between the concentration of a sample and the amount of energy absorption—a doubling of the concentration produces something less than a doubling of the absorption.</a:t>
            </a: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p:txBody>
      </p:sp>
    </p:spTree>
    <p:extLst>
      <p:ext uri="{BB962C8B-B14F-4D97-AF65-F5344CB8AC3E}">
        <p14:creationId xmlns:p14="http://schemas.microsoft.com/office/powerpoint/2010/main" val="26669550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641185" y="2950"/>
            <a:ext cx="7790028" cy="461665"/>
          </a:xfrm>
          <a:prstGeom prst="rect">
            <a:avLst/>
          </a:prstGeom>
          <a:noFill/>
          <a:ln w="9525">
            <a:noFill/>
            <a:miter lim="800000"/>
            <a:headEnd/>
            <a:tailEnd/>
          </a:ln>
        </p:spPr>
        <p:txBody>
          <a:bodyPr wrap="square">
            <a:spAutoFit/>
          </a:bodyPr>
          <a:lstStyle/>
          <a:p>
            <a:pPr algn="ctr"/>
            <a:r>
              <a:rPr lang="en-IN" altLang="ja-JP" sz="2400" dirty="0">
                <a:cs typeface="Arial" charset="0"/>
              </a:rPr>
              <a:t>The Width and Intensity of Spectral Transitions</a:t>
            </a:r>
            <a:endParaRPr lang="en-US" altLang="ja-JP" sz="2400" dirty="0">
              <a:cs typeface="Arial" charset="0"/>
            </a:endParaRPr>
          </a:p>
        </p:txBody>
      </p:sp>
      <p:cxnSp>
        <p:nvCxnSpPr>
          <p:cNvPr id="5" name="直線コネクタ 2"/>
          <p:cNvCxnSpPr/>
          <p:nvPr/>
        </p:nvCxnSpPr>
        <p:spPr>
          <a:xfrm>
            <a:off x="261938" y="4800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496150"/>
            <a:ext cx="8484942" cy="6971139"/>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dirty="0"/>
              <a:t>An exactly similar relationship exists between the concentration of a sample and the amount of energy absorption—a doubling of the concentration produces something less than a doubling of the absorption.</a:t>
            </a:r>
          </a:p>
          <a:p>
            <a:pPr marL="442913" indent="-442913" algn="just">
              <a:lnSpc>
                <a:spcPct val="150000"/>
              </a:lnSpc>
              <a:buFont typeface="Symbol" panose="05050102010706020507" pitchFamily="18" charset="2"/>
              <a:buChar char="®"/>
              <a:tabLst>
                <a:tab pos="1520825" algn="l"/>
              </a:tabLst>
            </a:pPr>
            <a:r>
              <a:rPr lang="en-US" sz="2000" dirty="0"/>
              <a:t>These relationships are best expressed in terms of the Beer—Lambert law, which is:</a:t>
            </a:r>
          </a:p>
          <a:p>
            <a:pPr marL="442913" indent="-442913" algn="just">
              <a:lnSpc>
                <a:spcPct val="150000"/>
              </a:lnSpc>
              <a:buFont typeface="Symbol" panose="05050102010706020507" pitchFamily="18" charset="2"/>
              <a:buChar char="®"/>
              <a:tabLst>
                <a:tab pos="1520825" algn="l"/>
              </a:tabLst>
            </a:pPr>
            <a:endParaRPr lang="en-US" sz="2000" dirty="0"/>
          </a:p>
          <a:p>
            <a:pPr marL="442913" indent="-442913" algn="just">
              <a:lnSpc>
                <a:spcPct val="150000"/>
              </a:lnSpc>
              <a:buFont typeface="Symbol" panose="05050102010706020507" pitchFamily="18" charset="2"/>
              <a:buChar char="®"/>
              <a:tabLst>
                <a:tab pos="1520825" algn="l"/>
              </a:tabLst>
            </a:pPr>
            <a:endParaRPr lang="en-US" sz="2000" dirty="0"/>
          </a:p>
          <a:p>
            <a:pPr algn="just">
              <a:lnSpc>
                <a:spcPct val="150000"/>
              </a:lnSpc>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US" sz="2000" dirty="0"/>
              <a:t>where I</a:t>
            </a:r>
            <a:r>
              <a:rPr lang="en-US" sz="2000" baseline="-25000" dirty="0"/>
              <a:t>o</a:t>
            </a:r>
            <a:r>
              <a:rPr lang="en-US" sz="2000" dirty="0"/>
              <a:t> is the intensity of radiation falling on the sample, and I that part transmitted, c and l are the sample concentration and length, and </a:t>
            </a:r>
            <a:r>
              <a:rPr lang="el-GR" sz="2000" dirty="0"/>
              <a:t>ε</a:t>
            </a:r>
            <a:r>
              <a:rPr lang="en-IN" sz="2000" dirty="0"/>
              <a:t> </a:t>
            </a:r>
            <a:r>
              <a:rPr lang="en-US" sz="2000" dirty="0"/>
              <a:t>is the extinction coefficient or absorption coefficient, which is a constant for a given type of transition (e.g., electronic, vibrational, etc.) occurring within a particular sample.</a:t>
            </a: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p:txBody>
      </p:sp>
      <p:pic>
        <p:nvPicPr>
          <p:cNvPr id="8" name="Picture 7"/>
          <p:cNvPicPr/>
          <p:nvPr/>
        </p:nvPicPr>
        <p:blipFill>
          <a:blip r:embed="rId2">
            <a:lum bright="-20000" contrast="40000"/>
          </a:blip>
          <a:stretch>
            <a:fillRect/>
          </a:stretch>
        </p:blipFill>
        <p:spPr>
          <a:xfrm>
            <a:off x="3626561" y="3440692"/>
            <a:ext cx="1819275" cy="648970"/>
          </a:xfrm>
          <a:prstGeom prst="rect">
            <a:avLst/>
          </a:prstGeom>
        </p:spPr>
      </p:pic>
    </p:spTree>
    <p:extLst>
      <p:ext uri="{BB962C8B-B14F-4D97-AF65-F5344CB8AC3E}">
        <p14:creationId xmlns:p14="http://schemas.microsoft.com/office/powerpoint/2010/main" val="2438527525"/>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9753</TotalTime>
  <Words>5076</Words>
  <Application>Microsoft Office PowerPoint</Application>
  <PresentationFormat>On-screen Show (4:3)</PresentationFormat>
  <Paragraphs>249</Paragraphs>
  <Slides>51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ＭＳ Ｐゴシック</vt:lpstr>
      <vt:lpstr>Arial</vt:lpstr>
      <vt:lpstr>Calibri</vt:lpstr>
      <vt:lpstr>Calibri Light</vt:lpstr>
      <vt:lpstr>Symbol</vt:lpstr>
      <vt:lpstr>Times New Roman</vt:lpstr>
      <vt:lpstr>Office テーマ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杉浦健一</dc:creator>
  <cp:lastModifiedBy>USER</cp:lastModifiedBy>
  <cp:revision>674</cp:revision>
  <cp:lastPrinted>2022-07-28T03:51:52Z</cp:lastPrinted>
  <dcterms:created xsi:type="dcterms:W3CDTF">2018-03-16T00:23:28Z</dcterms:created>
  <dcterms:modified xsi:type="dcterms:W3CDTF">2025-02-26T17:00:54Z</dcterms:modified>
</cp:coreProperties>
</file>