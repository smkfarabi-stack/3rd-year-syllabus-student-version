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324" r:id="rId3"/>
    <p:sldId id="325" r:id="rId4"/>
    <p:sldId id="326" r:id="rId5"/>
    <p:sldId id="327" r:id="rId6"/>
    <p:sldId id="328" r:id="rId7"/>
    <p:sldId id="313" r:id="rId8"/>
    <p:sldId id="314" r:id="rId9"/>
    <p:sldId id="315" r:id="rId10"/>
    <p:sldId id="329" r:id="rId11"/>
    <p:sldId id="330" r:id="rId12"/>
    <p:sldId id="331" r:id="rId13"/>
    <p:sldId id="332" r:id="rId14"/>
    <p:sldId id="339" r:id="rId15"/>
    <p:sldId id="334" r:id="rId16"/>
    <p:sldId id="335" r:id="rId17"/>
    <p:sldId id="336" r:id="rId18"/>
    <p:sldId id="337" r:id="rId19"/>
    <p:sldId id="338" r:id="rId20"/>
    <p:sldId id="316" r:id="rId21"/>
    <p:sldId id="317" r:id="rId22"/>
    <p:sldId id="318" r:id="rId23"/>
    <p:sldId id="319" r:id="rId24"/>
    <p:sldId id="320" r:id="rId25"/>
    <p:sldId id="321" r:id="rId26"/>
    <p:sldId id="322" r:id="rId27"/>
    <p:sldId id="323" r:id="rId28"/>
    <p:sldId id="264" r:id="rId29"/>
    <p:sldId id="265" r:id="rId30"/>
    <p:sldId id="266" r:id="rId31"/>
    <p:sldId id="267" r:id="rId32"/>
    <p:sldId id="268" r:id="rId33"/>
    <p:sldId id="269" r:id="rId34"/>
    <p:sldId id="270" r:id="rId35"/>
    <p:sldId id="271" r:id="rId36"/>
    <p:sldId id="272" r:id="rId37"/>
    <p:sldId id="273" r:id="rId38"/>
    <p:sldId id="274" r:id="rId39"/>
    <p:sldId id="340" r:id="rId40"/>
    <p:sldId id="275" r:id="rId41"/>
    <p:sldId id="276" r:id="rId42"/>
    <p:sldId id="341" r:id="rId43"/>
    <p:sldId id="277" r:id="rId44"/>
    <p:sldId id="278" r:id="rId45"/>
    <p:sldId id="279" r:id="rId46"/>
    <p:sldId id="280" r:id="rId47"/>
    <p:sldId id="281" r:id="rId48"/>
    <p:sldId id="282" r:id="rId49"/>
    <p:sldId id="283" r:id="rId50"/>
    <p:sldId id="284" r:id="rId51"/>
    <p:sldId id="285" r:id="rId52"/>
    <p:sldId id="345" r:id="rId53"/>
    <p:sldId id="346" r:id="rId54"/>
    <p:sldId id="347" r:id="rId55"/>
    <p:sldId id="344" r:id="rId56"/>
    <p:sldId id="342" r:id="rId57"/>
    <p:sldId id="286" r:id="rId58"/>
    <p:sldId id="343" r:id="rId59"/>
    <p:sldId id="287" r:id="rId60"/>
    <p:sldId id="288" r:id="rId61"/>
    <p:sldId id="289" r:id="rId62"/>
    <p:sldId id="290" r:id="rId63"/>
    <p:sldId id="291" r:id="rId64"/>
    <p:sldId id="292" r:id="rId65"/>
    <p:sldId id="293" r:id="rId66"/>
    <p:sldId id="294" r:id="rId67"/>
    <p:sldId id="295" r:id="rId68"/>
    <p:sldId id="296" r:id="rId69"/>
    <p:sldId id="297" r:id="rId70"/>
    <p:sldId id="298" r:id="rId71"/>
    <p:sldId id="348" r:id="rId72"/>
    <p:sldId id="299" r:id="rId73"/>
    <p:sldId id="300" r:id="rId74"/>
    <p:sldId id="301" r:id="rId75"/>
    <p:sldId id="302" r:id="rId76"/>
    <p:sldId id="303" r:id="rId77"/>
    <p:sldId id="365" r:id="rId78"/>
    <p:sldId id="304" r:id="rId79"/>
    <p:sldId id="305" r:id="rId80"/>
    <p:sldId id="306" r:id="rId81"/>
    <p:sldId id="307" r:id="rId82"/>
    <p:sldId id="308" r:id="rId83"/>
    <p:sldId id="309" r:id="rId84"/>
    <p:sldId id="310" r:id="rId85"/>
    <p:sldId id="311" r:id="rId86"/>
    <p:sldId id="349" r:id="rId87"/>
    <p:sldId id="350" r:id="rId88"/>
    <p:sldId id="351" r:id="rId89"/>
    <p:sldId id="352" r:id="rId90"/>
    <p:sldId id="353" r:id="rId91"/>
    <p:sldId id="354" r:id="rId92"/>
    <p:sldId id="355" r:id="rId93"/>
    <p:sldId id="356" r:id="rId94"/>
    <p:sldId id="357" r:id="rId95"/>
    <p:sldId id="358" r:id="rId96"/>
    <p:sldId id="359" r:id="rId97"/>
    <p:sldId id="360" r:id="rId98"/>
    <p:sldId id="361" r:id="rId99"/>
    <p:sldId id="362" r:id="rId100"/>
    <p:sldId id="363" r:id="rId101"/>
    <p:sldId id="364" r:id="rId102"/>
  </p:sldIdLst>
  <p:sldSz cx="9144000" cy="6858000" type="screen4x3"/>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69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5" Type="http://schemas.openxmlformats.org/officeDocument/2006/relationships/image" Target="../media/image69.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 Id="rId4" Type="http://schemas.openxmlformats.org/officeDocument/2006/relationships/image" Target="../media/image78.png"/></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4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0.png"/></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2.png"/><Relationship Id="rId1" Type="http://schemas.openxmlformats.org/officeDocument/2006/relationships/slideLayout" Target="../slideLayouts/slideLayout7.xml"/><Relationship Id="rId4" Type="http://schemas.openxmlformats.org/officeDocument/2006/relationships/image" Target="../media/image93.png"/></Relationships>
</file>

<file path=ppt/slides/_rels/slide4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6.png"/><Relationship Id="rId7" Type="http://schemas.openxmlformats.org/officeDocument/2006/relationships/image" Target="../media/image9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80.png"/><Relationship Id="rId7" Type="http://schemas.openxmlformats.org/officeDocument/2006/relationships/image" Target="../media/image105.png"/><Relationship Id="rId2" Type="http://schemas.openxmlformats.org/officeDocument/2006/relationships/image" Target="../media/image101.png"/><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4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07.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3.png"/></Relationships>
</file>

<file path=ppt/slides/_rels/slide50.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 Id="rId4" Type="http://schemas.openxmlformats.org/officeDocument/2006/relationships/image" Target="../media/image112.png"/></Relationships>
</file>

<file path=ppt/slides/_rels/slide5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7.xml"/><Relationship Id="rId5" Type="http://schemas.openxmlformats.org/officeDocument/2006/relationships/image" Target="../media/image114.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 Id="rId5" Type="http://schemas.openxmlformats.org/officeDocument/2006/relationships/image" Target="../media/image119.png"/><Relationship Id="rId4" Type="http://schemas.openxmlformats.org/officeDocument/2006/relationships/image" Target="../media/image118.png"/></Relationships>
</file>

<file path=ppt/slides/_rels/slide56.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5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7.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5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8.png"/><Relationship Id="rId1" Type="http://schemas.openxmlformats.org/officeDocument/2006/relationships/slideLayout" Target="../slideLayouts/slideLayout7.xml"/><Relationship Id="rId5" Type="http://schemas.openxmlformats.org/officeDocument/2006/relationships/image" Target="../media/image129.png"/><Relationship Id="rId4" Type="http://schemas.openxmlformats.org/officeDocument/2006/relationships/image" Target="../media/image127.png"/></Relationships>
</file>

<file path=ppt/slides/_rels/slide6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6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7.xml"/><Relationship Id="rId4" Type="http://schemas.openxmlformats.org/officeDocument/2006/relationships/image" Target="../media/image136.png"/></Relationships>
</file>

<file path=ppt/slides/_rels/slide63.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slideLayout" Target="../slideLayouts/slideLayout7.xml"/><Relationship Id="rId4" Type="http://schemas.openxmlformats.org/officeDocument/2006/relationships/image" Target="../media/image137.png"/></Relationships>
</file>

<file path=ppt/slides/_rels/slide6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8.png"/><Relationship Id="rId2" Type="http://schemas.openxmlformats.org/officeDocument/2006/relationships/image" Target="../media/image143.png"/><Relationship Id="rId1" Type="http://schemas.openxmlformats.org/officeDocument/2006/relationships/slideLayout" Target="../slideLayouts/slideLayout7.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45.png"/></Relationships>
</file>

<file path=ppt/slides/_rels/slide6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46.png"/><Relationship Id="rId4" Type="http://schemas.openxmlformats.org/officeDocument/2006/relationships/image" Target="../media/image152.png"/></Relationships>
</file>

<file path=ppt/slides/_rels/slide7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7.xml"/><Relationship Id="rId5" Type="http://schemas.openxmlformats.org/officeDocument/2006/relationships/image" Target="../media/image157.png"/><Relationship Id="rId4" Type="http://schemas.openxmlformats.org/officeDocument/2006/relationships/image" Target="../media/image156.png"/></Relationships>
</file>

<file path=ppt/slides/_rels/slide72.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65.png"/><Relationship Id="rId1" Type="http://schemas.openxmlformats.org/officeDocument/2006/relationships/slideLayout" Target="../slideLayouts/slideLayout7.xml"/><Relationship Id="rId4" Type="http://schemas.openxmlformats.org/officeDocument/2006/relationships/image" Target="../media/image166.png"/></Relationships>
</file>

<file path=ppt/slides/_rels/slide80.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69.png"/><Relationship Id="rId1" Type="http://schemas.openxmlformats.org/officeDocument/2006/relationships/slideLayout" Target="../slideLayouts/slideLayout7.xml"/><Relationship Id="rId5" Type="http://schemas.openxmlformats.org/officeDocument/2006/relationships/image" Target="../media/image171.png"/><Relationship Id="rId4" Type="http://schemas.openxmlformats.org/officeDocument/2006/relationships/image" Target="../media/image170.png"/></Relationships>
</file>

<file path=ppt/slides/_rels/slide8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7.xml"/><Relationship Id="rId4" Type="http://schemas.openxmlformats.org/officeDocument/2006/relationships/image" Target="../media/image174.png"/></Relationships>
</file>

<file path=ppt/slides/_rels/slide8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3.png"/><Relationship Id="rId1" Type="http://schemas.openxmlformats.org/officeDocument/2006/relationships/slideLayout" Target="../slideLayouts/slideLayout7.xml"/><Relationship Id="rId4" Type="http://schemas.openxmlformats.org/officeDocument/2006/relationships/image" Target="../media/image176.png"/></Relationships>
</file>

<file path=ppt/slides/_rels/slide84.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80.png"/><Relationship Id="rId1" Type="http://schemas.openxmlformats.org/officeDocument/2006/relationships/slideLayout" Target="../slideLayouts/slideLayout7.xml"/><Relationship Id="rId5" Type="http://schemas.openxmlformats.org/officeDocument/2006/relationships/image" Target="../media/image178.png"/><Relationship Id="rId4" Type="http://schemas.openxmlformats.org/officeDocument/2006/relationships/image" Target="../media/image177.png"/></Relationships>
</file>

<file path=ppt/slides/_rels/slide85.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9.png"/><Relationship Id="rId1" Type="http://schemas.openxmlformats.org/officeDocument/2006/relationships/slideLayout" Target="../slideLayouts/slideLayout7.xml"/><Relationship Id="rId5" Type="http://schemas.openxmlformats.org/officeDocument/2006/relationships/image" Target="../media/image180.png"/><Relationship Id="rId4" Type="http://schemas.openxmlformats.org/officeDocument/2006/relationships/image" Target="../media/image178.png"/></Relationships>
</file>

<file path=ppt/slides/_rels/slide8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7.xml"/><Relationship Id="rId6" Type="http://schemas.openxmlformats.org/officeDocument/2006/relationships/image" Target="../media/image185.png"/><Relationship Id="rId5" Type="http://schemas.openxmlformats.org/officeDocument/2006/relationships/image" Target="../media/image184.png"/><Relationship Id="rId4" Type="http://schemas.openxmlformats.org/officeDocument/2006/relationships/image" Target="../media/image183.png"/></Relationships>
</file>

<file path=ppt/slides/_rels/slide87.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7.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88.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image" Target="../media/image191.png"/><Relationship Id="rId1" Type="http://schemas.openxmlformats.org/officeDocument/2006/relationships/slideLayout" Target="../slideLayouts/slideLayout7.xml"/><Relationship Id="rId4" Type="http://schemas.openxmlformats.org/officeDocument/2006/relationships/image" Target="../media/image193.png"/></Relationships>
</file>

<file path=ppt/slides/_rels/slide89.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194.png"/><Relationship Id="rId1" Type="http://schemas.openxmlformats.org/officeDocument/2006/relationships/slideLayout" Target="../slideLayouts/slideLayout7.xml"/><Relationship Id="rId4" Type="http://schemas.openxmlformats.org/officeDocument/2006/relationships/image" Target="../media/image196.png"/></Relationships>
</file>

<file path=ppt/slides/_rels/slide9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7.xml"/><Relationship Id="rId4" Type="http://schemas.openxmlformats.org/officeDocument/2006/relationships/image" Target="../media/image19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7314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 y="830414"/>
            <a:ext cx="1885950" cy="541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76400"/>
            <a:ext cx="7595118"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859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9B8FCE2-EEA6-B6CC-1C66-6F35DAFCA1F7}"/>
              </a:ext>
            </a:extLst>
          </p:cNvPr>
          <p:cNvCxnSpPr/>
          <p:nvPr/>
        </p:nvCxnSpPr>
        <p:spPr>
          <a:xfrm>
            <a:off x="533400" y="614065"/>
            <a:ext cx="8229600" cy="0"/>
          </a:xfrm>
          <a:prstGeom prst="line">
            <a:avLst/>
          </a:prstGeom>
        </p:spPr>
        <p:style>
          <a:lnRef idx="3">
            <a:schemeClr val="accent2"/>
          </a:lnRef>
          <a:fillRef idx="0">
            <a:schemeClr val="accent2"/>
          </a:fillRef>
          <a:effectRef idx="2">
            <a:schemeClr val="accent2"/>
          </a:effectRef>
          <a:fontRef idx="minor">
            <a:schemeClr val="tx1"/>
          </a:fontRef>
        </p:style>
      </p:cxnSp>
      <p:sp>
        <p:nvSpPr>
          <p:cNvPr id="3" name="Rectangle 2"/>
          <p:cNvSpPr/>
          <p:nvPr/>
        </p:nvSpPr>
        <p:spPr>
          <a:xfrm>
            <a:off x="685800" y="685800"/>
            <a:ext cx="8077200" cy="1477328"/>
          </a:xfrm>
          <a:prstGeom prst="rect">
            <a:avLst/>
          </a:prstGeom>
        </p:spPr>
        <p:txBody>
          <a:bodyPr wrap="square">
            <a:spAutoFit/>
          </a:bodyPr>
          <a:lstStyle/>
          <a:p>
            <a:r>
              <a:rPr lang="en-US" b="1" dirty="0">
                <a:solidFill>
                  <a:srgbClr val="FF0000"/>
                </a:solidFill>
                <a:latin typeface="Arial" pitchFamily="34" charset="0"/>
                <a:cs typeface="Arial" pitchFamily="34" charset="0"/>
              </a:rPr>
              <a:t>(</a:t>
            </a:r>
            <a:r>
              <a:rPr lang="en-US" b="1" i="1" dirty="0">
                <a:solidFill>
                  <a:srgbClr val="FF0000"/>
                </a:solidFill>
                <a:latin typeface="Arial" pitchFamily="34" charset="0"/>
                <a:cs typeface="Arial" pitchFamily="34" charset="0"/>
              </a:rPr>
              <a:t>a</a:t>
            </a:r>
            <a:r>
              <a:rPr lang="en-US" b="1" dirty="0">
                <a:solidFill>
                  <a:srgbClr val="FF0000"/>
                </a:solidFill>
                <a:latin typeface="Arial" pitchFamily="34" charset="0"/>
                <a:cs typeface="Arial" pitchFamily="34" charset="0"/>
              </a:rPr>
              <a:t>) Wavelength. </a:t>
            </a:r>
            <a:r>
              <a:rPr lang="en-US" dirty="0">
                <a:latin typeface="Arial" pitchFamily="34" charset="0"/>
                <a:cs typeface="Arial" pitchFamily="34" charset="0"/>
              </a:rPr>
              <a:t>It is the distance between the two adjacent </a:t>
            </a:r>
            <a:r>
              <a:rPr lang="en-US" dirty="0">
                <a:solidFill>
                  <a:srgbClr val="FF0000"/>
                </a:solidFill>
                <a:latin typeface="Arial" pitchFamily="34" charset="0"/>
                <a:cs typeface="Arial" pitchFamily="34" charset="0"/>
              </a:rPr>
              <a:t>crests </a:t>
            </a:r>
            <a:r>
              <a:rPr lang="en-US" dirty="0">
                <a:latin typeface="Arial" pitchFamily="34" charset="0"/>
                <a:cs typeface="Arial" pitchFamily="34" charset="0"/>
              </a:rPr>
              <a:t>(C—C) or </a:t>
            </a:r>
            <a:r>
              <a:rPr lang="en-US" dirty="0">
                <a:solidFill>
                  <a:srgbClr val="FF0000"/>
                </a:solidFill>
                <a:latin typeface="Arial" pitchFamily="34" charset="0"/>
                <a:cs typeface="Arial" pitchFamily="34" charset="0"/>
              </a:rPr>
              <a:t>troughs</a:t>
            </a:r>
            <a:r>
              <a:rPr lang="en-US" dirty="0">
                <a:latin typeface="Arial" pitchFamily="34" charset="0"/>
                <a:cs typeface="Arial" pitchFamily="34" charset="0"/>
              </a:rPr>
              <a:t>(T—T) in a particular wave. It is denoted by the letter </a:t>
            </a:r>
            <a:r>
              <a:rPr lang="el-GR" dirty="0">
                <a:latin typeface="Arial" pitchFamily="34" charset="0"/>
                <a:cs typeface="Arial" pitchFamily="34" charset="0"/>
              </a:rPr>
              <a:t>λ</a:t>
            </a:r>
            <a:r>
              <a:rPr lang="en-US" dirty="0">
                <a:latin typeface="Arial" pitchFamily="34" charset="0"/>
                <a:cs typeface="Arial" pitchFamily="34" charset="0"/>
              </a:rPr>
              <a:t> (lambda). It can be expressed in Angstrom units or in </a:t>
            </a:r>
            <a:r>
              <a:rPr lang="en-US" dirty="0" err="1">
                <a:latin typeface="Arial" pitchFamily="34" charset="0"/>
                <a:cs typeface="Arial" pitchFamily="34" charset="0"/>
              </a:rPr>
              <a:t>millimicrons</a:t>
            </a:r>
            <a:r>
              <a:rPr lang="en-US" dirty="0">
                <a:latin typeface="Arial" pitchFamily="34" charset="0"/>
                <a:cs typeface="Arial" pitchFamily="34" charset="0"/>
              </a:rPr>
              <a:t> (</a:t>
            </a:r>
            <a:r>
              <a:rPr lang="en-US" dirty="0" err="1">
                <a:latin typeface="Arial" pitchFamily="34" charset="0"/>
                <a:cs typeface="Arial" pitchFamily="34" charset="0"/>
              </a:rPr>
              <a:t>mμ</a:t>
            </a:r>
            <a:r>
              <a:rPr lang="en-US" dirty="0">
                <a:latin typeface="Arial" pitchFamily="34" charset="0"/>
                <a:cs typeface="Arial" pitchFamily="34" charset="0"/>
              </a:rPr>
              <a:t>).</a:t>
            </a:r>
            <a:br>
              <a:rPr lang="en-US" dirty="0">
                <a:latin typeface="Arial" pitchFamily="34" charset="0"/>
                <a:cs typeface="Arial" pitchFamily="34" charset="0"/>
              </a:rPr>
            </a:br>
            <a:r>
              <a:rPr lang="en-US" dirty="0">
                <a:latin typeface="Arial" pitchFamily="34" charset="0"/>
                <a:cs typeface="Arial" pitchFamily="34" charset="0"/>
              </a:rPr>
              <a:t>1 Å = 10</a:t>
            </a:r>
            <a:r>
              <a:rPr lang="en-US" baseline="30000" dirty="0">
                <a:latin typeface="Arial" pitchFamily="34" charset="0"/>
                <a:cs typeface="Arial" pitchFamily="34" charset="0"/>
              </a:rPr>
              <a:t>–8</a:t>
            </a:r>
            <a:r>
              <a:rPr lang="en-US" dirty="0">
                <a:latin typeface="Arial" pitchFamily="34" charset="0"/>
                <a:cs typeface="Arial" pitchFamily="34" charset="0"/>
              </a:rPr>
              <a:t> cm = 10</a:t>
            </a:r>
            <a:r>
              <a:rPr lang="en-US" baseline="30000" dirty="0">
                <a:latin typeface="Arial" pitchFamily="34" charset="0"/>
                <a:cs typeface="Arial" pitchFamily="34" charset="0"/>
              </a:rPr>
              <a:t>–10</a:t>
            </a:r>
            <a:r>
              <a:rPr lang="en-US" dirty="0">
                <a:latin typeface="Arial" pitchFamily="34" charset="0"/>
                <a:cs typeface="Arial" pitchFamily="34" charset="0"/>
              </a:rPr>
              <a:t> m; 1 </a:t>
            </a:r>
            <a:r>
              <a:rPr lang="en-US" dirty="0" err="1">
                <a:latin typeface="Arial" pitchFamily="34" charset="0"/>
                <a:cs typeface="Arial" pitchFamily="34" charset="0"/>
              </a:rPr>
              <a:t>mμ</a:t>
            </a:r>
            <a:r>
              <a:rPr lang="en-US" dirty="0">
                <a:latin typeface="Arial" pitchFamily="34" charset="0"/>
                <a:cs typeface="Arial" pitchFamily="34" charset="0"/>
              </a:rPr>
              <a:t>  = 10</a:t>
            </a:r>
            <a:r>
              <a:rPr lang="en-US" baseline="30000" dirty="0">
                <a:latin typeface="Arial" pitchFamily="34" charset="0"/>
                <a:cs typeface="Arial" pitchFamily="34" charset="0"/>
              </a:rPr>
              <a:t>–7</a:t>
            </a:r>
            <a:r>
              <a:rPr lang="en-US" dirty="0">
                <a:latin typeface="Arial" pitchFamily="34" charset="0"/>
                <a:cs typeface="Arial" pitchFamily="34" charset="0"/>
              </a:rPr>
              <a:t> cm; 1 μ  = 10</a:t>
            </a:r>
            <a:r>
              <a:rPr lang="en-US" baseline="30000" dirty="0">
                <a:latin typeface="Arial" pitchFamily="34" charset="0"/>
                <a:cs typeface="Arial" pitchFamily="34" charset="0"/>
              </a:rPr>
              <a:t>–4</a:t>
            </a:r>
            <a:r>
              <a:rPr lang="en-US" dirty="0">
                <a:latin typeface="Arial" pitchFamily="34" charset="0"/>
                <a:cs typeface="Arial" pitchFamily="34" charset="0"/>
              </a:rPr>
              <a:t> cm. </a:t>
            </a:r>
            <a:br>
              <a:rPr lang="en-US" dirty="0">
                <a:latin typeface="Arial" pitchFamily="34" charset="0"/>
                <a:cs typeface="Arial" pitchFamily="34" charset="0"/>
              </a:rPr>
            </a:br>
            <a:endParaRPr lang="en-US" dirty="0">
              <a:latin typeface="Arial" pitchFamily="34" charset="0"/>
              <a:cs typeface="Arial" pitchFamily="34" charset="0"/>
            </a:endParaRPr>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8173" y="1882114"/>
            <a:ext cx="2119827" cy="1318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Rectangle 4"/>
              <p:cNvSpPr>
                <a:spLocks noChangeArrowheads="1"/>
              </p:cNvSpPr>
              <p:nvPr/>
            </p:nvSpPr>
            <p:spPr bwMode="auto">
              <a:xfrm>
                <a:off x="533400" y="3264385"/>
                <a:ext cx="8059057" cy="20557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EE1846"/>
                    </a:solidFill>
                    <a:effectLst/>
                    <a:latin typeface="Arial" pitchFamily="34" charset="0"/>
                    <a:cs typeface="Arial" pitchFamily="34" charset="0"/>
                  </a:rPr>
                  <a:t>(</a:t>
                </a:r>
                <a:r>
                  <a:rPr kumimoji="0" lang="en-US" b="1" i="1" u="none" strike="noStrike" cap="none" normalizeH="0" baseline="0" dirty="0">
                    <a:ln>
                      <a:noFill/>
                    </a:ln>
                    <a:solidFill>
                      <a:srgbClr val="EE1846"/>
                    </a:solidFill>
                    <a:effectLst/>
                    <a:latin typeface="Arial" pitchFamily="34" charset="0"/>
                    <a:cs typeface="Arial" pitchFamily="34" charset="0"/>
                  </a:rPr>
                  <a:t>b</a:t>
                </a:r>
                <a:r>
                  <a:rPr kumimoji="0" lang="en-US" b="1" i="0" u="none" strike="noStrike" cap="none" normalizeH="0" baseline="0" dirty="0">
                    <a:ln>
                      <a:noFill/>
                    </a:ln>
                    <a:solidFill>
                      <a:srgbClr val="EE1846"/>
                    </a:solidFill>
                    <a:effectLst/>
                    <a:latin typeface="Arial" pitchFamily="34" charset="0"/>
                    <a:cs typeface="Arial" pitchFamily="34" charset="0"/>
                  </a:rPr>
                  <a:t>) Wave number. </a:t>
                </a:r>
                <a:r>
                  <a:rPr kumimoji="0" lang="en-US" b="0" i="0" u="none" strike="noStrike" cap="none" normalizeH="0" baseline="0" dirty="0">
                    <a:ln>
                      <a:noFill/>
                    </a:ln>
                    <a:solidFill>
                      <a:srgbClr val="242021"/>
                    </a:solidFill>
                    <a:effectLst/>
                    <a:latin typeface="Arial" pitchFamily="34" charset="0"/>
                    <a:cs typeface="Arial" pitchFamily="34" charset="0"/>
                  </a:rPr>
                  <a:t>It is the reciprocal of</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wavelength and it is expressed in per centimeter. In</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other words, it is defined as the total number of waves which can pass</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through a space of one cm.</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It is expressed as </a:t>
                </a:r>
                <a14:m>
                  <m:oMath xmlns:m="http://schemas.openxmlformats.org/officeDocument/2006/math">
                    <m:acc>
                      <m:accPr>
                        <m:chr m:val="̅"/>
                        <m:ctrlPr>
                          <a:rPr kumimoji="0" lang="en-US" b="0" i="1" u="none" strike="noStrike" cap="none" normalizeH="0" baseline="0" smtClean="0">
                            <a:ln>
                              <a:noFill/>
                            </a:ln>
                            <a:solidFill>
                              <a:srgbClr val="242021"/>
                            </a:solidFill>
                            <a:effectLst/>
                            <a:latin typeface="Cambria Math" panose="02040503050406030204" pitchFamily="18" charset="0"/>
                            <a:cs typeface="Arial" pitchFamily="34" charset="0"/>
                          </a:rPr>
                        </m:ctrlPr>
                      </m:accPr>
                      <m:e>
                        <m:r>
                          <a:rPr kumimoji="0" lang="en-US" b="0" i="1" u="none" strike="noStrike" cap="none" normalizeH="0" baseline="0" smtClean="0">
                            <a:ln>
                              <a:noFill/>
                            </a:ln>
                            <a:solidFill>
                              <a:srgbClr val="242021"/>
                            </a:solidFill>
                            <a:effectLst/>
                            <a:latin typeface="Cambria Math"/>
                            <a:cs typeface="Arial" pitchFamily="34" charset="0"/>
                          </a:rPr>
                          <m:t>𝑣</m:t>
                        </m:r>
                      </m:e>
                    </m:acc>
                  </m:oMath>
                </a14:m>
                <a:r>
                  <a:rPr kumimoji="0" lang="en-US" b="0" i="0" u="none" strike="noStrike" cap="none" normalizeH="0" baseline="0" dirty="0">
                    <a:ln>
                      <a:noFill/>
                    </a:ln>
                    <a:solidFill>
                      <a:srgbClr val="242021"/>
                    </a:solidFill>
                    <a:effectLst/>
                    <a:latin typeface="Arial" pitchFamily="34" charset="0"/>
                    <a:cs typeface="Arial" pitchFamily="34" charset="0"/>
                  </a:rPr>
                  <a:t>. It is frequently used in Infra-red technique. If the wavelength of a light</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radiation is known, the corresponding wave number can be calculated. For example, if the wavelength</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of a radiation is 2.5 μ</a:t>
                </a:r>
                <a:r>
                  <a:rPr kumimoji="0" lang="en-US" b="0" i="0" u="none" strike="noStrike" cap="none" normalizeH="0" baseline="0" dirty="0">
                    <a:ln>
                      <a:noFill/>
                    </a:ln>
                    <a:solidFill>
                      <a:srgbClr val="00ADEE"/>
                    </a:solidFill>
                    <a:effectLst/>
                    <a:latin typeface="Arial" pitchFamily="34" charset="0"/>
                    <a:cs typeface="Arial" pitchFamily="34" charset="0"/>
                  </a:rPr>
                  <a:t>*</a:t>
                </a:r>
                <a:r>
                  <a:rPr kumimoji="0" lang="en-US" b="0" i="0" u="none" strike="noStrike" cap="none" normalizeH="0" baseline="0" dirty="0">
                    <a:ln>
                      <a:noFill/>
                    </a:ln>
                    <a:solidFill>
                      <a:srgbClr val="242021"/>
                    </a:solidFill>
                    <a:effectLst/>
                    <a:latin typeface="Arial" pitchFamily="34" charset="0"/>
                    <a:cs typeface="Arial" pitchFamily="34" charset="0"/>
                  </a:rPr>
                  <a:t>, then the corresponding wave number can be</a:t>
                </a:r>
                <a:r>
                  <a:rPr kumimoji="0" lang="en-US" b="0" i="0" u="none" strike="noStrike" cap="none" normalizeH="0" dirty="0">
                    <a:ln>
                      <a:noFill/>
                    </a:ln>
                    <a:solidFill>
                      <a:srgbClr val="242021"/>
                    </a:solidFill>
                    <a:effectLst/>
                    <a:latin typeface="Arial" pitchFamily="34" charset="0"/>
                    <a:cs typeface="Arial" pitchFamily="34" charset="0"/>
                  </a:rPr>
                  <a:t> </a:t>
                </a:r>
                <a:r>
                  <a:rPr kumimoji="0" lang="en-US" b="0" i="0" u="none" strike="noStrike" cap="none" normalizeH="0" baseline="0" dirty="0">
                    <a:ln>
                      <a:noFill/>
                    </a:ln>
                    <a:solidFill>
                      <a:srgbClr val="242021"/>
                    </a:solidFill>
                    <a:effectLst/>
                    <a:latin typeface="Arial" pitchFamily="34" charset="0"/>
                    <a:cs typeface="Arial" pitchFamily="34" charset="0"/>
                  </a:rPr>
                  <a:t>calculated as follows</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mc:Choice>
        <mc:Fallback xmlns="">
          <p:sp>
            <p:nvSpPr>
              <p:cNvPr id="5" name="Rectangle 4"/>
              <p:cNvSpPr>
                <a:spLocks noRot="1" noChangeAspect="1" noMove="1" noResize="1" noEditPoints="1" noAdjustHandles="1" noChangeArrowheads="1" noChangeShapeType="1" noTextEdit="1"/>
              </p:cNvSpPr>
              <p:nvPr/>
            </p:nvSpPr>
            <p:spPr bwMode="auto">
              <a:xfrm>
                <a:off x="533400" y="3264385"/>
                <a:ext cx="8059057" cy="2055756"/>
              </a:xfrm>
              <a:prstGeom prst="rect">
                <a:avLst/>
              </a:prstGeom>
              <a:blipFill rotWithShape="1">
                <a:blip r:embed="rId3"/>
                <a:stretch>
                  <a:fillRect l="-681" t="-296" r="-605" b="-355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5105400"/>
            <a:ext cx="42672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2618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9B8FCE2-EEA6-B6CC-1C66-6F35DAFCA1F7}"/>
              </a:ext>
            </a:extLst>
          </p:cNvPr>
          <p:cNvCxnSpPr/>
          <p:nvPr/>
        </p:nvCxnSpPr>
        <p:spPr>
          <a:xfrm>
            <a:off x="533400" y="614065"/>
            <a:ext cx="8229600" cy="0"/>
          </a:xfrm>
          <a:prstGeom prst="line">
            <a:avLst/>
          </a:prstGeom>
        </p:spPr>
        <p:style>
          <a:lnRef idx="3">
            <a:schemeClr val="accent2"/>
          </a:lnRef>
          <a:fillRef idx="0">
            <a:schemeClr val="accent2"/>
          </a:fillRef>
          <a:effectRef idx="2">
            <a:schemeClr val="accent2"/>
          </a:effectRef>
          <a:fontRef idx="minor">
            <a:schemeClr val="tx1"/>
          </a:fontRef>
        </p:style>
      </p:cxn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762000"/>
            <a:ext cx="8305801" cy="157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667000"/>
            <a:ext cx="8160596"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 name="Rectangle 2"/>
              <p:cNvSpPr/>
              <p:nvPr/>
            </p:nvSpPr>
            <p:spPr>
              <a:xfrm>
                <a:off x="4673600" y="3276600"/>
                <a:ext cx="976870" cy="369332"/>
              </a:xfrm>
              <a:prstGeom prst="rect">
                <a:avLst/>
              </a:prstGeom>
            </p:spPr>
            <p:txBody>
              <a:bodyPr wrap="none">
                <a:spAutoFit/>
              </a:bodyPr>
              <a:lstStyle/>
              <a:p>
                <a:r>
                  <a:rPr lang="en-US" dirty="0">
                    <a:solidFill>
                      <a:srgbClr val="242021"/>
                    </a:solidFill>
                    <a:latin typeface="Arial" panose="020B0604020202020204" pitchFamily="34" charset="0"/>
                    <a:cs typeface="Arial" panose="020B0604020202020204" pitchFamily="34" charset="0"/>
                  </a:rPr>
                  <a:t>E = </a:t>
                </a:r>
                <a:r>
                  <a:rPr lang="en-US" dirty="0" err="1">
                    <a:solidFill>
                      <a:srgbClr val="242021"/>
                    </a:solidFill>
                    <a:latin typeface="Arial" panose="020B0604020202020204" pitchFamily="34" charset="0"/>
                    <a:cs typeface="Arial" panose="020B0604020202020204" pitchFamily="34" charset="0"/>
                  </a:rPr>
                  <a:t>hc</a:t>
                </a:r>
                <a14:m>
                  <m:oMath xmlns:m="http://schemas.openxmlformats.org/officeDocument/2006/math">
                    <m:acc>
                      <m:accPr>
                        <m:chr m:val="̅"/>
                        <m:ctrlPr>
                          <a:rPr lang="en-US" i="1">
                            <a:solidFill>
                              <a:srgbClr val="242021"/>
                            </a:solidFill>
                            <a:latin typeface="Cambria Math" panose="02040503050406030204" pitchFamily="18" charset="0"/>
                            <a:cs typeface="Arial" pitchFamily="34" charset="0"/>
                          </a:rPr>
                        </m:ctrlPr>
                      </m:accPr>
                      <m:e>
                        <m:r>
                          <a:rPr lang="en-US" i="1">
                            <a:solidFill>
                              <a:srgbClr val="242021"/>
                            </a:solidFill>
                            <a:latin typeface="Cambria Math"/>
                            <a:cs typeface="Arial" pitchFamily="34" charset="0"/>
                          </a:rPr>
                          <m:t>𝑣</m:t>
                        </m:r>
                      </m:e>
                    </m:acc>
                  </m:oMath>
                </a14:m>
                <a:endParaRPr lang="en-US" dirty="0">
                  <a:latin typeface="Arial" panose="020B0604020202020204" pitchFamily="34" charset="0"/>
                  <a:cs typeface="Arial" panose="020B0604020202020204" pitchFamily="34"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4673600" y="3276600"/>
                <a:ext cx="976870" cy="369332"/>
              </a:xfrm>
              <a:prstGeom prst="rect">
                <a:avLst/>
              </a:prstGeom>
              <a:blipFill rotWithShape="1">
                <a:blip r:embed="rId4"/>
                <a:stretch>
                  <a:fillRect l="-5625" t="-8333" r="-26875" b="-25000"/>
                </a:stretch>
              </a:blipFill>
            </p:spPr>
            <p:txBody>
              <a:bodyPr/>
              <a:lstStyle/>
              <a:p>
                <a:r>
                  <a:rPr lang="en-US">
                    <a:noFill/>
                  </a:rPr>
                  <a:t> </a:t>
                </a:r>
              </a:p>
            </p:txBody>
          </p:sp>
        </mc:Fallback>
      </mc:AlternateContent>
    </p:spTree>
    <p:extLst>
      <p:ext uri="{BB962C8B-B14F-4D97-AF65-F5344CB8AC3E}">
        <p14:creationId xmlns:p14="http://schemas.microsoft.com/office/powerpoint/2010/main" val="921244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40081"/>
            <a:ext cx="8001000" cy="45719"/>
          </a:xfrm>
          <a:prstGeom prst="rect">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743200"/>
            <a:ext cx="7721045"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33400" y="914400"/>
            <a:ext cx="8001000" cy="923330"/>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 ordinary infra-red region extends from 2.5 </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 to 15</a:t>
            </a:r>
            <a:r>
              <a:rPr lang="el-GR" dirty="0">
                <a:latin typeface="Arial" panose="020B0604020202020204" pitchFamily="34" charset="0"/>
                <a:cs typeface="Arial" panose="020B0604020202020204" pitchFamily="34" charset="0"/>
              </a:rPr>
              <a:t> μ</a:t>
            </a:r>
            <a:r>
              <a:rPr lang="en-US" dirty="0">
                <a:latin typeface="Arial" panose="020B0604020202020204" pitchFamily="34" charset="0"/>
                <a:cs typeface="Arial" panose="020B0604020202020204" pitchFamily="34" charset="0"/>
              </a:rPr>
              <a:t> . The region from 0.8</a:t>
            </a:r>
            <a:r>
              <a:rPr lang="el-GR" dirty="0">
                <a:latin typeface="Arial" panose="020B0604020202020204" pitchFamily="34" charset="0"/>
                <a:cs typeface="Arial" panose="020B0604020202020204" pitchFamily="34" charset="0"/>
              </a:rPr>
              <a:t> μ</a:t>
            </a:r>
            <a:r>
              <a:rPr lang="en-US" dirty="0">
                <a:latin typeface="Arial" panose="020B0604020202020204" pitchFamily="34" charset="0"/>
                <a:cs typeface="Arial" panose="020B0604020202020204" pitchFamily="34" charset="0"/>
              </a:rPr>
              <a:t> to 2.5 </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 is called </a:t>
            </a:r>
            <a:r>
              <a:rPr lang="en-US" b="1" dirty="0">
                <a:latin typeface="Arial" panose="020B0604020202020204" pitchFamily="34" charset="0"/>
                <a:cs typeface="Arial" panose="020B0604020202020204" pitchFamily="34" charset="0"/>
              </a:rPr>
              <a:t>Near infra-red </a:t>
            </a:r>
            <a:r>
              <a:rPr lang="en-US" dirty="0">
                <a:latin typeface="Arial" panose="020B0604020202020204" pitchFamily="34" charset="0"/>
                <a:cs typeface="Arial" panose="020B0604020202020204" pitchFamily="34" charset="0"/>
              </a:rPr>
              <a:t>and that from 15 </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 to 200 </a:t>
            </a:r>
            <a:r>
              <a:rPr lang="el-GR" dirty="0">
                <a:latin typeface="Arial" panose="020B0604020202020204" pitchFamily="34" charset="0"/>
                <a:cs typeface="Arial" panose="020B0604020202020204" pitchFamily="34" charset="0"/>
              </a:rPr>
              <a:t>μ </a:t>
            </a:r>
            <a:r>
              <a:rPr lang="en-US" dirty="0">
                <a:latin typeface="Arial" panose="020B0604020202020204" pitchFamily="34" charset="0"/>
                <a:cs typeface="Arial" panose="020B0604020202020204" pitchFamily="34" charset="0"/>
              </a:rPr>
              <a:t>is called </a:t>
            </a:r>
            <a:r>
              <a:rPr lang="en-US" b="1" dirty="0">
                <a:latin typeface="Arial" panose="020B0604020202020204" pitchFamily="34" charset="0"/>
                <a:cs typeface="Arial" panose="020B0604020202020204" pitchFamily="34" charset="0"/>
              </a:rPr>
              <a:t>Far IR Region.</a:t>
            </a:r>
            <a:r>
              <a:rPr lang="en-US" dirty="0">
                <a:latin typeface="Arial" panose="020B0604020202020204" pitchFamily="34" charset="0"/>
                <a:cs typeface="Arial" panose="020B0604020202020204" pitchFamily="34" charset="0"/>
              </a:rPr>
              <a:t> </a:t>
            </a:r>
          </a:p>
        </p:txBody>
      </p:sp>
      <p:sp>
        <p:nvSpPr>
          <p:cNvPr id="5" name="Rectangle 4"/>
          <p:cNvSpPr/>
          <p:nvPr/>
        </p:nvSpPr>
        <p:spPr>
          <a:xfrm>
            <a:off x="2743200" y="152400"/>
            <a:ext cx="3657600" cy="400110"/>
          </a:xfrm>
          <a:prstGeom prst="rect">
            <a:avLst/>
          </a:prstGeom>
        </p:spPr>
        <p:txBody>
          <a:bodyPr wrap="square">
            <a:spAutoFit/>
          </a:bodyPr>
          <a:lstStyle/>
          <a:p>
            <a:pPr algn="ctr"/>
            <a:r>
              <a:rPr lang="en-US" sz="2000" b="1" dirty="0">
                <a:latin typeface="Arial" pitchFamily="34" charset="0"/>
                <a:cs typeface="Arial" pitchFamily="34" charset="0"/>
              </a:rPr>
              <a:t>Infra-red Radiation Region  </a:t>
            </a:r>
          </a:p>
        </p:txBody>
      </p:sp>
    </p:spTree>
    <p:extLst>
      <p:ext uri="{BB962C8B-B14F-4D97-AF65-F5344CB8AC3E}">
        <p14:creationId xmlns:p14="http://schemas.microsoft.com/office/powerpoint/2010/main" val="1185631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40081"/>
            <a:ext cx="8001000" cy="45719"/>
          </a:xfrm>
          <a:prstGeom prst="rect">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651164" y="685800"/>
            <a:ext cx="8001000" cy="6186309"/>
          </a:xfrm>
          <a:prstGeom prst="rect">
            <a:avLst/>
          </a:prstGeom>
        </p:spPr>
        <p:txBody>
          <a:bodyPr wrap="square">
            <a:spAutoFit/>
          </a:bodyPr>
          <a:lstStyle/>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The absorption of Infra-red radiations causes an excitation of molecule from a lower to the higher vibrational level. </a:t>
            </a:r>
          </a:p>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We know that each vibrational level is associated with a number of closely spaced rotational levels. Clearly, the Infra-red spectra is considered as </a:t>
            </a:r>
            <a:r>
              <a:rPr lang="en-US" b="1" dirty="0">
                <a:latin typeface="Arial" panose="020B0604020202020204" pitchFamily="34" charset="0"/>
                <a:cs typeface="Arial" panose="020B0604020202020204" pitchFamily="34" charset="0"/>
              </a:rPr>
              <a:t>vibrational-rotational spectra. </a:t>
            </a:r>
          </a:p>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All the bonds in a molecule are not capable of absorbing infra-red energy but only those bonds which are accompanied by </a:t>
            </a:r>
            <a:r>
              <a:rPr lang="en-US" b="1" dirty="0">
                <a:latin typeface="Arial" panose="020B0604020202020204" pitchFamily="34" charset="0"/>
                <a:cs typeface="Arial" panose="020B0604020202020204" pitchFamily="34" charset="0"/>
              </a:rPr>
              <a:t>a change </a:t>
            </a:r>
            <a:r>
              <a:rPr lang="en-US" dirty="0">
                <a:latin typeface="Arial" panose="020B0604020202020204" pitchFamily="34" charset="0"/>
                <a:cs typeface="Arial" panose="020B0604020202020204" pitchFamily="34" charset="0"/>
              </a:rPr>
              <a:t>in </a:t>
            </a:r>
            <a:r>
              <a:rPr lang="en-US" b="1" dirty="0">
                <a:latin typeface="Arial" panose="020B0604020202020204" pitchFamily="34" charset="0"/>
                <a:cs typeface="Arial" panose="020B0604020202020204" pitchFamily="34" charset="0"/>
              </a:rPr>
              <a:t>dipole moment </a:t>
            </a:r>
            <a:r>
              <a:rPr lang="en-US" dirty="0">
                <a:latin typeface="Arial" panose="020B0604020202020204" pitchFamily="34" charset="0"/>
                <a:cs typeface="Arial" panose="020B0604020202020204" pitchFamily="34" charset="0"/>
              </a:rPr>
              <a:t>will absorb in the infra-red region. </a:t>
            </a:r>
          </a:p>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Such vibrational transitions which are accompanied by a change in the dipole-moment of the molecule are called infra-red active transitions.</a:t>
            </a:r>
          </a:p>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Thus, these are responsible for absorption of energy in the Infra-red region. On the other hand, the vibrational transitions which are not accompanied by a change in dipole-moment of the molecule are not directly observed and these are Infra-red inactive.</a:t>
            </a:r>
          </a:p>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 For example, vibrational transitions of C = O, N—H, O—H etc. bands are accompanied by a change in dipole-moment and thus, absorb strongly in the Infra-red region. </a:t>
            </a:r>
          </a:p>
          <a:p>
            <a:pPr marL="285750" indent="-285750" algn="just">
              <a:buFont typeface="Wingdings" panose="05000000000000000000" pitchFamily="2" charset="2"/>
              <a:buChar char="Ø"/>
            </a:pPr>
            <a:r>
              <a:rPr lang="en-US" dirty="0">
                <a:latin typeface="Arial" panose="020B0604020202020204" pitchFamily="34" charset="0"/>
                <a:cs typeface="Arial" panose="020B0604020202020204" pitchFamily="34" charset="0"/>
              </a:rPr>
              <a:t>But transitions in Carbon-Carbon bonds in symmetrical alkenes and alkynes are not accompanied by the change in dipole-moment and hence do not absorb in the infra-red region. It is important to note that since the absorption in infra-red region is quantized, a molecule of the organic compound will show a number of peaks in the infra-red region. </a:t>
            </a:r>
          </a:p>
        </p:txBody>
      </p:sp>
      <p:sp>
        <p:nvSpPr>
          <p:cNvPr id="5" name="Rectangle 4"/>
          <p:cNvSpPr/>
          <p:nvPr/>
        </p:nvSpPr>
        <p:spPr>
          <a:xfrm>
            <a:off x="914400" y="164068"/>
            <a:ext cx="7620000" cy="461665"/>
          </a:xfrm>
          <a:prstGeom prst="rect">
            <a:avLst/>
          </a:prstGeom>
        </p:spPr>
        <p:txBody>
          <a:bodyPr wrap="square">
            <a:spAutoFit/>
          </a:bodyPr>
          <a:lstStyle/>
          <a:p>
            <a:pPr algn="ctr"/>
            <a:r>
              <a:rPr lang="en-US" sz="2400" b="1" dirty="0">
                <a:latin typeface="Arial" pitchFamily="34" charset="0"/>
                <a:cs typeface="Arial" pitchFamily="34" charset="0"/>
              </a:rPr>
              <a:t>Principle of Infra-red Spectroscopy </a:t>
            </a:r>
          </a:p>
        </p:txBody>
      </p:sp>
    </p:spTree>
    <p:extLst>
      <p:ext uri="{BB962C8B-B14F-4D97-AF65-F5344CB8AC3E}">
        <p14:creationId xmlns:p14="http://schemas.microsoft.com/office/powerpoint/2010/main" val="2831301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40081"/>
            <a:ext cx="8001000" cy="45719"/>
          </a:xfrm>
          <a:prstGeom prst="rect">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631698" y="762000"/>
            <a:ext cx="7804404" cy="1600200"/>
            <a:chOff x="631698" y="762000"/>
            <a:chExt cx="7804404" cy="160020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98" y="762000"/>
              <a:ext cx="7804404"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97" y="2072273"/>
              <a:ext cx="6128003" cy="289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514600"/>
            <a:ext cx="7978698"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2313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6916" b="4195"/>
          <a:stretch/>
        </p:blipFill>
        <p:spPr bwMode="auto">
          <a:xfrm>
            <a:off x="457200" y="795867"/>
            <a:ext cx="8342789" cy="50715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752600" y="152400"/>
            <a:ext cx="4443845"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Region of Electromagnetic Spectra</a:t>
            </a:r>
          </a:p>
        </p:txBody>
      </p:sp>
    </p:spTree>
    <p:extLst>
      <p:ext uri="{BB962C8B-B14F-4D97-AF65-F5344CB8AC3E}">
        <p14:creationId xmlns:p14="http://schemas.microsoft.com/office/powerpoint/2010/main" val="3553400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457200" y="838200"/>
            <a:ext cx="8305800" cy="1569660"/>
          </a:xfrm>
          <a:prstGeom prst="rect">
            <a:avLst/>
          </a:prstGeom>
        </p:spPr>
        <p:txBody>
          <a:bodyPr wrap="square">
            <a:spAutoFit/>
          </a:bodyPr>
          <a:lstStyle/>
          <a:p>
            <a:pPr algn="just"/>
            <a:r>
              <a:rPr lang="en-US" sz="1600" b="1" dirty="0">
                <a:solidFill>
                  <a:srgbClr val="0000FF"/>
                </a:solidFill>
                <a:latin typeface="Arial" panose="020B0604020202020204" pitchFamily="34" charset="0"/>
                <a:cs typeface="Arial" panose="020B0604020202020204" pitchFamily="34" charset="0"/>
              </a:rPr>
              <a:t>Translational Mode  : </a:t>
            </a:r>
            <a:r>
              <a:rPr lang="en-US" sz="1600" dirty="0">
                <a:latin typeface="Arial" panose="020B0604020202020204" pitchFamily="34" charset="0"/>
                <a:cs typeface="Arial" panose="020B0604020202020204" pitchFamily="34" charset="0"/>
              </a:rPr>
              <a:t>Motion of the entire molecule from one place to another in space.</a:t>
            </a:r>
          </a:p>
          <a:p>
            <a:pPr marL="285750" indent="-285750" algn="just">
              <a:buFont typeface="Wingdings" panose="05000000000000000000" pitchFamily="2" charset="2"/>
              <a:buChar char="Ø"/>
            </a:pPr>
            <a:r>
              <a:rPr lang="en-US" sz="1600" dirty="0">
                <a:latin typeface="Arial" panose="020B0604020202020204" pitchFamily="34" charset="0"/>
                <a:cs typeface="Arial" panose="020B0604020202020204" pitchFamily="34" charset="0"/>
              </a:rPr>
              <a:t>Involves movement along the x, y, and z axes.</a:t>
            </a:r>
          </a:p>
          <a:p>
            <a:pPr marL="285750" indent="-285750" algn="just">
              <a:buFont typeface="Wingdings" panose="05000000000000000000" pitchFamily="2" charset="2"/>
              <a:buChar char="Ø"/>
            </a:pPr>
            <a:r>
              <a:rPr lang="en-US" sz="1600" dirty="0">
                <a:latin typeface="Arial" panose="020B0604020202020204" pitchFamily="34" charset="0"/>
                <a:cs typeface="Arial" panose="020B0604020202020204" pitchFamily="34" charset="0"/>
              </a:rPr>
              <a:t>All molecules (solid, liquid, or gas) can exhibit translation, especially in gases.</a:t>
            </a:r>
          </a:p>
          <a:p>
            <a:pPr marL="285750" indent="-285750" algn="just">
              <a:buFont typeface="Wingdings" panose="05000000000000000000" pitchFamily="2" charset="2"/>
              <a:buChar char="Ø"/>
            </a:pPr>
            <a:r>
              <a:rPr lang="en-US" sz="1600" dirty="0">
                <a:latin typeface="Arial" panose="020B0604020202020204" pitchFamily="34" charset="0"/>
                <a:cs typeface="Arial" panose="020B0604020202020204" pitchFamily="34" charset="0"/>
              </a:rPr>
              <a:t>There are always </a:t>
            </a:r>
            <a:r>
              <a:rPr lang="en-US" sz="1600" b="1" dirty="0">
                <a:latin typeface="Arial" panose="020B0604020202020204" pitchFamily="34" charset="0"/>
                <a:cs typeface="Arial" panose="020B0604020202020204" pitchFamily="34" charset="0"/>
              </a:rPr>
              <a:t>3 translational degrees of freedom</a:t>
            </a:r>
            <a:r>
              <a:rPr lang="en-US" sz="1600" dirty="0">
                <a:latin typeface="Arial" panose="020B0604020202020204" pitchFamily="34" charset="0"/>
                <a:cs typeface="Arial" panose="020B0604020202020204" pitchFamily="34" charset="0"/>
              </a:rPr>
              <a:t> for any molecule.</a:t>
            </a:r>
          </a:p>
          <a:p>
            <a:pPr algn="just"/>
            <a:r>
              <a:rPr lang="en-US" sz="1600" b="1" dirty="0">
                <a:latin typeface="Arial" panose="020B0604020202020204" pitchFamily="34" charset="0"/>
                <a:cs typeface="Arial" panose="020B0604020202020204" pitchFamily="34" charset="0"/>
              </a:rPr>
              <a:t>Energy Range:</a:t>
            </a:r>
            <a:r>
              <a:rPr lang="en-US" sz="1600" dirty="0">
                <a:latin typeface="Arial" panose="020B0604020202020204" pitchFamily="34" charset="0"/>
                <a:cs typeface="Arial" panose="020B0604020202020204" pitchFamily="34" charset="0"/>
              </a:rPr>
              <a:t> Lowest compared to other modes.</a:t>
            </a:r>
          </a:p>
          <a:p>
            <a:pPr algn="just"/>
            <a:r>
              <a:rPr lang="en-US" sz="1600" b="1" dirty="0">
                <a:latin typeface="Arial" panose="020B0604020202020204" pitchFamily="34" charset="0"/>
                <a:cs typeface="Arial" panose="020B0604020202020204" pitchFamily="34" charset="0"/>
              </a:rPr>
              <a:t>Example:</a:t>
            </a:r>
            <a:r>
              <a:rPr lang="en-US" sz="1600" dirty="0">
                <a:latin typeface="Arial" panose="020B0604020202020204" pitchFamily="34" charset="0"/>
                <a:cs typeface="Arial" panose="020B0604020202020204" pitchFamily="34" charset="0"/>
              </a:rPr>
              <a:t> A molecule moving in a straight line across a container.</a:t>
            </a:r>
          </a:p>
        </p:txBody>
      </p:sp>
      <p:sp>
        <p:nvSpPr>
          <p:cNvPr id="4" name="Rectangle 3"/>
          <p:cNvSpPr/>
          <p:nvPr/>
        </p:nvSpPr>
        <p:spPr>
          <a:xfrm>
            <a:off x="381000" y="2514600"/>
            <a:ext cx="8382000" cy="2062103"/>
          </a:xfrm>
          <a:prstGeom prst="rect">
            <a:avLst/>
          </a:prstGeom>
        </p:spPr>
        <p:txBody>
          <a:bodyPr wrap="square">
            <a:spAutoFit/>
          </a:bodyPr>
          <a:lstStyle/>
          <a:p>
            <a:r>
              <a:rPr lang="en-US" sz="1600" b="1" dirty="0">
                <a:solidFill>
                  <a:srgbClr val="0000FF"/>
                </a:solidFill>
                <a:latin typeface="Arial" panose="020B0604020202020204" pitchFamily="34" charset="0"/>
                <a:cs typeface="Arial" panose="020B0604020202020204" pitchFamily="34" charset="0"/>
              </a:rPr>
              <a:t>Rotational Mode</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Motion of the molecule around its center of mass.</a:t>
            </a:r>
          </a:p>
          <a:p>
            <a:r>
              <a:rPr lang="en-US" sz="1600" dirty="0">
                <a:latin typeface="Arial" panose="020B0604020202020204" pitchFamily="34" charset="0"/>
                <a:cs typeface="Arial" panose="020B0604020202020204" pitchFamily="34" charset="0"/>
              </a:rPr>
              <a:t>Depends on molecular geometry:</a:t>
            </a:r>
          </a:p>
          <a:p>
            <a:pPr lvl="1"/>
            <a:r>
              <a:rPr lang="en-US" sz="1600" b="1" dirty="0">
                <a:latin typeface="Arial" panose="020B0604020202020204" pitchFamily="34" charset="0"/>
                <a:cs typeface="Arial" panose="020B0604020202020204" pitchFamily="34" charset="0"/>
              </a:rPr>
              <a:t>Linear molecules:</a:t>
            </a:r>
            <a:r>
              <a:rPr lang="en-US" sz="1600" dirty="0">
                <a:latin typeface="Arial" panose="020B0604020202020204" pitchFamily="34" charset="0"/>
                <a:cs typeface="Arial" panose="020B0604020202020204" pitchFamily="34" charset="0"/>
              </a:rPr>
              <a:t> 2 rotational degrees of freedom.</a:t>
            </a:r>
          </a:p>
          <a:p>
            <a:pPr lvl="1"/>
            <a:r>
              <a:rPr lang="en-US" sz="1600" b="1" dirty="0">
                <a:latin typeface="Arial" panose="020B0604020202020204" pitchFamily="34" charset="0"/>
                <a:cs typeface="Arial" panose="020B0604020202020204" pitchFamily="34" charset="0"/>
              </a:rPr>
              <a:t>Nonlinear molecules:</a:t>
            </a:r>
            <a:r>
              <a:rPr lang="en-US" sz="1600" dirty="0">
                <a:latin typeface="Arial" panose="020B0604020202020204" pitchFamily="34" charset="0"/>
                <a:cs typeface="Arial" panose="020B0604020202020204" pitchFamily="34" charset="0"/>
              </a:rPr>
              <a:t> 3 rotational degrees of freedom.</a:t>
            </a:r>
          </a:p>
          <a:p>
            <a:r>
              <a:rPr lang="en-US" sz="1600" dirty="0">
                <a:latin typeface="Arial" panose="020B0604020202020204" pitchFamily="34" charset="0"/>
                <a:cs typeface="Arial" panose="020B0604020202020204" pitchFamily="34" charset="0"/>
              </a:rPr>
              <a:t>Not all molecules show rotational motion in the solid phase (restricted), but it’s active in gases and liquids.</a:t>
            </a:r>
          </a:p>
          <a:p>
            <a:r>
              <a:rPr lang="en-US" sz="1600" b="1" dirty="0">
                <a:latin typeface="Arial" panose="020B0604020202020204" pitchFamily="34" charset="0"/>
                <a:cs typeface="Arial" panose="020B0604020202020204" pitchFamily="34" charset="0"/>
              </a:rPr>
              <a:t>Energy Range: </a:t>
            </a:r>
            <a:r>
              <a:rPr lang="en-US" sz="1600" dirty="0">
                <a:latin typeface="Arial" panose="020B0604020202020204" pitchFamily="34" charset="0"/>
                <a:cs typeface="Arial" panose="020B0604020202020204" pitchFamily="34" charset="0"/>
              </a:rPr>
              <a:t>Higher than translational, but lower than vibrational (</a:t>
            </a:r>
            <a:r>
              <a:rPr lang="en-US" sz="1600" dirty="0"/>
              <a:t>microwave region</a:t>
            </a:r>
            <a:r>
              <a:rPr lang="en-US" sz="1600" dirty="0">
                <a:latin typeface="Arial" panose="020B0604020202020204" pitchFamily="34" charset="0"/>
                <a:cs typeface="Arial" panose="020B0604020202020204" pitchFamily="34" charset="0"/>
              </a:rPr>
              <a:t>)</a:t>
            </a:r>
          </a:p>
          <a:p>
            <a:r>
              <a:rPr lang="en-US" sz="1600" b="1" dirty="0">
                <a:latin typeface="Arial" panose="020B0604020202020204" pitchFamily="34" charset="0"/>
                <a:cs typeface="Arial" panose="020B0604020202020204" pitchFamily="34" charset="0"/>
              </a:rPr>
              <a:t>Example:</a:t>
            </a:r>
            <a:r>
              <a:rPr lang="en-US" sz="1600" dirty="0">
                <a:latin typeface="Arial" panose="020B0604020202020204" pitchFamily="34" charset="0"/>
                <a:cs typeface="Arial" panose="020B0604020202020204" pitchFamily="34" charset="0"/>
              </a:rPr>
              <a:t> O₂ molecule spinning around its center.</a:t>
            </a:r>
          </a:p>
        </p:txBody>
      </p:sp>
      <p:sp>
        <p:nvSpPr>
          <p:cNvPr id="6" name="Rectangle 5"/>
          <p:cNvSpPr/>
          <p:nvPr/>
        </p:nvSpPr>
        <p:spPr>
          <a:xfrm>
            <a:off x="381000" y="4800600"/>
            <a:ext cx="8382000" cy="1569660"/>
          </a:xfrm>
          <a:prstGeom prst="rect">
            <a:avLst/>
          </a:prstGeom>
        </p:spPr>
        <p:txBody>
          <a:bodyPr wrap="square">
            <a:spAutoFit/>
          </a:bodyPr>
          <a:lstStyle/>
          <a:p>
            <a:r>
              <a:rPr lang="en-US" sz="1600" b="1" dirty="0">
                <a:solidFill>
                  <a:srgbClr val="0000FF"/>
                </a:solidFill>
                <a:latin typeface="Arial" panose="020B0604020202020204" pitchFamily="34" charset="0"/>
                <a:cs typeface="Arial" panose="020B0604020202020204" pitchFamily="34" charset="0"/>
              </a:rPr>
              <a:t>Vibrational Mode: </a:t>
            </a:r>
            <a:r>
              <a:rPr lang="en-US" sz="1600" dirty="0">
                <a:latin typeface="Arial" panose="020B0604020202020204" pitchFamily="34" charset="0"/>
                <a:cs typeface="Arial" panose="020B0604020202020204" pitchFamily="34" charset="0"/>
              </a:rPr>
              <a:t>Periodic motion of atoms within a molecule relative to each other (bond stretching and bending).</a:t>
            </a:r>
          </a:p>
          <a:p>
            <a:r>
              <a:rPr lang="en-US" sz="1600" dirty="0">
                <a:latin typeface="Arial" panose="020B0604020202020204" pitchFamily="34" charset="0"/>
                <a:cs typeface="Arial" panose="020B0604020202020204" pitchFamily="34" charset="0"/>
              </a:rPr>
              <a:t>Number of vibrational modes (fundamental)  =  </a:t>
            </a:r>
            <a:r>
              <a:rPr lang="en-US" sz="1600" b="1" dirty="0">
                <a:latin typeface="Arial" panose="020B0604020202020204" pitchFamily="34" charset="0"/>
                <a:cs typeface="Arial" panose="020B0604020202020204" pitchFamily="34" charset="0"/>
              </a:rPr>
              <a:t>3N – 6</a:t>
            </a:r>
            <a:r>
              <a:rPr lang="en-US" sz="1600" dirty="0">
                <a:latin typeface="Arial" panose="020B0604020202020204" pitchFamily="34" charset="0"/>
                <a:cs typeface="Arial" panose="020B0604020202020204" pitchFamily="34" charset="0"/>
              </a:rPr>
              <a:t> for nonlinear molecules</a:t>
            </a:r>
          </a:p>
          <a:p>
            <a:pPr lvl="1"/>
            <a:r>
              <a:rPr lang="en-US" sz="1600" b="1" dirty="0">
                <a:latin typeface="Arial" panose="020B0604020202020204" pitchFamily="34" charset="0"/>
                <a:cs typeface="Arial" panose="020B0604020202020204" pitchFamily="34" charset="0"/>
              </a:rPr>
              <a:t>                                       = 3N – 5</a:t>
            </a:r>
            <a:r>
              <a:rPr lang="en-US" sz="1600" dirty="0">
                <a:latin typeface="Arial" panose="020B0604020202020204" pitchFamily="34" charset="0"/>
                <a:cs typeface="Arial" panose="020B0604020202020204" pitchFamily="34" charset="0"/>
              </a:rPr>
              <a:t> for linear molecules (where </a:t>
            </a:r>
            <a:r>
              <a:rPr lang="en-US" sz="1600" b="1" dirty="0">
                <a:latin typeface="Arial" panose="020B0604020202020204" pitchFamily="34" charset="0"/>
                <a:cs typeface="Arial" panose="020B0604020202020204" pitchFamily="34" charset="0"/>
              </a:rPr>
              <a:t>N</a:t>
            </a:r>
            <a:r>
              <a:rPr lang="en-US" sz="1600" dirty="0">
                <a:latin typeface="Arial" panose="020B0604020202020204" pitchFamily="34" charset="0"/>
                <a:cs typeface="Arial" panose="020B0604020202020204" pitchFamily="34" charset="0"/>
              </a:rPr>
              <a:t> = number of atoms)</a:t>
            </a:r>
          </a:p>
          <a:p>
            <a:r>
              <a:rPr lang="en-US" sz="1600" b="1" dirty="0">
                <a:latin typeface="Arial" panose="020B0604020202020204" pitchFamily="34" charset="0"/>
                <a:cs typeface="Arial" panose="020B0604020202020204" pitchFamily="34" charset="0"/>
              </a:rPr>
              <a:t>Energy Range:</a:t>
            </a:r>
            <a:r>
              <a:rPr lang="en-US" sz="1600" dirty="0">
                <a:latin typeface="Arial" panose="020B0604020202020204" pitchFamily="34" charset="0"/>
                <a:cs typeface="Arial" panose="020B0604020202020204" pitchFamily="34" charset="0"/>
              </a:rPr>
              <a:t> Highest among the three. (infrared region)</a:t>
            </a:r>
          </a:p>
          <a:p>
            <a:r>
              <a:rPr lang="en-US" sz="1600" b="1" dirty="0">
                <a:latin typeface="Arial" panose="020B0604020202020204" pitchFamily="34" charset="0"/>
                <a:cs typeface="Arial" panose="020B0604020202020204" pitchFamily="34" charset="0"/>
              </a:rPr>
              <a:t>Example:</a:t>
            </a:r>
            <a:r>
              <a:rPr lang="en-US" sz="1600" dirty="0">
                <a:latin typeface="Arial" panose="020B0604020202020204" pitchFamily="34" charset="0"/>
                <a:cs typeface="Arial" panose="020B0604020202020204" pitchFamily="34" charset="0"/>
              </a:rPr>
              <a:t> The stretching of the H–O–H bond in a water molecule.</a:t>
            </a:r>
          </a:p>
        </p:txBody>
      </p:sp>
    </p:spTree>
    <p:extLst>
      <p:ext uri="{BB962C8B-B14F-4D97-AF65-F5344CB8AC3E}">
        <p14:creationId xmlns:p14="http://schemas.microsoft.com/office/powerpoint/2010/main" val="3531643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8" y="838200"/>
            <a:ext cx="8936037"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5029200"/>
            <a:ext cx="4876800" cy="154085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5181600"/>
            <a:ext cx="3855570" cy="1219200"/>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803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40081"/>
            <a:ext cx="8001000" cy="45719"/>
          </a:xfrm>
          <a:prstGeom prst="rect">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67706"/>
          <a:stretch/>
        </p:blipFill>
        <p:spPr bwMode="auto">
          <a:xfrm>
            <a:off x="348996" y="4000499"/>
            <a:ext cx="8185404" cy="1450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33400" y="0"/>
            <a:ext cx="7924800" cy="646331"/>
          </a:xfrm>
          <a:prstGeom prst="rect">
            <a:avLst/>
          </a:prstGeom>
        </p:spPr>
        <p:txBody>
          <a:bodyPr wrap="square">
            <a:spAutoFit/>
          </a:bodyPr>
          <a:lstStyle/>
          <a:p>
            <a:pPr algn="ctr"/>
            <a:r>
              <a:rPr lang="en-US" b="1" dirty="0">
                <a:solidFill>
                  <a:srgbClr val="0000FF"/>
                </a:solidFill>
                <a:latin typeface="Arial" pitchFamily="34" charset="0"/>
                <a:cs typeface="Arial" pitchFamily="34" charset="0"/>
              </a:rPr>
              <a:t>Fundamental Vibrations, Overtones, Combination band, Couple vibration and Fermi resonance</a:t>
            </a:r>
            <a:endParaRPr lang="en-US" dirty="0">
              <a:solidFill>
                <a:srgbClr val="0000FF"/>
              </a:solidFill>
              <a:latin typeface="Arial" pitchFamily="34" charset="0"/>
              <a:cs typeface="Arial" pitchFamily="34" charset="0"/>
            </a:endParaRPr>
          </a:p>
        </p:txBody>
      </p:sp>
      <p:sp>
        <p:nvSpPr>
          <p:cNvPr id="3" name="Rectangle 2"/>
          <p:cNvSpPr/>
          <p:nvPr/>
        </p:nvSpPr>
        <p:spPr>
          <a:xfrm>
            <a:off x="321080" y="5715000"/>
            <a:ext cx="8213319" cy="646331"/>
          </a:xfrm>
          <a:prstGeom prst="rect">
            <a:avLst/>
          </a:prstGeom>
        </p:spPr>
        <p:txBody>
          <a:bodyPr wrap="square">
            <a:spAutoFit/>
          </a:bodyPr>
          <a:lstStyle/>
          <a:p>
            <a:pPr algn="just"/>
            <a:r>
              <a:rPr lang="en-US" b="1" dirty="0">
                <a:solidFill>
                  <a:srgbClr val="FF0000"/>
                </a:solidFill>
                <a:latin typeface="Arial" panose="020B0604020202020204" pitchFamily="34" charset="0"/>
                <a:cs typeface="Arial" panose="020B0604020202020204" pitchFamily="34" charset="0"/>
              </a:rPr>
              <a:t>Combination bands and overtones generally have lower intensities than the fundamentals</a:t>
            </a:r>
          </a:p>
        </p:txBody>
      </p:sp>
      <p:sp>
        <p:nvSpPr>
          <p:cNvPr id="4" name="Rectangle 3"/>
          <p:cNvSpPr/>
          <p:nvPr/>
        </p:nvSpPr>
        <p:spPr>
          <a:xfrm>
            <a:off x="4495800" y="990600"/>
            <a:ext cx="4572000" cy="2585323"/>
          </a:xfrm>
          <a:prstGeom prst="rect">
            <a:avLst/>
          </a:prstGeom>
        </p:spPr>
        <p:txBody>
          <a:bodyPr>
            <a:spAutoFit/>
          </a:bodyPr>
          <a:lstStyle/>
          <a:p>
            <a:pPr algn="just"/>
            <a:r>
              <a:rPr lang="en-US" b="1" dirty="0">
                <a:solidFill>
                  <a:srgbClr val="FF0000"/>
                </a:solidFill>
                <a:latin typeface="Arial" panose="020B0604020202020204" pitchFamily="34" charset="0"/>
                <a:cs typeface="Arial" panose="020B0604020202020204" pitchFamily="34" charset="0"/>
              </a:rPr>
              <a:t>Fundamental vibrational </a:t>
            </a:r>
            <a:r>
              <a:rPr lang="en-US" dirty="0">
                <a:latin typeface="Arial" panose="020B0604020202020204" pitchFamily="34" charset="0"/>
                <a:cs typeface="Arial" panose="020B0604020202020204" pitchFamily="34" charset="0"/>
              </a:rPr>
              <a:t>frequencies of a molecule corresponds to transition from </a:t>
            </a:r>
            <a:r>
              <a:rPr lang="en-US" dirty="0">
                <a:latin typeface="Times New Roman" panose="02020603050405020304" pitchFamily="18" charset="0"/>
                <a:cs typeface="Times New Roman" panose="02020603050405020304" pitchFamily="18" charset="0"/>
              </a:rPr>
              <a:t>v</a:t>
            </a:r>
            <a:r>
              <a:rPr lang="en-US" dirty="0">
                <a:latin typeface="Arial" panose="020B0604020202020204" pitchFamily="34" charset="0"/>
                <a:cs typeface="Arial" panose="020B0604020202020204" pitchFamily="34" charset="0"/>
              </a:rPr>
              <a:t> = 0 to </a:t>
            </a:r>
            <a:r>
              <a:rPr lang="en-US" dirty="0">
                <a:latin typeface="Times New Roman" panose="02020603050405020304" pitchFamily="18" charset="0"/>
                <a:cs typeface="Times New Roman" panose="02020603050405020304" pitchFamily="18" charset="0"/>
              </a:rPr>
              <a:t>v</a:t>
            </a:r>
            <a:r>
              <a:rPr lang="en-US" dirty="0">
                <a:latin typeface="Arial" panose="020B0604020202020204" pitchFamily="34" charset="0"/>
                <a:cs typeface="Arial" panose="020B0604020202020204" pitchFamily="34" charset="0"/>
              </a:rPr>
              <a:t> = 1. For a non-linear molecule there will by 3N-6 (where N is the number of atoms) number vibrations. The same holds true for linear molecules, however the equations 3N-5 is used, because a linear molecule has one less rotational degrees of freedom.</a:t>
            </a: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767" t="3520" r="2051"/>
          <a:stretch/>
        </p:blipFill>
        <p:spPr bwMode="auto">
          <a:xfrm>
            <a:off x="280792" y="996077"/>
            <a:ext cx="4138808" cy="273772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480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40081"/>
            <a:ext cx="8001000" cy="45719"/>
          </a:xfrm>
          <a:prstGeom prst="rect">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09600" y="76200"/>
            <a:ext cx="7924800" cy="646331"/>
          </a:xfrm>
          <a:prstGeom prst="rect">
            <a:avLst/>
          </a:prstGeom>
        </p:spPr>
        <p:txBody>
          <a:bodyPr wrap="square">
            <a:spAutoFit/>
          </a:bodyPr>
          <a:lstStyle/>
          <a:p>
            <a:pPr algn="ctr"/>
            <a:r>
              <a:rPr lang="en-US" b="1" dirty="0">
                <a:solidFill>
                  <a:srgbClr val="FF0000"/>
                </a:solidFill>
                <a:latin typeface="Arial" pitchFamily="34" charset="0"/>
                <a:cs typeface="Arial" pitchFamily="34" charset="0"/>
              </a:rPr>
              <a:t>Fundamental Vibrations, Overtones, Combination band, Couple vibration and Fermi resonance</a:t>
            </a:r>
            <a:endParaRPr lang="en-US" dirty="0">
              <a:solidFill>
                <a:srgbClr val="FF0000"/>
              </a:solidFill>
              <a:latin typeface="Arial" pitchFamily="34" charset="0"/>
              <a:cs typeface="Arial" pitchFamily="34" charset="0"/>
            </a:endParaRP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67" t="3520" r="2051"/>
          <a:stretch/>
        </p:blipFill>
        <p:spPr bwMode="auto">
          <a:xfrm>
            <a:off x="265703" y="675641"/>
            <a:ext cx="4392838" cy="2905759"/>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550" y="3775005"/>
            <a:ext cx="6038850" cy="3006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029200" y="2209800"/>
            <a:ext cx="2082621" cy="369332"/>
          </a:xfrm>
          <a:prstGeom prst="rect">
            <a:avLst/>
          </a:prstGeom>
        </p:spPr>
        <p:txBody>
          <a:bodyPr wrap="none">
            <a:spAutoFit/>
          </a:bodyPr>
          <a:lstStyle/>
          <a:p>
            <a:r>
              <a:rPr lang="en-US" b="1" dirty="0">
                <a:solidFill>
                  <a:srgbClr val="FF0000"/>
                </a:solidFill>
                <a:latin typeface="Arial" pitchFamily="34" charset="0"/>
                <a:cs typeface="Arial" pitchFamily="34" charset="0"/>
              </a:rPr>
              <a:t>For </a:t>
            </a:r>
            <a:r>
              <a:rPr lang="en-US" b="1" dirty="0" err="1">
                <a:solidFill>
                  <a:srgbClr val="FF0000"/>
                </a:solidFill>
                <a:latin typeface="Arial" pitchFamily="34" charset="0"/>
                <a:cs typeface="Arial" pitchFamily="34" charset="0"/>
              </a:rPr>
              <a:t>HCl</a:t>
            </a:r>
            <a:r>
              <a:rPr lang="en-US" b="1" dirty="0">
                <a:solidFill>
                  <a:srgbClr val="FF0000"/>
                </a:solidFill>
                <a:latin typeface="Arial" pitchFamily="34" charset="0"/>
                <a:cs typeface="Arial" pitchFamily="34" charset="0"/>
              </a:rPr>
              <a:t> molecule</a:t>
            </a:r>
            <a:endParaRPr lang="en-US" dirty="0"/>
          </a:p>
        </p:txBody>
      </p:sp>
    </p:spTree>
    <p:extLst>
      <p:ext uri="{BB962C8B-B14F-4D97-AF65-F5344CB8AC3E}">
        <p14:creationId xmlns:p14="http://schemas.microsoft.com/office/powerpoint/2010/main" val="2257509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640081"/>
            <a:ext cx="8001000" cy="45719"/>
          </a:xfrm>
          <a:prstGeom prst="rect">
            <a:avLst/>
          </a:prstGeom>
          <a:solidFill>
            <a:srgbClr val="FF0000"/>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09600" y="76200"/>
            <a:ext cx="7924800" cy="646331"/>
          </a:xfrm>
          <a:prstGeom prst="rect">
            <a:avLst/>
          </a:prstGeom>
        </p:spPr>
        <p:txBody>
          <a:bodyPr wrap="square">
            <a:spAutoFit/>
          </a:bodyPr>
          <a:lstStyle/>
          <a:p>
            <a:pPr algn="ctr"/>
            <a:r>
              <a:rPr lang="en-US" b="1" dirty="0">
                <a:solidFill>
                  <a:srgbClr val="FF0000"/>
                </a:solidFill>
                <a:latin typeface="Arial" pitchFamily="34" charset="0"/>
                <a:cs typeface="Arial" pitchFamily="34" charset="0"/>
              </a:rPr>
              <a:t>Fundamental Vibrations, Overtones, Combination band, Couple vibration and Fermi resonance</a:t>
            </a:r>
            <a:endParaRPr lang="en-US" dirty="0">
              <a:solidFill>
                <a:srgbClr val="FF0000"/>
              </a:solidFill>
              <a:latin typeface="Arial" pitchFamily="34" charset="0"/>
              <a:cs typeface="Arial" pitchFamily="34" charset="0"/>
            </a:endParaRPr>
          </a:p>
        </p:txBody>
      </p:sp>
      <p:sp>
        <p:nvSpPr>
          <p:cNvPr id="6" name="TextBox 5"/>
          <p:cNvSpPr txBox="1"/>
          <p:nvPr/>
        </p:nvSpPr>
        <p:spPr>
          <a:xfrm>
            <a:off x="381000" y="3733800"/>
            <a:ext cx="7848600" cy="400110"/>
          </a:xfrm>
          <a:prstGeom prst="rect">
            <a:avLst/>
          </a:prstGeom>
          <a:noFill/>
        </p:spPr>
        <p:txBody>
          <a:bodyPr wrap="square" rtlCol="0">
            <a:spAutoFit/>
          </a:bodyPr>
          <a:lstStyle/>
          <a:p>
            <a:r>
              <a:rPr lang="en-US" sz="2000" b="1" dirty="0">
                <a:solidFill>
                  <a:srgbClr val="0000FF"/>
                </a:solidFill>
                <a:latin typeface="Arial" panose="020B0604020202020204" pitchFamily="34" charset="0"/>
                <a:cs typeface="Arial" panose="020B0604020202020204" pitchFamily="34" charset="0"/>
              </a:rPr>
              <a:t>Combination bands</a:t>
            </a:r>
            <a:r>
              <a:rPr lang="en-US" dirty="0"/>
              <a:t>: Coupling of two fundamental vibrations; E2 = E1 + E1’</a:t>
            </a:r>
          </a:p>
        </p:txBody>
      </p:sp>
      <p:sp>
        <p:nvSpPr>
          <p:cNvPr id="7" name="TextBox 6"/>
          <p:cNvSpPr txBox="1"/>
          <p:nvPr/>
        </p:nvSpPr>
        <p:spPr>
          <a:xfrm>
            <a:off x="1378207" y="5934670"/>
            <a:ext cx="5022593" cy="923330"/>
          </a:xfrm>
          <a:prstGeom prst="rect">
            <a:avLst/>
          </a:prstGeom>
          <a:noFill/>
        </p:spPr>
        <p:txBody>
          <a:bodyPr wrap="none" rtlCol="0">
            <a:spAutoFit/>
          </a:bodyPr>
          <a:lstStyle/>
          <a:p>
            <a:r>
              <a:rPr lang="en-US" dirty="0"/>
              <a:t>1400 cm</a:t>
            </a:r>
            <a:r>
              <a:rPr lang="en-US" baseline="30000" dirty="0"/>
              <a:t>-1</a:t>
            </a:r>
            <a:r>
              <a:rPr lang="en-US" dirty="0"/>
              <a:t>             Fundamental Frequency (</a:t>
            </a:r>
            <a:r>
              <a:rPr lang="el-GR" dirty="0"/>
              <a:t>ν</a:t>
            </a:r>
            <a:r>
              <a:rPr lang="en-US" baseline="-25000" dirty="0"/>
              <a:t>0</a:t>
            </a:r>
            <a:r>
              <a:rPr lang="en-US" dirty="0"/>
              <a:t>→</a:t>
            </a:r>
            <a:r>
              <a:rPr lang="el-GR" dirty="0"/>
              <a:t> ν</a:t>
            </a:r>
            <a:r>
              <a:rPr lang="en-US" baseline="-25000" dirty="0"/>
              <a:t>1</a:t>
            </a:r>
            <a:r>
              <a:rPr lang="en-US" dirty="0"/>
              <a:t>)</a:t>
            </a:r>
          </a:p>
          <a:p>
            <a:r>
              <a:rPr lang="en-US" dirty="0"/>
              <a:t>750 cm</a:t>
            </a:r>
            <a:r>
              <a:rPr lang="en-US" baseline="30000" dirty="0"/>
              <a:t>-1 </a:t>
            </a:r>
            <a:r>
              <a:rPr lang="en-US" dirty="0"/>
              <a:t>              Fundamental Frequency (</a:t>
            </a:r>
            <a:r>
              <a:rPr lang="el-GR" dirty="0"/>
              <a:t>ν</a:t>
            </a:r>
            <a:r>
              <a:rPr lang="en-US" baseline="-25000" dirty="0"/>
              <a:t>0’</a:t>
            </a:r>
            <a:r>
              <a:rPr lang="en-US" dirty="0"/>
              <a:t>→</a:t>
            </a:r>
            <a:r>
              <a:rPr lang="el-GR" dirty="0"/>
              <a:t> ν</a:t>
            </a:r>
            <a:r>
              <a:rPr lang="en-US" baseline="-25000" dirty="0"/>
              <a:t>1’</a:t>
            </a:r>
            <a:r>
              <a:rPr lang="en-US" dirty="0"/>
              <a:t>)</a:t>
            </a:r>
          </a:p>
          <a:p>
            <a:r>
              <a:rPr lang="en-US" dirty="0"/>
              <a:t>2150 cm</a:t>
            </a:r>
            <a:r>
              <a:rPr lang="en-US" baseline="30000" dirty="0"/>
              <a:t>-1</a:t>
            </a:r>
            <a:r>
              <a:rPr lang="en-US" dirty="0"/>
              <a:t>             Combination bands E2 = E1 + E1’</a:t>
            </a:r>
          </a:p>
        </p:txBody>
      </p:sp>
      <p:pic>
        <p:nvPicPr>
          <p:cNvPr id="8" name="Picture 7"/>
          <p:cNvPicPr>
            <a:picLocks noChangeAspect="1" noChangeArrowheads="1"/>
          </p:cNvPicPr>
          <p:nvPr/>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606216" y="4419600"/>
            <a:ext cx="4261184"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09600" y="762000"/>
            <a:ext cx="7924800"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If there are two fundamental bands at </a:t>
            </a:r>
            <a:r>
              <a:rPr lang="en-US" i="1" dirty="0">
                <a:latin typeface="Arial" panose="020B0604020202020204" pitchFamily="34" charset="0"/>
                <a:cs typeface="Arial" panose="020B0604020202020204" pitchFamily="34" charset="0"/>
              </a:rPr>
              <a:t>x </a:t>
            </a:r>
            <a:r>
              <a:rPr lang="en-US" dirty="0">
                <a:latin typeface="Arial" panose="020B0604020202020204" pitchFamily="34" charset="0"/>
                <a:cs typeface="Arial" panose="020B0604020202020204" pitchFamily="34" charset="0"/>
              </a:rPr>
              <a:t>and </a:t>
            </a:r>
            <a:r>
              <a:rPr lang="en-US" i="1" dirty="0">
                <a:latin typeface="Arial" panose="020B0604020202020204" pitchFamily="34" charset="0"/>
                <a:cs typeface="Arial" panose="020B0604020202020204" pitchFamily="34" charset="0"/>
              </a:rPr>
              <a:t>y</a:t>
            </a:r>
            <a:r>
              <a:rPr lang="en-US" dirty="0">
                <a:latin typeface="Arial" panose="020B0604020202020204" pitchFamily="34" charset="0"/>
                <a:cs typeface="Arial" panose="020B0604020202020204" pitchFamily="34" charset="0"/>
              </a:rPr>
              <a:t>, then the additional bands can be expected at: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8229600" cy="1470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9329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2044"/>
            <a:ext cx="6096000" cy="40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685055"/>
            <a:ext cx="6477000" cy="60967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4781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2044"/>
            <a:ext cx="6096000" cy="40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 name="Group 1"/>
          <p:cNvGrpSpPr/>
          <p:nvPr/>
        </p:nvGrpSpPr>
        <p:grpSpPr>
          <a:xfrm>
            <a:off x="381000" y="685800"/>
            <a:ext cx="8001000" cy="6019800"/>
            <a:chOff x="381000" y="685800"/>
            <a:chExt cx="6653213" cy="5049255"/>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6577013" cy="3365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051265"/>
              <a:ext cx="6629400" cy="168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933638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62000"/>
            <a:ext cx="8327766"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92044"/>
            <a:ext cx="6096000" cy="40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3183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381000" y="4038600"/>
            <a:ext cx="8153400" cy="2585323"/>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Fermi resonance results in the splitting of two vibrational bands that have nearly the same energy and symmetry in both IR and Raman spectroscopies. The two bands are usually a fundamental vibration and either an overtone or combination band. The wave functions for the two resonant vibrations mix according to the harmonic oscillator approximation, and the result is a shift in frequency and a change in intensity in the spectrum. As a result, two strong bands are observed in the spectrum, instead of the expected strong and weak bands. It is not possible to determine the contribution from each vibration because of the resulting mixed wave function.</a:t>
            </a:r>
          </a:p>
        </p:txBody>
      </p:sp>
      <p:graphicFrame>
        <p:nvGraphicFramePr>
          <p:cNvPr id="5" name="Object 4"/>
          <p:cNvGraphicFramePr>
            <a:graphicFrameLocks noChangeAspect="1"/>
          </p:cNvGraphicFramePr>
          <p:nvPr>
            <p:extLst>
              <p:ext uri="{D42A27DB-BD31-4B8C-83A1-F6EECF244321}">
                <p14:modId xmlns:p14="http://schemas.microsoft.com/office/powerpoint/2010/main" val="1378956244"/>
              </p:ext>
            </p:extLst>
          </p:nvPr>
        </p:nvGraphicFramePr>
        <p:xfrm>
          <a:off x="344032" y="762000"/>
          <a:ext cx="1672535" cy="1143000"/>
        </p:xfrm>
        <a:graphic>
          <a:graphicData uri="http://schemas.openxmlformats.org/presentationml/2006/ole">
            <mc:AlternateContent xmlns:mc="http://schemas.openxmlformats.org/markup-compatibility/2006">
              <mc:Choice xmlns:v="urn:schemas-microsoft-com:vml" Requires="v">
                <p:oleObj name="CS ChemDraw Drawing" r:id="rId2" imgW="1328563" imgH="907915" progId="ChemDraw.Document.6.0">
                  <p:embed/>
                </p:oleObj>
              </mc:Choice>
              <mc:Fallback>
                <p:oleObj name="CS ChemDraw Drawing" r:id="rId2" imgW="1328563" imgH="907915" progId="ChemDraw.Document.6.0">
                  <p:embed/>
                  <p:pic>
                    <p:nvPicPr>
                      <p:cNvPr id="0" name=""/>
                      <p:cNvPicPr/>
                      <p:nvPr/>
                    </p:nvPicPr>
                    <p:blipFill>
                      <a:blip r:embed="rId3"/>
                      <a:stretch>
                        <a:fillRect/>
                      </a:stretch>
                    </p:blipFill>
                    <p:spPr>
                      <a:xfrm>
                        <a:off x="344032" y="762000"/>
                        <a:ext cx="1672535" cy="1143000"/>
                      </a:xfrm>
                      <a:prstGeom prst="rect">
                        <a:avLst/>
                      </a:prstGeom>
                    </p:spPr>
                  </p:pic>
                </p:oleObj>
              </mc:Fallback>
            </mc:AlternateContent>
          </a:graphicData>
        </a:graphic>
      </p:graphicFrame>
      <p:sp>
        <p:nvSpPr>
          <p:cNvPr id="6" name="TextBox 5"/>
          <p:cNvSpPr txBox="1"/>
          <p:nvPr/>
        </p:nvSpPr>
        <p:spPr>
          <a:xfrm>
            <a:off x="2286000" y="628471"/>
            <a:ext cx="6685613" cy="923330"/>
          </a:xfrm>
          <a:prstGeom prst="rect">
            <a:avLst/>
          </a:prstGeom>
          <a:noFill/>
        </p:spPr>
        <p:txBody>
          <a:bodyPr wrap="none" rtlCol="0">
            <a:spAutoFit/>
          </a:bodyPr>
          <a:lstStyle/>
          <a:p>
            <a:pPr marL="342900" indent="-342900">
              <a:buAutoNum type="arabicPeriod"/>
            </a:pPr>
            <a:r>
              <a:rPr lang="en-US" dirty="0"/>
              <a:t>C-H stretching = 2800 cm</a:t>
            </a:r>
            <a:r>
              <a:rPr lang="en-US" baseline="30000" dirty="0"/>
              <a:t>-1</a:t>
            </a:r>
            <a:r>
              <a:rPr lang="en-US" dirty="0"/>
              <a:t> (Fundamental)</a:t>
            </a:r>
          </a:p>
          <a:p>
            <a:pPr marL="342900" indent="-342900">
              <a:buFontTx/>
              <a:buAutoNum type="arabicPeriod"/>
            </a:pPr>
            <a:r>
              <a:rPr lang="en-US" dirty="0"/>
              <a:t>C-H bending = 1390 cm</a:t>
            </a:r>
            <a:r>
              <a:rPr lang="en-US" baseline="30000" dirty="0"/>
              <a:t>-1</a:t>
            </a:r>
            <a:r>
              <a:rPr lang="en-US" dirty="0"/>
              <a:t> (Fundamental) and 2780 cm</a:t>
            </a:r>
            <a:r>
              <a:rPr lang="en-US" baseline="30000" dirty="0"/>
              <a:t>-1 </a:t>
            </a:r>
            <a:r>
              <a:rPr lang="en-US" dirty="0"/>
              <a:t>(overtone)</a:t>
            </a:r>
          </a:p>
          <a:p>
            <a:pPr marL="342900" indent="-342900">
              <a:buFontTx/>
              <a:buAutoNum type="arabicPeriod"/>
            </a:pPr>
            <a:r>
              <a:rPr lang="en-US" dirty="0"/>
              <a:t>Fermi Resonance at 2820 and 2720 cm</a:t>
            </a:r>
            <a:r>
              <a:rPr lang="en-US" baseline="30000" dirty="0"/>
              <a:t>-1 .</a:t>
            </a:r>
            <a:r>
              <a:rPr lang="en-US" dirty="0"/>
              <a:t> </a:t>
            </a:r>
          </a:p>
        </p:txBody>
      </p:sp>
      <p:sp>
        <p:nvSpPr>
          <p:cNvPr id="7" name="Rectangle 6"/>
          <p:cNvSpPr/>
          <p:nvPr/>
        </p:nvSpPr>
        <p:spPr>
          <a:xfrm>
            <a:off x="2756287" y="0"/>
            <a:ext cx="2751074" cy="461665"/>
          </a:xfrm>
          <a:prstGeom prst="rect">
            <a:avLst/>
          </a:prstGeom>
        </p:spPr>
        <p:txBody>
          <a:bodyPr wrap="none">
            <a:spAutoFit/>
          </a:bodyPr>
          <a:lstStyle/>
          <a:p>
            <a:r>
              <a:rPr lang="en-US" sz="2400" b="1" dirty="0">
                <a:solidFill>
                  <a:srgbClr val="0000FF"/>
                </a:solidFill>
                <a:latin typeface="Arial" panose="020B0604020202020204" pitchFamily="34" charset="0"/>
                <a:cs typeface="Arial" panose="020B0604020202020204" pitchFamily="34" charset="0"/>
              </a:rPr>
              <a:t>Fermi Resonance</a:t>
            </a:r>
            <a:endParaRPr lang="en-US" b="1" dirty="0">
              <a:solidFill>
                <a:srgbClr val="0000FF"/>
              </a:solidFill>
              <a:latin typeface="Arial" panose="020B0604020202020204" pitchFamily="34" charset="0"/>
              <a:cs typeface="Arial" panose="020B0604020202020204" pitchFamily="34" charset="0"/>
            </a:endParaRPr>
          </a:p>
        </p:txBody>
      </p:sp>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9075" y="1639542"/>
            <a:ext cx="2618286" cy="2246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1387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8100"/>
            <a:ext cx="448627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685800"/>
            <a:ext cx="8295754"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69" y="3200400"/>
            <a:ext cx="8130931"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10200" y="4443637"/>
            <a:ext cx="3550198" cy="737963"/>
          </a:xfrm>
          <a:prstGeom prst="rect">
            <a:avLst/>
          </a:prstGeom>
          <a:noFill/>
          <a:ln w="952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972582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514600"/>
            <a:ext cx="8235938"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descr="Benzene Aromatic Hydrocarbon Molecule Photograph by Molekuul - Pixel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6196" y="838200"/>
            <a:ext cx="1791269" cy="1600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8100"/>
            <a:ext cx="448627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89665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57200" y="563881"/>
            <a:ext cx="8153400"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838200"/>
            <a:ext cx="8434585"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8100"/>
            <a:ext cx="448627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3560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4815"/>
          <a:stretch/>
        </p:blipFill>
        <p:spPr bwMode="auto">
          <a:xfrm>
            <a:off x="389466" y="829733"/>
            <a:ext cx="8294805" cy="2142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807039"/>
            <a:ext cx="7010400" cy="1974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590800" y="76200"/>
            <a:ext cx="3839000" cy="523220"/>
          </a:xfrm>
          <a:prstGeom prst="rect">
            <a:avLst/>
          </a:prstGeom>
          <a:noFill/>
        </p:spPr>
        <p:txBody>
          <a:bodyPr wrap="none" rtlCol="0">
            <a:spAutoFit/>
          </a:bodyPr>
          <a:lstStyle/>
          <a:p>
            <a:r>
              <a:rPr lang="en-US" sz="2800" b="1" dirty="0">
                <a:solidFill>
                  <a:srgbClr val="0000FF"/>
                </a:solidFill>
                <a:latin typeface="Arial" panose="020B0604020202020204" pitchFamily="34" charset="0"/>
                <a:cs typeface="Arial" panose="020B0604020202020204" pitchFamily="34" charset="0"/>
              </a:rPr>
              <a:t>Water (C</a:t>
            </a:r>
            <a:r>
              <a:rPr lang="en-US" sz="2800" b="1" baseline="-25000" dirty="0">
                <a:solidFill>
                  <a:srgbClr val="0000FF"/>
                </a:solidFill>
                <a:latin typeface="Arial" panose="020B0604020202020204" pitchFamily="34" charset="0"/>
                <a:cs typeface="Arial" panose="020B0604020202020204" pitchFamily="34" charset="0"/>
              </a:rPr>
              <a:t>2v </a:t>
            </a:r>
            <a:r>
              <a:rPr lang="en-US" sz="2800" b="1" dirty="0">
                <a:solidFill>
                  <a:srgbClr val="0000FF"/>
                </a:solidFill>
                <a:latin typeface="Arial" panose="020B0604020202020204" pitchFamily="34" charset="0"/>
                <a:cs typeface="Arial" panose="020B0604020202020204" pitchFamily="34" charset="0"/>
              </a:rPr>
              <a:t>Symmetry)</a:t>
            </a:r>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3048000"/>
            <a:ext cx="2743200" cy="1386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2971800"/>
            <a:ext cx="2190496"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6389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38400"/>
            <a:ext cx="5828610"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1256" y="762001"/>
            <a:ext cx="4477544" cy="13300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505200" y="24825"/>
            <a:ext cx="1391728" cy="584775"/>
          </a:xfrm>
          <a:prstGeom prst="rect">
            <a:avLst/>
          </a:prstGeom>
          <a:noFill/>
        </p:spPr>
        <p:txBody>
          <a:bodyPr wrap="none" rtlCol="0">
            <a:spAutoFit/>
          </a:bodyPr>
          <a:lstStyle/>
          <a:p>
            <a:r>
              <a:rPr lang="en-US" sz="3200" b="1" dirty="0">
                <a:solidFill>
                  <a:srgbClr val="0000FF"/>
                </a:solidFill>
                <a:latin typeface="Arial" panose="020B0604020202020204" pitchFamily="34" charset="0"/>
                <a:cs typeface="Arial" panose="020B0604020202020204" pitchFamily="34" charset="0"/>
              </a:rPr>
              <a:t>Matrix</a:t>
            </a:r>
          </a:p>
        </p:txBody>
      </p:sp>
      <p:sp>
        <p:nvSpPr>
          <p:cNvPr id="3" name="Rectangle 2"/>
          <p:cNvSpPr/>
          <p:nvPr/>
        </p:nvSpPr>
        <p:spPr>
          <a:xfrm>
            <a:off x="762000" y="2057400"/>
            <a:ext cx="6172200" cy="369332"/>
          </a:xfrm>
          <a:prstGeom prst="rect">
            <a:avLst/>
          </a:prstGeom>
        </p:spPr>
        <p:txBody>
          <a:bodyPr wrap="square">
            <a:spAutoFit/>
          </a:bodyPr>
          <a:lstStyle/>
          <a:p>
            <a:r>
              <a:rPr lang="en-US" dirty="0">
                <a:latin typeface="Arial" panose="020B0604020202020204" pitchFamily="34" charset="0"/>
                <a:cs typeface="Arial" panose="020B0604020202020204" pitchFamily="34" charset="0"/>
              </a:rPr>
              <a:t>The full 9 x 9 matrix for </a:t>
            </a:r>
            <a:r>
              <a:rPr lang="en-US" i="1" dirty="0">
                <a:latin typeface="Arial" panose="020B0604020202020204" pitchFamily="34" charset="0"/>
                <a:cs typeface="Arial" panose="020B0604020202020204" pitchFamily="34" charset="0"/>
              </a:rPr>
              <a:t>C</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operation is shown below </a:t>
            </a:r>
          </a:p>
        </p:txBody>
      </p:sp>
      <p:sp>
        <p:nvSpPr>
          <p:cNvPr id="7" name="TextBox 6"/>
          <p:cNvSpPr txBox="1"/>
          <p:nvPr/>
        </p:nvSpPr>
        <p:spPr>
          <a:xfrm>
            <a:off x="2209800" y="6120825"/>
            <a:ext cx="2930610" cy="584775"/>
          </a:xfrm>
          <a:prstGeom prst="rect">
            <a:avLst/>
          </a:prstGeom>
          <a:noFill/>
        </p:spPr>
        <p:txBody>
          <a:bodyPr wrap="none" rtlCol="0">
            <a:spAutoFit/>
          </a:bodyPr>
          <a:lstStyle/>
          <a:p>
            <a:r>
              <a:rPr lang="en-US" sz="3200" b="1" dirty="0">
                <a:solidFill>
                  <a:srgbClr val="0000FF"/>
                </a:solidFill>
                <a:latin typeface="Arial" panose="020B0604020202020204" pitchFamily="34" charset="0"/>
                <a:cs typeface="Arial" panose="020B0604020202020204" pitchFamily="34" charset="0"/>
              </a:rPr>
              <a:t>Character = -1</a:t>
            </a:r>
          </a:p>
        </p:txBody>
      </p:sp>
    </p:spTree>
    <p:extLst>
      <p:ext uri="{BB962C8B-B14F-4D97-AF65-F5344CB8AC3E}">
        <p14:creationId xmlns:p14="http://schemas.microsoft.com/office/powerpoint/2010/main" val="2704704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2514600"/>
            <a:ext cx="9115425"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838200"/>
            <a:ext cx="2743200" cy="1386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762000"/>
            <a:ext cx="2190496"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1066800" y="6239470"/>
            <a:ext cx="7543800" cy="369332"/>
          </a:xfrm>
          <a:prstGeom prst="rect">
            <a:avLst/>
          </a:prstGeom>
        </p:spPr>
        <p:txBody>
          <a:bodyPr wrap="square">
            <a:spAutoFit/>
          </a:bodyPr>
          <a:lstStyle/>
          <a:p>
            <a:pPr algn="just"/>
            <a:r>
              <a:rPr lang="en-US" dirty="0">
                <a:latin typeface="Arial" panose="020B0604020202020204" pitchFamily="34" charset="0"/>
                <a:cs typeface="Arial" panose="020B0604020202020204" pitchFamily="34" charset="0"/>
              </a:rPr>
              <a:t>The sum of the principal diagonal = </a:t>
            </a:r>
            <a:r>
              <a:rPr lang="el-GR" i="1" dirty="0">
                <a:latin typeface="Times New Roman" panose="02020603050405020304" pitchFamily="18" charset="0"/>
                <a:cs typeface="Times New Roman" panose="02020603050405020304" pitchFamily="18" charset="0"/>
              </a:rPr>
              <a:t>χ</a:t>
            </a:r>
            <a:r>
              <a:rPr lang="en-US" dirty="0">
                <a:latin typeface="Arial" panose="020B0604020202020204" pitchFamily="34" charset="0"/>
                <a:cs typeface="Arial" panose="020B0604020202020204" pitchFamily="34" charset="0"/>
              </a:rPr>
              <a:t>(</a:t>
            </a:r>
            <a:r>
              <a:rPr lang="en-US" i="1" dirty="0" err="1">
                <a:latin typeface="Times New Roman" panose="02020603050405020304" pitchFamily="18" charset="0"/>
                <a:cs typeface="Times New Roman" panose="02020603050405020304" pitchFamily="18" charset="0"/>
              </a:rPr>
              <a:t>σ</a:t>
            </a:r>
            <a:r>
              <a:rPr lang="en-US" i="1" baseline="-25000" dirty="0" err="1">
                <a:latin typeface="Arial" panose="020B0604020202020204" pitchFamily="34" charset="0"/>
                <a:cs typeface="Arial" panose="020B0604020202020204" pitchFamily="34" charset="0"/>
              </a:rPr>
              <a:t>v</a:t>
            </a:r>
            <a:r>
              <a:rPr lang="en-US" i="1" dirty="0">
                <a:latin typeface="Arial" panose="020B0604020202020204" pitchFamily="34" charset="0"/>
                <a:cs typeface="Arial" panose="020B0604020202020204" pitchFamily="34" charset="0"/>
              </a:rPr>
              <a:t>(</a:t>
            </a:r>
            <a:r>
              <a:rPr lang="en-US" i="1" dirty="0" err="1">
                <a:latin typeface="Arial" panose="020B0604020202020204" pitchFamily="34" charset="0"/>
                <a:cs typeface="Arial" panose="020B0604020202020204" pitchFamily="34" charset="0"/>
              </a:rPr>
              <a:t>yz</a:t>
            </a:r>
            <a:r>
              <a:rPr lang="en-US" i="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 (-1) + (1) + (1) = 1. </a:t>
            </a:r>
          </a:p>
        </p:txBody>
      </p:sp>
    </p:spTree>
    <p:extLst>
      <p:ext uri="{BB962C8B-B14F-4D97-AF65-F5344CB8AC3E}">
        <p14:creationId xmlns:p14="http://schemas.microsoft.com/office/powerpoint/2010/main" val="619544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67" y="838200"/>
            <a:ext cx="8611084" cy="347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724400"/>
            <a:ext cx="3747408"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648200"/>
            <a:ext cx="2788194"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8646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8333"/>
          <a:stretch/>
        </p:blipFill>
        <p:spPr bwMode="auto">
          <a:xfrm>
            <a:off x="381000" y="838200"/>
            <a:ext cx="7230533" cy="2908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219200" y="164068"/>
            <a:ext cx="7066358" cy="400110"/>
          </a:xfrm>
          <a:prstGeom prst="rect">
            <a:avLst/>
          </a:prstGeom>
          <a:noFill/>
        </p:spPr>
        <p:txBody>
          <a:bodyPr wrap="none" rtlCol="0">
            <a:spAutoFit/>
          </a:bodyPr>
          <a:lstStyle/>
          <a:p>
            <a:r>
              <a:rPr lang="en-US" sz="2000" b="1" dirty="0">
                <a:solidFill>
                  <a:srgbClr val="0000FF"/>
                </a:solidFill>
                <a:latin typeface="Arial" panose="020B0604020202020204" pitchFamily="34" charset="0"/>
                <a:cs typeface="Arial" panose="020B0604020202020204" pitchFamily="34" charset="0"/>
              </a:rPr>
              <a:t>Reducing Representations to Irreducible Representation</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3810000"/>
            <a:ext cx="7774851"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12210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57" y="3484033"/>
            <a:ext cx="8354343" cy="3297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838200"/>
            <a:ext cx="7580671" cy="201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810456"/>
            <a:ext cx="6769100" cy="521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7925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672" y="4487333"/>
            <a:ext cx="758865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729" y="956733"/>
            <a:ext cx="7580671" cy="201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365023"/>
            <a:ext cx="6769100" cy="521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8882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386170"/>
            <a:ext cx="7391399" cy="2395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1" y="2743200"/>
            <a:ext cx="5691492"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8929" y="762000"/>
            <a:ext cx="5066071" cy="1346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133600"/>
            <a:ext cx="6769100" cy="521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4209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785300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867" y="3886200"/>
            <a:ext cx="7692137" cy="1420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1306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033" y="990600"/>
            <a:ext cx="8763000" cy="3105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08648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46" name="Picture 2"/>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81000" y="809626"/>
            <a:ext cx="8229600" cy="4715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381000" y="1447800"/>
            <a:ext cx="6229350"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198633"/>
            <a:ext cx="7973483" cy="3287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2637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7170" name="Picture 2"/>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61925" y="800100"/>
            <a:ext cx="8601075"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76200" y="1828800"/>
            <a:ext cx="8667750"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3423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 y="814752"/>
            <a:ext cx="7405688" cy="2614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81000" y="3352800"/>
            <a:ext cx="7391400" cy="674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4191000"/>
            <a:ext cx="6200775"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3482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 y="782319"/>
            <a:ext cx="8115300" cy="2288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200400"/>
            <a:ext cx="7781925"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14642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963" y="731519"/>
            <a:ext cx="8677275" cy="93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67" y="1686199"/>
            <a:ext cx="5960533" cy="1057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680379"/>
            <a:ext cx="6400800" cy="1891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088" y="4724401"/>
            <a:ext cx="7173912" cy="1057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3935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5831" b="2987"/>
          <a:stretch/>
        </p:blipFill>
        <p:spPr bwMode="auto">
          <a:xfrm>
            <a:off x="202716" y="838200"/>
            <a:ext cx="8611084" cy="21251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114675"/>
            <a:ext cx="4038600"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709458"/>
            <a:ext cx="8077200" cy="20148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6373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1" y="795528"/>
            <a:ext cx="6248400" cy="499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29" y="1219200"/>
            <a:ext cx="7040571" cy="14328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652099"/>
            <a:ext cx="1419225"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1676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211" y="762000"/>
            <a:ext cx="7372189" cy="34486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4267200"/>
            <a:ext cx="7391399" cy="2395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0643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380" y="762000"/>
            <a:ext cx="7778220" cy="1854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590800"/>
            <a:ext cx="7319962" cy="23857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5181600"/>
            <a:ext cx="8620125"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9598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56919"/>
            <a:ext cx="6705600" cy="21855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95600"/>
            <a:ext cx="8001000" cy="636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1" y="3581400"/>
            <a:ext cx="8205789" cy="13424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3716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067" y="2351617"/>
            <a:ext cx="8088313"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1" y="731519"/>
            <a:ext cx="7010400" cy="1146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513" y="1828800"/>
            <a:ext cx="8562975"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7994" y="5195128"/>
            <a:ext cx="6707206" cy="519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375" y="5715000"/>
            <a:ext cx="7820025" cy="851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3933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741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681"/>
          <a:stretch/>
        </p:blipFill>
        <p:spPr bwMode="auto">
          <a:xfrm>
            <a:off x="273050" y="2971800"/>
            <a:ext cx="8648700" cy="25061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525" y="5514975"/>
            <a:ext cx="8658225" cy="1266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765386"/>
            <a:ext cx="6341533" cy="221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1417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765386"/>
            <a:ext cx="6341533" cy="221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24200"/>
            <a:ext cx="68580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505200"/>
            <a:ext cx="1524000"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4060825"/>
            <a:ext cx="8610600"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566" y="5105400"/>
            <a:ext cx="7591425"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181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599" y="3344188"/>
            <a:ext cx="7721601" cy="3513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765386"/>
            <a:ext cx="7204186" cy="2511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5307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2" y="838200"/>
            <a:ext cx="8658225" cy="3590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734402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74549"/>
            <a:ext cx="7924800" cy="867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872846"/>
            <a:ext cx="6454395" cy="29371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602722"/>
            <a:ext cx="7867650" cy="22552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52113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838200"/>
            <a:ext cx="8391525" cy="17994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721840"/>
            <a:ext cx="8281987" cy="2154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1245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831" y="1100851"/>
            <a:ext cx="6233688" cy="165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757868"/>
            <a:ext cx="2427921" cy="315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311" y="3858690"/>
            <a:ext cx="5492295" cy="1780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6" name="Picture 8"/>
          <p:cNvPicPr>
            <a:picLocks noChangeAspect="1" noChangeArrowheads="1"/>
          </p:cNvPicPr>
          <p:nvPr/>
        </p:nvPicPr>
        <p:blipFill rotWithShape="1">
          <a:blip r:embed="rId5">
            <a:extLst>
              <a:ext uri="{28A0092B-C50C-407E-A947-70E740481C1C}">
                <a14:useLocalDpi xmlns:a14="http://schemas.microsoft.com/office/drawing/2010/main" val="0"/>
              </a:ext>
            </a:extLst>
          </a:blip>
          <a:srcRect b="38129"/>
          <a:stretch/>
        </p:blipFill>
        <p:spPr bwMode="auto">
          <a:xfrm>
            <a:off x="97628" y="5638800"/>
            <a:ext cx="8605603"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4335412"/>
            <a:ext cx="2743200" cy="846188"/>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81000" y="731519"/>
            <a:ext cx="7015062"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Which of the vibrations of H</a:t>
            </a:r>
            <a:r>
              <a:rPr lang="en-US" b="1" baseline="-25000" dirty="0">
                <a:solidFill>
                  <a:srgbClr val="FF0000"/>
                </a:solidFill>
                <a:latin typeface="Arial" panose="020B0604020202020204" pitchFamily="34" charset="0"/>
                <a:cs typeface="Arial" panose="020B0604020202020204" pitchFamily="34" charset="0"/>
              </a:rPr>
              <a:t>2</a:t>
            </a:r>
            <a:r>
              <a:rPr lang="en-US" b="1" dirty="0">
                <a:solidFill>
                  <a:srgbClr val="FF0000"/>
                </a:solidFill>
                <a:latin typeface="Arial" panose="020B0604020202020204" pitchFamily="34" charset="0"/>
                <a:cs typeface="Arial" panose="020B0604020202020204" pitchFamily="34" charset="0"/>
              </a:rPr>
              <a:t>O are infrared and Raman active?</a:t>
            </a:r>
          </a:p>
        </p:txBody>
      </p:sp>
      <p:pic>
        <p:nvPicPr>
          <p:cNvPr id="7178"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6523" y="3073745"/>
            <a:ext cx="7684477" cy="29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9"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3475" y="3371388"/>
            <a:ext cx="7966126" cy="334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305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5964237"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814" y="1143000"/>
            <a:ext cx="7204186" cy="2511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601" y="3721100"/>
            <a:ext cx="5613400" cy="482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203109"/>
            <a:ext cx="3799408" cy="428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572000" y="4232790"/>
            <a:ext cx="1089594" cy="400110"/>
          </a:xfrm>
          <a:prstGeom prst="rect">
            <a:avLst/>
          </a:prstGeom>
          <a:noFill/>
        </p:spPr>
        <p:txBody>
          <a:bodyPr wrap="none" rtlCol="0">
            <a:spAutoFit/>
          </a:bodyPr>
          <a:lstStyle/>
          <a:p>
            <a:r>
              <a:rPr lang="en-US" sz="2000" b="1" dirty="0">
                <a:solidFill>
                  <a:srgbClr val="0000FF"/>
                </a:solidFill>
              </a:rPr>
              <a:t>IR active</a:t>
            </a:r>
          </a:p>
        </p:txBody>
      </p:sp>
      <p:pic>
        <p:nvPicPr>
          <p:cNvPr id="819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813" y="4648200"/>
            <a:ext cx="6834187" cy="640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9"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5295900"/>
            <a:ext cx="554355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0"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3131" y="5791200"/>
            <a:ext cx="7286869" cy="1061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83892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396" y="4322096"/>
            <a:ext cx="7611004" cy="2459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57" t="3574" r="4114"/>
          <a:stretch/>
        </p:blipFill>
        <p:spPr bwMode="auto">
          <a:xfrm>
            <a:off x="542396" y="762000"/>
            <a:ext cx="7548712" cy="2695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792" y="3457506"/>
            <a:ext cx="3799408" cy="428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724400" y="3486090"/>
            <a:ext cx="1089594" cy="400110"/>
          </a:xfrm>
          <a:prstGeom prst="rect">
            <a:avLst/>
          </a:prstGeom>
          <a:noFill/>
        </p:spPr>
        <p:txBody>
          <a:bodyPr wrap="none" rtlCol="0">
            <a:spAutoFit/>
          </a:bodyPr>
          <a:lstStyle/>
          <a:p>
            <a:r>
              <a:rPr lang="en-US" sz="2000" b="1" dirty="0">
                <a:solidFill>
                  <a:srgbClr val="0000FF"/>
                </a:solidFill>
              </a:rPr>
              <a:t>IR active</a:t>
            </a:r>
          </a:p>
        </p:txBody>
      </p:sp>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3848100"/>
            <a:ext cx="5543550" cy="49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0919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785300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005" y="3429000"/>
            <a:ext cx="760719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4813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5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990600"/>
            <a:ext cx="6400800" cy="453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81076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2924175" cy="267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371600"/>
            <a:ext cx="3352800" cy="1013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3657600"/>
            <a:ext cx="2962275"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9224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1"/>
            <a:ext cx="2133600" cy="1952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3133" y="914400"/>
            <a:ext cx="3352800" cy="1013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333" y="2714905"/>
            <a:ext cx="7239000" cy="25090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5223920"/>
            <a:ext cx="5791200" cy="136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45465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392" y="838200"/>
            <a:ext cx="7568608"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0763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799" y="2590801"/>
            <a:ext cx="7432401" cy="435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838200"/>
            <a:ext cx="2438400" cy="17614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474643" y="1276290"/>
            <a:ext cx="2154757"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Point group: C</a:t>
            </a:r>
            <a:r>
              <a:rPr lang="en-US" sz="2000" b="1" baseline="-25000" dirty="0">
                <a:latin typeface="Arial" panose="020B0604020202020204" pitchFamily="34" charset="0"/>
                <a:cs typeface="Arial" panose="020B0604020202020204" pitchFamily="34" charset="0"/>
              </a:rPr>
              <a:t>3v</a:t>
            </a:r>
          </a:p>
        </p:txBody>
      </p:sp>
      <p:sp>
        <p:nvSpPr>
          <p:cNvPr id="8" name="TextBox 7"/>
          <p:cNvSpPr txBox="1"/>
          <p:nvPr/>
        </p:nvSpPr>
        <p:spPr>
          <a:xfrm>
            <a:off x="4191000" y="1962090"/>
            <a:ext cx="4285147"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Symmetry element: E    2C</a:t>
            </a:r>
            <a:r>
              <a:rPr lang="en-US" sz="2000" b="1" baseline="-25000" dirty="0">
                <a:latin typeface="Arial" panose="020B0604020202020204" pitchFamily="34" charset="0"/>
                <a:cs typeface="Arial" panose="020B0604020202020204" pitchFamily="34" charset="0"/>
              </a:rPr>
              <a:t>3</a:t>
            </a:r>
            <a:r>
              <a:rPr lang="en-US" sz="2000" b="1" dirty="0">
                <a:latin typeface="Arial" panose="020B0604020202020204" pitchFamily="34" charset="0"/>
                <a:cs typeface="Arial" panose="020B0604020202020204" pitchFamily="34" charset="0"/>
              </a:rPr>
              <a:t>    3</a:t>
            </a:r>
            <a:r>
              <a:rPr lang="el-GR" sz="2000" b="1" dirty="0">
                <a:latin typeface="Arial" panose="020B0604020202020204" pitchFamily="34" charset="0"/>
                <a:cs typeface="Arial" panose="020B0604020202020204" pitchFamily="34" charset="0"/>
              </a:rPr>
              <a:t>σ</a:t>
            </a:r>
            <a:r>
              <a:rPr lang="en-US" sz="2000" b="1" baseline="-25000" dirty="0">
                <a:latin typeface="Arial" panose="020B0604020202020204" pitchFamily="34" charset="0"/>
                <a:cs typeface="Arial" panose="020B0604020202020204" pitchFamily="34" charset="0"/>
              </a:rPr>
              <a:t>v</a:t>
            </a:r>
          </a:p>
        </p:txBody>
      </p:sp>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399" y="3091392"/>
            <a:ext cx="7788795" cy="1137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425" y="4257675"/>
            <a:ext cx="8486775" cy="92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5165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799" y="2362200"/>
            <a:ext cx="6594201" cy="38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838201"/>
            <a:ext cx="2109669"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114800" y="1082525"/>
            <a:ext cx="2154757"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Point group: C</a:t>
            </a:r>
            <a:r>
              <a:rPr lang="en-US" sz="2000" b="1" baseline="-25000" dirty="0">
                <a:latin typeface="Arial" panose="020B0604020202020204" pitchFamily="34" charset="0"/>
                <a:cs typeface="Arial" panose="020B0604020202020204" pitchFamily="34" charset="0"/>
              </a:rPr>
              <a:t>3v</a:t>
            </a:r>
          </a:p>
        </p:txBody>
      </p:sp>
      <p:sp>
        <p:nvSpPr>
          <p:cNvPr id="8" name="TextBox 7"/>
          <p:cNvSpPr txBox="1"/>
          <p:nvPr/>
        </p:nvSpPr>
        <p:spPr>
          <a:xfrm>
            <a:off x="4114800" y="1600201"/>
            <a:ext cx="4285147"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Symmetry element: E    2C</a:t>
            </a:r>
            <a:r>
              <a:rPr lang="en-US" sz="2000" b="1" baseline="-25000" dirty="0">
                <a:latin typeface="Arial" panose="020B0604020202020204" pitchFamily="34" charset="0"/>
                <a:cs typeface="Arial" panose="020B0604020202020204" pitchFamily="34" charset="0"/>
              </a:rPr>
              <a:t>3</a:t>
            </a:r>
            <a:r>
              <a:rPr lang="en-US" sz="2000" b="1" dirty="0">
                <a:latin typeface="Arial" panose="020B0604020202020204" pitchFamily="34" charset="0"/>
                <a:cs typeface="Arial" panose="020B0604020202020204" pitchFamily="34" charset="0"/>
              </a:rPr>
              <a:t>    3</a:t>
            </a:r>
            <a:r>
              <a:rPr lang="el-GR" sz="2000" b="1" dirty="0">
                <a:latin typeface="Arial" panose="020B0604020202020204" pitchFamily="34" charset="0"/>
                <a:cs typeface="Arial" panose="020B0604020202020204" pitchFamily="34" charset="0"/>
              </a:rPr>
              <a:t>σ</a:t>
            </a:r>
            <a:r>
              <a:rPr lang="en-US" sz="2000" b="1" baseline="-25000" dirty="0">
                <a:latin typeface="Arial" panose="020B0604020202020204" pitchFamily="34" charset="0"/>
                <a:cs typeface="Arial" panose="020B0604020202020204" pitchFamily="34" charset="0"/>
              </a:rPr>
              <a:t>v</a:t>
            </a:r>
          </a:p>
        </p:txBody>
      </p:sp>
      <p:pic>
        <p:nvPicPr>
          <p:cNvPr id="615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212" y="2743200"/>
            <a:ext cx="7519988" cy="818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427" y="3581401"/>
            <a:ext cx="8168173" cy="1819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5486400"/>
            <a:ext cx="952500"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81373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590800"/>
            <a:ext cx="8801100" cy="407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990600"/>
            <a:ext cx="2109669"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15178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2133600"/>
            <a:ext cx="7658100" cy="1109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9649" y="830000"/>
            <a:ext cx="1773449" cy="130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t="14815"/>
          <a:stretch/>
        </p:blipFill>
        <p:spPr bwMode="auto">
          <a:xfrm>
            <a:off x="2476500" y="2971802"/>
            <a:ext cx="3695700" cy="686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593706"/>
            <a:ext cx="6858000" cy="1190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550" y="4784064"/>
            <a:ext cx="6267450" cy="1566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78341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4343400"/>
            <a:ext cx="8353425" cy="22514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00" y="807718"/>
            <a:ext cx="2529411" cy="1859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042" y="3200401"/>
            <a:ext cx="4026958" cy="10067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1" y="914400"/>
            <a:ext cx="5486400" cy="1520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95268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550" y="838200"/>
            <a:ext cx="8724900" cy="122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9" y="2066925"/>
            <a:ext cx="7072312" cy="1682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740521"/>
            <a:ext cx="8477250"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53266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8200"/>
            <a:ext cx="8763000" cy="3009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819398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801148"/>
            <a:ext cx="8153400" cy="21706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871258"/>
            <a:ext cx="3971925" cy="120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533" y="4343400"/>
            <a:ext cx="7600950" cy="124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69098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 y="784859"/>
            <a:ext cx="6737549" cy="18059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1" y="2590800"/>
            <a:ext cx="3266008" cy="986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657600"/>
            <a:ext cx="7853004"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06802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90600"/>
            <a:ext cx="2590800" cy="176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038600"/>
            <a:ext cx="5840413"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199" y="2121520"/>
            <a:ext cx="4724401" cy="12663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5345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94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05946"/>
            <a:ext cx="5745163"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69606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4098" name="Picture 2"/>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440266" y="838200"/>
            <a:ext cx="7713134" cy="31738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484132"/>
            <a:ext cx="6297794" cy="1688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533400" y="4114800"/>
            <a:ext cx="5907899"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The character Table for NH</a:t>
            </a:r>
            <a:r>
              <a:rPr lang="en-US" b="1" baseline="-25000" dirty="0">
                <a:latin typeface="Arial" panose="020B0604020202020204" pitchFamily="34" charset="0"/>
                <a:cs typeface="Arial" panose="020B0604020202020204" pitchFamily="34" charset="0"/>
              </a:rPr>
              <a:t>3</a:t>
            </a:r>
            <a:r>
              <a:rPr lang="en-US" b="1" dirty="0">
                <a:latin typeface="Arial" panose="020B0604020202020204" pitchFamily="34" charset="0"/>
                <a:cs typeface="Arial" panose="020B0604020202020204" pitchFamily="34" charset="0"/>
              </a:rPr>
              <a:t> molecule is given below</a:t>
            </a:r>
          </a:p>
        </p:txBody>
      </p:sp>
    </p:spTree>
    <p:extLst>
      <p:ext uri="{BB962C8B-B14F-4D97-AF65-F5344CB8AC3E}">
        <p14:creationId xmlns:p14="http://schemas.microsoft.com/office/powerpoint/2010/main" val="136416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122" name="Picture 2"/>
          <p:cNvPicPr>
            <a:picLocks noChangeAspect="1" noChangeArrowheads="1"/>
          </p:cNvPicPr>
          <p:nvPr/>
        </p:nvPicPr>
        <p:blipFill>
          <a:blip r:embed="rId2">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447675" y="918105"/>
            <a:ext cx="7553325" cy="58674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604191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409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t="5735"/>
          <a:stretch/>
        </p:blipFill>
        <p:spPr bwMode="auto">
          <a:xfrm>
            <a:off x="1828800" y="886881"/>
            <a:ext cx="2800350" cy="1113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9363" y="2057400"/>
            <a:ext cx="5202237" cy="1668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325072"/>
            <a:ext cx="2085975"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762000"/>
            <a:ext cx="1200150" cy="132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5867400" y="1002268"/>
            <a:ext cx="1895071"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Point Group: T</a:t>
            </a:r>
            <a:r>
              <a:rPr lang="en-US" b="1" baseline="-25000" dirty="0">
                <a:latin typeface="Arial" panose="020B0604020202020204" pitchFamily="34" charset="0"/>
                <a:cs typeface="Arial" panose="020B0604020202020204" pitchFamily="34" charset="0"/>
              </a:rPr>
              <a:t>d</a:t>
            </a:r>
          </a:p>
        </p:txBody>
      </p:sp>
      <p:sp>
        <p:nvSpPr>
          <p:cNvPr id="6" name="TextBox 5"/>
          <p:cNvSpPr txBox="1"/>
          <p:nvPr/>
        </p:nvSpPr>
        <p:spPr>
          <a:xfrm>
            <a:off x="4705350" y="1447800"/>
            <a:ext cx="4438650" cy="400110"/>
          </a:xfrm>
          <a:prstGeom prst="rect">
            <a:avLst/>
          </a:prstGeom>
          <a:noFill/>
        </p:spPr>
        <p:txBody>
          <a:bodyPr wrap="square" rtlCol="0">
            <a:spAutoFit/>
          </a:bodyPr>
          <a:lstStyle/>
          <a:p>
            <a:r>
              <a:rPr lang="en-US" sz="2000" b="1" dirty="0"/>
              <a:t>Symmetry element: E, C</a:t>
            </a:r>
            <a:r>
              <a:rPr lang="en-US" sz="2000" b="1" baseline="-25000" dirty="0"/>
              <a:t>3</a:t>
            </a:r>
            <a:r>
              <a:rPr lang="en-US" sz="2000" b="1" dirty="0"/>
              <a:t>, C</a:t>
            </a:r>
            <a:r>
              <a:rPr lang="en-US" sz="2000" b="1" baseline="-25000" dirty="0"/>
              <a:t>2</a:t>
            </a:r>
            <a:r>
              <a:rPr lang="en-US" sz="2000" b="1" dirty="0"/>
              <a:t>, S</a:t>
            </a:r>
            <a:r>
              <a:rPr lang="en-US" sz="2000" b="1" baseline="-25000" dirty="0"/>
              <a:t>4</a:t>
            </a:r>
            <a:r>
              <a:rPr lang="en-US" sz="2000" b="1" dirty="0"/>
              <a:t>, </a:t>
            </a:r>
            <a:r>
              <a:rPr lang="el-GR" sz="2000" b="1" dirty="0"/>
              <a:t>σ</a:t>
            </a:r>
            <a:r>
              <a:rPr lang="en-US" sz="2000" b="1" baseline="-25000" dirty="0"/>
              <a:t>d</a:t>
            </a:r>
            <a:r>
              <a:rPr lang="en-US" sz="2000" b="1" dirty="0"/>
              <a:t> </a:t>
            </a:r>
          </a:p>
        </p:txBody>
      </p:sp>
      <p:grpSp>
        <p:nvGrpSpPr>
          <p:cNvPr id="7" name="Group 6"/>
          <p:cNvGrpSpPr/>
          <p:nvPr/>
        </p:nvGrpSpPr>
        <p:grpSpPr>
          <a:xfrm>
            <a:off x="352425" y="4572000"/>
            <a:ext cx="8334375" cy="1600200"/>
            <a:chOff x="381000" y="3886200"/>
            <a:chExt cx="8334375" cy="1600200"/>
          </a:xfrm>
        </p:grpSpPr>
        <p:pic>
          <p:nvPicPr>
            <p:cNvPr id="410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3886200"/>
              <a:ext cx="8334375"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5"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4267200"/>
              <a:ext cx="8296275"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8403421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04" t="3635" r="1279" b="3429"/>
          <a:stretch/>
        </p:blipFill>
        <p:spPr bwMode="auto">
          <a:xfrm>
            <a:off x="838200" y="4038600"/>
            <a:ext cx="7428516"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b="5131"/>
          <a:stretch/>
        </p:blipFill>
        <p:spPr bwMode="auto">
          <a:xfrm>
            <a:off x="3213620" y="2489730"/>
            <a:ext cx="2429742" cy="1252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3220688" y="820803"/>
            <a:ext cx="1895071"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Point Group: T</a:t>
            </a:r>
            <a:r>
              <a:rPr lang="en-US" b="1" baseline="-25000" dirty="0">
                <a:latin typeface="Arial" panose="020B0604020202020204" pitchFamily="34" charset="0"/>
                <a:cs typeface="Arial" panose="020B0604020202020204" pitchFamily="34" charset="0"/>
              </a:rPr>
              <a:t>d</a:t>
            </a:r>
          </a:p>
        </p:txBody>
      </p:sp>
      <p:sp>
        <p:nvSpPr>
          <p:cNvPr id="8" name="TextBox 7"/>
          <p:cNvSpPr txBox="1"/>
          <p:nvPr/>
        </p:nvSpPr>
        <p:spPr>
          <a:xfrm>
            <a:off x="1948897" y="1264678"/>
            <a:ext cx="4438650" cy="400110"/>
          </a:xfrm>
          <a:prstGeom prst="rect">
            <a:avLst/>
          </a:prstGeom>
          <a:noFill/>
        </p:spPr>
        <p:txBody>
          <a:bodyPr wrap="square" rtlCol="0">
            <a:spAutoFit/>
          </a:bodyPr>
          <a:lstStyle/>
          <a:p>
            <a:r>
              <a:rPr lang="en-US" sz="2000" b="1" dirty="0"/>
              <a:t>Symmetry element: E, 4C</a:t>
            </a:r>
            <a:r>
              <a:rPr lang="en-US" sz="2000" b="1" baseline="-25000" dirty="0"/>
              <a:t>3</a:t>
            </a:r>
            <a:r>
              <a:rPr lang="en-US" sz="2000" b="1" dirty="0"/>
              <a:t>, 3C</a:t>
            </a:r>
            <a:r>
              <a:rPr lang="en-US" sz="2000" b="1" baseline="-25000" dirty="0"/>
              <a:t>2</a:t>
            </a:r>
            <a:r>
              <a:rPr lang="en-US" sz="2000" b="1" dirty="0"/>
              <a:t>, 3S</a:t>
            </a:r>
            <a:r>
              <a:rPr lang="en-US" sz="2000" b="1" baseline="-25000" dirty="0"/>
              <a:t>4</a:t>
            </a:r>
            <a:r>
              <a:rPr lang="en-US" sz="2000" b="1" dirty="0"/>
              <a:t>, 6</a:t>
            </a:r>
            <a:r>
              <a:rPr lang="el-GR" sz="2000" b="1" dirty="0"/>
              <a:t>σ</a:t>
            </a:r>
            <a:r>
              <a:rPr lang="en-US" sz="2000" b="1" baseline="-25000" dirty="0"/>
              <a:t>d</a:t>
            </a:r>
            <a:r>
              <a:rPr lang="en-US" sz="2000" b="1" dirty="0"/>
              <a:t> </a:t>
            </a:r>
          </a:p>
        </p:txBody>
      </p:sp>
      <p:sp>
        <p:nvSpPr>
          <p:cNvPr id="9" name="TextBox 8"/>
          <p:cNvSpPr txBox="1"/>
          <p:nvPr/>
        </p:nvSpPr>
        <p:spPr>
          <a:xfrm>
            <a:off x="609600" y="1828799"/>
            <a:ext cx="6888649" cy="400110"/>
          </a:xfrm>
          <a:prstGeom prst="rect">
            <a:avLst/>
          </a:prstGeom>
          <a:noFill/>
        </p:spPr>
        <p:txBody>
          <a:bodyPr wrap="square" rtlCol="0">
            <a:spAutoFit/>
          </a:bodyPr>
          <a:lstStyle/>
          <a:p>
            <a:r>
              <a:rPr lang="en-US" sz="2000" b="1" dirty="0">
                <a:solidFill>
                  <a:srgbClr val="FF0000"/>
                </a:solidFill>
              </a:rPr>
              <a:t>Symmetry element in multiplication Table: E, 8C</a:t>
            </a:r>
            <a:r>
              <a:rPr lang="en-US" sz="2000" b="1" baseline="-25000" dirty="0">
                <a:solidFill>
                  <a:srgbClr val="FF0000"/>
                </a:solidFill>
              </a:rPr>
              <a:t>3</a:t>
            </a:r>
            <a:r>
              <a:rPr lang="en-US" sz="2000" b="1" dirty="0">
                <a:solidFill>
                  <a:srgbClr val="FF0000"/>
                </a:solidFill>
              </a:rPr>
              <a:t>, 3C</a:t>
            </a:r>
            <a:r>
              <a:rPr lang="en-US" sz="2000" b="1" baseline="-25000" dirty="0">
                <a:solidFill>
                  <a:srgbClr val="FF0000"/>
                </a:solidFill>
              </a:rPr>
              <a:t>2</a:t>
            </a:r>
            <a:r>
              <a:rPr lang="en-US" sz="2000" b="1" dirty="0">
                <a:solidFill>
                  <a:srgbClr val="FF0000"/>
                </a:solidFill>
              </a:rPr>
              <a:t>, 6S</a:t>
            </a:r>
            <a:r>
              <a:rPr lang="en-US" sz="2000" b="1" baseline="-25000" dirty="0">
                <a:solidFill>
                  <a:srgbClr val="FF0000"/>
                </a:solidFill>
              </a:rPr>
              <a:t>4</a:t>
            </a:r>
            <a:r>
              <a:rPr lang="en-US" sz="2000" b="1" dirty="0">
                <a:solidFill>
                  <a:srgbClr val="FF0000"/>
                </a:solidFill>
              </a:rPr>
              <a:t>, 6</a:t>
            </a:r>
            <a:r>
              <a:rPr lang="el-GR" sz="2000" b="1" dirty="0">
                <a:solidFill>
                  <a:srgbClr val="FF0000"/>
                </a:solidFill>
              </a:rPr>
              <a:t>σ</a:t>
            </a:r>
            <a:r>
              <a:rPr lang="en-US" sz="2000" b="1" baseline="-25000" dirty="0">
                <a:solidFill>
                  <a:srgbClr val="FF0000"/>
                </a:solidFill>
              </a:rPr>
              <a:t>d</a:t>
            </a:r>
            <a:r>
              <a:rPr lang="en-US" sz="2000" b="1" dirty="0">
                <a:solidFill>
                  <a:srgbClr val="FF0000"/>
                </a:solidFill>
              </a:rPr>
              <a:t> </a:t>
            </a:r>
          </a:p>
        </p:txBody>
      </p:sp>
    </p:spTree>
    <p:extLst>
      <p:ext uri="{BB962C8B-B14F-4D97-AF65-F5344CB8AC3E}">
        <p14:creationId xmlns:p14="http://schemas.microsoft.com/office/powerpoint/2010/main" val="12763721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5" y="762000"/>
            <a:ext cx="8181975" cy="2293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799" y="2971799"/>
            <a:ext cx="450532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4159779"/>
            <a:ext cx="487680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6187" y="2438400"/>
            <a:ext cx="1200150" cy="1323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8021517" y="4191000"/>
            <a:ext cx="384144" cy="400110"/>
          </a:xfrm>
          <a:prstGeom prst="rect">
            <a:avLst/>
          </a:prstGeom>
          <a:noFill/>
        </p:spPr>
        <p:txBody>
          <a:bodyPr wrap="none" rtlCol="0">
            <a:spAutoFit/>
          </a:bodyPr>
          <a:lstStyle/>
          <a:p>
            <a:r>
              <a:rPr lang="en-US" sz="2000" b="1" dirty="0"/>
              <a:t>T</a:t>
            </a:r>
            <a:r>
              <a:rPr lang="en-US" sz="2000" b="1" baseline="-25000" dirty="0"/>
              <a:t>d</a:t>
            </a:r>
          </a:p>
        </p:txBody>
      </p:sp>
      <p:pic>
        <p:nvPicPr>
          <p:cNvPr id="615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5867400"/>
            <a:ext cx="6221413"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816907" y="5897046"/>
            <a:ext cx="1745991" cy="400110"/>
          </a:xfrm>
          <a:prstGeom prst="rect">
            <a:avLst/>
          </a:prstGeom>
        </p:spPr>
        <p:txBody>
          <a:bodyPr wrap="none">
            <a:spAutoFit/>
          </a:bodyPr>
          <a:lstStyle/>
          <a:p>
            <a:r>
              <a:rPr lang="en-US" sz="2000" b="1" dirty="0"/>
              <a:t>E, C</a:t>
            </a:r>
            <a:r>
              <a:rPr lang="en-US" sz="2000" b="1" baseline="-25000" dirty="0"/>
              <a:t>3</a:t>
            </a:r>
            <a:r>
              <a:rPr lang="en-US" sz="2000" b="1" dirty="0"/>
              <a:t>, C</a:t>
            </a:r>
            <a:r>
              <a:rPr lang="en-US" sz="2000" b="1" baseline="-25000" dirty="0"/>
              <a:t>2</a:t>
            </a:r>
            <a:r>
              <a:rPr lang="en-US" sz="2000" b="1" dirty="0"/>
              <a:t>, S</a:t>
            </a:r>
            <a:r>
              <a:rPr lang="en-US" sz="2000" b="1" baseline="-25000" dirty="0"/>
              <a:t>4</a:t>
            </a:r>
            <a:r>
              <a:rPr lang="en-US" sz="2000" b="1" dirty="0"/>
              <a:t>, </a:t>
            </a:r>
            <a:r>
              <a:rPr lang="el-GR" sz="2000" b="1" dirty="0"/>
              <a:t>σ</a:t>
            </a:r>
            <a:r>
              <a:rPr lang="en-US" sz="2000" b="1" baseline="-25000" dirty="0"/>
              <a:t>d</a:t>
            </a:r>
            <a:r>
              <a:rPr lang="en-US" sz="2000" b="1" dirty="0"/>
              <a:t> </a:t>
            </a:r>
          </a:p>
        </p:txBody>
      </p:sp>
    </p:spTree>
    <p:extLst>
      <p:ext uri="{BB962C8B-B14F-4D97-AF65-F5344CB8AC3E}">
        <p14:creationId xmlns:p14="http://schemas.microsoft.com/office/powerpoint/2010/main" val="455245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219325"/>
            <a:ext cx="421005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28599" y="2751779"/>
            <a:ext cx="88745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Character of reducible representation = No. of atoms </a:t>
            </a:r>
            <a:r>
              <a:rPr lang="en-US" sz="1600" b="1" dirty="0" err="1">
                <a:latin typeface="Arial" panose="020B0604020202020204" pitchFamily="34" charset="0"/>
                <a:cs typeface="Arial" panose="020B0604020202020204" pitchFamily="34" charset="0"/>
              </a:rPr>
              <a:t>unshifted</a:t>
            </a:r>
            <a:r>
              <a:rPr lang="en-US" sz="1600" b="1" dirty="0">
                <a:latin typeface="Arial" panose="020B0604020202020204" pitchFamily="34" charset="0"/>
                <a:cs typeface="Arial" panose="020B0604020202020204" pitchFamily="34" charset="0"/>
              </a:rPr>
              <a:t> X Factor for the operation</a:t>
            </a:r>
          </a:p>
        </p:txBody>
      </p:sp>
      <p:pic>
        <p:nvPicPr>
          <p:cNvPr id="71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3073400"/>
            <a:ext cx="6288087"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095" y="3797300"/>
            <a:ext cx="49053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762000"/>
            <a:ext cx="5105399" cy="1517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09434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56905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93125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7708631" cy="522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05933" y="5830669"/>
            <a:ext cx="5949064" cy="646331"/>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Character of reducible representation = 1 X ─ 1 = ─ 1</a:t>
            </a:r>
          </a:p>
          <a:p>
            <a:r>
              <a:rPr lang="en-US" b="1" dirty="0">
                <a:latin typeface="Arial" panose="020B0604020202020204" pitchFamily="34" charset="0"/>
                <a:cs typeface="Arial" panose="020B0604020202020204" pitchFamily="34" charset="0"/>
              </a:rPr>
              <a:t>For </a:t>
            </a:r>
            <a:r>
              <a:rPr lang="en-US" b="1" dirty="0">
                <a:solidFill>
                  <a:srgbClr val="FF0000"/>
                </a:solidFill>
                <a:latin typeface="Arial" panose="020B0604020202020204" pitchFamily="34" charset="0"/>
                <a:cs typeface="Arial" panose="020B0604020202020204" pitchFamily="34" charset="0"/>
              </a:rPr>
              <a:t>C</a:t>
            </a:r>
            <a:r>
              <a:rPr lang="en-US" b="1" baseline="-25000" dirty="0">
                <a:solidFill>
                  <a:srgbClr val="FF0000"/>
                </a:solidFill>
                <a:latin typeface="Arial" panose="020B0604020202020204" pitchFamily="34" charset="0"/>
                <a:cs typeface="Arial" panose="020B0604020202020204" pitchFamily="34" charset="0"/>
              </a:rPr>
              <a:t>3</a:t>
            </a:r>
            <a:r>
              <a:rPr lang="en-US" b="1" dirty="0">
                <a:latin typeface="Arial" panose="020B0604020202020204" pitchFamily="34" charset="0"/>
                <a:cs typeface="Arial" panose="020B0604020202020204" pitchFamily="34" charset="0"/>
              </a:rPr>
              <a:t> operation the reducible representation = ─ 1</a:t>
            </a:r>
          </a:p>
        </p:txBody>
      </p:sp>
    </p:spTree>
    <p:extLst>
      <p:ext uri="{BB962C8B-B14F-4D97-AF65-F5344CB8AC3E}">
        <p14:creationId xmlns:p14="http://schemas.microsoft.com/office/powerpoint/2010/main" val="29580611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31519"/>
            <a:ext cx="8466821" cy="5593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51959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8544682"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42792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87942"/>
            <a:ext cx="7059613" cy="504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13907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41814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11923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4867275" cy="465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19516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24" y="804334"/>
            <a:ext cx="4349230" cy="8300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04" t="3635" r="1279" b="3429"/>
          <a:stretch/>
        </p:blipFill>
        <p:spPr bwMode="auto">
          <a:xfrm>
            <a:off x="1371600" y="1842267"/>
            <a:ext cx="5334000" cy="15867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7171" y="3581400"/>
            <a:ext cx="5722888" cy="3124200"/>
          </a:xfrm>
          <a:prstGeom prst="rect">
            <a:avLst/>
          </a:prstGeom>
          <a:noFill/>
          <a:ln w="9525">
            <a:solidFill>
              <a:srgbClr val="0000FF"/>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6631755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1173"/>
          <a:stretch/>
        </p:blipFill>
        <p:spPr bwMode="auto">
          <a:xfrm>
            <a:off x="457200" y="762000"/>
            <a:ext cx="7288213" cy="2302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1001" r="-1"/>
          <a:stretch/>
        </p:blipFill>
        <p:spPr bwMode="auto">
          <a:xfrm>
            <a:off x="609600" y="4038600"/>
            <a:ext cx="798024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81102" b="-351"/>
          <a:stretch/>
        </p:blipFill>
        <p:spPr bwMode="auto">
          <a:xfrm>
            <a:off x="712787" y="3132667"/>
            <a:ext cx="7288213" cy="753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83755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559364"/>
            <a:ext cx="4512733" cy="2222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04" t="3635" r="1279" b="3429"/>
          <a:stretch/>
        </p:blipFill>
        <p:spPr bwMode="auto">
          <a:xfrm>
            <a:off x="1524000" y="2819400"/>
            <a:ext cx="5379269"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4343400" y="2221608"/>
            <a:ext cx="2044149" cy="400110"/>
          </a:xfrm>
          <a:prstGeom prst="rect">
            <a:avLst/>
          </a:prstGeom>
          <a:noFill/>
        </p:spPr>
        <p:txBody>
          <a:bodyPr wrap="none" rtlCol="0">
            <a:spAutoFit/>
          </a:bodyPr>
          <a:lstStyle/>
          <a:p>
            <a:r>
              <a:rPr lang="en-US" sz="2000" b="1" dirty="0">
                <a:solidFill>
                  <a:srgbClr val="FF0000"/>
                </a:solidFill>
                <a:latin typeface="Arial" panose="020B0604020202020204" pitchFamily="34" charset="0"/>
                <a:cs typeface="Arial" panose="020B0604020202020204" pitchFamily="34" charset="0"/>
              </a:rPr>
              <a:t>A</a:t>
            </a:r>
            <a:r>
              <a:rPr lang="en-US" sz="2000" b="1" baseline="-25000" dirty="0">
                <a:solidFill>
                  <a:srgbClr val="FF0000"/>
                </a:solidFill>
                <a:latin typeface="Arial" panose="020B0604020202020204" pitchFamily="34" charset="0"/>
                <a:cs typeface="Arial" panose="020B0604020202020204" pitchFamily="34" charset="0"/>
              </a:rPr>
              <a:t>1</a:t>
            </a:r>
            <a:r>
              <a:rPr lang="en-US" sz="2000" b="1" dirty="0">
                <a:solidFill>
                  <a:srgbClr val="FF0000"/>
                </a:solidFill>
                <a:latin typeface="Arial" panose="020B0604020202020204" pitchFamily="34" charset="0"/>
                <a:cs typeface="Arial" panose="020B0604020202020204" pitchFamily="34" charset="0"/>
              </a:rPr>
              <a:t> + E + 0 + 2T</a:t>
            </a:r>
            <a:r>
              <a:rPr lang="en-US" sz="2000" b="1" baseline="-25000" dirty="0">
                <a:solidFill>
                  <a:srgbClr val="FF0000"/>
                </a:solidFill>
                <a:latin typeface="Arial" panose="020B0604020202020204" pitchFamily="34" charset="0"/>
                <a:cs typeface="Arial" panose="020B0604020202020204" pitchFamily="34" charset="0"/>
              </a:rPr>
              <a:t>2</a:t>
            </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771525"/>
            <a:ext cx="485775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33875" y="2033888"/>
            <a:ext cx="1980947" cy="199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14446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77060"/>
            <a:ext cx="8153400" cy="15851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888" y="2432737"/>
            <a:ext cx="7300912" cy="2367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5257800"/>
            <a:ext cx="8610600" cy="131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43148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9552" y="762000"/>
            <a:ext cx="6023248" cy="1953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008" y="2797569"/>
            <a:ext cx="7315200" cy="5569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505200"/>
            <a:ext cx="7848600" cy="1123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60667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57" t="3574" r="4114"/>
          <a:stretch/>
        </p:blipFill>
        <p:spPr bwMode="auto">
          <a:xfrm>
            <a:off x="542396" y="762000"/>
            <a:ext cx="7548712" cy="2695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524463"/>
            <a:ext cx="7848600" cy="1123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648200"/>
            <a:ext cx="3895725"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5952" y="5105400"/>
            <a:ext cx="30861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4313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 y="1752600"/>
            <a:ext cx="8791575"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9016" y="762000"/>
            <a:ext cx="3895725" cy="58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768" y="1219200"/>
            <a:ext cx="30861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5791200"/>
            <a:ext cx="4438650" cy="100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57385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67" y="731519"/>
            <a:ext cx="8610600" cy="97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686136"/>
            <a:ext cx="3018367" cy="2002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2286960"/>
            <a:ext cx="3133725" cy="628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915610"/>
            <a:ext cx="4038600" cy="3184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6091867"/>
            <a:ext cx="855345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761085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38200"/>
            <a:ext cx="8982075" cy="431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45990"/>
          <a:stretch/>
        </p:blipFill>
        <p:spPr bwMode="auto">
          <a:xfrm>
            <a:off x="76200" y="5105400"/>
            <a:ext cx="3513667" cy="100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6115050"/>
            <a:ext cx="2857500" cy="65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4953000"/>
            <a:ext cx="3400425"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438"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9675" y="5977467"/>
            <a:ext cx="2952750" cy="56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54374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7170" name="Picture 2"/>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52400" y="799782"/>
            <a:ext cx="5634037" cy="2343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83998"/>
            <a:ext cx="4833937" cy="35978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3169330"/>
            <a:ext cx="3886200" cy="13264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76272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8194" name="Picture 2"/>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304801" y="789959"/>
            <a:ext cx="5410199" cy="1801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30" y="2828925"/>
            <a:ext cx="5382770" cy="3876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1492250"/>
            <a:ext cx="4277448"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53057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pic>
        <p:nvPicPr>
          <p:cNvPr id="9218" name="Picture 2"/>
          <p:cNvPicPr>
            <a:picLocks noChangeAspect="1" noChangeArrowheads="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52400" y="784960"/>
            <a:ext cx="4490223" cy="1729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8714" y="1066800"/>
            <a:ext cx="4415286" cy="15897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39" y="2971800"/>
            <a:ext cx="5347839" cy="3021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6422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29912998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21856097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10710948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38380152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25615402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20892522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18015498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28792651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1256158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53027569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685800"/>
            <a:ext cx="8382000" cy="45719"/>
          </a:xfrm>
          <a:prstGeom prst="rect">
            <a:avLst/>
          </a:prstGeom>
          <a:solidFill>
            <a:schemeClr val="accent2"/>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579016" y="152400"/>
            <a:ext cx="5355184"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Applications to molecular Vibration</a:t>
            </a:r>
          </a:p>
        </p:txBody>
      </p:sp>
    </p:spTree>
    <p:extLst>
      <p:ext uri="{BB962C8B-B14F-4D97-AF65-F5344CB8AC3E}">
        <p14:creationId xmlns:p14="http://schemas.microsoft.com/office/powerpoint/2010/main" val="244355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5685</TotalTime>
  <Words>1555</Words>
  <Application>Microsoft Office PowerPoint</Application>
  <PresentationFormat>On-screen Show (4:3)</PresentationFormat>
  <Paragraphs>148</Paragraphs>
  <Slides>101</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101</vt:i4>
      </vt:variant>
    </vt:vector>
  </HeadingPairs>
  <TitlesOfParts>
    <vt:vector size="108" baseType="lpstr">
      <vt:lpstr>Arial</vt:lpstr>
      <vt:lpstr>Calibri</vt:lpstr>
      <vt:lpstr>Cambria Math</vt:lpstr>
      <vt:lpstr>Times New Roman</vt:lpstr>
      <vt:lpstr>Wingdings</vt:lpstr>
      <vt:lpstr>Office Theme</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Subas Rajbangshi</dc:creator>
  <cp:lastModifiedBy>USER</cp:lastModifiedBy>
  <cp:revision>248</cp:revision>
  <cp:lastPrinted>2025-05-05T04:49:46Z</cp:lastPrinted>
  <dcterms:created xsi:type="dcterms:W3CDTF">2006-08-16T00:00:00Z</dcterms:created>
  <dcterms:modified xsi:type="dcterms:W3CDTF">2025-09-08T05:59:41Z</dcterms:modified>
</cp:coreProperties>
</file>