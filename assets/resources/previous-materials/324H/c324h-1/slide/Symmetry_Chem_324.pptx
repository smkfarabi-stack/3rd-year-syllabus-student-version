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6" r:id="rId4"/>
    <p:sldId id="257" r:id="rId5"/>
    <p:sldId id="258" r:id="rId6"/>
    <p:sldId id="308" r:id="rId7"/>
    <p:sldId id="259" r:id="rId8"/>
    <p:sldId id="260" r:id="rId9"/>
    <p:sldId id="261" r:id="rId10"/>
    <p:sldId id="262" r:id="rId11"/>
    <p:sldId id="263" r:id="rId12"/>
    <p:sldId id="264" r:id="rId13"/>
    <p:sldId id="309" r:id="rId14"/>
    <p:sldId id="310" r:id="rId15"/>
    <p:sldId id="265" r:id="rId16"/>
    <p:sldId id="266" r:id="rId17"/>
    <p:sldId id="267" r:id="rId18"/>
    <p:sldId id="268" r:id="rId19"/>
    <p:sldId id="269" r:id="rId20"/>
    <p:sldId id="270" r:id="rId21"/>
    <p:sldId id="311" r:id="rId22"/>
    <p:sldId id="312" r:id="rId23"/>
    <p:sldId id="31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316" r:id="rId45"/>
    <p:sldId id="360" r:id="rId46"/>
    <p:sldId id="361" r:id="rId47"/>
    <p:sldId id="359" r:id="rId48"/>
    <p:sldId id="314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17" r:id="rId62"/>
    <p:sldId id="363" r:id="rId63"/>
    <p:sldId id="319" r:id="rId64"/>
    <p:sldId id="362" r:id="rId65"/>
    <p:sldId id="320" r:id="rId66"/>
    <p:sldId id="321" r:id="rId67"/>
    <p:sldId id="322" r:id="rId68"/>
    <p:sldId id="323" r:id="rId69"/>
    <p:sldId id="324" r:id="rId70"/>
    <p:sldId id="325" r:id="rId71"/>
    <p:sldId id="327" r:id="rId72"/>
    <p:sldId id="365" r:id="rId73"/>
    <p:sldId id="366" r:id="rId74"/>
    <p:sldId id="368" r:id="rId75"/>
    <p:sldId id="367" r:id="rId76"/>
    <p:sldId id="329" r:id="rId77"/>
    <p:sldId id="369" r:id="rId78"/>
    <p:sldId id="364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70" r:id="rId87"/>
    <p:sldId id="371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0" r:id="rId122"/>
    <p:sldId id="391" r:id="rId123"/>
    <p:sldId id="392" r:id="rId124"/>
    <p:sldId id="393" r:id="rId125"/>
    <p:sldId id="394" r:id="rId126"/>
    <p:sldId id="395" r:id="rId127"/>
    <p:sldId id="396" r:id="rId128"/>
    <p:sldId id="397" r:id="rId129"/>
    <p:sldId id="398" r:id="rId130"/>
    <p:sldId id="399" r:id="rId131"/>
    <p:sldId id="400" r:id="rId132"/>
    <p:sldId id="401" r:id="rId133"/>
    <p:sldId id="402" r:id="rId134"/>
    <p:sldId id="403" r:id="rId135"/>
    <p:sldId id="404" r:id="rId136"/>
    <p:sldId id="405" r:id="rId137"/>
    <p:sldId id="406" r:id="rId138"/>
    <p:sldId id="407" r:id="rId139"/>
    <p:sldId id="408" r:id="rId140"/>
    <p:sldId id="409" r:id="rId141"/>
    <p:sldId id="410" r:id="rId142"/>
    <p:sldId id="411" r:id="rId143"/>
    <p:sldId id="412" r:id="rId144"/>
    <p:sldId id="413" r:id="rId145"/>
    <p:sldId id="414" r:id="rId146"/>
    <p:sldId id="415" r:id="rId147"/>
    <p:sldId id="416" r:id="rId148"/>
    <p:sldId id="417" r:id="rId149"/>
    <p:sldId id="418" r:id="rId150"/>
    <p:sldId id="419" r:id="rId151"/>
    <p:sldId id="420" r:id="rId152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91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1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1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10.png"/><Relationship Id="rId7" Type="http://schemas.openxmlformats.org/officeDocument/2006/relationships/image" Target="../media/image117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07.png"/><Relationship Id="rId4" Type="http://schemas.openxmlformats.org/officeDocument/2006/relationships/image" Target="../media/image111.png"/><Relationship Id="rId9" Type="http://schemas.microsoft.com/office/2007/relationships/hdphoto" Target="../media/hdphoto1.wdp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57.png"/><Relationship Id="rId7" Type="http://schemas.openxmlformats.org/officeDocument/2006/relationships/image" Target="../media/image164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7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5" Type="http://schemas.openxmlformats.org/officeDocument/2006/relationships/image" Target="../media/image163.png"/><Relationship Id="rId4" Type="http://schemas.openxmlformats.org/officeDocument/2006/relationships/image" Target="../media/image16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7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6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77664"/>
            <a:ext cx="4648200" cy="174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00200" y="3325792"/>
            <a:ext cx="1714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trigonal planar 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0" y="3276600"/>
            <a:ext cx="304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pseudo-trigonal planar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38200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molecule is said to have symmetry if it has two or more orientations in space that are indistinguishable.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1360" y="152400"/>
            <a:ext cx="16754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Symmetry</a:t>
            </a:r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785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4923472"/>
            <a:ext cx="8001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term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symmetry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derived from the Greek word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symmetria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which means “measured together”. An object is symmetric if one part (e.g. one side) of it is the same* as all of the other parts. You know intuitively if something is symmetric but we require a precise method to describe how an object or molecule is symmetric.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382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Symmetry is a phenomenon of the natural world, as well as the world of human invention. In nature, many flowers and plants, snowflakes, insects, certain fruits and vegetables, and a wide variety of microscopic plants and animals exhibit characteristic symmetry.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76463"/>
            <a:ext cx="1784710" cy="231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109788"/>
            <a:ext cx="2594498" cy="238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648" y="2114729"/>
            <a:ext cx="3122352" cy="232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33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32004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analyzing the symmetry of molecules, we can predict infrared spectra, describe orbitals used in bonding, predict optical activity, interpret electronic spectra, and study a number of additional molecular properties.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3400"/>
            <a:ext cx="6705600" cy="2093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5800" y="838200"/>
            <a:ext cx="800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Molecular symmetry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study of the symmetry elements and symmetry operations present in a molecule. It describes the balanced spatial arrangement of atoms in a molecule that remains unchanged under specific transformations, such as rotation, reflection, or inversion. Molecular symmetry is fundamental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group theory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helps classify molecules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point groups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predict their chemical and physical properties, including spectroscopy, chirality, and molecular bonding.</a:t>
            </a:r>
          </a:p>
        </p:txBody>
      </p:sp>
    </p:spTree>
    <p:extLst>
      <p:ext uri="{BB962C8B-B14F-4D97-AF65-F5344CB8AC3E}">
        <p14:creationId xmlns:p14="http://schemas.microsoft.com/office/powerpoint/2010/main" val="178406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582341"/>
            <a:ext cx="8305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Molecules or any other objects may contain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symmetry elements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as mirror planes, axes of rotation, and inversion centers.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actual reflection, rotation, or inversion is called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contain a given symmetry element, a molecule must have exactly the same appearance after the operation as before.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other words, photographs of the molecule (if such photographs were possible) taken from the same location before and after the symmetry operation would be indistinguishable.</a:t>
            </a:r>
          </a:p>
        </p:txBody>
      </p:sp>
    </p:spTree>
    <p:extLst>
      <p:ext uri="{BB962C8B-B14F-4D97-AF65-F5344CB8AC3E}">
        <p14:creationId xmlns:p14="http://schemas.microsoft.com/office/powerpoint/2010/main" val="334691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2921675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symmetry operation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an action that leaves an object looking the same after it has been carried out. For example, if we take a molecule of water and rotate it by 180° about an axis passing through the central O atom (between the two H atoms) it will look the same as before. Each symmetry operation has a corresponding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symmetry element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which is the axis, plane (2-dimensional), line (1-dimensional) or point (0-dimensional) with respect to which the symmetry operation is carried out: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33" y="4953000"/>
            <a:ext cx="4402345" cy="173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830395"/>
            <a:ext cx="6705599" cy="88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5800" y="1932675"/>
            <a:ext cx="8000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symmetry operation moves a molecule about an axis, a point, or a plane (the symmetry element) into a position indistinguishable from the original position. </a:t>
            </a:r>
          </a:p>
        </p:txBody>
      </p:sp>
    </p:spTree>
    <p:extLst>
      <p:ext uri="{BB962C8B-B14F-4D97-AF65-F5344CB8AC3E}">
        <p14:creationId xmlns:p14="http://schemas.microsoft.com/office/powerpoint/2010/main" val="5353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1" y="838200"/>
            <a:ext cx="8000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symmetry operation moves a molecule about an axis, a point, or a plane (the symmetry element) into a position indistinguishable from the original position.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9812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there is a point in space that remains unchanged under all of the symmetry opera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tions, the resultant symmetry is referred to as 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symmetry.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93700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93700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93700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937000" y="367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33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1066800"/>
            <a:ext cx="8383587" cy="2610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686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" y="876300"/>
            <a:ext cx="8539163" cy="4329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624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52400" y="838200"/>
            <a:ext cx="8686800" cy="5334000"/>
            <a:chOff x="152400" y="990600"/>
            <a:chExt cx="8686800" cy="53340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990600"/>
              <a:ext cx="8686800" cy="3467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1370787"/>
              <a:ext cx="8686800" cy="49538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20403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762000"/>
            <a:ext cx="826748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209800"/>
            <a:ext cx="7267575" cy="2511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8592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17" y="838200"/>
            <a:ext cx="7259183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638800"/>
            <a:ext cx="17335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905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838200"/>
            <a:ext cx="6334949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263814"/>
            <a:ext cx="7915275" cy="153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1129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851892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8" y="939800"/>
            <a:ext cx="21193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4648200"/>
            <a:ext cx="3211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 mirror plane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axes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Inversion center</a:t>
            </a:r>
          </a:p>
        </p:txBody>
      </p:sp>
    </p:spTree>
    <p:extLst>
      <p:ext uri="{BB962C8B-B14F-4D97-AF65-F5344CB8AC3E}">
        <p14:creationId xmlns:p14="http://schemas.microsoft.com/office/powerpoint/2010/main" val="421460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4648200"/>
            <a:ext cx="644920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 mirror plane containing C-C bond axis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axis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3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axes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Inversion center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axis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38425"/>
            <a:ext cx="73723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552" y="708658"/>
            <a:ext cx="2060720" cy="1577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603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2532" y="762000"/>
            <a:ext cx="83904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rotation of a molecule by 360°/n about an axis results in an indistinguishable configuration, the molecule is said to have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n-fold rotational axis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999" y="6135469"/>
            <a:ext cx="8381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molecules with more than one rotation axis,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axis having the largest value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highest order rotation axis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principal axis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349213"/>
            <a:ext cx="4030662" cy="134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429000" y="152400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Rotational axis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0600" y="2590800"/>
            <a:ext cx="3095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Rotation = 120</a:t>
            </a:r>
            <a:r>
              <a:rPr lang="en-US" sz="24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</a:t>
            </a:r>
            <a:r>
              <a:rPr 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 b="1" baseline="-25000" dirty="0">
              <a:solidFill>
                <a:srgbClr val="0000FF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931"/>
            <a:ext cx="4267200" cy="98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19200" y="4034135"/>
            <a:ext cx="3095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Rotation = 180</a:t>
            </a:r>
            <a:r>
              <a:rPr lang="en-US" sz="2400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</a:t>
            </a:r>
            <a:r>
              <a:rPr 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baseline="-25000" dirty="0">
              <a:solidFill>
                <a:srgbClr val="0000FF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572" y="1371600"/>
            <a:ext cx="3285428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604179" y="3733800"/>
            <a:ext cx="2082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  <a:r>
              <a:rPr lang="en-US" sz="24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Molecule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0" y="4146262"/>
            <a:ext cx="289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For example, in BF</a:t>
            </a:r>
            <a:r>
              <a:rPr lang="en-US" baseline="-25000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, the C</a:t>
            </a:r>
            <a:r>
              <a:rPr lang="en-US" baseline="-25000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 axis is the principal axis.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845908"/>
            <a:ext cx="6629400" cy="1250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4134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" y="860391"/>
            <a:ext cx="8167688" cy="203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980918"/>
            <a:ext cx="7264400" cy="220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415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14401"/>
            <a:ext cx="4953000" cy="1519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8000"/>
            <a:ext cx="6511925" cy="352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233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89835" y="1066800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Rotational axis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10582" y="1447800"/>
            <a:ext cx="109018" cy="838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 flipH="1">
            <a:off x="2460091" y="2286000"/>
            <a:ext cx="3700982" cy="4571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52055" y="2298700"/>
            <a:ext cx="109018" cy="838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38400" y="2286000"/>
            <a:ext cx="109018" cy="838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136900"/>
            <a:ext cx="3347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 rotational axis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7200" y="3124200"/>
            <a:ext cx="3706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Improper rotational axis</a:t>
            </a:r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264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95400" y="164068"/>
            <a:ext cx="6934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Reflection through a plane of symmetry (mirror plane), </a:t>
            </a:r>
            <a:r>
              <a:rPr lang="el-GR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762000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reflection of all parts of a molecule through a plane produces an indistinguishable configuration, the plane is a plane of symmetry; the symmetry operation is one of reflection and the symmetry element is the mirror plane (denoted by </a:t>
            </a:r>
            <a:r>
              <a:rPr lang="el-GR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For BF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plane containing the molecular framework (the brown plane shown in Fig. 3.2) is a mirror plane. In this case, the plane lies perpendicular to the vertical principal axis and is denoted by the symbol </a:t>
            </a:r>
            <a:r>
              <a:rPr lang="el-G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49" y="2667000"/>
            <a:ext cx="6183313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0225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45" y="3276600"/>
            <a:ext cx="829695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9" y="762000"/>
            <a:ext cx="7396162" cy="244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41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7630954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4173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8533"/>
            <a:ext cx="3810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55" y="457200"/>
            <a:ext cx="3276600" cy="99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3372255" cy="125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6" y="3614738"/>
            <a:ext cx="2366369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63" y="5334000"/>
            <a:ext cx="1779792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692843"/>
            <a:ext cx="3581400" cy="52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95789"/>
            <a:ext cx="4724400" cy="57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046471"/>
            <a:ext cx="6172200" cy="43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700712"/>
            <a:ext cx="5972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5592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76485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981200"/>
            <a:ext cx="76390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6870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12799"/>
            <a:ext cx="5867400" cy="5903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7941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:\Users\Subas\Downloads\IMG_1288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9" r="16010" b="6596"/>
          <a:stretch/>
        </p:blipFill>
        <p:spPr bwMode="auto">
          <a:xfrm>
            <a:off x="1066800" y="152400"/>
            <a:ext cx="6400800" cy="6324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6652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2" b="5648"/>
          <a:stretch/>
        </p:blipFill>
        <p:spPr bwMode="auto">
          <a:xfrm>
            <a:off x="533400" y="990600"/>
            <a:ext cx="7885699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514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47108"/>
            <a:ext cx="7543800" cy="3801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7826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5" y="838200"/>
            <a:ext cx="7897575" cy="4042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7625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" y="914400"/>
            <a:ext cx="8739188" cy="428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9059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066800"/>
            <a:ext cx="8782050" cy="3993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8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" y="976313"/>
            <a:ext cx="8634413" cy="4459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7670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9" y="876300"/>
            <a:ext cx="8762041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5947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898351"/>
            <a:ext cx="8515350" cy="481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3800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886679"/>
            <a:ext cx="8467725" cy="482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543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" y="876187"/>
            <a:ext cx="8253413" cy="461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5296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" y="864645"/>
            <a:ext cx="8253413" cy="454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728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01" y="933450"/>
            <a:ext cx="8278499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8387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38" y="928689"/>
            <a:ext cx="8144262" cy="440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382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77" y="809625"/>
            <a:ext cx="8449723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141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67" y="914400"/>
            <a:ext cx="417195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046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842963"/>
            <a:ext cx="9012237" cy="517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23773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923925"/>
            <a:ext cx="8296275" cy="433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61734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881751"/>
            <a:ext cx="8233518" cy="4452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44110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47108"/>
            <a:ext cx="7543800" cy="3801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200"/>
            <a:ext cx="5992812" cy="56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5991225"/>
            <a:ext cx="5391150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706" y="4773028"/>
            <a:ext cx="5906294" cy="117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105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63" y="1295400"/>
            <a:ext cx="5053437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365586"/>
            <a:ext cx="2961166" cy="2511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6200"/>
            <a:ext cx="5992812" cy="56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2087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60119"/>
            <a:ext cx="8607215" cy="4754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682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860" y="990600"/>
            <a:ext cx="492454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343400"/>
            <a:ext cx="18669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19150"/>
            <a:ext cx="208597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429000"/>
            <a:ext cx="3962400" cy="33705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798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92481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06" y="3124200"/>
            <a:ext cx="77003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447800" y="5181600"/>
            <a:ext cx="4724400" cy="387964"/>
            <a:chOff x="685800" y="2743200"/>
            <a:chExt cx="4724400" cy="387964"/>
          </a:xfrm>
        </p:grpSpPr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2743200"/>
              <a:ext cx="318135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769657"/>
              <a:ext cx="1295400" cy="361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TextBox 3"/>
          <p:cNvSpPr txBox="1"/>
          <p:nvPr/>
        </p:nvSpPr>
        <p:spPr>
          <a:xfrm>
            <a:off x="3124200" y="152400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3600" y="1066800"/>
            <a:ext cx="7408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E, C</a:t>
            </a:r>
            <a:r>
              <a:rPr 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l-G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σ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l-G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zy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981200"/>
            <a:ext cx="754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Quantitative description of molecular symmetry by using number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─1,</a:t>
            </a:r>
            <a:r>
              <a:rPr lang="el-G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─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661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" y="914400"/>
            <a:ext cx="842835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5210956"/>
            <a:ext cx="8229601" cy="961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16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80366"/>
            <a:ext cx="7696200" cy="3867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4648201"/>
            <a:ext cx="7467600" cy="68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5410200"/>
            <a:ext cx="6553199" cy="48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67400"/>
            <a:ext cx="4800600" cy="524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9945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38201"/>
            <a:ext cx="7905750" cy="2599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3886200"/>
            <a:ext cx="7219950" cy="234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1968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" y="914400"/>
            <a:ext cx="8662988" cy="885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05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22397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819150"/>
            <a:ext cx="8046028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148013"/>
            <a:ext cx="7048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6097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46666"/>
            <a:ext cx="7834156" cy="2201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8999"/>
            <a:ext cx="7696200" cy="2753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189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71800"/>
            <a:ext cx="41433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838200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water molecule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224" y="841586"/>
            <a:ext cx="2422046" cy="2054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3533775"/>
            <a:ext cx="8396287" cy="78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55" y="4495800"/>
            <a:ext cx="3895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4738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21042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62200" y="76200"/>
            <a:ext cx="3513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Multiplication Table</a:t>
            </a:r>
          </a:p>
        </p:txBody>
      </p:sp>
    </p:spTree>
    <p:extLst>
      <p:ext uri="{BB962C8B-B14F-4D97-AF65-F5344CB8AC3E}">
        <p14:creationId xmlns:p14="http://schemas.microsoft.com/office/powerpoint/2010/main" val="1502428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3" y="838200"/>
            <a:ext cx="8272462" cy="85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1828800"/>
            <a:ext cx="4295749" cy="2895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05" y="5274405"/>
            <a:ext cx="8390995" cy="127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438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789898"/>
            <a:ext cx="7219950" cy="1047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6" y="1634067"/>
            <a:ext cx="1971762" cy="133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61" y="3048000"/>
            <a:ext cx="7033839" cy="166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30" y="4845050"/>
            <a:ext cx="5745770" cy="1885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8915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7848600" cy="85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676400"/>
            <a:ext cx="5876925" cy="462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3268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914400"/>
            <a:ext cx="760608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09324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 the effect of the group operations on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orbitals, and hence derive a set of numbers which represent the effect of the operation on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4953000" cy="2080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657600"/>
            <a:ext cx="6715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0"/>
            <a:ext cx="737550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970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648200"/>
            <a:ext cx="715725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990600" y="838200"/>
            <a:ext cx="6789345" cy="3766493"/>
            <a:chOff x="1364055" y="1294290"/>
            <a:chExt cx="6789345" cy="376649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4055" y="1294290"/>
              <a:ext cx="6789345" cy="1144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7357" y="2470892"/>
              <a:ext cx="6365043" cy="1262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7357" y="3787774"/>
              <a:ext cx="6365043" cy="1273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10808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38200"/>
            <a:ext cx="7383462" cy="2304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15" y="3429000"/>
            <a:ext cx="6384985" cy="1978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788" y="5484172"/>
            <a:ext cx="5270612" cy="129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65595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06" r="18168"/>
          <a:stretch/>
        </p:blipFill>
        <p:spPr bwMode="auto">
          <a:xfrm>
            <a:off x="533400" y="914400"/>
            <a:ext cx="3998890" cy="2057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33" y="3248964"/>
            <a:ext cx="3945466" cy="66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3657600" cy="725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33" y="5118100"/>
            <a:ext cx="342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99" y="838200"/>
            <a:ext cx="345659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157" y="3495230"/>
            <a:ext cx="4394201" cy="8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90800" y="0"/>
            <a:ext cx="3251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Character Table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8" y="5867400"/>
            <a:ext cx="3746612" cy="922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785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2"/>
          <a:stretch/>
        </p:blipFill>
        <p:spPr bwMode="auto">
          <a:xfrm>
            <a:off x="396240" y="838200"/>
            <a:ext cx="524256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09" y="3200400"/>
            <a:ext cx="7644692" cy="226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" y="152400"/>
            <a:ext cx="832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information we have just deduced is included in the full character table e.g.: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448426"/>
            <a:ext cx="5029200" cy="133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9278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44148"/>
            <a:ext cx="8867775" cy="5099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10000" y="24825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Matrix </a:t>
            </a:r>
          </a:p>
        </p:txBody>
      </p:sp>
    </p:spTree>
    <p:extLst>
      <p:ext uri="{BB962C8B-B14F-4D97-AF65-F5344CB8AC3E}">
        <p14:creationId xmlns:p14="http://schemas.microsoft.com/office/powerpoint/2010/main" val="14640566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19200"/>
            <a:ext cx="8143875" cy="165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878881"/>
            <a:ext cx="7800975" cy="221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000" y="24825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Matrix </a:t>
            </a:r>
          </a:p>
        </p:txBody>
      </p:sp>
    </p:spTree>
    <p:extLst>
      <p:ext uri="{BB962C8B-B14F-4D97-AF65-F5344CB8AC3E}">
        <p14:creationId xmlns:p14="http://schemas.microsoft.com/office/powerpoint/2010/main" val="29948393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0" y="24825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Matrix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55" y="962025"/>
            <a:ext cx="850582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7100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76338"/>
            <a:ext cx="5638800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80846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66800" y="209490"/>
            <a:ext cx="601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 Matrix Representations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38200"/>
            <a:ext cx="807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water molecule possesses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symmetry. It has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axis through the oxygen and in the plane of the molecule, no perpendicular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axes, and no horizontal mirror plane; but it does have two vertical mirror planes, as shown in the following fig.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z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axis is usually chosen as the axis of highest rotational symmetry; for 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O, this is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rotational axis. The other axes are arbitrary. We will use the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plane as the plane of the molecule.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599"/>
            <a:ext cx="3083721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560638"/>
            <a:ext cx="2533644" cy="18589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732" y="4495799"/>
            <a:ext cx="2484312" cy="22652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20" y="4085166"/>
            <a:ext cx="2785267" cy="2544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5628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1576"/>
            <a:ext cx="7391400" cy="171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152400"/>
            <a:ext cx="601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 Matrix Representations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25200"/>
            <a:ext cx="8122079" cy="13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0"/>
            <a:ext cx="816622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81200" y="250404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Symmetry Operations of the Water Molecule </a:t>
            </a:r>
          </a:p>
        </p:txBody>
      </p:sp>
    </p:spTree>
    <p:extLst>
      <p:ext uri="{BB962C8B-B14F-4D97-AF65-F5344CB8AC3E}">
        <p14:creationId xmlns:p14="http://schemas.microsoft.com/office/powerpoint/2010/main" val="29287805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1577"/>
            <a:ext cx="6705600" cy="155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152400"/>
            <a:ext cx="601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 Matrix Representations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90800"/>
            <a:ext cx="8122079" cy="13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81200" y="22860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Symmetry Operations of the Water Molecule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43350"/>
            <a:ext cx="86106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06675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1577"/>
            <a:ext cx="6705600" cy="155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6800" y="152400"/>
            <a:ext cx="601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 Matrix Representations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22860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Symmetry Operations of the Water Molecule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895600"/>
            <a:ext cx="83629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88224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3632405" cy="3505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2000" y="209490"/>
            <a:ext cx="765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Prove that, C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 =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 σ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 through matrix representation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724400"/>
            <a:ext cx="860489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566"/>
          <a:stretch/>
        </p:blipFill>
        <p:spPr bwMode="auto">
          <a:xfrm>
            <a:off x="3962400" y="1200470"/>
            <a:ext cx="1981199" cy="123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143000"/>
            <a:ext cx="220295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/>
        </p:blipFill>
        <p:spPr bwMode="auto">
          <a:xfrm>
            <a:off x="4873378" y="2971800"/>
            <a:ext cx="2670422" cy="1186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38600" y="773668"/>
            <a:ext cx="112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6213" y="16880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8220561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1577"/>
            <a:ext cx="4648200" cy="108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152400"/>
            <a:ext cx="601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Symmetry Operations: Matrix Representations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8288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Fig. Symmetry Operations of the Water Molecule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2133601"/>
            <a:ext cx="7005637" cy="13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61963" y="3429000"/>
            <a:ext cx="151923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86200"/>
            <a:ext cx="777023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5763" y="5638800"/>
            <a:ext cx="82248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set of characters also forms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shorthand version of the matrix representation. This representation is called a 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reducible representation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Reducible representations are frequently designated with a capital gamma (</a:t>
            </a:r>
            <a:r>
              <a:rPr lang="az-Cyrl-AZ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9363" y="169333"/>
            <a:ext cx="151923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</a:p>
        </p:txBody>
      </p:sp>
    </p:spTree>
    <p:extLst>
      <p:ext uri="{BB962C8B-B14F-4D97-AF65-F5344CB8AC3E}">
        <p14:creationId xmlns:p14="http://schemas.microsoft.com/office/powerpoint/2010/main" val="20840960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3"/>
          <a:stretch/>
        </p:blipFill>
        <p:spPr bwMode="auto">
          <a:xfrm>
            <a:off x="383167" y="2362200"/>
            <a:ext cx="8550477" cy="835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838200"/>
            <a:ext cx="7005637" cy="139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1000" y="2441545"/>
            <a:ext cx="151923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5791200"/>
            <a:ext cx="8077201" cy="58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3533775"/>
            <a:ext cx="7916863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132151" y="133290"/>
            <a:ext cx="534484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Reducible and Irreducible 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3897479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838200"/>
            <a:ext cx="6908800" cy="170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770795"/>
            <a:ext cx="8441111" cy="22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132151" y="133290"/>
            <a:ext cx="534484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Reducible and Irreducible Representation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608" y="5257800"/>
            <a:ext cx="54473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</a:t>
            </a:r>
            <a:r>
              <a:rPr 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</a:t>
            </a:r>
            <a:r>
              <a:rPr 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Irreducible Representation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 is Reducible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8973393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19400" y="76200"/>
            <a:ext cx="28766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914400"/>
            <a:ext cx="800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complete set of irreducible representations for a point group is called the 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 table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that group. The character table for each point group is unique.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Important information about the symmetry aspects of point groups is summarized in character tables.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full set of representation is included in a table called the character table of the group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33" y="3124200"/>
            <a:ext cx="5870404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38032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838200"/>
            <a:ext cx="7821363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19400" y="76200"/>
            <a:ext cx="28766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 Table</a:t>
            </a:r>
          </a:p>
        </p:txBody>
      </p:sp>
    </p:spTree>
    <p:extLst>
      <p:ext uri="{BB962C8B-B14F-4D97-AF65-F5344CB8AC3E}">
        <p14:creationId xmlns:p14="http://schemas.microsoft.com/office/powerpoint/2010/main" val="41742713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19400" y="76200"/>
            <a:ext cx="28766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 Table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56" y="833119"/>
            <a:ext cx="7577144" cy="564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12418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838200"/>
            <a:ext cx="7391401" cy="391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76800"/>
            <a:ext cx="8001000" cy="873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867400"/>
            <a:ext cx="64674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0380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28" y="990600"/>
            <a:ext cx="801467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7292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83" y="914400"/>
            <a:ext cx="8079317" cy="86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001774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8971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8200"/>
            <a:ext cx="7662862" cy="1149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90800" y="86380"/>
            <a:ext cx="3459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Formula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96" y="1988030"/>
            <a:ext cx="7804116" cy="426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23039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37501"/>
              </p:ext>
            </p:extLst>
          </p:nvPr>
        </p:nvGraphicFramePr>
        <p:xfrm>
          <a:off x="457200" y="838200"/>
          <a:ext cx="6042055" cy="2057400"/>
        </p:xfrm>
        <a:graphic>
          <a:graphicData uri="http://schemas.openxmlformats.org/drawingml/2006/table">
            <a:tbl>
              <a:tblPr firstRow="1" bandRow="1"/>
              <a:tblGrid>
                <a:gridCol w="120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l-G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xz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l-G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yz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─1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57032" y="71735"/>
            <a:ext cx="592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reducible representation 3 3 1 1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5105400" cy="446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5562600" cy="29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6096000" cy="3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267" y="1066800"/>
            <a:ext cx="1947333" cy="71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788016"/>
            <a:ext cx="21526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4114801"/>
            <a:ext cx="5486399" cy="225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18106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70809"/>
              </p:ext>
            </p:extLst>
          </p:nvPr>
        </p:nvGraphicFramePr>
        <p:xfrm>
          <a:off x="457200" y="838200"/>
          <a:ext cx="6042055" cy="2057400"/>
        </p:xfrm>
        <a:graphic>
          <a:graphicData uri="http://schemas.openxmlformats.org/drawingml/2006/table">
            <a:tbl>
              <a:tblPr firstRow="1" bandRow="1"/>
              <a:tblGrid>
                <a:gridCol w="120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l-G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xz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l-G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yz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─1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just"/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8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+A</a:t>
                      </a:r>
                      <a:r>
                        <a:rPr lang="en-US" sz="1800" b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57032" y="71735"/>
            <a:ext cx="592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reducible representation 3 3 1 1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5105400" cy="446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0"/>
            <a:ext cx="5562600" cy="29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267" y="1066800"/>
            <a:ext cx="1947333" cy="71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788016"/>
            <a:ext cx="21526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3" y="3886200"/>
            <a:ext cx="7143750" cy="2600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45504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357032" y="71735"/>
            <a:ext cx="592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reducible representation 3 3 1 1</a:t>
            </a:r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5105400" cy="446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05200"/>
            <a:ext cx="5562600" cy="299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267" y="1066800"/>
            <a:ext cx="1947333" cy="71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788016"/>
            <a:ext cx="21526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4247370"/>
            <a:ext cx="5638799" cy="906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" y="3893018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 the B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representation, the values of </a:t>
            </a:r>
            <a:r>
              <a:rPr lang="el-GR" sz="1600" b="1" dirty="0">
                <a:latin typeface="Arial" panose="020B0604020202020204" pitchFamily="34" charset="0"/>
                <a:cs typeface="Arial" panose="020B0604020202020204" pitchFamily="34" charset="0"/>
              </a:rPr>
              <a:t>χ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are  1, ─ 1, 1, ─ 1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04" y="807719"/>
            <a:ext cx="3379396" cy="215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99533" y="5144043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 the B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representation, the values of </a:t>
            </a:r>
            <a:r>
              <a:rPr lang="el-GR" sz="1600" b="1" dirty="0">
                <a:latin typeface="Arial" panose="020B0604020202020204" pitchFamily="34" charset="0"/>
                <a:cs typeface="Arial" panose="020B0604020202020204" pitchFamily="34" charset="0"/>
              </a:rPr>
              <a:t>χ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are  1, ─ 1, ─ 1 , 1, 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697352"/>
            <a:ext cx="5943600" cy="9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002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28" y="838200"/>
            <a:ext cx="6185872" cy="264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1400"/>
            <a:ext cx="4272311" cy="17526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5486400"/>
            <a:ext cx="4876800" cy="127624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111" y="1981200"/>
            <a:ext cx="3657600" cy="588224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43200"/>
            <a:ext cx="4038600" cy="63331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4457941"/>
            <a:ext cx="4257675" cy="240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2157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66" y="1905000"/>
            <a:ext cx="8366234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19200" y="76200"/>
            <a:ext cx="6577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 Flowchart of 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O(C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2v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2533644" cy="18589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24200" y="914400"/>
            <a:ext cx="5610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Symmetry Element of H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 = E, C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σ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),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1562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19200" y="76200"/>
            <a:ext cx="6577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 Flowchart of 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O(C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2v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990600"/>
            <a:ext cx="8001001" cy="4759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72274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219200" y="76200"/>
            <a:ext cx="6577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Representation Flowchart of H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O(C</a:t>
            </a:r>
            <a:r>
              <a:rPr lang="en-US" sz="2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2v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667000"/>
            <a:ext cx="8072924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2286000" cy="16772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48000" y="1383268"/>
            <a:ext cx="5610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Symmetry Element of H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 = E, C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σ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),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159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3429000" cy="219626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200" y="152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For C</a:t>
            </a:r>
            <a:r>
              <a:rPr lang="en-US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3v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point group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14400"/>
            <a:ext cx="4876801" cy="27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95400"/>
            <a:ext cx="2415598" cy="717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02800"/>
            <a:ext cx="5181600" cy="75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4" y="3200400"/>
            <a:ext cx="5811836" cy="378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603743"/>
            <a:ext cx="2895600" cy="381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4038600"/>
            <a:ext cx="4876799" cy="380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4500831"/>
            <a:ext cx="2943225" cy="1899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3124200"/>
            <a:ext cx="231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Order, h = 1+2+3= 6</a:t>
            </a:r>
          </a:p>
        </p:txBody>
      </p:sp>
    </p:spTree>
    <p:extLst>
      <p:ext uri="{BB962C8B-B14F-4D97-AF65-F5344CB8AC3E}">
        <p14:creationId xmlns:p14="http://schemas.microsoft.com/office/powerpoint/2010/main" val="32556992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838200"/>
            <a:ext cx="298088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3093229" cy="1981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733800"/>
            <a:ext cx="84486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3124200"/>
            <a:ext cx="231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Order, h = 1+2+3=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52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For C</a:t>
            </a:r>
            <a:r>
              <a:rPr lang="en-US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3v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point group</a:t>
            </a:r>
          </a:p>
        </p:txBody>
      </p:sp>
    </p:spTree>
    <p:extLst>
      <p:ext uri="{BB962C8B-B14F-4D97-AF65-F5344CB8AC3E}">
        <p14:creationId xmlns:p14="http://schemas.microsoft.com/office/powerpoint/2010/main" val="10574067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07719"/>
            <a:ext cx="3379396" cy="215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38200" y="152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For C</a:t>
            </a:r>
            <a:r>
              <a:rPr lang="en-US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2v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point group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1143000"/>
            <a:ext cx="3886200" cy="920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3276600"/>
            <a:ext cx="7677150" cy="269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8623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2" r="19786" b="31220"/>
          <a:stretch/>
        </p:blipFill>
        <p:spPr bwMode="auto">
          <a:xfrm>
            <a:off x="328613" y="838200"/>
            <a:ext cx="5330086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" y="152400"/>
            <a:ext cx="5966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the following reducible representations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271" y="838200"/>
            <a:ext cx="2329529" cy="148629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311" y="5149798"/>
            <a:ext cx="2310089" cy="147960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4783666"/>
            <a:ext cx="4049755" cy="1845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895600"/>
            <a:ext cx="4042689" cy="114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8491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42" y="914400"/>
            <a:ext cx="878205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61973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819150"/>
            <a:ext cx="87058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503999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990600"/>
            <a:ext cx="782955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96705257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838200"/>
            <a:ext cx="7029450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80" y="142875"/>
            <a:ext cx="70389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3400"/>
            <a:ext cx="41814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05400" y="3581400"/>
            <a:ext cx="3796232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turn rotation = 360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rotation =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1/2 turn rotation = 180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rotation =C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1/4 turn rotation = 90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rotation =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365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14400"/>
            <a:ext cx="21145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3" y="2514600"/>
            <a:ext cx="42481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28732029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6485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20" y="3276600"/>
            <a:ext cx="2400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21102620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00100"/>
            <a:ext cx="5943600" cy="127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2209800"/>
            <a:ext cx="5705475" cy="2908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105400"/>
            <a:ext cx="3124200" cy="1256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324600"/>
            <a:ext cx="24860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22637698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909638"/>
            <a:ext cx="822007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13327850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885825"/>
            <a:ext cx="7867650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"/>
            <a:ext cx="55340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2416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0"/>
            <a:ext cx="614362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56" y="838200"/>
            <a:ext cx="7068344" cy="2099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6579" y="4495800"/>
            <a:ext cx="5267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reversed and contribute ─1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unaffected and contributes + 1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9315241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2667000"/>
            <a:ext cx="6438900" cy="404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6" y="838200"/>
            <a:ext cx="6001544" cy="1782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05200" y="24825"/>
            <a:ext cx="1391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310823630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09"/>
          <a:stretch/>
        </p:blipFill>
        <p:spPr bwMode="auto">
          <a:xfrm>
            <a:off x="609600" y="838200"/>
            <a:ext cx="7086600" cy="17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49" y="19246"/>
            <a:ext cx="5302251" cy="59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632544"/>
            <a:ext cx="73533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57" y="5105400"/>
            <a:ext cx="7505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03642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620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24400"/>
            <a:ext cx="71913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09"/>
          <a:stretch/>
        </p:blipFill>
        <p:spPr bwMode="auto">
          <a:xfrm>
            <a:off x="685800" y="2718389"/>
            <a:ext cx="7086600" cy="17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92562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155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4317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1394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169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321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174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834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953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2632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177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421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5951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6350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5017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059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7189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2716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9570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72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0172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3887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445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626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4373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499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6089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579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608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3962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7507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3634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1511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418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4878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1734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1327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3125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38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478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5108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8434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6111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685800"/>
            <a:ext cx="8382000" cy="45719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4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1412</Words>
  <Application>Microsoft Office PowerPoint</Application>
  <PresentationFormat>On-screen Show (4:3)</PresentationFormat>
  <Paragraphs>164</Paragraphs>
  <Slides>151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Subas Rajbangshi</dc:creator>
  <cp:lastModifiedBy>USER</cp:lastModifiedBy>
  <cp:revision>96</cp:revision>
  <cp:lastPrinted>2025-05-05T04:49:46Z</cp:lastPrinted>
  <dcterms:created xsi:type="dcterms:W3CDTF">2006-08-16T00:00:00Z</dcterms:created>
  <dcterms:modified xsi:type="dcterms:W3CDTF">2025-06-30T05:59:15Z</dcterms:modified>
</cp:coreProperties>
</file>