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63" r:id="rId7"/>
    <p:sldId id="264" r:id="rId8"/>
    <p:sldId id="265" r:id="rId9"/>
    <p:sldId id="267" r:id="rId10"/>
    <p:sldId id="266" r:id="rId11"/>
    <p:sldId id="268" r:id="rId12"/>
    <p:sldId id="269" r:id="rId13"/>
    <p:sldId id="270" r:id="rId14"/>
    <p:sldId id="271" r:id="rId15"/>
    <p:sldId id="272" r:id="rId16"/>
    <p:sldId id="273" r:id="rId17"/>
    <p:sldId id="274" r:id="rId18"/>
    <p:sldId id="276" r:id="rId19"/>
    <p:sldId id="275" r:id="rId20"/>
    <p:sldId id="277" r:id="rId21"/>
    <p:sldId id="278" r:id="rId22"/>
    <p:sldId id="279" r:id="rId23"/>
    <p:sldId id="28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F276F4-5040-4616-8D4D-3F993D9EE772}" type="datetimeFigureOut">
              <a:rPr lang="en-US" smtClean="0"/>
              <a:pPr/>
              <a:t>9/19/2019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F276F4-5040-4616-8D4D-3F993D9EE772}" type="datetimeFigureOut">
              <a:rPr lang="en-US" smtClean="0"/>
              <a:pPr/>
              <a:t>9/19/2019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F276F4-5040-4616-8D4D-3F993D9EE772}" type="datetimeFigureOut">
              <a:rPr lang="en-US" smtClean="0"/>
              <a:pPr/>
              <a:t>9/19/2019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F276F4-5040-4616-8D4D-3F993D9EE772}" type="datetimeFigureOut">
              <a:rPr lang="en-US" smtClean="0"/>
              <a:pPr/>
              <a:t>9/19/2019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F276F4-5040-4616-8D4D-3F993D9EE772}" type="datetimeFigureOut">
              <a:rPr lang="en-US" smtClean="0"/>
              <a:pPr/>
              <a:t>9/19/2019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F276F4-5040-4616-8D4D-3F993D9EE772}" type="datetimeFigureOut">
              <a:rPr lang="en-US" smtClean="0"/>
              <a:pPr/>
              <a:t>9/19/2019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F276F4-5040-4616-8D4D-3F993D9EE772}" type="datetimeFigureOut">
              <a:rPr lang="en-US" smtClean="0"/>
              <a:pPr/>
              <a:t>9/19/2019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F276F4-5040-4616-8D4D-3F993D9EE772}" type="datetimeFigureOut">
              <a:rPr lang="en-US" smtClean="0"/>
              <a:pPr/>
              <a:t>9/19/2019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F276F4-5040-4616-8D4D-3F993D9EE772}" type="datetimeFigureOut">
              <a:rPr lang="en-US" smtClean="0"/>
              <a:pPr/>
              <a:t>9/19/2019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F276F4-5040-4616-8D4D-3F993D9EE772}" type="datetimeFigureOut">
              <a:rPr lang="en-US" smtClean="0"/>
              <a:pPr/>
              <a:t>9/19/2019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F276F4-5040-4616-8D4D-3F993D9EE772}" type="datetimeFigureOut">
              <a:rPr lang="en-US" smtClean="0"/>
              <a:pPr/>
              <a:t>9/19/2019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AC0C37-2478-40E6-B7AA-4C5EDC4A14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F276F4-5040-4616-8D4D-3F993D9EE772}" type="datetimeFigureOut">
              <a:rPr lang="en-US" smtClean="0"/>
              <a:pPr/>
              <a:t>9/19/2019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AC0C37-2478-40E6-B7AA-4C5EDC4A14B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answers.com/topic/lanthanum" TargetMode="External"/><Relationship Id="rId2" Type="http://schemas.openxmlformats.org/officeDocument/2006/relationships/hyperlink" Target="http://www.answers.com/topic/cerium" TargetMode="External"/><Relationship Id="rId1" Type="http://schemas.openxmlformats.org/officeDocument/2006/relationships/slideLayout" Target="../slideLayouts/slideLayout2.xml"/><Relationship Id="rId5" Type="http://schemas.openxmlformats.org/officeDocument/2006/relationships/hyperlink" Target="http://www.answers.com/topic/samarium" TargetMode="External"/><Relationship Id="rId4" Type="http://schemas.openxmlformats.org/officeDocument/2006/relationships/hyperlink" Target="http://www.answers.com/topic/neodymiu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7030A0"/>
                </a:solidFill>
              </a:rPr>
              <a:t>Lanthanides and Actinides</a:t>
            </a:r>
            <a:br>
              <a:rPr lang="en-US" b="1" dirty="0" smtClean="0">
                <a:solidFill>
                  <a:srgbClr val="7030A0"/>
                </a:solidFill>
              </a:rPr>
            </a:br>
            <a:endParaRPr lang="en-US" dirty="0">
              <a:solidFill>
                <a:srgbClr val="7030A0"/>
              </a:solidFill>
            </a:endParaRPr>
          </a:p>
        </p:txBody>
      </p:sp>
      <p:sp>
        <p:nvSpPr>
          <p:cNvPr id="4" name="Rectangle 3"/>
          <p:cNvSpPr/>
          <p:nvPr/>
        </p:nvSpPr>
        <p:spPr>
          <a:xfrm>
            <a:off x="533400" y="1600200"/>
            <a:ext cx="8610600" cy="2800767"/>
          </a:xfrm>
          <a:prstGeom prst="rect">
            <a:avLst/>
          </a:prstGeom>
        </p:spPr>
        <p:txBody>
          <a:bodyPr wrap="square">
            <a:spAutoFit/>
          </a:bodyPr>
          <a:lstStyle/>
          <a:p>
            <a:r>
              <a:rPr lang="en-US" sz="4400" dirty="0" smtClean="0"/>
              <a:t>The </a:t>
            </a:r>
            <a:r>
              <a:rPr lang="en-US" sz="4400" dirty="0" smtClean="0">
                <a:solidFill>
                  <a:srgbClr val="FF0000"/>
                </a:solidFill>
              </a:rPr>
              <a:t>lanthanides</a:t>
            </a:r>
            <a:r>
              <a:rPr lang="en-US" sz="4400" dirty="0" smtClean="0"/>
              <a:t> are the elements produced as the </a:t>
            </a:r>
            <a:r>
              <a:rPr lang="en-US" sz="4400" dirty="0" smtClean="0">
                <a:solidFill>
                  <a:srgbClr val="00B050"/>
                </a:solidFill>
              </a:rPr>
              <a:t>4f</a:t>
            </a:r>
            <a:r>
              <a:rPr lang="en-US" sz="4400" dirty="0" smtClean="0"/>
              <a:t> sub level is filled with electrons and the </a:t>
            </a:r>
            <a:r>
              <a:rPr lang="en-US" sz="4400" dirty="0" smtClean="0">
                <a:solidFill>
                  <a:srgbClr val="7030A0"/>
                </a:solidFill>
              </a:rPr>
              <a:t>actinides </a:t>
            </a:r>
            <a:r>
              <a:rPr lang="en-US" sz="4400" dirty="0" smtClean="0"/>
              <a:t>are formed while filling the </a:t>
            </a:r>
            <a:r>
              <a:rPr lang="en-US" sz="4400" dirty="0" smtClean="0">
                <a:solidFill>
                  <a:srgbClr val="00B050"/>
                </a:solidFill>
              </a:rPr>
              <a:t>5f</a:t>
            </a:r>
            <a:r>
              <a:rPr lang="en-US" sz="4400" dirty="0" smtClean="0"/>
              <a:t> sub level  </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838200" y="381000"/>
            <a:ext cx="8001000" cy="6324599"/>
          </a:xfrm>
          <a:prstGeom prst="rect">
            <a:avLst/>
          </a:prstGeom>
        </p:spPr>
        <p:txBody>
          <a:bodyPr vert="horz" lIns="91440" tIns="45720" rIns="91440" bIns="45720" rtlCol="0" anchor="ctr">
            <a:normAutofit fontScale="97500"/>
          </a:bodyPr>
          <a:lstStyle/>
          <a:p>
            <a:pPr lvl="0" algn="just">
              <a:spcBef>
                <a:spcPct val="0"/>
              </a:spcBef>
            </a:pPr>
            <a:endParaRPr lang="en-US" sz="3200" dirty="0" smtClean="0"/>
          </a:p>
          <a:p>
            <a:pPr lvl="0" algn="just">
              <a:spcBef>
                <a:spcPct val="0"/>
              </a:spcBef>
            </a:pPr>
            <a:r>
              <a:rPr lang="en-US" sz="3200" dirty="0" smtClean="0"/>
              <a:t>The two rows that are generally placed underneath the main periodic table are called </a:t>
            </a:r>
            <a:r>
              <a:rPr lang="en-US" sz="3200" dirty="0" smtClean="0">
                <a:solidFill>
                  <a:srgbClr val="FF0000"/>
                </a:solidFill>
              </a:rPr>
              <a:t>the lanthanides series and the actinides.</a:t>
            </a:r>
          </a:p>
          <a:p>
            <a:pPr lvl="0" algn="just">
              <a:spcBef>
                <a:spcPct val="0"/>
              </a:spcBef>
            </a:pPr>
            <a:endParaRPr lang="en-US" sz="3200" dirty="0" smtClean="0">
              <a:solidFill>
                <a:srgbClr val="FF0000"/>
              </a:solidFill>
            </a:endParaRPr>
          </a:p>
          <a:p>
            <a:pPr lvl="0" algn="just">
              <a:spcBef>
                <a:spcPct val="0"/>
              </a:spcBef>
            </a:pPr>
            <a:r>
              <a:rPr lang="en-US" sz="3200" dirty="0" smtClean="0"/>
              <a:t>Therefore this block of elements are referred to as the </a:t>
            </a:r>
            <a:r>
              <a:rPr lang="en-US" sz="3200" b="1" dirty="0" smtClean="0">
                <a:solidFill>
                  <a:srgbClr val="7030A0"/>
                </a:solidFill>
              </a:rPr>
              <a:t>f block</a:t>
            </a:r>
            <a:r>
              <a:rPr lang="en-US" sz="3200" dirty="0" smtClean="0"/>
              <a:t>. The lanthanides are also occasionally referred to as </a:t>
            </a:r>
            <a:r>
              <a:rPr lang="en-US" sz="3200" b="1" dirty="0" smtClean="0">
                <a:solidFill>
                  <a:srgbClr val="7030A0"/>
                </a:solidFill>
              </a:rPr>
              <a:t>rare earth elements</a:t>
            </a:r>
            <a:r>
              <a:rPr lang="en-US" sz="3200" dirty="0" smtClean="0"/>
              <a:t>.</a:t>
            </a:r>
            <a:endParaRPr kumimoji="0" lang="en-US" sz="3200" b="0" i="0" u="none" strike="noStrike" kern="1200" cap="none" spc="0" normalizeH="0" baseline="0" noProof="0" dirty="0" smtClean="0">
              <a:ln>
                <a:noFill/>
              </a:ln>
              <a:solidFill>
                <a:srgbClr val="FF0000"/>
              </a:solidFill>
              <a:effectLst/>
              <a:uLnTx/>
              <a:uFillTx/>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10000"/>
          </a:bodyPr>
          <a:lstStyle/>
          <a:p>
            <a:pPr lvl="0"/>
            <a:r>
              <a:rPr lang="en-US" dirty="0"/>
              <a:t>The </a:t>
            </a:r>
            <a:r>
              <a:rPr lang="en-US" dirty="0">
                <a:solidFill>
                  <a:srgbClr val="7030A0"/>
                </a:solidFill>
              </a:rPr>
              <a:t>f-block elements </a:t>
            </a:r>
            <a:r>
              <a:rPr lang="en-US" dirty="0"/>
              <a:t>in which the last electron or the differentiating electron enters in (n-2) f-</a:t>
            </a:r>
            <a:r>
              <a:rPr lang="en-US" dirty="0" err="1"/>
              <a:t>orbitals</a:t>
            </a:r>
            <a:r>
              <a:rPr lang="en-US" dirty="0"/>
              <a:t> and the </a:t>
            </a:r>
            <a:r>
              <a:rPr lang="en-US" dirty="0">
                <a:solidFill>
                  <a:srgbClr val="FF0000"/>
                </a:solidFill>
              </a:rPr>
              <a:t>general electronic configuration  is </a:t>
            </a:r>
            <a:r>
              <a:rPr lang="en-US" b="1" dirty="0">
                <a:solidFill>
                  <a:srgbClr val="FF0000"/>
                </a:solidFill>
              </a:rPr>
              <a:t>(n-2)f</a:t>
            </a:r>
            <a:r>
              <a:rPr lang="en-US" b="1" baseline="30000" dirty="0">
                <a:solidFill>
                  <a:srgbClr val="FF0000"/>
                </a:solidFill>
              </a:rPr>
              <a:t>1-14</a:t>
            </a:r>
            <a:r>
              <a:rPr lang="en-US" b="1" dirty="0">
                <a:solidFill>
                  <a:srgbClr val="FF0000"/>
                </a:solidFill>
              </a:rPr>
              <a:t> (n-1)d</a:t>
            </a:r>
            <a:r>
              <a:rPr lang="en-US" b="1" baseline="30000" dirty="0">
                <a:solidFill>
                  <a:srgbClr val="FF0000"/>
                </a:solidFill>
              </a:rPr>
              <a:t>0-1</a:t>
            </a:r>
            <a:r>
              <a:rPr lang="en-US" b="1" dirty="0">
                <a:solidFill>
                  <a:srgbClr val="FF0000"/>
                </a:solidFill>
              </a:rPr>
              <a:t> ns</a:t>
            </a:r>
            <a:r>
              <a:rPr lang="en-US" b="1" baseline="30000" dirty="0">
                <a:solidFill>
                  <a:srgbClr val="FF0000"/>
                </a:solidFill>
              </a:rPr>
              <a:t>2</a:t>
            </a:r>
            <a:r>
              <a:rPr lang="en-US" dirty="0">
                <a:solidFill>
                  <a:srgbClr val="7030A0"/>
                </a:solidFill>
              </a:rPr>
              <a:t> </a:t>
            </a:r>
            <a:r>
              <a:rPr lang="en-US" dirty="0"/>
              <a:t>consists of two series of inner transition </a:t>
            </a:r>
            <a:r>
              <a:rPr lang="en-US" dirty="0" smtClean="0"/>
              <a:t>elements</a:t>
            </a:r>
          </a:p>
          <a:p>
            <a:pPr lvl="0"/>
            <a:endParaRPr lang="en-US" dirty="0"/>
          </a:p>
          <a:p>
            <a:r>
              <a:rPr lang="en-US" b="1" dirty="0" smtClean="0"/>
              <a:t>Lanthanides</a:t>
            </a:r>
            <a:r>
              <a:rPr lang="en-US" dirty="0" smtClean="0"/>
              <a:t> (the fourteen element following lanthanum) he elements in which the last electron enters one of the 4f-orbitals are called 4f-block elements or </a:t>
            </a:r>
            <a:r>
              <a:rPr lang="en-US" b="1" dirty="0" smtClean="0"/>
              <a:t>first inner transition series</a:t>
            </a:r>
            <a:r>
              <a:rPr lang="en-US" dirty="0" smtClean="0"/>
              <a:t>. </a:t>
            </a:r>
          </a:p>
          <a:p>
            <a:endParaRPr lang="en-US" dirty="0"/>
          </a:p>
          <a:p>
            <a:r>
              <a:rPr lang="en-US" dirty="0" smtClean="0"/>
              <a:t>They are also called </a:t>
            </a:r>
            <a:r>
              <a:rPr lang="en-US" b="1" dirty="0" smtClean="0"/>
              <a:t>Lanthanides</a:t>
            </a:r>
            <a:r>
              <a:rPr lang="en-US" dirty="0" smtClean="0"/>
              <a:t> (or) </a:t>
            </a:r>
            <a:r>
              <a:rPr lang="en-US" b="1" dirty="0" err="1" smtClean="0"/>
              <a:t>lanthanones</a:t>
            </a:r>
            <a:r>
              <a:rPr lang="en-US" dirty="0" smtClean="0"/>
              <a:t> because they come immediately after lanthanum. </a:t>
            </a:r>
            <a:br>
              <a:rPr lang="en-US" dirty="0" smtClean="0"/>
            </a:br>
            <a:r>
              <a:rPr lang="en-US" dirty="0" smtClean="0"/>
              <a:t>Â·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b="1" dirty="0" smtClean="0"/>
              <a:t>Actinides</a:t>
            </a:r>
            <a:r>
              <a:rPr lang="en-US" dirty="0" smtClean="0"/>
              <a:t> (the fourteen element following actinium)</a:t>
            </a:r>
          </a:p>
          <a:p>
            <a:r>
              <a:rPr lang="en-US" dirty="0" smtClean="0"/>
              <a:t>The elements in which the last electron enters one of the 5f-orbitals are called 4f-block elements or second inner transition series. They are also called Actinides because they come immediately after actinium. The general electronic configuration is   </a:t>
            </a:r>
            <a:r>
              <a:rPr lang="en-US" b="1" dirty="0" smtClean="0"/>
              <a:t>[</a:t>
            </a:r>
            <a:r>
              <a:rPr lang="en-US" b="1" dirty="0" err="1" smtClean="0"/>
              <a:t>Rn</a:t>
            </a:r>
            <a:r>
              <a:rPr lang="en-US" b="1" dirty="0" smtClean="0"/>
              <a:t>]5f</a:t>
            </a:r>
            <a:r>
              <a:rPr lang="en-US" b="1" baseline="30000" dirty="0" smtClean="0"/>
              <a:t>1-14</a:t>
            </a:r>
            <a:r>
              <a:rPr lang="en-US" b="1" dirty="0" smtClean="0"/>
              <a:t> 6d</a:t>
            </a:r>
            <a:r>
              <a:rPr lang="en-US" b="1" baseline="30000" dirty="0" smtClean="0"/>
              <a:t>0-1</a:t>
            </a:r>
            <a:r>
              <a:rPr lang="en-US" b="1" dirty="0" smtClean="0"/>
              <a:t> 7s</a:t>
            </a:r>
            <a:r>
              <a:rPr lang="en-US" b="1" baseline="30000" dirty="0" smtClean="0"/>
              <a:t>2</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457200" y="0"/>
            <a:ext cx="8000998" cy="2819400"/>
          </a:xfrm>
          <a:prstGeom prst="rect">
            <a:avLst/>
          </a:prstGeom>
          <a:noFill/>
          <a:ln w="9525">
            <a:noFill/>
            <a:miter lim="800000"/>
            <a:headEnd/>
            <a:tailEnd/>
          </a:ln>
        </p:spPr>
      </p:pic>
      <p:sp>
        <p:nvSpPr>
          <p:cNvPr id="5" name="Rectangle 4"/>
          <p:cNvSpPr/>
          <p:nvPr/>
        </p:nvSpPr>
        <p:spPr>
          <a:xfrm>
            <a:off x="3505200" y="2819400"/>
            <a:ext cx="2644763" cy="369332"/>
          </a:xfrm>
          <a:prstGeom prst="rect">
            <a:avLst/>
          </a:prstGeom>
        </p:spPr>
        <p:txBody>
          <a:bodyPr wrap="none">
            <a:spAutoFit/>
          </a:bodyPr>
          <a:lstStyle/>
          <a:p>
            <a:r>
              <a:rPr lang="en-US" b="1" dirty="0" smtClean="0"/>
              <a:t>Lanthanides (58Ce- 71Lu) </a:t>
            </a:r>
            <a:endParaRPr lang="en-US" dirty="0"/>
          </a:p>
        </p:txBody>
      </p:sp>
      <p:sp>
        <p:nvSpPr>
          <p:cNvPr id="6" name="Rectangle 5"/>
          <p:cNvSpPr/>
          <p:nvPr/>
        </p:nvSpPr>
        <p:spPr>
          <a:xfrm>
            <a:off x="762000" y="3276600"/>
            <a:ext cx="2374881" cy="369332"/>
          </a:xfrm>
          <a:prstGeom prst="rect">
            <a:avLst/>
          </a:prstGeom>
        </p:spPr>
        <p:txBody>
          <a:bodyPr wrap="none">
            <a:spAutoFit/>
          </a:bodyPr>
          <a:lstStyle/>
          <a:p>
            <a:r>
              <a:rPr lang="en-US" b="1" dirty="0" smtClean="0"/>
              <a:t>General Characteristics</a:t>
            </a:r>
            <a:endParaRPr lang="en-US" b="1" dirty="0"/>
          </a:p>
        </p:txBody>
      </p:sp>
      <p:sp>
        <p:nvSpPr>
          <p:cNvPr id="7" name="Rectangle 6"/>
          <p:cNvSpPr/>
          <p:nvPr/>
        </p:nvSpPr>
        <p:spPr>
          <a:xfrm>
            <a:off x="762000" y="3886200"/>
            <a:ext cx="4572000" cy="646331"/>
          </a:xfrm>
          <a:prstGeom prst="rect">
            <a:avLst/>
          </a:prstGeom>
        </p:spPr>
        <p:txBody>
          <a:bodyPr>
            <a:spAutoFit/>
          </a:bodyPr>
          <a:lstStyle/>
          <a:p>
            <a:r>
              <a:rPr lang="en-US" dirty="0" smtClean="0"/>
              <a:t>Some important characteristics are given below-</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Autofit/>
          </a:bodyPr>
          <a:lstStyle/>
          <a:p>
            <a:r>
              <a:rPr lang="en-US" sz="1050" dirty="0" smtClean="0"/>
              <a:t/>
            </a:r>
            <a:br>
              <a:rPr lang="en-US" sz="1050" dirty="0" smtClean="0"/>
            </a:br>
            <a:r>
              <a:rPr lang="en-US" sz="2800" dirty="0" smtClean="0">
                <a:solidFill>
                  <a:srgbClr val="7030A0"/>
                </a:solidFill>
              </a:rPr>
              <a:t>Some important characteristics are given below-</a:t>
            </a:r>
            <a:endParaRPr lang="en-US" sz="1050" dirty="0" smtClean="0">
              <a:solidFill>
                <a:srgbClr val="7030A0"/>
              </a:solidFill>
            </a:endParaRPr>
          </a:p>
          <a:p>
            <a:pPr>
              <a:buNone/>
            </a:pPr>
            <a:r>
              <a:rPr lang="en-US" sz="1400" b="1" dirty="0" smtClean="0"/>
              <a:t>1. Electronic Configuration of Lanthanides:</a:t>
            </a:r>
            <a:r>
              <a:rPr lang="en-US" sz="1400" dirty="0" smtClean="0"/>
              <a:t> </a:t>
            </a:r>
          </a:p>
          <a:p>
            <a:pPr>
              <a:buNone/>
            </a:pPr>
            <a:r>
              <a:rPr lang="en-US" sz="1400" dirty="0" smtClean="0"/>
              <a:t>The complete electronic configuration of Lanthanides can be given as </a:t>
            </a:r>
            <a:r>
              <a:rPr lang="en-US" sz="1400" b="1" dirty="0" smtClean="0"/>
              <a:t>1s</a:t>
            </a:r>
            <a:r>
              <a:rPr lang="en-US" sz="1400" b="1" baseline="30000" dirty="0" smtClean="0"/>
              <a:t>2</a:t>
            </a:r>
            <a:r>
              <a:rPr lang="en-US" sz="1400" b="1" dirty="0" smtClean="0"/>
              <a:t> 2s</a:t>
            </a:r>
            <a:r>
              <a:rPr lang="en-US" sz="1400" b="1" baseline="30000" dirty="0" smtClean="0"/>
              <a:t>2</a:t>
            </a:r>
            <a:r>
              <a:rPr lang="en-US" sz="1400" b="1" dirty="0" smtClean="0"/>
              <a:t> p</a:t>
            </a:r>
            <a:r>
              <a:rPr lang="en-US" sz="1400" b="1" baseline="30000" dirty="0" smtClean="0"/>
              <a:t>6</a:t>
            </a:r>
            <a:r>
              <a:rPr lang="en-US" sz="1400" b="1" dirty="0" smtClean="0"/>
              <a:t> 3s</a:t>
            </a:r>
            <a:r>
              <a:rPr lang="en-US" sz="1400" b="1" baseline="30000" dirty="0" smtClean="0"/>
              <a:t>2</a:t>
            </a:r>
            <a:r>
              <a:rPr lang="en-US" sz="1400" b="1" dirty="0" smtClean="0"/>
              <a:t>p</a:t>
            </a:r>
            <a:r>
              <a:rPr lang="en-US" sz="1400" b="1" baseline="30000" dirty="0" smtClean="0"/>
              <a:t>6</a:t>
            </a:r>
            <a:r>
              <a:rPr lang="en-US" sz="1400" b="1" dirty="0" smtClean="0"/>
              <a:t>d</a:t>
            </a:r>
            <a:r>
              <a:rPr lang="en-US" sz="1400" b="1" baseline="30000" dirty="0" smtClean="0"/>
              <a:t>10</a:t>
            </a:r>
            <a:r>
              <a:rPr lang="en-US" sz="1400" b="1" dirty="0" smtClean="0"/>
              <a:t>4s</a:t>
            </a:r>
            <a:r>
              <a:rPr lang="en-US" sz="1400" b="1" baseline="30000" dirty="0" smtClean="0"/>
              <a:t>2</a:t>
            </a:r>
            <a:r>
              <a:rPr lang="en-US" sz="1400" b="1" dirty="0" smtClean="0"/>
              <a:t>p</a:t>
            </a:r>
            <a:r>
              <a:rPr lang="en-US" sz="1400" b="1" baseline="30000" dirty="0" smtClean="0"/>
              <a:t>6</a:t>
            </a:r>
            <a:r>
              <a:rPr lang="en-US" sz="1400" b="1" dirty="0" smtClean="0"/>
              <a:t>d</a:t>
            </a:r>
            <a:r>
              <a:rPr lang="en-US" sz="1400" b="1" baseline="30000" dirty="0" smtClean="0"/>
              <a:t>10</a:t>
            </a:r>
            <a:r>
              <a:rPr lang="en-US" sz="1400" b="1" dirty="0" smtClean="0"/>
              <a:t>f</a:t>
            </a:r>
            <a:r>
              <a:rPr lang="en-US" sz="1400" b="1" baseline="30000" dirty="0" smtClean="0"/>
              <a:t>0-14</a:t>
            </a:r>
            <a:r>
              <a:rPr lang="en-US" sz="1400" b="1" dirty="0" smtClean="0"/>
              <a:t> 5s</a:t>
            </a:r>
            <a:r>
              <a:rPr lang="en-US" sz="1400" b="1" baseline="30000" dirty="0" smtClean="0"/>
              <a:t>2</a:t>
            </a:r>
            <a:r>
              <a:rPr lang="en-US" sz="1400" b="1" dirty="0" smtClean="0"/>
              <a:t>p</a:t>
            </a:r>
            <a:r>
              <a:rPr lang="en-US" sz="1400" b="1" baseline="30000" dirty="0" smtClean="0"/>
              <a:t>6 </a:t>
            </a:r>
            <a:r>
              <a:rPr lang="en-US" sz="1400" b="1" dirty="0" smtClean="0"/>
              <a:t>d</a:t>
            </a:r>
            <a:r>
              <a:rPr lang="en-US" sz="1400" b="1" baseline="30000" dirty="0" smtClean="0"/>
              <a:t>0-1</a:t>
            </a:r>
            <a:r>
              <a:rPr lang="en-US" sz="1400" b="1" dirty="0" smtClean="0"/>
              <a:t> 6s</a:t>
            </a:r>
            <a:r>
              <a:rPr lang="en-US" sz="1400" b="1" baseline="30000" dirty="0" smtClean="0"/>
              <a:t>2</a:t>
            </a:r>
            <a:r>
              <a:rPr lang="en-US" sz="1400" b="1" dirty="0" smtClean="0"/>
              <a:t>.</a:t>
            </a:r>
          </a:p>
          <a:p>
            <a:pPr>
              <a:buNone/>
            </a:pPr>
            <a:r>
              <a:rPr lang="en-US" sz="1400" b="1" dirty="0" smtClean="0"/>
              <a:t>2. Oxidation States:</a:t>
            </a:r>
            <a:r>
              <a:rPr lang="en-US" sz="1400" dirty="0" smtClean="0"/>
              <a:t> The most stable oxidation state of Lanthanides is +3. They also show +2 and +4 oxidation states due to the presence of either half filled or completely filled or empty 4f sub shell. </a:t>
            </a:r>
          </a:p>
          <a:p>
            <a:pPr>
              <a:buNone/>
            </a:pPr>
            <a:r>
              <a:rPr lang="en-US" sz="1400" b="1" dirty="0" smtClean="0"/>
              <a:t>3. Color:</a:t>
            </a:r>
            <a:r>
              <a:rPr lang="en-US" sz="1400" dirty="0" smtClean="0"/>
              <a:t> Many of lanthanide metals are silver white. The lanthanide ions with +3 oxidation state are colored both in solid state and in aqueous solution. The color of a </a:t>
            </a:r>
            <a:r>
              <a:rPr lang="en-US" sz="1400" dirty="0" err="1" smtClean="0"/>
              <a:t>cation</a:t>
            </a:r>
            <a:r>
              <a:rPr lang="en-US" sz="1400" dirty="0" smtClean="0"/>
              <a:t> depends on the number of un</a:t>
            </a:r>
          </a:p>
          <a:p>
            <a:pPr>
              <a:buNone/>
            </a:pPr>
            <a:r>
              <a:rPr lang="en-US" sz="1400" b="1" dirty="0" smtClean="0"/>
              <a:t>4.Magnetic Properties:</a:t>
            </a:r>
            <a:r>
              <a:rPr lang="en-US" sz="1400" dirty="0" smtClean="0"/>
              <a:t> The lanthanide ions other than f</a:t>
            </a:r>
            <a:r>
              <a:rPr lang="en-US" sz="1400" baseline="30000" dirty="0" smtClean="0"/>
              <a:t>0</a:t>
            </a:r>
            <a:r>
              <a:rPr lang="en-US" sz="1400" dirty="0" smtClean="0"/>
              <a:t> and f</a:t>
            </a:r>
            <a:r>
              <a:rPr lang="en-US" sz="1400" baseline="30000" dirty="0" smtClean="0"/>
              <a:t>14</a:t>
            </a:r>
            <a:r>
              <a:rPr lang="en-US" sz="1400" dirty="0" smtClean="0"/>
              <a:t> type are paramagnetic in nature due to unpaired electrons in f-</a:t>
            </a:r>
            <a:r>
              <a:rPr lang="en-US" sz="1400" dirty="0" err="1" smtClean="0"/>
              <a:t>orbitals</a:t>
            </a:r>
            <a:r>
              <a:rPr lang="en-US" sz="1400" dirty="0" smtClean="0"/>
              <a:t>. </a:t>
            </a:r>
          </a:p>
          <a:p>
            <a:pPr>
              <a:buNone/>
            </a:pPr>
            <a:r>
              <a:rPr lang="en-US" sz="1400" dirty="0" smtClean="0"/>
              <a:t>5. </a:t>
            </a:r>
            <a:r>
              <a:rPr lang="en-US" sz="1400" b="1" dirty="0" smtClean="0"/>
              <a:t>Melting and boiling point:</a:t>
            </a:r>
            <a:r>
              <a:rPr lang="en-US" sz="1400" dirty="0" smtClean="0"/>
              <a:t> They have fairly high melting point but there is no definite trend in the melting and boiling point of lanthanides. </a:t>
            </a:r>
          </a:p>
          <a:p>
            <a:pPr>
              <a:buNone/>
            </a:pPr>
            <a:r>
              <a:rPr lang="en-US" sz="1400" b="1" dirty="0" smtClean="0"/>
              <a:t>6.Density:</a:t>
            </a:r>
            <a:r>
              <a:rPr lang="en-US" sz="1400" dirty="0" smtClean="0"/>
              <a:t> They have high density ranging between 6.77 to 9.74 g cm-3. Its increases with increasing atomic number.</a:t>
            </a:r>
          </a:p>
          <a:p>
            <a:pPr marL="514350" indent="-514350">
              <a:buNone/>
            </a:pPr>
            <a:r>
              <a:rPr lang="en-US" sz="1400" b="1" dirty="0" smtClean="0"/>
              <a:t>7. Ionization enthalpies:</a:t>
            </a:r>
            <a:r>
              <a:rPr lang="en-US" sz="1400" dirty="0" smtClean="0"/>
              <a:t> They have low ionization enthalpy.</a:t>
            </a:r>
          </a:p>
          <a:p>
            <a:pPr marL="514350" indent="-514350">
              <a:buNone/>
            </a:pPr>
            <a:r>
              <a:rPr lang="en-US" sz="1400" dirty="0" smtClean="0"/>
              <a:t>8. </a:t>
            </a:r>
            <a:r>
              <a:rPr lang="en-US" sz="1400" b="1" dirty="0" smtClean="0"/>
              <a:t>Complex formation:</a:t>
            </a:r>
            <a:r>
              <a:rPr lang="en-US" sz="1400" dirty="0" smtClean="0"/>
              <a:t> They don't have much tendency to form complexes because of low charge density. The order of complex formation can be best represented as Ln</a:t>
            </a:r>
            <a:r>
              <a:rPr lang="en-US" sz="1400" baseline="30000" dirty="0" smtClean="0"/>
              <a:t>4+</a:t>
            </a:r>
            <a:r>
              <a:rPr lang="en-US" sz="1400" dirty="0" smtClean="0"/>
              <a:t> &gt; Ln</a:t>
            </a:r>
            <a:r>
              <a:rPr lang="en-US" sz="1400" baseline="30000" dirty="0" smtClean="0"/>
              <a:t>3+</a:t>
            </a:r>
            <a:r>
              <a:rPr lang="en-US" sz="1400" dirty="0" smtClean="0"/>
              <a:t> &gt; Ln</a:t>
            </a:r>
            <a:r>
              <a:rPr lang="en-US" sz="1400" baseline="30000" dirty="0" smtClean="0"/>
              <a:t>2+</a:t>
            </a:r>
            <a:r>
              <a:rPr lang="en-US" sz="1400" dirty="0" smtClean="0"/>
              <a:t>. </a:t>
            </a:r>
          </a:p>
          <a:p>
            <a:pPr marL="514350" indent="-514350">
              <a:buNone/>
            </a:pPr>
            <a:r>
              <a:rPr lang="en-US" sz="1400" b="1" dirty="0" smtClean="0"/>
              <a:t>9. Reactivity:</a:t>
            </a:r>
            <a:r>
              <a:rPr lang="en-US" sz="1400" dirty="0" smtClean="0"/>
              <a:t> All the lanthanides show the same electronic configuration and the +3 oxidation states, they show similarity in the reactivity which is greater than the transition elements. This is due to shielding of the unpaired electrons of the inner 4f-orbital by the outer 5s, 5p, and 5d orbital's. Due to the small change in the size of the ions, they show great similarity in their chemical properties. The first few members are quite reactive. A few properties are given below. paired f electrons.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Define Lanthanide Contraction</a:t>
            </a:r>
            <a:br>
              <a:rPr lang="en-US" b="1" dirty="0" smtClean="0"/>
            </a:br>
            <a:endParaRPr lang="en-US" dirty="0"/>
          </a:p>
        </p:txBody>
      </p:sp>
      <p:sp>
        <p:nvSpPr>
          <p:cNvPr id="3" name="Content Placeholder 2"/>
          <p:cNvSpPr>
            <a:spLocks noGrp="1"/>
          </p:cNvSpPr>
          <p:nvPr>
            <p:ph idx="1"/>
          </p:nvPr>
        </p:nvSpPr>
        <p:spPr>
          <a:xfrm>
            <a:off x="457200" y="914400"/>
            <a:ext cx="8229600" cy="4525963"/>
          </a:xfrm>
        </p:spPr>
        <p:txBody>
          <a:bodyPr>
            <a:normAutofit fontScale="25000" lnSpcReduction="20000"/>
          </a:bodyPr>
          <a:lstStyle/>
          <a:p>
            <a:pPr>
              <a:buNone/>
            </a:pPr>
            <a:r>
              <a:rPr lang="en-US" sz="6400" dirty="0" smtClean="0"/>
              <a:t>"The steady decrease in the values of the radii of M</a:t>
            </a:r>
            <a:r>
              <a:rPr lang="en-US" sz="6400" baseline="30000" dirty="0" smtClean="0"/>
              <a:t>3+</a:t>
            </a:r>
            <a:r>
              <a:rPr lang="en-US" sz="6400" dirty="0" smtClean="0"/>
              <a:t> </a:t>
            </a:r>
            <a:r>
              <a:rPr lang="en-US" sz="6400" dirty="0" err="1" smtClean="0"/>
              <a:t>cations</a:t>
            </a:r>
            <a:r>
              <a:rPr lang="en-US" sz="6400" dirty="0" smtClean="0"/>
              <a:t> in the lanthanide series is called as Lanthanide contraction. The 4f-electrons constitute inner shells and are rather ineffective in screening the nuclear charge. Thus, there is a gradual increase in the effective nuclear charge experienced by the outer electrons. So the attraction of the nucleus for the electrons in the outermost shell increases as the atomic number increases and the electron cloud shrinks.</a:t>
            </a:r>
          </a:p>
          <a:p>
            <a:r>
              <a:rPr lang="en-US" sz="6400" dirty="0" smtClean="0">
                <a:solidFill>
                  <a:srgbClr val="7030A0"/>
                </a:solidFill>
              </a:rPr>
              <a:t>Cause of lanthanide Contraction.“-</a:t>
            </a:r>
          </a:p>
          <a:p>
            <a:r>
              <a:rPr lang="en-US" sz="6400" dirty="0" smtClean="0"/>
              <a:t>the nuclear charge (</a:t>
            </a:r>
            <a:r>
              <a:rPr lang="en-US" sz="6400" dirty="0" err="1" smtClean="0"/>
              <a:t>i.e</a:t>
            </a:r>
            <a:r>
              <a:rPr lang="en-US" sz="6400" dirty="0" smtClean="0"/>
              <a:t>, atomic number) increases by </a:t>
            </a:r>
            <a:r>
              <a:rPr lang="en-US" sz="6400" dirty="0" smtClean="0">
                <a:solidFill>
                  <a:srgbClr val="7030A0"/>
                </a:solidFill>
              </a:rPr>
              <a:t>+1</a:t>
            </a:r>
            <a:r>
              <a:rPr lang="en-US" sz="6400" dirty="0" smtClean="0"/>
              <a:t> for each element and the addition of the extra electron takes place in the </a:t>
            </a:r>
            <a:r>
              <a:rPr lang="en-US" sz="6400" dirty="0" smtClean="0">
                <a:solidFill>
                  <a:srgbClr val="7030A0"/>
                </a:solidFill>
              </a:rPr>
              <a:t>4f</a:t>
            </a:r>
            <a:r>
              <a:rPr lang="en-US" sz="6400" dirty="0" smtClean="0"/>
              <a:t> orbital. the shielding of one electron </a:t>
            </a:r>
            <a:r>
              <a:rPr lang="en-US" sz="6400" dirty="0" smtClean="0">
                <a:solidFill>
                  <a:srgbClr val="7030A0"/>
                </a:solidFill>
              </a:rPr>
              <a:t>in 4f orbital by the one residing in the same orbital is very poor.</a:t>
            </a:r>
            <a:r>
              <a:rPr lang="en-US" sz="6400" dirty="0" smtClean="0"/>
              <a:t> Due to the negligible amount of mutual shielding effect between the electrons residing in 4f orbital, the increase in nuclear charge by +1 for each element in the lanthanide series brings the valence shell nearer to the nucleus and hence the size of M</a:t>
            </a:r>
            <a:r>
              <a:rPr lang="en-US" sz="6400" baseline="30000" dirty="0" smtClean="0"/>
              <a:t>3+</a:t>
            </a:r>
            <a:r>
              <a:rPr lang="en-US" sz="6400" dirty="0" smtClean="0"/>
              <a:t> </a:t>
            </a:r>
            <a:r>
              <a:rPr lang="en-US" sz="6400" dirty="0" err="1" smtClean="0"/>
              <a:t>cations</a:t>
            </a:r>
            <a:r>
              <a:rPr lang="en-US" sz="6400" dirty="0" smtClean="0"/>
              <a:t> goes on decreasing as we move from one element to the next one in the series.</a:t>
            </a:r>
          </a:p>
          <a:p>
            <a:r>
              <a:rPr lang="en-US" sz="6400" dirty="0" smtClean="0"/>
              <a:t>lanthanide contraction plays a significant role in the chemistry of lanthanides. The important consequences of it are:</a:t>
            </a:r>
          </a:p>
          <a:p>
            <a:r>
              <a:rPr lang="en-US" sz="6400" dirty="0" smtClean="0"/>
              <a:t/>
            </a:r>
            <a:br>
              <a:rPr lang="en-US" sz="6400" dirty="0" smtClean="0"/>
            </a:br>
            <a:r>
              <a:rPr lang="en-US" sz="6400" dirty="0" smtClean="0">
                <a:solidFill>
                  <a:srgbClr val="7030A0"/>
                </a:solidFill>
              </a:rPr>
              <a:t>There is a steady decrease in the ionic size.</a:t>
            </a:r>
          </a:p>
          <a:p>
            <a:r>
              <a:rPr lang="en-US" sz="6400" dirty="0" smtClean="0">
                <a:solidFill>
                  <a:srgbClr val="7030A0"/>
                </a:solidFill>
              </a:rPr>
              <a:t>There is a slight increase in </a:t>
            </a:r>
            <a:r>
              <a:rPr lang="en-US" sz="6400" dirty="0" err="1" smtClean="0">
                <a:solidFill>
                  <a:srgbClr val="7030A0"/>
                </a:solidFill>
              </a:rPr>
              <a:t>electronegativity</a:t>
            </a:r>
            <a:r>
              <a:rPr lang="en-US" sz="6400" dirty="0" smtClean="0">
                <a:solidFill>
                  <a:srgbClr val="7030A0"/>
                </a:solidFill>
              </a:rPr>
              <a:t> of the trivalent ions.</a:t>
            </a:r>
          </a:p>
          <a:p>
            <a:r>
              <a:rPr lang="en-US" sz="6400" dirty="0" smtClean="0">
                <a:solidFill>
                  <a:srgbClr val="7030A0"/>
                </a:solidFill>
              </a:rPr>
              <a:t>The </a:t>
            </a:r>
            <a:r>
              <a:rPr lang="en-US" sz="6400" dirty="0" err="1" smtClean="0">
                <a:solidFill>
                  <a:srgbClr val="7030A0"/>
                </a:solidFill>
              </a:rPr>
              <a:t>E</a:t>
            </a:r>
            <a:r>
              <a:rPr lang="en-US" sz="6400" baseline="30000" dirty="0" err="1" smtClean="0">
                <a:solidFill>
                  <a:srgbClr val="7030A0"/>
                </a:solidFill>
              </a:rPr>
              <a:t>o</a:t>
            </a:r>
            <a:r>
              <a:rPr lang="en-US" sz="6400" dirty="0" smtClean="0">
                <a:solidFill>
                  <a:srgbClr val="7030A0"/>
                </a:solidFill>
              </a:rPr>
              <a:t> values for </a:t>
            </a:r>
            <a:r>
              <a:rPr lang="en-US" sz="6400" b="1" dirty="0" smtClean="0">
                <a:solidFill>
                  <a:srgbClr val="7030A0"/>
                </a:solidFill>
              </a:rPr>
              <a:t>M</a:t>
            </a:r>
            <a:r>
              <a:rPr lang="en-US" sz="6400" b="1" baseline="30000" dirty="0" smtClean="0">
                <a:solidFill>
                  <a:srgbClr val="7030A0"/>
                </a:solidFill>
              </a:rPr>
              <a:t>3+</a:t>
            </a:r>
            <a:r>
              <a:rPr lang="en-US" sz="6400" b="1" dirty="0" smtClean="0">
                <a:solidFill>
                  <a:srgbClr val="7030A0"/>
                </a:solidFill>
              </a:rPr>
              <a:t> + 3e </a:t>
            </a:r>
            <a:r>
              <a:rPr lang="en-US" sz="6400" dirty="0" smtClean="0">
                <a:solidFill>
                  <a:srgbClr val="7030A0"/>
                </a:solidFill>
              </a:rPr>
              <a:t>→</a:t>
            </a:r>
            <a:r>
              <a:rPr lang="en-US" sz="6400" b="1" dirty="0" smtClean="0">
                <a:solidFill>
                  <a:srgbClr val="7030A0"/>
                </a:solidFill>
              </a:rPr>
              <a:t> M</a:t>
            </a:r>
            <a:r>
              <a:rPr lang="en-US" sz="6400" b="1" baseline="-25000" dirty="0" smtClean="0">
                <a:solidFill>
                  <a:srgbClr val="7030A0"/>
                </a:solidFill>
              </a:rPr>
              <a:t>(g)</a:t>
            </a:r>
            <a:r>
              <a:rPr lang="en-US" sz="6400" dirty="0" smtClean="0">
                <a:solidFill>
                  <a:srgbClr val="7030A0"/>
                </a:solidFill>
              </a:rPr>
              <a:t> increases regularly from lanthanum - 2.52 V to 2.25 V for lutetium.</a:t>
            </a:r>
          </a:p>
          <a:p>
            <a:endParaRPr lang="en-US" dirty="0">
              <a:solidFill>
                <a:srgbClr val="7030A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685800" y="609601"/>
            <a:ext cx="5667144" cy="1828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cstate="print"/>
          <a:srcRect/>
          <a:stretch>
            <a:fillRect/>
          </a:stretch>
        </p:blipFill>
        <p:spPr bwMode="auto">
          <a:xfrm>
            <a:off x="2057400" y="3048000"/>
            <a:ext cx="4038600" cy="3257219"/>
          </a:xfrm>
          <a:prstGeom prst="rect">
            <a:avLst/>
          </a:prstGeom>
          <a:noFill/>
          <a:ln w="9525">
            <a:noFill/>
            <a:miter lim="800000"/>
            <a:headEnd/>
            <a:tailEnd/>
          </a:ln>
        </p:spPr>
      </p:pic>
      <p:pic>
        <p:nvPicPr>
          <p:cNvPr id="3" name="Picture 2"/>
          <p:cNvPicPr>
            <a:picLocks noChangeAspect="1" noChangeArrowheads="1"/>
          </p:cNvPicPr>
          <p:nvPr/>
        </p:nvPicPr>
        <p:blipFill>
          <a:blip r:embed="rId3" cstate="print"/>
          <a:srcRect/>
          <a:stretch>
            <a:fillRect/>
          </a:stretch>
        </p:blipFill>
        <p:spPr bwMode="auto">
          <a:xfrm>
            <a:off x="1447800" y="990600"/>
            <a:ext cx="5667144" cy="18288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2" cstate="print"/>
          <a:srcRect/>
          <a:stretch>
            <a:fillRect/>
          </a:stretch>
        </p:blipFill>
        <p:spPr bwMode="auto">
          <a:xfrm>
            <a:off x="1219200" y="762000"/>
            <a:ext cx="6519105" cy="52578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Actinides</a:t>
            </a:r>
            <a:br>
              <a:rPr lang="en-US" b="1" dirty="0" smtClean="0"/>
            </a:br>
            <a:endParaRPr lang="en-US" dirty="0"/>
          </a:p>
        </p:txBody>
      </p:sp>
      <p:sp>
        <p:nvSpPr>
          <p:cNvPr id="3" name="Content Placeholder 2"/>
          <p:cNvSpPr>
            <a:spLocks noGrp="1"/>
          </p:cNvSpPr>
          <p:nvPr>
            <p:ph idx="1"/>
          </p:nvPr>
        </p:nvSpPr>
        <p:spPr>
          <a:xfrm>
            <a:off x="381000" y="838200"/>
            <a:ext cx="8229600" cy="6019800"/>
          </a:xfrm>
        </p:spPr>
        <p:txBody>
          <a:bodyPr>
            <a:normAutofit fontScale="25000" lnSpcReduction="20000"/>
          </a:bodyPr>
          <a:lstStyle/>
          <a:p>
            <a:r>
              <a:rPr lang="en-US" sz="7200" b="1" dirty="0" smtClean="0"/>
              <a:t>General characteristics of Actinides</a:t>
            </a:r>
          </a:p>
          <a:p>
            <a:r>
              <a:rPr lang="en-US" dirty="0" smtClean="0"/>
              <a:t/>
            </a:r>
            <a:br>
              <a:rPr lang="en-US" dirty="0" smtClean="0"/>
            </a:br>
            <a:r>
              <a:rPr lang="en-US" sz="5600" b="1" dirty="0" smtClean="0"/>
              <a:t>Electronic Configuration:</a:t>
            </a:r>
            <a:r>
              <a:rPr lang="en-US" sz="5600" dirty="0" smtClean="0"/>
              <a:t> All the actinides have common 7s</a:t>
            </a:r>
            <a:r>
              <a:rPr lang="en-US" sz="5600" baseline="30000" dirty="0" smtClean="0"/>
              <a:t>2</a:t>
            </a:r>
            <a:r>
              <a:rPr lang="en-US" sz="5600" dirty="0" smtClean="0"/>
              <a:t> configuration and variable occupancy of 5f and 6d sub shells. The general electronic configuration of actinium is </a:t>
            </a:r>
            <a:r>
              <a:rPr lang="en-US" sz="5600" b="1" dirty="0" smtClean="0"/>
              <a:t>[</a:t>
            </a:r>
            <a:r>
              <a:rPr lang="en-US" sz="5600" b="1" dirty="0" err="1" smtClean="0"/>
              <a:t>Rn</a:t>
            </a:r>
            <a:r>
              <a:rPr lang="en-US" sz="5600" b="1" dirty="0" smtClean="0"/>
              <a:t>] 5f</a:t>
            </a:r>
            <a:r>
              <a:rPr lang="en-US" sz="5600" b="1" baseline="30000" dirty="0" smtClean="0"/>
              <a:t>0-14</a:t>
            </a:r>
            <a:r>
              <a:rPr lang="en-US" sz="5600" b="1" dirty="0" smtClean="0"/>
              <a:t>6d</a:t>
            </a:r>
            <a:r>
              <a:rPr lang="en-US" sz="5600" b="1" baseline="30000" dirty="0" smtClean="0"/>
              <a:t>0-2</a:t>
            </a:r>
            <a:r>
              <a:rPr lang="en-US" sz="5600" b="1" dirty="0" smtClean="0"/>
              <a:t> 7s</a:t>
            </a:r>
            <a:r>
              <a:rPr lang="en-US" sz="5600" b="1" baseline="30000" dirty="0" smtClean="0"/>
              <a:t>2</a:t>
            </a:r>
            <a:r>
              <a:rPr lang="en-US" sz="5600" b="1" dirty="0" smtClean="0"/>
              <a:t> </a:t>
            </a:r>
            <a:r>
              <a:rPr lang="en-US" sz="5600" dirty="0" smtClean="0"/>
              <a:t>where, </a:t>
            </a:r>
            <a:r>
              <a:rPr lang="en-US" sz="5600" dirty="0" err="1" smtClean="0"/>
              <a:t>Rn</a:t>
            </a:r>
            <a:r>
              <a:rPr lang="en-US" sz="5600" dirty="0" smtClean="0"/>
              <a:t> is the electronic configuration of the element Radium. The irregularities in the electronic configuration are related to the stabilities of half filled or full filled </a:t>
            </a:r>
            <a:r>
              <a:rPr lang="en-US" sz="5600" dirty="0" err="1" smtClean="0"/>
              <a:t>orbitals</a:t>
            </a:r>
            <a:r>
              <a:rPr lang="en-US" sz="5600" dirty="0" smtClean="0"/>
              <a:t> (f</a:t>
            </a:r>
            <a:r>
              <a:rPr lang="en-US" sz="5600" baseline="30000" dirty="0" smtClean="0"/>
              <a:t>0</a:t>
            </a:r>
            <a:r>
              <a:rPr lang="en-US" sz="5600" dirty="0" smtClean="0"/>
              <a:t>, f</a:t>
            </a:r>
            <a:r>
              <a:rPr lang="en-US" sz="5600" baseline="30000" dirty="0" smtClean="0"/>
              <a:t>7</a:t>
            </a:r>
            <a:r>
              <a:rPr lang="en-US" sz="5600" dirty="0" smtClean="0"/>
              <a:t>, f</a:t>
            </a:r>
            <a:r>
              <a:rPr lang="en-US" sz="5600" baseline="30000" dirty="0" smtClean="0"/>
              <a:t>14</a:t>
            </a:r>
            <a:r>
              <a:rPr lang="en-US" sz="5600" dirty="0" smtClean="0"/>
              <a:t> ).</a:t>
            </a:r>
          </a:p>
          <a:p>
            <a:r>
              <a:rPr lang="en-US" sz="5600" b="1" dirty="0" smtClean="0"/>
              <a:t>Oxidation States:</a:t>
            </a:r>
            <a:r>
              <a:rPr lang="en-US" sz="5600" dirty="0" smtClean="0"/>
              <a:t> Unlike lanthanides, actinides show a variety of oxidation states from +3 to +6 due to the very small energy gap between 5f, 6d and 7s sub shells. The principal oxidation states are +3 and +4. The +3 oxidation state is the most stable. The +4 oxidation state is the most stable in </a:t>
            </a:r>
            <a:r>
              <a:rPr lang="en-US" sz="5600" dirty="0" err="1" smtClean="0"/>
              <a:t>Th</a:t>
            </a:r>
            <a:r>
              <a:rPr lang="en-US" sz="5600" dirty="0" smtClean="0"/>
              <a:t> and </a:t>
            </a:r>
            <a:r>
              <a:rPr lang="en-US" sz="5600" dirty="0" err="1" smtClean="0"/>
              <a:t>Pu</a:t>
            </a:r>
            <a:r>
              <a:rPr lang="en-US" sz="5600" dirty="0" smtClean="0"/>
              <a:t>. +5 in Pa and </a:t>
            </a:r>
            <a:r>
              <a:rPr lang="en-US" sz="5600" dirty="0" err="1" smtClean="0"/>
              <a:t>Np</a:t>
            </a:r>
            <a:r>
              <a:rPr lang="en-US" sz="5600" dirty="0" smtClean="0"/>
              <a:t> and +6 is seen in U.  In actinides, the distributions of oxidation states are uneven.</a:t>
            </a:r>
          </a:p>
          <a:p>
            <a:r>
              <a:rPr lang="en-US" sz="5600" b="1" dirty="0" smtClean="0"/>
              <a:t>Complex formation:</a:t>
            </a:r>
            <a:r>
              <a:rPr lang="en-US" sz="5600" dirty="0" smtClean="0"/>
              <a:t> The degree of complex formation decreases in the order. M</a:t>
            </a:r>
            <a:r>
              <a:rPr lang="en-US" sz="5600" baseline="30000" dirty="0" smtClean="0"/>
              <a:t>4+</a:t>
            </a:r>
            <a:r>
              <a:rPr lang="en-US" sz="5600" dirty="0" smtClean="0"/>
              <a:t> &gt; MO</a:t>
            </a:r>
            <a:r>
              <a:rPr lang="en-US" sz="5600" baseline="-25000" dirty="0" smtClean="0"/>
              <a:t>2</a:t>
            </a:r>
            <a:r>
              <a:rPr lang="en-US" sz="5600" baseline="30000" dirty="0" smtClean="0"/>
              <a:t>+2</a:t>
            </a:r>
            <a:r>
              <a:rPr lang="en-US" sz="5600" dirty="0" smtClean="0"/>
              <a:t> &gt; MO</a:t>
            </a:r>
            <a:r>
              <a:rPr lang="en-US" sz="5600" baseline="30000" dirty="0" smtClean="0"/>
              <a:t>+2</a:t>
            </a:r>
            <a:r>
              <a:rPr lang="en-US" sz="5600" dirty="0" smtClean="0"/>
              <a:t> where, M is an element of the actinide series. There is a high concentration of charge on the metal atom.</a:t>
            </a:r>
          </a:p>
          <a:p>
            <a:r>
              <a:rPr lang="en-US" sz="5600" b="1" dirty="0" smtClean="0"/>
              <a:t>Melting and boiling point:</a:t>
            </a:r>
            <a:r>
              <a:rPr lang="en-US" sz="5600" dirty="0" smtClean="0"/>
              <a:t> They have high melting and boiling points like lanthanides but don’t show any regular trend with increasing atomic number.</a:t>
            </a:r>
          </a:p>
          <a:p>
            <a:r>
              <a:rPr lang="en-US" sz="5600" b="1" dirty="0" smtClean="0"/>
              <a:t>Density:</a:t>
            </a:r>
            <a:r>
              <a:rPr lang="en-US" sz="5600" dirty="0" smtClean="0"/>
              <a:t> All actinides except thorium and </a:t>
            </a:r>
            <a:r>
              <a:rPr lang="en-US" sz="5600" dirty="0" err="1" smtClean="0"/>
              <a:t>amercium</a:t>
            </a:r>
            <a:r>
              <a:rPr lang="en-US" sz="5600" dirty="0" smtClean="0"/>
              <a:t> have high density.</a:t>
            </a:r>
          </a:p>
          <a:p>
            <a:r>
              <a:rPr lang="en-US" sz="5600" b="1" dirty="0" smtClean="0"/>
              <a:t>Electropositive character:</a:t>
            </a:r>
            <a:r>
              <a:rPr lang="en-US" sz="5600" dirty="0" smtClean="0"/>
              <a:t> These metals are highly electropositive in nature like lanthanides.</a:t>
            </a:r>
          </a:p>
          <a:p>
            <a:r>
              <a:rPr lang="en-US" sz="5600" b="1" dirty="0" smtClean="0"/>
              <a:t>Ionization enthalpies:</a:t>
            </a:r>
            <a:r>
              <a:rPr lang="en-US" sz="5600" dirty="0" smtClean="0"/>
              <a:t> The actinides have lower ionization enthalpies than lanthanides because 5f is more effectively shielded from nuclear charge than 4f.</a:t>
            </a:r>
          </a:p>
          <a:p>
            <a:r>
              <a:rPr lang="en-US" sz="5600" b="1" dirty="0" smtClean="0"/>
              <a:t>Magnetic behavior:</a:t>
            </a:r>
            <a:r>
              <a:rPr lang="en-US" sz="5600" dirty="0" smtClean="0"/>
              <a:t> All actinides are paramagnetic in nature which depends on the presence of unpaired electrons.</a:t>
            </a:r>
          </a:p>
          <a:p>
            <a:r>
              <a:rPr lang="en-US" sz="5600" b="1" dirty="0" smtClean="0"/>
              <a:t>Radioactivity:</a:t>
            </a:r>
            <a:r>
              <a:rPr lang="en-US" sz="5600" dirty="0" smtClean="0"/>
              <a:t> All are radioactive in nature. First few members have relatively long half lives but the remaining have half-lives from a few days to a few minutes.</a:t>
            </a:r>
          </a:p>
          <a:p>
            <a:r>
              <a:rPr lang="en-US" sz="5600" b="1" dirty="0" smtClean="0"/>
              <a:t>Color of the ions:</a:t>
            </a:r>
            <a:r>
              <a:rPr lang="en-US" sz="5600" dirty="0" smtClean="0"/>
              <a:t> Actinides ions are generally colored due to f – f transitions. It depends upon the number of electrons in 5f </a:t>
            </a:r>
            <a:r>
              <a:rPr lang="en-US" sz="5600" dirty="0" err="1" smtClean="0"/>
              <a:t>orbitals</a:t>
            </a:r>
            <a:r>
              <a:rPr lang="en-US" sz="5600" dirty="0" smtClean="0"/>
              <a:t>.</a:t>
            </a:r>
          </a:p>
          <a:p>
            <a:r>
              <a:rPr lang="en-US" sz="5600" b="1" dirty="0" smtClean="0"/>
              <a:t>Chemical behavior:</a:t>
            </a:r>
            <a:r>
              <a:rPr lang="en-US" sz="5600" dirty="0" smtClean="0"/>
              <a:t> They are highly reactive metals in fine state and a strong reducing agent. A few properties are given below.</a:t>
            </a:r>
            <a:br>
              <a:rPr lang="en-US" sz="5600" dirty="0" smtClean="0"/>
            </a:br>
            <a:endParaRPr lang="en-US" sz="5600" dirty="0" smtClean="0"/>
          </a:p>
          <a:p>
            <a:r>
              <a:rPr lang="en-US" sz="5600" dirty="0" smtClean="0"/>
              <a:t>They react with boiling water to give oxide and hydride.</a:t>
            </a:r>
          </a:p>
          <a:p>
            <a:r>
              <a:rPr lang="en-US" sz="5600" dirty="0" smtClean="0"/>
              <a:t>They combine with most of the non-metals at moderate temperature.</a:t>
            </a:r>
          </a:p>
          <a:p>
            <a:r>
              <a:rPr lang="en-US" sz="5600" dirty="0" smtClean="0"/>
              <a:t>All these metals are attacked by </a:t>
            </a:r>
            <a:r>
              <a:rPr lang="en-US" sz="5600" dirty="0" err="1" smtClean="0"/>
              <a:t>HCl</a:t>
            </a:r>
            <a:r>
              <a:rPr lang="en-US" sz="5600" dirty="0" smtClean="0"/>
              <a:t> acid but the effect of nitric acid is very small.</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Actinide Contraction</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size of atoms or M</a:t>
            </a:r>
            <a:r>
              <a:rPr lang="en-US" baseline="30000" dirty="0" smtClean="0"/>
              <a:t>+3</a:t>
            </a:r>
            <a:r>
              <a:rPr lang="en-US" dirty="0" smtClean="0"/>
              <a:t> ions decrease regularly along the actinides series with increase in atomic number from </a:t>
            </a:r>
            <a:r>
              <a:rPr lang="en-US" dirty="0" err="1" smtClean="0"/>
              <a:t>Th</a:t>
            </a:r>
            <a:r>
              <a:rPr lang="en-US" dirty="0" smtClean="0"/>
              <a:t> to </a:t>
            </a:r>
            <a:r>
              <a:rPr lang="en-US" dirty="0" err="1" smtClean="0"/>
              <a:t>Lr</a:t>
            </a:r>
            <a:r>
              <a:rPr lang="en-US" dirty="0" smtClean="0"/>
              <a:t>. The steady decrease in ionic radii with increase in atomic number is referred to as actinide contraction just like lanthanide contraction. </a:t>
            </a:r>
            <a:br>
              <a:rPr lang="en-US" dirty="0" smtClean="0"/>
            </a:br>
            <a:r>
              <a:rPr lang="en-US" dirty="0" smtClean="0"/>
              <a:t/>
            </a:r>
            <a:br>
              <a:rPr lang="en-US" dirty="0" smtClean="0"/>
            </a:br>
            <a:r>
              <a:rPr lang="en-US" dirty="0" smtClean="0"/>
              <a:t>The reason of this contraction is the poor shielding effect of 5f electron by another in the same shell which increases the effective nuclear charge and thus contraction in size of the electron cloud. This is because 5f </a:t>
            </a:r>
            <a:r>
              <a:rPr lang="en-US" dirty="0" err="1" smtClean="0"/>
              <a:t>orbitals</a:t>
            </a:r>
            <a:r>
              <a:rPr lang="en-US" dirty="0" smtClean="0"/>
              <a:t> extend in space beyond 6s and 6p </a:t>
            </a:r>
            <a:r>
              <a:rPr lang="en-US" dirty="0" err="1" smtClean="0"/>
              <a:t>orbitals</a:t>
            </a:r>
            <a:r>
              <a:rPr lang="en-US" dirty="0" smtClean="0"/>
              <a:t> whereas, 4f </a:t>
            </a:r>
            <a:r>
              <a:rPr lang="en-US" dirty="0" err="1" smtClean="0"/>
              <a:t>orbitals</a:t>
            </a:r>
            <a:r>
              <a:rPr lang="en-US" dirty="0" smtClean="0"/>
              <a:t> are buried deep inside the atom.</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solidFill>
                  <a:srgbClr val="7030A0"/>
                </a:solidFill>
              </a:rPr>
              <a:t>Similarities Between Lanthanides and Actinides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pPr>
              <a:buNone/>
            </a:pPr>
            <a:r>
              <a:rPr lang="en-US" dirty="0" smtClean="0"/>
              <a:t>1. Both lanthanides and actinides involve   the filling of f-</a:t>
            </a:r>
            <a:r>
              <a:rPr lang="en-US" dirty="0" err="1" smtClean="0"/>
              <a:t>orbitals</a:t>
            </a:r>
            <a:r>
              <a:rPr lang="en-US" dirty="0" smtClean="0"/>
              <a:t>.</a:t>
            </a:r>
          </a:p>
          <a:p>
            <a:pPr>
              <a:buNone/>
            </a:pPr>
            <a:r>
              <a:rPr lang="en-US" dirty="0" smtClean="0"/>
              <a:t>2. Both exhibit a common oxidation state of +3.</a:t>
            </a:r>
          </a:p>
          <a:p>
            <a:pPr>
              <a:buNone/>
            </a:pPr>
            <a:r>
              <a:rPr lang="en-US" dirty="0" smtClean="0"/>
              <a:t>3. Both are electropositive and very reactive.</a:t>
            </a:r>
          </a:p>
          <a:p>
            <a:pPr>
              <a:buNone/>
            </a:pPr>
            <a:r>
              <a:rPr lang="en-US" dirty="0" smtClean="0"/>
              <a:t>4. Both exhibit magnetic and spectral properties.</a:t>
            </a:r>
          </a:p>
          <a:p>
            <a:pPr>
              <a:buNone/>
            </a:pPr>
            <a:r>
              <a:rPr lang="en-US" dirty="0" smtClean="0"/>
              <a:t>5. Lanthanides exhibit lanthanide contraction and actinides exhibit actinide contraction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1143000"/>
          </a:xfrm>
        </p:spPr>
        <p:txBody>
          <a:bodyPr>
            <a:normAutofit fontScale="90000"/>
          </a:bodyPr>
          <a:lstStyle/>
          <a:p>
            <a:r>
              <a:rPr lang="en-US" b="1" dirty="0" smtClean="0"/>
              <a:t/>
            </a:r>
            <a:br>
              <a:rPr lang="en-US" b="1" dirty="0" smtClean="0"/>
            </a:br>
            <a:r>
              <a:rPr lang="en-US" b="1" dirty="0" smtClean="0">
                <a:solidFill>
                  <a:srgbClr val="FF0000"/>
                </a:solidFill>
              </a:rPr>
              <a:t>Difference Between Lanthanides and Actinides</a:t>
            </a:r>
            <a:r>
              <a:rPr lang="en-US" b="1" dirty="0" smtClean="0"/>
              <a:t/>
            </a:r>
            <a:br>
              <a:rPr lang="en-US" b="1" dirty="0" smtClean="0"/>
            </a:br>
            <a:endParaRPr lang="en-US" dirty="0"/>
          </a:p>
        </p:txBody>
      </p:sp>
      <p:pic>
        <p:nvPicPr>
          <p:cNvPr id="22530" name="Picture 2"/>
          <p:cNvPicPr>
            <a:picLocks noGrp="1" noChangeAspect="1" noChangeArrowheads="1"/>
          </p:cNvPicPr>
          <p:nvPr>
            <p:ph idx="1"/>
          </p:nvPr>
        </p:nvPicPr>
        <p:blipFill>
          <a:blip r:embed="rId2" cstate="print"/>
          <a:srcRect/>
          <a:stretch>
            <a:fillRect/>
          </a:stretch>
        </p:blipFill>
        <p:spPr bwMode="auto">
          <a:xfrm>
            <a:off x="304800" y="1676400"/>
            <a:ext cx="8839200" cy="5029200"/>
          </a:xfrm>
          <a:prstGeom prst="rect">
            <a:avLst/>
          </a:prstGeom>
          <a:ln>
            <a:headEnd/>
            <a:tailEnd/>
          </a:ln>
        </p:spPr>
        <p:style>
          <a:lnRef idx="1">
            <a:schemeClr val="accent5"/>
          </a:lnRef>
          <a:fillRef idx="2">
            <a:schemeClr val="accent5"/>
          </a:fillRef>
          <a:effectRef idx="1">
            <a:schemeClr val="accent5"/>
          </a:effectRef>
          <a:fontRef idx="minor">
            <a:schemeClr val="dk1"/>
          </a:fontRef>
        </p:style>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Uses of Lanthanides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important uses of lanthanides are given below.</a:t>
            </a:r>
            <a:br>
              <a:rPr lang="en-US" dirty="0" smtClean="0"/>
            </a:br>
            <a:r>
              <a:rPr lang="en-US" dirty="0" smtClean="0"/>
              <a:t>They don’t find any use in their pure state. They are used in the production of alloys of steel to improve the strength and workability of steel. A well known alloy is </a:t>
            </a:r>
            <a:r>
              <a:rPr lang="en-US" dirty="0" err="1" smtClean="0"/>
              <a:t>mischmetal</a:t>
            </a:r>
            <a:r>
              <a:rPr lang="en-US" dirty="0" smtClean="0"/>
              <a:t> which is used in making magnesium based alloy (Mg mixed with 3% of </a:t>
            </a:r>
            <a:r>
              <a:rPr lang="en-US" dirty="0" err="1" smtClean="0"/>
              <a:t>mischmetal</a:t>
            </a:r>
            <a:r>
              <a:rPr lang="en-US" dirty="0" smtClean="0"/>
              <a:t>). This is a </a:t>
            </a:r>
            <a:r>
              <a:rPr lang="en-US" dirty="0" err="1" smtClean="0"/>
              <a:t>pyrophoric</a:t>
            </a:r>
            <a:r>
              <a:rPr lang="en-US" dirty="0" smtClean="0"/>
              <a:t> alloy which is used in making bullets, shells and lighter flints.</a:t>
            </a:r>
          </a:p>
          <a:p>
            <a:r>
              <a:rPr lang="en-US" dirty="0" smtClean="0"/>
              <a:t>Their oxides are used in the glass industry for polishing glass and making colored glass for goggles and television screens.</a:t>
            </a:r>
          </a:p>
          <a:p>
            <a:r>
              <a:rPr lang="en-US" dirty="0" smtClean="0"/>
              <a:t>Mixed oxides of lanthanides are used in petroleum cracking.</a:t>
            </a:r>
          </a:p>
          <a:p>
            <a:r>
              <a:rPr lang="en-US" dirty="0" smtClean="0"/>
              <a:t>Due to their paramagnetic and ferromagnetic nature, they are used in magnetic and electronic devices.</a:t>
            </a:r>
          </a:p>
          <a:p>
            <a:r>
              <a:rPr lang="en-US" dirty="0" err="1" smtClean="0"/>
              <a:t>Ceric</a:t>
            </a:r>
            <a:r>
              <a:rPr lang="en-US" dirty="0" smtClean="0"/>
              <a:t> </a:t>
            </a:r>
            <a:r>
              <a:rPr lang="en-US" dirty="0" err="1" smtClean="0"/>
              <a:t>sulphate</a:t>
            </a:r>
            <a:r>
              <a:rPr lang="en-US" dirty="0" smtClean="0"/>
              <a:t> is a well known oxidizing agent which is used in volumetric analysis.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Uses of Actinides</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most useful actinides are thorium, uranium and plutonium.</a:t>
            </a:r>
            <a:br>
              <a:rPr lang="en-US" dirty="0" smtClean="0"/>
            </a:br>
            <a:r>
              <a:rPr lang="en-US" dirty="0" smtClean="0"/>
              <a:t>Thorium is used in the atomic reactors and in the treatment of cancer. Their salts are used in making incandescent gas mantles.</a:t>
            </a:r>
          </a:p>
          <a:p>
            <a:r>
              <a:rPr lang="en-US" dirty="0" smtClean="0"/>
              <a:t>Uranium is used as nuclear fuel. Their salts are used in the glass industry for imparting green color, ceramic industry, textile industry and in medicines too.</a:t>
            </a:r>
          </a:p>
          <a:p>
            <a:r>
              <a:rPr lang="en-US" dirty="0" smtClean="0"/>
              <a:t>Plutonium is also used as nuclear fuel and for making atomic bombs.</a:t>
            </a:r>
            <a:endParaRPr lang="en-US" smtClean="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B050"/>
                </a:solidFill>
              </a:rPr>
              <a:t>Monazite</a:t>
            </a:r>
            <a:endParaRPr lang="en-US" dirty="0">
              <a:solidFill>
                <a:srgbClr val="00B050"/>
              </a:solidFill>
            </a:endParaRPr>
          </a:p>
        </p:txBody>
      </p:sp>
      <p:sp>
        <p:nvSpPr>
          <p:cNvPr id="3" name="Content Placeholder 2"/>
          <p:cNvSpPr>
            <a:spLocks noGrp="1"/>
          </p:cNvSpPr>
          <p:nvPr>
            <p:ph idx="1"/>
          </p:nvPr>
        </p:nvSpPr>
        <p:spPr>
          <a:xfrm>
            <a:off x="457200" y="1600200"/>
            <a:ext cx="8382000" cy="4876800"/>
          </a:xfrm>
        </p:spPr>
        <p:txBody>
          <a:bodyPr>
            <a:normAutofit fontScale="70000" lnSpcReduction="20000"/>
          </a:bodyPr>
          <a:lstStyle/>
          <a:p>
            <a:r>
              <a:rPr lang="en-US" dirty="0" smtClean="0"/>
              <a:t>Monazite is a reddish-brown phosphate mineral containing rare earth metals. Monazite has a general formula of  </a:t>
            </a:r>
          </a:p>
          <a:p>
            <a:pPr>
              <a:buNone/>
            </a:pPr>
            <a:r>
              <a:rPr lang="en-US" dirty="0" smtClean="0">
                <a:solidFill>
                  <a:srgbClr val="FF0000"/>
                </a:solidFill>
              </a:rPr>
              <a:t>	(</a:t>
            </a:r>
            <a:r>
              <a:rPr lang="en-US" dirty="0" err="1" smtClean="0">
                <a:solidFill>
                  <a:srgbClr val="FF0000"/>
                </a:solidFill>
              </a:rPr>
              <a:t>La,Ce</a:t>
            </a:r>
            <a:r>
              <a:rPr lang="en-US" dirty="0" smtClean="0">
                <a:solidFill>
                  <a:srgbClr val="FF0000"/>
                </a:solidFill>
              </a:rPr>
              <a:t>, </a:t>
            </a:r>
            <a:r>
              <a:rPr lang="en-US" dirty="0" err="1" smtClean="0">
                <a:solidFill>
                  <a:srgbClr val="FF0000"/>
                </a:solidFill>
              </a:rPr>
              <a:t>Nd</a:t>
            </a:r>
            <a:r>
              <a:rPr lang="en-US" dirty="0" smtClean="0">
                <a:solidFill>
                  <a:srgbClr val="FF0000"/>
                </a:solidFill>
              </a:rPr>
              <a:t>, </a:t>
            </a:r>
            <a:r>
              <a:rPr lang="en-US" dirty="0" err="1" smtClean="0">
                <a:solidFill>
                  <a:srgbClr val="FF0000"/>
                </a:solidFill>
              </a:rPr>
              <a:t>Sm</a:t>
            </a:r>
            <a:r>
              <a:rPr lang="en-US" dirty="0" smtClean="0">
                <a:solidFill>
                  <a:srgbClr val="FF0000"/>
                </a:solidFill>
              </a:rPr>
              <a:t>)PO4</a:t>
            </a:r>
            <a:endParaRPr lang="en-US" dirty="0" smtClean="0"/>
          </a:p>
          <a:p>
            <a:r>
              <a:rPr lang="en-US" u="sng" dirty="0" smtClean="0">
                <a:solidFill>
                  <a:srgbClr val="00B050"/>
                </a:solidFill>
              </a:rPr>
              <a:t>Pr, </a:t>
            </a:r>
            <a:r>
              <a:rPr lang="en-US" u="sng" dirty="0" err="1" smtClean="0">
                <a:solidFill>
                  <a:srgbClr val="00B050"/>
                </a:solidFill>
              </a:rPr>
              <a:t>Sm</a:t>
            </a:r>
            <a:r>
              <a:rPr lang="en-US" u="sng" dirty="0" smtClean="0">
                <a:solidFill>
                  <a:srgbClr val="00B050"/>
                </a:solidFill>
              </a:rPr>
              <a:t>, </a:t>
            </a:r>
            <a:r>
              <a:rPr lang="en-US" u="sng" dirty="0" err="1" smtClean="0">
                <a:solidFill>
                  <a:srgbClr val="00B050"/>
                </a:solidFill>
              </a:rPr>
              <a:t>Eu</a:t>
            </a:r>
            <a:r>
              <a:rPr lang="en-US" u="sng" dirty="0" smtClean="0">
                <a:solidFill>
                  <a:srgbClr val="00B050"/>
                </a:solidFill>
              </a:rPr>
              <a:t>, </a:t>
            </a:r>
            <a:r>
              <a:rPr lang="en-US" u="sng" dirty="0" err="1" smtClean="0">
                <a:solidFill>
                  <a:srgbClr val="00B050"/>
                </a:solidFill>
              </a:rPr>
              <a:t>Gd</a:t>
            </a:r>
            <a:r>
              <a:rPr lang="en-US" u="sng" dirty="0" smtClean="0">
                <a:solidFill>
                  <a:srgbClr val="00B050"/>
                </a:solidFill>
              </a:rPr>
              <a:t>, and Y </a:t>
            </a:r>
            <a:r>
              <a:rPr lang="en-US" u="sng" dirty="0" smtClean="0"/>
              <a:t>substitute for </a:t>
            </a:r>
            <a:r>
              <a:rPr lang="en-US" u="sng" dirty="0" smtClean="0">
                <a:solidFill>
                  <a:srgbClr val="00B050"/>
                </a:solidFill>
              </a:rPr>
              <a:t>La, </a:t>
            </a:r>
            <a:r>
              <a:rPr lang="en-US" u="sng" dirty="0" err="1" smtClean="0">
                <a:solidFill>
                  <a:srgbClr val="00B050"/>
                </a:solidFill>
              </a:rPr>
              <a:t>Ce</a:t>
            </a:r>
            <a:r>
              <a:rPr lang="en-US" u="sng" dirty="0" smtClean="0">
                <a:solidFill>
                  <a:srgbClr val="00B050"/>
                </a:solidFill>
              </a:rPr>
              <a:t>, and </a:t>
            </a:r>
            <a:r>
              <a:rPr lang="en-US" u="sng" dirty="0" err="1" smtClean="0">
                <a:solidFill>
                  <a:srgbClr val="00B050"/>
                </a:solidFill>
              </a:rPr>
              <a:t>Nd</a:t>
            </a:r>
            <a:endParaRPr lang="en-US" dirty="0" smtClean="0">
              <a:solidFill>
                <a:srgbClr val="00B050"/>
              </a:solidFill>
            </a:endParaRPr>
          </a:p>
          <a:p>
            <a:endParaRPr lang="en-US" dirty="0" smtClean="0"/>
          </a:p>
          <a:p>
            <a:r>
              <a:rPr lang="en-US" dirty="0" smtClean="0"/>
              <a:t>The dominant rare-earth element in a particular monazite is denoted by the atomic suffix. Four different kinds of monazite, depending on relative elemental composition of the mineral:</a:t>
            </a:r>
          </a:p>
          <a:p>
            <a:pPr>
              <a:buNone/>
            </a:pPr>
            <a:endParaRPr lang="en-US" dirty="0" smtClean="0">
              <a:solidFill>
                <a:srgbClr val="FF0000"/>
              </a:solidFill>
            </a:endParaRPr>
          </a:p>
          <a:p>
            <a:pPr lvl="0"/>
            <a:r>
              <a:rPr lang="en-US" dirty="0" smtClean="0"/>
              <a:t>monazite-</a:t>
            </a:r>
            <a:r>
              <a:rPr lang="en-US" dirty="0" err="1" smtClean="0">
                <a:hlinkClick r:id="rId2"/>
              </a:rPr>
              <a:t>Ce</a:t>
            </a:r>
            <a:r>
              <a:rPr lang="en-US" dirty="0" smtClean="0"/>
              <a:t> (</a:t>
            </a:r>
            <a:r>
              <a:rPr lang="en-US" dirty="0" err="1" smtClean="0"/>
              <a:t>Ce</a:t>
            </a:r>
            <a:r>
              <a:rPr lang="en-US" dirty="0" smtClean="0"/>
              <a:t>, La, Pr, </a:t>
            </a:r>
            <a:r>
              <a:rPr lang="en-US" dirty="0" err="1" smtClean="0"/>
              <a:t>Nd</a:t>
            </a:r>
            <a:r>
              <a:rPr lang="en-US" dirty="0" smtClean="0"/>
              <a:t>, </a:t>
            </a:r>
            <a:r>
              <a:rPr lang="en-US" dirty="0" err="1" smtClean="0"/>
              <a:t>Th</a:t>
            </a:r>
            <a:r>
              <a:rPr lang="en-US" dirty="0" smtClean="0"/>
              <a:t>, Y)PO</a:t>
            </a:r>
            <a:r>
              <a:rPr lang="en-US" baseline="-25000" dirty="0" smtClean="0"/>
              <a:t>4</a:t>
            </a:r>
            <a:endParaRPr lang="en-US" dirty="0" smtClean="0"/>
          </a:p>
          <a:p>
            <a:pPr lvl="0"/>
            <a:r>
              <a:rPr lang="en-US" dirty="0" smtClean="0"/>
              <a:t>monazite-</a:t>
            </a:r>
            <a:r>
              <a:rPr lang="en-US" dirty="0" smtClean="0">
                <a:hlinkClick r:id="rId3"/>
              </a:rPr>
              <a:t>La</a:t>
            </a:r>
            <a:r>
              <a:rPr lang="en-US" dirty="0" smtClean="0"/>
              <a:t> (La, </a:t>
            </a:r>
            <a:r>
              <a:rPr lang="en-US" dirty="0" err="1" smtClean="0"/>
              <a:t>Ce</a:t>
            </a:r>
            <a:r>
              <a:rPr lang="en-US" dirty="0" smtClean="0"/>
              <a:t>, </a:t>
            </a:r>
            <a:r>
              <a:rPr lang="en-US" dirty="0" err="1" smtClean="0"/>
              <a:t>Nd</a:t>
            </a:r>
            <a:r>
              <a:rPr lang="en-US" dirty="0" smtClean="0"/>
              <a:t>, Pr)PO</a:t>
            </a:r>
            <a:r>
              <a:rPr lang="en-US" baseline="-25000" dirty="0" smtClean="0"/>
              <a:t>4</a:t>
            </a:r>
            <a:endParaRPr lang="en-US" dirty="0" smtClean="0"/>
          </a:p>
          <a:p>
            <a:pPr lvl="0"/>
            <a:r>
              <a:rPr lang="en-US" dirty="0" smtClean="0"/>
              <a:t>monazite-</a:t>
            </a:r>
            <a:r>
              <a:rPr lang="en-US" dirty="0" err="1" smtClean="0">
                <a:hlinkClick r:id="rId4"/>
              </a:rPr>
              <a:t>Nd</a:t>
            </a:r>
            <a:r>
              <a:rPr lang="en-US" dirty="0" smtClean="0"/>
              <a:t> (</a:t>
            </a:r>
            <a:r>
              <a:rPr lang="en-US" dirty="0" err="1" smtClean="0"/>
              <a:t>Nd</a:t>
            </a:r>
            <a:r>
              <a:rPr lang="en-US" dirty="0" smtClean="0"/>
              <a:t>, La, </a:t>
            </a:r>
            <a:r>
              <a:rPr lang="en-US" dirty="0" err="1" smtClean="0"/>
              <a:t>Ce</a:t>
            </a:r>
            <a:r>
              <a:rPr lang="en-US" dirty="0" smtClean="0"/>
              <a:t>, Pr)PO</a:t>
            </a:r>
            <a:r>
              <a:rPr lang="en-US" baseline="-25000" dirty="0" smtClean="0"/>
              <a:t>4</a:t>
            </a:r>
            <a:endParaRPr lang="en-US" dirty="0" smtClean="0"/>
          </a:p>
          <a:p>
            <a:pPr lvl="0"/>
            <a:r>
              <a:rPr lang="en-US" dirty="0" smtClean="0"/>
              <a:t>monazite-</a:t>
            </a:r>
            <a:r>
              <a:rPr lang="en-US" dirty="0" err="1" smtClean="0">
                <a:hlinkClick r:id="rId5"/>
              </a:rPr>
              <a:t>Sm</a:t>
            </a:r>
            <a:r>
              <a:rPr lang="en-US" dirty="0" smtClean="0"/>
              <a:t> (</a:t>
            </a:r>
            <a:r>
              <a:rPr lang="en-US" dirty="0" err="1" smtClean="0"/>
              <a:t>Sm</a:t>
            </a:r>
            <a:r>
              <a:rPr lang="en-US" dirty="0" smtClean="0"/>
              <a:t>, </a:t>
            </a:r>
            <a:r>
              <a:rPr lang="en-US" dirty="0" err="1" smtClean="0"/>
              <a:t>Gd</a:t>
            </a:r>
            <a:r>
              <a:rPr lang="en-US" dirty="0" smtClean="0"/>
              <a:t>, </a:t>
            </a:r>
            <a:r>
              <a:rPr lang="en-US" dirty="0" err="1" smtClean="0"/>
              <a:t>Ce</a:t>
            </a:r>
            <a:r>
              <a:rPr lang="en-US" dirty="0" smtClean="0"/>
              <a:t>, </a:t>
            </a:r>
            <a:r>
              <a:rPr lang="en-US" dirty="0" err="1" smtClean="0"/>
              <a:t>Th</a:t>
            </a:r>
            <a:r>
              <a:rPr lang="en-US" dirty="0" smtClean="0"/>
              <a:t>)PO</a:t>
            </a:r>
            <a:r>
              <a:rPr lang="en-US" baseline="-25000" dirty="0" smtClean="0"/>
              <a:t>4</a:t>
            </a:r>
            <a:endParaRPr lang="en-US" dirty="0" smtClean="0"/>
          </a:p>
          <a:p>
            <a:pPr>
              <a:buNone/>
            </a:pPr>
            <a:r>
              <a:rPr lang="en-US" dirty="0" smtClean="0">
                <a:solidFill>
                  <a:srgbClr val="FF0000"/>
                </a:solidFill>
              </a:rPr>
              <a:t>	In addition to above , ( </a:t>
            </a:r>
            <a:r>
              <a:rPr lang="en-US" dirty="0" smtClean="0"/>
              <a:t>35% </a:t>
            </a:r>
            <a:r>
              <a:rPr lang="en-US" dirty="0" err="1" smtClean="0"/>
              <a:t>Ce</a:t>
            </a:r>
            <a:r>
              <a:rPr lang="en-US" baseline="-25000" dirty="0" smtClean="0"/>
              <a:t> 2 </a:t>
            </a:r>
            <a:r>
              <a:rPr lang="en-US" dirty="0" smtClean="0"/>
              <a:t>O</a:t>
            </a:r>
            <a:r>
              <a:rPr lang="en-US" baseline="-25000" dirty="0" smtClean="0"/>
              <a:t> 3 </a:t>
            </a:r>
            <a:r>
              <a:rPr lang="en-US" dirty="0" smtClean="0"/>
              <a:t>, 35% La</a:t>
            </a:r>
            <a:r>
              <a:rPr lang="en-US" baseline="-25000" dirty="0" smtClean="0"/>
              <a:t> 2 </a:t>
            </a:r>
            <a:r>
              <a:rPr lang="en-US" dirty="0" smtClean="0"/>
              <a:t>O</a:t>
            </a:r>
            <a:r>
              <a:rPr lang="en-US" baseline="-25000" dirty="0" smtClean="0"/>
              <a:t> 3 </a:t>
            </a:r>
            <a:r>
              <a:rPr lang="en-US" dirty="0" smtClean="0"/>
              <a:t>, and 30% P</a:t>
            </a:r>
            <a:r>
              <a:rPr lang="en-US" baseline="-25000" dirty="0" smtClean="0"/>
              <a:t> 2 </a:t>
            </a:r>
            <a:r>
              <a:rPr lang="en-US" dirty="0" smtClean="0"/>
              <a:t>O</a:t>
            </a:r>
            <a:r>
              <a:rPr lang="en-US" baseline="-25000" dirty="0" smtClean="0"/>
              <a:t> 5 </a:t>
            </a:r>
            <a:r>
              <a:rPr lang="en-US" dirty="0" smtClean="0"/>
              <a:t>).</a:t>
            </a:r>
            <a:endParaRPr lang="en-US"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Monazite can be isolated as a nearly pure concentrate by the use of </a:t>
            </a:r>
            <a:r>
              <a:rPr lang="en-US" dirty="0" smtClean="0">
                <a:solidFill>
                  <a:srgbClr val="00B050"/>
                </a:solidFill>
              </a:rPr>
              <a:t>gravity, magnetic, and electrostatic separation.</a:t>
            </a:r>
            <a:endParaRPr lang="en-US" dirty="0">
              <a:solidFill>
                <a:srgbClr val="00B05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normAutofit fontScale="90000"/>
          </a:bodyPr>
          <a:lstStyle/>
          <a:p>
            <a:r>
              <a:rPr lang="en-US" sz="3100" b="1" u="sng" dirty="0">
                <a:solidFill>
                  <a:srgbClr val="00B050"/>
                </a:solidFill>
              </a:rPr>
              <a:t>Extraction of Lanthanides from Monazite </a:t>
            </a:r>
            <a:r>
              <a:rPr lang="en-US" sz="3100" b="1" u="sng" dirty="0" smtClean="0">
                <a:solidFill>
                  <a:srgbClr val="00B050"/>
                </a:solidFill>
              </a:rPr>
              <a:t>Sand</a:t>
            </a:r>
            <a:r>
              <a:rPr lang="en-US" sz="3100" dirty="0">
                <a:solidFill>
                  <a:srgbClr val="00B050"/>
                </a:solidFill>
              </a:rPr>
              <a:t>:</a:t>
            </a:r>
            <a:r>
              <a:rPr lang="en-US" dirty="0"/>
              <a:t/>
            </a:r>
            <a:br>
              <a:rPr lang="en-US" dirty="0"/>
            </a:b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1676400"/>
            <a:ext cx="6096000" cy="5024945"/>
          </a:xfrm>
          <a:prstGeom prst="rect">
            <a:avLst/>
          </a:prstGeom>
          <a:noFill/>
          <a:ln w="9525">
            <a:solidFill>
              <a:schemeClr val="accent1"/>
            </a:solidFill>
            <a:miter lim="800000"/>
            <a:headEnd/>
            <a:tailEnd/>
          </a:ln>
          <a:effectLst/>
        </p:spPr>
      </p:pic>
      <p:sp>
        <p:nvSpPr>
          <p:cNvPr id="3073" name="Rectangle 1"/>
          <p:cNvSpPr>
            <a:spLocks noChangeArrowheads="1"/>
          </p:cNvSpPr>
          <p:nvPr/>
        </p:nvSpPr>
        <p:spPr bwMode="auto">
          <a:xfrm>
            <a:off x="3505200" y="914400"/>
            <a:ext cx="1571264" cy="4001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sng" strike="noStrike" cap="none" normalizeH="0" baseline="0" dirty="0" smtClean="0">
                <a:ln>
                  <a:noFill/>
                </a:ln>
                <a:solidFill>
                  <a:srgbClr val="FF0000"/>
                </a:solidFill>
                <a:effectLst/>
                <a:latin typeface="Calibri" pitchFamily="34" charset="0"/>
                <a:ea typeface="Times New Roman" pitchFamily="18" charset="0"/>
                <a:cs typeface="Times New Roman" pitchFamily="18" charset="0"/>
              </a:rPr>
              <a:t>Acid opening</a:t>
            </a:r>
            <a:endParaRPr kumimoji="0" lang="en-US" sz="3200" b="0" i="0" u="none" strike="noStrike" cap="none" normalizeH="0" baseline="0" dirty="0" smtClean="0">
              <a:ln>
                <a:noFill/>
              </a:ln>
              <a:solidFill>
                <a:srgbClr val="FF0000"/>
              </a:solidFill>
              <a:effectLst/>
              <a:latin typeface="Arial"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2743200" y="228600"/>
            <a:ext cx="2319289"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sng" strike="noStrike" cap="none" normalizeH="0" baseline="0" dirty="0" smtClean="0">
                <a:ln>
                  <a:noFill/>
                </a:ln>
                <a:solidFill>
                  <a:srgbClr val="008080"/>
                </a:solidFill>
                <a:effectLst/>
                <a:latin typeface="Calibri" pitchFamily="34" charset="0"/>
                <a:ea typeface="Times New Roman" pitchFamily="18" charset="0"/>
                <a:cs typeface="Times New Roman" pitchFamily="18" charset="0"/>
              </a:rPr>
              <a:t>Alkaline opening</a:t>
            </a:r>
            <a:endParaRPr kumimoji="0" lang="en-US" sz="3600" b="0" i="0" u="none" strike="noStrike" cap="none" normalizeH="0" baseline="0" dirty="0" smtClean="0">
              <a:ln>
                <a:noFill/>
              </a:ln>
              <a:solidFill>
                <a:schemeClr val="tx1"/>
              </a:solidFill>
              <a:effectLst/>
              <a:latin typeface="Arial" pitchFamily="34" charset="0"/>
              <a:cs typeface="Arial" pitchFamily="34" charset="0"/>
            </a:endParaRPr>
          </a:p>
        </p:txBody>
      </p:sp>
      <p:pic>
        <p:nvPicPr>
          <p:cNvPr id="6" name="Picture 5" descr="http://131.104.156.23/Lectures/331/331%20pictures/lanthanid%20monazite.gif"/>
          <p:cNvPicPr/>
          <p:nvPr/>
        </p:nvPicPr>
        <p:blipFill>
          <a:blip r:embed="rId2" cstate="print"/>
          <a:srcRect/>
          <a:stretch>
            <a:fillRect/>
          </a:stretch>
        </p:blipFill>
        <p:spPr bwMode="auto">
          <a:xfrm>
            <a:off x="1600200" y="990600"/>
            <a:ext cx="5410200" cy="5334000"/>
          </a:xfrm>
          <a:prstGeom prst="rect">
            <a:avLst/>
          </a:prstGeom>
          <a:noFill/>
          <a:ln w="9525">
            <a:solidFill>
              <a:srgbClr val="00B050"/>
            </a:solid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rPr>
              <a:t>Separation of the Elements</a:t>
            </a:r>
            <a:br>
              <a:rPr lang="en-US" dirty="0" smtClean="0">
                <a:solidFill>
                  <a:srgbClr val="FF0000"/>
                </a:solidFill>
              </a:rPr>
            </a:br>
            <a:r>
              <a:rPr lang="en-US" sz="3600" dirty="0" smtClean="0">
                <a:solidFill>
                  <a:srgbClr val="0070C0"/>
                </a:solidFill>
              </a:rPr>
              <a:t>Two Methods </a:t>
            </a:r>
            <a:r>
              <a:rPr lang="en-US" dirty="0" smtClean="0">
                <a:solidFill>
                  <a:srgbClr val="FF0000"/>
                </a:solidFill>
              </a:rPr>
              <a:t/>
            </a:r>
            <a:br>
              <a:rPr lang="en-US"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228600" y="838200"/>
            <a:ext cx="6096000" cy="838201"/>
          </a:xfrm>
        </p:spPr>
        <p:txBody>
          <a:bodyPr>
            <a:normAutofit fontScale="77500" lnSpcReduction="20000"/>
          </a:bodyPr>
          <a:lstStyle/>
          <a:p>
            <a:endParaRPr lang="en-US" dirty="0" smtClean="0">
              <a:solidFill>
                <a:srgbClr val="FF0000"/>
              </a:solidFill>
            </a:endParaRPr>
          </a:p>
          <a:p>
            <a:pPr>
              <a:buNone/>
            </a:pPr>
            <a:r>
              <a:rPr lang="en-US" dirty="0" smtClean="0">
                <a:solidFill>
                  <a:srgbClr val="FF0000"/>
                </a:solidFill>
              </a:rPr>
              <a:t>1. ion exchange chromatography </a:t>
            </a:r>
            <a:endParaRPr lang="en-US" dirty="0">
              <a:solidFill>
                <a:srgbClr val="FF0000"/>
              </a:solidFill>
            </a:endParaRPr>
          </a:p>
        </p:txBody>
      </p:sp>
      <p:pic>
        <p:nvPicPr>
          <p:cNvPr id="4" name="Picture 3" descr="http://www.chem.ox.ac.uk/icl/heyes/LanthAct/Images/EDTA.gif"/>
          <p:cNvPicPr/>
          <p:nvPr/>
        </p:nvPicPr>
        <p:blipFill>
          <a:blip r:embed="rId2" cstate="print"/>
          <a:srcRect/>
          <a:stretch>
            <a:fillRect/>
          </a:stretch>
        </p:blipFill>
        <p:spPr bwMode="auto">
          <a:xfrm>
            <a:off x="304800" y="3429000"/>
            <a:ext cx="3048000" cy="1905000"/>
          </a:xfrm>
          <a:prstGeom prst="rect">
            <a:avLst/>
          </a:prstGeom>
          <a:noFill/>
          <a:ln w="9525">
            <a:noFill/>
            <a:miter lim="800000"/>
            <a:headEnd/>
            <a:tailEnd/>
          </a:ln>
        </p:spPr>
      </p:pic>
      <p:sp>
        <p:nvSpPr>
          <p:cNvPr id="33793" name="Rectangle 1"/>
          <p:cNvSpPr>
            <a:spLocks noChangeArrowheads="1"/>
          </p:cNvSpPr>
          <p:nvPr/>
        </p:nvSpPr>
        <p:spPr bwMode="auto">
          <a:xfrm>
            <a:off x="304800" y="1833264"/>
            <a:ext cx="8229600"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p>
            <a:pPr eaLnBrk="0" fontAlgn="base" hangingPunct="0">
              <a:spcBef>
                <a:spcPct val="0"/>
              </a:spcBef>
              <a:spcAft>
                <a:spcPct val="0"/>
              </a:spcAft>
              <a:buFontTx/>
              <a:buChar char="•"/>
            </a:pPr>
            <a:r>
              <a:rPr lang="en-US" dirty="0" smtClean="0">
                <a:latin typeface="Calibri" pitchFamily="34" charset="0"/>
                <a:ea typeface="Times New Roman" pitchFamily="18" charset="0"/>
                <a:cs typeface="Times New Roman" pitchFamily="18" charset="0"/>
              </a:rPr>
              <a:t>Ln</a:t>
            </a:r>
            <a:r>
              <a:rPr lang="en-US" baseline="30000" dirty="0" smtClean="0">
                <a:latin typeface="Calibri" pitchFamily="34" charset="0"/>
                <a:ea typeface="Times New Roman" pitchFamily="18" charset="0"/>
                <a:cs typeface="Times New Roman" pitchFamily="18" charset="0"/>
              </a:rPr>
              <a:t>3+</a:t>
            </a:r>
            <a:r>
              <a:rPr lang="en-US" dirty="0" smtClean="0">
                <a:latin typeface="Calibri" pitchFamily="34" charset="0"/>
                <a:ea typeface="Times New Roman" pitchFamily="18" charset="0"/>
                <a:cs typeface="Times New Roman" pitchFamily="18" charset="0"/>
              </a:rPr>
              <a:t>(</a:t>
            </a:r>
            <a:r>
              <a:rPr lang="en-US" dirty="0" err="1" smtClean="0">
                <a:latin typeface="Calibri" pitchFamily="34" charset="0"/>
                <a:ea typeface="Times New Roman" pitchFamily="18" charset="0"/>
                <a:cs typeface="Times New Roman" pitchFamily="18" charset="0"/>
              </a:rPr>
              <a:t>aq</a:t>
            </a:r>
            <a:r>
              <a:rPr lang="en-US" dirty="0" smtClean="0">
                <a:latin typeface="Calibri" pitchFamily="34" charset="0"/>
                <a:ea typeface="Times New Roman" pitchFamily="18" charset="0"/>
                <a:cs typeface="Times New Roman" pitchFamily="18" charset="0"/>
              </a:rPr>
              <a:t>) are strongly adsorbed by a </a:t>
            </a:r>
            <a:r>
              <a:rPr lang="en-US" b="1" dirty="0" err="1" smtClean="0">
                <a:solidFill>
                  <a:srgbClr val="0033FF"/>
                </a:solidFill>
                <a:latin typeface="Calibri" pitchFamily="34" charset="0"/>
                <a:ea typeface="Times New Roman" pitchFamily="18" charset="0"/>
                <a:cs typeface="Times New Roman" pitchFamily="18" charset="0"/>
              </a:rPr>
              <a:t>cation</a:t>
            </a:r>
            <a:r>
              <a:rPr lang="en-US" b="1" dirty="0" smtClean="0">
                <a:solidFill>
                  <a:srgbClr val="0033FF"/>
                </a:solidFill>
                <a:latin typeface="Calibri" pitchFamily="34" charset="0"/>
                <a:ea typeface="Times New Roman" pitchFamily="18" charset="0"/>
                <a:cs typeface="Times New Roman" pitchFamily="18" charset="0"/>
              </a:rPr>
              <a:t>-exchange resin</a:t>
            </a:r>
            <a:endParaRPr lang="en-US" dirty="0" smtClean="0">
              <a:latin typeface="Calibri"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Add an </a:t>
            </a:r>
            <a:r>
              <a:rPr kumimoji="0" lang="en-US" b="1" i="1" u="none" strike="noStrike" cap="none" normalizeH="0" baseline="0" dirty="0" err="1" smtClean="0">
                <a:ln>
                  <a:noFill/>
                </a:ln>
                <a:solidFill>
                  <a:srgbClr val="0033FF"/>
                </a:solidFill>
                <a:effectLst/>
                <a:latin typeface="Calibri" pitchFamily="34" charset="0"/>
                <a:ea typeface="Times New Roman" pitchFamily="18" charset="0"/>
                <a:cs typeface="Times New Roman" pitchFamily="18" charset="0"/>
              </a:rPr>
              <a:t>eluant</a:t>
            </a:r>
            <a:r>
              <a:rPr kumimoji="0" lang="en-US" b="1" i="0" u="none" strike="noStrike" cap="none" normalizeH="0" baseline="0" dirty="0" smtClean="0">
                <a:ln>
                  <a:noFill/>
                </a:ln>
                <a:solidFill>
                  <a:srgbClr val="0033FF"/>
                </a:solidFill>
                <a:effectLst/>
                <a:latin typeface="Calibri" pitchFamily="34" charset="0"/>
                <a:ea typeface="Times New Roman" pitchFamily="18" charset="0"/>
                <a:cs typeface="Times New Roman" pitchFamily="18" charset="0"/>
              </a:rPr>
              <a:t> </a:t>
            </a:r>
            <a:r>
              <a:rPr kumimoji="0" lang="en-US" b="1" i="0" u="none" strike="noStrike" cap="none" normalizeH="0" baseline="0" dirty="0" err="1" smtClean="0">
                <a:ln>
                  <a:noFill/>
                </a:ln>
                <a:solidFill>
                  <a:srgbClr val="0033FF"/>
                </a:solidFill>
                <a:effectLst/>
                <a:latin typeface="Calibri" pitchFamily="34" charset="0"/>
                <a:ea typeface="Times New Roman" pitchFamily="18" charset="0"/>
                <a:cs typeface="Times New Roman" pitchFamily="18" charset="0"/>
              </a:rPr>
              <a:t>ligand</a:t>
            </a:r>
            <a:r>
              <a:rPr kumimoji="0" lang="en-US"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typically </a:t>
            </a:r>
            <a:r>
              <a:rPr kumimoji="0" lang="en-US" b="1" i="1" u="none" strike="noStrike" cap="none" normalizeH="0" baseline="0" dirty="0" smtClean="0">
                <a:ln>
                  <a:noFill/>
                </a:ln>
                <a:solidFill>
                  <a:srgbClr val="006600"/>
                </a:solidFill>
                <a:effectLst/>
                <a:latin typeface="Calibri" pitchFamily="34" charset="0"/>
                <a:ea typeface="Times New Roman" pitchFamily="18" charset="0"/>
                <a:cs typeface="Times New Roman" pitchFamily="18" charset="0"/>
              </a:rPr>
              <a:t>chelating</a:t>
            </a:r>
            <a:r>
              <a:rPr kumimoji="0" lang="en-US" b="1" i="0" u="none" strike="noStrike" cap="none" normalizeH="0" baseline="0" dirty="0" smtClean="0">
                <a:ln>
                  <a:noFill/>
                </a:ln>
                <a:solidFill>
                  <a:srgbClr val="006600"/>
                </a:solidFill>
                <a:effectLst/>
                <a:latin typeface="Calibri" pitchFamily="34" charset="0"/>
                <a:ea typeface="Times New Roman" pitchFamily="18" charset="0"/>
                <a:cs typeface="Times New Roman" pitchFamily="18" charset="0"/>
              </a:rPr>
              <a:t> </a:t>
            </a:r>
            <a:r>
              <a:rPr kumimoji="0" lang="en-US" b="1" i="0" u="none" strike="noStrike" cap="none" normalizeH="0" baseline="0" dirty="0" err="1" smtClean="0">
                <a:ln>
                  <a:noFill/>
                </a:ln>
                <a:solidFill>
                  <a:srgbClr val="006600"/>
                </a:solidFill>
                <a:effectLst/>
                <a:latin typeface="Calibri" pitchFamily="34" charset="0"/>
                <a:ea typeface="Times New Roman" pitchFamily="18" charset="0"/>
                <a:cs typeface="Times New Roman" pitchFamily="18" charset="0"/>
              </a:rPr>
              <a:t>ligands</a:t>
            </a:r>
            <a:r>
              <a:rPr kumimoji="0" lang="en-US"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a:t>
            </a:r>
          </a:p>
        </p:txBody>
      </p:sp>
      <p:sp>
        <p:nvSpPr>
          <p:cNvPr id="6" name="Rectangle 5"/>
          <p:cNvSpPr/>
          <p:nvPr/>
        </p:nvSpPr>
        <p:spPr>
          <a:xfrm>
            <a:off x="3886200" y="2971800"/>
            <a:ext cx="727507" cy="369332"/>
          </a:xfrm>
          <a:prstGeom prst="rect">
            <a:avLst/>
          </a:prstGeom>
        </p:spPr>
        <p:txBody>
          <a:bodyPr wrap="none">
            <a:spAutoFit/>
          </a:bodyPr>
          <a:lstStyle/>
          <a:p>
            <a:r>
              <a:rPr lang="en-US" b="1" dirty="0" smtClean="0"/>
              <a:t>EDTA</a:t>
            </a:r>
            <a:r>
              <a:rPr lang="en-US" dirty="0" smtClean="0"/>
              <a:t> </a:t>
            </a:r>
            <a:endParaRPr lang="en-US" dirty="0"/>
          </a:p>
        </p:txBody>
      </p:sp>
      <p:sp>
        <p:nvSpPr>
          <p:cNvPr id="33794" name="Rectangle 2"/>
          <p:cNvSpPr>
            <a:spLocks noChangeArrowheads="1"/>
          </p:cNvSpPr>
          <p:nvPr/>
        </p:nvSpPr>
        <p:spPr bwMode="auto">
          <a:xfrm>
            <a:off x="3505200" y="4191000"/>
            <a:ext cx="25146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smtClean="0">
                <a:ln>
                  <a:noFill/>
                </a:ln>
                <a:solidFill>
                  <a:srgbClr val="FF0000"/>
                </a:solidFill>
                <a:effectLst/>
                <a:latin typeface="Calibri" pitchFamily="34" charset="0"/>
                <a:ea typeface="Times New Roman" pitchFamily="18" charset="0"/>
                <a:cs typeface="Times New Roman" pitchFamily="18" charset="0"/>
              </a:rPr>
              <a:t>or 2-hydroxy-EDTA </a:t>
            </a:r>
            <a:endParaRPr kumimoji="0" lang="en-US" sz="3200" b="0" i="0" u="none" strike="noStrike" cap="none" normalizeH="0" baseline="0" dirty="0" smtClean="0">
              <a:ln>
                <a:noFill/>
              </a:ln>
              <a:solidFill>
                <a:srgbClr val="FF0000"/>
              </a:solidFill>
              <a:effectLst/>
              <a:latin typeface="Arial" pitchFamily="34" charset="0"/>
              <a:cs typeface="Arial" pitchFamily="34" charset="0"/>
            </a:endParaRPr>
          </a:p>
        </p:txBody>
      </p:sp>
      <p:sp>
        <p:nvSpPr>
          <p:cNvPr id="33795" name="Rectangle 3"/>
          <p:cNvSpPr>
            <a:spLocks noChangeArrowheads="1"/>
          </p:cNvSpPr>
          <p:nvPr/>
        </p:nvSpPr>
        <p:spPr bwMode="auto">
          <a:xfrm>
            <a:off x="0" y="5181600"/>
            <a:ext cx="7391400" cy="98488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err="1" smtClean="0">
                <a:ln>
                  <a:noFill/>
                </a:ln>
                <a:solidFill>
                  <a:schemeClr val="tx1"/>
                </a:solidFill>
                <a:effectLst/>
                <a:latin typeface="Calibri" pitchFamily="34" charset="0"/>
                <a:ea typeface="Times New Roman" pitchFamily="18" charset="0"/>
                <a:cs typeface="Times New Roman" pitchFamily="18" charset="0"/>
              </a:rPr>
              <a:t>Ligand</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a:t>
            </a:r>
            <a:r>
              <a:rPr kumimoji="0" lang="en-US" sz="2400" b="1" i="0" u="none" strike="noStrike" cap="none" normalizeH="0" baseline="0" dirty="0" smtClean="0">
                <a:ln>
                  <a:noFill/>
                </a:ln>
                <a:solidFill>
                  <a:srgbClr val="0033FF"/>
                </a:solidFill>
                <a:effectLst/>
                <a:latin typeface="Calibri" pitchFamily="34" charset="0"/>
                <a:ea typeface="Times New Roman" pitchFamily="18" charset="0"/>
                <a:cs typeface="Times New Roman" pitchFamily="18" charset="0"/>
              </a:rPr>
              <a:t>binds most strongly to smallest ion</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0" i="1"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e.g.</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the binding constants of the </a:t>
            </a:r>
            <a:r>
              <a:rPr kumimoji="0" lang="en-US" sz="1600" b="0" i="0" u="none" strike="noStrike" cap="none" normalizeH="0" baseline="0" dirty="0" err="1" smtClean="0">
                <a:ln>
                  <a:noFill/>
                </a:ln>
                <a:solidFill>
                  <a:schemeClr val="tx1"/>
                </a:solidFill>
                <a:effectLst/>
                <a:latin typeface="Calibri" pitchFamily="34" charset="0"/>
                <a:ea typeface="Times New Roman" pitchFamily="18" charset="0"/>
                <a:cs typeface="Times New Roman" pitchFamily="18" charset="0"/>
              </a:rPr>
              <a:t>Ln</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(EDTA) complexes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ttp://www.chem.ox.ac.uk/icl/heyes/LanthAct/Images/lnKedta.gif"/>
          <p:cNvPicPr>
            <a:picLocks noGrp="1"/>
          </p:cNvPicPr>
          <p:nvPr>
            <p:ph idx="1"/>
          </p:nvPr>
        </p:nvPicPr>
        <p:blipFill>
          <a:blip r:embed="rId2" cstate="print"/>
          <a:srcRect/>
          <a:stretch>
            <a:fillRect/>
          </a:stretch>
        </p:blipFill>
        <p:spPr bwMode="auto">
          <a:xfrm>
            <a:off x="381000" y="152400"/>
            <a:ext cx="3810000" cy="3200400"/>
          </a:xfrm>
          <a:prstGeom prst="rect">
            <a:avLst/>
          </a:prstGeom>
          <a:noFill/>
          <a:ln w="9525">
            <a:noFill/>
            <a:miter lim="800000"/>
            <a:headEnd/>
            <a:tailEnd/>
          </a:ln>
        </p:spPr>
      </p:pic>
      <p:pic>
        <p:nvPicPr>
          <p:cNvPr id="5" name="Picture 4" descr="http://www.chem.ox.ac.uk/icl/heyes/LanthAct/Images/eluorder.gif"/>
          <p:cNvPicPr/>
          <p:nvPr/>
        </p:nvPicPr>
        <p:blipFill>
          <a:blip r:embed="rId3" cstate="print"/>
          <a:srcRect/>
          <a:stretch>
            <a:fillRect/>
          </a:stretch>
        </p:blipFill>
        <p:spPr bwMode="auto">
          <a:xfrm>
            <a:off x="4419600" y="228600"/>
            <a:ext cx="4191000" cy="3200400"/>
          </a:xfrm>
          <a:prstGeom prst="rect">
            <a:avLst/>
          </a:prstGeom>
          <a:noFill/>
          <a:ln w="9525">
            <a:noFill/>
            <a:miter lim="800000"/>
            <a:headEnd/>
            <a:tailEnd/>
          </a:ln>
        </p:spPr>
      </p:pic>
      <p:sp>
        <p:nvSpPr>
          <p:cNvPr id="34817" name="Rectangle 1"/>
          <p:cNvSpPr>
            <a:spLocks noChangeArrowheads="1"/>
          </p:cNvSpPr>
          <p:nvPr/>
        </p:nvSpPr>
        <p:spPr bwMode="auto">
          <a:xfrm>
            <a:off x="533400" y="3276600"/>
            <a:ext cx="6400800"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The process of separation is indicated graphically</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7" name="Picture 6" descr="http://www.chem.ox.ac.uk/icl/heyes/LanthAct/Images/column.gif"/>
          <p:cNvPicPr/>
          <p:nvPr/>
        </p:nvPicPr>
        <p:blipFill>
          <a:blip r:embed="rId4" cstate="print"/>
          <a:srcRect/>
          <a:stretch>
            <a:fillRect/>
          </a:stretch>
        </p:blipFill>
        <p:spPr bwMode="auto">
          <a:xfrm>
            <a:off x="3962400" y="4191000"/>
            <a:ext cx="1743075" cy="238125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4648200" cy="715962"/>
          </a:xfrm>
        </p:spPr>
        <p:txBody>
          <a:bodyPr>
            <a:normAutofit/>
          </a:bodyPr>
          <a:lstStyle/>
          <a:p>
            <a:r>
              <a:rPr lang="en-US" sz="3200" b="1" dirty="0" smtClean="0">
                <a:solidFill>
                  <a:srgbClr val="FF0000"/>
                </a:solidFill>
              </a:rPr>
              <a:t>2. Solvent Extraction</a:t>
            </a:r>
            <a:endParaRPr lang="en-US" sz="3200" dirty="0">
              <a:solidFill>
                <a:srgbClr val="FF0000"/>
              </a:solidFill>
            </a:endParaRPr>
          </a:p>
        </p:txBody>
      </p:sp>
      <p:sp>
        <p:nvSpPr>
          <p:cNvPr id="3" name="Content Placeholder 2"/>
          <p:cNvSpPr>
            <a:spLocks noGrp="1"/>
          </p:cNvSpPr>
          <p:nvPr>
            <p:ph idx="1"/>
          </p:nvPr>
        </p:nvSpPr>
        <p:spPr/>
        <p:txBody>
          <a:bodyPr/>
          <a:lstStyle/>
          <a:p>
            <a:pPr lvl="0"/>
            <a:r>
              <a:rPr lang="en-US" dirty="0" smtClean="0"/>
              <a:t>Ln</a:t>
            </a:r>
            <a:r>
              <a:rPr lang="en-US" baseline="30000" dirty="0" smtClean="0"/>
              <a:t>3+</a:t>
            </a:r>
            <a:r>
              <a:rPr lang="en-US" dirty="0" smtClean="0"/>
              <a:t>(</a:t>
            </a:r>
            <a:r>
              <a:rPr lang="en-US" dirty="0" err="1" smtClean="0"/>
              <a:t>aq</a:t>
            </a:r>
            <a:r>
              <a:rPr lang="en-US" dirty="0" smtClean="0"/>
              <a:t>) is extracted in a </a:t>
            </a:r>
            <a:r>
              <a:rPr lang="en-US" b="1" dirty="0" smtClean="0"/>
              <a:t>continuous counter-current</a:t>
            </a:r>
            <a:r>
              <a:rPr lang="en-US" dirty="0" smtClean="0"/>
              <a:t> process into a </a:t>
            </a:r>
            <a:r>
              <a:rPr lang="en-US" b="1" dirty="0" smtClean="0"/>
              <a:t>non-polar organic liquid</a:t>
            </a:r>
            <a:r>
              <a:rPr lang="en-US" dirty="0" smtClean="0"/>
              <a:t> (</a:t>
            </a:r>
            <a:r>
              <a:rPr lang="en-US" i="1" dirty="0" smtClean="0"/>
              <a:t>e.g.</a:t>
            </a:r>
            <a:r>
              <a:rPr lang="en-US" dirty="0" smtClean="0"/>
              <a:t> </a:t>
            </a:r>
            <a:r>
              <a:rPr lang="en-US" b="1" dirty="0" smtClean="0"/>
              <a:t>kerosene</a:t>
            </a:r>
            <a:r>
              <a:rPr lang="en-US" dirty="0" smtClean="0"/>
              <a:t>) </a:t>
            </a:r>
          </a:p>
          <a:p>
            <a:pPr lvl="0"/>
            <a:r>
              <a:rPr lang="en-US" dirty="0" smtClean="0"/>
              <a:t>the kerosene contains ca. </a:t>
            </a:r>
            <a:r>
              <a:rPr lang="en-US" b="1" dirty="0" smtClean="0"/>
              <a:t>10%</a:t>
            </a:r>
            <a:r>
              <a:rPr lang="en-US" dirty="0" smtClean="0"/>
              <a:t> of </a:t>
            </a:r>
          </a:p>
          <a:p>
            <a:endParaRPr lang="en-US" dirty="0"/>
          </a:p>
        </p:txBody>
      </p:sp>
      <p:pic>
        <p:nvPicPr>
          <p:cNvPr id="4" name="Picture 3" descr="http://www.chem.ox.ac.uk/icl/heyes/LanthAct/Images/dehpa.gif"/>
          <p:cNvPicPr/>
          <p:nvPr/>
        </p:nvPicPr>
        <p:blipFill>
          <a:blip r:embed="rId2" cstate="print"/>
          <a:srcRect/>
          <a:stretch>
            <a:fillRect/>
          </a:stretch>
        </p:blipFill>
        <p:spPr bwMode="auto">
          <a:xfrm>
            <a:off x="6629400" y="3352800"/>
            <a:ext cx="2209800" cy="990600"/>
          </a:xfrm>
          <a:prstGeom prst="rect">
            <a:avLst/>
          </a:prstGeom>
          <a:noFill/>
          <a:ln w="9525">
            <a:noFill/>
            <a:miter lim="800000"/>
            <a:headEnd/>
            <a:tailEnd/>
          </a:ln>
        </p:spPr>
      </p:pic>
      <p:sp>
        <p:nvSpPr>
          <p:cNvPr id="5" name="Rectangle 4"/>
          <p:cNvSpPr/>
          <p:nvPr/>
        </p:nvSpPr>
        <p:spPr>
          <a:xfrm>
            <a:off x="1981200" y="3886200"/>
            <a:ext cx="4040914" cy="369332"/>
          </a:xfrm>
          <a:prstGeom prst="rect">
            <a:avLst/>
          </a:prstGeom>
        </p:spPr>
        <p:txBody>
          <a:bodyPr wrap="none">
            <a:spAutoFit/>
          </a:bodyPr>
          <a:lstStyle/>
          <a:p>
            <a:r>
              <a:rPr lang="en-US" dirty="0" err="1" smtClean="0"/>
              <a:t>bis</a:t>
            </a:r>
            <a:r>
              <a:rPr lang="en-US" dirty="0" smtClean="0"/>
              <a:t>(2-ethylhexyl)</a:t>
            </a:r>
            <a:r>
              <a:rPr lang="en-US" dirty="0" err="1" smtClean="0"/>
              <a:t>phosphinic</a:t>
            </a:r>
            <a:r>
              <a:rPr lang="en-US" dirty="0" smtClean="0"/>
              <a:t> acid (</a:t>
            </a:r>
            <a:r>
              <a:rPr lang="en-US" b="1" dirty="0" smtClean="0"/>
              <a:t>DEHPA)</a:t>
            </a:r>
            <a:endParaRPr lang="en-US" dirty="0"/>
          </a:p>
        </p:txBody>
      </p:sp>
      <p:sp>
        <p:nvSpPr>
          <p:cNvPr id="35841" name="Rectangle 1"/>
          <p:cNvSpPr>
            <a:spLocks noChangeArrowheads="1"/>
          </p:cNvSpPr>
          <p:nvPr/>
        </p:nvSpPr>
        <p:spPr bwMode="auto">
          <a:xfrm>
            <a:off x="0" y="4419600"/>
            <a:ext cx="79248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l" defTabSz="914400" rtl="0" eaLnBrk="1" fontAlgn="base" latinLnBrk="0" hangingPunct="1">
              <a:lnSpc>
                <a:spcPct val="100000"/>
              </a:lnSpc>
              <a:spcBef>
                <a:spcPct val="0"/>
              </a:spcBef>
              <a:spcAft>
                <a:spcPct val="0"/>
              </a:spcAft>
              <a:buClrTx/>
              <a:buSzTx/>
              <a:buFont typeface="Symbol" pitchFamily="18" charset="2"/>
              <a:buChar char=""/>
              <a:tabLst>
                <a:tab pos="742950" algn="l"/>
              </a:tabLst>
            </a:pPr>
            <a:r>
              <a:rPr kumimoji="0" lang="en-US" sz="32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a:t>
            </a:r>
            <a:r>
              <a:rPr kumimoji="0" lang="en-US" sz="28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tri-</a:t>
            </a:r>
            <a:r>
              <a:rPr kumimoji="0" lang="en-US" sz="2800" b="0" i="1"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n</a:t>
            </a:r>
            <a:r>
              <a:rPr kumimoji="0" lang="en-US" sz="28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a:t>
            </a:r>
            <a:r>
              <a:rPr kumimoji="0" lang="en-US" sz="2800" b="0" i="0" u="none" strike="noStrike" cap="none" normalizeH="0" baseline="0" dirty="0" err="1" smtClean="0">
                <a:ln>
                  <a:noFill/>
                </a:ln>
                <a:solidFill>
                  <a:schemeClr val="tx1"/>
                </a:solidFill>
                <a:effectLst/>
                <a:latin typeface="Calibri" pitchFamily="34" charset="0"/>
                <a:ea typeface="Times New Roman" pitchFamily="18" charset="0"/>
                <a:cs typeface="Times New Roman" pitchFamily="18" charset="0"/>
              </a:rPr>
              <a:t>butylphosphine</a:t>
            </a:r>
            <a:r>
              <a:rPr kumimoji="0" lang="en-US" sz="20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oxide (</a:t>
            </a:r>
            <a:r>
              <a:rPr kumimoji="0" lang="en-US" sz="2000" b="1" i="0" u="none" strike="noStrike" cap="none" normalizeH="0" baseline="0" dirty="0" smtClean="0">
                <a:ln>
                  <a:noFill/>
                </a:ln>
                <a:solidFill>
                  <a:srgbClr val="0033FF"/>
                </a:solidFill>
                <a:effectLst/>
                <a:latin typeface="Calibri" pitchFamily="34" charset="0"/>
                <a:ea typeface="Times New Roman" pitchFamily="18" charset="0"/>
                <a:cs typeface="Times New Roman" pitchFamily="18" charset="0"/>
              </a:rPr>
              <a:t>TBPO</a:t>
            </a:r>
            <a:r>
              <a:rPr kumimoji="0" lang="en-US" sz="20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a:t>
            </a:r>
            <a:r>
              <a:rPr kumimoji="0" lang="en-US" sz="2000" b="0" i="0" u="none" strike="noStrike" cap="none" normalizeH="0" baseline="30000" dirty="0" smtClean="0">
                <a:ln>
                  <a:noFill/>
                </a:ln>
                <a:solidFill>
                  <a:schemeClr val="tx1"/>
                </a:solidFill>
                <a:effectLst/>
                <a:latin typeface="Calibri" pitchFamily="34" charset="0"/>
                <a:ea typeface="Times New Roman" pitchFamily="18" charset="0"/>
                <a:cs typeface="Times New Roman" pitchFamily="18" charset="0"/>
              </a:rPr>
              <a:t>n</a:t>
            </a:r>
            <a:r>
              <a:rPr kumimoji="0" lang="en-US" sz="20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Bu</a:t>
            </a:r>
            <a:r>
              <a:rPr kumimoji="0" lang="en-US" sz="2000" b="0" i="0" u="none" strike="noStrike" cap="none" normalizeH="0" baseline="-30000" dirty="0" smtClean="0">
                <a:ln>
                  <a:noFill/>
                </a:ln>
                <a:solidFill>
                  <a:schemeClr val="tx1"/>
                </a:solidFill>
                <a:effectLst/>
                <a:latin typeface="Calibri" pitchFamily="34" charset="0"/>
                <a:ea typeface="Times New Roman" pitchFamily="18" charset="0"/>
                <a:cs typeface="Times New Roman" pitchFamily="18" charset="0"/>
              </a:rPr>
              <a:t>3</a:t>
            </a:r>
            <a:r>
              <a:rPr kumimoji="0" lang="en-US" sz="20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O)</a:t>
            </a:r>
            <a:r>
              <a:rPr kumimoji="0" lang="en-US" sz="2000" b="0" i="0" u="none" strike="noStrike" cap="none" normalizeH="0" baseline="-30000" dirty="0" smtClean="0">
                <a:ln>
                  <a:noFill/>
                </a:ln>
                <a:solidFill>
                  <a:schemeClr val="tx1"/>
                </a:solidFill>
                <a:effectLst/>
                <a:latin typeface="Calibri" pitchFamily="34" charset="0"/>
                <a:ea typeface="Times New Roman" pitchFamily="18" charset="0"/>
                <a:cs typeface="Times New Roman" pitchFamily="18" charset="0"/>
              </a:rPr>
              <a:t>3</a:t>
            </a:r>
            <a:r>
              <a:rPr kumimoji="0" lang="en-US" sz="20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PO</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35842" name="Rectangle 2"/>
          <p:cNvSpPr>
            <a:spLocks noChangeArrowheads="1"/>
          </p:cNvSpPr>
          <p:nvPr/>
        </p:nvSpPr>
        <p:spPr bwMode="auto">
          <a:xfrm>
            <a:off x="609600" y="5029200"/>
            <a:ext cx="81534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solubility</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of Ln</a:t>
            </a:r>
            <a:r>
              <a:rPr kumimoji="0" lang="en-US" sz="1600" b="0" i="0" u="none" strike="noStrike" cap="none" normalizeH="0" baseline="30000" dirty="0" smtClean="0">
                <a:ln>
                  <a:noFill/>
                </a:ln>
                <a:solidFill>
                  <a:schemeClr val="tx1"/>
                </a:solidFill>
                <a:effectLst/>
                <a:latin typeface="Calibri" pitchFamily="34" charset="0"/>
                <a:ea typeface="Times New Roman" pitchFamily="18" charset="0"/>
                <a:cs typeface="Times New Roman" pitchFamily="18" charset="0"/>
              </a:rPr>
              <a:t>3+</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in organic solvent</a:t>
            </a: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increases</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with its </a:t>
            </a: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RAM</a:t>
            </a:r>
            <a:endParaRPr kumimoji="0" lang="en-US" sz="16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separation factor</a:t>
            </a:r>
            <a:r>
              <a:rPr kumimoji="0" lang="en-US" sz="1600" b="0"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for adjacent rare earths = </a:t>
            </a: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2.5</a:t>
            </a:r>
            <a:endParaRPr kumimoji="0" lang="en-US" sz="16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sz="1600" b="1" dirty="0" smtClean="0">
                <a:latin typeface="Calibri" pitchFamily="34" charset="0"/>
                <a:ea typeface="Times New Roman" pitchFamily="18" charset="0"/>
                <a:cs typeface="Times New Roman" pitchFamily="18" charset="0"/>
              </a:rPr>
              <a:t>A</a:t>
            </a: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utomatic multistep, counter-current conditions </a:t>
            </a:r>
            <a:r>
              <a:rPr kumimoji="0" lang="en-US" sz="1600" b="1" i="0" u="none" strike="noStrike" cap="none" normalizeH="0" baseline="0" dirty="0" smtClean="0">
                <a:ln>
                  <a:noFill/>
                </a:ln>
                <a:solidFill>
                  <a:schemeClr val="tx1"/>
                </a:solidFill>
                <a:effectLst/>
                <a:latin typeface="Calibri"/>
                <a:ea typeface="Times New Roman" pitchFamily="18" charset="0"/>
                <a:cs typeface="Times New Roman" pitchFamily="18" charset="0"/>
              </a:rPr>
              <a:t>Æ</a:t>
            </a:r>
            <a:r>
              <a:rPr kumimoji="0" lang="en-US" sz="1600" b="1" i="0" u="none" strike="noStrike" cap="none" normalizeH="0" baseline="0" dirty="0" smtClean="0">
                <a:ln>
                  <a:noFill/>
                </a:ln>
                <a:solidFill>
                  <a:schemeClr val="tx1"/>
                </a:solidFill>
                <a:effectLst/>
                <a:latin typeface="Calibri" pitchFamily="34" charset="0"/>
                <a:ea typeface="Times New Roman" pitchFamily="18" charset="0"/>
                <a:cs typeface="Times New Roman" pitchFamily="18" charset="0"/>
              </a:rPr>
              <a:t> 99.9% purity </a:t>
            </a:r>
            <a:r>
              <a:rPr kumimoji="0" lang="en-US" sz="1600" b="1" i="0" u="none" strike="noStrike" cap="none" normalizeH="0" baseline="0" dirty="0" err="1" smtClean="0">
                <a:ln>
                  <a:noFill/>
                </a:ln>
                <a:solidFill>
                  <a:schemeClr val="tx1"/>
                </a:solidFill>
                <a:effectLst/>
                <a:latin typeface="Calibri" pitchFamily="34" charset="0"/>
                <a:ea typeface="Times New Roman" pitchFamily="18" charset="0"/>
                <a:cs typeface="Times New Roman" pitchFamily="18" charset="0"/>
              </a:rPr>
              <a:t>Ln</a:t>
            </a:r>
            <a:endParaRPr kumimoji="0" lang="en-US" sz="16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630</Words>
  <Application>Microsoft Office PowerPoint</Application>
  <PresentationFormat>On-screen Show (4:3)</PresentationFormat>
  <Paragraphs>110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Lanthanides and Actinides </vt:lpstr>
      <vt:lpstr>Slide 2</vt:lpstr>
      <vt:lpstr>Slide 3</vt:lpstr>
      <vt:lpstr>Slide 4</vt:lpstr>
      <vt:lpstr>Slide 5</vt:lpstr>
      <vt:lpstr>Slide 6</vt:lpstr>
      <vt:lpstr>Define Lanthanide Contraction </vt:lpstr>
      <vt:lpstr>Slide 8</vt:lpstr>
      <vt:lpstr>Slide 9</vt:lpstr>
      <vt:lpstr>Slide 10</vt:lpstr>
      <vt:lpstr>Actinides </vt:lpstr>
      <vt:lpstr>Actinide Contraction </vt:lpstr>
      <vt:lpstr> Similarities Between Lanthanides and Actinides </vt:lpstr>
      <vt:lpstr> Difference Between Lanthanides and Actinides </vt:lpstr>
      <vt:lpstr>Uses of Lanthanides</vt:lpstr>
      <vt:lpstr>Uses of Actinides </vt:lpstr>
      <vt:lpstr>Monazite</vt:lpstr>
      <vt:lpstr>Slide 18</vt:lpstr>
      <vt:lpstr>Extraction of Lanthanides from Monazite Sand: </vt:lpstr>
      <vt:lpstr>Slide 20</vt:lpstr>
      <vt:lpstr>Separation of the Elements Two Methods  </vt:lpstr>
      <vt:lpstr>Slide 22</vt:lpstr>
      <vt:lpstr>2. Solvent Extraction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Arzu</dc:creator>
  <cp:lastModifiedBy>Pc Mela</cp:lastModifiedBy>
  <cp:revision>38</cp:revision>
  <dcterms:created xsi:type="dcterms:W3CDTF">2013-11-28T05:52:34Z</dcterms:created>
  <dcterms:modified xsi:type="dcterms:W3CDTF">2019-09-19T03:40:49Z</dcterms:modified>
</cp:coreProperties>
</file>