
<file path=[Content_Types].xml><?xml version="1.0" encoding="utf-8"?>
<Types xmlns="http://schemas.openxmlformats.org/package/2006/content-types">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7" r:id="rId2"/>
    <p:sldId id="312" r:id="rId3"/>
    <p:sldId id="268" r:id="rId4"/>
    <p:sldId id="259" r:id="rId5"/>
    <p:sldId id="269" r:id="rId6"/>
    <p:sldId id="270" r:id="rId7"/>
    <p:sldId id="271" r:id="rId8"/>
    <p:sldId id="273" r:id="rId9"/>
    <p:sldId id="260" r:id="rId10"/>
    <p:sldId id="256" r:id="rId11"/>
    <p:sldId id="261" r:id="rId12"/>
    <p:sldId id="264" r:id="rId13"/>
    <p:sldId id="262" r:id="rId14"/>
    <p:sldId id="263" r:id="rId15"/>
    <p:sldId id="265" r:id="rId16"/>
    <p:sldId id="353" r:id="rId17"/>
    <p:sldId id="315" r:id="rId18"/>
    <p:sldId id="316" r:id="rId19"/>
    <p:sldId id="334" r:id="rId20"/>
    <p:sldId id="335" r:id="rId21"/>
    <p:sldId id="336" r:id="rId22"/>
    <p:sldId id="337" r:id="rId23"/>
    <p:sldId id="338" r:id="rId24"/>
    <p:sldId id="319" r:id="rId25"/>
    <p:sldId id="320" r:id="rId26"/>
    <p:sldId id="321" r:id="rId27"/>
    <p:sldId id="285" r:id="rId28"/>
    <p:sldId id="314" r:id="rId29"/>
    <p:sldId id="286" r:id="rId30"/>
    <p:sldId id="352" r:id="rId31"/>
    <p:sldId id="351" r:id="rId32"/>
    <p:sldId id="275" r:id="rId33"/>
    <p:sldId id="276" r:id="rId34"/>
    <p:sldId id="313" r:id="rId35"/>
    <p:sldId id="327" r:id="rId36"/>
    <p:sldId id="328" r:id="rId37"/>
    <p:sldId id="329" r:id="rId38"/>
    <p:sldId id="277" r:id="rId39"/>
    <p:sldId id="278" r:id="rId40"/>
    <p:sldId id="279" r:id="rId41"/>
    <p:sldId id="280" r:id="rId42"/>
    <p:sldId id="332" r:id="rId43"/>
    <p:sldId id="333" r:id="rId44"/>
    <p:sldId id="322" r:id="rId45"/>
    <p:sldId id="323" r:id="rId46"/>
    <p:sldId id="324" r:id="rId47"/>
    <p:sldId id="266" r:id="rId48"/>
    <p:sldId id="287" r:id="rId49"/>
    <p:sldId id="298" r:id="rId50"/>
    <p:sldId id="302" r:id="rId51"/>
    <p:sldId id="308" r:id="rId52"/>
    <p:sldId id="301" r:id="rId53"/>
    <p:sldId id="306" r:id="rId54"/>
    <p:sldId id="331" r:id="rId55"/>
    <p:sldId id="290" r:id="rId56"/>
    <p:sldId id="291" r:id="rId57"/>
    <p:sldId id="288" r:id="rId58"/>
    <p:sldId id="289" r:id="rId59"/>
    <p:sldId id="293" r:id="rId60"/>
    <p:sldId id="292" r:id="rId61"/>
    <p:sldId id="347" r:id="rId62"/>
    <p:sldId id="339" r:id="rId63"/>
    <p:sldId id="340" r:id="rId64"/>
    <p:sldId id="341" r:id="rId65"/>
    <p:sldId id="344" r:id="rId66"/>
    <p:sldId id="342" r:id="rId67"/>
    <p:sldId id="348" r:id="rId68"/>
    <p:sldId id="349" r:id="rId69"/>
    <p:sldId id="350"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CC"/>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18" autoAdjust="0"/>
    <p:restoredTop sz="94660"/>
  </p:normalViewPr>
  <p:slideViewPr>
    <p:cSldViewPr>
      <p:cViewPr varScale="1">
        <p:scale>
          <a:sx n="64" d="100"/>
          <a:sy n="64" d="100"/>
        </p:scale>
        <p:origin x="69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D88845-7FE9-4BC1-9042-28A37F9951DB}" type="datetimeFigureOut">
              <a:rPr lang="en-US" smtClean="0"/>
              <a:pPr/>
              <a:t>7/7/2025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87C11F-8B65-4151-AE64-3CA69436386F}" type="slidenum">
              <a:rPr lang="en-US" smtClean="0"/>
              <a:pPr/>
              <a:t>‹#›</a:t>
            </a:fld>
            <a:endParaRPr lang="en-US"/>
          </a:p>
        </p:txBody>
      </p:sp>
    </p:spTree>
    <p:extLst>
      <p:ext uri="{BB962C8B-B14F-4D97-AF65-F5344CB8AC3E}">
        <p14:creationId xmlns:p14="http://schemas.microsoft.com/office/powerpoint/2010/main" val="2654025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a:p>
        </p:txBody>
      </p:sp>
      <p:sp>
        <p:nvSpPr>
          <p:cNvPr id="44036" name="Slide Number Placeholder 3"/>
          <p:cNvSpPr>
            <a:spLocks noGrp="1"/>
          </p:cNvSpPr>
          <p:nvPr>
            <p:ph type="sldNum" sz="quarter" idx="5"/>
          </p:nvPr>
        </p:nvSpPr>
        <p:spPr>
          <a:noFill/>
        </p:spPr>
        <p:txBody>
          <a:bodyPr/>
          <a:lstStyle/>
          <a:p>
            <a:fld id="{95B560BD-66BE-43DA-860A-6022301DC401}"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pPr/>
              <a:t>47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7C11F-8B65-4151-AE64-3CA69436386F}" type="slidenum">
              <a:rPr lang="en-US" smtClean="0">
                <a:solidFill>
                  <a:prstClr val="black"/>
                </a:solidFill>
              </a:rPr>
              <a:pPr/>
              <a:t>68</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728C457-B137-4C68-A8B0-BD91B94DA975}"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28C457-B137-4C68-A8B0-BD91B94DA975}"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28C457-B137-4C68-A8B0-BD91B94DA975}"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28C457-B137-4C68-A8B0-BD91B94DA975}"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28C457-B137-4C68-A8B0-BD91B94DA975}" type="datetimeFigureOut">
              <a:rPr lang="en-US" smtClean="0"/>
              <a:pPr/>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28C457-B137-4C68-A8B0-BD91B94DA975}" type="datetimeFigureOut">
              <a:rPr lang="en-US" smtClean="0"/>
              <a:pPr/>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28C457-B137-4C68-A8B0-BD91B94DA975}" type="datetimeFigureOut">
              <a:rPr lang="en-US" smtClean="0"/>
              <a:pPr/>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28C457-B137-4C68-A8B0-BD91B94DA975}"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28C457-B137-4C68-A8B0-BD91B94DA975}"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28C457-B137-4C68-A8B0-BD91B94DA975}"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28C457-B137-4C68-A8B0-BD91B94DA975}"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A5C38-8DC9-4824-A3DB-22CD9CA317B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28C457-B137-4C68-A8B0-BD91B94DA975}" type="datetimeFigureOut">
              <a:rPr lang="en-US" smtClean="0"/>
              <a:pPr/>
              <a:t>7/7/2025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A5C38-8DC9-4824-A3DB-22CD9CA317B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biology-online.org/dictionary/Chlorophyll_b" TargetMode="External"/><Relationship Id="rId7" Type="http://schemas.openxmlformats.org/officeDocument/2006/relationships/hyperlink" Target="http://www.biology-online.org/dictionary/Chlorophyll_f" TargetMode="Externa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hyperlink" Target="http://www.biology-online.org/dictionary/Chlorophyll_e" TargetMode="External"/><Relationship Id="rId5" Type="http://schemas.openxmlformats.org/officeDocument/2006/relationships/hyperlink" Target="http://www.biology-online.org/dictionary/Chlorophyll_d" TargetMode="External"/><Relationship Id="rId4" Type="http://schemas.openxmlformats.org/officeDocument/2006/relationships/hyperlink" Target="http://www.biology-online.org/dictionary/Chlorophyll_c" TargetMode="Externa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en.wikipedia.org/wiki/Vitamin" TargetMode="External"/><Relationship Id="rId7" Type="http://schemas.openxmlformats.org/officeDocument/2006/relationships/hyperlink" Target="http://en.wikipedia.org/wiki/B_vitamins" TargetMode="Externa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hyperlink" Target="http://en.wikipedia.org/wiki/Blood" TargetMode="External"/><Relationship Id="rId5" Type="http://schemas.openxmlformats.org/officeDocument/2006/relationships/hyperlink" Target="http://en.wikipedia.org/wiki/Nervous_system" TargetMode="External"/><Relationship Id="rId4" Type="http://schemas.openxmlformats.org/officeDocument/2006/relationships/hyperlink" Target="http://en.wikipedia.org/wiki/Brain"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en.wikipedia.org/wiki/Nervous_system" TargetMode="External"/><Relationship Id="rId2" Type="http://schemas.openxmlformats.org/officeDocument/2006/relationships/hyperlink" Target="http://en.wikipedia.org/wiki/Brain" TargetMode="External"/><Relationship Id="rId1" Type="http://schemas.openxmlformats.org/officeDocument/2006/relationships/slideLayout" Target="../slideLayouts/slideLayout2.xml"/><Relationship Id="rId4" Type="http://schemas.openxmlformats.org/officeDocument/2006/relationships/hyperlink" Target="http://en.wikipedia.org/wiki/Blood"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www.medicalnewstoday.com/articles/147963.php" TargetMode="External"/><Relationship Id="rId2" Type="http://schemas.openxmlformats.org/officeDocument/2006/relationships/hyperlink" Target="http://www.medicalnewstoday.com/articles/158800.php" TargetMode="External"/><Relationship Id="rId1" Type="http://schemas.openxmlformats.org/officeDocument/2006/relationships/slideLayout" Target="../slideLayouts/slideLayout2.xml"/><Relationship Id="rId4" Type="http://schemas.openxmlformats.org/officeDocument/2006/relationships/hyperlink" Target="http://www.medicalnewstoday.com/articles/219853.php" TargetMode="External"/></Relationships>
</file>

<file path=ppt/slides/_rels/slide57.xml.rels><?xml version="1.0" encoding="UTF-8" standalone="yes"?>
<Relationships xmlns="http://schemas.openxmlformats.org/package/2006/relationships"><Relationship Id="rId2" Type="http://schemas.openxmlformats.org/officeDocument/2006/relationships/hyperlink" Target="http://www.medicalnewstoday.com/articles/176941.php"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en.wikipedia.org/wiki/Iron-sulfur_cluster" TargetMode="External"/><Relationship Id="rId2" Type="http://schemas.openxmlformats.org/officeDocument/2006/relationships/hyperlink" Target="http://en.wikipedia.org/wiki/Protein" TargetMode="External"/><Relationship Id="rId1" Type="http://schemas.openxmlformats.org/officeDocument/2006/relationships/slideLayout" Target="../slideLayouts/slideLayout2.xml"/><Relationship Id="rId6" Type="http://schemas.openxmlformats.org/officeDocument/2006/relationships/hyperlink" Target="http://en.wikipedia.org/wiki/Oxidation_state" TargetMode="External"/><Relationship Id="rId5" Type="http://schemas.openxmlformats.org/officeDocument/2006/relationships/hyperlink" Target="http://en.wikipedia.org/wiki/Iron" TargetMode="External"/><Relationship Id="rId4" Type="http://schemas.openxmlformats.org/officeDocument/2006/relationships/hyperlink" Target="http://en.wikipedia.org/wiki/Sulfid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en.wikipedia.org/wiki/File:FeS.png"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hyperlink" Target="http://en.wikipedia.org/wiki/Amino_acid" TargetMode="External"/><Relationship Id="rId13" Type="http://schemas.openxmlformats.org/officeDocument/2006/relationships/hyperlink" Target="http://en.wikipedia.org/wiki/Nitrogen_dioxide" TargetMode="External"/><Relationship Id="rId3" Type="http://schemas.openxmlformats.org/officeDocument/2006/relationships/hyperlink" Target="http://en.wikipedia.org/wiki/Earth's_atmosphere" TargetMode="External"/><Relationship Id="rId7" Type="http://schemas.openxmlformats.org/officeDocument/2006/relationships/hyperlink" Target="http://en.wikipedia.org/wiki/DNA_and_RNA" TargetMode="External"/><Relationship Id="rId12" Type="http://schemas.openxmlformats.org/officeDocument/2006/relationships/hyperlink" Target="http://en.wikipedia.org/wiki/Trinitrotoluene" TargetMode="External"/><Relationship Id="rId2" Type="http://schemas.openxmlformats.org/officeDocument/2006/relationships/hyperlink" Target="http://en.wikipedia.org/wiki/Nitrogen" TargetMode="External"/><Relationship Id="rId16" Type="http://schemas.openxmlformats.org/officeDocument/2006/relationships/hyperlink" Target="http://en.wikipedia.org/wiki/Symbiosis" TargetMode="External"/><Relationship Id="rId1" Type="http://schemas.openxmlformats.org/officeDocument/2006/relationships/slideLayout" Target="../slideLayouts/slideLayout2.xml"/><Relationship Id="rId6" Type="http://schemas.openxmlformats.org/officeDocument/2006/relationships/hyperlink" Target="http://en.wikipedia.org/wiki/Nucleotides" TargetMode="External"/><Relationship Id="rId11" Type="http://schemas.openxmlformats.org/officeDocument/2006/relationships/hyperlink" Target="http://en.wikipedia.org/wiki/Dynamite" TargetMode="External"/><Relationship Id="rId5" Type="http://schemas.openxmlformats.org/officeDocument/2006/relationships/hyperlink" Target="http://en.wikipedia.org/wiki/Biosynthesis" TargetMode="External"/><Relationship Id="rId15" Type="http://schemas.openxmlformats.org/officeDocument/2006/relationships/hyperlink" Target="http://en.wikipedia.org/wiki/Termite" TargetMode="External"/><Relationship Id="rId10" Type="http://schemas.openxmlformats.org/officeDocument/2006/relationships/hyperlink" Target="http://en.wikipedia.org/wiki/Gunpowder" TargetMode="External"/><Relationship Id="rId4" Type="http://schemas.openxmlformats.org/officeDocument/2006/relationships/hyperlink" Target="http://en.wikipedia.org/wiki/Ammonia" TargetMode="External"/><Relationship Id="rId9" Type="http://schemas.openxmlformats.org/officeDocument/2006/relationships/hyperlink" Target="http://en.wikipedia.org/wiki/Protein" TargetMode="External"/><Relationship Id="rId14" Type="http://schemas.openxmlformats.org/officeDocument/2006/relationships/hyperlink" Target="http://en.wikipedia.org/wiki/Diazotroph"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en.wikipedia.org/wiki/Nitrogen_cycle" TargetMode="Externa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1066800"/>
            <a:ext cx="6400800" cy="5486400"/>
          </a:xfrm>
        </p:spPr>
        <p:style>
          <a:lnRef idx="1">
            <a:schemeClr val="accent3"/>
          </a:lnRef>
          <a:fillRef idx="2">
            <a:schemeClr val="accent3"/>
          </a:fillRef>
          <a:effectRef idx="1">
            <a:schemeClr val="accent3"/>
          </a:effectRef>
          <a:fontRef idx="minor">
            <a:schemeClr val="dk1"/>
          </a:fontRef>
        </p:style>
        <p:txBody>
          <a:bodyPr>
            <a:normAutofit fontScale="70000" lnSpcReduction="20000"/>
          </a:bodyPr>
          <a:lstStyle/>
          <a:p>
            <a:r>
              <a:rPr lang="en-US" sz="5100" b="1" dirty="0">
                <a:solidFill>
                  <a:srgbClr val="FF0000"/>
                </a:solidFill>
              </a:rPr>
              <a:t>Bioinorganic chemistry</a:t>
            </a:r>
            <a:r>
              <a:rPr lang="en-US" sz="5100" dirty="0">
                <a:solidFill>
                  <a:srgbClr val="FF0000"/>
                </a:solidFill>
              </a:rPr>
              <a:t> </a:t>
            </a:r>
          </a:p>
          <a:p>
            <a:endParaRPr lang="en-US" sz="4100" dirty="0">
              <a:solidFill>
                <a:srgbClr val="00B050"/>
              </a:solidFill>
            </a:endParaRPr>
          </a:p>
          <a:p>
            <a:pPr algn="just"/>
            <a:r>
              <a:rPr lang="en-US" sz="4100" dirty="0">
                <a:solidFill>
                  <a:srgbClr val="0070C0"/>
                </a:solidFill>
              </a:rPr>
              <a:t>Deals with the role of metals and non metals in biological systems.</a:t>
            </a:r>
          </a:p>
          <a:p>
            <a:pPr algn="just"/>
            <a:endParaRPr lang="en-US" dirty="0"/>
          </a:p>
          <a:p>
            <a:pPr algn="just"/>
            <a:r>
              <a:rPr lang="en-US" b="1" dirty="0">
                <a:solidFill>
                  <a:srgbClr val="002060"/>
                </a:solidFill>
              </a:rPr>
              <a:t>Two major components of bioinorganic chemistry are:</a:t>
            </a:r>
          </a:p>
          <a:p>
            <a:pPr algn="just"/>
            <a:endParaRPr lang="en-US" b="1" dirty="0">
              <a:solidFill>
                <a:srgbClr val="002060"/>
              </a:solidFill>
            </a:endParaRPr>
          </a:p>
          <a:p>
            <a:pPr marL="571500" indent="-571500" algn="just">
              <a:buAutoNum type="romanLcParenR"/>
            </a:pPr>
            <a:r>
              <a:rPr lang="en-US" b="1" dirty="0">
                <a:solidFill>
                  <a:srgbClr val="002060"/>
                </a:solidFill>
              </a:rPr>
              <a:t>the study of naturally occurring inorganic elements in bio-systems and  </a:t>
            </a:r>
          </a:p>
          <a:p>
            <a:pPr marL="571500" indent="-571500" algn="just">
              <a:buAutoNum type="romanLcParenR"/>
            </a:pPr>
            <a:endParaRPr lang="en-US" b="1" dirty="0">
              <a:solidFill>
                <a:srgbClr val="002060"/>
              </a:solidFill>
            </a:endParaRPr>
          </a:p>
          <a:p>
            <a:pPr marL="571500" indent="-571500" algn="just">
              <a:buAutoNum type="romanLcParenR"/>
            </a:pPr>
            <a:r>
              <a:rPr lang="en-US" b="1" dirty="0">
                <a:solidFill>
                  <a:srgbClr val="002060"/>
                </a:solidFill>
              </a:rPr>
              <a:t>introduction of these elements as probes or drugs into biological systems and studying inorganic models that mimic the behavior of various </a:t>
            </a:r>
            <a:r>
              <a:rPr lang="en-US" b="1" dirty="0" err="1">
                <a:solidFill>
                  <a:srgbClr val="002060"/>
                </a:solidFill>
              </a:rPr>
              <a:t>metallo</a:t>
            </a:r>
            <a:r>
              <a:rPr lang="en-US" b="1" dirty="0">
                <a:solidFill>
                  <a:srgbClr val="002060"/>
                </a:solidFill>
              </a:rPr>
              <a:t>-proteins.</a:t>
            </a:r>
          </a:p>
          <a:p>
            <a:pPr algn="just"/>
            <a:r>
              <a:rPr lang="en-US" b="1" dirty="0">
                <a:solidFill>
                  <a:srgbClr val="002060"/>
                </a:solidFill>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title"/>
          </p:nvPr>
        </p:nvSpPr>
        <p:spPr>
          <a:xfrm>
            <a:off x="457200" y="457200"/>
            <a:ext cx="8229600" cy="563563"/>
          </a:xfrm>
        </p:spPr>
        <p:style>
          <a:lnRef idx="1">
            <a:schemeClr val="accent3"/>
          </a:lnRef>
          <a:fillRef idx="2">
            <a:schemeClr val="accent3"/>
          </a:fillRef>
          <a:effectRef idx="1">
            <a:schemeClr val="accent3"/>
          </a:effectRef>
          <a:fontRef idx="minor">
            <a:schemeClr val="dk1"/>
          </a:fontRef>
        </p:style>
        <p:txBody>
          <a:bodyPr>
            <a:normAutofit fontScale="90000"/>
          </a:bodyPr>
          <a:lstStyle/>
          <a:p>
            <a:pPr eaLnBrk="1" hangingPunct="1"/>
            <a:br>
              <a:rPr lang="en-US" sz="2800" b="1" dirty="0"/>
            </a:br>
            <a:r>
              <a:rPr lang="en-US" sz="3600" b="1" dirty="0">
                <a:solidFill>
                  <a:srgbClr val="FF0000"/>
                </a:solidFill>
              </a:rPr>
              <a:t>Biologically Important Elements</a:t>
            </a:r>
            <a:br>
              <a:rPr lang="en-US" sz="3600" dirty="0"/>
            </a:br>
            <a:endParaRPr lang="en-US" sz="3600" dirty="0"/>
          </a:p>
        </p:txBody>
      </p:sp>
      <p:sp>
        <p:nvSpPr>
          <p:cNvPr id="14339" name="Rectangle 6"/>
          <p:cNvSpPr>
            <a:spLocks noGrp="1" noChangeArrowheads="1"/>
          </p:cNvSpPr>
          <p:nvPr>
            <p:ph idx="1"/>
          </p:nvPr>
        </p:nvSpPr>
        <p:spPr>
          <a:xfrm>
            <a:off x="457200" y="1600200"/>
            <a:ext cx="8229600" cy="4953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eaLnBrk="1" hangingPunct="1">
              <a:lnSpc>
                <a:spcPct val="80000"/>
              </a:lnSpc>
              <a:buFontTx/>
              <a:buNone/>
            </a:pPr>
            <a:r>
              <a:rPr lang="en-US" sz="2400" dirty="0">
                <a:solidFill>
                  <a:srgbClr val="0000FF"/>
                </a:solidFill>
              </a:rPr>
              <a:t>Which “inorganic” elements are important biologically?</a:t>
            </a:r>
          </a:p>
          <a:p>
            <a:pPr eaLnBrk="1" hangingPunct="1">
              <a:lnSpc>
                <a:spcPct val="80000"/>
              </a:lnSpc>
              <a:buFontTx/>
              <a:buNone/>
            </a:pPr>
            <a:endParaRPr lang="en-US" sz="1000" dirty="0">
              <a:solidFill>
                <a:srgbClr val="0000FF"/>
              </a:solidFill>
            </a:endParaRPr>
          </a:p>
          <a:p>
            <a:pPr eaLnBrk="1" hangingPunct="1">
              <a:lnSpc>
                <a:spcPct val="80000"/>
              </a:lnSpc>
              <a:buFontTx/>
              <a:buNone/>
            </a:pPr>
            <a:r>
              <a:rPr lang="en-US" sz="2400" dirty="0">
                <a:solidFill>
                  <a:srgbClr val="0000FF"/>
                </a:solidFill>
              </a:rPr>
              <a:t>99% of human body is comprised of 11 elements</a:t>
            </a:r>
          </a:p>
          <a:p>
            <a:pPr eaLnBrk="1" hangingPunct="1">
              <a:lnSpc>
                <a:spcPct val="80000"/>
              </a:lnSpc>
              <a:buFontTx/>
              <a:buNone/>
            </a:pPr>
            <a:endParaRPr lang="en-US" sz="2400" dirty="0"/>
          </a:p>
          <a:p>
            <a:pPr eaLnBrk="1" hangingPunct="1">
              <a:lnSpc>
                <a:spcPct val="80000"/>
              </a:lnSpc>
              <a:buFontTx/>
              <a:buNone/>
            </a:pPr>
            <a:r>
              <a:rPr lang="en-US" sz="1800" b="1" dirty="0">
                <a:solidFill>
                  <a:srgbClr val="0070C0"/>
                </a:solidFill>
              </a:rPr>
              <a:t>Bulk biological elements: H, C, N, O,   P, S, </a:t>
            </a:r>
            <a:r>
              <a:rPr lang="en-US" sz="1800" b="1" dirty="0" err="1">
                <a:solidFill>
                  <a:srgbClr val="0070C0"/>
                </a:solidFill>
              </a:rPr>
              <a:t>Cl</a:t>
            </a:r>
            <a:r>
              <a:rPr lang="en-US" sz="1800" b="1" dirty="0">
                <a:solidFill>
                  <a:srgbClr val="0070C0"/>
                </a:solidFill>
              </a:rPr>
              <a:t>  (as PO</a:t>
            </a:r>
            <a:r>
              <a:rPr lang="en-US" sz="1800" b="1" baseline="-25000" dirty="0">
                <a:solidFill>
                  <a:srgbClr val="0070C0"/>
                </a:solidFill>
              </a:rPr>
              <a:t>4</a:t>
            </a:r>
            <a:r>
              <a:rPr lang="en-US" sz="1800" b="1" baseline="30000" dirty="0">
                <a:solidFill>
                  <a:srgbClr val="0070C0"/>
                </a:solidFill>
              </a:rPr>
              <a:t>3-</a:t>
            </a:r>
            <a:r>
              <a:rPr lang="en-US" sz="1800" b="1" dirty="0">
                <a:solidFill>
                  <a:srgbClr val="0070C0"/>
                </a:solidFill>
              </a:rPr>
              <a:t>, SO</a:t>
            </a:r>
            <a:r>
              <a:rPr lang="en-US" sz="1800" b="1" baseline="-25000" dirty="0">
                <a:solidFill>
                  <a:srgbClr val="0070C0"/>
                </a:solidFill>
              </a:rPr>
              <a:t>4</a:t>
            </a:r>
            <a:r>
              <a:rPr lang="en-US" sz="1800" b="1" baseline="30000" dirty="0">
                <a:solidFill>
                  <a:srgbClr val="0070C0"/>
                </a:solidFill>
              </a:rPr>
              <a:t>2-</a:t>
            </a:r>
            <a:r>
              <a:rPr lang="en-US" sz="1800" b="1" dirty="0">
                <a:solidFill>
                  <a:srgbClr val="0070C0"/>
                </a:solidFill>
              </a:rPr>
              <a:t>, </a:t>
            </a:r>
            <a:r>
              <a:rPr lang="en-US" sz="1800" b="1" dirty="0" err="1">
                <a:solidFill>
                  <a:srgbClr val="0070C0"/>
                </a:solidFill>
              </a:rPr>
              <a:t>Cl</a:t>
            </a:r>
            <a:r>
              <a:rPr lang="en-US" sz="1800" b="1" baseline="30000" dirty="0">
                <a:solidFill>
                  <a:srgbClr val="0070C0"/>
                </a:solidFill>
              </a:rPr>
              <a:t>-</a:t>
            </a:r>
            <a:r>
              <a:rPr lang="en-US" sz="1800" b="1" dirty="0">
                <a:solidFill>
                  <a:srgbClr val="0070C0"/>
                </a:solidFill>
              </a:rPr>
              <a:t>)</a:t>
            </a:r>
          </a:p>
          <a:p>
            <a:pPr eaLnBrk="1" hangingPunct="1">
              <a:lnSpc>
                <a:spcPct val="80000"/>
              </a:lnSpc>
              <a:buFontTx/>
              <a:buNone/>
            </a:pPr>
            <a:endParaRPr lang="en-US" sz="1800" b="1" dirty="0">
              <a:solidFill>
                <a:srgbClr val="0070C0"/>
              </a:solidFill>
            </a:endParaRPr>
          </a:p>
          <a:p>
            <a:pPr eaLnBrk="1" hangingPunct="1">
              <a:lnSpc>
                <a:spcPct val="80000"/>
              </a:lnSpc>
              <a:buFontTx/>
              <a:buNone/>
            </a:pPr>
            <a:r>
              <a:rPr lang="en-US" sz="1800" b="1" dirty="0">
                <a:solidFill>
                  <a:srgbClr val="0070C0"/>
                </a:solidFill>
              </a:rPr>
              <a:t>Bulk </a:t>
            </a:r>
            <a:r>
              <a:rPr lang="en-US" sz="1800" b="1" u="sng" dirty="0">
                <a:solidFill>
                  <a:srgbClr val="0070C0"/>
                </a:solidFill>
              </a:rPr>
              <a:t>metal ion nutrients</a:t>
            </a:r>
            <a:r>
              <a:rPr lang="en-US" sz="1800" b="1" dirty="0">
                <a:solidFill>
                  <a:srgbClr val="0070C0"/>
                </a:solidFill>
              </a:rPr>
              <a:t>:  Na, Mg, K, Ca</a:t>
            </a:r>
          </a:p>
          <a:p>
            <a:pPr eaLnBrk="1" hangingPunct="1">
              <a:lnSpc>
                <a:spcPct val="80000"/>
              </a:lnSpc>
              <a:buFontTx/>
              <a:buNone/>
            </a:pPr>
            <a:endParaRPr lang="en-US" sz="1800" b="1" dirty="0">
              <a:solidFill>
                <a:srgbClr val="0070C0"/>
              </a:solidFill>
            </a:endParaRPr>
          </a:p>
          <a:p>
            <a:pPr eaLnBrk="1" hangingPunct="1">
              <a:lnSpc>
                <a:spcPct val="80000"/>
              </a:lnSpc>
              <a:buFontTx/>
              <a:buNone/>
            </a:pPr>
            <a:endParaRPr lang="en-US" sz="1800" b="1" dirty="0">
              <a:solidFill>
                <a:srgbClr val="0070C0"/>
              </a:solidFill>
            </a:endParaRPr>
          </a:p>
          <a:p>
            <a:pPr eaLnBrk="1" hangingPunct="1">
              <a:lnSpc>
                <a:spcPct val="80000"/>
              </a:lnSpc>
              <a:buFontTx/>
              <a:buNone/>
            </a:pPr>
            <a:r>
              <a:rPr lang="en-US" sz="1800" b="1" dirty="0">
                <a:solidFill>
                  <a:srgbClr val="0070C0"/>
                </a:solidFill>
              </a:rPr>
              <a:t>Essential elements for a wide range of bacteria/plants/animals</a:t>
            </a:r>
          </a:p>
          <a:p>
            <a:pPr eaLnBrk="1" hangingPunct="1">
              <a:lnSpc>
                <a:spcPct val="80000"/>
              </a:lnSpc>
              <a:buFontTx/>
              <a:buNone/>
            </a:pPr>
            <a:endParaRPr lang="en-US" sz="1800" b="1" dirty="0">
              <a:solidFill>
                <a:srgbClr val="0070C0"/>
              </a:solidFill>
            </a:endParaRPr>
          </a:p>
          <a:p>
            <a:pPr eaLnBrk="1" hangingPunct="1">
              <a:lnSpc>
                <a:spcPct val="80000"/>
              </a:lnSpc>
              <a:buFontTx/>
              <a:buNone/>
            </a:pPr>
            <a:r>
              <a:rPr lang="en-US" sz="1800" b="1" u="sng" dirty="0">
                <a:solidFill>
                  <a:srgbClr val="0070C0"/>
                </a:solidFill>
              </a:rPr>
              <a:t>Transition metals</a:t>
            </a:r>
            <a:r>
              <a:rPr lang="en-US" sz="1800" b="1" dirty="0">
                <a:solidFill>
                  <a:srgbClr val="0070C0"/>
                </a:solidFill>
              </a:rPr>
              <a:t>: V, Cr, </a:t>
            </a:r>
            <a:r>
              <a:rPr lang="en-US" sz="1800" b="1" dirty="0" err="1">
                <a:solidFill>
                  <a:srgbClr val="0070C0"/>
                </a:solidFill>
              </a:rPr>
              <a:t>Mn</a:t>
            </a:r>
            <a:r>
              <a:rPr lang="en-US" sz="1800" b="1" dirty="0">
                <a:solidFill>
                  <a:srgbClr val="0070C0"/>
                </a:solidFill>
              </a:rPr>
              <a:t>, Fe, Co, Ni, Cu, Zn, Mo </a:t>
            </a:r>
          </a:p>
          <a:p>
            <a:pPr eaLnBrk="1" hangingPunct="1">
              <a:lnSpc>
                <a:spcPct val="80000"/>
              </a:lnSpc>
              <a:buFontTx/>
              <a:buNone/>
            </a:pPr>
            <a:endParaRPr lang="en-US" sz="1800" b="1" dirty="0">
              <a:solidFill>
                <a:srgbClr val="0070C0"/>
              </a:solidFill>
            </a:endParaRPr>
          </a:p>
          <a:p>
            <a:pPr eaLnBrk="1" hangingPunct="1">
              <a:lnSpc>
                <a:spcPct val="80000"/>
              </a:lnSpc>
              <a:buFontTx/>
              <a:buNone/>
            </a:pPr>
            <a:r>
              <a:rPr lang="en-US" sz="1800" b="1" dirty="0">
                <a:solidFill>
                  <a:srgbClr val="0070C0"/>
                </a:solidFill>
              </a:rPr>
              <a:t>Non-Metals: (B), F, (Si), Se I, F. </a:t>
            </a:r>
          </a:p>
          <a:p>
            <a:pPr eaLnBrk="1" hangingPunct="1">
              <a:lnSpc>
                <a:spcPct val="80000"/>
              </a:lnSpc>
              <a:buFontTx/>
              <a:buNone/>
            </a:pPr>
            <a:endParaRPr lang="en-US" sz="1800" b="1" dirty="0">
              <a:solidFill>
                <a:srgbClr val="0070C0"/>
              </a:solidFill>
            </a:endParaRPr>
          </a:p>
          <a:p>
            <a:pPr eaLnBrk="1" hangingPunct="1">
              <a:lnSpc>
                <a:spcPct val="80000"/>
              </a:lnSpc>
              <a:buFontTx/>
              <a:buNone/>
            </a:pPr>
            <a:endParaRPr lang="en-US" sz="1200" dirty="0"/>
          </a:p>
          <a:p>
            <a:pPr eaLnBrk="1" hangingPunct="1">
              <a:lnSpc>
                <a:spcPct val="80000"/>
              </a:lnSpc>
              <a:buFontTx/>
              <a:buNone/>
            </a:pPr>
            <a:endParaRPr lang="en-US" sz="1200" dirty="0"/>
          </a:p>
          <a:p>
            <a:pPr eaLnBrk="1" hangingPunct="1">
              <a:lnSpc>
                <a:spcPct val="80000"/>
              </a:lnSpc>
              <a:buFontTx/>
              <a:buNone/>
            </a:pPr>
            <a:r>
              <a:rPr lang="en-US" sz="1600" dirty="0"/>
              <a:t> </a:t>
            </a:r>
          </a:p>
          <a:p>
            <a:pPr eaLnBrk="1" hangingPunct="1">
              <a:lnSpc>
                <a:spcPct val="80000"/>
              </a:lnSpc>
              <a:buFontTx/>
              <a:buNone/>
            </a:pPr>
            <a:r>
              <a:rPr lang="en-US" sz="1600" b="1" dirty="0"/>
              <a:t>		</a:t>
            </a:r>
            <a:endParaRPr lang="en-US" sz="1600" dirty="0"/>
          </a:p>
          <a:p>
            <a:pPr eaLnBrk="1" hangingPunct="1">
              <a:lnSpc>
                <a:spcPct val="80000"/>
              </a:lnSpc>
              <a:buFontTx/>
              <a:buNone/>
            </a:pPr>
            <a:br>
              <a:rPr lang="en-US" sz="1200" dirty="0"/>
            </a:b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57200" y="457200"/>
            <a:ext cx="8001000" cy="5905500"/>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533400"/>
            <a:ext cx="6248400" cy="6001643"/>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r>
              <a:rPr lang="en-US" sz="6000" b="1" dirty="0">
                <a:solidFill>
                  <a:srgbClr val="FF0000"/>
                </a:solidFill>
              </a:rPr>
              <a:t>Inorganic Element</a:t>
            </a:r>
            <a:r>
              <a:rPr lang="en-US" sz="6000" b="1" dirty="0"/>
              <a:t> </a:t>
            </a:r>
          </a:p>
          <a:p>
            <a:endParaRPr lang="en-US" sz="3600" b="1" dirty="0"/>
          </a:p>
          <a:p>
            <a:endParaRPr lang="en-US" sz="3600" b="1" dirty="0"/>
          </a:p>
          <a:p>
            <a:r>
              <a:rPr lang="en-US" sz="3600" b="1" dirty="0">
                <a:solidFill>
                  <a:srgbClr val="00B050"/>
                </a:solidFill>
              </a:rPr>
              <a:t>Bulk metals</a:t>
            </a:r>
            <a:r>
              <a:rPr lang="en-US" sz="3600" dirty="0">
                <a:solidFill>
                  <a:srgbClr val="00B050"/>
                </a:solidFill>
              </a:rPr>
              <a:t> </a:t>
            </a:r>
            <a:r>
              <a:rPr lang="en-US" sz="3600" dirty="0"/>
              <a:t>- </a:t>
            </a:r>
            <a:r>
              <a:rPr lang="en-US" sz="3600" dirty="0">
                <a:solidFill>
                  <a:srgbClr val="7030A0"/>
                </a:solidFill>
              </a:rPr>
              <a:t>Na, K, Mg &amp; Ca </a:t>
            </a:r>
          </a:p>
          <a:p>
            <a:endParaRPr lang="en-US" sz="3600" b="1" dirty="0"/>
          </a:p>
          <a:p>
            <a:endParaRPr lang="en-US" sz="3600" b="1" dirty="0"/>
          </a:p>
          <a:p>
            <a:r>
              <a:rPr lang="en-US" sz="3600" b="1" dirty="0">
                <a:solidFill>
                  <a:srgbClr val="7030A0"/>
                </a:solidFill>
              </a:rPr>
              <a:t>Trace metals</a:t>
            </a:r>
            <a:r>
              <a:rPr lang="en-US" sz="3600" dirty="0">
                <a:solidFill>
                  <a:srgbClr val="7030A0"/>
                </a:solidFill>
              </a:rPr>
              <a:t> </a:t>
            </a:r>
            <a:r>
              <a:rPr lang="en-US" sz="3600" dirty="0"/>
              <a:t>- </a:t>
            </a:r>
            <a:r>
              <a:rPr lang="en-US" sz="3600" dirty="0">
                <a:solidFill>
                  <a:srgbClr val="FF0000"/>
                </a:solidFill>
              </a:rPr>
              <a:t>Zn, Fe, Co, Ni, Cu, Mo, V etc</a:t>
            </a:r>
            <a:r>
              <a:rPr lang="en-US" sz="3600" dirty="0"/>
              <a:t>., which are present in low concentration and are used for </a:t>
            </a:r>
            <a:r>
              <a:rPr lang="en-US" sz="3600" dirty="0" err="1"/>
              <a:t>biocatalysis</a:t>
            </a:r>
            <a:r>
              <a:rPr lang="en-US" sz="36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09600" y="362467"/>
            <a:ext cx="7391400" cy="6495533"/>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1447800" y="152400"/>
            <a:ext cx="6477000" cy="6509149"/>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228600" y="609600"/>
            <a:ext cx="8610600" cy="5715000"/>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extLst>
              <p:ext uri="{D42A27DB-BD31-4B8C-83A1-F6EECF244321}">
                <p14:modId xmlns:p14="http://schemas.microsoft.com/office/powerpoint/2010/main" val="1585272990"/>
              </p:ext>
            </p:extLst>
          </p:nvPr>
        </p:nvGraphicFramePr>
        <p:xfrm>
          <a:off x="609600" y="762000"/>
          <a:ext cx="7792401" cy="5791200"/>
        </p:xfrm>
        <a:graphic>
          <a:graphicData uri="http://schemas.openxmlformats.org/presentationml/2006/ole">
            <mc:AlternateContent xmlns:mc="http://schemas.openxmlformats.org/markup-compatibility/2006">
              <mc:Choice xmlns:v="urn:schemas-microsoft-com:vml" Requires="v">
                <p:oleObj name="Document" r:id="rId3" imgW="5961278" imgH="4419111" progId="Word.Document.12">
                  <p:embed/>
                </p:oleObj>
              </mc:Choice>
              <mc:Fallback>
                <p:oleObj name="Document" r:id="rId3" imgW="5961278" imgH="4419111" progId="Word.Document.12">
                  <p:embed/>
                  <p:pic>
                    <p:nvPicPr>
                      <p:cNvPr id="0" name="Picture 2"/>
                      <p:cNvPicPr>
                        <a:picLocks noChangeAspect="1" noChangeArrowheads="1"/>
                      </p:cNvPicPr>
                      <p:nvPr/>
                    </p:nvPicPr>
                    <p:blipFill>
                      <a:blip r:embed="rId4"/>
                      <a:srcRect/>
                      <a:stretch>
                        <a:fillRect/>
                      </a:stretch>
                    </p:blipFill>
                    <p:spPr bwMode="auto">
                      <a:xfrm>
                        <a:off x="609600" y="762000"/>
                        <a:ext cx="7792401" cy="5791200"/>
                      </a:xfrm>
                      <a:prstGeom prst="rect">
                        <a:avLst/>
                      </a:prstGeom>
                      <a:solidFill>
                        <a:schemeClr val="accent3">
                          <a:lumMod val="60000"/>
                          <a:lumOff val="40000"/>
                        </a:schemeClr>
                      </a:solidFill>
                      <a:ln>
                        <a:noFill/>
                      </a:ln>
                      <a:effectLst/>
                    </p:spPr>
                  </p:pic>
                </p:oleObj>
              </mc:Fallback>
            </mc:AlternateContent>
          </a:graphicData>
        </a:graphic>
      </p:graphicFrame>
      <p:sp>
        <p:nvSpPr>
          <p:cNvPr id="3" name="Rectangle 2"/>
          <p:cNvSpPr/>
          <p:nvPr/>
        </p:nvSpPr>
        <p:spPr>
          <a:xfrm>
            <a:off x="1981200" y="381000"/>
            <a:ext cx="3974871" cy="369332"/>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US" b="1" dirty="0">
                <a:solidFill>
                  <a:srgbClr val="FF0000"/>
                </a:solidFill>
              </a:rPr>
              <a:t>APPLICATIONS OF METALS IN MEDICINE</a:t>
            </a:r>
            <a:endParaRPr lang="en-US"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dirty="0" err="1">
                <a:solidFill>
                  <a:srgbClr val="FF0000"/>
                </a:solidFill>
              </a:rPr>
              <a:t>Porphyrins</a:t>
            </a:r>
            <a:endParaRPr lang="en-US" dirty="0">
              <a:solidFill>
                <a:srgbClr val="FF0000"/>
              </a:solidFill>
            </a:endParaRP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b="1" dirty="0">
                <a:solidFill>
                  <a:srgbClr val="FF0000"/>
                </a:solidFill>
              </a:rPr>
              <a:t>Background </a:t>
            </a:r>
            <a:r>
              <a:rPr lang="en-US" b="1" dirty="0"/>
              <a:t>—</a:t>
            </a:r>
            <a:r>
              <a:rPr lang="en-US" dirty="0" err="1">
                <a:solidFill>
                  <a:srgbClr val="3333CC"/>
                </a:solidFill>
              </a:rPr>
              <a:t>Porphyrins</a:t>
            </a:r>
            <a:r>
              <a:rPr lang="en-US" dirty="0">
                <a:solidFill>
                  <a:srgbClr val="3333CC"/>
                </a:solidFill>
              </a:rPr>
              <a:t> (which comes from the Greek for "purple") are based on 16-atom rings containing four nitrogen atoms, they are of perfect size to bind nearly all metal 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304800"/>
            <a:ext cx="4800600" cy="1295399"/>
          </a:xfrm>
        </p:spPr>
        <p:style>
          <a:lnRef idx="1">
            <a:schemeClr val="accent4"/>
          </a:lnRef>
          <a:fillRef idx="2">
            <a:schemeClr val="accent4"/>
          </a:fillRef>
          <a:effectRef idx="1">
            <a:schemeClr val="accent4"/>
          </a:effectRef>
          <a:fontRef idx="minor">
            <a:schemeClr val="dk1"/>
          </a:fontRef>
        </p:style>
        <p:txBody>
          <a:bodyPr>
            <a:normAutofit/>
          </a:bodyPr>
          <a:lstStyle/>
          <a:p>
            <a:r>
              <a:rPr lang="en-US" b="1" dirty="0">
                <a:solidFill>
                  <a:srgbClr val="FF0000"/>
                </a:solidFill>
              </a:rPr>
              <a:t>What is </a:t>
            </a:r>
            <a:r>
              <a:rPr lang="en-US" b="1" dirty="0" err="1">
                <a:solidFill>
                  <a:srgbClr val="FF0000"/>
                </a:solidFill>
              </a:rPr>
              <a:t>porphyrin</a:t>
            </a:r>
            <a:r>
              <a:rPr lang="en-US" b="1" dirty="0">
                <a:solidFill>
                  <a:srgbClr val="FF0000"/>
                </a:solidFill>
              </a:rPr>
              <a:t>?</a:t>
            </a:r>
            <a:endParaRPr lang="en-US" dirty="0">
              <a:solidFill>
                <a:srgbClr val="FF0000"/>
              </a:solidFill>
            </a:endParaRPr>
          </a:p>
        </p:txBody>
      </p:sp>
      <p:sp>
        <p:nvSpPr>
          <p:cNvPr id="6" name="Rectangle 5"/>
          <p:cNvSpPr/>
          <p:nvPr/>
        </p:nvSpPr>
        <p:spPr>
          <a:xfrm>
            <a:off x="762000" y="2057400"/>
            <a:ext cx="7391400" cy="353943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endParaRPr lang="en-US" sz="3200" b="1" dirty="0"/>
          </a:p>
          <a:p>
            <a:pPr algn="just"/>
            <a:r>
              <a:rPr lang="en-US" sz="3200" b="1" dirty="0" err="1">
                <a:solidFill>
                  <a:srgbClr val="7030A0"/>
                </a:solidFill>
              </a:rPr>
              <a:t>Porphyrins</a:t>
            </a:r>
            <a:r>
              <a:rPr lang="en-US" sz="3200" b="1" dirty="0">
                <a:solidFill>
                  <a:srgbClr val="7030A0"/>
                </a:solidFill>
              </a:rPr>
              <a:t> are </a:t>
            </a:r>
            <a:r>
              <a:rPr lang="en-US" sz="3200" b="1" dirty="0" err="1">
                <a:solidFill>
                  <a:srgbClr val="7030A0"/>
                </a:solidFill>
              </a:rPr>
              <a:t>tetrapyrrole</a:t>
            </a:r>
            <a:r>
              <a:rPr lang="en-US" sz="3200" b="1" dirty="0">
                <a:solidFill>
                  <a:srgbClr val="7030A0"/>
                </a:solidFill>
              </a:rPr>
              <a:t> </a:t>
            </a:r>
            <a:r>
              <a:rPr lang="en-US" sz="3200" b="1" dirty="0" err="1">
                <a:solidFill>
                  <a:srgbClr val="7030A0"/>
                </a:solidFill>
              </a:rPr>
              <a:t>macrocycles</a:t>
            </a:r>
            <a:r>
              <a:rPr lang="en-US" sz="3200" b="1" dirty="0">
                <a:solidFill>
                  <a:srgbClr val="7030A0"/>
                </a:solidFill>
              </a:rPr>
              <a:t> with conjugated double bonds and various groups attached to the perimeter. variation of </a:t>
            </a:r>
            <a:r>
              <a:rPr lang="en-US" sz="3200" b="1" dirty="0" err="1">
                <a:solidFill>
                  <a:srgbClr val="7030A0"/>
                </a:solidFill>
              </a:rPr>
              <a:t>substituents</a:t>
            </a:r>
            <a:r>
              <a:rPr lang="en-US" sz="3200" b="1" dirty="0">
                <a:solidFill>
                  <a:srgbClr val="7030A0"/>
                </a:solidFill>
              </a:rPr>
              <a:t> facilitates the tuning of electron-donating and</a:t>
            </a:r>
          </a:p>
          <a:p>
            <a:r>
              <a:rPr lang="en-US" sz="3200" b="1" dirty="0">
                <a:solidFill>
                  <a:srgbClr val="7030A0"/>
                </a:solidFill>
              </a:rPr>
              <a:t>electron-withdrawing ability of the </a:t>
            </a:r>
            <a:r>
              <a:rPr lang="en-US" sz="3200" b="1" dirty="0" err="1">
                <a:solidFill>
                  <a:srgbClr val="7030A0"/>
                </a:solidFill>
              </a:rPr>
              <a:t>ligand</a:t>
            </a:r>
            <a:endParaRPr lang="en-US" sz="3200" dirty="0">
              <a:solidFill>
                <a:srgbClr val="7030A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cstate="print"/>
          <a:srcRect/>
          <a:stretch>
            <a:fillRect/>
          </a:stretch>
        </p:blipFill>
        <p:spPr bwMode="auto">
          <a:xfrm>
            <a:off x="2895838" y="521120"/>
            <a:ext cx="3809524" cy="3847619"/>
          </a:xfrm>
          <a:prstGeom prst="rect">
            <a:avLst/>
          </a:prstGeom>
          <a:ln>
            <a:headEnd/>
            <a:tailEnd/>
          </a:ln>
        </p:spPr>
        <p:style>
          <a:lnRef idx="1">
            <a:schemeClr val="accent4"/>
          </a:lnRef>
          <a:fillRef idx="2">
            <a:schemeClr val="accent4"/>
          </a:fillRef>
          <a:effectRef idx="1">
            <a:schemeClr val="accent4"/>
          </a:effectRef>
          <a:fontRef idx="minor">
            <a:schemeClr val="dk1"/>
          </a:fontRef>
        </p:style>
      </p:pic>
      <p:pic>
        <p:nvPicPr>
          <p:cNvPr id="1028" name="Picture 4" descr="http://www.ratbehavior.org/images/Pyrrole.jpg"/>
          <p:cNvPicPr>
            <a:picLocks noChangeAspect="1" noChangeArrowheads="1"/>
          </p:cNvPicPr>
          <p:nvPr/>
        </p:nvPicPr>
        <p:blipFill>
          <a:blip r:embed="rId4" cstate="print"/>
          <a:srcRect/>
          <a:stretch>
            <a:fillRect/>
          </a:stretch>
        </p:blipFill>
        <p:spPr bwMode="auto">
          <a:xfrm>
            <a:off x="1066800" y="2133600"/>
            <a:ext cx="1066800" cy="1758244"/>
          </a:xfrm>
          <a:prstGeom prst="rect">
            <a:avLst/>
          </a:prstGeom>
        </p:spPr>
        <p:style>
          <a:lnRef idx="1">
            <a:schemeClr val="accent5"/>
          </a:lnRef>
          <a:fillRef idx="2">
            <a:schemeClr val="accent5"/>
          </a:fillRef>
          <a:effectRef idx="1">
            <a:schemeClr val="accent5"/>
          </a:effectRef>
          <a:fontRef idx="minor">
            <a:schemeClr val="dk1"/>
          </a:fontRef>
        </p:style>
      </p:pic>
      <p:sp>
        <p:nvSpPr>
          <p:cNvPr id="6" name="Rectangle 5"/>
          <p:cNvSpPr/>
          <p:nvPr/>
        </p:nvSpPr>
        <p:spPr>
          <a:xfrm>
            <a:off x="1219200" y="4114800"/>
            <a:ext cx="846578" cy="369332"/>
          </a:xfrm>
          <a:prstGeom prst="rect">
            <a:avLst/>
          </a:prstGeom>
        </p:spPr>
        <p:txBody>
          <a:bodyPr wrap="square">
            <a:spAutoFit/>
          </a:bodyPr>
          <a:lstStyle/>
          <a:p>
            <a:r>
              <a:rPr lang="en-US" i="1" dirty="0" err="1"/>
              <a:t>Pyrrole</a:t>
            </a:r>
            <a:endParaRPr lang="en-US" dirty="0"/>
          </a:p>
        </p:txBody>
      </p:sp>
      <p:sp>
        <p:nvSpPr>
          <p:cNvPr id="7" name="Rectangle 6"/>
          <p:cNvSpPr/>
          <p:nvPr/>
        </p:nvSpPr>
        <p:spPr>
          <a:xfrm>
            <a:off x="4191000" y="4572000"/>
            <a:ext cx="1524000" cy="369332"/>
          </a:xfrm>
          <a:prstGeom prst="rect">
            <a:avLst/>
          </a:prstGeom>
        </p:spPr>
        <p:txBody>
          <a:bodyPr wrap="square">
            <a:spAutoFit/>
          </a:bodyPr>
          <a:lstStyle/>
          <a:p>
            <a:r>
              <a:rPr lang="en-US" b="1" dirty="0" err="1">
                <a:solidFill>
                  <a:srgbClr val="FF0000"/>
                </a:solidFill>
              </a:rPr>
              <a:t>porphyrin</a:t>
            </a:r>
            <a:endParaRPr lang="en-US" dirty="0"/>
          </a:p>
        </p:txBody>
      </p:sp>
      <p:sp>
        <p:nvSpPr>
          <p:cNvPr id="8" name="Rectangle 7"/>
          <p:cNvSpPr/>
          <p:nvPr/>
        </p:nvSpPr>
        <p:spPr>
          <a:xfrm>
            <a:off x="762000" y="5029200"/>
            <a:ext cx="8077200" cy="107721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3200" i="1" dirty="0" err="1">
                <a:solidFill>
                  <a:srgbClr val="3333CC"/>
                </a:solidFill>
              </a:rPr>
              <a:t>Porphyrin</a:t>
            </a:r>
            <a:r>
              <a:rPr lang="en-US" sz="3200" i="1" dirty="0">
                <a:solidFill>
                  <a:srgbClr val="3333CC"/>
                </a:solidFill>
              </a:rPr>
              <a:t> is a compound made of four </a:t>
            </a:r>
            <a:r>
              <a:rPr lang="en-US" sz="3200" i="1" dirty="0" err="1">
                <a:solidFill>
                  <a:srgbClr val="3333CC"/>
                </a:solidFill>
              </a:rPr>
              <a:t>pyrrole</a:t>
            </a:r>
            <a:r>
              <a:rPr lang="en-US" sz="3200" i="1" dirty="0">
                <a:solidFill>
                  <a:srgbClr val="3333CC"/>
                </a:solidFill>
              </a:rPr>
              <a:t> rings</a:t>
            </a:r>
            <a:endParaRPr lang="en-US" sz="3200" dirty="0">
              <a:solidFill>
                <a:srgbClr val="3333CC"/>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http://library.med.utah.edu/NetBiochem/images/porphin.gif"/>
          <p:cNvPicPr>
            <a:picLocks noGrp="1" noChangeAspect="1" noChangeArrowheads="1"/>
          </p:cNvPicPr>
          <p:nvPr>
            <p:ph idx="1"/>
          </p:nvPr>
        </p:nvPicPr>
        <p:blipFill>
          <a:blip r:embed="rId2" cstate="print">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Lst>
          </a:blip>
          <a:srcRect/>
          <a:stretch>
            <a:fillRect/>
          </a:stretch>
        </p:blipFill>
        <p:spPr bwMode="auto">
          <a:xfrm>
            <a:off x="838200" y="762000"/>
            <a:ext cx="6705600" cy="5227631"/>
          </a:xfrm>
          <a:prstGeom prst="rect">
            <a:avLst/>
          </a:prstGeom>
          <a:ln/>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7800"/>
            <a:ext cx="8229600" cy="4525963"/>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pPr algn="just"/>
            <a:r>
              <a:rPr lang="en-US" dirty="0">
                <a:solidFill>
                  <a:srgbClr val="3333CC"/>
                </a:solidFill>
              </a:rPr>
              <a:t>The four </a:t>
            </a:r>
            <a:r>
              <a:rPr lang="en-US" dirty="0" err="1">
                <a:solidFill>
                  <a:srgbClr val="3333CC"/>
                </a:solidFill>
              </a:rPr>
              <a:t>nitrogens</a:t>
            </a:r>
            <a:r>
              <a:rPr lang="en-US" dirty="0">
                <a:solidFill>
                  <a:srgbClr val="3333CC"/>
                </a:solidFill>
              </a:rPr>
              <a:t> in the middle of the </a:t>
            </a:r>
            <a:r>
              <a:rPr lang="en-US" dirty="0" err="1">
                <a:solidFill>
                  <a:srgbClr val="3333CC"/>
                </a:solidFill>
              </a:rPr>
              <a:t>porphyrin</a:t>
            </a:r>
            <a:r>
              <a:rPr lang="en-US" dirty="0">
                <a:solidFill>
                  <a:srgbClr val="3333CC"/>
                </a:solidFill>
              </a:rPr>
              <a:t> molecule act as teeth: </a:t>
            </a:r>
          </a:p>
          <a:p>
            <a:pPr algn="just"/>
            <a:r>
              <a:rPr lang="en-US" dirty="0">
                <a:solidFill>
                  <a:srgbClr val="3333CC"/>
                </a:solidFill>
              </a:rPr>
              <a:t>They can grab and hold metal ions such as magnesium (Mg), iron (Fe), zinc (Zn), nickel (Ni), cobalt (Co), co</a:t>
            </a:r>
          </a:p>
          <a:p>
            <a:pPr algn="just"/>
            <a:r>
              <a:rPr lang="en-US" dirty="0">
                <a:solidFill>
                  <a:srgbClr val="3333CC"/>
                </a:solidFill>
              </a:rPr>
              <a:t>When a </a:t>
            </a:r>
            <a:r>
              <a:rPr lang="en-US" dirty="0" err="1">
                <a:solidFill>
                  <a:srgbClr val="3333CC"/>
                </a:solidFill>
              </a:rPr>
              <a:t>porphyrin</a:t>
            </a:r>
            <a:r>
              <a:rPr lang="en-US" dirty="0">
                <a:solidFill>
                  <a:srgbClr val="3333CC"/>
                </a:solidFill>
              </a:rPr>
              <a:t> molecule grabs a metal, it acquires different properties and gets a different name. So, if the central metal is iron (Fe), the </a:t>
            </a:r>
            <a:r>
              <a:rPr lang="en-US" dirty="0" err="1">
                <a:solidFill>
                  <a:srgbClr val="3333CC"/>
                </a:solidFill>
              </a:rPr>
              <a:t>porphyrin</a:t>
            </a:r>
            <a:r>
              <a:rPr lang="en-US" dirty="0">
                <a:solidFill>
                  <a:srgbClr val="3333CC"/>
                </a:solidFill>
              </a:rPr>
              <a:t> complex is called </a:t>
            </a:r>
            <a:r>
              <a:rPr lang="en-US" dirty="0" err="1">
                <a:solidFill>
                  <a:srgbClr val="3333CC"/>
                </a:solidFill>
              </a:rPr>
              <a:t>ferroporphyrin</a:t>
            </a:r>
            <a:r>
              <a:rPr lang="en-US" dirty="0">
                <a:solidFill>
                  <a:srgbClr val="3333CC"/>
                </a:solidFill>
              </a:rPr>
              <a:t>, or </a:t>
            </a:r>
            <a:r>
              <a:rPr lang="en-US" dirty="0" err="1">
                <a:solidFill>
                  <a:srgbClr val="3333CC"/>
                </a:solidFill>
              </a:rPr>
              <a:t>heme</a:t>
            </a:r>
            <a:r>
              <a:rPr lang="en-US" dirty="0">
                <a:solidFill>
                  <a:srgbClr val="3333CC"/>
                </a:solidFill>
              </a:rPr>
              <a:t>. </a:t>
            </a:r>
          </a:p>
          <a:p>
            <a:pPr algn="just"/>
            <a:r>
              <a:rPr lang="en-US" dirty="0" err="1">
                <a:solidFill>
                  <a:srgbClr val="3333CC"/>
                </a:solidFill>
              </a:rPr>
              <a:t>Heme</a:t>
            </a:r>
            <a:r>
              <a:rPr lang="en-US" dirty="0">
                <a:solidFill>
                  <a:srgbClr val="3333CC"/>
                </a:solidFill>
              </a:rPr>
              <a:t> is a member of a family of </a:t>
            </a:r>
            <a:r>
              <a:rPr lang="en-US" dirty="0" err="1">
                <a:solidFill>
                  <a:srgbClr val="3333CC"/>
                </a:solidFill>
              </a:rPr>
              <a:t>porphyrins</a:t>
            </a:r>
            <a:r>
              <a:rPr lang="en-US" dirty="0">
                <a:solidFill>
                  <a:srgbClr val="3333CC"/>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cstate="print"/>
          <a:srcRect/>
          <a:stretch>
            <a:fillRect/>
          </a:stretch>
        </p:blipFill>
        <p:spPr bwMode="auto">
          <a:xfrm>
            <a:off x="2057400" y="838200"/>
            <a:ext cx="3352800" cy="3388469"/>
          </a:xfrm>
          <a:prstGeom prst="rect">
            <a:avLst/>
          </a:prstGeom>
          <a:ln>
            <a:headEnd/>
            <a:tailEnd/>
          </a:ln>
        </p:spPr>
        <p:style>
          <a:lnRef idx="1">
            <a:schemeClr val="accent5"/>
          </a:lnRef>
          <a:fillRef idx="2">
            <a:schemeClr val="accent5"/>
          </a:fillRef>
          <a:effectRef idx="1">
            <a:schemeClr val="accent5"/>
          </a:effectRef>
          <a:fontRef idx="minor">
            <a:schemeClr val="dk1"/>
          </a:fontRef>
        </p:style>
      </p:pic>
      <p:sp>
        <p:nvSpPr>
          <p:cNvPr id="5" name="Rectangle 4"/>
          <p:cNvSpPr/>
          <p:nvPr/>
        </p:nvSpPr>
        <p:spPr>
          <a:xfrm>
            <a:off x="762000" y="4800600"/>
            <a:ext cx="7696200" cy="95410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800" i="1" dirty="0">
                <a:solidFill>
                  <a:srgbClr val="7030A0"/>
                </a:solidFill>
              </a:rPr>
              <a:t>Chemical structure of </a:t>
            </a:r>
            <a:r>
              <a:rPr lang="en-US" sz="2800" i="1" dirty="0" err="1">
                <a:solidFill>
                  <a:srgbClr val="7030A0"/>
                </a:solidFill>
              </a:rPr>
              <a:t>ferroporphyrin</a:t>
            </a:r>
            <a:r>
              <a:rPr lang="en-US" sz="2800" i="1" dirty="0">
                <a:solidFill>
                  <a:srgbClr val="7030A0"/>
                </a:solidFill>
              </a:rPr>
              <a:t>, a </a:t>
            </a:r>
            <a:r>
              <a:rPr lang="en-US" sz="2800" i="1" dirty="0" err="1">
                <a:solidFill>
                  <a:srgbClr val="7030A0"/>
                </a:solidFill>
              </a:rPr>
              <a:t>porphyrin</a:t>
            </a:r>
            <a:r>
              <a:rPr lang="en-US" sz="2800" i="1" dirty="0">
                <a:solidFill>
                  <a:srgbClr val="7030A0"/>
                </a:solidFill>
              </a:rPr>
              <a:t> molecule that has an iron ion in the middle.</a:t>
            </a:r>
            <a:endParaRPr lang="en-US" sz="2800" dirty="0">
              <a:solidFill>
                <a:srgbClr val="7030A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763000" cy="578619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endParaRPr lang="en-US" b="1" i="1" dirty="0"/>
          </a:p>
          <a:p>
            <a:pPr algn="just">
              <a:buFont typeface="Wingdings" pitchFamily="2" charset="2"/>
              <a:buChar char="v"/>
            </a:pPr>
            <a:r>
              <a:rPr lang="en-US" sz="4400" b="1" dirty="0">
                <a:solidFill>
                  <a:srgbClr val="FF0000"/>
                </a:solidFill>
              </a:rPr>
              <a:t>The </a:t>
            </a:r>
            <a:r>
              <a:rPr lang="en-US" sz="4400" b="1" dirty="0" err="1">
                <a:solidFill>
                  <a:srgbClr val="FF0000"/>
                </a:solidFill>
              </a:rPr>
              <a:t>porphyrins</a:t>
            </a:r>
            <a:r>
              <a:rPr lang="en-US" sz="4400" b="1" dirty="0">
                <a:solidFill>
                  <a:srgbClr val="FF0000"/>
                </a:solidFill>
              </a:rPr>
              <a:t> can accept two hydrogen ions to form </a:t>
            </a:r>
            <a:r>
              <a:rPr lang="en-US" sz="4400" b="1" dirty="0">
                <a:solidFill>
                  <a:srgbClr val="00B050"/>
                </a:solidFill>
              </a:rPr>
              <a:t>+2 </a:t>
            </a:r>
            <a:r>
              <a:rPr lang="en-US" sz="4400" b="1" dirty="0" err="1">
                <a:solidFill>
                  <a:srgbClr val="00B050"/>
                </a:solidFill>
              </a:rPr>
              <a:t>diacids</a:t>
            </a:r>
            <a:r>
              <a:rPr lang="en-US" sz="4400" b="1" dirty="0">
                <a:solidFill>
                  <a:srgbClr val="00B050"/>
                </a:solidFill>
              </a:rPr>
              <a:t> </a:t>
            </a:r>
            <a:r>
              <a:rPr lang="en-US" sz="4400" b="1" dirty="0">
                <a:solidFill>
                  <a:srgbClr val="FF0000"/>
                </a:solidFill>
              </a:rPr>
              <a:t>or donate</a:t>
            </a:r>
            <a:r>
              <a:rPr lang="en-US" sz="4400" dirty="0">
                <a:solidFill>
                  <a:srgbClr val="FF0000"/>
                </a:solidFill>
              </a:rPr>
              <a:t> </a:t>
            </a:r>
            <a:r>
              <a:rPr lang="en-US" sz="4400" b="1" dirty="0">
                <a:solidFill>
                  <a:srgbClr val="FF0000"/>
                </a:solidFill>
              </a:rPr>
              <a:t>two protons to form </a:t>
            </a:r>
            <a:r>
              <a:rPr lang="en-US" sz="4400" b="1" dirty="0">
                <a:solidFill>
                  <a:srgbClr val="00B050"/>
                </a:solidFill>
              </a:rPr>
              <a:t>-2 </a:t>
            </a:r>
            <a:r>
              <a:rPr lang="en-US" sz="4400" b="1" dirty="0" err="1">
                <a:solidFill>
                  <a:srgbClr val="00B050"/>
                </a:solidFill>
              </a:rPr>
              <a:t>dianions</a:t>
            </a:r>
            <a:endParaRPr lang="en-US" sz="4400" dirty="0">
              <a:solidFill>
                <a:srgbClr val="00B050"/>
              </a:solidFill>
            </a:endParaRPr>
          </a:p>
          <a:p>
            <a:pPr algn="just"/>
            <a:endParaRPr lang="en-US" sz="4400" b="1" i="1" dirty="0">
              <a:solidFill>
                <a:srgbClr val="FF0000"/>
              </a:solidFill>
            </a:endParaRPr>
          </a:p>
          <a:p>
            <a:pPr algn="just"/>
            <a:endParaRPr lang="en-US" sz="4400" b="1" i="1" dirty="0">
              <a:solidFill>
                <a:srgbClr val="FF0000"/>
              </a:solidFill>
            </a:endParaRPr>
          </a:p>
          <a:p>
            <a:pPr marL="742950" indent="-742950" algn="just">
              <a:buFont typeface="Wingdings" pitchFamily="2" charset="2"/>
              <a:buChar char="v"/>
            </a:pPr>
            <a:r>
              <a:rPr lang="en-US" sz="4400" b="1" i="1" dirty="0" err="1">
                <a:solidFill>
                  <a:srgbClr val="FF0000"/>
                </a:solidFill>
              </a:rPr>
              <a:t>Porphyrins</a:t>
            </a:r>
            <a:r>
              <a:rPr lang="en-US" sz="4400" b="1" i="1" dirty="0">
                <a:solidFill>
                  <a:srgbClr val="FF0000"/>
                </a:solidFill>
              </a:rPr>
              <a:t> are found in many </a:t>
            </a:r>
            <a:r>
              <a:rPr lang="en-US" sz="4400" b="1" i="1" dirty="0" err="1">
                <a:solidFill>
                  <a:srgbClr val="00B050"/>
                </a:solidFill>
              </a:rPr>
              <a:t>metalloenzyme</a:t>
            </a:r>
            <a:endParaRPr lang="en-US" sz="4400" dirty="0">
              <a:solidFill>
                <a:srgbClr val="00B05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lnRef>
          <a:fillRef idx="1">
            <a:schemeClr val="lt1"/>
          </a:fillRef>
          <a:effectRef idx="0">
            <a:schemeClr val="accent3"/>
          </a:effectRef>
          <a:fontRef idx="minor">
            <a:schemeClr val="dk1"/>
          </a:fontRef>
        </p:style>
        <p:txBody>
          <a:bodyPr>
            <a:noAutofit/>
          </a:bodyPr>
          <a:lstStyle/>
          <a:p>
            <a:br>
              <a:rPr lang="en-US" sz="4800" b="1" dirty="0">
                <a:solidFill>
                  <a:srgbClr val="FF0000"/>
                </a:solidFill>
              </a:rPr>
            </a:br>
            <a:r>
              <a:rPr lang="en-US" sz="4800" b="1" dirty="0">
                <a:solidFill>
                  <a:srgbClr val="FF0000"/>
                </a:solidFill>
              </a:rPr>
              <a:t>What is Chlorophyll?</a:t>
            </a:r>
            <a:br>
              <a:rPr lang="en-US" sz="4800" b="1" dirty="0">
                <a:solidFill>
                  <a:srgbClr val="FF0000"/>
                </a:solidFill>
              </a:rPr>
            </a:br>
            <a:endParaRPr lang="en-US" sz="4800"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a:bodyPr>
          <a:lstStyle/>
          <a:p>
            <a:pPr algn="just"/>
            <a:r>
              <a:rPr lang="en-US" sz="2800" b="1" dirty="0"/>
              <a:t>Chlorophyll</a:t>
            </a:r>
            <a:r>
              <a:rPr lang="en-US" sz="2800" dirty="0"/>
              <a:t> is the green pigment found in plants, algae, and cyanobacteria that is essential for photosynthesis.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514600"/>
            <a:ext cx="4724400" cy="3377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843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228600" y="228600"/>
            <a:ext cx="8322504" cy="6248400"/>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762000" y="609600"/>
            <a:ext cx="7612046" cy="57150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a:bodyPr>
          <a:lstStyle/>
          <a:p>
            <a:r>
              <a:rPr lang="en-US" sz="6000" b="1" dirty="0">
                <a:solidFill>
                  <a:srgbClr val="FF0000"/>
                </a:solidFill>
              </a:rPr>
              <a:t>Chlorophyll</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normAutofit fontScale="85000" lnSpcReduction="20000"/>
          </a:bodyPr>
          <a:lstStyle/>
          <a:p>
            <a:pPr algn="just"/>
            <a:r>
              <a:rPr lang="en-US" dirty="0">
                <a:solidFill>
                  <a:srgbClr val="3333CC"/>
                </a:solidFill>
              </a:rPr>
              <a:t>The word </a:t>
            </a:r>
            <a:r>
              <a:rPr lang="en-US" b="1" dirty="0">
                <a:solidFill>
                  <a:srgbClr val="FF0000"/>
                </a:solidFill>
              </a:rPr>
              <a:t>chlorophyll</a:t>
            </a:r>
            <a:r>
              <a:rPr lang="en-US" b="1" dirty="0">
                <a:solidFill>
                  <a:srgbClr val="3333CC"/>
                </a:solidFill>
              </a:rPr>
              <a:t> </a:t>
            </a:r>
            <a:r>
              <a:rPr lang="en-US" dirty="0">
                <a:solidFill>
                  <a:srgbClr val="3333CC"/>
                </a:solidFill>
              </a:rPr>
              <a:t>is derived from the Greek word </a:t>
            </a:r>
            <a:r>
              <a:rPr lang="en-US" dirty="0" err="1">
                <a:solidFill>
                  <a:srgbClr val="FF0000"/>
                </a:solidFill>
              </a:rPr>
              <a:t>khloros</a:t>
            </a:r>
            <a:r>
              <a:rPr lang="en-US" dirty="0">
                <a:solidFill>
                  <a:srgbClr val="FF0000"/>
                </a:solidFill>
              </a:rPr>
              <a:t> (green) </a:t>
            </a:r>
            <a:r>
              <a:rPr lang="en-US" dirty="0">
                <a:solidFill>
                  <a:srgbClr val="3333CC"/>
                </a:solidFill>
              </a:rPr>
              <a:t>and </a:t>
            </a:r>
            <a:r>
              <a:rPr lang="en-US" dirty="0" err="1">
                <a:solidFill>
                  <a:srgbClr val="FF0000"/>
                </a:solidFill>
              </a:rPr>
              <a:t>phyllon</a:t>
            </a:r>
            <a:r>
              <a:rPr lang="en-US" dirty="0">
                <a:solidFill>
                  <a:srgbClr val="FF0000"/>
                </a:solidFill>
              </a:rPr>
              <a:t> (leaves). </a:t>
            </a:r>
            <a:r>
              <a:rPr lang="en-US" dirty="0">
                <a:solidFill>
                  <a:srgbClr val="3333CC"/>
                </a:solidFill>
              </a:rPr>
              <a:t>Chlorophyll is a green pigment that acts as a </a:t>
            </a:r>
            <a:r>
              <a:rPr lang="en-US" b="1" dirty="0">
                <a:solidFill>
                  <a:srgbClr val="6600CC"/>
                </a:solidFill>
              </a:rPr>
              <a:t>photoreceptor</a:t>
            </a:r>
            <a:r>
              <a:rPr lang="en-US" dirty="0">
                <a:solidFill>
                  <a:srgbClr val="3333CC"/>
                </a:solidFill>
              </a:rPr>
              <a:t>. It is a pigment that absorbs light energy and aids in the photosynthesis. </a:t>
            </a:r>
          </a:p>
          <a:p>
            <a:pPr algn="just"/>
            <a:endParaRPr lang="en-US" dirty="0">
              <a:solidFill>
                <a:srgbClr val="3333CC"/>
              </a:solidFill>
            </a:endParaRPr>
          </a:p>
          <a:p>
            <a:pPr algn="just"/>
            <a:r>
              <a:rPr lang="en-US" dirty="0">
                <a:solidFill>
                  <a:srgbClr val="3333CC"/>
                </a:solidFill>
              </a:rPr>
              <a:t>Chlorophyll exists in many forms, such as chlorophyll a, chlorophyll b, etc.</a:t>
            </a:r>
          </a:p>
          <a:p>
            <a:pPr algn="just"/>
            <a:endParaRPr lang="en-US" dirty="0">
              <a:solidFill>
                <a:srgbClr val="3333CC"/>
              </a:solidFill>
            </a:endParaRPr>
          </a:p>
          <a:p>
            <a:pPr algn="just"/>
            <a:r>
              <a:rPr lang="en-US" dirty="0">
                <a:solidFill>
                  <a:srgbClr val="3333CC"/>
                </a:solidFill>
              </a:rPr>
              <a:t>The chlorophyll absorbs light energy of </a:t>
            </a:r>
            <a:r>
              <a:rPr lang="en-US" dirty="0">
                <a:solidFill>
                  <a:srgbClr val="FF0000"/>
                </a:solidFill>
              </a:rPr>
              <a:t>red </a:t>
            </a:r>
            <a:r>
              <a:rPr lang="en-US" dirty="0">
                <a:solidFill>
                  <a:srgbClr val="3333CC"/>
                </a:solidFill>
              </a:rPr>
              <a:t>and </a:t>
            </a:r>
            <a:r>
              <a:rPr lang="en-US" b="1" dirty="0">
                <a:solidFill>
                  <a:srgbClr val="3333CC"/>
                </a:solidFill>
              </a:rPr>
              <a:t>blue</a:t>
            </a:r>
            <a:r>
              <a:rPr lang="en-US" dirty="0">
                <a:solidFill>
                  <a:srgbClr val="3333CC"/>
                </a:solidFill>
              </a:rPr>
              <a:t> wavelengths. Whereas, the green light is not absorbed and is reflected back. Thus, the leaves appear green.</a:t>
            </a:r>
          </a:p>
        </p:txBody>
      </p:sp>
    </p:spTree>
    <p:extLst>
      <p:ext uri="{BB962C8B-B14F-4D97-AF65-F5344CB8AC3E}">
        <p14:creationId xmlns:p14="http://schemas.microsoft.com/office/powerpoint/2010/main" val="3353079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normAutofit/>
          </a:bodyPr>
          <a:lstStyle/>
          <a:p>
            <a:r>
              <a:rPr lang="en-US" sz="5400" b="1" dirty="0">
                <a:solidFill>
                  <a:srgbClr val="3333CC"/>
                </a:solidFill>
              </a:rPr>
              <a:t>Chloroplast</a:t>
            </a: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2551837"/>
            <a:ext cx="6004086" cy="4114800"/>
          </a:xfrm>
          <a:prstGeom prst="rect">
            <a:avLst/>
          </a:prstGeom>
          <a:ln/>
        </p:spPr>
        <p:style>
          <a:lnRef idx="1">
            <a:schemeClr val="accent2"/>
          </a:lnRef>
          <a:fillRef idx="3">
            <a:schemeClr val="accent2"/>
          </a:fillRef>
          <a:effectRef idx="2">
            <a:schemeClr val="accent2"/>
          </a:effectRef>
          <a:fontRef idx="minor">
            <a:schemeClr val="lt1"/>
          </a:fontRef>
        </p:style>
      </p:pic>
      <p:sp>
        <p:nvSpPr>
          <p:cNvPr id="4" name="Rectangle 3"/>
          <p:cNvSpPr/>
          <p:nvPr/>
        </p:nvSpPr>
        <p:spPr>
          <a:xfrm>
            <a:off x="457200" y="1628507"/>
            <a:ext cx="815340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b="1" dirty="0">
                <a:solidFill>
                  <a:srgbClr val="FF0000"/>
                </a:solidFill>
              </a:rPr>
              <a:t>The chlorophyll pigment is found in cell organelle called chloroplasts. These chloroplasts act as a site of the photosynthesis process in both plants and blue-green algae.</a:t>
            </a:r>
          </a:p>
        </p:txBody>
      </p:sp>
    </p:spTree>
    <p:extLst>
      <p:ext uri="{BB962C8B-B14F-4D97-AF65-F5344CB8AC3E}">
        <p14:creationId xmlns:p14="http://schemas.microsoft.com/office/powerpoint/2010/main" val="2700291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dirty="0">
                <a:solidFill>
                  <a:srgbClr val="6600CC"/>
                </a:solidFill>
              </a:rPr>
              <a:t>Structure of Chlorophyll</a:t>
            </a:r>
          </a:p>
        </p:txBody>
      </p:sp>
      <p:pic>
        <p:nvPicPr>
          <p:cNvPr id="10242"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62000" y="1447800"/>
            <a:ext cx="7143750" cy="4848225"/>
          </a:xfrm>
          <a:prstGeom prst="rect">
            <a:avLst/>
          </a:prstGeom>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421620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6354763"/>
          </a:xfrm>
        </p:spPr>
        <p:style>
          <a:lnRef idx="1">
            <a:schemeClr val="accent5"/>
          </a:lnRef>
          <a:fillRef idx="2">
            <a:schemeClr val="accent5"/>
          </a:fillRef>
          <a:effectRef idx="1">
            <a:schemeClr val="accent5"/>
          </a:effectRef>
          <a:fontRef idx="minor">
            <a:schemeClr val="dk1"/>
          </a:fontRef>
        </p:style>
        <p:txBody>
          <a:bodyPr>
            <a:normAutofit fontScale="85000" lnSpcReduction="10000"/>
          </a:bodyPr>
          <a:lstStyle/>
          <a:p>
            <a:pPr marL="514350" indent="-514350" algn="just">
              <a:buFont typeface="+mj-lt"/>
              <a:buAutoNum type="arabicPeriod"/>
            </a:pPr>
            <a:r>
              <a:rPr lang="en-US" dirty="0">
                <a:solidFill>
                  <a:srgbClr val="6600CC"/>
                </a:solidFill>
              </a:rPr>
              <a:t>Chlorophyll is a derivative of </a:t>
            </a:r>
            <a:r>
              <a:rPr lang="en-US" dirty="0" err="1">
                <a:solidFill>
                  <a:srgbClr val="FF0000"/>
                </a:solidFill>
              </a:rPr>
              <a:t>porphyrin</a:t>
            </a:r>
            <a:r>
              <a:rPr lang="en-US" dirty="0">
                <a:solidFill>
                  <a:srgbClr val="6600CC"/>
                </a:solidFill>
              </a:rPr>
              <a:t>. The central chemical structure of chlorophyll has a </a:t>
            </a:r>
            <a:r>
              <a:rPr lang="en-US" dirty="0">
                <a:solidFill>
                  <a:srgbClr val="FF0000"/>
                </a:solidFill>
              </a:rPr>
              <a:t>magnesium atom</a:t>
            </a:r>
            <a:r>
              <a:rPr lang="en-US" dirty="0">
                <a:solidFill>
                  <a:srgbClr val="6600CC"/>
                </a:solidFill>
              </a:rPr>
              <a:t>.</a:t>
            </a:r>
          </a:p>
          <a:p>
            <a:pPr marL="514350" indent="-514350" algn="just">
              <a:buFont typeface="+mj-lt"/>
              <a:buAutoNum type="arabicPeriod"/>
            </a:pPr>
            <a:r>
              <a:rPr lang="en-US" dirty="0">
                <a:solidFill>
                  <a:srgbClr val="6600CC"/>
                </a:solidFill>
              </a:rPr>
              <a:t>Also, </a:t>
            </a:r>
            <a:r>
              <a:rPr lang="en-US" dirty="0">
                <a:solidFill>
                  <a:srgbClr val="FF0000"/>
                </a:solidFill>
              </a:rPr>
              <a:t>four nitrogen atoms </a:t>
            </a:r>
            <a:r>
              <a:rPr lang="en-US" dirty="0">
                <a:solidFill>
                  <a:srgbClr val="6600CC"/>
                </a:solidFill>
              </a:rPr>
              <a:t>are found around the magnesium. There is a </a:t>
            </a:r>
            <a:r>
              <a:rPr lang="en-US" dirty="0" err="1">
                <a:solidFill>
                  <a:srgbClr val="6600CC"/>
                </a:solidFill>
              </a:rPr>
              <a:t>pyrrole</a:t>
            </a:r>
            <a:r>
              <a:rPr lang="en-US" dirty="0">
                <a:solidFill>
                  <a:srgbClr val="6600CC"/>
                </a:solidFill>
              </a:rPr>
              <a:t> ring structure with four carbons and nitrogen.</a:t>
            </a:r>
          </a:p>
          <a:p>
            <a:pPr marL="514350" indent="-514350" algn="just">
              <a:buFont typeface="+mj-lt"/>
              <a:buAutoNum type="arabicPeriod"/>
            </a:pPr>
            <a:r>
              <a:rPr lang="en-US" dirty="0">
                <a:solidFill>
                  <a:srgbClr val="6600CC"/>
                </a:solidFill>
              </a:rPr>
              <a:t>A </a:t>
            </a:r>
            <a:r>
              <a:rPr lang="en-US" dirty="0">
                <a:solidFill>
                  <a:srgbClr val="FF0000"/>
                </a:solidFill>
              </a:rPr>
              <a:t>hydrocarbon</a:t>
            </a:r>
            <a:r>
              <a:rPr lang="en-US" dirty="0">
                <a:solidFill>
                  <a:srgbClr val="6600CC"/>
                </a:solidFill>
              </a:rPr>
              <a:t> end is also seen.</a:t>
            </a:r>
          </a:p>
          <a:p>
            <a:pPr marL="514350" indent="-514350" algn="just">
              <a:buFont typeface="+mj-lt"/>
              <a:buAutoNum type="arabicPeriod"/>
            </a:pPr>
            <a:r>
              <a:rPr lang="en-US" dirty="0">
                <a:solidFill>
                  <a:srgbClr val="6600CC"/>
                </a:solidFill>
              </a:rPr>
              <a:t>The four </a:t>
            </a:r>
            <a:r>
              <a:rPr lang="en-US" dirty="0" err="1">
                <a:solidFill>
                  <a:srgbClr val="6600CC"/>
                </a:solidFill>
              </a:rPr>
              <a:t>pyrrole</a:t>
            </a:r>
            <a:r>
              <a:rPr lang="en-US" dirty="0">
                <a:solidFill>
                  <a:srgbClr val="6600CC"/>
                </a:solidFill>
              </a:rPr>
              <a:t> rings with nitrogen and magnesium are together termed the </a:t>
            </a:r>
            <a:r>
              <a:rPr lang="en-US" dirty="0" err="1">
                <a:solidFill>
                  <a:srgbClr val="FF0000"/>
                </a:solidFill>
              </a:rPr>
              <a:t>porphyrin</a:t>
            </a:r>
            <a:r>
              <a:rPr lang="en-US" dirty="0">
                <a:solidFill>
                  <a:srgbClr val="FF0000"/>
                </a:solidFill>
              </a:rPr>
              <a:t> head.</a:t>
            </a:r>
          </a:p>
          <a:p>
            <a:pPr marL="514350" indent="-514350" algn="just">
              <a:buFont typeface="+mj-lt"/>
              <a:buAutoNum type="arabicPeriod"/>
            </a:pPr>
            <a:r>
              <a:rPr lang="en-US" dirty="0">
                <a:solidFill>
                  <a:srgbClr val="6600CC"/>
                </a:solidFill>
              </a:rPr>
              <a:t>The hydrocarbon end is the </a:t>
            </a:r>
            <a:r>
              <a:rPr lang="en-US" dirty="0" err="1">
                <a:solidFill>
                  <a:srgbClr val="6600CC"/>
                </a:solidFill>
              </a:rPr>
              <a:t>phytol</a:t>
            </a:r>
            <a:r>
              <a:rPr lang="en-US" dirty="0">
                <a:solidFill>
                  <a:srgbClr val="6600CC"/>
                </a:solidFill>
              </a:rPr>
              <a:t> </a:t>
            </a:r>
            <a:r>
              <a:rPr lang="en-US" dirty="0">
                <a:solidFill>
                  <a:srgbClr val="FF0000"/>
                </a:solidFill>
              </a:rPr>
              <a:t>tail</a:t>
            </a:r>
          </a:p>
          <a:p>
            <a:pPr marL="514350" indent="-514350" algn="just">
              <a:buFont typeface="+mj-lt"/>
              <a:buAutoNum type="arabicPeriod"/>
            </a:pPr>
            <a:r>
              <a:rPr lang="en-US" b="1" dirty="0">
                <a:solidFill>
                  <a:srgbClr val="6600CC"/>
                </a:solidFill>
              </a:rPr>
              <a:t>Hydrocarbon tail-The </a:t>
            </a:r>
            <a:r>
              <a:rPr lang="en-US" b="1" dirty="0" err="1">
                <a:solidFill>
                  <a:srgbClr val="6600CC"/>
                </a:solidFill>
              </a:rPr>
              <a:t>phytol</a:t>
            </a:r>
            <a:r>
              <a:rPr lang="en-US" b="1" dirty="0">
                <a:solidFill>
                  <a:srgbClr val="6600CC"/>
                </a:solidFill>
              </a:rPr>
              <a:t> ester of chlorophyll a is a long hydrophobic </a:t>
            </a:r>
            <a:r>
              <a:rPr lang="en-US" b="1" dirty="0">
                <a:solidFill>
                  <a:srgbClr val="FF0000"/>
                </a:solidFill>
              </a:rPr>
              <a:t>tail</a:t>
            </a:r>
            <a:r>
              <a:rPr lang="en-US" b="1" dirty="0">
                <a:solidFill>
                  <a:srgbClr val="6600CC"/>
                </a:solidFill>
              </a:rPr>
              <a:t> which anchors the molecule to other </a:t>
            </a:r>
            <a:r>
              <a:rPr lang="en-US" b="1" dirty="0">
                <a:solidFill>
                  <a:srgbClr val="FF0000"/>
                </a:solidFill>
              </a:rPr>
              <a:t>hydrophobic</a:t>
            </a:r>
            <a:r>
              <a:rPr lang="en-US" b="1" dirty="0">
                <a:solidFill>
                  <a:srgbClr val="6600CC"/>
                </a:solidFill>
              </a:rPr>
              <a:t> proteins in the thylakoid membrane of the chloroplast.</a:t>
            </a:r>
          </a:p>
          <a:p>
            <a:pPr marL="514350" indent="-514350" algn="just">
              <a:buFont typeface="+mj-lt"/>
              <a:buAutoNum type="arabicPeriod"/>
            </a:pPr>
            <a:endParaRPr lang="en-US" dirty="0">
              <a:solidFill>
                <a:srgbClr val="FF0000"/>
              </a:solidFill>
            </a:endParaRPr>
          </a:p>
        </p:txBody>
      </p:sp>
    </p:spTree>
    <p:extLst>
      <p:ext uri="{BB962C8B-B14F-4D97-AF65-F5344CB8AC3E}">
        <p14:creationId xmlns:p14="http://schemas.microsoft.com/office/powerpoint/2010/main" val="3052695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143000" y="304800"/>
            <a:ext cx="5791200" cy="5791200"/>
          </a:xfrm>
          <a:prstGeom prst="rect">
            <a:avLst/>
          </a:prstGeom>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224839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a:stretch>
            <a:fillRect/>
          </a:stretch>
        </p:blipFill>
        <p:spPr bwMode="auto">
          <a:xfrm>
            <a:off x="533400" y="228600"/>
            <a:ext cx="8119516" cy="60960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228600" y="457200"/>
            <a:ext cx="8585296" cy="6096000"/>
          </a:xfrm>
          <a:prstGeom prst="rect">
            <a:avLst/>
          </a:prstGeom>
          <a:ln>
            <a:headEnd/>
            <a:tailEnd/>
          </a:ln>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2"/>
          <a:srcRect/>
          <a:stretch>
            <a:fillRect/>
          </a:stretch>
        </p:blipFill>
        <p:spPr bwMode="auto">
          <a:xfrm>
            <a:off x="381000" y="304800"/>
            <a:ext cx="7924800" cy="5949811"/>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0"/>
            <a:ext cx="4343400" cy="1143000"/>
          </a:xfrm>
          <a:ln/>
        </p:spPr>
        <p:style>
          <a:lnRef idx="1">
            <a:schemeClr val="accent5"/>
          </a:lnRef>
          <a:fillRef idx="2">
            <a:schemeClr val="accent5"/>
          </a:fillRef>
          <a:effectRef idx="1">
            <a:schemeClr val="accent5"/>
          </a:effectRef>
          <a:fontRef idx="minor">
            <a:schemeClr val="dk1"/>
          </a:fontRef>
        </p:style>
        <p:txBody>
          <a:bodyPr/>
          <a:lstStyle/>
          <a:p>
            <a:r>
              <a:rPr lang="en-US" dirty="0">
                <a:solidFill>
                  <a:srgbClr val="FF0000"/>
                </a:solidFill>
              </a:rPr>
              <a:t>Chlorophyll</a:t>
            </a:r>
          </a:p>
        </p:txBody>
      </p:sp>
      <p:pic>
        <p:nvPicPr>
          <p:cNvPr id="39938" name="Picture 2"/>
          <p:cNvPicPr>
            <a:picLocks noGrp="1" noChangeAspect="1" noChangeArrowheads="1"/>
          </p:cNvPicPr>
          <p:nvPr>
            <p:ph idx="1"/>
          </p:nvPr>
        </p:nvPicPr>
        <p:blipFill>
          <a:blip r:embed="rId2" cstate="print"/>
          <a:srcRect/>
          <a:stretch>
            <a:fillRect/>
          </a:stretch>
        </p:blipFill>
        <p:spPr bwMode="auto">
          <a:xfrm>
            <a:off x="5257800" y="1371600"/>
            <a:ext cx="2667000" cy="2667000"/>
          </a:xfrm>
          <a:prstGeom prst="rect">
            <a:avLst/>
          </a:prstGeom>
          <a:noFill/>
          <a:ln w="9525">
            <a:solidFill>
              <a:srgbClr val="FF0000"/>
            </a:solidFill>
            <a:miter lim="800000"/>
            <a:headEnd/>
            <a:tailEnd/>
          </a:ln>
          <a:effectLst/>
        </p:spPr>
      </p:pic>
      <p:sp>
        <p:nvSpPr>
          <p:cNvPr id="5" name="Rectangle 4"/>
          <p:cNvSpPr/>
          <p:nvPr/>
        </p:nvSpPr>
        <p:spPr>
          <a:xfrm>
            <a:off x="228600" y="990600"/>
            <a:ext cx="4572000" cy="2031325"/>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r>
              <a:rPr lang="en-US" dirty="0">
                <a:solidFill>
                  <a:srgbClr val="FF0000"/>
                </a:solidFill>
              </a:rPr>
              <a:t>Chlorophyll is </a:t>
            </a:r>
            <a:r>
              <a:rPr lang="en-US" dirty="0"/>
              <a:t>– the responsible for the green color of plants. Chlorophyll absorbs energy from the sun and facilitates photosynthesis in plants. Its unique ability to convert the energy of the sun through photosynthesis is used to make carbohydrates from water and carbon dioxide. </a:t>
            </a:r>
          </a:p>
        </p:txBody>
      </p:sp>
      <p:sp>
        <p:nvSpPr>
          <p:cNvPr id="6" name="Rectangle 5"/>
          <p:cNvSpPr/>
          <p:nvPr/>
        </p:nvSpPr>
        <p:spPr>
          <a:xfrm>
            <a:off x="0" y="3048000"/>
            <a:ext cx="4953000" cy="424731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t>The Chlorophyll and the </a:t>
            </a:r>
            <a:r>
              <a:rPr lang="en-US" dirty="0" err="1"/>
              <a:t>Heme</a:t>
            </a:r>
            <a:r>
              <a:rPr lang="en-US" dirty="0"/>
              <a:t>. </a:t>
            </a:r>
          </a:p>
          <a:p>
            <a:r>
              <a:rPr lang="en-US" dirty="0"/>
              <a:t>The only difference is that the central atom in human is iron, while it is magnesium that is the central molecules of plants. –</a:t>
            </a:r>
          </a:p>
          <a:p>
            <a:endParaRPr lang="en-US" dirty="0"/>
          </a:p>
          <a:p>
            <a:r>
              <a:rPr lang="en-US" dirty="0"/>
              <a:t>There are different forms of chlorophylls existing in nature. Some of them are: </a:t>
            </a:r>
          </a:p>
          <a:p>
            <a:r>
              <a:rPr lang="en-US" dirty="0"/>
              <a:t>chlorophyll a </a:t>
            </a:r>
          </a:p>
          <a:p>
            <a:r>
              <a:rPr lang="en-US" dirty="0">
                <a:hlinkClick r:id="rId3" tooltip="Chlorophyll b"/>
              </a:rPr>
              <a:t>chlorophyll b</a:t>
            </a:r>
            <a:r>
              <a:rPr lang="en-US" dirty="0"/>
              <a:t> </a:t>
            </a:r>
          </a:p>
          <a:p>
            <a:r>
              <a:rPr lang="en-US" dirty="0">
                <a:hlinkClick r:id="rId4" tooltip="Chlorophyll c"/>
              </a:rPr>
              <a:t>chlorophyll c</a:t>
            </a:r>
            <a:r>
              <a:rPr lang="en-US" dirty="0"/>
              <a:t> </a:t>
            </a:r>
          </a:p>
          <a:p>
            <a:r>
              <a:rPr lang="en-US" dirty="0">
                <a:hlinkClick r:id="rId5" tooltip="Chlorophyll d"/>
              </a:rPr>
              <a:t>chlorophyll d</a:t>
            </a:r>
            <a:r>
              <a:rPr lang="en-US" dirty="0"/>
              <a:t> </a:t>
            </a:r>
          </a:p>
          <a:p>
            <a:r>
              <a:rPr lang="en-US" dirty="0">
                <a:hlinkClick r:id="rId6" tooltip="Chlorophyll e"/>
              </a:rPr>
              <a:t>chlorophyll e</a:t>
            </a:r>
            <a:r>
              <a:rPr lang="en-US" dirty="0"/>
              <a:t> </a:t>
            </a:r>
          </a:p>
          <a:p>
            <a:r>
              <a:rPr lang="en-US" dirty="0">
                <a:hlinkClick r:id="rId7" tooltip="Chlorophyll f"/>
              </a:rPr>
              <a:t>chlorophyll f</a:t>
            </a:r>
            <a:r>
              <a:rPr lang="en-US" dirty="0"/>
              <a:t> </a:t>
            </a:r>
          </a:p>
          <a:p>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rcRect/>
          <a:stretch>
            <a:fillRect/>
          </a:stretch>
        </p:blipFill>
        <p:spPr bwMode="auto">
          <a:xfrm>
            <a:off x="609600" y="533400"/>
            <a:ext cx="7772400" cy="5828983"/>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scifun.chem.wisc.edu/chemweek/chlrphyl/chlrphyl.gif"/>
          <p:cNvPicPr>
            <a:picLocks noChangeAspect="1" noChangeArrowheads="1"/>
          </p:cNvPicPr>
          <p:nvPr/>
        </p:nvPicPr>
        <p:blipFill>
          <a:blip r:embed="rId2" cstate="print"/>
          <a:srcRect/>
          <a:stretch>
            <a:fillRect/>
          </a:stretch>
        </p:blipFill>
        <p:spPr bwMode="auto">
          <a:xfrm>
            <a:off x="173610" y="381000"/>
            <a:ext cx="8720579" cy="3352800"/>
          </a:xfrm>
          <a:prstGeom prst="rect">
            <a:avLst/>
          </a:prstGeom>
          <a:ln/>
        </p:spPr>
        <p:style>
          <a:lnRef idx="1">
            <a:schemeClr val="accent3"/>
          </a:lnRef>
          <a:fillRef idx="2">
            <a:schemeClr val="accent3"/>
          </a:fillRef>
          <a:effectRef idx="1">
            <a:schemeClr val="accent3"/>
          </a:effectRef>
          <a:fontRef idx="minor">
            <a:schemeClr val="dk1"/>
          </a:fontRef>
        </p:style>
      </p:pic>
      <p:sp>
        <p:nvSpPr>
          <p:cNvPr id="5" name="TextBox 4"/>
          <p:cNvSpPr txBox="1"/>
          <p:nvPr/>
        </p:nvSpPr>
        <p:spPr>
          <a:xfrm>
            <a:off x="748145" y="3962400"/>
            <a:ext cx="7543800" cy="230832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p>
          <a:p>
            <a:pPr algn="ctr"/>
            <a:r>
              <a:rPr lang="en-US" sz="3600" dirty="0">
                <a:solidFill>
                  <a:srgbClr val="00B050"/>
                </a:solidFill>
              </a:rPr>
              <a:t>Structure of Chlorophyll a</a:t>
            </a:r>
          </a:p>
          <a:p>
            <a:endParaRPr lang="en-US" dirty="0"/>
          </a:p>
          <a:p>
            <a:r>
              <a:rPr lang="en-US" dirty="0"/>
              <a:t>The </a:t>
            </a:r>
            <a:r>
              <a:rPr lang="en-US" dirty="0" err="1"/>
              <a:t>porphyrin</a:t>
            </a:r>
            <a:r>
              <a:rPr lang="en-US" dirty="0"/>
              <a:t> contains four nitrogen atoms that form bonds to magnesium in a square planar arrangement. There are several forms of chlorophyll. The structure of one form, chlorophyll </a:t>
            </a:r>
            <a:r>
              <a:rPr lang="en-US" i="1" dirty="0"/>
              <a:t>a</a:t>
            </a:r>
            <a:r>
              <a:rPr lang="en-US" dirty="0"/>
              <a:t>, is shown.</a:t>
            </a:r>
          </a:p>
          <a:p>
            <a:r>
              <a:rPr lang="en-US"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28600" y="1143000"/>
            <a:ext cx="8208818" cy="4267200"/>
          </a:xfrm>
          <a:prstGeom prst="rect">
            <a:avLst/>
          </a:prstGeom>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1770340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Autofit/>
          </a:bodyPr>
          <a:lstStyle/>
          <a:p>
            <a:br>
              <a:rPr lang="en-US" sz="4800" b="1" dirty="0">
                <a:solidFill>
                  <a:srgbClr val="FF0000"/>
                </a:solidFill>
              </a:rPr>
            </a:br>
            <a:r>
              <a:rPr lang="en-US" sz="4800" b="1" dirty="0">
                <a:solidFill>
                  <a:srgbClr val="FF0000"/>
                </a:solidFill>
              </a:rPr>
              <a:t>Photosynthesis Equation</a:t>
            </a:r>
            <a:br>
              <a:rPr lang="en-US" sz="4800" b="1" dirty="0">
                <a:solidFill>
                  <a:srgbClr val="FF0000"/>
                </a:solidFill>
              </a:rPr>
            </a:br>
            <a:endParaRPr lang="en-US" sz="4800" dirty="0">
              <a:solidFill>
                <a:srgbClr val="FF0000"/>
              </a:solidFill>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lstStyle/>
          <a:p>
            <a:pPr fontAlgn="base"/>
            <a:r>
              <a:rPr lang="pt-BR" sz="4800" b="1" dirty="0"/>
              <a:t>6CO</a:t>
            </a:r>
            <a:r>
              <a:rPr lang="pt-BR" sz="4800" b="1" baseline="-25000" dirty="0"/>
              <a:t>2</a:t>
            </a:r>
            <a:r>
              <a:rPr lang="pt-BR" sz="4800" b="1" dirty="0"/>
              <a:t> + 12H</a:t>
            </a:r>
            <a:r>
              <a:rPr lang="pt-BR" sz="4800" b="1" baseline="-25000" dirty="0"/>
              <a:t>2</a:t>
            </a:r>
            <a:r>
              <a:rPr lang="pt-BR" sz="4800" b="1" dirty="0"/>
              <a:t>O + Light Energy → C</a:t>
            </a:r>
            <a:r>
              <a:rPr lang="pt-BR" sz="4800" b="1" baseline="-25000" dirty="0"/>
              <a:t>6</a:t>
            </a:r>
            <a:r>
              <a:rPr lang="pt-BR" sz="4800" b="1" dirty="0"/>
              <a:t>H</a:t>
            </a:r>
            <a:r>
              <a:rPr lang="pt-BR" sz="4800" b="1" baseline="-25000" dirty="0"/>
              <a:t>12</a:t>
            </a:r>
            <a:r>
              <a:rPr lang="pt-BR" sz="4800" b="1" dirty="0"/>
              <a:t>O</a:t>
            </a:r>
            <a:r>
              <a:rPr lang="pt-BR" sz="4800" b="1" baseline="-25000" dirty="0"/>
              <a:t>6</a:t>
            </a:r>
            <a:r>
              <a:rPr lang="pt-BR" sz="4800" b="1" dirty="0"/>
              <a:t> + 6O</a:t>
            </a:r>
            <a:r>
              <a:rPr lang="pt-BR" sz="4800" b="1" baseline="-25000" dirty="0"/>
              <a:t>2</a:t>
            </a:r>
            <a:r>
              <a:rPr lang="pt-BR" sz="4800" b="1" dirty="0"/>
              <a:t> + 6H</a:t>
            </a:r>
            <a:r>
              <a:rPr lang="pt-BR" sz="4800" b="1" baseline="-25000" dirty="0"/>
              <a:t>2</a:t>
            </a:r>
            <a:r>
              <a:rPr lang="pt-BR" sz="4800" b="1" dirty="0"/>
              <a:t>O</a:t>
            </a:r>
          </a:p>
          <a:p>
            <a:pPr fontAlgn="base"/>
            <a:endParaRPr lang="pt-BR" sz="4800" dirty="0"/>
          </a:p>
          <a:p>
            <a:br>
              <a:rPr lang="pt-BR" dirty="0"/>
            </a:b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505200"/>
            <a:ext cx="5029200" cy="2363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8447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p:spPr>
        <p:style>
          <a:lnRef idx="1">
            <a:schemeClr val="accent5"/>
          </a:lnRef>
          <a:fillRef idx="2">
            <a:schemeClr val="accent5"/>
          </a:fillRef>
          <a:effectRef idx="1">
            <a:schemeClr val="accent5"/>
          </a:effectRef>
          <a:fontRef idx="minor">
            <a:schemeClr val="dk1"/>
          </a:fontRef>
        </p:style>
        <p:txBody>
          <a:bodyPr>
            <a:normAutofit/>
          </a:bodyPr>
          <a:lstStyle/>
          <a:p>
            <a:r>
              <a:rPr lang="en-US" b="1" dirty="0">
                <a:solidFill>
                  <a:srgbClr val="3333CC"/>
                </a:solidFill>
              </a:rPr>
              <a:t>HEMOGLOBIN &amp; MYOGLOBIN </a:t>
            </a: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lnSpcReduction="10000"/>
          </a:bodyPr>
          <a:lstStyle/>
          <a:p>
            <a:pPr algn="just"/>
            <a:r>
              <a:rPr lang="en-US" b="1" dirty="0">
                <a:solidFill>
                  <a:srgbClr val="FF0000"/>
                </a:solidFill>
              </a:rPr>
              <a:t>Hemoglobin</a:t>
            </a:r>
            <a:r>
              <a:rPr lang="en-US" dirty="0"/>
              <a:t> (denoted as </a:t>
            </a:r>
            <a:r>
              <a:rPr lang="en-US" dirty="0" err="1"/>
              <a:t>Hb</a:t>
            </a:r>
            <a:r>
              <a:rPr lang="en-US" dirty="0"/>
              <a:t>) and </a:t>
            </a:r>
            <a:r>
              <a:rPr lang="en-US" b="1" dirty="0" err="1">
                <a:solidFill>
                  <a:srgbClr val="00B050"/>
                </a:solidFill>
              </a:rPr>
              <a:t>Myoglobin</a:t>
            </a:r>
            <a:r>
              <a:rPr lang="en-US" dirty="0">
                <a:solidFill>
                  <a:srgbClr val="00B050"/>
                </a:solidFill>
              </a:rPr>
              <a:t> </a:t>
            </a:r>
            <a:r>
              <a:rPr lang="en-US" dirty="0"/>
              <a:t>(Mb) are </a:t>
            </a:r>
            <a:r>
              <a:rPr lang="en-US" dirty="0" err="1"/>
              <a:t>dioxygen</a:t>
            </a:r>
            <a:r>
              <a:rPr lang="en-US" dirty="0"/>
              <a:t> (O</a:t>
            </a:r>
            <a:r>
              <a:rPr lang="en-US" baseline="-25000" dirty="0"/>
              <a:t>2</a:t>
            </a:r>
            <a:r>
              <a:rPr lang="en-US" dirty="0"/>
              <a:t>) binding </a:t>
            </a:r>
            <a:r>
              <a:rPr lang="en-US" dirty="0" err="1"/>
              <a:t>metalloproteins</a:t>
            </a:r>
            <a:r>
              <a:rPr lang="en-US" dirty="0"/>
              <a:t> containing an iron </a:t>
            </a:r>
            <a:r>
              <a:rPr lang="en-US" dirty="0" err="1"/>
              <a:t>porphyrin</a:t>
            </a:r>
            <a:r>
              <a:rPr lang="en-US" dirty="0"/>
              <a:t> system, </a:t>
            </a:r>
            <a:r>
              <a:rPr lang="en-US" dirty="0" err="1"/>
              <a:t>heme</a:t>
            </a:r>
            <a:r>
              <a:rPr lang="en-US" dirty="0"/>
              <a:t>. Both of them contain Fe(II) ion. </a:t>
            </a:r>
          </a:p>
          <a:p>
            <a:pPr algn="just">
              <a:buNone/>
            </a:pPr>
            <a:endParaRPr lang="en-US" dirty="0"/>
          </a:p>
          <a:p>
            <a:pPr algn="just"/>
            <a:r>
              <a:rPr lang="en-US" b="1" dirty="0">
                <a:solidFill>
                  <a:srgbClr val="FF0000"/>
                </a:solidFill>
              </a:rPr>
              <a:t>Hemoglobin</a:t>
            </a:r>
            <a:r>
              <a:rPr lang="en-US" dirty="0"/>
              <a:t> is present in </a:t>
            </a:r>
            <a:r>
              <a:rPr lang="en-US" dirty="0">
                <a:solidFill>
                  <a:srgbClr val="FF0000"/>
                </a:solidFill>
              </a:rPr>
              <a:t>Red Blood Cells </a:t>
            </a:r>
            <a:r>
              <a:rPr lang="en-US" dirty="0"/>
              <a:t>(RBC) and helps in transport of </a:t>
            </a:r>
            <a:r>
              <a:rPr lang="en-US" dirty="0" err="1"/>
              <a:t>dioxygen</a:t>
            </a:r>
            <a:r>
              <a:rPr lang="en-US" dirty="0"/>
              <a:t> from lungs to tissues. Whereas, </a:t>
            </a:r>
            <a:r>
              <a:rPr lang="en-US" dirty="0" err="1">
                <a:solidFill>
                  <a:srgbClr val="00B050"/>
                </a:solidFill>
              </a:rPr>
              <a:t>myoglobin</a:t>
            </a:r>
            <a:r>
              <a:rPr lang="en-US" dirty="0"/>
              <a:t> stores </a:t>
            </a:r>
            <a:r>
              <a:rPr lang="en-US" dirty="0" err="1"/>
              <a:t>dioxygen</a:t>
            </a:r>
            <a:r>
              <a:rPr lang="en-US" dirty="0"/>
              <a:t> and is present in </a:t>
            </a:r>
            <a:r>
              <a:rPr lang="en-US" dirty="0">
                <a:solidFill>
                  <a:srgbClr val="00B050"/>
                </a:solidFill>
              </a:rPr>
              <a:t>muscles.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800" y="304800"/>
            <a:ext cx="7239000" cy="286232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endParaRPr lang="en-US" dirty="0"/>
          </a:p>
          <a:p>
            <a:pPr algn="just"/>
            <a:r>
              <a:rPr lang="en-US" dirty="0" err="1">
                <a:solidFill>
                  <a:srgbClr val="FF0000"/>
                </a:solidFill>
              </a:rPr>
              <a:t>Heme</a:t>
            </a:r>
            <a:r>
              <a:rPr lang="en-US" dirty="0">
                <a:solidFill>
                  <a:srgbClr val="FF0000"/>
                </a:solidFill>
              </a:rPr>
              <a:t> </a:t>
            </a:r>
            <a:r>
              <a:rPr lang="en-US" dirty="0"/>
              <a:t>is a </a:t>
            </a:r>
            <a:r>
              <a:rPr lang="en-US" dirty="0" err="1"/>
              <a:t>porphyrin</a:t>
            </a:r>
            <a:r>
              <a:rPr lang="en-US" dirty="0"/>
              <a:t> ring system made up of </a:t>
            </a:r>
            <a:r>
              <a:rPr lang="en-US" dirty="0">
                <a:solidFill>
                  <a:srgbClr val="00B050"/>
                </a:solidFill>
              </a:rPr>
              <a:t>four </a:t>
            </a:r>
            <a:r>
              <a:rPr lang="en-US" dirty="0" err="1">
                <a:solidFill>
                  <a:srgbClr val="00B050"/>
                </a:solidFill>
              </a:rPr>
              <a:t>pyrrol</a:t>
            </a:r>
            <a:r>
              <a:rPr lang="en-US" dirty="0" err="1"/>
              <a:t>e</a:t>
            </a:r>
            <a:r>
              <a:rPr lang="en-US" dirty="0"/>
              <a:t> rings with an </a:t>
            </a:r>
            <a:r>
              <a:rPr lang="en-US" dirty="0">
                <a:solidFill>
                  <a:srgbClr val="00B050"/>
                </a:solidFill>
              </a:rPr>
              <a:t>Fe(II)</a:t>
            </a:r>
            <a:r>
              <a:rPr lang="en-US" dirty="0"/>
              <a:t> ion coordinated to </a:t>
            </a:r>
            <a:r>
              <a:rPr lang="en-US" dirty="0" err="1"/>
              <a:t>nitrogens</a:t>
            </a:r>
            <a:r>
              <a:rPr lang="en-US" dirty="0"/>
              <a:t> of </a:t>
            </a:r>
            <a:r>
              <a:rPr lang="en-US" dirty="0" err="1"/>
              <a:t>pyrrole</a:t>
            </a:r>
            <a:r>
              <a:rPr lang="en-US" dirty="0"/>
              <a:t> rings.   </a:t>
            </a:r>
          </a:p>
          <a:p>
            <a:pPr algn="just"/>
            <a:endParaRPr lang="en-US" dirty="0"/>
          </a:p>
          <a:p>
            <a:pPr algn="just"/>
            <a:r>
              <a:rPr lang="en-US" dirty="0">
                <a:solidFill>
                  <a:srgbClr val="FF0000"/>
                </a:solidFill>
              </a:rPr>
              <a:t>Hemoglobin </a:t>
            </a:r>
            <a:r>
              <a:rPr lang="en-US" dirty="0"/>
              <a:t>contains four </a:t>
            </a:r>
            <a:r>
              <a:rPr lang="en-US" dirty="0" err="1">
                <a:solidFill>
                  <a:srgbClr val="0070C0"/>
                </a:solidFill>
              </a:rPr>
              <a:t>heme</a:t>
            </a:r>
            <a:r>
              <a:rPr lang="en-US" dirty="0"/>
              <a:t> units each embedded in a globular protein sub-unit. There are two types of protein sub-units i.e., </a:t>
            </a:r>
            <a:r>
              <a:rPr lang="en-US" dirty="0">
                <a:solidFill>
                  <a:schemeClr val="accent5">
                    <a:lumMod val="75000"/>
                  </a:schemeClr>
                </a:solidFill>
              </a:rPr>
              <a:t>α and β. </a:t>
            </a:r>
          </a:p>
          <a:p>
            <a:pPr algn="just"/>
            <a:endParaRPr lang="en-US" dirty="0"/>
          </a:p>
          <a:p>
            <a:pPr algn="just"/>
            <a:r>
              <a:rPr lang="en-US" dirty="0" err="1">
                <a:solidFill>
                  <a:srgbClr val="00B050"/>
                </a:solidFill>
              </a:rPr>
              <a:t>Myoglobin</a:t>
            </a:r>
            <a:r>
              <a:rPr lang="en-US" dirty="0"/>
              <a:t> contains only one </a:t>
            </a:r>
            <a:r>
              <a:rPr lang="en-US" dirty="0" err="1">
                <a:solidFill>
                  <a:srgbClr val="00B0F0"/>
                </a:solidFill>
              </a:rPr>
              <a:t>heme</a:t>
            </a:r>
            <a:r>
              <a:rPr lang="en-US" dirty="0"/>
              <a:t> unit surrounded by a globular protein, containing seven α-helical and six non helical segments, made up of 153 amino acids .</a:t>
            </a:r>
          </a:p>
        </p:txBody>
      </p:sp>
      <p:pic>
        <p:nvPicPr>
          <p:cNvPr id="36866" name="Picture 2"/>
          <p:cNvPicPr>
            <a:picLocks noChangeAspect="1" noChangeArrowheads="1"/>
          </p:cNvPicPr>
          <p:nvPr/>
        </p:nvPicPr>
        <p:blipFill>
          <a:blip r:embed="rId2" cstate="print"/>
          <a:srcRect/>
          <a:stretch>
            <a:fillRect/>
          </a:stretch>
        </p:blipFill>
        <p:spPr bwMode="auto">
          <a:xfrm>
            <a:off x="2743200" y="3657600"/>
            <a:ext cx="3647567" cy="22860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Grp="1" noChangeAspect="1" noChangeArrowheads="1"/>
          </p:cNvPicPr>
          <p:nvPr>
            <p:ph idx="1"/>
          </p:nvPr>
        </p:nvPicPr>
        <p:blipFill>
          <a:blip r:embed="rId2"/>
          <a:srcRect/>
          <a:stretch>
            <a:fillRect/>
          </a:stretch>
        </p:blipFill>
        <p:spPr bwMode="auto">
          <a:xfrm>
            <a:off x="838200" y="838200"/>
            <a:ext cx="7010400" cy="5257800"/>
          </a:xfrm>
          <a:prstGeom prst="rect">
            <a:avLst/>
          </a:prstGeom>
          <a:ln>
            <a:headEnd/>
            <a:tailEnd/>
          </a:ln>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rcRect/>
          <a:stretch>
            <a:fillRect/>
          </a:stretch>
        </p:blipFill>
        <p:spPr bwMode="auto">
          <a:xfrm>
            <a:off x="256309" y="0"/>
            <a:ext cx="8119516" cy="6705600"/>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rcRect/>
          <a:stretch>
            <a:fillRect/>
          </a:stretch>
        </p:blipFill>
        <p:spPr bwMode="auto">
          <a:xfrm>
            <a:off x="685800" y="609600"/>
            <a:ext cx="7612046" cy="5715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rcRect/>
          <a:stretch>
            <a:fillRect/>
          </a:stretch>
        </p:blipFill>
        <p:spPr bwMode="auto">
          <a:xfrm>
            <a:off x="609600" y="304800"/>
            <a:ext cx="7612046" cy="57150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609600" y="838200"/>
            <a:ext cx="7707775" cy="46482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867400"/>
          </a:xfrm>
          <a:ln/>
        </p:spPr>
        <p:style>
          <a:lnRef idx="1">
            <a:schemeClr val="accent3"/>
          </a:lnRef>
          <a:fillRef idx="2">
            <a:schemeClr val="accent3"/>
          </a:fillRef>
          <a:effectRef idx="1">
            <a:schemeClr val="accent3"/>
          </a:effectRef>
          <a:fontRef idx="minor">
            <a:schemeClr val="dk1"/>
          </a:fontRef>
        </p:style>
        <p:txBody>
          <a:bodyPr>
            <a:normAutofit/>
          </a:bodyPr>
          <a:lstStyle/>
          <a:p>
            <a:r>
              <a:rPr lang="en-US" sz="4800" dirty="0">
                <a:solidFill>
                  <a:srgbClr val="FF0000"/>
                </a:solidFill>
              </a:rPr>
              <a:t>Hemoglobin and </a:t>
            </a:r>
            <a:r>
              <a:rPr lang="en-US" sz="4800" dirty="0" err="1">
                <a:solidFill>
                  <a:srgbClr val="FF0000"/>
                </a:solidFill>
              </a:rPr>
              <a:t>Myoglobin</a:t>
            </a:r>
            <a:r>
              <a:rPr lang="en-US" sz="4800" dirty="0">
                <a:solidFill>
                  <a:srgbClr val="FF0000"/>
                </a:solidFill>
              </a:rPr>
              <a:t> exist in two forms i.e.</a:t>
            </a:r>
          </a:p>
          <a:p>
            <a:r>
              <a:rPr lang="en-US" sz="4800" dirty="0">
                <a:solidFill>
                  <a:srgbClr val="00B0F0"/>
                </a:solidFill>
              </a:rPr>
              <a:t>1) </a:t>
            </a:r>
            <a:r>
              <a:rPr lang="en-US" sz="4800" dirty="0" err="1">
                <a:solidFill>
                  <a:srgbClr val="00B0F0"/>
                </a:solidFill>
              </a:rPr>
              <a:t>deoxy</a:t>
            </a:r>
            <a:r>
              <a:rPr lang="en-US" sz="4800" dirty="0">
                <a:solidFill>
                  <a:srgbClr val="00B0F0"/>
                </a:solidFill>
              </a:rPr>
              <a:t> form: No oxygen is bound to iron.</a:t>
            </a:r>
          </a:p>
          <a:p>
            <a:r>
              <a:rPr lang="en-US" sz="4800" dirty="0">
                <a:solidFill>
                  <a:srgbClr val="92D050"/>
                </a:solidFill>
              </a:rPr>
              <a:t>2) </a:t>
            </a:r>
            <a:r>
              <a:rPr lang="en-US" sz="4800" dirty="0">
                <a:solidFill>
                  <a:srgbClr val="3333CC"/>
                </a:solidFill>
              </a:rPr>
              <a:t>oxy form: </a:t>
            </a:r>
            <a:r>
              <a:rPr lang="en-US" sz="4800" dirty="0" err="1">
                <a:solidFill>
                  <a:srgbClr val="3333CC"/>
                </a:solidFill>
              </a:rPr>
              <a:t>dioxygen</a:t>
            </a:r>
            <a:r>
              <a:rPr lang="en-US" sz="4800" dirty="0">
                <a:solidFill>
                  <a:srgbClr val="3333CC"/>
                </a:solidFill>
              </a:rPr>
              <a:t> is bound to iron</a:t>
            </a:r>
            <a:r>
              <a:rPr lang="en-US" sz="4800" dirty="0">
                <a:solidFill>
                  <a:srgbClr val="92D050"/>
                </a:solidFill>
              </a:rPr>
              <a:t>.</a:t>
            </a:r>
          </a:p>
          <a:p>
            <a:endParaRPr lang="en-US" sz="4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1676400" y="304800"/>
            <a:ext cx="5257800" cy="5796509"/>
          </a:xfrm>
          <a:prstGeom prst="rect">
            <a:avLst/>
          </a:prstGeom>
          <a:ln>
            <a:headEnd/>
            <a:tailEnd/>
          </a:ln>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533400" y="762000"/>
            <a:ext cx="8012367" cy="4648200"/>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duotone>
              <a:schemeClr val="accent4">
                <a:shade val="45000"/>
                <a:satMod val="135000"/>
              </a:schemeClr>
              <a:prstClr val="white"/>
            </a:duotone>
            <a:extLst>
              <a:ext uri="{BEBA8EAE-BF5A-486C-A8C5-ECC9F3942E4B}">
                <a14:imgProps xmlns:a14="http://schemas.microsoft.com/office/drawing/2010/main">
                  <a14:imgLayer r:embed="rId3">
                    <a14:imgEffect>
                      <a14:saturation sat="200000"/>
                    </a14:imgEffect>
                  </a14:imgLayer>
                </a14:imgProps>
              </a:ext>
            </a:extLst>
          </a:blip>
          <a:srcRect/>
          <a:stretch>
            <a:fillRect/>
          </a:stretch>
        </p:blipFill>
        <p:spPr bwMode="auto">
          <a:xfrm>
            <a:off x="762000" y="457200"/>
            <a:ext cx="7815034" cy="5867400"/>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2"/>
          <a:srcRect/>
          <a:stretch>
            <a:fillRect/>
          </a:stretch>
        </p:blipFill>
        <p:spPr bwMode="auto">
          <a:xfrm>
            <a:off x="685800" y="304800"/>
            <a:ext cx="7713540" cy="57912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a:stretch>
            <a:fillRect/>
          </a:stretch>
        </p:blipFill>
        <p:spPr bwMode="auto">
          <a:xfrm>
            <a:off x="533400" y="457200"/>
            <a:ext cx="7916528" cy="5943600"/>
          </a:xfrm>
          <a:prstGeom prst="rect">
            <a:avLst/>
          </a:prstGeom>
          <a:noFill/>
          <a:ln w="9525">
            <a:noFill/>
            <a:miter lim="800000"/>
            <a:headEnd/>
            <a:tailEnd/>
          </a:ln>
          <a:effectLst/>
        </p:spPr>
      </p:pic>
      <p:sp>
        <p:nvSpPr>
          <p:cNvPr id="40964" name="AutoShape 4" descr="Functions of &#10;Haemoglobin &#10;• Oxygen delivery to the tissues &#10;• Reaction of Hb &amp; oxygen &#10;• Oxygenation not oxidation &#10;• On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381000" y="228600"/>
            <a:ext cx="8221010" cy="61722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609600" y="457200"/>
            <a:ext cx="7924800" cy="5949811"/>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4267200" cy="868362"/>
          </a:xfrm>
          <a:ln/>
        </p:spPr>
        <p:style>
          <a:lnRef idx="1">
            <a:schemeClr val="accent3"/>
          </a:lnRef>
          <a:fillRef idx="2">
            <a:schemeClr val="accent3"/>
          </a:fillRef>
          <a:effectRef idx="1">
            <a:schemeClr val="accent3"/>
          </a:effectRef>
          <a:fontRef idx="minor">
            <a:schemeClr val="dk1"/>
          </a:fontRef>
        </p:style>
        <p:txBody>
          <a:bodyPr/>
          <a:lstStyle/>
          <a:p>
            <a:r>
              <a:rPr lang="en-US" dirty="0" err="1">
                <a:solidFill>
                  <a:srgbClr val="FF0000"/>
                </a:solidFill>
              </a:rPr>
              <a:t>Cytochromes</a:t>
            </a:r>
            <a:endParaRPr lang="en-US"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r>
              <a:rPr lang="en-US" dirty="0" err="1"/>
              <a:t>Cytochromes</a:t>
            </a:r>
            <a:r>
              <a:rPr lang="en-US" dirty="0"/>
              <a:t> are electro</a:t>
            </a:r>
          </a:p>
          <a:p>
            <a:r>
              <a:rPr lang="en-US" dirty="0"/>
              <a:t>There are three types of </a:t>
            </a:r>
            <a:r>
              <a:rPr lang="en-US" dirty="0" err="1"/>
              <a:t>cytochromes</a:t>
            </a:r>
            <a:r>
              <a:rPr lang="en-US" dirty="0"/>
              <a:t> depending upon the </a:t>
            </a:r>
            <a:r>
              <a:rPr lang="en-US" dirty="0" err="1"/>
              <a:t>porphyrin</a:t>
            </a:r>
            <a:r>
              <a:rPr lang="en-US" dirty="0"/>
              <a:t> types n transfer proteins</a:t>
            </a:r>
          </a:p>
          <a:p>
            <a:r>
              <a:rPr lang="en-US" dirty="0" err="1">
                <a:solidFill>
                  <a:srgbClr val="FF0000"/>
                </a:solidFill>
              </a:rPr>
              <a:t>Cytochrome</a:t>
            </a:r>
            <a:r>
              <a:rPr lang="en-US" dirty="0">
                <a:solidFill>
                  <a:srgbClr val="FF0000"/>
                </a:solidFill>
              </a:rPr>
              <a:t> a, </a:t>
            </a:r>
            <a:r>
              <a:rPr lang="en-US" dirty="0" err="1">
                <a:solidFill>
                  <a:srgbClr val="FF0000"/>
                </a:solidFill>
              </a:rPr>
              <a:t>cytochrome</a:t>
            </a:r>
            <a:r>
              <a:rPr lang="en-US" dirty="0">
                <a:solidFill>
                  <a:srgbClr val="FF0000"/>
                </a:solidFill>
              </a:rPr>
              <a:t> b, </a:t>
            </a:r>
            <a:r>
              <a:rPr lang="en-US" dirty="0" err="1">
                <a:solidFill>
                  <a:srgbClr val="FF0000"/>
                </a:solidFill>
              </a:rPr>
              <a:t>cytochrome</a:t>
            </a:r>
            <a:r>
              <a:rPr lang="en-US" dirty="0">
                <a:solidFill>
                  <a:srgbClr val="FF0000"/>
                </a:solidFill>
              </a:rPr>
              <a:t> c</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4" descr="File:Cobalamin.png"/>
          <p:cNvPicPr>
            <a:picLocks noChangeAspect="1" noChangeArrowheads="1"/>
          </p:cNvPicPr>
          <p:nvPr/>
        </p:nvPicPr>
        <p:blipFill>
          <a:blip r:embed="rId2" cstate="print"/>
          <a:srcRect/>
          <a:stretch>
            <a:fillRect/>
          </a:stretch>
        </p:blipFill>
        <p:spPr bwMode="auto">
          <a:xfrm>
            <a:off x="304800" y="1524000"/>
            <a:ext cx="3429000" cy="4295198"/>
          </a:xfrm>
          <a:prstGeom prst="rect">
            <a:avLst/>
          </a:prstGeom>
          <a:ln/>
        </p:spPr>
        <p:style>
          <a:lnRef idx="1">
            <a:schemeClr val="accent4"/>
          </a:lnRef>
          <a:fillRef idx="2">
            <a:schemeClr val="accent4"/>
          </a:fillRef>
          <a:effectRef idx="1">
            <a:schemeClr val="accent4"/>
          </a:effectRef>
          <a:fontRef idx="minor">
            <a:schemeClr val="dk1"/>
          </a:fontRef>
        </p:style>
      </p:pic>
      <p:sp>
        <p:nvSpPr>
          <p:cNvPr id="49157" name="Rectangle 5"/>
          <p:cNvSpPr>
            <a:spLocks noChangeArrowheads="1"/>
          </p:cNvSpPr>
          <p:nvPr/>
        </p:nvSpPr>
        <p:spPr bwMode="auto">
          <a:xfrm>
            <a:off x="3200400" y="381000"/>
            <a:ext cx="1828800" cy="707886"/>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pitchFamily="34" charset="0"/>
                <a:cs typeface="Arial" pitchFamily="34" charset="0"/>
              </a:rPr>
              <a:t>Vitamin B</a:t>
            </a:r>
            <a:r>
              <a:rPr kumimoji="0" lang="en-US" sz="2100" b="1" i="0" u="none" strike="noStrike" cap="none" normalizeH="0" baseline="-30000" dirty="0">
                <a:ln>
                  <a:noFill/>
                </a:ln>
                <a:solidFill>
                  <a:schemeClr val="tx1"/>
                </a:solidFill>
                <a:effectLst/>
                <a:latin typeface="Arial" pitchFamily="34" charset="0"/>
                <a:cs typeface="Arial" pitchFamily="34" charset="0"/>
              </a:rPr>
              <a:t>12</a:t>
            </a:r>
            <a:endParaRPr kumimoji="0" lang="en-US" sz="2200"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 name="Rectangle 3"/>
          <p:cNvSpPr/>
          <p:nvPr/>
        </p:nvSpPr>
        <p:spPr>
          <a:xfrm>
            <a:off x="3941618" y="1901884"/>
            <a:ext cx="5181600" cy="35394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800" b="1" dirty="0"/>
              <a:t>Vitamin B</a:t>
            </a:r>
            <a:r>
              <a:rPr lang="en-US" sz="2800" b="1" baseline="-25000" dirty="0"/>
              <a:t>12</a:t>
            </a:r>
            <a:r>
              <a:rPr lang="en-US" sz="2800" dirty="0"/>
              <a:t>, </a:t>
            </a:r>
            <a:r>
              <a:rPr lang="en-US" sz="2800" b="1" dirty="0"/>
              <a:t>vitamin B12</a:t>
            </a:r>
            <a:r>
              <a:rPr lang="en-US" sz="2800" dirty="0"/>
              <a:t> or </a:t>
            </a:r>
            <a:r>
              <a:rPr lang="en-US" sz="2800" b="1" dirty="0"/>
              <a:t>vitamin B-12</a:t>
            </a:r>
            <a:r>
              <a:rPr lang="en-US" sz="2800" dirty="0"/>
              <a:t>, also called </a:t>
            </a:r>
            <a:r>
              <a:rPr lang="en-US" sz="2800" b="1" dirty="0" err="1"/>
              <a:t>cobalamin</a:t>
            </a:r>
            <a:r>
              <a:rPr lang="en-US" sz="2800" dirty="0"/>
              <a:t>, is a water soluble </a:t>
            </a:r>
            <a:r>
              <a:rPr lang="en-US" sz="2800" dirty="0">
                <a:hlinkClick r:id="rId3" tooltip="Vitamin"/>
              </a:rPr>
              <a:t>vitamin</a:t>
            </a:r>
            <a:r>
              <a:rPr lang="en-US" sz="2800" dirty="0"/>
              <a:t> with a key role in the normal functioning of the </a:t>
            </a:r>
            <a:r>
              <a:rPr lang="en-US" sz="2800" dirty="0">
                <a:hlinkClick r:id="rId4" tooltip="Brain"/>
              </a:rPr>
              <a:t>brain</a:t>
            </a:r>
            <a:r>
              <a:rPr lang="en-US" sz="2800" dirty="0"/>
              <a:t> and </a:t>
            </a:r>
            <a:r>
              <a:rPr lang="en-US" sz="2800" dirty="0">
                <a:hlinkClick r:id="rId5" tooltip="Nervous system"/>
              </a:rPr>
              <a:t>nervous system</a:t>
            </a:r>
            <a:r>
              <a:rPr lang="en-US" sz="2800" dirty="0"/>
              <a:t>, and for the formation of </a:t>
            </a:r>
            <a:r>
              <a:rPr lang="en-US" sz="2800" dirty="0">
                <a:hlinkClick r:id="rId6" tooltip="Blood"/>
              </a:rPr>
              <a:t>blood</a:t>
            </a:r>
            <a:r>
              <a:rPr lang="en-US" sz="2800" dirty="0"/>
              <a:t>. It is one of the eight </a:t>
            </a:r>
            <a:r>
              <a:rPr lang="en-US" sz="2800" dirty="0">
                <a:hlinkClick r:id="rId7" tooltip="B vitamins"/>
              </a:rPr>
              <a:t>B vitamins</a:t>
            </a:r>
            <a:r>
              <a:rPr lang="en-US" sz="2800" dirty="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600200" y="1371600"/>
            <a:ext cx="5638800" cy="4939414"/>
          </a:xfrm>
          <a:prstGeom prst="rect">
            <a:avLst/>
          </a:prstGeom>
          <a:ln>
            <a:headEnd/>
            <a:tailEnd/>
          </a:ln>
        </p:spPr>
        <p:style>
          <a:lnRef idx="1">
            <a:schemeClr val="accent6"/>
          </a:lnRef>
          <a:fillRef idx="2">
            <a:schemeClr val="accent6"/>
          </a:fillRef>
          <a:effectRef idx="1">
            <a:schemeClr val="accent6"/>
          </a:effectRef>
          <a:fontRef idx="minor">
            <a:schemeClr val="dk1"/>
          </a:fontRef>
        </p:style>
      </p:pic>
      <p:sp>
        <p:nvSpPr>
          <p:cNvPr id="3" name="TextBox 2"/>
          <p:cNvSpPr txBox="1"/>
          <p:nvPr/>
        </p:nvSpPr>
        <p:spPr>
          <a:xfrm>
            <a:off x="2438400" y="304800"/>
            <a:ext cx="3828549" cy="769441"/>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4400" dirty="0">
                <a:solidFill>
                  <a:srgbClr val="7030A0"/>
                </a:solidFill>
              </a:rPr>
              <a:t>Flow of Oxygen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534400" cy="6324600"/>
          </a:xfrm>
        </p:spPr>
        <p:style>
          <a:lnRef idx="1">
            <a:schemeClr val="accent3"/>
          </a:lnRef>
          <a:fillRef idx="2">
            <a:schemeClr val="accent3"/>
          </a:fillRef>
          <a:effectRef idx="1">
            <a:schemeClr val="accent3"/>
          </a:effectRef>
          <a:fontRef idx="minor">
            <a:schemeClr val="dk1"/>
          </a:fontRef>
        </p:style>
        <p:txBody>
          <a:bodyPr>
            <a:normAutofit fontScale="55000" lnSpcReduction="20000"/>
          </a:bodyPr>
          <a:lstStyle/>
          <a:p>
            <a:r>
              <a:rPr lang="en-US" dirty="0">
                <a:solidFill>
                  <a:srgbClr val="FF0000"/>
                </a:solidFill>
              </a:rPr>
              <a:t>The oxygen dissociation curve is a graph that shows the percent saturation of hemoglobin at various partial pressures of oxygen. </a:t>
            </a:r>
          </a:p>
          <a:p>
            <a:endParaRPr lang="en-US" dirty="0"/>
          </a:p>
          <a:p>
            <a:pPr>
              <a:buNone/>
            </a:pPr>
            <a:r>
              <a:rPr lang="en-US" dirty="0"/>
              <a:t>1</a:t>
            </a:r>
            <a:r>
              <a:rPr lang="en-US" dirty="0">
                <a:solidFill>
                  <a:srgbClr val="7030A0"/>
                </a:solidFill>
              </a:rPr>
              <a:t>.  Commonly a curve may be expressed with the P</a:t>
            </a:r>
            <a:r>
              <a:rPr lang="en-US" baseline="-25000" dirty="0">
                <a:solidFill>
                  <a:srgbClr val="7030A0"/>
                </a:solidFill>
              </a:rPr>
              <a:t>50</a:t>
            </a:r>
            <a:r>
              <a:rPr lang="en-US" dirty="0">
                <a:solidFill>
                  <a:srgbClr val="7030A0"/>
                </a:solidFill>
              </a:rPr>
              <a:t> value.  This is a value which tells the pressure at which the erythrocytes are fifty percent saturated with oxygen. </a:t>
            </a:r>
          </a:p>
          <a:p>
            <a:endParaRPr lang="en-US" dirty="0">
              <a:solidFill>
                <a:srgbClr val="7030A0"/>
              </a:solidFill>
            </a:endParaRPr>
          </a:p>
          <a:p>
            <a:pPr>
              <a:buNone/>
            </a:pPr>
            <a:r>
              <a:rPr lang="en-US" dirty="0"/>
              <a:t>2. 	The partial pressure of oxygen in the blood at which the hemoglobin is 50% saturated, typically about 26.6 mmHg for a healthy person, is known as the P</a:t>
            </a:r>
            <a:r>
              <a:rPr lang="en-US" baseline="-25000" dirty="0"/>
              <a:t>50</a:t>
            </a:r>
            <a:r>
              <a:rPr lang="en-US" dirty="0"/>
              <a:t>. The P</a:t>
            </a:r>
            <a:r>
              <a:rPr lang="en-US" baseline="-25000" dirty="0"/>
              <a:t>50</a:t>
            </a:r>
            <a:r>
              <a:rPr lang="en-US" dirty="0"/>
              <a:t> is a conventional measure of hemoglobin affinity for oxygen.</a:t>
            </a:r>
            <a:endParaRPr lang="en-US" dirty="0">
              <a:solidFill>
                <a:srgbClr val="7030A0"/>
              </a:solidFill>
            </a:endParaRPr>
          </a:p>
          <a:p>
            <a:pPr>
              <a:buNone/>
            </a:pPr>
            <a:r>
              <a:rPr lang="en-US" dirty="0">
                <a:solidFill>
                  <a:srgbClr val="7030A0"/>
                </a:solidFill>
              </a:rPr>
              <a:t>3.   The purpose of an oxygen dissociation curve is to show the equilibrium of </a:t>
            </a:r>
            <a:r>
              <a:rPr lang="en-US" dirty="0" err="1">
                <a:solidFill>
                  <a:srgbClr val="7030A0"/>
                </a:solidFill>
              </a:rPr>
              <a:t>oxyhemoglobin</a:t>
            </a:r>
            <a:r>
              <a:rPr lang="en-US" dirty="0">
                <a:solidFill>
                  <a:srgbClr val="7030A0"/>
                </a:solidFill>
              </a:rPr>
              <a:t> and </a:t>
            </a:r>
            <a:r>
              <a:rPr lang="en-US" dirty="0" err="1">
                <a:solidFill>
                  <a:srgbClr val="7030A0"/>
                </a:solidFill>
              </a:rPr>
              <a:t>nonbonded</a:t>
            </a:r>
            <a:r>
              <a:rPr lang="en-US" dirty="0">
                <a:solidFill>
                  <a:srgbClr val="7030A0"/>
                </a:solidFill>
              </a:rPr>
              <a:t> hemoglobin at various partial pressures (Oxygen Dissociation Curve).</a:t>
            </a:r>
          </a:p>
          <a:p>
            <a:pPr>
              <a:buNone/>
            </a:pPr>
            <a:r>
              <a:rPr lang="en-US" dirty="0">
                <a:solidFill>
                  <a:srgbClr val="7030A0"/>
                </a:solidFill>
              </a:rPr>
              <a:t>4  	 At high partial pressures of oxygen, usually in the lungs, hemoglobin binds to oxygen to form </a:t>
            </a:r>
            <a:r>
              <a:rPr lang="en-US" dirty="0" err="1">
                <a:solidFill>
                  <a:srgbClr val="7030A0"/>
                </a:solidFill>
              </a:rPr>
              <a:t>oxyhemoglobin</a:t>
            </a:r>
            <a:r>
              <a:rPr lang="en-US" dirty="0">
                <a:solidFill>
                  <a:srgbClr val="7030A0"/>
                </a:solidFill>
              </a:rPr>
              <a:t>.  When the blood is fully saturated all the erythrocytes are in the form of </a:t>
            </a:r>
            <a:r>
              <a:rPr lang="en-US" dirty="0" err="1">
                <a:solidFill>
                  <a:srgbClr val="7030A0"/>
                </a:solidFill>
              </a:rPr>
              <a:t>oxyhemoglobin</a:t>
            </a:r>
            <a:r>
              <a:rPr lang="en-US" dirty="0">
                <a:solidFill>
                  <a:srgbClr val="7030A0"/>
                </a:solidFill>
              </a:rPr>
              <a:t>. </a:t>
            </a:r>
          </a:p>
          <a:p>
            <a:pPr marL="514350" indent="-514350">
              <a:buNone/>
            </a:pPr>
            <a:r>
              <a:rPr lang="en-US" dirty="0">
                <a:solidFill>
                  <a:srgbClr val="7030A0"/>
                </a:solidFill>
              </a:rPr>
              <a:t>5. 	As the erythrocytes travel to tissues deprived of oxygen the partial pressure of oxygen will decrease.  Consequently, the </a:t>
            </a:r>
            <a:r>
              <a:rPr lang="en-US" dirty="0" err="1">
                <a:solidFill>
                  <a:srgbClr val="7030A0"/>
                </a:solidFill>
              </a:rPr>
              <a:t>oxyhemoglobin</a:t>
            </a:r>
            <a:r>
              <a:rPr lang="en-US" dirty="0">
                <a:solidFill>
                  <a:srgbClr val="7030A0"/>
                </a:solidFill>
              </a:rPr>
              <a:t> releases the oxygen to form hemoglobin.   </a:t>
            </a:r>
          </a:p>
          <a:p>
            <a:pPr marL="514350" indent="-514350">
              <a:buNone/>
            </a:pPr>
            <a:r>
              <a:rPr lang="en-US" dirty="0">
                <a:solidFill>
                  <a:srgbClr val="7030A0"/>
                </a:solidFill>
              </a:rPr>
              <a:t>6. 	The sigmoid shape of the oxygen dissociation curve is a result of the cooperative binding of oxygen to the four polypeptide chains. </a:t>
            </a:r>
          </a:p>
          <a:p>
            <a:pPr marL="514350" indent="-514350">
              <a:buNone/>
            </a:pPr>
            <a:r>
              <a:rPr lang="en-US" dirty="0">
                <a:solidFill>
                  <a:srgbClr val="7030A0"/>
                </a:solidFill>
              </a:rPr>
              <a:t>7.	 Cooperative binding is the characteristic of a hemoglobin to have a greater ability to bind oxygen after a subunit has bound oxygen. </a:t>
            </a:r>
          </a:p>
          <a:p>
            <a:pPr marL="514350" indent="-514350">
              <a:buNone/>
            </a:pPr>
            <a:r>
              <a:rPr lang="en-US" dirty="0">
                <a:solidFill>
                  <a:srgbClr val="7030A0"/>
                </a:solidFill>
              </a:rPr>
              <a:t>8. 	Thus, hemoglobin is most attracted to oxygen when three of the four polypeptide chains are bound to oxygen.  </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Oxygen Dissociation Curve</a:t>
            </a:r>
          </a:p>
        </p:txBody>
      </p:sp>
      <p:pic>
        <p:nvPicPr>
          <p:cNvPr id="29698" name="Picture 2"/>
          <p:cNvPicPr>
            <a:picLocks noGrp="1" noChangeAspect="1" noChangeArrowheads="1"/>
          </p:cNvPicPr>
          <p:nvPr>
            <p:ph idx="1"/>
          </p:nvPr>
        </p:nvPicPr>
        <p:blipFill>
          <a:blip r:embed="rId2" cstate="print">
            <a:lum bright="30000" contrast="30000"/>
          </a:blip>
          <a:srcRect/>
          <a:stretch>
            <a:fillRect/>
          </a:stretch>
        </p:blipFill>
        <p:spPr bwMode="auto">
          <a:xfrm>
            <a:off x="1295400" y="1676400"/>
            <a:ext cx="6480699" cy="4572000"/>
          </a:xfrm>
          <a:prstGeom prst="rect">
            <a:avLst/>
          </a:prstGeom>
          <a:noFill/>
          <a:ln w="9525">
            <a:noFill/>
            <a:miter lim="800000"/>
            <a:headEnd/>
            <a:tailEnd/>
          </a:ln>
          <a:effectLst>
            <a:glow rad="101600">
              <a:schemeClr val="accent3">
                <a:satMod val="175000"/>
                <a:alpha val="40000"/>
              </a:schemeClr>
            </a:glow>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b="1" dirty="0"/>
              <a:t>Factors that Influence Oxygen Binding</a:t>
            </a:r>
            <a:r>
              <a:rPr lang="en-US" dirty="0"/>
              <a:t> </a:t>
            </a:r>
            <a:br>
              <a:rPr lang="en-US" dirty="0"/>
            </a:b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normAutofit fontScale="62500" lnSpcReduction="20000"/>
          </a:bodyPr>
          <a:lstStyle/>
          <a:p>
            <a:pPr>
              <a:buNone/>
            </a:pPr>
            <a:r>
              <a:rPr lang="en-US" i="1" dirty="0">
                <a:solidFill>
                  <a:srgbClr val="FF0000"/>
                </a:solidFill>
              </a:rPr>
              <a:t>1</a:t>
            </a:r>
            <a:r>
              <a:rPr lang="en-US" i="1" dirty="0"/>
              <a:t>.</a:t>
            </a:r>
            <a:r>
              <a:rPr lang="en-US" i="1" dirty="0">
                <a:solidFill>
                  <a:srgbClr val="FF0000"/>
                </a:solidFill>
              </a:rPr>
              <a:t>	Temperature</a:t>
            </a:r>
            <a:r>
              <a:rPr lang="en-US" dirty="0">
                <a:solidFill>
                  <a:srgbClr val="FF0000"/>
                </a:solidFill>
              </a:rPr>
              <a:t>- </a:t>
            </a:r>
            <a:r>
              <a:rPr lang="en-US" dirty="0"/>
              <a:t>Increasing the temperature denatures the bond between oxygen and hemoglobin, which increases the amount of oxygen and hemoglobin and decreases the concentration of </a:t>
            </a:r>
            <a:r>
              <a:rPr lang="en-US" dirty="0" err="1"/>
              <a:t>oxyhemoglobin</a:t>
            </a:r>
            <a:r>
              <a:rPr lang="en-US" dirty="0"/>
              <a:t> (Schmidt-Nielsen, 1997).  </a:t>
            </a:r>
            <a:r>
              <a:rPr lang="en-US" dirty="0">
                <a:solidFill>
                  <a:srgbClr val="3333CC"/>
                </a:solidFill>
              </a:rPr>
              <a:t>The dissociation curve shifts to the right.</a:t>
            </a:r>
          </a:p>
          <a:p>
            <a:pPr>
              <a:buNone/>
            </a:pPr>
            <a:endParaRPr lang="en-US" dirty="0"/>
          </a:p>
          <a:p>
            <a:pPr marL="514350" indent="-514350">
              <a:buAutoNum type="arabicPeriod" startAt="2"/>
            </a:pPr>
            <a:r>
              <a:rPr lang="en-US" i="1" dirty="0">
                <a:solidFill>
                  <a:srgbClr val="FF0000"/>
                </a:solidFill>
              </a:rPr>
              <a:t>pH</a:t>
            </a:r>
            <a:r>
              <a:rPr lang="en-US" dirty="0"/>
              <a:t>- A decrease in pH (increase in acidity) by addition of carbon dioxide or other acids causes a </a:t>
            </a:r>
            <a:r>
              <a:rPr lang="en-US" dirty="0">
                <a:solidFill>
                  <a:srgbClr val="3333CC"/>
                </a:solidFill>
              </a:rPr>
              <a:t>Bohr Shift</a:t>
            </a:r>
            <a:r>
              <a:rPr lang="en-US" dirty="0"/>
              <a:t>.  A Bohr. shift is characterized by causing more oxygen to be given up as oxygen pressure increases and it is more pronounced in animals of smaller size due to the increase in sensitivity to acid (Schmidt-Nielsen, 1997).  </a:t>
            </a:r>
            <a:r>
              <a:rPr lang="en-US" dirty="0">
                <a:solidFill>
                  <a:srgbClr val="3333CC"/>
                </a:solidFill>
              </a:rPr>
              <a:t>The dissociation curve shifts to the right.</a:t>
            </a:r>
          </a:p>
          <a:p>
            <a:pPr marL="514350" indent="-514350">
              <a:buAutoNum type="arabicPeriod" startAt="2"/>
            </a:pPr>
            <a:endParaRPr lang="en-US" dirty="0"/>
          </a:p>
          <a:p>
            <a:pPr>
              <a:buNone/>
            </a:pPr>
            <a:r>
              <a:rPr lang="en-US" i="1" dirty="0">
                <a:solidFill>
                  <a:srgbClr val="FF0000"/>
                </a:solidFill>
              </a:rPr>
              <a:t>3.   Organic </a:t>
            </a:r>
            <a:r>
              <a:rPr lang="en-US" i="1" dirty="0" err="1">
                <a:solidFill>
                  <a:srgbClr val="FF0000"/>
                </a:solidFill>
              </a:rPr>
              <a:t>Phospates</a:t>
            </a:r>
            <a:r>
              <a:rPr lang="en-US" dirty="0">
                <a:solidFill>
                  <a:srgbClr val="FF0000"/>
                </a:solidFill>
              </a:rPr>
              <a:t>- </a:t>
            </a:r>
            <a:r>
              <a:rPr lang="en-US" dirty="0"/>
              <a:t>2,3-Diphosphoglycerated (DPG) is the primary organic phosphate in mammals.  DPG binds to hemoglobin which rearranges the hemoglobin into the T-state, thus decreasing the affinity of oxygen for hemoglobin (T and R State).  </a:t>
            </a:r>
            <a:r>
              <a:rPr lang="en-US" dirty="0">
                <a:solidFill>
                  <a:srgbClr val="3333CC"/>
                </a:solidFill>
              </a:rPr>
              <a:t>The curve shifts to the right.</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1524000" y="990600"/>
            <a:ext cx="5210175" cy="5476875"/>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rcRect/>
          <a:stretch>
            <a:fillRect/>
          </a:stretch>
        </p:blipFill>
        <p:spPr bwMode="auto">
          <a:xfrm>
            <a:off x="609600" y="512618"/>
            <a:ext cx="8018022" cy="6019800"/>
          </a:xfrm>
          <a:prstGeom prst="rect">
            <a:avLst/>
          </a:prstGeom>
          <a:ln>
            <a:headEnd/>
            <a:tailEnd/>
          </a:ln>
        </p:spPr>
        <p:style>
          <a:lnRef idx="1">
            <a:schemeClr val="accent3"/>
          </a:lnRef>
          <a:fillRef idx="2">
            <a:schemeClr val="accent3"/>
          </a:fillRef>
          <a:effectRef idx="1">
            <a:schemeClr val="accent3"/>
          </a:effectRef>
          <a:fontRef idx="minor">
            <a:schemeClr val="dk1"/>
          </a:fontRef>
        </p:style>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95400" y="457200"/>
            <a:ext cx="6629400" cy="5029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000" b="1" i="0" u="none" strike="noStrike" kern="1200" cap="none" spc="0" normalizeH="0" baseline="0" noProof="0" dirty="0">
                <a:ln>
                  <a:noFill/>
                </a:ln>
                <a:solidFill>
                  <a:srgbClr val="00B050"/>
                </a:solidFill>
                <a:effectLst/>
                <a:uLnTx/>
                <a:uFillTx/>
                <a:latin typeface="+mn-lt"/>
                <a:ea typeface="+mn-ea"/>
                <a:cs typeface="+mn-cs"/>
              </a:rPr>
              <a:t>Vitamin B</a:t>
            </a:r>
            <a:r>
              <a:rPr kumimoji="0" lang="en-US" sz="4000" b="1" i="0" u="none" strike="noStrike" kern="1200" cap="none" spc="0" normalizeH="0" baseline="-25000" noProof="0" dirty="0">
                <a:ln>
                  <a:noFill/>
                </a:ln>
                <a:solidFill>
                  <a:srgbClr val="00B050"/>
                </a:solidFill>
                <a:effectLst/>
                <a:uLnTx/>
                <a:uFillTx/>
                <a:latin typeface="+mn-lt"/>
                <a:ea typeface="+mn-ea"/>
                <a:cs typeface="+mn-cs"/>
              </a:rPr>
              <a:t>12</a:t>
            </a:r>
            <a:r>
              <a:rPr kumimoji="0" lang="en-US" sz="4000" b="0" i="0" u="none" strike="noStrike" kern="1200" cap="none" spc="0" normalizeH="0" baseline="0" noProof="0" dirty="0">
                <a:ln>
                  <a:noFill/>
                </a:ln>
                <a:solidFill>
                  <a:srgbClr val="00B050"/>
                </a:solidFill>
                <a:effectLst/>
                <a:uLnTx/>
                <a:uFillTx/>
                <a:latin typeface="+mn-lt"/>
                <a:ea typeface="+mn-ea"/>
                <a:cs typeface="+mn-cs"/>
              </a:rPr>
              <a:t>, </a:t>
            </a:r>
            <a:r>
              <a:rPr kumimoji="0" lang="en-US" sz="4000" b="1" i="0" u="none" strike="noStrike" kern="1200" cap="none" spc="0" normalizeH="0" baseline="0" noProof="0" dirty="0">
                <a:ln>
                  <a:noFill/>
                </a:ln>
                <a:solidFill>
                  <a:srgbClr val="00B050"/>
                </a:solidFill>
                <a:effectLst/>
                <a:uLnTx/>
                <a:uFillTx/>
                <a:latin typeface="+mn-lt"/>
                <a:ea typeface="+mn-ea"/>
                <a:cs typeface="+mn-cs"/>
              </a:rPr>
              <a:t>vitamin B12</a:t>
            </a:r>
            <a:r>
              <a:rPr kumimoji="0" lang="en-US" sz="4000" b="0" i="0" u="none" strike="noStrike" kern="1200" cap="none" spc="0" normalizeH="0" baseline="0" noProof="0" dirty="0">
                <a:ln>
                  <a:noFill/>
                </a:ln>
                <a:solidFill>
                  <a:srgbClr val="00B050"/>
                </a:solidFill>
                <a:effectLst/>
                <a:uLnTx/>
                <a:uFillTx/>
                <a:latin typeface="+mn-lt"/>
                <a:ea typeface="+mn-ea"/>
                <a:cs typeface="+mn-cs"/>
              </a:rPr>
              <a:t> or </a:t>
            </a:r>
            <a:r>
              <a:rPr kumimoji="0" lang="en-US" sz="4000" b="1" i="0" u="none" strike="noStrike" kern="1200" cap="none" spc="0" normalizeH="0" baseline="0" noProof="0" dirty="0">
                <a:ln>
                  <a:noFill/>
                </a:ln>
                <a:solidFill>
                  <a:srgbClr val="00B050"/>
                </a:solidFill>
                <a:effectLst/>
                <a:uLnTx/>
                <a:uFillTx/>
                <a:latin typeface="+mn-lt"/>
                <a:ea typeface="+mn-ea"/>
                <a:cs typeface="+mn-cs"/>
              </a:rPr>
              <a:t>vitamin B-12</a:t>
            </a:r>
            <a:r>
              <a:rPr kumimoji="0" lang="en-US" sz="4000" b="0" i="0" u="none" strike="noStrike" kern="1200" cap="none" spc="0" normalizeH="0" baseline="0" noProof="0" dirty="0">
                <a:ln>
                  <a:noFill/>
                </a:ln>
                <a:solidFill>
                  <a:srgbClr val="00B050"/>
                </a:solidFill>
                <a:effectLst/>
                <a:uLnTx/>
                <a:uFillTx/>
                <a:latin typeface="+mn-lt"/>
                <a:ea typeface="+mn-ea"/>
                <a:cs typeface="+mn-cs"/>
              </a:rPr>
              <a:t>, also called </a:t>
            </a:r>
            <a:r>
              <a:rPr kumimoji="0" lang="en-US" sz="4000" b="1" i="0" u="none" strike="noStrike" kern="1200" cap="none" spc="0" normalizeH="0" baseline="0" noProof="0" dirty="0" err="1">
                <a:ln>
                  <a:noFill/>
                </a:ln>
                <a:solidFill>
                  <a:srgbClr val="00B050"/>
                </a:solidFill>
                <a:effectLst/>
                <a:uLnTx/>
                <a:uFillTx/>
                <a:latin typeface="+mn-lt"/>
                <a:ea typeface="+mn-ea"/>
                <a:cs typeface="+mn-cs"/>
              </a:rPr>
              <a:t>cobalamin</a:t>
            </a:r>
            <a:r>
              <a:rPr kumimoji="0" lang="en-US" sz="4000" b="0" i="0" u="none" strike="noStrike" kern="1200" cap="none" spc="0" normalizeH="0" baseline="0" noProof="0" dirty="0">
                <a:ln>
                  <a:noFill/>
                </a:ln>
                <a:solidFill>
                  <a:schemeClr val="tx1"/>
                </a:solidFill>
                <a:effectLst/>
                <a:uLnTx/>
                <a:uFillTx/>
                <a:latin typeface="+mn-lt"/>
                <a:ea typeface="+mn-ea"/>
                <a:cs typeface="+mn-cs"/>
              </a:rPr>
              <a:t>, is a water-soluble vitamin </a:t>
            </a:r>
            <a:r>
              <a:rPr kumimoji="0" lang="en-US" sz="4400" b="0" i="0" u="none" strike="noStrike" kern="1200" cap="none" spc="0" normalizeH="0" baseline="0" noProof="0" dirty="0">
                <a:ln>
                  <a:noFill/>
                </a:ln>
                <a:solidFill>
                  <a:schemeClr val="tx1"/>
                </a:solidFill>
                <a:effectLst/>
                <a:uLnTx/>
                <a:uFillTx/>
                <a:latin typeface="+mn-lt"/>
                <a:ea typeface="+mn-ea"/>
                <a:cs typeface="+mn-cs"/>
              </a:rPr>
              <a:t>with</a:t>
            </a:r>
            <a:r>
              <a:rPr kumimoji="0" lang="en-US" sz="4000" b="0" i="0" u="none" strike="noStrike" kern="1200" cap="none" spc="0" normalizeH="0" baseline="0" noProof="0" dirty="0">
                <a:ln>
                  <a:noFill/>
                </a:ln>
                <a:solidFill>
                  <a:schemeClr val="tx1"/>
                </a:solidFill>
                <a:effectLst/>
                <a:uLnTx/>
                <a:uFillTx/>
                <a:latin typeface="+mn-lt"/>
                <a:ea typeface="+mn-ea"/>
                <a:cs typeface="+mn-cs"/>
              </a:rPr>
              <a:t> a key role in the normal functioning of the </a:t>
            </a:r>
            <a:r>
              <a:rPr kumimoji="0" lang="en-US" sz="4000" b="0" i="0" u="none" strike="noStrike" kern="1200" cap="none" spc="0" normalizeH="0" baseline="0" noProof="0" dirty="0">
                <a:ln>
                  <a:noFill/>
                </a:ln>
                <a:solidFill>
                  <a:schemeClr val="tx1"/>
                </a:solidFill>
                <a:effectLst/>
                <a:uLnTx/>
                <a:uFillTx/>
                <a:latin typeface="+mn-lt"/>
                <a:ea typeface="+mn-ea"/>
                <a:cs typeface="+mn-cs"/>
                <a:hlinkClick r:id="rId2" tooltip="Brain"/>
              </a:rPr>
              <a:t>brain</a:t>
            </a:r>
            <a:r>
              <a:rPr kumimoji="0" lang="en-US" sz="4000" b="0" i="0" u="none" strike="noStrike" kern="1200" cap="none" spc="0" normalizeH="0" baseline="0" noProof="0" dirty="0">
                <a:ln>
                  <a:noFill/>
                </a:ln>
                <a:solidFill>
                  <a:schemeClr val="tx1"/>
                </a:solidFill>
                <a:effectLst/>
                <a:uLnTx/>
                <a:uFillTx/>
                <a:latin typeface="+mn-lt"/>
                <a:ea typeface="+mn-ea"/>
                <a:cs typeface="+mn-cs"/>
              </a:rPr>
              <a:t> and </a:t>
            </a:r>
            <a:r>
              <a:rPr kumimoji="0" lang="en-US" sz="4000" b="0" i="0" u="none" strike="noStrike" kern="1200" cap="none" spc="0" normalizeH="0" baseline="0" noProof="0" dirty="0">
                <a:ln>
                  <a:noFill/>
                </a:ln>
                <a:solidFill>
                  <a:schemeClr val="tx1"/>
                </a:solidFill>
                <a:effectLst/>
                <a:uLnTx/>
                <a:uFillTx/>
                <a:latin typeface="+mn-lt"/>
                <a:ea typeface="+mn-ea"/>
                <a:cs typeface="+mn-cs"/>
                <a:hlinkClick r:id="rId3" tooltip="Nervous system"/>
              </a:rPr>
              <a:t>nervous system</a:t>
            </a:r>
            <a:r>
              <a:rPr kumimoji="0" lang="en-US" sz="4000" b="0" i="0" u="none" strike="noStrike" kern="1200" cap="none" spc="0" normalizeH="0" baseline="0" noProof="0" dirty="0">
                <a:ln>
                  <a:noFill/>
                </a:ln>
                <a:solidFill>
                  <a:schemeClr val="tx1"/>
                </a:solidFill>
                <a:effectLst/>
                <a:uLnTx/>
                <a:uFillTx/>
                <a:latin typeface="+mn-lt"/>
                <a:ea typeface="+mn-ea"/>
                <a:cs typeface="+mn-cs"/>
              </a:rPr>
              <a:t>, and for the formation of </a:t>
            </a:r>
            <a:r>
              <a:rPr kumimoji="0" lang="en-US" sz="4000" b="0" i="0" u="none" strike="noStrike" kern="1200" cap="none" spc="0" normalizeH="0" baseline="0" noProof="0" dirty="0">
                <a:ln>
                  <a:noFill/>
                </a:ln>
                <a:solidFill>
                  <a:schemeClr val="tx1"/>
                </a:solidFill>
                <a:effectLst/>
                <a:uLnTx/>
                <a:uFillTx/>
                <a:latin typeface="+mn-lt"/>
                <a:ea typeface="+mn-ea"/>
                <a:cs typeface="+mn-cs"/>
                <a:hlinkClick r:id="rId4" tooltip="Blood"/>
              </a:rPr>
              <a:t>blood</a:t>
            </a:r>
            <a:r>
              <a:rPr kumimoji="0" lang="en-US" sz="4000" b="0" i="0" u="none" strike="noStrike" kern="1200" cap="none" spc="0" normalizeH="0" baseline="0" noProof="0" dirty="0">
                <a:ln>
                  <a:noFill/>
                </a:ln>
                <a:solidFill>
                  <a:schemeClr val="tx1"/>
                </a:solidFill>
                <a:effectLst/>
                <a:uLnTx/>
                <a:uFillTx/>
                <a:latin typeface="+mn-lt"/>
                <a:ea typeface="+mn-ea"/>
                <a:cs typeface="+mn-cs"/>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8915400" cy="655564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1400" b="1" dirty="0">
                <a:solidFill>
                  <a:srgbClr val="FF0000"/>
                </a:solidFill>
              </a:rPr>
              <a:t>List of vitamins</a:t>
            </a:r>
          </a:p>
          <a:p>
            <a:r>
              <a:rPr lang="en-US" sz="1400" b="1" dirty="0"/>
              <a:t>Vitamin A</a:t>
            </a:r>
            <a:r>
              <a:rPr lang="en-US" sz="1400" dirty="0"/>
              <a:t>.</a:t>
            </a:r>
          </a:p>
          <a:p>
            <a:r>
              <a:rPr lang="en-US" sz="1400" dirty="0"/>
              <a:t> Deficiency may cause night-blindness and eye disorder . Good sources - liver, cod liver oil, carrot, broccoli, sweet potato, butter, kale, spinach, pumpkin, collard greens, some cheeses, egg, apricot, cantaloupe melon, milk.</a:t>
            </a:r>
          </a:p>
          <a:p>
            <a:r>
              <a:rPr lang="en-US" sz="1400" b="1" dirty="0"/>
              <a:t>Vitamin B</a:t>
            </a:r>
            <a:r>
              <a:rPr lang="en-US" sz="1400" b="1" baseline="-25000" dirty="0"/>
              <a:t>1</a:t>
            </a:r>
            <a:r>
              <a:rPr lang="en-US" sz="1400" b="1" dirty="0"/>
              <a:t>.</a:t>
            </a:r>
            <a:br>
              <a:rPr lang="en-US" sz="1400" dirty="0"/>
            </a:br>
            <a:r>
              <a:rPr lang="en-US" sz="1400" dirty="0"/>
              <a:t>Chemical name (</a:t>
            </a:r>
            <a:r>
              <a:rPr lang="en-US" sz="1400" dirty="0" err="1"/>
              <a:t>vitaminer</a:t>
            </a:r>
            <a:r>
              <a:rPr lang="en-US" sz="1400" dirty="0"/>
              <a:t>) – thiamine. Water soluble.  Deficiency may cause beriberi, Good sources - yeast, pork, cereal grains, sunflower seeds, brown rice, whole grain rye, asparagus, kale, cauliflower, potatoes, oranges, liver, and eggs.</a:t>
            </a:r>
          </a:p>
          <a:p>
            <a:r>
              <a:rPr lang="en-US" sz="1400" b="1" dirty="0"/>
              <a:t>Vitamin B</a:t>
            </a:r>
            <a:r>
              <a:rPr lang="en-US" sz="1400" b="1" baseline="-25000" dirty="0"/>
              <a:t>2</a:t>
            </a:r>
            <a:r>
              <a:rPr lang="en-US" sz="1400" dirty="0"/>
              <a:t>.</a:t>
            </a:r>
            <a:br>
              <a:rPr lang="en-US" sz="1400" dirty="0"/>
            </a:br>
            <a:r>
              <a:rPr lang="en-US" sz="1400" dirty="0"/>
              <a:t>Chemical name (</a:t>
            </a:r>
            <a:r>
              <a:rPr lang="en-US" sz="1400" dirty="0" err="1"/>
              <a:t>vitaminer</a:t>
            </a:r>
            <a:r>
              <a:rPr lang="en-US" sz="1400" dirty="0"/>
              <a:t>) – riboflavin. Water soluble.  Deficiency may cause </a:t>
            </a:r>
            <a:r>
              <a:rPr lang="en-US" sz="1400" dirty="0" err="1"/>
              <a:t>ariboflavinosis</a:t>
            </a:r>
            <a:r>
              <a:rPr lang="en-US" sz="1400" dirty="0"/>
              <a:t> Good sources - asparagus, bananas, persimmons, okra, chard, cottage cheese, milk, yogurt, meat, eggs, fish, and green beans.</a:t>
            </a:r>
          </a:p>
          <a:p>
            <a:r>
              <a:rPr lang="en-US" sz="1400" b="1" dirty="0"/>
              <a:t>Vitamin B</a:t>
            </a:r>
            <a:r>
              <a:rPr lang="en-US" sz="1400" b="1" baseline="-25000" dirty="0"/>
              <a:t>3</a:t>
            </a:r>
            <a:r>
              <a:rPr lang="en-US" sz="1400" dirty="0"/>
              <a:t>.</a:t>
            </a:r>
            <a:br>
              <a:rPr lang="en-US" sz="1400" dirty="0"/>
            </a:br>
            <a:r>
              <a:rPr lang="en-US" sz="1400" dirty="0"/>
              <a:t>Chemical names (</a:t>
            </a:r>
            <a:r>
              <a:rPr lang="en-US" sz="1400" dirty="0" err="1"/>
              <a:t>vitaminer</a:t>
            </a:r>
            <a:r>
              <a:rPr lang="en-US" sz="1400" dirty="0"/>
              <a:t>) - niacin, </a:t>
            </a:r>
            <a:r>
              <a:rPr lang="en-US" sz="1400" dirty="0" err="1"/>
              <a:t>niacinamide</a:t>
            </a:r>
            <a:r>
              <a:rPr lang="en-US" sz="1400" dirty="0"/>
              <a:t> Water soluble. Deficiency may cause pellagra. Good sources - liver, heart, kidney, chicken, beef, fish (tuna, salmon), milk, eggs, avocados, dates, tomatoes, leafy vegetables, broccoli, carrots, sweet potatoes, asparagus, nuts, whole grains, legumes, mushrooms, and brewer's yeast.</a:t>
            </a:r>
          </a:p>
          <a:p>
            <a:r>
              <a:rPr lang="en-US" sz="1400" b="1" dirty="0"/>
              <a:t>Vitamin B</a:t>
            </a:r>
            <a:r>
              <a:rPr lang="en-US" sz="1400" b="1" baseline="-25000" dirty="0"/>
              <a:t>5</a:t>
            </a:r>
            <a:r>
              <a:rPr lang="en-US" sz="1400" dirty="0"/>
              <a:t>.</a:t>
            </a:r>
            <a:br>
              <a:rPr lang="en-US" sz="1400" dirty="0"/>
            </a:br>
            <a:r>
              <a:rPr lang="en-US" sz="1400" dirty="0"/>
              <a:t>Chemical name (</a:t>
            </a:r>
            <a:r>
              <a:rPr lang="en-US" sz="1400" dirty="0" err="1"/>
              <a:t>vitaminer</a:t>
            </a:r>
            <a:r>
              <a:rPr lang="en-US" sz="1400" dirty="0"/>
              <a:t>) - </a:t>
            </a:r>
            <a:r>
              <a:rPr lang="en-US" sz="1400" dirty="0" err="1"/>
              <a:t>pantothenic</a:t>
            </a:r>
            <a:r>
              <a:rPr lang="en-US" sz="1400" dirty="0"/>
              <a:t> acid. Water soluble. </a:t>
            </a:r>
            <a:br>
              <a:rPr lang="en-US" sz="1400" dirty="0"/>
            </a:br>
            <a:r>
              <a:rPr lang="en-US" sz="1400" dirty="0"/>
              <a:t>Deficiency may cause </a:t>
            </a:r>
            <a:r>
              <a:rPr lang="en-US" sz="1400" dirty="0" err="1"/>
              <a:t>paresthesia</a:t>
            </a:r>
            <a:r>
              <a:rPr lang="en-US" sz="1400" dirty="0"/>
              <a:t>. Good sources - meats, whole grains (milling may remove it), broccoli, avocados, royal jelly, fish ovaries.</a:t>
            </a:r>
          </a:p>
          <a:p>
            <a:r>
              <a:rPr lang="en-US" sz="1400" b="1" dirty="0"/>
              <a:t>Vitamin B</a:t>
            </a:r>
            <a:r>
              <a:rPr lang="en-US" sz="1400" b="1" baseline="-25000" dirty="0"/>
              <a:t>6</a:t>
            </a:r>
            <a:r>
              <a:rPr lang="en-US" sz="1400" dirty="0"/>
              <a:t>.</a:t>
            </a:r>
            <a:br>
              <a:rPr lang="en-US" sz="1400" dirty="0"/>
            </a:br>
            <a:r>
              <a:rPr lang="en-US" sz="1400" dirty="0"/>
              <a:t>Chemical names (</a:t>
            </a:r>
            <a:r>
              <a:rPr lang="en-US" sz="1400" dirty="0" err="1"/>
              <a:t>vitaminer</a:t>
            </a:r>
            <a:r>
              <a:rPr lang="en-US" sz="1400" dirty="0"/>
              <a:t>) - pyridoxine, </a:t>
            </a:r>
            <a:r>
              <a:rPr lang="en-US" sz="1400" dirty="0" err="1"/>
              <a:t>pyridoxamine</a:t>
            </a:r>
            <a:r>
              <a:rPr lang="en-US" sz="1400" dirty="0"/>
              <a:t>, </a:t>
            </a:r>
            <a:r>
              <a:rPr lang="en-US" sz="1400" dirty="0" err="1"/>
              <a:t>pyridoxal</a:t>
            </a:r>
            <a:r>
              <a:rPr lang="en-US" sz="1400" dirty="0"/>
              <a:t>. Water soluble. </a:t>
            </a:r>
            <a:br>
              <a:rPr lang="en-US" sz="1400" dirty="0"/>
            </a:br>
            <a:r>
              <a:rPr lang="en-US" sz="1400" dirty="0"/>
              <a:t>Deficiency may cause </a:t>
            </a:r>
            <a:r>
              <a:rPr lang="en-US" sz="1400" dirty="0">
                <a:hlinkClick r:id="rId2" tooltip="What Is Anemia? What Causes Anemia?"/>
              </a:rPr>
              <a:t>anemia</a:t>
            </a:r>
            <a:r>
              <a:rPr lang="en-US" sz="1400" dirty="0"/>
              <a:t>, peripheral </a:t>
            </a:r>
            <a:r>
              <a:rPr lang="en-US" sz="1400" dirty="0">
                <a:hlinkClick r:id="rId3" tooltip="What Is Neuropathy? Neuropathy Causes And Treatments"/>
              </a:rPr>
              <a:t>neuropathy</a:t>
            </a:r>
            <a:r>
              <a:rPr lang="en-US" sz="1400" dirty="0"/>
              <a:t>. Good sources - meats, bananas, whole grains, vegetables, and nuts. When milk is dried it loses about half of its B</a:t>
            </a:r>
            <a:r>
              <a:rPr lang="en-US" sz="1400" baseline="-25000" dirty="0"/>
              <a:t>6</a:t>
            </a:r>
            <a:r>
              <a:rPr lang="en-US" sz="1400" dirty="0"/>
              <a:t>. Freezing and canning can also reduce content.</a:t>
            </a:r>
          </a:p>
          <a:p>
            <a:r>
              <a:rPr lang="en-US" sz="1400" b="1" dirty="0"/>
              <a:t>Vitamin B</a:t>
            </a:r>
            <a:r>
              <a:rPr lang="en-US" sz="1400" b="1" baseline="-25000" dirty="0"/>
              <a:t>7</a:t>
            </a:r>
            <a:r>
              <a:rPr lang="en-US" sz="1400" dirty="0"/>
              <a:t>.</a:t>
            </a:r>
            <a:br>
              <a:rPr lang="en-US" sz="1400" dirty="0"/>
            </a:br>
            <a:r>
              <a:rPr lang="en-US" sz="1400" dirty="0"/>
              <a:t>Chemical name (</a:t>
            </a:r>
            <a:r>
              <a:rPr lang="en-US" sz="1400" dirty="0" err="1"/>
              <a:t>vitaminer</a:t>
            </a:r>
            <a:r>
              <a:rPr lang="en-US" sz="1400" dirty="0"/>
              <a:t>) – biotin. Water soluble. Deficiency may cause dermatitis, enteritis. Good sources - egg yolk, liver, some vegetables.</a:t>
            </a:r>
          </a:p>
          <a:p>
            <a:r>
              <a:rPr lang="en-US" sz="1400" b="1" dirty="0"/>
              <a:t>Vitamin B</a:t>
            </a:r>
            <a:r>
              <a:rPr lang="en-US" sz="1400" b="1" baseline="-25000" dirty="0"/>
              <a:t>9</a:t>
            </a:r>
            <a:r>
              <a:rPr lang="en-US" sz="1400" dirty="0"/>
              <a:t>.</a:t>
            </a:r>
            <a:br>
              <a:rPr lang="en-US" sz="1400" dirty="0"/>
            </a:br>
            <a:r>
              <a:rPr lang="en-US" sz="1400" dirty="0"/>
              <a:t>Chemical names (</a:t>
            </a:r>
            <a:r>
              <a:rPr lang="en-US" sz="1400" dirty="0" err="1"/>
              <a:t>vitaminer</a:t>
            </a:r>
            <a:r>
              <a:rPr lang="en-US" sz="1400" dirty="0"/>
              <a:t>) - </a:t>
            </a:r>
            <a:r>
              <a:rPr lang="en-US" sz="1400" dirty="0">
                <a:hlinkClick r:id="rId4" tooltip="What Is Folic Acid? What Is Vitamin B9?"/>
              </a:rPr>
              <a:t>folic acid</a:t>
            </a:r>
            <a:r>
              <a:rPr lang="en-US" sz="1400" dirty="0"/>
              <a:t>, </a:t>
            </a:r>
            <a:r>
              <a:rPr lang="en-US" sz="1400" dirty="0" err="1"/>
              <a:t>folinic</a:t>
            </a:r>
            <a:r>
              <a:rPr lang="en-US" sz="1400" dirty="0"/>
              <a:t> acid. Water soluble.  Deficiency may cause pregnancy deficiency linked to birth defects</a:t>
            </a:r>
            <a:br>
              <a:rPr lang="en-US" sz="1400" dirty="0"/>
            </a:br>
            <a:r>
              <a:rPr lang="en-US" sz="1400" dirty="0"/>
              <a:t>Good sources - leafy vegetables, legumes, liver, baker's yeast, some fortified grain products, sunflower seeds. Several fruits have moderate amounts, as does beer.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363914"/>
            <a:ext cx="8001000" cy="550920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1600" b="1" dirty="0"/>
              <a:t>Vitamin B</a:t>
            </a:r>
            <a:r>
              <a:rPr lang="en-US" sz="1600" b="1" baseline="-25000" dirty="0"/>
              <a:t>12</a:t>
            </a:r>
            <a:r>
              <a:rPr lang="en-US" sz="1600" dirty="0"/>
              <a:t>.</a:t>
            </a:r>
            <a:br>
              <a:rPr lang="en-US" sz="1600" dirty="0"/>
            </a:br>
            <a:r>
              <a:rPr lang="en-US" sz="1600" dirty="0"/>
              <a:t>Chemical names (</a:t>
            </a:r>
            <a:r>
              <a:rPr lang="en-US" sz="1600" dirty="0" err="1"/>
              <a:t>vitaminer</a:t>
            </a:r>
            <a:r>
              <a:rPr lang="en-US" sz="1600" dirty="0"/>
              <a:t>) - </a:t>
            </a:r>
            <a:r>
              <a:rPr lang="en-US" sz="1600" dirty="0" err="1"/>
              <a:t>cyanocobalamin</a:t>
            </a:r>
            <a:r>
              <a:rPr lang="en-US" sz="1600" dirty="0"/>
              <a:t>, </a:t>
            </a:r>
            <a:r>
              <a:rPr lang="en-US" sz="1600" dirty="0" err="1"/>
              <a:t>hydroxycobalamin</a:t>
            </a:r>
            <a:r>
              <a:rPr lang="en-US" sz="1600" dirty="0"/>
              <a:t>, </a:t>
            </a:r>
            <a:r>
              <a:rPr lang="en-US" sz="1600" dirty="0" err="1"/>
              <a:t>methylcobalamin</a:t>
            </a:r>
            <a:br>
              <a:rPr lang="en-US" sz="1600" dirty="0"/>
            </a:br>
            <a:r>
              <a:rPr lang="en-US" sz="1600" dirty="0"/>
              <a:t>Water soluble.  Deficiency may cause </a:t>
            </a:r>
            <a:r>
              <a:rPr lang="en-US" sz="1600" dirty="0" err="1"/>
              <a:t>megaloblastic</a:t>
            </a:r>
            <a:r>
              <a:rPr lang="en-US" sz="1600" dirty="0"/>
              <a:t> anemia. Good sources - fish, shellfish, meat, poultry, eggs, milk, and dairy products. Some fortified cereals and soy products, as well as fortified nutritional yeast.</a:t>
            </a:r>
          </a:p>
          <a:p>
            <a:r>
              <a:rPr lang="en-US" sz="1600" b="1" dirty="0"/>
              <a:t>Vitamin C</a:t>
            </a:r>
            <a:r>
              <a:rPr lang="en-US" sz="1600" dirty="0"/>
              <a:t>.</a:t>
            </a:r>
            <a:br>
              <a:rPr lang="en-US" sz="1600" dirty="0"/>
            </a:br>
            <a:r>
              <a:rPr lang="en-US" sz="1600" dirty="0"/>
              <a:t>Chemical names (</a:t>
            </a:r>
            <a:r>
              <a:rPr lang="en-US" sz="1600" dirty="0" err="1"/>
              <a:t>vitaminer</a:t>
            </a:r>
            <a:r>
              <a:rPr lang="en-US" sz="1600" dirty="0"/>
              <a:t>) - ascorbic acid. Water soluble.  Deficiency may cause </a:t>
            </a:r>
            <a:r>
              <a:rPr lang="en-US" sz="1600" dirty="0" err="1"/>
              <a:t>megaloblastic</a:t>
            </a:r>
            <a:r>
              <a:rPr lang="en-US" sz="1600" dirty="0"/>
              <a:t> anemia. Good sources - fruit and vegetables. The </a:t>
            </a:r>
            <a:r>
              <a:rPr lang="en-US" sz="1600" dirty="0" err="1"/>
              <a:t>Kakadu</a:t>
            </a:r>
            <a:r>
              <a:rPr lang="en-US" sz="1600" dirty="0"/>
              <a:t> plum and the </a:t>
            </a:r>
            <a:r>
              <a:rPr lang="en-US" sz="1600" dirty="0" err="1"/>
              <a:t>camu</a:t>
            </a:r>
            <a:r>
              <a:rPr lang="en-US" sz="1600" dirty="0"/>
              <a:t> </a:t>
            </a:r>
            <a:r>
              <a:rPr lang="en-US" sz="1600" dirty="0" err="1"/>
              <a:t>camu</a:t>
            </a:r>
            <a:r>
              <a:rPr lang="en-US" sz="1600" dirty="0"/>
              <a:t> fruit have the highest vitamin C contents of all foods. Liver also has vitamin C.</a:t>
            </a:r>
          </a:p>
          <a:p>
            <a:r>
              <a:rPr lang="en-US" sz="1600" b="1" dirty="0"/>
              <a:t>Vitamin D</a:t>
            </a:r>
            <a:r>
              <a:rPr lang="en-US" sz="1600" dirty="0"/>
              <a:t>.</a:t>
            </a:r>
            <a:br>
              <a:rPr lang="en-US" sz="1600" dirty="0"/>
            </a:br>
            <a:r>
              <a:rPr lang="en-US" sz="1600" dirty="0"/>
              <a:t>Chemical names (</a:t>
            </a:r>
            <a:r>
              <a:rPr lang="en-US" sz="1600" dirty="0" err="1"/>
              <a:t>vitaminer</a:t>
            </a:r>
            <a:r>
              <a:rPr lang="en-US" sz="1600" dirty="0"/>
              <a:t>) - </a:t>
            </a:r>
            <a:r>
              <a:rPr lang="en-US" sz="1600" dirty="0" err="1"/>
              <a:t>ergocalciferol</a:t>
            </a:r>
            <a:r>
              <a:rPr lang="en-US" sz="1600" dirty="0"/>
              <a:t>, </a:t>
            </a:r>
            <a:r>
              <a:rPr lang="en-US" sz="1600" dirty="0" err="1"/>
              <a:t>cholecalciferol</a:t>
            </a:r>
            <a:r>
              <a:rPr lang="en-US" sz="1600" dirty="0"/>
              <a:t>. Fat soluble.  Deficiency may cause </a:t>
            </a:r>
            <a:r>
              <a:rPr lang="en-US" sz="1600" dirty="0">
                <a:hlinkClick r:id="rId2" tooltip="What Is Rickets? What Causes Rickets?"/>
              </a:rPr>
              <a:t>rickets</a:t>
            </a:r>
            <a:r>
              <a:rPr lang="en-US" sz="1600" dirty="0"/>
              <a:t>, </a:t>
            </a:r>
            <a:r>
              <a:rPr lang="en-US" sz="1600" dirty="0" err="1"/>
              <a:t>osteomalacia</a:t>
            </a:r>
            <a:r>
              <a:rPr lang="en-US" sz="1600" dirty="0"/>
              <a:t>. Good sources - produced in the skin after exposure to ultraviolet B light from the sun or artificial sources. Found in fatty fish, eggs, beef liver, and mushrooms.</a:t>
            </a:r>
          </a:p>
          <a:p>
            <a:r>
              <a:rPr lang="en-US" sz="1600" b="1" dirty="0"/>
              <a:t>Vitamin E</a:t>
            </a:r>
            <a:r>
              <a:rPr lang="en-US" sz="1600" dirty="0"/>
              <a:t>.</a:t>
            </a:r>
            <a:br>
              <a:rPr lang="en-US" sz="1600" dirty="0"/>
            </a:br>
            <a:r>
              <a:rPr lang="en-US" sz="1600" dirty="0"/>
              <a:t>Chemical names (</a:t>
            </a:r>
            <a:r>
              <a:rPr lang="en-US" sz="1600" dirty="0" err="1"/>
              <a:t>vitaminer</a:t>
            </a:r>
            <a:r>
              <a:rPr lang="en-US" sz="1600" dirty="0"/>
              <a:t>) - </a:t>
            </a:r>
            <a:r>
              <a:rPr lang="en-US" sz="1600" dirty="0" err="1"/>
              <a:t>tocopherols</a:t>
            </a:r>
            <a:r>
              <a:rPr lang="en-US" sz="1600" dirty="0"/>
              <a:t>, </a:t>
            </a:r>
            <a:r>
              <a:rPr lang="en-US" sz="1600" dirty="0" err="1"/>
              <a:t>tocotrienols</a:t>
            </a:r>
            <a:r>
              <a:rPr lang="en-US" sz="1600" dirty="0"/>
              <a:t>. Fat soluble.  Deficiency is uncommon. May cause mild hemolytic anemia in newborns. Good sources - kiwi fruit, almonds, avocado, eggs, milk, nuts, leafy green vegetables, unheated vegetable oils, wheat germ, and </a:t>
            </a:r>
            <a:r>
              <a:rPr lang="en-US" sz="1600" dirty="0" err="1"/>
              <a:t>wholegrains</a:t>
            </a:r>
            <a:r>
              <a:rPr lang="en-US" sz="1600" dirty="0"/>
              <a:t>.</a:t>
            </a:r>
          </a:p>
          <a:p>
            <a:r>
              <a:rPr lang="en-US" sz="1600" b="1" dirty="0"/>
              <a:t>Vitamin K</a:t>
            </a:r>
            <a:r>
              <a:rPr lang="en-US" sz="1600" dirty="0"/>
              <a:t>.</a:t>
            </a:r>
            <a:br>
              <a:rPr lang="en-US" sz="1600" dirty="0"/>
            </a:br>
            <a:r>
              <a:rPr lang="en-US" sz="1600" dirty="0"/>
              <a:t>Chemical names (</a:t>
            </a:r>
            <a:r>
              <a:rPr lang="en-US" sz="1600" dirty="0" err="1"/>
              <a:t>vitaminer</a:t>
            </a:r>
            <a:r>
              <a:rPr lang="en-US" sz="1600" dirty="0"/>
              <a:t>) - </a:t>
            </a:r>
            <a:r>
              <a:rPr lang="en-US" sz="1600" dirty="0" err="1"/>
              <a:t>phylloquinone</a:t>
            </a:r>
            <a:r>
              <a:rPr lang="en-US" sz="1600" dirty="0"/>
              <a:t>, </a:t>
            </a:r>
            <a:r>
              <a:rPr lang="en-US" sz="1600" dirty="0" err="1"/>
              <a:t>menaquinones</a:t>
            </a:r>
            <a:r>
              <a:rPr lang="en-US" sz="1600" dirty="0"/>
              <a:t> Fat soluble. </a:t>
            </a:r>
            <a:br>
              <a:rPr lang="en-US" sz="1600" dirty="0"/>
            </a:br>
            <a:r>
              <a:rPr lang="en-US" sz="1600" dirty="0"/>
              <a:t>Deficiency may cause bleeding diathesis</a:t>
            </a:r>
            <a:br>
              <a:rPr lang="en-US" sz="1600" dirty="0"/>
            </a:br>
            <a:r>
              <a:rPr lang="en-US" sz="1600" dirty="0"/>
              <a:t>Good sources - leafy green vegetables, avocado, kiwi fruit. Parsley contain a lot of vitamin K.</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lstStyle/>
          <a:p>
            <a:r>
              <a:rPr lang="en-US" b="1" dirty="0"/>
              <a:t>Iron-sulfur protein</a:t>
            </a:r>
            <a:endParaRPr lang="en-US" dirty="0"/>
          </a:p>
        </p:txBody>
      </p:sp>
      <p:sp>
        <p:nvSpPr>
          <p:cNvPr id="6" name="Rectangle 5"/>
          <p:cNvSpPr/>
          <p:nvPr/>
        </p:nvSpPr>
        <p:spPr>
          <a:xfrm>
            <a:off x="1295400" y="1752600"/>
            <a:ext cx="6477000" cy="304698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3200" b="1" dirty="0"/>
              <a:t>Iron-sulfur proteins</a:t>
            </a:r>
            <a:r>
              <a:rPr lang="en-US" sz="3200" dirty="0"/>
              <a:t> are </a:t>
            </a:r>
            <a:r>
              <a:rPr lang="en-US" sz="3200" dirty="0">
                <a:hlinkClick r:id="rId2" action="ppaction://hlinkfile" tooltip="Protein"/>
              </a:rPr>
              <a:t>proteins</a:t>
            </a:r>
            <a:r>
              <a:rPr lang="en-US" sz="3200" dirty="0"/>
              <a:t> characterized by the presence of </a:t>
            </a:r>
            <a:r>
              <a:rPr lang="en-US" sz="3200" dirty="0" err="1"/>
              <a:t>polymetallic</a:t>
            </a:r>
            <a:r>
              <a:rPr lang="en-US" sz="3200" dirty="0"/>
              <a:t> systems (</a:t>
            </a:r>
            <a:r>
              <a:rPr lang="en-US" sz="3200" dirty="0">
                <a:hlinkClick r:id="rId3" action="ppaction://hlinkfile" tooltip="Iron-sulfur cluster"/>
              </a:rPr>
              <a:t>iron-sulfur clusters</a:t>
            </a:r>
            <a:r>
              <a:rPr lang="en-US" sz="3200" dirty="0"/>
              <a:t>) containing </a:t>
            </a:r>
            <a:r>
              <a:rPr lang="en-US" sz="3200" dirty="0">
                <a:hlinkClick r:id="rId4" action="ppaction://hlinkfile" tooltip="Sulfide"/>
              </a:rPr>
              <a:t>sulfide</a:t>
            </a:r>
            <a:r>
              <a:rPr lang="en-US" sz="3200" dirty="0"/>
              <a:t> ions, in which the </a:t>
            </a:r>
            <a:r>
              <a:rPr lang="en-US" sz="3200" dirty="0">
                <a:hlinkClick r:id="rId5" action="ppaction://hlinkfile" tooltip="Iron"/>
              </a:rPr>
              <a:t>iron ions</a:t>
            </a:r>
            <a:r>
              <a:rPr lang="en-US" sz="3200" dirty="0"/>
              <a:t> have variable </a:t>
            </a:r>
            <a:r>
              <a:rPr lang="en-US" sz="3200" dirty="0">
                <a:hlinkClick r:id="rId6" action="ppaction://hlinkfile" tooltip="Oxidation state"/>
              </a:rPr>
              <a:t>oxidation states</a:t>
            </a:r>
            <a:r>
              <a:rPr lang="en-US" sz="3200" dirty="0"/>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style>
          <a:lnRef idx="1">
            <a:schemeClr val="accent5"/>
          </a:lnRef>
          <a:fillRef idx="2">
            <a:schemeClr val="accent5"/>
          </a:fillRef>
          <a:effectRef idx="1">
            <a:schemeClr val="accent5"/>
          </a:effectRef>
          <a:fontRef idx="minor">
            <a:schemeClr val="dk1"/>
          </a:fontRef>
        </p:style>
        <p:txBody>
          <a:bodyPr/>
          <a:lstStyle/>
          <a:p>
            <a:r>
              <a:rPr lang="en-US" b="1" dirty="0"/>
              <a:t>Definition</a:t>
            </a:r>
            <a:r>
              <a:rPr lang="en-US" dirty="0"/>
              <a:t>: A group of proteins possessing only the </a:t>
            </a:r>
            <a:r>
              <a:rPr lang="en-US" dirty="0">
                <a:solidFill>
                  <a:srgbClr val="FF0000"/>
                </a:solidFill>
              </a:rPr>
              <a:t>iron-sulfur</a:t>
            </a:r>
            <a:r>
              <a:rPr lang="en-US" dirty="0"/>
              <a:t> complex as the prosthetic group. </a:t>
            </a:r>
          </a:p>
          <a:p>
            <a:endParaRPr lang="en-US" dirty="0"/>
          </a:p>
          <a:p>
            <a:r>
              <a:rPr lang="en-US" dirty="0"/>
              <a:t>These proteins participate in all major pathways of electron transport: photosynthesis, respiration, hydroxylation and bacterial hydrogen and nitrogen fixation.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descr="http://upload.wikimedia.org/wikipedia/commons/thumb/8/89/FeS.png/600px-FeS.png">
            <a:hlinkClick r:id="rId2"/>
          </p:cNvPr>
          <p:cNvPicPr>
            <a:picLocks noChangeAspect="1" noChangeArrowheads="1"/>
          </p:cNvPicPr>
          <p:nvPr/>
        </p:nvPicPr>
        <p:blipFill>
          <a:blip r:embed="rId3" cstate="print"/>
          <a:srcRect/>
          <a:stretch>
            <a:fillRect/>
          </a:stretch>
        </p:blipFill>
        <p:spPr bwMode="auto">
          <a:xfrm>
            <a:off x="228600" y="1676400"/>
            <a:ext cx="8671027" cy="1676400"/>
          </a:xfrm>
          <a:prstGeom prst="rect">
            <a:avLst/>
          </a:prstGeom>
        </p:spPr>
        <p:style>
          <a:lnRef idx="1">
            <a:schemeClr val="accent4"/>
          </a:lnRef>
          <a:fillRef idx="2">
            <a:schemeClr val="accent4"/>
          </a:fillRef>
          <a:effectRef idx="1">
            <a:schemeClr val="accent4"/>
          </a:effectRef>
          <a:fontRef idx="minor">
            <a:schemeClr val="dk1"/>
          </a:fontRef>
        </p:style>
      </p:pic>
      <p:sp>
        <p:nvSpPr>
          <p:cNvPr id="6" name="Rectangle 5"/>
          <p:cNvSpPr/>
          <p:nvPr/>
        </p:nvSpPr>
        <p:spPr>
          <a:xfrm>
            <a:off x="381000" y="3276600"/>
            <a:ext cx="79248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b="1" dirty="0"/>
              <a:t>Figure.</a:t>
            </a:r>
            <a:r>
              <a:rPr lang="en-US" dirty="0"/>
              <a:t> Illustrative synthetic Fe-S clusters. From left to right: Fe</a:t>
            </a:r>
            <a:r>
              <a:rPr lang="en-US" baseline="-25000" dirty="0"/>
              <a:t>3</a:t>
            </a:r>
            <a:r>
              <a:rPr lang="en-US" dirty="0"/>
              <a:t>S</a:t>
            </a:r>
            <a:r>
              <a:rPr lang="en-US" baseline="-25000" dirty="0"/>
              <a:t>2</a:t>
            </a:r>
            <a:r>
              <a:rPr lang="en-US" dirty="0"/>
              <a:t>(CO)</a:t>
            </a:r>
            <a:r>
              <a:rPr lang="en-US" baseline="-25000" dirty="0"/>
              <a:t>9</a:t>
            </a:r>
            <a:r>
              <a:rPr lang="en-US" dirty="0"/>
              <a:t>, [Fe</a:t>
            </a:r>
            <a:r>
              <a:rPr lang="en-US" baseline="-25000" dirty="0"/>
              <a:t>3</a:t>
            </a:r>
            <a:r>
              <a:rPr lang="en-US" dirty="0"/>
              <a:t>S(CO)</a:t>
            </a:r>
            <a:r>
              <a:rPr lang="en-US" baseline="-25000" dirty="0"/>
              <a:t>9</a:t>
            </a:r>
            <a:r>
              <a:rPr lang="en-US" dirty="0"/>
              <a:t>]</a:t>
            </a:r>
            <a:r>
              <a:rPr lang="en-US" baseline="30000" dirty="0"/>
              <a:t>2-</a:t>
            </a:r>
            <a:r>
              <a:rPr lang="en-US" dirty="0"/>
              <a:t>, (C</a:t>
            </a:r>
            <a:r>
              <a:rPr lang="en-US" baseline="-25000" dirty="0"/>
              <a:t>5</a:t>
            </a:r>
            <a:r>
              <a:rPr lang="en-US" dirty="0"/>
              <a:t>H</a:t>
            </a:r>
            <a:r>
              <a:rPr lang="en-US" baseline="-25000" dirty="0"/>
              <a:t>5</a:t>
            </a:r>
            <a:r>
              <a:rPr lang="en-US" dirty="0"/>
              <a:t>)</a:t>
            </a:r>
            <a:r>
              <a:rPr lang="en-US" baseline="-25000" dirty="0"/>
              <a:t>4</a:t>
            </a:r>
            <a:r>
              <a:rPr lang="en-US" dirty="0"/>
              <a:t>Fe</a:t>
            </a:r>
            <a:r>
              <a:rPr lang="en-US" baseline="-25000" dirty="0"/>
              <a:t>4</a:t>
            </a:r>
            <a:r>
              <a:rPr lang="en-US" dirty="0"/>
              <a:t>S</a:t>
            </a:r>
            <a:r>
              <a:rPr lang="en-US" baseline="-25000" dirty="0"/>
              <a:t>4</a:t>
            </a:r>
            <a:r>
              <a:rPr lang="en-US" dirty="0"/>
              <a:t>, and [Fe</a:t>
            </a:r>
            <a:r>
              <a:rPr lang="en-US" baseline="-25000" dirty="0"/>
              <a:t>4</a:t>
            </a:r>
            <a:r>
              <a:rPr lang="en-US" dirty="0"/>
              <a:t>S</a:t>
            </a:r>
            <a:r>
              <a:rPr lang="en-US" baseline="-25000" dirty="0"/>
              <a:t>4</a:t>
            </a:r>
            <a:r>
              <a:rPr lang="en-US" dirty="0"/>
              <a:t>Cl</a:t>
            </a:r>
            <a:r>
              <a:rPr lang="en-US" baseline="-25000" dirty="0"/>
              <a:t>4</a:t>
            </a:r>
            <a:r>
              <a:rPr lang="en-US" dirty="0"/>
              <a:t>]</a:t>
            </a:r>
            <a:r>
              <a:rPr lang="en-US" baseline="30000" dirty="0"/>
              <a:t>2-</a:t>
            </a:r>
            <a:r>
              <a:rPr 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style>
          <a:lnRef idx="1">
            <a:schemeClr val="accent5"/>
          </a:lnRef>
          <a:fillRef idx="2">
            <a:schemeClr val="accent5"/>
          </a:fillRef>
          <a:effectRef idx="1">
            <a:schemeClr val="accent5"/>
          </a:effectRef>
          <a:fontRef idx="minor">
            <a:schemeClr val="dk1"/>
          </a:fontRef>
        </p:style>
        <p:txBody>
          <a:bodyPr>
            <a:normAutofit fontScale="90000"/>
          </a:bodyPr>
          <a:lstStyle/>
          <a:p>
            <a:br>
              <a:rPr lang="en-US" b="1" dirty="0"/>
            </a:br>
            <a:r>
              <a:rPr lang="en-US" b="1" dirty="0"/>
              <a:t>Nitrogen fixation</a:t>
            </a:r>
            <a:br>
              <a:rPr lang="en-US" b="1" dirty="0"/>
            </a:br>
            <a:endParaRPr lang="en-US" dirty="0"/>
          </a:p>
        </p:txBody>
      </p:sp>
      <p:sp>
        <p:nvSpPr>
          <p:cNvPr id="3" name="Content Placeholder 2"/>
          <p:cNvSpPr>
            <a:spLocks noGrp="1"/>
          </p:cNvSpPr>
          <p:nvPr>
            <p:ph idx="1"/>
          </p:nvPr>
        </p:nvSpPr>
        <p:spPr>
          <a:xfrm>
            <a:off x="457200" y="990600"/>
            <a:ext cx="8229600" cy="5135563"/>
          </a:xfrm>
        </p:spPr>
        <p:style>
          <a:lnRef idx="1">
            <a:schemeClr val="accent4"/>
          </a:lnRef>
          <a:fillRef idx="2">
            <a:schemeClr val="accent4"/>
          </a:fillRef>
          <a:effectRef idx="1">
            <a:schemeClr val="accent4"/>
          </a:effectRef>
          <a:fontRef idx="minor">
            <a:schemeClr val="dk1"/>
          </a:fontRef>
        </p:style>
        <p:txBody>
          <a:bodyPr>
            <a:normAutofit fontScale="55000" lnSpcReduction="20000"/>
          </a:bodyPr>
          <a:lstStyle/>
          <a:p>
            <a:pPr algn="just"/>
            <a:endParaRPr lang="en-US" b="1" dirty="0"/>
          </a:p>
          <a:p>
            <a:pPr algn="just"/>
            <a:r>
              <a:rPr lang="en-US" b="1" dirty="0"/>
              <a:t>Nitrogen fixation</a:t>
            </a:r>
            <a:r>
              <a:rPr lang="en-US" dirty="0"/>
              <a:t> is a process by which </a:t>
            </a:r>
            <a:r>
              <a:rPr lang="en-US" dirty="0">
                <a:hlinkClick r:id="rId2" tooltip="Nitrogen"/>
              </a:rPr>
              <a:t>nitrogen</a:t>
            </a:r>
            <a:r>
              <a:rPr lang="en-US" dirty="0"/>
              <a:t> (N</a:t>
            </a:r>
            <a:r>
              <a:rPr lang="en-US" baseline="-25000" dirty="0"/>
              <a:t>2</a:t>
            </a:r>
            <a:r>
              <a:rPr lang="en-US" dirty="0"/>
              <a:t>) in the </a:t>
            </a:r>
            <a:r>
              <a:rPr lang="en-US" dirty="0">
                <a:hlinkClick r:id="rId3" tooltip="Earth's atmosphere"/>
              </a:rPr>
              <a:t>atmosphere</a:t>
            </a:r>
            <a:r>
              <a:rPr lang="en-US" dirty="0"/>
              <a:t> is converted into </a:t>
            </a:r>
            <a:r>
              <a:rPr lang="en-US" dirty="0">
                <a:hlinkClick r:id="rId4" tooltip="Ammonia"/>
              </a:rPr>
              <a:t>ammonia</a:t>
            </a:r>
            <a:r>
              <a:rPr lang="en-US" dirty="0"/>
              <a:t> (NH</a:t>
            </a:r>
            <a:r>
              <a:rPr lang="en-US" baseline="-25000" dirty="0"/>
              <a:t>3</a:t>
            </a:r>
            <a:r>
              <a:rPr lang="en-US" dirty="0"/>
              <a:t>).</a:t>
            </a:r>
            <a:endParaRPr lang="en-US" baseline="30000" dirty="0"/>
          </a:p>
          <a:p>
            <a:pPr algn="just"/>
            <a:r>
              <a:rPr lang="en-US" dirty="0"/>
              <a:t>Atmospheric nitrogen or molecular nitrogen (N</a:t>
            </a:r>
            <a:r>
              <a:rPr lang="en-US" baseline="-25000" dirty="0"/>
              <a:t>2</a:t>
            </a:r>
            <a:r>
              <a:rPr lang="en-US" dirty="0"/>
              <a:t>) is relatively inert: it does not easily react with other chemicals to form new compounds. Fixation processes free up the nitrogen atoms from their diatomic form (N</a:t>
            </a:r>
            <a:r>
              <a:rPr lang="en-US" baseline="-25000" dirty="0"/>
              <a:t>2</a:t>
            </a:r>
            <a:r>
              <a:rPr lang="en-US" dirty="0"/>
              <a:t>) to be used in other ways.</a:t>
            </a:r>
          </a:p>
          <a:p>
            <a:pPr algn="just"/>
            <a:endParaRPr lang="en-US" dirty="0"/>
          </a:p>
          <a:p>
            <a:pPr algn="just"/>
            <a:r>
              <a:rPr lang="en-US" dirty="0"/>
              <a:t>Nitrogen fixation, natural and synthetic, is essential for all forms of life because nitrogen is required to </a:t>
            </a:r>
            <a:r>
              <a:rPr lang="en-US" dirty="0">
                <a:hlinkClick r:id="rId5" tooltip="Biosynthesis"/>
              </a:rPr>
              <a:t>biosynthesize</a:t>
            </a:r>
            <a:r>
              <a:rPr lang="en-US" dirty="0"/>
              <a:t> basic building blocks of plants, animals and other life forms, e.g., </a:t>
            </a:r>
            <a:r>
              <a:rPr lang="en-US" dirty="0">
                <a:hlinkClick r:id="rId6" tooltip="Nucleotides"/>
              </a:rPr>
              <a:t>nucleotides</a:t>
            </a:r>
            <a:r>
              <a:rPr lang="en-US" dirty="0"/>
              <a:t> for </a:t>
            </a:r>
            <a:r>
              <a:rPr lang="en-US" dirty="0">
                <a:hlinkClick r:id="rId7" tooltip="DNA and RNA"/>
              </a:rPr>
              <a:t>DNA and RNA</a:t>
            </a:r>
            <a:r>
              <a:rPr lang="en-US" dirty="0"/>
              <a:t> and </a:t>
            </a:r>
            <a:r>
              <a:rPr lang="en-US" dirty="0">
                <a:hlinkClick r:id="rId8" tooltip="Amino acid"/>
              </a:rPr>
              <a:t>amino acids</a:t>
            </a:r>
            <a:r>
              <a:rPr lang="en-US" dirty="0"/>
              <a:t> for </a:t>
            </a:r>
            <a:r>
              <a:rPr lang="en-US" dirty="0">
                <a:hlinkClick r:id="rId9" tooltip="Protein"/>
              </a:rPr>
              <a:t>proteins</a:t>
            </a:r>
            <a:r>
              <a:rPr lang="en-US" dirty="0"/>
              <a:t>. Therefore nitrogen fixation is essential for agriculture and the manufacture of fertilizer. It is also an important process in the manufacture of explosives (e.g. </a:t>
            </a:r>
            <a:r>
              <a:rPr lang="en-US" dirty="0">
                <a:hlinkClick r:id="rId10" tooltip="Gunpowder"/>
              </a:rPr>
              <a:t>gunpowder</a:t>
            </a:r>
            <a:r>
              <a:rPr lang="en-US" dirty="0"/>
              <a:t>, </a:t>
            </a:r>
            <a:r>
              <a:rPr lang="en-US" dirty="0">
                <a:hlinkClick r:id="rId11" tooltip="Dynamite"/>
              </a:rPr>
              <a:t>dynamite</a:t>
            </a:r>
            <a:r>
              <a:rPr lang="en-US" dirty="0"/>
              <a:t>, </a:t>
            </a:r>
            <a:r>
              <a:rPr lang="en-US" dirty="0">
                <a:hlinkClick r:id="rId12" tooltip="Trinitrotoluene"/>
              </a:rPr>
              <a:t>TNT</a:t>
            </a:r>
            <a:r>
              <a:rPr lang="en-US" dirty="0"/>
              <a:t>, etc.). Nitrogen fixation occurs naturally in the air by means of lightning.</a:t>
            </a:r>
          </a:p>
          <a:p>
            <a:pPr marL="0" indent="0" algn="just">
              <a:buNone/>
            </a:pPr>
            <a:endParaRPr lang="en-US" dirty="0"/>
          </a:p>
          <a:p>
            <a:pPr algn="just"/>
            <a:r>
              <a:rPr lang="en-US" dirty="0"/>
              <a:t>Nitrogen fixation also refers to other biological conversions of nitrogen, such as its conversion to </a:t>
            </a:r>
            <a:r>
              <a:rPr lang="en-US" dirty="0">
                <a:hlinkClick r:id="rId13" tooltip="Nitrogen dioxide"/>
              </a:rPr>
              <a:t>nitrogen dioxide</a:t>
            </a:r>
            <a:r>
              <a:rPr lang="en-US" dirty="0"/>
              <a:t>. Microorganisms that can fix nitrogen are prokaryotes (both bacteria and </a:t>
            </a:r>
            <a:r>
              <a:rPr lang="en-US" dirty="0" err="1"/>
              <a:t>archaea</a:t>
            </a:r>
            <a:r>
              <a:rPr lang="en-US" dirty="0"/>
              <a:t>, distributed throughout their respective kingdoms) called </a:t>
            </a:r>
            <a:r>
              <a:rPr lang="en-US" dirty="0" err="1">
                <a:hlinkClick r:id="rId14" tooltip="Diazotroph"/>
              </a:rPr>
              <a:t>diazotrophs</a:t>
            </a:r>
            <a:r>
              <a:rPr lang="en-US" dirty="0"/>
              <a:t>. Some higher plants, and some animals (</a:t>
            </a:r>
            <a:r>
              <a:rPr lang="en-US" dirty="0">
                <a:hlinkClick r:id="rId15" tooltip="Termite"/>
              </a:rPr>
              <a:t>termites</a:t>
            </a:r>
            <a:r>
              <a:rPr lang="en-US" dirty="0"/>
              <a:t>), have formed associations (</a:t>
            </a:r>
            <a:r>
              <a:rPr lang="en-US" dirty="0">
                <a:hlinkClick r:id="rId16" tooltip="Symbiosis"/>
              </a:rPr>
              <a:t>symbioses</a:t>
            </a:r>
            <a:r>
              <a:rPr lang="en-US" dirty="0"/>
              <a:t>) with </a:t>
            </a:r>
            <a:r>
              <a:rPr lang="en-US" dirty="0" err="1"/>
              <a:t>diazotrophs</a:t>
            </a:r>
            <a:r>
              <a:rPr lang="en-US" dirty="0"/>
              <a:t>.</a:t>
            </a:r>
          </a:p>
          <a:p>
            <a:endParaRPr lang="en-US" dirty="0"/>
          </a:p>
        </p:txBody>
      </p:sp>
    </p:spTree>
    <p:extLst>
      <p:ext uri="{BB962C8B-B14F-4D97-AF65-F5344CB8AC3E}">
        <p14:creationId xmlns:p14="http://schemas.microsoft.com/office/powerpoint/2010/main" val="3174271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dirty="0">
                <a:solidFill>
                  <a:srgbClr val="6600CC"/>
                </a:solidFill>
              </a:rPr>
              <a:t>What is the Nitrogen Cycle?</a:t>
            </a:r>
          </a:p>
        </p:txBody>
      </p:sp>
      <p:sp>
        <p:nvSpPr>
          <p:cNvPr id="3" name="Content Placeholder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lstStyle/>
          <a:p>
            <a:pPr marL="0" indent="0" algn="just">
              <a:buNone/>
            </a:pPr>
            <a:r>
              <a:rPr lang="en-US" sz="3600" b="1" dirty="0">
                <a:solidFill>
                  <a:srgbClr val="002060"/>
                </a:solidFill>
              </a:rPr>
              <a:t>The nitrogen cycle describes the movement of nitrogen through the environment. Nitrogen exists in the soil, in plants and animals, and in the air. Nitrogen moves through the processes shown in the picture below. </a:t>
            </a:r>
          </a:p>
          <a:p>
            <a:endParaRPr lang="en-US" dirty="0"/>
          </a:p>
        </p:txBody>
      </p:sp>
    </p:spTree>
    <p:extLst>
      <p:ext uri="{BB962C8B-B14F-4D97-AF65-F5344CB8AC3E}">
        <p14:creationId xmlns:p14="http://schemas.microsoft.com/office/powerpoint/2010/main" val="12999993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normAutofit fontScale="90000"/>
          </a:bodyPr>
          <a:lstStyle/>
          <a:p>
            <a:r>
              <a:rPr lang="en-US" dirty="0">
                <a:solidFill>
                  <a:srgbClr val="FF0000"/>
                </a:solidFill>
              </a:rPr>
              <a:t>How does the Nitrogen Cycle work?</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66874"/>
            <a:ext cx="7148020" cy="4810125"/>
          </a:xfrm>
          <a:prstGeom prst="rect">
            <a:avLst/>
          </a:prstGeom>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1611219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6126163"/>
          </a:xfrm>
        </p:spPr>
        <p:style>
          <a:lnRef idx="1">
            <a:schemeClr val="accent5"/>
          </a:lnRef>
          <a:fillRef idx="2">
            <a:schemeClr val="accent5"/>
          </a:fillRef>
          <a:effectRef idx="1">
            <a:schemeClr val="accent5"/>
          </a:effectRef>
          <a:fontRef idx="minor">
            <a:schemeClr val="dk1"/>
          </a:fontRef>
        </p:style>
        <p:txBody>
          <a:bodyPr>
            <a:normAutofit/>
          </a:bodyPr>
          <a:lstStyle/>
          <a:p>
            <a:endParaRPr lang="en-US" dirty="0"/>
          </a:p>
          <a:p>
            <a:r>
              <a:rPr lang="en-US" dirty="0"/>
              <a:t>Although nitrogen gas </a:t>
            </a:r>
            <a:r>
              <a:rPr lang="en-US" dirty="0">
                <a:solidFill>
                  <a:srgbClr val="FF0000"/>
                </a:solidFill>
              </a:rPr>
              <a:t>(N</a:t>
            </a:r>
            <a:r>
              <a:rPr lang="en-US" baseline="-25000" dirty="0">
                <a:solidFill>
                  <a:srgbClr val="FF0000"/>
                </a:solidFill>
              </a:rPr>
              <a:t>2</a:t>
            </a:r>
            <a:r>
              <a:rPr lang="en-US" dirty="0">
                <a:solidFill>
                  <a:srgbClr val="FF0000"/>
                </a:solidFill>
              </a:rPr>
              <a:t>) </a:t>
            </a:r>
            <a:r>
              <a:rPr lang="en-US" dirty="0"/>
              <a:t>makes up 78% of the air, plants can not use it for growth unless it is turned into nitrate (</a:t>
            </a:r>
            <a:r>
              <a:rPr lang="en-US" dirty="0">
                <a:solidFill>
                  <a:srgbClr val="FF0000"/>
                </a:solidFill>
              </a:rPr>
              <a:t>NO</a:t>
            </a:r>
            <a:r>
              <a:rPr lang="en-US" baseline="-25000" dirty="0">
                <a:solidFill>
                  <a:srgbClr val="FF0000"/>
                </a:solidFill>
              </a:rPr>
              <a:t>3</a:t>
            </a:r>
            <a:r>
              <a:rPr lang="en-US" baseline="30000" dirty="0">
                <a:solidFill>
                  <a:srgbClr val="FF0000"/>
                </a:solidFill>
              </a:rPr>
              <a:t>-</a:t>
            </a:r>
            <a:r>
              <a:rPr lang="en-US" dirty="0">
                <a:solidFill>
                  <a:srgbClr val="FF0000"/>
                </a:solidFill>
              </a:rPr>
              <a:t>)</a:t>
            </a:r>
            <a:r>
              <a:rPr lang="en-US" dirty="0"/>
              <a:t> in the soil.</a:t>
            </a:r>
          </a:p>
          <a:p>
            <a:r>
              <a:rPr lang="en-US" dirty="0"/>
              <a:t>Making nitrogen in the atmosphere into nitrate in the soil is called </a:t>
            </a:r>
            <a:r>
              <a:rPr lang="en-US" b="1" dirty="0">
                <a:solidFill>
                  <a:srgbClr val="6600CC"/>
                </a:solidFill>
              </a:rPr>
              <a:t>fixing</a:t>
            </a:r>
            <a:r>
              <a:rPr lang="en-US" dirty="0"/>
              <a:t>. Nitrogen fixing occurs naturally in </a:t>
            </a:r>
            <a:r>
              <a:rPr lang="en-US" dirty="0">
                <a:solidFill>
                  <a:srgbClr val="6600CC"/>
                </a:solidFill>
              </a:rPr>
              <a:t>four ways</a:t>
            </a:r>
            <a:r>
              <a:rPr lang="en-US" dirty="0"/>
              <a:t>.</a:t>
            </a:r>
          </a:p>
          <a:p>
            <a:r>
              <a:rPr lang="en-US" dirty="0"/>
              <a:t>Nitrogen fixing also occurs with </a:t>
            </a:r>
            <a:r>
              <a:rPr lang="en-US" dirty="0">
                <a:solidFill>
                  <a:srgbClr val="6600CC"/>
                </a:solidFill>
              </a:rPr>
              <a:t>the Haber process</a:t>
            </a:r>
            <a:r>
              <a:rPr lang="en-US" dirty="0"/>
              <a:t> - see below.</a:t>
            </a:r>
          </a:p>
          <a:p>
            <a:endParaRPr lang="en-US" dirty="0"/>
          </a:p>
        </p:txBody>
      </p:sp>
    </p:spTree>
    <p:extLst>
      <p:ext uri="{BB962C8B-B14F-4D97-AF65-F5344CB8AC3E}">
        <p14:creationId xmlns:p14="http://schemas.microsoft.com/office/powerpoint/2010/main" val="26293661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97563"/>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r>
              <a:rPr lang="en-US" b="1" dirty="0">
                <a:solidFill>
                  <a:srgbClr val="6600CC"/>
                </a:solidFill>
              </a:rPr>
              <a:t>1. Nitrogen fixing bacteria  in the soil turn nitrogen in the soil into nitrate.</a:t>
            </a:r>
          </a:p>
          <a:p>
            <a:endParaRPr lang="en-US" b="1" dirty="0">
              <a:solidFill>
                <a:srgbClr val="6600CC"/>
              </a:solidFill>
            </a:endParaRPr>
          </a:p>
          <a:p>
            <a:r>
              <a:rPr lang="en-US" b="1" dirty="0">
                <a:solidFill>
                  <a:srgbClr val="00B0F0"/>
                </a:solidFill>
              </a:rPr>
              <a:t>2. Nitrogen fixing bacteria on some plant root nodules turn nitrogen into nitrate. Plants that have these kinds of root nodules include </a:t>
            </a:r>
            <a:r>
              <a:rPr lang="en-US" b="1" dirty="0">
                <a:solidFill>
                  <a:srgbClr val="FF0000"/>
                </a:solidFill>
              </a:rPr>
              <a:t>peas, beans and clover.</a:t>
            </a:r>
          </a:p>
          <a:p>
            <a:endParaRPr lang="en-US" b="1" dirty="0">
              <a:solidFill>
                <a:srgbClr val="FF0000"/>
              </a:solidFill>
            </a:endParaRPr>
          </a:p>
          <a:p>
            <a:r>
              <a:rPr lang="en-US" b="1" dirty="0"/>
              <a:t>3. Compounds containing ammonia occur in animal excretion and in dead animals. The ammonia turns into nitrite and there are nitrifying bacteria in the soil that turn nitrite (NO</a:t>
            </a:r>
            <a:r>
              <a:rPr lang="en-US" b="1" baseline="-25000" dirty="0"/>
              <a:t>2</a:t>
            </a:r>
            <a:r>
              <a:rPr lang="en-US" b="1" dirty="0"/>
              <a:t>) into nitrate (NO</a:t>
            </a:r>
            <a:r>
              <a:rPr lang="en-US" b="1" baseline="-25000" dirty="0"/>
              <a:t>3</a:t>
            </a:r>
            <a:r>
              <a:rPr lang="en-US" b="1" dirty="0"/>
              <a:t>). They are called nitrifying bacteria because they increase the amount of nitrate in the soil.</a:t>
            </a:r>
          </a:p>
        </p:txBody>
      </p:sp>
    </p:spTree>
    <p:extLst>
      <p:ext uri="{BB962C8B-B14F-4D97-AF65-F5344CB8AC3E}">
        <p14:creationId xmlns:p14="http://schemas.microsoft.com/office/powerpoint/2010/main" val="10800288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endParaRPr lang="en-US" dirty="0"/>
          </a:p>
          <a:p>
            <a:pPr marL="0" indent="0" algn="just">
              <a:buNone/>
            </a:pPr>
            <a:r>
              <a:rPr lang="en-US" b="1" dirty="0">
                <a:solidFill>
                  <a:srgbClr val="6600CC"/>
                </a:solidFill>
              </a:rPr>
              <a:t>4. Lightning can cause chemical reactions in the atmosphere that make nitrogen react with oxygen producing nitrous oxides. Nitrous oxides are also made from petrol engine pollution. The nitrous oxides can react with more oxygen and dissolve in rain water to make dilute nitric acid (HNO3(</a:t>
            </a:r>
            <a:r>
              <a:rPr lang="en-US" b="1" dirty="0" err="1">
                <a:solidFill>
                  <a:srgbClr val="6600CC"/>
                </a:solidFill>
              </a:rPr>
              <a:t>aq</a:t>
            </a:r>
            <a:r>
              <a:rPr lang="en-US" b="1" dirty="0">
                <a:solidFill>
                  <a:srgbClr val="6600CC"/>
                </a:solidFill>
              </a:rPr>
              <a:t>)) (see acid rain). HNO3 contains nitrate and so rain water containing HNO3 increases the amount of nitrate in the soil. Most of the fixing of nitrogen occurs through the natural processes described above. The Haber process for making </a:t>
            </a:r>
            <a:r>
              <a:rPr lang="en-US" b="1" dirty="0" err="1">
                <a:solidFill>
                  <a:srgbClr val="6600CC"/>
                </a:solidFill>
              </a:rPr>
              <a:t>fertilisers</a:t>
            </a:r>
            <a:r>
              <a:rPr lang="en-US" b="1" dirty="0">
                <a:solidFill>
                  <a:srgbClr val="6600CC"/>
                </a:solidFill>
              </a:rPr>
              <a:t> accounts for about 30% of nitrogen fixing. Nitrate in the soil is essential for plant growth.</a:t>
            </a:r>
          </a:p>
          <a:p>
            <a:pPr marL="0" indent="0">
              <a:buNone/>
            </a:pPr>
            <a:endParaRPr lang="en-US" dirty="0"/>
          </a:p>
          <a:p>
            <a:pPr marL="0" indent="0" algn="just">
              <a:buNone/>
            </a:pPr>
            <a:r>
              <a:rPr lang="en-US" b="1" dirty="0">
                <a:solidFill>
                  <a:srgbClr val="FF0000"/>
                </a:solidFill>
              </a:rPr>
              <a:t>There are denitrifying bacteria in the soil that turn nitrate (NO3) into nitrogen gas (N2) and the nitrogen gas goes back into the atmosphere. They are called denitrifying bacteria because they decrease the amount of nitrate in the soil. Compare this with the nitrifying bacteria described above at number 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621242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File:Nitrogen Cycle.svg"/>
          <p:cNvPicPr>
            <a:picLocks noChangeAspect="1" noChangeArrowheads="1"/>
          </p:cNvPicPr>
          <p:nvPr/>
        </p:nvPicPr>
        <p:blipFill>
          <a:blip r:embed="rId2" cstate="print"/>
          <a:srcRect/>
          <a:stretch>
            <a:fillRect/>
          </a:stretch>
        </p:blipFill>
        <p:spPr bwMode="auto">
          <a:xfrm>
            <a:off x="609600" y="304800"/>
            <a:ext cx="7845425" cy="5884069"/>
          </a:xfrm>
          <a:prstGeom prst="rect">
            <a:avLst/>
          </a:prstGeom>
          <a:noFill/>
        </p:spPr>
      </p:pic>
      <p:sp>
        <p:nvSpPr>
          <p:cNvPr id="7" name="Rectangle 6"/>
          <p:cNvSpPr/>
          <p:nvPr/>
        </p:nvSpPr>
        <p:spPr>
          <a:xfrm>
            <a:off x="533400" y="6172200"/>
            <a:ext cx="8001000" cy="646331"/>
          </a:xfrm>
          <a:prstGeom prst="rect">
            <a:avLst/>
          </a:prstGeom>
        </p:spPr>
        <p:txBody>
          <a:bodyPr wrap="square">
            <a:spAutoFit/>
          </a:bodyPr>
          <a:lstStyle/>
          <a:p>
            <a:r>
              <a:rPr lang="en-US" dirty="0">
                <a:solidFill>
                  <a:prstClr val="black"/>
                </a:solidFill>
              </a:rPr>
              <a:t>Schematic representation of the </a:t>
            </a:r>
            <a:r>
              <a:rPr lang="en-US" dirty="0">
                <a:solidFill>
                  <a:prstClr val="black"/>
                </a:solidFill>
                <a:hlinkClick r:id="rId3" tooltip="Nitrogen cycle"/>
              </a:rPr>
              <a:t>nitrogen cycle</a:t>
            </a:r>
            <a:r>
              <a:rPr lang="en-US" dirty="0">
                <a:solidFill>
                  <a:prstClr val="black"/>
                </a:solidFill>
              </a:rPr>
              <a:t>. </a:t>
            </a:r>
            <a:r>
              <a:rPr lang="en-US" dirty="0" err="1">
                <a:solidFill>
                  <a:prstClr val="black"/>
                </a:solidFill>
              </a:rPr>
              <a:t>Abiotic</a:t>
            </a:r>
            <a:r>
              <a:rPr lang="en-US" dirty="0">
                <a:solidFill>
                  <a:prstClr val="black"/>
                </a:solidFill>
              </a:rPr>
              <a:t> nitrogen fixation has been omitted.</a:t>
            </a:r>
          </a:p>
        </p:txBody>
      </p:sp>
    </p:spTree>
    <p:extLst>
      <p:ext uri="{BB962C8B-B14F-4D97-AF65-F5344CB8AC3E}">
        <p14:creationId xmlns:p14="http://schemas.microsoft.com/office/powerpoint/2010/main" val="36284041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Nitrogen_Fixation"/>
          <p:cNvPicPr>
            <a:picLocks noChangeAspect="1" noChangeArrowheads="1"/>
          </p:cNvPicPr>
          <p:nvPr/>
        </p:nvPicPr>
        <p:blipFill>
          <a:blip r:embed="rId3" cstate="print"/>
          <a:srcRect/>
          <a:stretch>
            <a:fillRect/>
          </a:stretch>
        </p:blipFill>
        <p:spPr bwMode="auto">
          <a:xfrm>
            <a:off x="685800" y="609600"/>
            <a:ext cx="7153275" cy="5715000"/>
          </a:xfrm>
          <a:prstGeom prst="rect">
            <a:avLst/>
          </a:prstGeom>
          <a:noFill/>
        </p:spPr>
      </p:pic>
    </p:spTree>
    <p:extLst>
      <p:ext uri="{BB962C8B-B14F-4D97-AF65-F5344CB8AC3E}">
        <p14:creationId xmlns:p14="http://schemas.microsoft.com/office/powerpoint/2010/main" val="2296227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1143000" y="838200"/>
            <a:ext cx="5791200" cy="4953000"/>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4254855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3041</Words>
  <Application>Microsoft Office PowerPoint</Application>
  <PresentationFormat>On-screen Show (4:3)</PresentationFormat>
  <Paragraphs>186</Paragraphs>
  <Slides>69</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69</vt:i4>
      </vt:variant>
    </vt:vector>
  </HeadingPairs>
  <TitlesOfParts>
    <vt:vector size="74" baseType="lpstr">
      <vt:lpstr>Arial</vt:lpstr>
      <vt:lpstr>Calibri</vt:lpstr>
      <vt:lpstr>Wingdings</vt:lpstr>
      <vt:lpstr>Office Theme</vt:lpstr>
      <vt:lpstr>Document</vt:lpstr>
      <vt:lpstr>PowerPoint Presentation</vt:lpstr>
      <vt:lpstr> Biologically Important Elements </vt:lpstr>
      <vt:lpstr>PowerPoint Presentation</vt:lpstr>
      <vt:lpstr>PowerPoint Presentation</vt:lpstr>
      <vt:lpstr>PowerPoint Presentation</vt:lpstr>
      <vt:lpstr>PowerPoint Presentation</vt:lpstr>
      <vt:lpstr>PowerPoint Presentation</vt:lpstr>
      <vt:lpstr>PowerPoint Presentation</vt:lpstr>
      <vt:lpstr>Porphyrins</vt:lpstr>
      <vt:lpstr>What is porphyrin?</vt:lpstr>
      <vt:lpstr>PowerPoint Presentation</vt:lpstr>
      <vt:lpstr>PowerPoint Presentation</vt:lpstr>
      <vt:lpstr>PowerPoint Presentation</vt:lpstr>
      <vt:lpstr>PowerPoint Presentation</vt:lpstr>
      <vt:lpstr>PowerPoint Presentation</vt:lpstr>
      <vt:lpstr> What is Chlorophyll? </vt:lpstr>
      <vt:lpstr>PowerPoint Presentation</vt:lpstr>
      <vt:lpstr>PowerPoint Presentation</vt:lpstr>
      <vt:lpstr>Chlorophyll</vt:lpstr>
      <vt:lpstr>Chloroplast</vt:lpstr>
      <vt:lpstr>Structure of Chlorophyll</vt:lpstr>
      <vt:lpstr>PowerPoint Presentation</vt:lpstr>
      <vt:lpstr>PowerPoint Presentation</vt:lpstr>
      <vt:lpstr>PowerPoint Presentation</vt:lpstr>
      <vt:lpstr>PowerPoint Presentation</vt:lpstr>
      <vt:lpstr>PowerPoint Presentation</vt:lpstr>
      <vt:lpstr>Chlorophyll</vt:lpstr>
      <vt:lpstr>PowerPoint Presentation</vt:lpstr>
      <vt:lpstr>PowerPoint Presentation</vt:lpstr>
      <vt:lpstr>PowerPoint Presentation</vt:lpstr>
      <vt:lpstr> Photosynthesis Equation </vt:lpstr>
      <vt:lpstr>HEMOGLOBIN &amp; MYOGLOBIN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Cytochromes</vt:lpstr>
      <vt:lpstr>PowerPoint Presentation</vt:lpstr>
      <vt:lpstr>PowerPoint Presentation</vt:lpstr>
      <vt:lpstr>PowerPoint Presentation</vt:lpstr>
      <vt:lpstr>The Oxygen Dissociation Curve</vt:lpstr>
      <vt:lpstr>Factors that Influence Oxygen Binding  </vt:lpstr>
      <vt:lpstr>PowerPoint Presentation</vt:lpstr>
      <vt:lpstr>PowerPoint Presentation</vt:lpstr>
      <vt:lpstr>PowerPoint Presentation</vt:lpstr>
      <vt:lpstr>PowerPoint Presentation</vt:lpstr>
      <vt:lpstr>PowerPoint Presentation</vt:lpstr>
      <vt:lpstr>Iron-sulfur protein</vt:lpstr>
      <vt:lpstr>PowerPoint Presentation</vt:lpstr>
      <vt:lpstr>PowerPoint Presentation</vt:lpstr>
      <vt:lpstr> Nitrogen fixation </vt:lpstr>
      <vt:lpstr>What is the Nitrogen Cycle?</vt:lpstr>
      <vt:lpstr>How does the Nitrogen Cycle work?</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 XP</dc:creator>
  <cp:lastModifiedBy>USER</cp:lastModifiedBy>
  <cp:revision>173</cp:revision>
  <dcterms:created xsi:type="dcterms:W3CDTF">2013-09-02T05:30:08Z</dcterms:created>
  <dcterms:modified xsi:type="dcterms:W3CDTF">2025-07-08T04:14:43Z</dcterms:modified>
</cp:coreProperties>
</file>