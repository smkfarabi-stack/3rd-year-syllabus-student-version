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docx" ContentType="application/vnd.openxmlformats-officedocument.wordprocessingml.document"/>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312" r:id="rId3"/>
    <p:sldId id="268" r:id="rId4"/>
    <p:sldId id="259" r:id="rId5"/>
    <p:sldId id="269" r:id="rId6"/>
    <p:sldId id="270" r:id="rId7"/>
    <p:sldId id="271" r:id="rId8"/>
    <p:sldId id="273" r:id="rId9"/>
    <p:sldId id="260" r:id="rId10"/>
    <p:sldId id="256" r:id="rId11"/>
    <p:sldId id="261" r:id="rId12"/>
    <p:sldId id="264" r:id="rId13"/>
    <p:sldId id="262" r:id="rId14"/>
    <p:sldId id="263" r:id="rId15"/>
    <p:sldId id="265" r:id="rId16"/>
    <p:sldId id="315" r:id="rId17"/>
    <p:sldId id="316" r:id="rId18"/>
    <p:sldId id="317" r:id="rId19"/>
    <p:sldId id="318" r:id="rId20"/>
    <p:sldId id="319" r:id="rId21"/>
    <p:sldId id="320" r:id="rId22"/>
    <p:sldId id="321" r:id="rId23"/>
    <p:sldId id="285" r:id="rId24"/>
    <p:sldId id="314" r:id="rId25"/>
    <p:sldId id="286" r:id="rId26"/>
    <p:sldId id="275" r:id="rId27"/>
    <p:sldId id="276" r:id="rId28"/>
    <p:sldId id="313" r:id="rId29"/>
    <p:sldId id="327" r:id="rId30"/>
    <p:sldId id="328" r:id="rId31"/>
    <p:sldId id="329" r:id="rId32"/>
    <p:sldId id="330" r:id="rId33"/>
    <p:sldId id="277" r:id="rId34"/>
    <p:sldId id="278" r:id="rId35"/>
    <p:sldId id="279" r:id="rId36"/>
    <p:sldId id="280" r:id="rId37"/>
    <p:sldId id="332" r:id="rId38"/>
    <p:sldId id="333" r:id="rId39"/>
    <p:sldId id="322" r:id="rId40"/>
    <p:sldId id="323" r:id="rId41"/>
    <p:sldId id="324" r:id="rId42"/>
    <p:sldId id="325" r:id="rId43"/>
    <p:sldId id="326" r:id="rId44"/>
    <p:sldId id="266" r:id="rId45"/>
    <p:sldId id="287" r:id="rId46"/>
    <p:sldId id="298" r:id="rId47"/>
    <p:sldId id="302" r:id="rId48"/>
    <p:sldId id="308" r:id="rId49"/>
    <p:sldId id="301" r:id="rId50"/>
    <p:sldId id="306" r:id="rId51"/>
    <p:sldId id="331" r:id="rId52"/>
    <p:sldId id="290" r:id="rId53"/>
    <p:sldId id="291" r:id="rId54"/>
    <p:sldId id="288" r:id="rId55"/>
    <p:sldId id="289" r:id="rId56"/>
    <p:sldId id="293" r:id="rId57"/>
    <p:sldId id="292" r:id="rId58"/>
    <p:sldId id="295" r:id="rId59"/>
    <p:sldId id="296" r:id="rId60"/>
    <p:sldId id="297" r:id="rId61"/>
    <p:sldId id="309" r:id="rId62"/>
    <p:sldId id="310"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18" autoAdjust="0"/>
    <p:restoredTop sz="94660"/>
  </p:normalViewPr>
  <p:slideViewPr>
    <p:cSldViewPr>
      <p:cViewPr varScale="1">
        <p:scale>
          <a:sx n="68" d="100"/>
          <a:sy n="68" d="100"/>
        </p:scale>
        <p:origin x="-57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D88845-7FE9-4BC1-9042-28A37F9951DB}" type="datetimeFigureOut">
              <a:rPr lang="en-US" smtClean="0"/>
              <a:pPr/>
              <a:t>12/14/2021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87C11F-8B65-4151-AE64-3CA69436386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endParaRPr lang="en-US" smtClean="0"/>
          </a:p>
        </p:txBody>
      </p:sp>
      <p:sp>
        <p:nvSpPr>
          <p:cNvPr id="44036" name="Slide Number Placeholder 3"/>
          <p:cNvSpPr>
            <a:spLocks noGrp="1"/>
          </p:cNvSpPr>
          <p:nvPr>
            <p:ph type="sldNum" sz="quarter" idx="5"/>
          </p:nvPr>
        </p:nvSpPr>
        <p:spPr>
          <a:noFill/>
        </p:spPr>
        <p:txBody>
          <a:bodyPr/>
          <a:lstStyle/>
          <a:p>
            <a:fld id="{95B560BD-66BE-43DA-860A-6022301DC401}" type="slidenum">
              <a:rPr lang="en-US" smtClean="0"/>
              <a:pPr/>
              <a:t>2</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pPr/>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pPr/>
              <a:t>44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pPr/>
              <a:t>60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28C457-B137-4C68-A8B0-BD91B94DA975}" type="datetimeFigureOut">
              <a:rPr lang="en-US" smtClean="0"/>
              <a:pPr/>
              <a:t>12/14/2021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28C457-B137-4C68-A8B0-BD91B94DA975}" type="datetimeFigureOut">
              <a:rPr lang="en-US" smtClean="0"/>
              <a:pPr/>
              <a:t>12/14/2021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A5C38-8DC9-4824-A3DB-22CD9CA317B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package" Target="../embeddings/Microsoft_Office_Word_Document1.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biology-online.org/dictionary/Chlorophyll_b" TargetMode="External"/><Relationship Id="rId7" Type="http://schemas.openxmlformats.org/officeDocument/2006/relationships/hyperlink" Target="http://www.biology-online.org/dictionary/Chlorophyll_f" TargetMode="Externa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hyperlink" Target="http://www.biology-online.org/dictionary/Chlorophyll_e" TargetMode="External"/><Relationship Id="rId5" Type="http://schemas.openxmlformats.org/officeDocument/2006/relationships/hyperlink" Target="http://www.biology-online.org/dictionary/Chlorophyll_d" TargetMode="External"/><Relationship Id="rId4" Type="http://schemas.openxmlformats.org/officeDocument/2006/relationships/hyperlink" Target="http://www.biology-online.org/dictionary/Chlorophyll_c"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en.wikipedia.org/wiki/Vitamin" TargetMode="External"/><Relationship Id="rId7" Type="http://schemas.openxmlformats.org/officeDocument/2006/relationships/hyperlink" Target="http://en.wikipedia.org/wiki/B_vitamins" TargetMode="Externa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hyperlink" Target="http://en.wikipedia.org/wiki/Blood" TargetMode="External"/><Relationship Id="rId5" Type="http://schemas.openxmlformats.org/officeDocument/2006/relationships/hyperlink" Target="http://en.wikipedia.org/wiki/Nervous_system" TargetMode="External"/><Relationship Id="rId4" Type="http://schemas.openxmlformats.org/officeDocument/2006/relationships/hyperlink" Target="http://en.wikipedia.org/wiki/Brain"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en.wikipedia.org/wiki/Nervous_system" TargetMode="External"/><Relationship Id="rId2" Type="http://schemas.openxmlformats.org/officeDocument/2006/relationships/hyperlink" Target="http://en.wikipedia.org/wiki/Brain" TargetMode="External"/><Relationship Id="rId1" Type="http://schemas.openxmlformats.org/officeDocument/2006/relationships/slideLayout" Target="../slideLayouts/slideLayout2.xml"/><Relationship Id="rId4" Type="http://schemas.openxmlformats.org/officeDocument/2006/relationships/hyperlink" Target="http://en.wikipedia.org/wiki/Blood"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www.medicalnewstoday.com/articles/147963.php" TargetMode="External"/><Relationship Id="rId2" Type="http://schemas.openxmlformats.org/officeDocument/2006/relationships/hyperlink" Target="http://www.medicalnewstoday.com/articles/158800.php" TargetMode="External"/><Relationship Id="rId1" Type="http://schemas.openxmlformats.org/officeDocument/2006/relationships/slideLayout" Target="../slideLayouts/slideLayout2.xml"/><Relationship Id="rId4" Type="http://schemas.openxmlformats.org/officeDocument/2006/relationships/hyperlink" Target="http://www.medicalnewstoday.com/articles/219853.php" TargetMode="External"/></Relationships>
</file>

<file path=ppt/slides/_rels/slide54.xml.rels><?xml version="1.0" encoding="UTF-8" standalone="yes"?>
<Relationships xmlns="http://schemas.openxmlformats.org/package/2006/relationships"><Relationship Id="rId2" Type="http://schemas.openxmlformats.org/officeDocument/2006/relationships/hyperlink" Target="http://www.medicalnewstoday.com/articles/176941.php"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en.wikipedia.org/wiki/Iron-sulfur_cluster" TargetMode="External"/><Relationship Id="rId2" Type="http://schemas.openxmlformats.org/officeDocument/2006/relationships/hyperlink" Target="http://en.wikipedia.org/wiki/Protein" TargetMode="External"/><Relationship Id="rId1" Type="http://schemas.openxmlformats.org/officeDocument/2006/relationships/slideLayout" Target="../slideLayouts/slideLayout2.xml"/><Relationship Id="rId6" Type="http://schemas.openxmlformats.org/officeDocument/2006/relationships/hyperlink" Target="http://en.wikipedia.org/wiki/Oxidation_state" TargetMode="External"/><Relationship Id="rId5" Type="http://schemas.openxmlformats.org/officeDocument/2006/relationships/hyperlink" Target="http://en.wikipedia.org/wiki/Iron" TargetMode="External"/><Relationship Id="rId4" Type="http://schemas.openxmlformats.org/officeDocument/2006/relationships/hyperlink" Target="http://en.wikipedia.org/wiki/Sulfid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en.wikipedia.org/wiki/File:FeS.png"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hyperlink" Target="http://en.wikipedia.org/wiki/DNA_and_RNA" TargetMode="External"/><Relationship Id="rId13" Type="http://schemas.openxmlformats.org/officeDocument/2006/relationships/hyperlink" Target="http://en.wikipedia.org/wiki/Trinitrotoluene" TargetMode="External"/><Relationship Id="rId3" Type="http://schemas.openxmlformats.org/officeDocument/2006/relationships/hyperlink" Target="http://en.wikipedia.org/wiki/Earth's_atmosphere" TargetMode="External"/><Relationship Id="rId7" Type="http://schemas.openxmlformats.org/officeDocument/2006/relationships/hyperlink" Target="http://en.wikipedia.org/wiki/Nucleotides" TargetMode="External"/><Relationship Id="rId12" Type="http://schemas.openxmlformats.org/officeDocument/2006/relationships/hyperlink" Target="http://en.wikipedia.org/wiki/Dynamite" TargetMode="External"/><Relationship Id="rId17" Type="http://schemas.openxmlformats.org/officeDocument/2006/relationships/hyperlink" Target="http://en.wikipedia.org/wiki/Symbiosis" TargetMode="External"/><Relationship Id="rId2" Type="http://schemas.openxmlformats.org/officeDocument/2006/relationships/hyperlink" Target="http://en.wikipedia.org/wiki/Nitrogen" TargetMode="External"/><Relationship Id="rId16" Type="http://schemas.openxmlformats.org/officeDocument/2006/relationships/hyperlink" Target="http://en.wikipedia.org/wiki/Termite" TargetMode="External"/><Relationship Id="rId1" Type="http://schemas.openxmlformats.org/officeDocument/2006/relationships/slideLayout" Target="../slideLayouts/slideLayout2.xml"/><Relationship Id="rId6" Type="http://schemas.openxmlformats.org/officeDocument/2006/relationships/hyperlink" Target="http://en.wikipedia.org/wiki/Biosynthesis" TargetMode="External"/><Relationship Id="rId11" Type="http://schemas.openxmlformats.org/officeDocument/2006/relationships/hyperlink" Target="http://en.wikipedia.org/wiki/Gunpowder" TargetMode="External"/><Relationship Id="rId5" Type="http://schemas.openxmlformats.org/officeDocument/2006/relationships/hyperlink" Target="http://en.wikipedia.org/wiki/Nitrogen_fixation" TargetMode="External"/><Relationship Id="rId15" Type="http://schemas.openxmlformats.org/officeDocument/2006/relationships/hyperlink" Target="http://en.wikipedia.org/wiki/Diazotroph" TargetMode="External"/><Relationship Id="rId10" Type="http://schemas.openxmlformats.org/officeDocument/2006/relationships/hyperlink" Target="http://en.wikipedia.org/wiki/Protein" TargetMode="External"/><Relationship Id="rId4" Type="http://schemas.openxmlformats.org/officeDocument/2006/relationships/hyperlink" Target="http://en.wikipedia.org/wiki/Ammonia" TargetMode="External"/><Relationship Id="rId9" Type="http://schemas.openxmlformats.org/officeDocument/2006/relationships/hyperlink" Target="http://en.wikipedia.org/wiki/Amino_acid" TargetMode="External"/><Relationship Id="rId14" Type="http://schemas.openxmlformats.org/officeDocument/2006/relationships/hyperlink" Target="http://en.wikipedia.org/wiki/Nitrogen_dioxide"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en.wikipedia.org/wiki/Nitrogen_cycle"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304800"/>
            <a:ext cx="6400800" cy="5486400"/>
          </a:xfrm>
        </p:spPr>
        <p:txBody>
          <a:bodyPr>
            <a:normAutofit fontScale="70000" lnSpcReduction="20000"/>
          </a:bodyPr>
          <a:lstStyle/>
          <a:p>
            <a:r>
              <a:rPr lang="en-US" sz="4100" b="1" dirty="0" smtClean="0">
                <a:solidFill>
                  <a:srgbClr val="FF0000"/>
                </a:solidFill>
              </a:rPr>
              <a:t>Bioinorganic chemistry</a:t>
            </a:r>
            <a:r>
              <a:rPr lang="en-US" sz="4100" dirty="0" smtClean="0">
                <a:solidFill>
                  <a:srgbClr val="FF0000"/>
                </a:solidFill>
              </a:rPr>
              <a:t> </a:t>
            </a:r>
          </a:p>
          <a:p>
            <a:endParaRPr lang="en-US" sz="4100" dirty="0" smtClean="0">
              <a:solidFill>
                <a:srgbClr val="00B050"/>
              </a:solidFill>
            </a:endParaRPr>
          </a:p>
          <a:p>
            <a:pPr algn="just"/>
            <a:r>
              <a:rPr lang="en-US" sz="4100" dirty="0" smtClean="0"/>
              <a:t>Deals with the role of </a:t>
            </a:r>
            <a:r>
              <a:rPr lang="en-US" sz="4100" dirty="0" smtClean="0">
                <a:solidFill>
                  <a:srgbClr val="FF0000"/>
                </a:solidFill>
              </a:rPr>
              <a:t>metals and non metals </a:t>
            </a:r>
            <a:r>
              <a:rPr lang="en-US" sz="4100" dirty="0" smtClean="0"/>
              <a:t>in biological systems.</a:t>
            </a:r>
          </a:p>
          <a:p>
            <a:pPr algn="just"/>
            <a:endParaRPr lang="en-US" dirty="0" smtClean="0"/>
          </a:p>
          <a:p>
            <a:pPr algn="just"/>
            <a:r>
              <a:rPr lang="en-US" dirty="0" smtClean="0"/>
              <a:t>Two major components of bioinorganic chemistry are:</a:t>
            </a:r>
          </a:p>
          <a:p>
            <a:pPr algn="just"/>
            <a:endParaRPr lang="en-US" dirty="0" smtClean="0"/>
          </a:p>
          <a:p>
            <a:pPr marL="571500" indent="-571500" algn="just">
              <a:buAutoNum type="romanLcParenR"/>
            </a:pPr>
            <a:r>
              <a:rPr lang="en-US" dirty="0" smtClean="0">
                <a:solidFill>
                  <a:srgbClr val="7030A0"/>
                </a:solidFill>
              </a:rPr>
              <a:t>the study of naturally occurring inorganic elements in bio-systems and  </a:t>
            </a:r>
          </a:p>
          <a:p>
            <a:pPr marL="571500" indent="-571500" algn="just">
              <a:buAutoNum type="romanLcParenR"/>
            </a:pPr>
            <a:endParaRPr lang="en-US" dirty="0" smtClean="0">
              <a:solidFill>
                <a:srgbClr val="7030A0"/>
              </a:solidFill>
            </a:endParaRPr>
          </a:p>
          <a:p>
            <a:pPr marL="571500" indent="-571500" algn="just">
              <a:buAutoNum type="romanLcParenR"/>
            </a:pPr>
            <a:r>
              <a:rPr lang="en-US" dirty="0" smtClean="0">
                <a:solidFill>
                  <a:srgbClr val="7030A0"/>
                </a:solidFill>
              </a:rPr>
              <a:t>introduction of these elements as probes or drugs into biological systems and studying inorganic models that mimic the behavior of various </a:t>
            </a:r>
            <a:r>
              <a:rPr lang="en-US" dirty="0" err="1" smtClean="0">
                <a:solidFill>
                  <a:srgbClr val="7030A0"/>
                </a:solidFill>
              </a:rPr>
              <a:t>metallo</a:t>
            </a:r>
            <a:r>
              <a:rPr lang="en-US" dirty="0" smtClean="0">
                <a:solidFill>
                  <a:srgbClr val="7030A0"/>
                </a:solidFill>
              </a:rPr>
              <a:t>-proteins.</a:t>
            </a:r>
          </a:p>
          <a:p>
            <a:pPr algn="just"/>
            <a:r>
              <a:rPr lang="en-US" dirty="0" smtClean="0"/>
              <a:t>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Grp="1" noChangeArrowheads="1"/>
          </p:cNvSpPr>
          <p:nvPr>
            <p:ph type="title"/>
          </p:nvPr>
        </p:nvSpPr>
        <p:spPr>
          <a:xfrm>
            <a:off x="457200" y="457200"/>
            <a:ext cx="8229600" cy="563563"/>
          </a:xfrm>
        </p:spPr>
        <p:style>
          <a:lnRef idx="2">
            <a:schemeClr val="accent2"/>
          </a:lnRef>
          <a:fillRef idx="1">
            <a:schemeClr val="lt1"/>
          </a:fillRef>
          <a:effectRef idx="0">
            <a:schemeClr val="accent2"/>
          </a:effectRef>
          <a:fontRef idx="minor">
            <a:schemeClr val="dk1"/>
          </a:fontRef>
        </p:style>
        <p:txBody>
          <a:bodyPr>
            <a:normAutofit fontScale="90000"/>
          </a:bodyPr>
          <a:lstStyle/>
          <a:p>
            <a:pPr eaLnBrk="1" hangingPunct="1"/>
            <a:r>
              <a:rPr lang="en-US" sz="2800" b="1" dirty="0" smtClean="0"/>
              <a:t/>
            </a:r>
            <a:br>
              <a:rPr lang="en-US" sz="2800" b="1" dirty="0" smtClean="0"/>
            </a:br>
            <a:r>
              <a:rPr lang="en-US" sz="2800" b="1" dirty="0" smtClean="0">
                <a:solidFill>
                  <a:srgbClr val="FF0000"/>
                </a:solidFill>
              </a:rPr>
              <a:t>Biologically Important Elements</a:t>
            </a:r>
            <a:r>
              <a:rPr lang="en-US" sz="2800" dirty="0" smtClean="0"/>
              <a:t/>
            </a:r>
            <a:br>
              <a:rPr lang="en-US" sz="2800" dirty="0" smtClean="0"/>
            </a:br>
            <a:endParaRPr lang="en-US" sz="2800" dirty="0" smtClean="0"/>
          </a:p>
        </p:txBody>
      </p:sp>
      <p:sp>
        <p:nvSpPr>
          <p:cNvPr id="14339" name="Rectangle 6"/>
          <p:cNvSpPr>
            <a:spLocks noGrp="1" noChangeArrowheads="1"/>
          </p:cNvSpPr>
          <p:nvPr>
            <p:ph idx="1"/>
          </p:nvPr>
        </p:nvSpPr>
        <p:spPr>
          <a:xfrm>
            <a:off x="457200" y="1600200"/>
            <a:ext cx="8229600" cy="4953000"/>
          </a:xfrm>
        </p:spPr>
        <p:style>
          <a:lnRef idx="2">
            <a:schemeClr val="accent2"/>
          </a:lnRef>
          <a:fillRef idx="1">
            <a:schemeClr val="lt1"/>
          </a:fillRef>
          <a:effectRef idx="0">
            <a:schemeClr val="accent2"/>
          </a:effectRef>
          <a:fontRef idx="minor">
            <a:schemeClr val="dk1"/>
          </a:fontRef>
        </p:style>
        <p:txBody>
          <a:bodyPr>
            <a:normAutofit lnSpcReduction="10000"/>
          </a:bodyPr>
          <a:lstStyle/>
          <a:p>
            <a:pPr eaLnBrk="1" hangingPunct="1">
              <a:lnSpc>
                <a:spcPct val="80000"/>
              </a:lnSpc>
              <a:buFontTx/>
              <a:buNone/>
            </a:pPr>
            <a:r>
              <a:rPr lang="en-US" sz="2400" dirty="0" smtClean="0">
                <a:solidFill>
                  <a:srgbClr val="0000FF"/>
                </a:solidFill>
              </a:rPr>
              <a:t>Which “inorganic” elements are important biologically?</a:t>
            </a:r>
          </a:p>
          <a:p>
            <a:pPr eaLnBrk="1" hangingPunct="1">
              <a:lnSpc>
                <a:spcPct val="80000"/>
              </a:lnSpc>
              <a:buFontTx/>
              <a:buNone/>
            </a:pPr>
            <a:endParaRPr lang="en-US" sz="1000" dirty="0" smtClean="0">
              <a:solidFill>
                <a:srgbClr val="0000FF"/>
              </a:solidFill>
            </a:endParaRPr>
          </a:p>
          <a:p>
            <a:pPr eaLnBrk="1" hangingPunct="1">
              <a:lnSpc>
                <a:spcPct val="80000"/>
              </a:lnSpc>
              <a:buFontTx/>
              <a:buNone/>
            </a:pPr>
            <a:r>
              <a:rPr lang="en-US" sz="2400" dirty="0" smtClean="0">
                <a:solidFill>
                  <a:srgbClr val="0000FF"/>
                </a:solidFill>
              </a:rPr>
              <a:t>99% of human body is comprised of 11 elements</a:t>
            </a:r>
          </a:p>
          <a:p>
            <a:pPr eaLnBrk="1" hangingPunct="1">
              <a:lnSpc>
                <a:spcPct val="80000"/>
              </a:lnSpc>
              <a:buFontTx/>
              <a:buNone/>
            </a:pPr>
            <a:endParaRPr lang="en-US" sz="2400" dirty="0" smtClean="0"/>
          </a:p>
          <a:p>
            <a:pPr eaLnBrk="1" hangingPunct="1">
              <a:lnSpc>
                <a:spcPct val="80000"/>
              </a:lnSpc>
              <a:buFontTx/>
              <a:buNone/>
            </a:pPr>
            <a:r>
              <a:rPr lang="en-US" sz="1800" dirty="0" smtClean="0">
                <a:solidFill>
                  <a:srgbClr val="FF6600"/>
                </a:solidFill>
              </a:rPr>
              <a:t>Bulk biological elements: </a:t>
            </a:r>
            <a:r>
              <a:rPr lang="en-US" sz="1800" b="1" dirty="0" smtClean="0">
                <a:solidFill>
                  <a:srgbClr val="0000FF"/>
                </a:solidFill>
              </a:rPr>
              <a:t>H, C, N, O</a:t>
            </a:r>
            <a:r>
              <a:rPr lang="en-US" sz="1800" dirty="0" smtClean="0">
                <a:solidFill>
                  <a:srgbClr val="0000FF"/>
                </a:solidFill>
              </a:rPr>
              <a:t>,   P, S, </a:t>
            </a:r>
            <a:r>
              <a:rPr lang="en-US" sz="1800" dirty="0" err="1" smtClean="0">
                <a:solidFill>
                  <a:srgbClr val="0000FF"/>
                </a:solidFill>
              </a:rPr>
              <a:t>Cl</a:t>
            </a:r>
            <a:r>
              <a:rPr lang="en-US" sz="1800" dirty="0" smtClean="0">
                <a:solidFill>
                  <a:srgbClr val="0000FF"/>
                </a:solidFill>
              </a:rPr>
              <a:t>  (as PO</a:t>
            </a:r>
            <a:r>
              <a:rPr lang="en-US" sz="1800" baseline="-25000" dirty="0" smtClean="0">
                <a:solidFill>
                  <a:srgbClr val="0000FF"/>
                </a:solidFill>
              </a:rPr>
              <a:t>4</a:t>
            </a:r>
            <a:r>
              <a:rPr lang="en-US" sz="1800" baseline="30000" dirty="0" smtClean="0">
                <a:solidFill>
                  <a:srgbClr val="0000FF"/>
                </a:solidFill>
              </a:rPr>
              <a:t>3-</a:t>
            </a:r>
            <a:r>
              <a:rPr lang="en-US" sz="1800" dirty="0" smtClean="0">
                <a:solidFill>
                  <a:srgbClr val="0000FF"/>
                </a:solidFill>
              </a:rPr>
              <a:t>, SO</a:t>
            </a:r>
            <a:r>
              <a:rPr lang="en-US" sz="1800" baseline="-25000" dirty="0" smtClean="0">
                <a:solidFill>
                  <a:srgbClr val="0000FF"/>
                </a:solidFill>
              </a:rPr>
              <a:t>4</a:t>
            </a:r>
            <a:r>
              <a:rPr lang="en-US" sz="1800" baseline="30000" dirty="0" smtClean="0">
                <a:solidFill>
                  <a:srgbClr val="0000FF"/>
                </a:solidFill>
              </a:rPr>
              <a:t>2-</a:t>
            </a:r>
            <a:r>
              <a:rPr lang="en-US" sz="1800" dirty="0" smtClean="0">
                <a:solidFill>
                  <a:srgbClr val="0000FF"/>
                </a:solidFill>
              </a:rPr>
              <a:t>, </a:t>
            </a:r>
            <a:r>
              <a:rPr lang="en-US" sz="1800" dirty="0" err="1" smtClean="0">
                <a:solidFill>
                  <a:srgbClr val="0000FF"/>
                </a:solidFill>
              </a:rPr>
              <a:t>Cl</a:t>
            </a:r>
            <a:r>
              <a:rPr lang="en-US" sz="1800" baseline="30000" dirty="0" smtClean="0">
                <a:solidFill>
                  <a:srgbClr val="0000FF"/>
                </a:solidFill>
              </a:rPr>
              <a:t>-</a:t>
            </a:r>
            <a:r>
              <a:rPr lang="en-US" sz="1800" dirty="0" smtClean="0">
                <a:solidFill>
                  <a:srgbClr val="0000FF"/>
                </a:solidFill>
              </a:rPr>
              <a:t>)</a:t>
            </a:r>
          </a:p>
          <a:p>
            <a:pPr eaLnBrk="1" hangingPunct="1">
              <a:lnSpc>
                <a:spcPct val="80000"/>
              </a:lnSpc>
              <a:buFontTx/>
              <a:buNone/>
            </a:pPr>
            <a:endParaRPr lang="en-US" sz="1800" dirty="0" smtClean="0"/>
          </a:p>
          <a:p>
            <a:pPr eaLnBrk="1" hangingPunct="1">
              <a:lnSpc>
                <a:spcPct val="80000"/>
              </a:lnSpc>
              <a:buFontTx/>
              <a:buNone/>
            </a:pPr>
            <a:r>
              <a:rPr lang="en-US" sz="1800" dirty="0" smtClean="0">
                <a:solidFill>
                  <a:srgbClr val="FF6600"/>
                </a:solidFill>
              </a:rPr>
              <a:t>Bulk </a:t>
            </a:r>
            <a:r>
              <a:rPr lang="en-US" sz="1800" u="sng" dirty="0" smtClean="0">
                <a:solidFill>
                  <a:srgbClr val="FF6600"/>
                </a:solidFill>
              </a:rPr>
              <a:t>metal ion nutrients</a:t>
            </a:r>
            <a:r>
              <a:rPr lang="en-US" sz="1800" dirty="0" smtClean="0">
                <a:solidFill>
                  <a:srgbClr val="FF6600"/>
                </a:solidFill>
              </a:rPr>
              <a:t>:  </a:t>
            </a:r>
            <a:r>
              <a:rPr lang="en-US" sz="1800" dirty="0" smtClean="0">
                <a:solidFill>
                  <a:srgbClr val="0000FF"/>
                </a:solidFill>
              </a:rPr>
              <a:t>Na, Mg, K, Ca</a:t>
            </a:r>
          </a:p>
          <a:p>
            <a:pPr eaLnBrk="1" hangingPunct="1">
              <a:lnSpc>
                <a:spcPct val="80000"/>
              </a:lnSpc>
              <a:buFontTx/>
              <a:buNone/>
            </a:pPr>
            <a:endParaRPr lang="en-US" sz="1800" dirty="0" smtClean="0"/>
          </a:p>
          <a:p>
            <a:pPr eaLnBrk="1" hangingPunct="1">
              <a:lnSpc>
                <a:spcPct val="80000"/>
              </a:lnSpc>
              <a:buFontTx/>
              <a:buNone/>
            </a:pPr>
            <a:endParaRPr lang="en-US" sz="1800" dirty="0" smtClean="0"/>
          </a:p>
          <a:p>
            <a:pPr eaLnBrk="1" hangingPunct="1">
              <a:lnSpc>
                <a:spcPct val="80000"/>
              </a:lnSpc>
              <a:buFontTx/>
              <a:buNone/>
            </a:pPr>
            <a:r>
              <a:rPr lang="en-US" sz="1800" dirty="0" smtClean="0">
                <a:solidFill>
                  <a:srgbClr val="FF6600"/>
                </a:solidFill>
              </a:rPr>
              <a:t>Essential elements for a wide range of bacteria/plants/animals</a:t>
            </a:r>
          </a:p>
          <a:p>
            <a:pPr eaLnBrk="1" hangingPunct="1">
              <a:lnSpc>
                <a:spcPct val="80000"/>
              </a:lnSpc>
              <a:buFontTx/>
              <a:buNone/>
            </a:pPr>
            <a:endParaRPr lang="en-US" sz="1800" dirty="0" smtClean="0"/>
          </a:p>
          <a:p>
            <a:pPr eaLnBrk="1" hangingPunct="1">
              <a:lnSpc>
                <a:spcPct val="80000"/>
              </a:lnSpc>
              <a:buFontTx/>
              <a:buNone/>
            </a:pPr>
            <a:r>
              <a:rPr lang="en-US" sz="1800" u="sng" dirty="0" smtClean="0">
                <a:solidFill>
                  <a:srgbClr val="FF6600"/>
                </a:solidFill>
              </a:rPr>
              <a:t>Transition metals</a:t>
            </a:r>
            <a:r>
              <a:rPr lang="en-US" sz="1800" dirty="0" smtClean="0">
                <a:solidFill>
                  <a:srgbClr val="FF6600"/>
                </a:solidFill>
              </a:rPr>
              <a:t>: </a:t>
            </a:r>
            <a:r>
              <a:rPr lang="en-US" sz="1800" dirty="0" smtClean="0">
                <a:solidFill>
                  <a:srgbClr val="0000FF"/>
                </a:solidFill>
              </a:rPr>
              <a:t>V, Cr, </a:t>
            </a:r>
            <a:r>
              <a:rPr lang="en-US" sz="1800" dirty="0" err="1" smtClean="0">
                <a:solidFill>
                  <a:srgbClr val="0000FF"/>
                </a:solidFill>
              </a:rPr>
              <a:t>Mn</a:t>
            </a:r>
            <a:r>
              <a:rPr lang="en-US" sz="1800" dirty="0" smtClean="0">
                <a:solidFill>
                  <a:srgbClr val="0000FF"/>
                </a:solidFill>
              </a:rPr>
              <a:t>, Fe, Co, Ni, Cu, Zn, Mo </a:t>
            </a:r>
          </a:p>
          <a:p>
            <a:pPr eaLnBrk="1" hangingPunct="1">
              <a:lnSpc>
                <a:spcPct val="80000"/>
              </a:lnSpc>
              <a:buFontTx/>
              <a:buNone/>
            </a:pPr>
            <a:endParaRPr lang="en-US" sz="1800" dirty="0" smtClean="0">
              <a:solidFill>
                <a:schemeClr val="bg1"/>
              </a:solidFill>
            </a:endParaRPr>
          </a:p>
          <a:p>
            <a:pPr eaLnBrk="1" hangingPunct="1">
              <a:lnSpc>
                <a:spcPct val="80000"/>
              </a:lnSpc>
              <a:buFontTx/>
              <a:buNone/>
            </a:pPr>
            <a:r>
              <a:rPr lang="en-US" sz="1800" dirty="0" smtClean="0">
                <a:solidFill>
                  <a:srgbClr val="FF6600"/>
                </a:solidFill>
              </a:rPr>
              <a:t>Non-Metals: </a:t>
            </a:r>
            <a:r>
              <a:rPr lang="en-US" sz="1800" dirty="0" smtClean="0">
                <a:solidFill>
                  <a:srgbClr val="0000FF"/>
                </a:solidFill>
              </a:rPr>
              <a:t>(B), F, (Si), Se I, F. </a:t>
            </a:r>
          </a:p>
          <a:p>
            <a:pPr eaLnBrk="1" hangingPunct="1">
              <a:lnSpc>
                <a:spcPct val="80000"/>
              </a:lnSpc>
              <a:buFontTx/>
              <a:buNone/>
            </a:pPr>
            <a:endParaRPr lang="en-US" sz="1800" dirty="0" smtClean="0"/>
          </a:p>
          <a:p>
            <a:pPr eaLnBrk="1" hangingPunct="1">
              <a:lnSpc>
                <a:spcPct val="80000"/>
              </a:lnSpc>
              <a:buFontTx/>
              <a:buNone/>
            </a:pPr>
            <a:endParaRPr lang="en-US" sz="1200" dirty="0" smtClean="0"/>
          </a:p>
          <a:p>
            <a:pPr eaLnBrk="1" hangingPunct="1">
              <a:lnSpc>
                <a:spcPct val="80000"/>
              </a:lnSpc>
              <a:buFontTx/>
              <a:buNone/>
            </a:pPr>
            <a:endParaRPr lang="en-US" sz="1200" dirty="0" smtClean="0"/>
          </a:p>
          <a:p>
            <a:pPr eaLnBrk="1" hangingPunct="1">
              <a:lnSpc>
                <a:spcPct val="80000"/>
              </a:lnSpc>
              <a:buFontTx/>
              <a:buNone/>
            </a:pPr>
            <a:r>
              <a:rPr lang="en-US" sz="1600" dirty="0" smtClean="0"/>
              <a:t> </a:t>
            </a:r>
          </a:p>
          <a:p>
            <a:pPr eaLnBrk="1" hangingPunct="1">
              <a:lnSpc>
                <a:spcPct val="80000"/>
              </a:lnSpc>
              <a:buFontTx/>
              <a:buNone/>
            </a:pPr>
            <a:r>
              <a:rPr lang="en-US" sz="1600" b="1" dirty="0" smtClean="0"/>
              <a:t>		</a:t>
            </a:r>
            <a:endParaRPr lang="en-US" sz="1600" dirty="0" smtClean="0"/>
          </a:p>
          <a:p>
            <a:pPr eaLnBrk="1" hangingPunct="1">
              <a:lnSpc>
                <a:spcPct val="80000"/>
              </a:lnSpc>
              <a:buFontTx/>
              <a:buNone/>
            </a:pPr>
            <a:r>
              <a:rPr lang="en-US" sz="1200" dirty="0" smtClean="0"/>
              <a:t/>
            </a:r>
            <a:br>
              <a:rPr lang="en-US" sz="1200" dirty="0" smtClean="0"/>
            </a:br>
            <a:endParaRPr lang="en-US" sz="12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762000" y="952500"/>
            <a:ext cx="8001000" cy="5905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533400"/>
            <a:ext cx="6248400" cy="6001643"/>
          </a:xfrm>
          <a:prstGeom prst="rect">
            <a:avLst/>
          </a:prstGeom>
          <a:ln>
            <a:solidFill>
              <a:schemeClr val="accent2"/>
            </a:solidFill>
          </a:ln>
          <a:effectLst/>
        </p:spPr>
        <p:txBody>
          <a:bodyPr wrap="square">
            <a:spAutoFit/>
          </a:bodyPr>
          <a:lstStyle/>
          <a:p>
            <a:r>
              <a:rPr lang="en-US" sz="6000" b="1" dirty="0" smtClean="0">
                <a:solidFill>
                  <a:srgbClr val="FF0000"/>
                </a:solidFill>
              </a:rPr>
              <a:t>Inorganic Element</a:t>
            </a:r>
            <a:r>
              <a:rPr lang="en-US" sz="6000" b="1" dirty="0" smtClean="0"/>
              <a:t> </a:t>
            </a:r>
          </a:p>
          <a:p>
            <a:endParaRPr lang="en-US" sz="3600" b="1" dirty="0" smtClean="0"/>
          </a:p>
          <a:p>
            <a:endParaRPr lang="en-US" sz="3600" b="1" dirty="0" smtClean="0"/>
          </a:p>
          <a:p>
            <a:r>
              <a:rPr lang="en-US" sz="3600" b="1" dirty="0" smtClean="0">
                <a:solidFill>
                  <a:srgbClr val="00B050"/>
                </a:solidFill>
              </a:rPr>
              <a:t>Bulk metals</a:t>
            </a:r>
            <a:r>
              <a:rPr lang="en-US" sz="3600" dirty="0" smtClean="0">
                <a:solidFill>
                  <a:srgbClr val="00B050"/>
                </a:solidFill>
              </a:rPr>
              <a:t> </a:t>
            </a:r>
            <a:r>
              <a:rPr lang="en-US" sz="3600" dirty="0" smtClean="0"/>
              <a:t>- </a:t>
            </a:r>
            <a:r>
              <a:rPr lang="en-US" sz="3600" dirty="0" smtClean="0">
                <a:solidFill>
                  <a:srgbClr val="7030A0"/>
                </a:solidFill>
              </a:rPr>
              <a:t>Na, K, Mg &amp; Ca </a:t>
            </a:r>
          </a:p>
          <a:p>
            <a:endParaRPr lang="en-US" sz="3600" b="1" dirty="0" smtClean="0"/>
          </a:p>
          <a:p>
            <a:endParaRPr lang="en-US" sz="3600" b="1" dirty="0" smtClean="0"/>
          </a:p>
          <a:p>
            <a:r>
              <a:rPr lang="en-US" sz="3600" b="1" dirty="0" smtClean="0">
                <a:solidFill>
                  <a:srgbClr val="7030A0"/>
                </a:solidFill>
              </a:rPr>
              <a:t>Trace metals</a:t>
            </a:r>
            <a:r>
              <a:rPr lang="en-US" sz="3600" dirty="0" smtClean="0">
                <a:solidFill>
                  <a:srgbClr val="7030A0"/>
                </a:solidFill>
              </a:rPr>
              <a:t> </a:t>
            </a:r>
            <a:r>
              <a:rPr lang="en-US" sz="3600" dirty="0" smtClean="0"/>
              <a:t>- </a:t>
            </a:r>
            <a:r>
              <a:rPr lang="en-US" sz="3600" dirty="0" smtClean="0">
                <a:solidFill>
                  <a:srgbClr val="FF0000"/>
                </a:solidFill>
              </a:rPr>
              <a:t>Zn, Fe, Co, Ni, Cu, Mo, V etc</a:t>
            </a:r>
            <a:r>
              <a:rPr lang="en-US" sz="3600" dirty="0" smtClean="0"/>
              <a:t>., which are present in low concentration and are used for </a:t>
            </a:r>
            <a:r>
              <a:rPr lang="en-US" sz="3600" dirty="0" err="1" smtClean="0"/>
              <a:t>biocatalysis</a:t>
            </a:r>
            <a:r>
              <a:rPr lang="en-US" sz="3600" dirty="0" smtClean="0"/>
              <a:t>. </a:t>
            </a:r>
            <a:endParaRPr lang="en-US" sz="3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609600" y="362467"/>
            <a:ext cx="7391400" cy="649553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1447800" y="152400"/>
            <a:ext cx="6477000" cy="650914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228600" y="609600"/>
            <a:ext cx="8610600" cy="571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p:cNvGraphicFramePr>
            <a:graphicFrameLocks noChangeAspect="1"/>
          </p:cNvGraphicFramePr>
          <p:nvPr/>
        </p:nvGraphicFramePr>
        <p:xfrm>
          <a:off x="609600" y="762000"/>
          <a:ext cx="7792401" cy="5791200"/>
        </p:xfrm>
        <a:graphic>
          <a:graphicData uri="http://schemas.openxmlformats.org/presentationml/2006/ole">
            <p:oleObj spid="_x0000_s8194" name="Document" r:id="rId4" imgW="5940848" imgH="4415602" progId="Word.Document.12">
              <p:embed/>
            </p:oleObj>
          </a:graphicData>
        </a:graphic>
      </p:graphicFrame>
      <p:sp>
        <p:nvSpPr>
          <p:cNvPr id="3" name="Rectangle 2"/>
          <p:cNvSpPr/>
          <p:nvPr/>
        </p:nvSpPr>
        <p:spPr>
          <a:xfrm>
            <a:off x="1981200" y="381000"/>
            <a:ext cx="3974871" cy="369332"/>
          </a:xfrm>
          <a:prstGeom prst="rect">
            <a:avLst/>
          </a:prstGeom>
        </p:spPr>
        <p:txBody>
          <a:bodyPr wrap="none">
            <a:spAutoFit/>
          </a:bodyPr>
          <a:lstStyle/>
          <a:p>
            <a:r>
              <a:rPr lang="en-US" b="1" dirty="0" smtClean="0"/>
              <a:t>APPLICATIONS OF METALS IN MEDICINE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FF0000"/>
                </a:solidFill>
              </a:rPr>
              <a:t>Porphyrins</a:t>
            </a:r>
            <a:endParaRPr lang="en-US" dirty="0">
              <a:solidFill>
                <a:srgbClr val="FF0000"/>
              </a:solidFill>
            </a:endParaRPr>
          </a:p>
        </p:txBody>
      </p:sp>
      <p:sp>
        <p:nvSpPr>
          <p:cNvPr id="3" name="Content Placeholder 2"/>
          <p:cNvSpPr>
            <a:spLocks noGrp="1"/>
          </p:cNvSpPr>
          <p:nvPr>
            <p:ph idx="1"/>
          </p:nvPr>
        </p:nvSpPr>
        <p:spPr/>
        <p:txBody>
          <a:bodyPr/>
          <a:lstStyle/>
          <a:p>
            <a:r>
              <a:rPr lang="en-US" b="1" dirty="0" smtClean="0">
                <a:solidFill>
                  <a:srgbClr val="FF0000"/>
                </a:solidFill>
              </a:rPr>
              <a:t>Background </a:t>
            </a:r>
            <a:r>
              <a:rPr lang="en-US" b="1" dirty="0" smtClean="0"/>
              <a:t>—</a:t>
            </a:r>
            <a:r>
              <a:rPr lang="en-US" dirty="0" err="1" smtClean="0"/>
              <a:t>Porphyrins</a:t>
            </a:r>
            <a:r>
              <a:rPr lang="en-US" dirty="0" smtClean="0"/>
              <a:t> (which comes from the Greek for "purple") are based on 16-atom rings containing four nitrogen atoms, they are of perfect size to bind nearly all metal ions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0"/>
            <a:ext cx="4800600" cy="1295399"/>
          </a:xfrm>
        </p:spPr>
        <p:txBody>
          <a:bodyPr>
            <a:normAutofit/>
          </a:bodyPr>
          <a:lstStyle/>
          <a:p>
            <a:r>
              <a:rPr lang="en-US" b="1" dirty="0" smtClean="0">
                <a:solidFill>
                  <a:srgbClr val="FF0000"/>
                </a:solidFill>
              </a:rPr>
              <a:t>What is </a:t>
            </a:r>
            <a:r>
              <a:rPr lang="en-US" b="1" dirty="0" err="1" smtClean="0">
                <a:solidFill>
                  <a:srgbClr val="FF0000"/>
                </a:solidFill>
              </a:rPr>
              <a:t>porphyrin</a:t>
            </a:r>
            <a:r>
              <a:rPr lang="en-US" b="1" dirty="0" smtClean="0">
                <a:solidFill>
                  <a:srgbClr val="FF0000"/>
                </a:solidFill>
              </a:rPr>
              <a:t>?</a:t>
            </a:r>
            <a:endParaRPr lang="en-US" dirty="0">
              <a:solidFill>
                <a:srgbClr val="FF0000"/>
              </a:solidFill>
            </a:endParaRPr>
          </a:p>
        </p:txBody>
      </p:sp>
      <p:sp>
        <p:nvSpPr>
          <p:cNvPr id="6" name="Rectangle 5"/>
          <p:cNvSpPr/>
          <p:nvPr/>
        </p:nvSpPr>
        <p:spPr>
          <a:xfrm>
            <a:off x="609600" y="914400"/>
            <a:ext cx="7391400" cy="3539430"/>
          </a:xfrm>
          <a:prstGeom prst="rect">
            <a:avLst/>
          </a:prstGeom>
        </p:spPr>
        <p:txBody>
          <a:bodyPr wrap="square">
            <a:spAutoFit/>
          </a:bodyPr>
          <a:lstStyle/>
          <a:p>
            <a:pPr algn="just"/>
            <a:endParaRPr lang="en-US" sz="3200" b="1" dirty="0" smtClean="0"/>
          </a:p>
          <a:p>
            <a:pPr algn="just"/>
            <a:r>
              <a:rPr lang="en-US" sz="3200" b="1" dirty="0" err="1" smtClean="0">
                <a:solidFill>
                  <a:srgbClr val="7030A0"/>
                </a:solidFill>
              </a:rPr>
              <a:t>Porphyrins</a:t>
            </a:r>
            <a:r>
              <a:rPr lang="en-US" sz="3200" b="1" dirty="0" smtClean="0">
                <a:solidFill>
                  <a:srgbClr val="7030A0"/>
                </a:solidFill>
              </a:rPr>
              <a:t> </a:t>
            </a:r>
            <a:r>
              <a:rPr lang="en-US" sz="3200" b="1" dirty="0">
                <a:solidFill>
                  <a:srgbClr val="7030A0"/>
                </a:solidFill>
              </a:rPr>
              <a:t>are </a:t>
            </a:r>
            <a:r>
              <a:rPr lang="en-US" sz="3200" b="1" dirty="0" err="1" smtClean="0">
                <a:solidFill>
                  <a:srgbClr val="7030A0"/>
                </a:solidFill>
              </a:rPr>
              <a:t>tetrapyrrole</a:t>
            </a:r>
            <a:r>
              <a:rPr lang="en-US" sz="3200" b="1" dirty="0" smtClean="0">
                <a:solidFill>
                  <a:srgbClr val="7030A0"/>
                </a:solidFill>
              </a:rPr>
              <a:t> </a:t>
            </a:r>
            <a:r>
              <a:rPr lang="en-US" sz="3200" b="1" dirty="0" err="1" smtClean="0">
                <a:solidFill>
                  <a:srgbClr val="7030A0"/>
                </a:solidFill>
              </a:rPr>
              <a:t>macrocycles</a:t>
            </a:r>
            <a:r>
              <a:rPr lang="en-US" sz="3200" b="1" dirty="0" smtClean="0">
                <a:solidFill>
                  <a:srgbClr val="7030A0"/>
                </a:solidFill>
              </a:rPr>
              <a:t> </a:t>
            </a:r>
            <a:r>
              <a:rPr lang="en-US" sz="3200" b="1" dirty="0">
                <a:solidFill>
                  <a:srgbClr val="7030A0"/>
                </a:solidFill>
              </a:rPr>
              <a:t>with conjugated </a:t>
            </a:r>
            <a:r>
              <a:rPr lang="en-US" sz="3200" b="1" dirty="0" smtClean="0">
                <a:solidFill>
                  <a:srgbClr val="7030A0"/>
                </a:solidFill>
              </a:rPr>
              <a:t>double bonds </a:t>
            </a:r>
            <a:r>
              <a:rPr lang="en-US" sz="3200" b="1" dirty="0">
                <a:solidFill>
                  <a:srgbClr val="7030A0"/>
                </a:solidFill>
              </a:rPr>
              <a:t>and various groups attached to the </a:t>
            </a:r>
            <a:r>
              <a:rPr lang="en-US" sz="3200" b="1" dirty="0" smtClean="0">
                <a:solidFill>
                  <a:srgbClr val="7030A0"/>
                </a:solidFill>
              </a:rPr>
              <a:t>perimeter. variation </a:t>
            </a:r>
            <a:r>
              <a:rPr lang="en-US" sz="3200" b="1" dirty="0">
                <a:solidFill>
                  <a:srgbClr val="7030A0"/>
                </a:solidFill>
              </a:rPr>
              <a:t>of </a:t>
            </a:r>
            <a:r>
              <a:rPr lang="en-US" sz="3200" b="1" dirty="0" err="1">
                <a:solidFill>
                  <a:srgbClr val="7030A0"/>
                </a:solidFill>
              </a:rPr>
              <a:t>substituents</a:t>
            </a:r>
            <a:r>
              <a:rPr lang="en-US" sz="3200" b="1" dirty="0">
                <a:solidFill>
                  <a:srgbClr val="7030A0"/>
                </a:solidFill>
              </a:rPr>
              <a:t> facilitates the tuning of electron-donating and</a:t>
            </a:r>
          </a:p>
          <a:p>
            <a:r>
              <a:rPr lang="en-US" sz="3200" b="1" dirty="0">
                <a:solidFill>
                  <a:srgbClr val="7030A0"/>
                </a:solidFill>
              </a:rPr>
              <a:t>electron-withdrawing ability of the </a:t>
            </a:r>
            <a:r>
              <a:rPr lang="en-US" sz="3200" b="1" dirty="0" err="1">
                <a:solidFill>
                  <a:srgbClr val="7030A0"/>
                </a:solidFill>
              </a:rPr>
              <a:t>ligand</a:t>
            </a:r>
            <a:endParaRPr lang="en-US" sz="3200" dirty="0">
              <a:solidFill>
                <a:srgbClr val="7030A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3" cstate="print"/>
          <a:srcRect/>
          <a:stretch>
            <a:fillRect/>
          </a:stretch>
        </p:blipFill>
        <p:spPr bwMode="auto">
          <a:xfrm>
            <a:off x="2895600" y="533400"/>
            <a:ext cx="3809524" cy="3847619"/>
          </a:xfrm>
          <a:prstGeom prst="rect">
            <a:avLst/>
          </a:prstGeom>
          <a:noFill/>
          <a:ln w="9525">
            <a:solidFill>
              <a:schemeClr val="accent1"/>
            </a:solidFill>
            <a:miter lim="800000"/>
            <a:headEnd/>
            <a:tailEnd/>
          </a:ln>
          <a:effectLst/>
        </p:spPr>
      </p:pic>
      <p:pic>
        <p:nvPicPr>
          <p:cNvPr id="1028" name="Picture 4" descr="http://www.ratbehavior.org/images/Pyrrole.jpg"/>
          <p:cNvPicPr>
            <a:picLocks noChangeAspect="1" noChangeArrowheads="1"/>
          </p:cNvPicPr>
          <p:nvPr/>
        </p:nvPicPr>
        <p:blipFill>
          <a:blip r:embed="rId4" cstate="print"/>
          <a:srcRect/>
          <a:stretch>
            <a:fillRect/>
          </a:stretch>
        </p:blipFill>
        <p:spPr bwMode="auto">
          <a:xfrm>
            <a:off x="1066800" y="2133600"/>
            <a:ext cx="1066800" cy="1758244"/>
          </a:xfrm>
          <a:prstGeom prst="rect">
            <a:avLst/>
          </a:prstGeom>
        </p:spPr>
        <p:style>
          <a:lnRef idx="3">
            <a:schemeClr val="lt1"/>
          </a:lnRef>
          <a:fillRef idx="1">
            <a:schemeClr val="accent3"/>
          </a:fillRef>
          <a:effectRef idx="1">
            <a:schemeClr val="accent3"/>
          </a:effectRef>
          <a:fontRef idx="minor">
            <a:schemeClr val="lt1"/>
          </a:fontRef>
        </p:style>
      </p:pic>
      <p:sp>
        <p:nvSpPr>
          <p:cNvPr id="6" name="Rectangle 5"/>
          <p:cNvSpPr/>
          <p:nvPr/>
        </p:nvSpPr>
        <p:spPr>
          <a:xfrm>
            <a:off x="1219200" y="4114800"/>
            <a:ext cx="846578" cy="369332"/>
          </a:xfrm>
          <a:prstGeom prst="rect">
            <a:avLst/>
          </a:prstGeom>
        </p:spPr>
        <p:txBody>
          <a:bodyPr wrap="square">
            <a:spAutoFit/>
          </a:bodyPr>
          <a:lstStyle/>
          <a:p>
            <a:r>
              <a:rPr lang="en-US" i="1" dirty="0" err="1" smtClean="0"/>
              <a:t>Pyrrole</a:t>
            </a:r>
            <a:endParaRPr lang="en-US" dirty="0"/>
          </a:p>
        </p:txBody>
      </p:sp>
      <p:sp>
        <p:nvSpPr>
          <p:cNvPr id="7" name="Rectangle 6"/>
          <p:cNvSpPr/>
          <p:nvPr/>
        </p:nvSpPr>
        <p:spPr>
          <a:xfrm>
            <a:off x="4191000" y="4572000"/>
            <a:ext cx="1524000" cy="369332"/>
          </a:xfrm>
          <a:prstGeom prst="rect">
            <a:avLst/>
          </a:prstGeom>
        </p:spPr>
        <p:txBody>
          <a:bodyPr wrap="square">
            <a:spAutoFit/>
          </a:bodyPr>
          <a:lstStyle/>
          <a:p>
            <a:r>
              <a:rPr lang="en-US" b="1" dirty="0" err="1" smtClean="0">
                <a:solidFill>
                  <a:srgbClr val="FF0000"/>
                </a:solidFill>
              </a:rPr>
              <a:t>porphyrin</a:t>
            </a:r>
            <a:endParaRPr lang="en-US" dirty="0"/>
          </a:p>
        </p:txBody>
      </p:sp>
      <p:sp>
        <p:nvSpPr>
          <p:cNvPr id="8" name="Rectangle 7"/>
          <p:cNvSpPr/>
          <p:nvPr/>
        </p:nvSpPr>
        <p:spPr>
          <a:xfrm>
            <a:off x="762000" y="5029200"/>
            <a:ext cx="8077200" cy="1077218"/>
          </a:xfrm>
          <a:prstGeom prst="rect">
            <a:avLst/>
          </a:prstGeom>
        </p:spPr>
        <p:txBody>
          <a:bodyPr wrap="square">
            <a:spAutoFit/>
          </a:bodyPr>
          <a:lstStyle/>
          <a:p>
            <a:r>
              <a:rPr lang="en-US" sz="3200" i="1" dirty="0" err="1" smtClean="0">
                <a:solidFill>
                  <a:srgbClr val="00B050"/>
                </a:solidFill>
              </a:rPr>
              <a:t>Porphyrin</a:t>
            </a:r>
            <a:r>
              <a:rPr lang="en-US" sz="3200" i="1" dirty="0" smtClean="0">
                <a:solidFill>
                  <a:srgbClr val="00B050"/>
                </a:solidFill>
              </a:rPr>
              <a:t> is a compound made of four </a:t>
            </a:r>
            <a:r>
              <a:rPr lang="en-US" sz="3200" i="1" dirty="0" err="1" smtClean="0">
                <a:solidFill>
                  <a:srgbClr val="00B050"/>
                </a:solidFill>
              </a:rPr>
              <a:t>pyrrole</a:t>
            </a:r>
            <a:r>
              <a:rPr lang="en-US" sz="3200" i="1" dirty="0" smtClean="0">
                <a:solidFill>
                  <a:srgbClr val="00B050"/>
                </a:solidFill>
              </a:rPr>
              <a:t> rings</a:t>
            </a:r>
            <a:endParaRPr lang="en-US" sz="3200" dirty="0">
              <a:solidFill>
                <a:srgbClr val="00B05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http://library.med.utah.edu/NetBiochem/images/porphin.gif"/>
          <p:cNvPicPr>
            <a:picLocks noGrp="1" noChangeAspect="1" noChangeArrowheads="1"/>
          </p:cNvPicPr>
          <p:nvPr>
            <p:ph idx="1"/>
          </p:nvPr>
        </p:nvPicPr>
        <p:blipFill>
          <a:blip r:embed="rId2" cstate="print"/>
          <a:srcRect/>
          <a:stretch>
            <a:fillRect/>
          </a:stretch>
        </p:blipFill>
        <p:spPr bwMode="auto">
          <a:xfrm>
            <a:off x="1828800" y="1066800"/>
            <a:ext cx="5943600" cy="4633582"/>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33400"/>
            <a:ext cx="8229600" cy="4525963"/>
          </a:xfrm>
        </p:spPr>
        <p:txBody>
          <a:bodyPr>
            <a:normAutofit fontScale="92500" lnSpcReduction="20000"/>
          </a:bodyPr>
          <a:lstStyle/>
          <a:p>
            <a:pPr algn="just"/>
            <a:r>
              <a:rPr lang="en-US" dirty="0" smtClean="0">
                <a:solidFill>
                  <a:srgbClr val="00B050"/>
                </a:solidFill>
              </a:rPr>
              <a:t>The four </a:t>
            </a:r>
            <a:r>
              <a:rPr lang="en-US" dirty="0" err="1" smtClean="0">
                <a:solidFill>
                  <a:srgbClr val="00B050"/>
                </a:solidFill>
              </a:rPr>
              <a:t>nitrogens</a:t>
            </a:r>
            <a:r>
              <a:rPr lang="en-US" dirty="0" smtClean="0">
                <a:solidFill>
                  <a:srgbClr val="00B050"/>
                </a:solidFill>
              </a:rPr>
              <a:t> in the middle of the </a:t>
            </a:r>
            <a:r>
              <a:rPr lang="en-US" dirty="0" err="1" smtClean="0">
                <a:solidFill>
                  <a:srgbClr val="00B050"/>
                </a:solidFill>
              </a:rPr>
              <a:t>porphyrin</a:t>
            </a:r>
            <a:r>
              <a:rPr lang="en-US" dirty="0" smtClean="0">
                <a:solidFill>
                  <a:srgbClr val="00B050"/>
                </a:solidFill>
              </a:rPr>
              <a:t> molecule act as teeth: </a:t>
            </a:r>
          </a:p>
          <a:p>
            <a:pPr algn="just"/>
            <a:r>
              <a:rPr lang="en-US" dirty="0" smtClean="0">
                <a:solidFill>
                  <a:srgbClr val="00B050"/>
                </a:solidFill>
              </a:rPr>
              <a:t>They can grab and hold metal ions such as magnesium (Mg), iron (Fe), zinc (Zn), nickel (Ni), cobalt (Co), co</a:t>
            </a:r>
          </a:p>
          <a:p>
            <a:pPr algn="just"/>
            <a:r>
              <a:rPr lang="en-US" dirty="0" smtClean="0">
                <a:solidFill>
                  <a:srgbClr val="00B050"/>
                </a:solidFill>
              </a:rPr>
              <a:t>When a </a:t>
            </a:r>
            <a:r>
              <a:rPr lang="en-US" dirty="0" err="1" smtClean="0">
                <a:solidFill>
                  <a:srgbClr val="00B050"/>
                </a:solidFill>
              </a:rPr>
              <a:t>porphyrin</a:t>
            </a:r>
            <a:r>
              <a:rPr lang="en-US" dirty="0" smtClean="0">
                <a:solidFill>
                  <a:srgbClr val="00B050"/>
                </a:solidFill>
              </a:rPr>
              <a:t> molecule grabs a metal, it acquires different properties and gets a different name. So, if the central metal is iron (Fe), the </a:t>
            </a:r>
            <a:r>
              <a:rPr lang="en-US" dirty="0" err="1" smtClean="0">
                <a:solidFill>
                  <a:srgbClr val="00B050"/>
                </a:solidFill>
              </a:rPr>
              <a:t>porphyrin</a:t>
            </a:r>
            <a:r>
              <a:rPr lang="en-US" dirty="0" smtClean="0">
                <a:solidFill>
                  <a:srgbClr val="00B050"/>
                </a:solidFill>
              </a:rPr>
              <a:t> complex is called </a:t>
            </a:r>
            <a:r>
              <a:rPr lang="en-US" dirty="0" err="1" smtClean="0">
                <a:solidFill>
                  <a:srgbClr val="00B050"/>
                </a:solidFill>
              </a:rPr>
              <a:t>ferroporphyrin</a:t>
            </a:r>
            <a:r>
              <a:rPr lang="en-US" dirty="0" smtClean="0">
                <a:solidFill>
                  <a:srgbClr val="00B050"/>
                </a:solidFill>
              </a:rPr>
              <a:t>, or </a:t>
            </a:r>
            <a:r>
              <a:rPr lang="en-US" dirty="0" err="1" smtClean="0">
                <a:solidFill>
                  <a:srgbClr val="00B050"/>
                </a:solidFill>
              </a:rPr>
              <a:t>heme</a:t>
            </a:r>
            <a:r>
              <a:rPr lang="en-US" dirty="0" smtClean="0">
                <a:solidFill>
                  <a:srgbClr val="00B050"/>
                </a:solidFill>
              </a:rPr>
              <a:t>. </a:t>
            </a:r>
          </a:p>
          <a:p>
            <a:pPr algn="just"/>
            <a:r>
              <a:rPr lang="en-US" dirty="0" err="1" smtClean="0">
                <a:solidFill>
                  <a:srgbClr val="00B050"/>
                </a:solidFill>
              </a:rPr>
              <a:t>Heme</a:t>
            </a:r>
            <a:r>
              <a:rPr lang="en-US" dirty="0" smtClean="0">
                <a:solidFill>
                  <a:srgbClr val="00B050"/>
                </a:solidFill>
              </a:rPr>
              <a:t> is a member of a family of </a:t>
            </a:r>
            <a:r>
              <a:rPr lang="en-US" dirty="0" err="1" smtClean="0">
                <a:solidFill>
                  <a:srgbClr val="00B050"/>
                </a:solidFill>
              </a:rPr>
              <a:t>porphyrins</a:t>
            </a:r>
            <a:r>
              <a:rPr lang="en-US" dirty="0" smtClean="0">
                <a:solidFill>
                  <a:srgbClr val="00B050"/>
                </a:solidFill>
              </a:rPr>
              <a:t>.</a:t>
            </a:r>
            <a:endParaRPr lang="en-US" dirty="0">
              <a:solidFill>
                <a:srgbClr val="00B05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Grp="1" noChangeAspect="1" noChangeArrowheads="1"/>
          </p:cNvPicPr>
          <p:nvPr>
            <p:ph idx="1"/>
          </p:nvPr>
        </p:nvPicPr>
        <p:blipFill>
          <a:blip r:embed="rId2" cstate="print"/>
          <a:srcRect/>
          <a:stretch>
            <a:fillRect/>
          </a:stretch>
        </p:blipFill>
        <p:spPr bwMode="auto">
          <a:xfrm>
            <a:off x="2057400" y="838200"/>
            <a:ext cx="3352800" cy="3388469"/>
          </a:xfrm>
          <a:prstGeom prst="rect">
            <a:avLst/>
          </a:prstGeom>
          <a:noFill/>
          <a:ln w="9525">
            <a:noFill/>
            <a:miter lim="800000"/>
            <a:headEnd/>
            <a:tailEnd/>
          </a:ln>
          <a:effectLst/>
        </p:spPr>
      </p:pic>
      <p:sp>
        <p:nvSpPr>
          <p:cNvPr id="5" name="Rectangle 4"/>
          <p:cNvSpPr/>
          <p:nvPr/>
        </p:nvSpPr>
        <p:spPr>
          <a:xfrm>
            <a:off x="1981200" y="4343400"/>
            <a:ext cx="5867400" cy="1384995"/>
          </a:xfrm>
          <a:prstGeom prst="rect">
            <a:avLst/>
          </a:prstGeom>
        </p:spPr>
        <p:txBody>
          <a:bodyPr wrap="square">
            <a:spAutoFit/>
          </a:bodyPr>
          <a:lstStyle/>
          <a:p>
            <a:r>
              <a:rPr lang="en-US" sz="2800" i="1" dirty="0" smtClean="0">
                <a:solidFill>
                  <a:srgbClr val="7030A0"/>
                </a:solidFill>
              </a:rPr>
              <a:t>Chemical structure of </a:t>
            </a:r>
            <a:r>
              <a:rPr lang="en-US" sz="2800" i="1" dirty="0" err="1" smtClean="0">
                <a:solidFill>
                  <a:srgbClr val="7030A0"/>
                </a:solidFill>
              </a:rPr>
              <a:t>ferroporphyrin</a:t>
            </a:r>
            <a:r>
              <a:rPr lang="en-US" sz="2800" i="1" dirty="0" smtClean="0">
                <a:solidFill>
                  <a:srgbClr val="7030A0"/>
                </a:solidFill>
              </a:rPr>
              <a:t>, a </a:t>
            </a:r>
            <a:r>
              <a:rPr lang="en-US" sz="2800" i="1" dirty="0" err="1" smtClean="0">
                <a:solidFill>
                  <a:srgbClr val="7030A0"/>
                </a:solidFill>
              </a:rPr>
              <a:t>porphyrin</a:t>
            </a:r>
            <a:r>
              <a:rPr lang="en-US" sz="2800" i="1" dirty="0" smtClean="0">
                <a:solidFill>
                  <a:srgbClr val="7030A0"/>
                </a:solidFill>
              </a:rPr>
              <a:t> molecule that has an iron ion in the middle.</a:t>
            </a:r>
            <a:endParaRPr lang="en-US" sz="2800" dirty="0">
              <a:solidFill>
                <a:srgbClr val="7030A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763000" cy="5786199"/>
          </a:xfrm>
          <a:prstGeom prst="rect">
            <a:avLst/>
          </a:prstGeom>
        </p:spPr>
        <p:txBody>
          <a:bodyPr wrap="square">
            <a:spAutoFit/>
          </a:bodyPr>
          <a:lstStyle/>
          <a:p>
            <a:endParaRPr lang="en-US" b="1" i="1" dirty="0" smtClean="0"/>
          </a:p>
          <a:p>
            <a:pPr algn="just">
              <a:buFont typeface="Wingdings" pitchFamily="2" charset="2"/>
              <a:buChar char="v"/>
            </a:pPr>
            <a:r>
              <a:rPr lang="en-US" sz="4400" b="1" dirty="0">
                <a:solidFill>
                  <a:srgbClr val="FF0000"/>
                </a:solidFill>
              </a:rPr>
              <a:t>The </a:t>
            </a:r>
            <a:r>
              <a:rPr lang="en-US" sz="4400" b="1" dirty="0" err="1">
                <a:solidFill>
                  <a:srgbClr val="FF0000"/>
                </a:solidFill>
              </a:rPr>
              <a:t>porphyrins</a:t>
            </a:r>
            <a:r>
              <a:rPr lang="en-US" sz="4400" b="1" dirty="0">
                <a:solidFill>
                  <a:srgbClr val="FF0000"/>
                </a:solidFill>
              </a:rPr>
              <a:t> can accept two hydrogen ions to </a:t>
            </a:r>
            <a:r>
              <a:rPr lang="en-US" sz="4400" b="1" dirty="0" smtClean="0">
                <a:solidFill>
                  <a:srgbClr val="FF0000"/>
                </a:solidFill>
              </a:rPr>
              <a:t>form </a:t>
            </a:r>
            <a:r>
              <a:rPr lang="en-US" sz="4400" b="1" dirty="0" smtClean="0">
                <a:solidFill>
                  <a:srgbClr val="00B050"/>
                </a:solidFill>
              </a:rPr>
              <a:t>+</a:t>
            </a:r>
            <a:r>
              <a:rPr lang="en-US" sz="4400" b="1" dirty="0">
                <a:solidFill>
                  <a:srgbClr val="00B050"/>
                </a:solidFill>
              </a:rPr>
              <a:t>2 </a:t>
            </a:r>
            <a:r>
              <a:rPr lang="en-US" sz="4400" b="1" dirty="0" err="1">
                <a:solidFill>
                  <a:srgbClr val="00B050"/>
                </a:solidFill>
              </a:rPr>
              <a:t>diacids</a:t>
            </a:r>
            <a:r>
              <a:rPr lang="en-US" sz="4400" b="1" dirty="0">
                <a:solidFill>
                  <a:srgbClr val="00B050"/>
                </a:solidFill>
              </a:rPr>
              <a:t> </a:t>
            </a:r>
            <a:r>
              <a:rPr lang="en-US" sz="4400" b="1" dirty="0">
                <a:solidFill>
                  <a:srgbClr val="FF0000"/>
                </a:solidFill>
              </a:rPr>
              <a:t>or </a:t>
            </a:r>
            <a:r>
              <a:rPr lang="en-US" sz="4400" b="1" dirty="0" smtClean="0">
                <a:solidFill>
                  <a:srgbClr val="FF0000"/>
                </a:solidFill>
              </a:rPr>
              <a:t>donate</a:t>
            </a:r>
            <a:r>
              <a:rPr lang="en-US" sz="4400" dirty="0">
                <a:solidFill>
                  <a:srgbClr val="FF0000"/>
                </a:solidFill>
              </a:rPr>
              <a:t> </a:t>
            </a:r>
            <a:r>
              <a:rPr lang="en-US" sz="4400" b="1" dirty="0" smtClean="0">
                <a:solidFill>
                  <a:srgbClr val="FF0000"/>
                </a:solidFill>
              </a:rPr>
              <a:t>two </a:t>
            </a:r>
            <a:r>
              <a:rPr lang="en-US" sz="4400" b="1" dirty="0">
                <a:solidFill>
                  <a:srgbClr val="FF0000"/>
                </a:solidFill>
              </a:rPr>
              <a:t>protons to form </a:t>
            </a:r>
            <a:r>
              <a:rPr lang="en-US" sz="4400" b="1" dirty="0">
                <a:solidFill>
                  <a:srgbClr val="00B050"/>
                </a:solidFill>
              </a:rPr>
              <a:t>-2 </a:t>
            </a:r>
            <a:r>
              <a:rPr lang="en-US" sz="4400" b="1" dirty="0" err="1">
                <a:solidFill>
                  <a:srgbClr val="00B050"/>
                </a:solidFill>
              </a:rPr>
              <a:t>dianions</a:t>
            </a:r>
            <a:endParaRPr lang="en-US" sz="4400" dirty="0">
              <a:solidFill>
                <a:srgbClr val="00B050"/>
              </a:solidFill>
            </a:endParaRPr>
          </a:p>
          <a:p>
            <a:pPr algn="just"/>
            <a:endParaRPr lang="en-US" sz="4400" b="1" i="1" dirty="0" smtClean="0">
              <a:solidFill>
                <a:srgbClr val="FF0000"/>
              </a:solidFill>
            </a:endParaRPr>
          </a:p>
          <a:p>
            <a:pPr algn="just"/>
            <a:endParaRPr lang="en-US" sz="4400" b="1" i="1" dirty="0" smtClean="0">
              <a:solidFill>
                <a:srgbClr val="FF0000"/>
              </a:solidFill>
            </a:endParaRPr>
          </a:p>
          <a:p>
            <a:pPr marL="742950" indent="-742950" algn="just">
              <a:buFont typeface="Wingdings" pitchFamily="2" charset="2"/>
              <a:buChar char="v"/>
            </a:pPr>
            <a:r>
              <a:rPr lang="en-US" sz="4400" b="1" i="1" dirty="0" err="1" smtClean="0">
                <a:solidFill>
                  <a:srgbClr val="FF0000"/>
                </a:solidFill>
              </a:rPr>
              <a:t>Porphyrins</a:t>
            </a:r>
            <a:r>
              <a:rPr lang="en-US" sz="4400" b="1" i="1" dirty="0" smtClean="0">
                <a:solidFill>
                  <a:srgbClr val="FF0000"/>
                </a:solidFill>
              </a:rPr>
              <a:t> </a:t>
            </a:r>
            <a:r>
              <a:rPr lang="en-US" sz="4400" b="1" i="1" dirty="0">
                <a:solidFill>
                  <a:srgbClr val="FF0000"/>
                </a:solidFill>
              </a:rPr>
              <a:t>are found in many </a:t>
            </a:r>
            <a:r>
              <a:rPr lang="en-US" sz="4400" b="1" i="1" dirty="0" err="1">
                <a:solidFill>
                  <a:srgbClr val="00B050"/>
                </a:solidFill>
              </a:rPr>
              <a:t>metalloenzyme</a:t>
            </a:r>
            <a:endParaRPr lang="en-US" sz="4400" dirty="0">
              <a:solidFill>
                <a:srgbClr val="00B05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a:stretch>
            <a:fillRect/>
          </a:stretch>
        </p:blipFill>
        <p:spPr bwMode="auto">
          <a:xfrm>
            <a:off x="228600" y="228600"/>
            <a:ext cx="8322504" cy="62484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762000" y="609600"/>
            <a:ext cx="7612046" cy="57150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srcRect/>
          <a:stretch>
            <a:fillRect/>
          </a:stretch>
        </p:blipFill>
        <p:spPr bwMode="auto">
          <a:xfrm>
            <a:off x="533400" y="457200"/>
            <a:ext cx="7916528" cy="59436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srcRect/>
          <a:stretch>
            <a:fillRect/>
          </a:stretch>
        </p:blipFill>
        <p:spPr bwMode="auto">
          <a:xfrm>
            <a:off x="457200" y="304800"/>
            <a:ext cx="8119516" cy="60960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srcRect/>
          <a:stretch>
            <a:fillRect/>
          </a:stretch>
        </p:blipFill>
        <p:spPr bwMode="auto">
          <a:xfrm>
            <a:off x="533400" y="228600"/>
            <a:ext cx="8119516" cy="6096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228600" y="457200"/>
            <a:ext cx="8585296" cy="60960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Grp="1" noChangeAspect="1" noChangeArrowheads="1"/>
          </p:cNvPicPr>
          <p:nvPr>
            <p:ph idx="1"/>
          </p:nvPr>
        </p:nvPicPr>
        <p:blipFill>
          <a:blip r:embed="rId2"/>
          <a:srcRect/>
          <a:stretch>
            <a:fillRect/>
          </a:stretch>
        </p:blipFill>
        <p:spPr bwMode="auto">
          <a:xfrm>
            <a:off x="381000" y="304800"/>
            <a:ext cx="7924800" cy="5949811"/>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0"/>
            <a:ext cx="4343400" cy="1143000"/>
          </a:xfrm>
          <a:ln>
            <a:solidFill>
              <a:schemeClr val="accent4">
                <a:lumMod val="60000"/>
                <a:lumOff val="40000"/>
              </a:schemeClr>
            </a:solidFill>
          </a:ln>
        </p:spPr>
        <p:txBody>
          <a:bodyPr/>
          <a:lstStyle/>
          <a:p>
            <a:r>
              <a:rPr lang="en-US" dirty="0" smtClean="0">
                <a:solidFill>
                  <a:srgbClr val="FF0000"/>
                </a:solidFill>
              </a:rPr>
              <a:t>Chlorophyll</a:t>
            </a:r>
            <a:endParaRPr lang="en-US" dirty="0">
              <a:solidFill>
                <a:srgbClr val="FF0000"/>
              </a:solidFill>
            </a:endParaRPr>
          </a:p>
        </p:txBody>
      </p:sp>
      <p:pic>
        <p:nvPicPr>
          <p:cNvPr id="39938" name="Picture 2"/>
          <p:cNvPicPr>
            <a:picLocks noGrp="1" noChangeAspect="1" noChangeArrowheads="1"/>
          </p:cNvPicPr>
          <p:nvPr>
            <p:ph idx="1"/>
          </p:nvPr>
        </p:nvPicPr>
        <p:blipFill>
          <a:blip r:embed="rId2" cstate="print"/>
          <a:srcRect/>
          <a:stretch>
            <a:fillRect/>
          </a:stretch>
        </p:blipFill>
        <p:spPr bwMode="auto">
          <a:xfrm>
            <a:off x="5257800" y="1371600"/>
            <a:ext cx="2667000" cy="2667000"/>
          </a:xfrm>
          <a:prstGeom prst="rect">
            <a:avLst/>
          </a:prstGeom>
          <a:noFill/>
          <a:ln w="9525">
            <a:solidFill>
              <a:srgbClr val="FF0000"/>
            </a:solidFill>
            <a:miter lim="800000"/>
            <a:headEnd/>
            <a:tailEnd/>
          </a:ln>
          <a:effectLst/>
        </p:spPr>
      </p:pic>
      <p:sp>
        <p:nvSpPr>
          <p:cNvPr id="5" name="Rectangle 4"/>
          <p:cNvSpPr/>
          <p:nvPr/>
        </p:nvSpPr>
        <p:spPr>
          <a:xfrm>
            <a:off x="228600" y="990600"/>
            <a:ext cx="4572000" cy="2031325"/>
          </a:xfrm>
          <a:prstGeom prst="rect">
            <a:avLst/>
          </a:prstGeom>
        </p:spPr>
        <p:txBody>
          <a:bodyPr>
            <a:spAutoFit/>
          </a:bodyPr>
          <a:lstStyle/>
          <a:p>
            <a:r>
              <a:rPr lang="en-US" dirty="0" smtClean="0">
                <a:solidFill>
                  <a:srgbClr val="FF0000"/>
                </a:solidFill>
              </a:rPr>
              <a:t>Chlorophyll is </a:t>
            </a:r>
            <a:r>
              <a:rPr lang="en-US" dirty="0" smtClean="0"/>
              <a:t>– the responsible for the green color of plants. Chlorophyll absorbs energy from the sun and facilitates photosynthesis in plants. Its unique ability to convert the energy of the sun through photosynthesis is used to make carbohydrates from water and carbon dioxide. </a:t>
            </a:r>
          </a:p>
        </p:txBody>
      </p:sp>
      <p:sp>
        <p:nvSpPr>
          <p:cNvPr id="6" name="Rectangle 5"/>
          <p:cNvSpPr/>
          <p:nvPr/>
        </p:nvSpPr>
        <p:spPr>
          <a:xfrm>
            <a:off x="0" y="3048000"/>
            <a:ext cx="4953000" cy="4247317"/>
          </a:xfrm>
          <a:prstGeom prst="rect">
            <a:avLst/>
          </a:prstGeom>
        </p:spPr>
        <p:txBody>
          <a:bodyPr wrap="square">
            <a:spAutoFit/>
          </a:bodyPr>
          <a:lstStyle/>
          <a:p>
            <a:r>
              <a:rPr lang="en-US" dirty="0" smtClean="0"/>
              <a:t>The Chlorophyll and the </a:t>
            </a:r>
            <a:r>
              <a:rPr lang="en-US" dirty="0" err="1" smtClean="0"/>
              <a:t>Heme</a:t>
            </a:r>
            <a:r>
              <a:rPr lang="en-US" dirty="0" smtClean="0"/>
              <a:t>. </a:t>
            </a:r>
          </a:p>
          <a:p>
            <a:r>
              <a:rPr lang="en-US" dirty="0" smtClean="0"/>
              <a:t>The only difference is that the central atom in human is iron, while it is magnesium that is the central molecules of plants. –</a:t>
            </a:r>
          </a:p>
          <a:p>
            <a:endParaRPr lang="en-US" dirty="0" smtClean="0"/>
          </a:p>
          <a:p>
            <a:r>
              <a:rPr lang="en-US" dirty="0" smtClean="0"/>
              <a:t>There are different forms of chlorophylls existing in nature. Some of them are: </a:t>
            </a:r>
          </a:p>
          <a:p>
            <a:r>
              <a:rPr lang="en-US" dirty="0" smtClean="0"/>
              <a:t>chlorophyll a </a:t>
            </a:r>
          </a:p>
          <a:p>
            <a:r>
              <a:rPr lang="en-US" dirty="0" smtClean="0">
                <a:hlinkClick r:id="rId3" tooltip="Chlorophyll b"/>
              </a:rPr>
              <a:t>chlorophyll b</a:t>
            </a:r>
            <a:r>
              <a:rPr lang="en-US" dirty="0" smtClean="0"/>
              <a:t> </a:t>
            </a:r>
          </a:p>
          <a:p>
            <a:r>
              <a:rPr lang="en-US" dirty="0" smtClean="0">
                <a:hlinkClick r:id="rId4" tooltip="Chlorophyll c"/>
              </a:rPr>
              <a:t>chlorophyll c</a:t>
            </a:r>
            <a:r>
              <a:rPr lang="en-US" dirty="0" smtClean="0"/>
              <a:t> </a:t>
            </a:r>
          </a:p>
          <a:p>
            <a:r>
              <a:rPr lang="en-US" dirty="0" smtClean="0">
                <a:hlinkClick r:id="rId5" tooltip="Chlorophyll d"/>
              </a:rPr>
              <a:t>chlorophyll d</a:t>
            </a:r>
            <a:r>
              <a:rPr lang="en-US" dirty="0" smtClean="0"/>
              <a:t> </a:t>
            </a:r>
          </a:p>
          <a:p>
            <a:r>
              <a:rPr lang="en-US" dirty="0" smtClean="0">
                <a:hlinkClick r:id="rId6" tooltip="Chlorophyll e"/>
              </a:rPr>
              <a:t>chlorophyll e</a:t>
            </a:r>
            <a:r>
              <a:rPr lang="en-US" dirty="0" smtClean="0"/>
              <a:t> </a:t>
            </a:r>
          </a:p>
          <a:p>
            <a:r>
              <a:rPr lang="en-US" dirty="0" smtClean="0">
                <a:hlinkClick r:id="rId7" tooltip="Chlorophyll f"/>
              </a:rPr>
              <a:t>chlorophyll f</a:t>
            </a:r>
            <a:r>
              <a:rPr lang="en-US" dirty="0" smtClean="0"/>
              <a:t> </a:t>
            </a:r>
          </a:p>
          <a:p>
            <a:endParaRPr lang="en-US" dirty="0" smtClean="0"/>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srcRect/>
          <a:stretch>
            <a:fillRect/>
          </a:stretch>
        </p:blipFill>
        <p:spPr bwMode="auto">
          <a:xfrm>
            <a:off x="609600" y="533400"/>
            <a:ext cx="7772400" cy="5828983"/>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scifun.chem.wisc.edu/chemweek/chlrphyl/chlrphyl.gif"/>
          <p:cNvPicPr>
            <a:picLocks noChangeAspect="1" noChangeArrowheads="1"/>
          </p:cNvPicPr>
          <p:nvPr/>
        </p:nvPicPr>
        <p:blipFill>
          <a:blip r:embed="rId2" cstate="print"/>
          <a:srcRect/>
          <a:stretch>
            <a:fillRect/>
          </a:stretch>
        </p:blipFill>
        <p:spPr bwMode="auto">
          <a:xfrm>
            <a:off x="0" y="381000"/>
            <a:ext cx="8720579" cy="3352800"/>
          </a:xfrm>
          <a:prstGeom prst="rect">
            <a:avLst/>
          </a:prstGeom>
          <a:noFill/>
          <a:ln>
            <a:solidFill>
              <a:schemeClr val="accent3">
                <a:lumMod val="60000"/>
                <a:lumOff val="40000"/>
              </a:schemeClr>
            </a:solidFill>
          </a:ln>
        </p:spPr>
      </p:pic>
      <p:sp>
        <p:nvSpPr>
          <p:cNvPr id="5" name="TextBox 4"/>
          <p:cNvSpPr txBox="1"/>
          <p:nvPr/>
        </p:nvSpPr>
        <p:spPr>
          <a:xfrm>
            <a:off x="762000" y="3733800"/>
            <a:ext cx="7543800" cy="2308324"/>
          </a:xfrm>
          <a:prstGeom prst="rect">
            <a:avLst/>
          </a:prstGeom>
          <a:noFill/>
        </p:spPr>
        <p:txBody>
          <a:bodyPr wrap="square" rtlCol="0">
            <a:spAutoFit/>
          </a:bodyPr>
          <a:lstStyle/>
          <a:p>
            <a:endParaRPr lang="en-US" dirty="0" smtClean="0"/>
          </a:p>
          <a:p>
            <a:pPr algn="ctr"/>
            <a:r>
              <a:rPr lang="en-US" sz="3600" dirty="0" smtClean="0">
                <a:solidFill>
                  <a:srgbClr val="00B050"/>
                </a:solidFill>
              </a:rPr>
              <a:t>Structure of Chlorophyll a</a:t>
            </a:r>
          </a:p>
          <a:p>
            <a:endParaRPr lang="en-US" dirty="0" smtClean="0"/>
          </a:p>
          <a:p>
            <a:r>
              <a:rPr lang="en-US" dirty="0" smtClean="0"/>
              <a:t>The </a:t>
            </a:r>
            <a:r>
              <a:rPr lang="en-US" dirty="0" err="1" smtClean="0"/>
              <a:t>porphyrin</a:t>
            </a:r>
            <a:r>
              <a:rPr lang="en-US" dirty="0" smtClean="0"/>
              <a:t> contains four nitrogen atoms that form bonds to magnesium in a square planar arrangement. There are several forms of chlorophyll. The structure of one form, chlorophyll </a:t>
            </a:r>
            <a:r>
              <a:rPr lang="en-US" i="1" dirty="0" smtClean="0"/>
              <a:t>a</a:t>
            </a:r>
            <a:r>
              <a:rPr lang="en-US" dirty="0" smtClean="0"/>
              <a:t>, is shown.</a:t>
            </a:r>
          </a:p>
          <a:p>
            <a:r>
              <a:rPr lang="en-US" dirty="0" smtClean="0"/>
              <a:t> </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accent1"/>
            </a:solidFill>
          </a:ln>
        </p:spPr>
        <p:txBody>
          <a:bodyPr>
            <a:normAutofit/>
          </a:bodyPr>
          <a:lstStyle/>
          <a:p>
            <a:r>
              <a:rPr lang="en-US" b="1" dirty="0" smtClean="0">
                <a:solidFill>
                  <a:schemeClr val="accent3">
                    <a:lumMod val="75000"/>
                  </a:schemeClr>
                </a:solidFill>
              </a:rPr>
              <a:t>HEMOGLOBIN &amp; MYOGLOBIN </a:t>
            </a:r>
            <a:endParaRPr lang="en-US" b="1" dirty="0">
              <a:solidFill>
                <a:schemeClr val="accent3">
                  <a:lumMod val="75000"/>
                </a:schemeClr>
              </a:solidFill>
            </a:endParaRPr>
          </a:p>
        </p:txBody>
      </p:sp>
      <p:sp>
        <p:nvSpPr>
          <p:cNvPr id="3" name="Content Placeholder 2"/>
          <p:cNvSpPr>
            <a:spLocks noGrp="1"/>
          </p:cNvSpPr>
          <p:nvPr>
            <p:ph idx="1"/>
          </p:nvPr>
        </p:nvSpPr>
        <p:spPr/>
        <p:txBody>
          <a:bodyPr>
            <a:normAutofit lnSpcReduction="10000"/>
          </a:bodyPr>
          <a:lstStyle/>
          <a:p>
            <a:pPr algn="just"/>
            <a:r>
              <a:rPr lang="en-US" b="1" dirty="0" smtClean="0">
                <a:solidFill>
                  <a:srgbClr val="FF0000"/>
                </a:solidFill>
              </a:rPr>
              <a:t>Hemoglobin</a:t>
            </a:r>
            <a:r>
              <a:rPr lang="en-US" dirty="0" smtClean="0"/>
              <a:t> (denoted as </a:t>
            </a:r>
            <a:r>
              <a:rPr lang="en-US" dirty="0" err="1" smtClean="0"/>
              <a:t>Hb</a:t>
            </a:r>
            <a:r>
              <a:rPr lang="en-US" dirty="0" smtClean="0"/>
              <a:t>) and </a:t>
            </a:r>
            <a:r>
              <a:rPr lang="en-US" b="1" dirty="0" err="1" smtClean="0">
                <a:solidFill>
                  <a:srgbClr val="00B050"/>
                </a:solidFill>
              </a:rPr>
              <a:t>Myoglobin</a:t>
            </a:r>
            <a:r>
              <a:rPr lang="en-US" dirty="0" smtClean="0">
                <a:solidFill>
                  <a:srgbClr val="00B050"/>
                </a:solidFill>
              </a:rPr>
              <a:t> </a:t>
            </a:r>
            <a:r>
              <a:rPr lang="en-US" dirty="0" smtClean="0"/>
              <a:t>(Mb) are </a:t>
            </a:r>
            <a:r>
              <a:rPr lang="en-US" dirty="0" err="1" smtClean="0"/>
              <a:t>dioxygen</a:t>
            </a:r>
            <a:r>
              <a:rPr lang="en-US" dirty="0" smtClean="0"/>
              <a:t> (O</a:t>
            </a:r>
            <a:r>
              <a:rPr lang="en-US" baseline="-25000" dirty="0" smtClean="0"/>
              <a:t>2</a:t>
            </a:r>
            <a:r>
              <a:rPr lang="en-US" dirty="0" smtClean="0"/>
              <a:t>) binding </a:t>
            </a:r>
            <a:r>
              <a:rPr lang="en-US" dirty="0" err="1" smtClean="0"/>
              <a:t>metalloproteins</a:t>
            </a:r>
            <a:r>
              <a:rPr lang="en-US" dirty="0" smtClean="0"/>
              <a:t> containing an iron </a:t>
            </a:r>
            <a:r>
              <a:rPr lang="en-US" dirty="0" err="1" smtClean="0"/>
              <a:t>porphyrin</a:t>
            </a:r>
            <a:r>
              <a:rPr lang="en-US" dirty="0" smtClean="0"/>
              <a:t> system, </a:t>
            </a:r>
            <a:r>
              <a:rPr lang="en-US" dirty="0" err="1" smtClean="0"/>
              <a:t>heme</a:t>
            </a:r>
            <a:r>
              <a:rPr lang="en-US" dirty="0" smtClean="0"/>
              <a:t>. Both of them contain Fe(II) ion. </a:t>
            </a:r>
          </a:p>
          <a:p>
            <a:pPr algn="just">
              <a:buNone/>
            </a:pPr>
            <a:endParaRPr lang="en-US" dirty="0" smtClean="0"/>
          </a:p>
          <a:p>
            <a:pPr algn="just"/>
            <a:r>
              <a:rPr lang="en-US" b="1" dirty="0" smtClean="0">
                <a:solidFill>
                  <a:srgbClr val="FF0000"/>
                </a:solidFill>
              </a:rPr>
              <a:t>Hemoglobin</a:t>
            </a:r>
            <a:r>
              <a:rPr lang="en-US" dirty="0" smtClean="0"/>
              <a:t> is present in </a:t>
            </a:r>
            <a:r>
              <a:rPr lang="en-US" dirty="0" smtClean="0">
                <a:solidFill>
                  <a:srgbClr val="FF0000"/>
                </a:solidFill>
              </a:rPr>
              <a:t>Red Blood Cells </a:t>
            </a:r>
            <a:r>
              <a:rPr lang="en-US" dirty="0" smtClean="0"/>
              <a:t>(RBC) and helps in transport of </a:t>
            </a:r>
            <a:r>
              <a:rPr lang="en-US" dirty="0" err="1" smtClean="0"/>
              <a:t>dioxygen</a:t>
            </a:r>
            <a:r>
              <a:rPr lang="en-US" dirty="0" smtClean="0"/>
              <a:t> from lungs to tissues. Whereas, </a:t>
            </a:r>
            <a:r>
              <a:rPr lang="en-US" dirty="0" err="1" smtClean="0">
                <a:solidFill>
                  <a:srgbClr val="00B050"/>
                </a:solidFill>
              </a:rPr>
              <a:t>myoglobin</a:t>
            </a:r>
            <a:r>
              <a:rPr lang="en-US" dirty="0" smtClean="0"/>
              <a:t> stores </a:t>
            </a:r>
            <a:r>
              <a:rPr lang="en-US" dirty="0" err="1" smtClean="0"/>
              <a:t>dioxygen</a:t>
            </a:r>
            <a:r>
              <a:rPr lang="en-US" dirty="0" smtClean="0"/>
              <a:t> and is present in </a:t>
            </a:r>
            <a:r>
              <a:rPr lang="en-US" dirty="0" smtClean="0">
                <a:solidFill>
                  <a:srgbClr val="00B050"/>
                </a:solidFill>
              </a:rPr>
              <a:t>muscles. </a:t>
            </a:r>
            <a:endParaRPr lang="en-US" dirty="0">
              <a:solidFill>
                <a:srgbClr val="00B05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800" y="304800"/>
            <a:ext cx="7239000" cy="2862322"/>
          </a:xfrm>
          <a:prstGeom prst="rect">
            <a:avLst/>
          </a:prstGeom>
        </p:spPr>
        <p:txBody>
          <a:bodyPr wrap="square">
            <a:spAutoFit/>
          </a:bodyPr>
          <a:lstStyle/>
          <a:p>
            <a:endParaRPr lang="en-US" dirty="0" smtClean="0"/>
          </a:p>
          <a:p>
            <a:pPr algn="just"/>
            <a:r>
              <a:rPr lang="en-US" dirty="0" err="1" smtClean="0">
                <a:solidFill>
                  <a:srgbClr val="FF0000"/>
                </a:solidFill>
              </a:rPr>
              <a:t>Heme</a:t>
            </a:r>
            <a:r>
              <a:rPr lang="en-US" dirty="0" smtClean="0">
                <a:solidFill>
                  <a:srgbClr val="FF0000"/>
                </a:solidFill>
              </a:rPr>
              <a:t> </a:t>
            </a:r>
            <a:r>
              <a:rPr lang="en-US" dirty="0" smtClean="0"/>
              <a:t>is a </a:t>
            </a:r>
            <a:r>
              <a:rPr lang="en-US" dirty="0" err="1" smtClean="0"/>
              <a:t>porphyrin</a:t>
            </a:r>
            <a:r>
              <a:rPr lang="en-US" dirty="0" smtClean="0"/>
              <a:t> ring system made up of </a:t>
            </a:r>
            <a:r>
              <a:rPr lang="en-US" dirty="0" smtClean="0">
                <a:solidFill>
                  <a:srgbClr val="00B050"/>
                </a:solidFill>
              </a:rPr>
              <a:t>four </a:t>
            </a:r>
            <a:r>
              <a:rPr lang="en-US" dirty="0" err="1" smtClean="0">
                <a:solidFill>
                  <a:srgbClr val="00B050"/>
                </a:solidFill>
              </a:rPr>
              <a:t>pyrrol</a:t>
            </a:r>
            <a:r>
              <a:rPr lang="en-US" dirty="0" err="1" smtClean="0"/>
              <a:t>e</a:t>
            </a:r>
            <a:r>
              <a:rPr lang="en-US" dirty="0" smtClean="0"/>
              <a:t> rings with an </a:t>
            </a:r>
            <a:r>
              <a:rPr lang="en-US" dirty="0" smtClean="0">
                <a:solidFill>
                  <a:srgbClr val="00B050"/>
                </a:solidFill>
              </a:rPr>
              <a:t>Fe(II)</a:t>
            </a:r>
            <a:r>
              <a:rPr lang="en-US" dirty="0" smtClean="0"/>
              <a:t> ion coordinated to </a:t>
            </a:r>
            <a:r>
              <a:rPr lang="en-US" dirty="0" err="1" smtClean="0"/>
              <a:t>nitrogens</a:t>
            </a:r>
            <a:r>
              <a:rPr lang="en-US" dirty="0" smtClean="0"/>
              <a:t> of </a:t>
            </a:r>
            <a:r>
              <a:rPr lang="en-US" dirty="0" err="1" smtClean="0"/>
              <a:t>pyrrole</a:t>
            </a:r>
            <a:r>
              <a:rPr lang="en-US" dirty="0" smtClean="0"/>
              <a:t> rings.   </a:t>
            </a:r>
          </a:p>
          <a:p>
            <a:pPr algn="just"/>
            <a:endParaRPr lang="en-US" dirty="0" smtClean="0"/>
          </a:p>
          <a:p>
            <a:pPr algn="just"/>
            <a:r>
              <a:rPr lang="en-US" dirty="0" smtClean="0">
                <a:solidFill>
                  <a:srgbClr val="FF0000"/>
                </a:solidFill>
              </a:rPr>
              <a:t>Hemoglobin </a:t>
            </a:r>
            <a:r>
              <a:rPr lang="en-US" dirty="0" smtClean="0"/>
              <a:t>contains four </a:t>
            </a:r>
            <a:r>
              <a:rPr lang="en-US" dirty="0" err="1" smtClean="0">
                <a:solidFill>
                  <a:srgbClr val="0070C0"/>
                </a:solidFill>
              </a:rPr>
              <a:t>heme</a:t>
            </a:r>
            <a:r>
              <a:rPr lang="en-US" dirty="0" smtClean="0"/>
              <a:t> units each embedded in a globular protein sub-unit. There are two types of protein sub-units i.e., </a:t>
            </a:r>
            <a:r>
              <a:rPr lang="en-US" dirty="0" smtClean="0">
                <a:solidFill>
                  <a:schemeClr val="accent5">
                    <a:lumMod val="75000"/>
                  </a:schemeClr>
                </a:solidFill>
              </a:rPr>
              <a:t>α and β. </a:t>
            </a:r>
          </a:p>
          <a:p>
            <a:pPr algn="just"/>
            <a:endParaRPr lang="en-US" dirty="0" smtClean="0"/>
          </a:p>
          <a:p>
            <a:pPr algn="just"/>
            <a:r>
              <a:rPr lang="en-US" dirty="0" err="1" smtClean="0">
                <a:solidFill>
                  <a:srgbClr val="00B050"/>
                </a:solidFill>
              </a:rPr>
              <a:t>Myoglobin</a:t>
            </a:r>
            <a:r>
              <a:rPr lang="en-US" dirty="0" smtClean="0"/>
              <a:t> contains only one </a:t>
            </a:r>
            <a:r>
              <a:rPr lang="en-US" dirty="0" err="1" smtClean="0">
                <a:solidFill>
                  <a:srgbClr val="00B0F0"/>
                </a:solidFill>
              </a:rPr>
              <a:t>heme</a:t>
            </a:r>
            <a:r>
              <a:rPr lang="en-US" dirty="0" smtClean="0"/>
              <a:t> unit surrounded by a globular protein, containing seven α-helical and six non helical segments, made up of 153 amino acids .</a:t>
            </a:r>
            <a:endParaRPr lang="en-US" dirty="0"/>
          </a:p>
        </p:txBody>
      </p:sp>
      <p:pic>
        <p:nvPicPr>
          <p:cNvPr id="36866" name="Picture 2"/>
          <p:cNvPicPr>
            <a:picLocks noChangeAspect="1" noChangeArrowheads="1"/>
          </p:cNvPicPr>
          <p:nvPr/>
        </p:nvPicPr>
        <p:blipFill>
          <a:blip r:embed="rId2" cstate="print"/>
          <a:srcRect/>
          <a:stretch>
            <a:fillRect/>
          </a:stretch>
        </p:blipFill>
        <p:spPr bwMode="auto">
          <a:xfrm>
            <a:off x="3505200" y="4114800"/>
            <a:ext cx="3647567"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Grp="1" noChangeAspect="1" noChangeArrowheads="1"/>
          </p:cNvPicPr>
          <p:nvPr>
            <p:ph idx="1"/>
          </p:nvPr>
        </p:nvPicPr>
        <p:blipFill>
          <a:blip r:embed="rId2"/>
          <a:srcRect/>
          <a:stretch>
            <a:fillRect/>
          </a:stretch>
        </p:blipFill>
        <p:spPr bwMode="auto">
          <a:xfrm>
            <a:off x="685800" y="381000"/>
            <a:ext cx="7010400" cy="52578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srcRect/>
          <a:stretch>
            <a:fillRect/>
          </a:stretch>
        </p:blipFill>
        <p:spPr bwMode="auto">
          <a:xfrm>
            <a:off x="228600" y="152400"/>
            <a:ext cx="8119516" cy="63246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srcRect/>
          <a:stretch>
            <a:fillRect/>
          </a:stretch>
        </p:blipFill>
        <p:spPr bwMode="auto">
          <a:xfrm>
            <a:off x="685800" y="609600"/>
            <a:ext cx="7612046" cy="57150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srcRect/>
          <a:stretch>
            <a:fillRect/>
          </a:stretch>
        </p:blipFill>
        <p:spPr bwMode="auto">
          <a:xfrm>
            <a:off x="609600" y="304800"/>
            <a:ext cx="7612046" cy="57150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609600" y="838200"/>
            <a:ext cx="7707775" cy="4648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5867400"/>
          </a:xfrm>
          <a:ln>
            <a:solidFill>
              <a:schemeClr val="accent1"/>
            </a:solidFill>
          </a:ln>
        </p:spPr>
        <p:txBody>
          <a:bodyPr>
            <a:normAutofit/>
          </a:bodyPr>
          <a:lstStyle/>
          <a:p>
            <a:r>
              <a:rPr lang="en-US" sz="4800" dirty="0" smtClean="0">
                <a:solidFill>
                  <a:srgbClr val="FF0000"/>
                </a:solidFill>
              </a:rPr>
              <a:t>Hemoglobin and </a:t>
            </a:r>
            <a:r>
              <a:rPr lang="en-US" sz="4800" dirty="0" err="1" smtClean="0">
                <a:solidFill>
                  <a:srgbClr val="FF0000"/>
                </a:solidFill>
              </a:rPr>
              <a:t>Myoglobin</a:t>
            </a:r>
            <a:r>
              <a:rPr lang="en-US" sz="4800" dirty="0" smtClean="0">
                <a:solidFill>
                  <a:srgbClr val="FF0000"/>
                </a:solidFill>
              </a:rPr>
              <a:t> exist in two forms </a:t>
            </a:r>
            <a:r>
              <a:rPr lang="en-US" sz="4800" dirty="0" smtClean="0"/>
              <a:t>i.e.</a:t>
            </a:r>
          </a:p>
          <a:p>
            <a:r>
              <a:rPr lang="en-US" sz="4800" dirty="0" smtClean="0">
                <a:solidFill>
                  <a:srgbClr val="00B0F0"/>
                </a:solidFill>
              </a:rPr>
              <a:t>1) </a:t>
            </a:r>
            <a:r>
              <a:rPr lang="en-US" sz="4800" dirty="0" err="1" smtClean="0">
                <a:solidFill>
                  <a:srgbClr val="00B0F0"/>
                </a:solidFill>
              </a:rPr>
              <a:t>deoxy</a:t>
            </a:r>
            <a:r>
              <a:rPr lang="en-US" sz="4800" dirty="0" smtClean="0">
                <a:solidFill>
                  <a:srgbClr val="00B0F0"/>
                </a:solidFill>
              </a:rPr>
              <a:t> form: No oxygen is bound to iron.</a:t>
            </a:r>
          </a:p>
          <a:p>
            <a:r>
              <a:rPr lang="en-US" sz="4800" dirty="0" smtClean="0">
                <a:solidFill>
                  <a:srgbClr val="92D050"/>
                </a:solidFill>
              </a:rPr>
              <a:t>2) oxy form: </a:t>
            </a:r>
            <a:r>
              <a:rPr lang="en-US" sz="4800" dirty="0" err="1" smtClean="0">
                <a:solidFill>
                  <a:srgbClr val="92D050"/>
                </a:solidFill>
              </a:rPr>
              <a:t>dioxygen</a:t>
            </a:r>
            <a:r>
              <a:rPr lang="en-US" sz="4800" dirty="0" smtClean="0">
                <a:solidFill>
                  <a:srgbClr val="92D050"/>
                </a:solidFill>
              </a:rPr>
              <a:t> is bound to iron.</a:t>
            </a:r>
          </a:p>
          <a:p>
            <a:endParaRPr lang="en-US" sz="44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srcRect/>
          <a:stretch>
            <a:fillRect/>
          </a:stretch>
        </p:blipFill>
        <p:spPr bwMode="auto">
          <a:xfrm>
            <a:off x="1676400" y="304800"/>
            <a:ext cx="5257800" cy="5796509"/>
          </a:xfrm>
          <a:prstGeom prst="rect">
            <a:avLst/>
          </a:prstGeom>
          <a:noFill/>
          <a:ln w="9525">
            <a:solidFill>
              <a:schemeClr val="accent3">
                <a:lumMod val="60000"/>
                <a:lumOff val="40000"/>
              </a:schemeClr>
            </a:solid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cstate="print"/>
          <a:srcRect/>
          <a:stretch>
            <a:fillRect/>
          </a:stretch>
        </p:blipFill>
        <p:spPr bwMode="auto">
          <a:xfrm>
            <a:off x="533400" y="762000"/>
            <a:ext cx="8012367" cy="4648200"/>
          </a:xfrm>
          <a:prstGeom prst="rect">
            <a:avLst/>
          </a:prstGeom>
          <a:noFill/>
          <a:ln w="9525">
            <a:solidFill>
              <a:schemeClr val="accent1"/>
            </a:solid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srcRect/>
          <a:stretch>
            <a:fillRect/>
          </a:stretch>
        </p:blipFill>
        <p:spPr bwMode="auto">
          <a:xfrm>
            <a:off x="762000" y="457200"/>
            <a:ext cx="7815034" cy="58674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2"/>
          <a:srcRect/>
          <a:stretch>
            <a:fillRect/>
          </a:stretch>
        </p:blipFill>
        <p:spPr bwMode="auto">
          <a:xfrm>
            <a:off x="609600" y="533400"/>
            <a:ext cx="7713540" cy="57912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srcRect/>
          <a:stretch>
            <a:fillRect/>
          </a:stretch>
        </p:blipFill>
        <p:spPr bwMode="auto">
          <a:xfrm>
            <a:off x="533400" y="457200"/>
            <a:ext cx="7916528" cy="5943600"/>
          </a:xfrm>
          <a:prstGeom prst="rect">
            <a:avLst/>
          </a:prstGeom>
          <a:noFill/>
          <a:ln w="9525">
            <a:noFill/>
            <a:miter lim="800000"/>
            <a:headEnd/>
            <a:tailEnd/>
          </a:ln>
          <a:effectLst/>
        </p:spPr>
      </p:pic>
      <p:sp>
        <p:nvSpPr>
          <p:cNvPr id="40964" name="AutoShape 4" descr="Functions of &#10;Haemoglobin &#10;• Oxygen delivery to the tissues &#10;• Reaction of Hb &amp; oxygen &#10;• Oxygenation not oxidation &#10;• On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srcRect/>
          <a:stretch>
            <a:fillRect/>
          </a:stretch>
        </p:blipFill>
        <p:spPr bwMode="auto">
          <a:xfrm>
            <a:off x="381000" y="228600"/>
            <a:ext cx="8221010" cy="617220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srcRect/>
          <a:stretch>
            <a:fillRect/>
          </a:stretch>
        </p:blipFill>
        <p:spPr bwMode="auto">
          <a:xfrm>
            <a:off x="609600" y="457200"/>
            <a:ext cx="7924800" cy="5949811"/>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4638"/>
            <a:ext cx="4267200" cy="868362"/>
          </a:xfrm>
          <a:solidFill>
            <a:schemeClr val="bg1"/>
          </a:solidFill>
          <a:ln>
            <a:solidFill>
              <a:schemeClr val="accent1"/>
            </a:solidFill>
          </a:ln>
        </p:spPr>
        <p:txBody>
          <a:bodyPr/>
          <a:lstStyle/>
          <a:p>
            <a:r>
              <a:rPr lang="en-US" dirty="0" err="1" smtClean="0">
                <a:solidFill>
                  <a:srgbClr val="FF0000"/>
                </a:solidFill>
              </a:rPr>
              <a:t>Cytochromes</a:t>
            </a:r>
            <a:endParaRPr lang="en-US" dirty="0">
              <a:solidFill>
                <a:srgbClr val="FF0000"/>
              </a:solidFill>
            </a:endParaRPr>
          </a:p>
        </p:txBody>
      </p:sp>
      <p:sp>
        <p:nvSpPr>
          <p:cNvPr id="3" name="Content Placeholder 2"/>
          <p:cNvSpPr>
            <a:spLocks noGrp="1"/>
          </p:cNvSpPr>
          <p:nvPr>
            <p:ph idx="1"/>
          </p:nvPr>
        </p:nvSpPr>
        <p:spPr/>
        <p:txBody>
          <a:bodyPr/>
          <a:lstStyle/>
          <a:p>
            <a:r>
              <a:rPr lang="en-US" dirty="0" err="1" smtClean="0"/>
              <a:t>Cytochromes</a:t>
            </a:r>
            <a:r>
              <a:rPr lang="en-US" dirty="0" smtClean="0"/>
              <a:t> are electro</a:t>
            </a:r>
          </a:p>
          <a:p>
            <a:r>
              <a:rPr lang="en-US" dirty="0" smtClean="0"/>
              <a:t>There are three types of </a:t>
            </a:r>
            <a:r>
              <a:rPr lang="en-US" dirty="0" err="1" smtClean="0"/>
              <a:t>cytochromes</a:t>
            </a:r>
            <a:r>
              <a:rPr lang="en-US" dirty="0" smtClean="0"/>
              <a:t> depending upon the </a:t>
            </a:r>
            <a:r>
              <a:rPr lang="en-US" dirty="0" err="1" smtClean="0"/>
              <a:t>porphyrin</a:t>
            </a:r>
            <a:r>
              <a:rPr lang="en-US" dirty="0" smtClean="0"/>
              <a:t> types n transfer proteins</a:t>
            </a:r>
          </a:p>
          <a:p>
            <a:r>
              <a:rPr lang="en-US" dirty="0" err="1" smtClean="0">
                <a:solidFill>
                  <a:srgbClr val="00B0F0"/>
                </a:solidFill>
              </a:rPr>
              <a:t>Cytochrome</a:t>
            </a:r>
            <a:r>
              <a:rPr lang="en-US" dirty="0" smtClean="0">
                <a:solidFill>
                  <a:srgbClr val="00B0F0"/>
                </a:solidFill>
              </a:rPr>
              <a:t> a, </a:t>
            </a:r>
            <a:r>
              <a:rPr lang="en-US" dirty="0" err="1" smtClean="0">
                <a:solidFill>
                  <a:srgbClr val="00B0F0"/>
                </a:solidFill>
              </a:rPr>
              <a:t>cytochrome</a:t>
            </a:r>
            <a:r>
              <a:rPr lang="en-US" dirty="0" smtClean="0">
                <a:solidFill>
                  <a:srgbClr val="00B0F0"/>
                </a:solidFill>
              </a:rPr>
              <a:t> b, </a:t>
            </a:r>
            <a:r>
              <a:rPr lang="en-US" dirty="0" err="1" smtClean="0">
                <a:solidFill>
                  <a:srgbClr val="00B0F0"/>
                </a:solidFill>
              </a:rPr>
              <a:t>cytochrome</a:t>
            </a:r>
            <a:r>
              <a:rPr lang="en-US" dirty="0" smtClean="0">
                <a:solidFill>
                  <a:srgbClr val="00B0F0"/>
                </a:solidFill>
              </a:rPr>
              <a:t> c</a:t>
            </a:r>
            <a:endParaRPr lang="en-US" dirty="0">
              <a:solidFill>
                <a:srgbClr val="00B0F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Picture 4" descr="File:Cobalamin.png"/>
          <p:cNvPicPr>
            <a:picLocks noChangeAspect="1" noChangeArrowheads="1"/>
          </p:cNvPicPr>
          <p:nvPr/>
        </p:nvPicPr>
        <p:blipFill>
          <a:blip r:embed="rId2" cstate="print"/>
          <a:srcRect/>
          <a:stretch>
            <a:fillRect/>
          </a:stretch>
        </p:blipFill>
        <p:spPr bwMode="auto">
          <a:xfrm>
            <a:off x="304800" y="1524000"/>
            <a:ext cx="3429000" cy="4295198"/>
          </a:xfrm>
          <a:prstGeom prst="rect">
            <a:avLst/>
          </a:prstGeom>
          <a:noFill/>
          <a:ln>
            <a:solidFill>
              <a:schemeClr val="accent3">
                <a:lumMod val="60000"/>
                <a:lumOff val="40000"/>
              </a:schemeClr>
            </a:solidFill>
          </a:ln>
        </p:spPr>
      </p:pic>
      <p:sp>
        <p:nvSpPr>
          <p:cNvPr id="49157" name="Rectangle 5"/>
          <p:cNvSpPr>
            <a:spLocks noChangeArrowheads="1"/>
          </p:cNvSpPr>
          <p:nvPr/>
        </p:nvSpPr>
        <p:spPr bwMode="auto">
          <a:xfrm>
            <a:off x="3200400" y="381000"/>
            <a:ext cx="1828800" cy="707886"/>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cs typeface="Arial" pitchFamily="34" charset="0"/>
              </a:rPr>
              <a:t>Vitamin B</a:t>
            </a:r>
            <a:r>
              <a:rPr kumimoji="0" lang="en-US" sz="2100" b="1" i="0" u="none" strike="noStrike" cap="none" normalizeH="0" baseline="-30000" dirty="0" smtClean="0">
                <a:ln>
                  <a:noFill/>
                </a:ln>
                <a:solidFill>
                  <a:schemeClr val="tx1"/>
                </a:solidFill>
                <a:effectLst/>
                <a:latin typeface="Arial" pitchFamily="34" charset="0"/>
                <a:cs typeface="Arial" pitchFamily="34" charset="0"/>
              </a:rPr>
              <a:t>12</a:t>
            </a:r>
            <a:endParaRPr kumimoji="0" lang="en-US" sz="2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Rectangle 3"/>
          <p:cNvSpPr/>
          <p:nvPr/>
        </p:nvSpPr>
        <p:spPr>
          <a:xfrm>
            <a:off x="4114800" y="1524000"/>
            <a:ext cx="4572000" cy="3970318"/>
          </a:xfrm>
          <a:prstGeom prst="rect">
            <a:avLst/>
          </a:prstGeom>
        </p:spPr>
        <p:txBody>
          <a:bodyPr wrap="square">
            <a:spAutoFit/>
          </a:bodyPr>
          <a:lstStyle/>
          <a:p>
            <a:r>
              <a:rPr lang="en-US" sz="2800" b="1" dirty="0" smtClean="0"/>
              <a:t>Vitamin B</a:t>
            </a:r>
            <a:r>
              <a:rPr lang="en-US" sz="2800" b="1" baseline="-25000" dirty="0" smtClean="0"/>
              <a:t>12</a:t>
            </a:r>
            <a:r>
              <a:rPr lang="en-US" sz="2800" dirty="0" smtClean="0"/>
              <a:t>, </a:t>
            </a:r>
            <a:r>
              <a:rPr lang="en-US" sz="2800" b="1" dirty="0" smtClean="0"/>
              <a:t>vitamin B12</a:t>
            </a:r>
            <a:r>
              <a:rPr lang="en-US" sz="2800" dirty="0" smtClean="0"/>
              <a:t> or </a:t>
            </a:r>
            <a:r>
              <a:rPr lang="en-US" sz="2800" b="1" dirty="0" smtClean="0"/>
              <a:t>vitamin B-12</a:t>
            </a:r>
            <a:r>
              <a:rPr lang="en-US" sz="2800" dirty="0" smtClean="0"/>
              <a:t>, also called </a:t>
            </a:r>
            <a:r>
              <a:rPr lang="en-US" sz="2800" b="1" dirty="0" err="1" smtClean="0"/>
              <a:t>cobalamin</a:t>
            </a:r>
            <a:r>
              <a:rPr lang="en-US" sz="2800" dirty="0" smtClean="0"/>
              <a:t>, is a water soluble </a:t>
            </a:r>
            <a:r>
              <a:rPr lang="en-US" sz="2800" dirty="0" smtClean="0">
                <a:hlinkClick r:id="rId3" tooltip="Vitamin"/>
              </a:rPr>
              <a:t>vitamin</a:t>
            </a:r>
            <a:r>
              <a:rPr lang="en-US" sz="2800" dirty="0" smtClean="0"/>
              <a:t> with a key role in the normal functioning of the </a:t>
            </a:r>
            <a:r>
              <a:rPr lang="en-US" sz="2800" dirty="0" smtClean="0">
                <a:hlinkClick r:id="rId4" tooltip="Brain"/>
              </a:rPr>
              <a:t>brain</a:t>
            </a:r>
            <a:r>
              <a:rPr lang="en-US" sz="2800" dirty="0" smtClean="0"/>
              <a:t> and </a:t>
            </a:r>
            <a:r>
              <a:rPr lang="en-US" sz="2800" dirty="0" smtClean="0">
                <a:hlinkClick r:id="rId5" tooltip="Nervous system"/>
              </a:rPr>
              <a:t>nervous system</a:t>
            </a:r>
            <a:r>
              <a:rPr lang="en-US" sz="2800" dirty="0" smtClean="0"/>
              <a:t>, and for the formation of </a:t>
            </a:r>
            <a:r>
              <a:rPr lang="en-US" sz="2800" dirty="0" smtClean="0">
                <a:hlinkClick r:id="rId6" tooltip="Blood"/>
              </a:rPr>
              <a:t>blood</a:t>
            </a:r>
            <a:r>
              <a:rPr lang="en-US" sz="2800" dirty="0" smtClean="0"/>
              <a:t>. It is one of the eight </a:t>
            </a:r>
            <a:r>
              <a:rPr lang="en-US" sz="2800" dirty="0" smtClean="0">
                <a:hlinkClick r:id="rId7" tooltip="B vitamins"/>
              </a:rPr>
              <a:t>B vitamins</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srcRect/>
          <a:stretch>
            <a:fillRect/>
          </a:stretch>
        </p:blipFill>
        <p:spPr bwMode="auto">
          <a:xfrm>
            <a:off x="1600200" y="1371600"/>
            <a:ext cx="5638800" cy="4939414"/>
          </a:xfrm>
          <a:prstGeom prst="rect">
            <a:avLst/>
          </a:prstGeom>
          <a:noFill/>
          <a:ln w="9525">
            <a:solidFill>
              <a:schemeClr val="accent1"/>
            </a:solidFill>
            <a:miter lim="800000"/>
            <a:headEnd/>
            <a:tailEnd/>
          </a:ln>
        </p:spPr>
      </p:pic>
      <p:sp>
        <p:nvSpPr>
          <p:cNvPr id="3" name="TextBox 2"/>
          <p:cNvSpPr txBox="1"/>
          <p:nvPr/>
        </p:nvSpPr>
        <p:spPr>
          <a:xfrm>
            <a:off x="2438400" y="304800"/>
            <a:ext cx="3828549" cy="769441"/>
          </a:xfrm>
          <a:prstGeom prst="rect">
            <a:avLst/>
          </a:prstGeom>
          <a:noFill/>
        </p:spPr>
        <p:txBody>
          <a:bodyPr wrap="none" rtlCol="0">
            <a:spAutoFit/>
          </a:bodyPr>
          <a:lstStyle/>
          <a:p>
            <a:r>
              <a:rPr lang="en-US" sz="4400" dirty="0" smtClean="0">
                <a:solidFill>
                  <a:srgbClr val="7030A0"/>
                </a:solidFill>
              </a:rPr>
              <a:t>Flow of Oxygen </a:t>
            </a:r>
            <a:endParaRPr lang="en-US" sz="4400" dirty="0">
              <a:solidFill>
                <a:srgbClr val="7030A0"/>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534400" cy="6324600"/>
          </a:xfrm>
        </p:spPr>
        <p:style>
          <a:lnRef idx="1">
            <a:schemeClr val="accent3"/>
          </a:lnRef>
          <a:fillRef idx="2">
            <a:schemeClr val="accent3"/>
          </a:fillRef>
          <a:effectRef idx="1">
            <a:schemeClr val="accent3"/>
          </a:effectRef>
          <a:fontRef idx="minor">
            <a:schemeClr val="dk1"/>
          </a:fontRef>
        </p:style>
        <p:txBody>
          <a:bodyPr>
            <a:normAutofit fontScale="55000" lnSpcReduction="20000"/>
          </a:bodyPr>
          <a:lstStyle/>
          <a:p>
            <a:r>
              <a:rPr lang="en-US" dirty="0" smtClean="0">
                <a:solidFill>
                  <a:srgbClr val="FF0000"/>
                </a:solidFill>
              </a:rPr>
              <a:t>The oxygen dissociation curve is a graph that shows the percent saturation of hemoglobin at various partial pressures of oxygen. </a:t>
            </a:r>
          </a:p>
          <a:p>
            <a:endParaRPr lang="en-US" dirty="0" smtClean="0"/>
          </a:p>
          <a:p>
            <a:pPr>
              <a:buNone/>
            </a:pPr>
            <a:r>
              <a:rPr lang="en-US" dirty="0" smtClean="0"/>
              <a:t>1</a:t>
            </a:r>
            <a:r>
              <a:rPr lang="en-US" dirty="0" smtClean="0">
                <a:solidFill>
                  <a:srgbClr val="7030A0"/>
                </a:solidFill>
              </a:rPr>
              <a:t>.  Commonly a curve may be expressed with the P</a:t>
            </a:r>
            <a:r>
              <a:rPr lang="en-US" baseline="-25000" dirty="0" smtClean="0">
                <a:solidFill>
                  <a:srgbClr val="7030A0"/>
                </a:solidFill>
              </a:rPr>
              <a:t>50</a:t>
            </a:r>
            <a:r>
              <a:rPr lang="en-US" dirty="0" smtClean="0">
                <a:solidFill>
                  <a:srgbClr val="7030A0"/>
                </a:solidFill>
              </a:rPr>
              <a:t> value.  This is a value which tells the pressure at which the erythrocytes are fifty percent saturated with oxygen. </a:t>
            </a:r>
          </a:p>
          <a:p>
            <a:endParaRPr lang="en-US" dirty="0" smtClean="0">
              <a:solidFill>
                <a:srgbClr val="7030A0"/>
              </a:solidFill>
            </a:endParaRPr>
          </a:p>
          <a:p>
            <a:pPr>
              <a:buNone/>
            </a:pPr>
            <a:r>
              <a:rPr lang="en-US" dirty="0" smtClean="0"/>
              <a:t>2. 	The partial pressure of oxygen in the blood at which the hemoglobin is 50% saturated, typically about 26.6 mmHg for a healthy person, is known as the P</a:t>
            </a:r>
            <a:r>
              <a:rPr lang="en-US" baseline="-25000" dirty="0" smtClean="0"/>
              <a:t>50</a:t>
            </a:r>
            <a:r>
              <a:rPr lang="en-US" dirty="0" smtClean="0"/>
              <a:t>. The P</a:t>
            </a:r>
            <a:r>
              <a:rPr lang="en-US" baseline="-25000" dirty="0" smtClean="0"/>
              <a:t>50</a:t>
            </a:r>
            <a:r>
              <a:rPr lang="en-US" dirty="0" smtClean="0"/>
              <a:t> is a conventional measure of hemoglobin affinity for oxygen.</a:t>
            </a:r>
            <a:endParaRPr lang="en-US" dirty="0" smtClean="0">
              <a:solidFill>
                <a:srgbClr val="7030A0"/>
              </a:solidFill>
            </a:endParaRPr>
          </a:p>
          <a:p>
            <a:pPr>
              <a:buNone/>
            </a:pPr>
            <a:r>
              <a:rPr lang="en-US" dirty="0" smtClean="0">
                <a:solidFill>
                  <a:srgbClr val="7030A0"/>
                </a:solidFill>
              </a:rPr>
              <a:t>3.   The purpose of an oxygen dissociation curve is to show the equilibrium of </a:t>
            </a:r>
            <a:r>
              <a:rPr lang="en-US" dirty="0" err="1" smtClean="0">
                <a:solidFill>
                  <a:srgbClr val="7030A0"/>
                </a:solidFill>
              </a:rPr>
              <a:t>oxyhemoglobin</a:t>
            </a:r>
            <a:r>
              <a:rPr lang="en-US" dirty="0" smtClean="0">
                <a:solidFill>
                  <a:srgbClr val="7030A0"/>
                </a:solidFill>
              </a:rPr>
              <a:t> and </a:t>
            </a:r>
            <a:r>
              <a:rPr lang="en-US" dirty="0" err="1" smtClean="0">
                <a:solidFill>
                  <a:srgbClr val="7030A0"/>
                </a:solidFill>
              </a:rPr>
              <a:t>nonbonded</a:t>
            </a:r>
            <a:r>
              <a:rPr lang="en-US" dirty="0" smtClean="0">
                <a:solidFill>
                  <a:srgbClr val="7030A0"/>
                </a:solidFill>
              </a:rPr>
              <a:t> hemoglobin at various partial pressures (Oxygen Dissociation Curve).</a:t>
            </a:r>
          </a:p>
          <a:p>
            <a:pPr>
              <a:buNone/>
            </a:pPr>
            <a:r>
              <a:rPr lang="en-US" dirty="0" smtClean="0">
                <a:solidFill>
                  <a:srgbClr val="7030A0"/>
                </a:solidFill>
              </a:rPr>
              <a:t>4  	 At high partial pressures of oxygen, usually in the lungs, hemoglobin binds to oxygen to form </a:t>
            </a:r>
            <a:r>
              <a:rPr lang="en-US" dirty="0" err="1" smtClean="0">
                <a:solidFill>
                  <a:srgbClr val="7030A0"/>
                </a:solidFill>
              </a:rPr>
              <a:t>oxyhemoglobin</a:t>
            </a:r>
            <a:r>
              <a:rPr lang="en-US" dirty="0" smtClean="0">
                <a:solidFill>
                  <a:srgbClr val="7030A0"/>
                </a:solidFill>
              </a:rPr>
              <a:t>.  When the blood is fully saturated all the erythrocytes are in the form of </a:t>
            </a:r>
            <a:r>
              <a:rPr lang="en-US" dirty="0" err="1" smtClean="0">
                <a:solidFill>
                  <a:srgbClr val="7030A0"/>
                </a:solidFill>
              </a:rPr>
              <a:t>oxyhemoglobin</a:t>
            </a:r>
            <a:r>
              <a:rPr lang="en-US" dirty="0" smtClean="0">
                <a:solidFill>
                  <a:srgbClr val="7030A0"/>
                </a:solidFill>
              </a:rPr>
              <a:t>. </a:t>
            </a:r>
          </a:p>
          <a:p>
            <a:pPr marL="514350" indent="-514350">
              <a:buNone/>
            </a:pPr>
            <a:r>
              <a:rPr lang="en-US" dirty="0" smtClean="0">
                <a:solidFill>
                  <a:srgbClr val="7030A0"/>
                </a:solidFill>
              </a:rPr>
              <a:t>5. 	As the erythrocytes travel to tissues deprived of oxygen the partial pressure of oxygen will decrease.  Consequently, the </a:t>
            </a:r>
            <a:r>
              <a:rPr lang="en-US" dirty="0" err="1" smtClean="0">
                <a:solidFill>
                  <a:srgbClr val="7030A0"/>
                </a:solidFill>
              </a:rPr>
              <a:t>oxyhemoglobin</a:t>
            </a:r>
            <a:r>
              <a:rPr lang="en-US" dirty="0" smtClean="0">
                <a:solidFill>
                  <a:srgbClr val="7030A0"/>
                </a:solidFill>
              </a:rPr>
              <a:t> releases the oxygen to form hemoglobin.   </a:t>
            </a:r>
          </a:p>
          <a:p>
            <a:pPr marL="514350" indent="-514350">
              <a:buNone/>
            </a:pPr>
            <a:r>
              <a:rPr lang="en-US" dirty="0" smtClean="0">
                <a:solidFill>
                  <a:srgbClr val="7030A0"/>
                </a:solidFill>
              </a:rPr>
              <a:t>6. 	The sigmoid shape of the oxygen dissociation curve is a result of the cooperative binding of oxygen to the four polypeptide chains. </a:t>
            </a:r>
          </a:p>
          <a:p>
            <a:pPr marL="514350" indent="-514350">
              <a:buNone/>
            </a:pPr>
            <a:r>
              <a:rPr lang="en-US" dirty="0" smtClean="0">
                <a:solidFill>
                  <a:srgbClr val="7030A0"/>
                </a:solidFill>
              </a:rPr>
              <a:t>7.	 Cooperative binding is the characteristic of a hemoglobin to have a greater ability to bind oxygen after a subunit has bound oxygen. </a:t>
            </a:r>
          </a:p>
          <a:p>
            <a:pPr marL="514350" indent="-514350">
              <a:buNone/>
            </a:pPr>
            <a:r>
              <a:rPr lang="en-US" dirty="0" smtClean="0">
                <a:solidFill>
                  <a:srgbClr val="7030A0"/>
                </a:solidFill>
              </a:rPr>
              <a:t>8. 	Thus, hemoglobin is most attracted to oxygen when three of the four polypeptide chains are bound to oxygen.  </a:t>
            </a:r>
          </a:p>
          <a:p>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Oxygen Dissociation Curve</a:t>
            </a:r>
            <a:endParaRPr lang="en-US" dirty="0"/>
          </a:p>
        </p:txBody>
      </p:sp>
      <p:pic>
        <p:nvPicPr>
          <p:cNvPr id="29698" name="Picture 2"/>
          <p:cNvPicPr>
            <a:picLocks noGrp="1" noChangeAspect="1" noChangeArrowheads="1"/>
          </p:cNvPicPr>
          <p:nvPr>
            <p:ph idx="1"/>
          </p:nvPr>
        </p:nvPicPr>
        <p:blipFill>
          <a:blip r:embed="rId2" cstate="print">
            <a:lum bright="30000" contrast="30000"/>
          </a:blip>
          <a:srcRect/>
          <a:stretch>
            <a:fillRect/>
          </a:stretch>
        </p:blipFill>
        <p:spPr bwMode="auto">
          <a:xfrm>
            <a:off x="1295400" y="1676400"/>
            <a:ext cx="6480699" cy="4572000"/>
          </a:xfrm>
          <a:prstGeom prst="rect">
            <a:avLst/>
          </a:prstGeom>
          <a:noFill/>
          <a:ln w="9525">
            <a:noFill/>
            <a:miter lim="800000"/>
            <a:headEnd/>
            <a:tailEnd/>
          </a:ln>
          <a:effectLst>
            <a:glow rad="101600">
              <a:schemeClr val="accent3">
                <a:satMod val="175000"/>
                <a:alpha val="40000"/>
              </a:schemeClr>
            </a:glow>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b="1" dirty="0" smtClean="0"/>
              <a:t>Factors that Influence Oxygen Binding</a:t>
            </a:r>
            <a:r>
              <a:rPr lang="en-US" dirty="0" smtClean="0"/>
              <a:t> </a:t>
            </a:r>
            <a:br>
              <a:rPr lang="en-US" dirty="0" smtClean="0"/>
            </a:br>
            <a:endParaRPr lang="en-US"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normAutofit fontScale="62500" lnSpcReduction="20000"/>
          </a:bodyPr>
          <a:lstStyle/>
          <a:p>
            <a:pPr>
              <a:buNone/>
            </a:pPr>
            <a:r>
              <a:rPr lang="en-US" i="1" dirty="0" smtClean="0">
                <a:solidFill>
                  <a:srgbClr val="FF0000"/>
                </a:solidFill>
              </a:rPr>
              <a:t>1</a:t>
            </a:r>
            <a:r>
              <a:rPr lang="en-US" i="1" dirty="0" smtClean="0"/>
              <a:t>.</a:t>
            </a:r>
            <a:r>
              <a:rPr lang="en-US" i="1" dirty="0" smtClean="0">
                <a:solidFill>
                  <a:srgbClr val="FF0000"/>
                </a:solidFill>
              </a:rPr>
              <a:t>	Temperature</a:t>
            </a:r>
            <a:r>
              <a:rPr lang="en-US" dirty="0" smtClean="0">
                <a:solidFill>
                  <a:srgbClr val="FF0000"/>
                </a:solidFill>
              </a:rPr>
              <a:t>- </a:t>
            </a:r>
            <a:r>
              <a:rPr lang="en-US" dirty="0" smtClean="0"/>
              <a:t>Increasing the temperature denatures the bond between oxygen and hemoglobin, which increases the amount of oxygen and hemoglobin and decreases the concentration of </a:t>
            </a:r>
            <a:r>
              <a:rPr lang="en-US" dirty="0" err="1" smtClean="0"/>
              <a:t>oxyhemoglobin</a:t>
            </a:r>
            <a:r>
              <a:rPr lang="en-US" dirty="0" smtClean="0"/>
              <a:t> (Schmidt-Nielsen, 1997).  </a:t>
            </a:r>
            <a:r>
              <a:rPr lang="en-US" dirty="0" smtClean="0">
                <a:solidFill>
                  <a:srgbClr val="3333CC"/>
                </a:solidFill>
              </a:rPr>
              <a:t>The dissociation curve shifts to the right.</a:t>
            </a:r>
          </a:p>
          <a:p>
            <a:pPr>
              <a:buNone/>
            </a:pPr>
            <a:endParaRPr lang="en-US" dirty="0" smtClean="0"/>
          </a:p>
          <a:p>
            <a:pPr marL="514350" indent="-514350">
              <a:buAutoNum type="arabicPeriod" startAt="2"/>
            </a:pPr>
            <a:r>
              <a:rPr lang="en-US" i="1" dirty="0" smtClean="0">
                <a:solidFill>
                  <a:srgbClr val="FF0000"/>
                </a:solidFill>
              </a:rPr>
              <a:t>pH</a:t>
            </a:r>
            <a:r>
              <a:rPr lang="en-US" dirty="0" smtClean="0"/>
              <a:t>- A decrease in pH (increase in acidity) by addition of carbon dioxide or other acids causes a </a:t>
            </a:r>
            <a:r>
              <a:rPr lang="en-US" dirty="0" smtClean="0">
                <a:solidFill>
                  <a:srgbClr val="3333CC"/>
                </a:solidFill>
              </a:rPr>
              <a:t>Bohr Shift</a:t>
            </a:r>
            <a:r>
              <a:rPr lang="en-US" dirty="0" smtClean="0"/>
              <a:t>.  A Bohr. shift is characterized by causing more oxygen to be given up as oxygen pressure increases and it is more pronounced in animals of smaller size due to the increase in sensitivity to acid (Schmidt-Nielsen, 1997).  </a:t>
            </a:r>
            <a:r>
              <a:rPr lang="en-US" dirty="0" smtClean="0">
                <a:solidFill>
                  <a:srgbClr val="3333CC"/>
                </a:solidFill>
              </a:rPr>
              <a:t>The dissociation curve shifts to the right.</a:t>
            </a:r>
          </a:p>
          <a:p>
            <a:pPr marL="514350" indent="-514350">
              <a:buAutoNum type="arabicPeriod" startAt="2"/>
            </a:pPr>
            <a:endParaRPr lang="en-US" dirty="0" smtClean="0"/>
          </a:p>
          <a:p>
            <a:pPr>
              <a:buNone/>
            </a:pPr>
            <a:r>
              <a:rPr lang="en-US" i="1" dirty="0" smtClean="0">
                <a:solidFill>
                  <a:srgbClr val="FF0000"/>
                </a:solidFill>
              </a:rPr>
              <a:t>3.   Organic </a:t>
            </a:r>
            <a:r>
              <a:rPr lang="en-US" i="1" dirty="0" err="1" smtClean="0">
                <a:solidFill>
                  <a:srgbClr val="FF0000"/>
                </a:solidFill>
              </a:rPr>
              <a:t>Phospates</a:t>
            </a:r>
            <a:r>
              <a:rPr lang="en-US" dirty="0" smtClean="0">
                <a:solidFill>
                  <a:srgbClr val="FF0000"/>
                </a:solidFill>
              </a:rPr>
              <a:t>- </a:t>
            </a:r>
            <a:r>
              <a:rPr lang="en-US" dirty="0" smtClean="0"/>
              <a:t>2,3-Diphosphoglycerated (DPG) is the primary organic phosphate in mammals.  DPG binds to hemoglobin which rearranges the hemoglobin into the T-state, thus decreasing the affinity of oxygen for hemoglobin (T and R State).  </a:t>
            </a:r>
            <a:r>
              <a:rPr lang="en-US" dirty="0" smtClean="0">
                <a:solidFill>
                  <a:srgbClr val="3333CC"/>
                </a:solidFill>
              </a:rPr>
              <a:t>The curve shifts to the right.</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1524000" y="990600"/>
            <a:ext cx="5210175" cy="5476875"/>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srcRect/>
          <a:stretch>
            <a:fillRect/>
          </a:stretch>
        </p:blipFill>
        <p:spPr bwMode="auto">
          <a:xfrm>
            <a:off x="609600" y="533400"/>
            <a:ext cx="8018022" cy="601980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95400" y="457200"/>
            <a:ext cx="6629400" cy="50292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4000" b="1" i="0" u="none" strike="noStrike" kern="1200" cap="none" spc="0" normalizeH="0" baseline="0" noProof="0" dirty="0" smtClean="0">
                <a:ln>
                  <a:noFill/>
                </a:ln>
                <a:solidFill>
                  <a:srgbClr val="00B050"/>
                </a:solidFill>
                <a:effectLst/>
                <a:uLnTx/>
                <a:uFillTx/>
                <a:latin typeface="+mn-lt"/>
                <a:ea typeface="+mn-ea"/>
                <a:cs typeface="+mn-cs"/>
              </a:rPr>
              <a:t>Vitamin B</a:t>
            </a:r>
            <a:r>
              <a:rPr kumimoji="0" lang="en-US" sz="4000" b="1" i="0" u="none" strike="noStrike" kern="1200" cap="none" spc="0" normalizeH="0" baseline="-25000" noProof="0" dirty="0" smtClean="0">
                <a:ln>
                  <a:noFill/>
                </a:ln>
                <a:solidFill>
                  <a:srgbClr val="00B050"/>
                </a:solidFill>
                <a:effectLst/>
                <a:uLnTx/>
                <a:uFillTx/>
                <a:latin typeface="+mn-lt"/>
                <a:ea typeface="+mn-ea"/>
                <a:cs typeface="+mn-cs"/>
              </a:rPr>
              <a:t>12</a:t>
            </a:r>
            <a:r>
              <a:rPr kumimoji="0" lang="en-US" sz="4000" b="0" i="0" u="none" strike="noStrike" kern="1200" cap="none" spc="0" normalizeH="0" baseline="0" noProof="0" dirty="0" smtClean="0">
                <a:ln>
                  <a:noFill/>
                </a:ln>
                <a:solidFill>
                  <a:srgbClr val="00B050"/>
                </a:solidFill>
                <a:effectLst/>
                <a:uLnTx/>
                <a:uFillTx/>
                <a:latin typeface="+mn-lt"/>
                <a:ea typeface="+mn-ea"/>
                <a:cs typeface="+mn-cs"/>
              </a:rPr>
              <a:t>, </a:t>
            </a:r>
            <a:r>
              <a:rPr kumimoji="0" lang="en-US" sz="4000" b="1" i="0" u="none" strike="noStrike" kern="1200" cap="none" spc="0" normalizeH="0" baseline="0" noProof="0" dirty="0" smtClean="0">
                <a:ln>
                  <a:noFill/>
                </a:ln>
                <a:solidFill>
                  <a:srgbClr val="00B050"/>
                </a:solidFill>
                <a:effectLst/>
                <a:uLnTx/>
                <a:uFillTx/>
                <a:latin typeface="+mn-lt"/>
                <a:ea typeface="+mn-ea"/>
                <a:cs typeface="+mn-cs"/>
              </a:rPr>
              <a:t>vitamin B12</a:t>
            </a:r>
            <a:r>
              <a:rPr kumimoji="0" lang="en-US" sz="4000" b="0" i="0" u="none" strike="noStrike" kern="1200" cap="none" spc="0" normalizeH="0" baseline="0" noProof="0" dirty="0" smtClean="0">
                <a:ln>
                  <a:noFill/>
                </a:ln>
                <a:solidFill>
                  <a:srgbClr val="00B050"/>
                </a:solidFill>
                <a:effectLst/>
                <a:uLnTx/>
                <a:uFillTx/>
                <a:latin typeface="+mn-lt"/>
                <a:ea typeface="+mn-ea"/>
                <a:cs typeface="+mn-cs"/>
              </a:rPr>
              <a:t> or </a:t>
            </a:r>
            <a:r>
              <a:rPr kumimoji="0" lang="en-US" sz="4000" b="1" i="0" u="none" strike="noStrike" kern="1200" cap="none" spc="0" normalizeH="0" baseline="0" noProof="0" dirty="0" smtClean="0">
                <a:ln>
                  <a:noFill/>
                </a:ln>
                <a:solidFill>
                  <a:srgbClr val="00B050"/>
                </a:solidFill>
                <a:effectLst/>
                <a:uLnTx/>
                <a:uFillTx/>
                <a:latin typeface="+mn-lt"/>
                <a:ea typeface="+mn-ea"/>
                <a:cs typeface="+mn-cs"/>
              </a:rPr>
              <a:t>vitamin B-12</a:t>
            </a:r>
            <a:r>
              <a:rPr kumimoji="0" lang="en-US" sz="4000" b="0" i="0" u="none" strike="noStrike" kern="1200" cap="none" spc="0" normalizeH="0" baseline="0" noProof="0" dirty="0" smtClean="0">
                <a:ln>
                  <a:noFill/>
                </a:ln>
                <a:solidFill>
                  <a:srgbClr val="00B050"/>
                </a:solidFill>
                <a:effectLst/>
                <a:uLnTx/>
                <a:uFillTx/>
                <a:latin typeface="+mn-lt"/>
                <a:ea typeface="+mn-ea"/>
                <a:cs typeface="+mn-cs"/>
              </a:rPr>
              <a:t>, also called </a:t>
            </a:r>
            <a:r>
              <a:rPr kumimoji="0" lang="en-US" sz="4000" b="1" i="0" u="none" strike="noStrike" kern="1200" cap="none" spc="0" normalizeH="0" baseline="0" noProof="0" dirty="0" err="1" smtClean="0">
                <a:ln>
                  <a:noFill/>
                </a:ln>
                <a:solidFill>
                  <a:srgbClr val="00B050"/>
                </a:solidFill>
                <a:effectLst/>
                <a:uLnTx/>
                <a:uFillTx/>
                <a:latin typeface="+mn-lt"/>
                <a:ea typeface="+mn-ea"/>
                <a:cs typeface="+mn-cs"/>
              </a:rPr>
              <a:t>cobalamin</a:t>
            </a:r>
            <a:r>
              <a:rPr kumimoji="0" lang="en-US" sz="4000" b="0" i="0" u="none" strike="noStrike" kern="1200" cap="none" spc="0" normalizeH="0" baseline="0" noProof="0" dirty="0" smtClean="0">
                <a:ln>
                  <a:noFill/>
                </a:ln>
                <a:solidFill>
                  <a:schemeClr val="tx1"/>
                </a:solidFill>
                <a:effectLst/>
                <a:uLnTx/>
                <a:uFillTx/>
                <a:latin typeface="+mn-lt"/>
                <a:ea typeface="+mn-ea"/>
                <a:cs typeface="+mn-cs"/>
              </a:rPr>
              <a:t>, is a water-soluble vitamin </a:t>
            </a:r>
            <a:r>
              <a:rPr kumimoji="0" lang="en-US" sz="4400" b="0" i="0" u="none" strike="noStrike" kern="1200" cap="none" spc="0" normalizeH="0" baseline="0" noProof="0" dirty="0" smtClean="0">
                <a:ln>
                  <a:noFill/>
                </a:ln>
                <a:solidFill>
                  <a:schemeClr val="tx1"/>
                </a:solidFill>
                <a:effectLst/>
                <a:uLnTx/>
                <a:uFillTx/>
                <a:latin typeface="+mn-lt"/>
                <a:ea typeface="+mn-ea"/>
                <a:cs typeface="+mn-cs"/>
              </a:rPr>
              <a:t>with</a:t>
            </a:r>
            <a:r>
              <a:rPr kumimoji="0" lang="en-US" sz="4000" b="0" i="0" u="none" strike="noStrike" kern="1200" cap="none" spc="0" normalizeH="0" baseline="0" noProof="0" dirty="0" smtClean="0">
                <a:ln>
                  <a:noFill/>
                </a:ln>
                <a:solidFill>
                  <a:schemeClr val="tx1"/>
                </a:solidFill>
                <a:effectLst/>
                <a:uLnTx/>
                <a:uFillTx/>
                <a:latin typeface="+mn-lt"/>
                <a:ea typeface="+mn-ea"/>
                <a:cs typeface="+mn-cs"/>
              </a:rPr>
              <a:t> a key role in the normal functioning of the </a:t>
            </a:r>
            <a:r>
              <a:rPr kumimoji="0" lang="en-US" sz="4000" b="0" i="0" u="none" strike="noStrike" kern="1200" cap="none" spc="0" normalizeH="0" baseline="0" noProof="0" dirty="0" smtClean="0">
                <a:ln>
                  <a:noFill/>
                </a:ln>
                <a:solidFill>
                  <a:schemeClr val="tx1"/>
                </a:solidFill>
                <a:effectLst/>
                <a:uLnTx/>
                <a:uFillTx/>
                <a:latin typeface="+mn-lt"/>
                <a:ea typeface="+mn-ea"/>
                <a:cs typeface="+mn-cs"/>
                <a:hlinkClick r:id="rId2" tooltip="Brain"/>
              </a:rPr>
              <a:t>brain</a:t>
            </a:r>
            <a:r>
              <a:rPr kumimoji="0" lang="en-US" sz="40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sz="4000" b="0" i="0" u="none" strike="noStrike" kern="1200" cap="none" spc="0" normalizeH="0" baseline="0" noProof="0" dirty="0" smtClean="0">
                <a:ln>
                  <a:noFill/>
                </a:ln>
                <a:solidFill>
                  <a:schemeClr val="tx1"/>
                </a:solidFill>
                <a:effectLst/>
                <a:uLnTx/>
                <a:uFillTx/>
                <a:latin typeface="+mn-lt"/>
                <a:ea typeface="+mn-ea"/>
                <a:cs typeface="+mn-cs"/>
                <a:hlinkClick r:id="rId3" tooltip="Nervous system"/>
              </a:rPr>
              <a:t>nervous system</a:t>
            </a:r>
            <a:r>
              <a:rPr kumimoji="0" lang="en-US" sz="4000" b="0" i="0" u="none" strike="noStrike" kern="1200" cap="none" spc="0" normalizeH="0" baseline="0" noProof="0" dirty="0" smtClean="0">
                <a:ln>
                  <a:noFill/>
                </a:ln>
                <a:solidFill>
                  <a:schemeClr val="tx1"/>
                </a:solidFill>
                <a:effectLst/>
                <a:uLnTx/>
                <a:uFillTx/>
                <a:latin typeface="+mn-lt"/>
                <a:ea typeface="+mn-ea"/>
                <a:cs typeface="+mn-cs"/>
              </a:rPr>
              <a:t>, and for the formation of </a:t>
            </a:r>
            <a:r>
              <a:rPr kumimoji="0" lang="en-US" sz="4000" b="0" i="0" u="none" strike="noStrike" kern="1200" cap="none" spc="0" normalizeH="0" baseline="0" noProof="0" dirty="0" smtClean="0">
                <a:ln>
                  <a:noFill/>
                </a:ln>
                <a:solidFill>
                  <a:schemeClr val="tx1"/>
                </a:solidFill>
                <a:effectLst/>
                <a:uLnTx/>
                <a:uFillTx/>
                <a:latin typeface="+mn-lt"/>
                <a:ea typeface="+mn-ea"/>
                <a:cs typeface="+mn-cs"/>
                <a:hlinkClick r:id="rId4" tooltip="Blood"/>
              </a:rPr>
              <a:t>blood</a:t>
            </a:r>
            <a:r>
              <a:rPr kumimoji="0" lang="en-US" sz="40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4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8915400" cy="655564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sz="1400" b="1" dirty="0" smtClean="0">
                <a:solidFill>
                  <a:srgbClr val="FF0000"/>
                </a:solidFill>
              </a:rPr>
              <a:t>List of vitamins</a:t>
            </a:r>
          </a:p>
          <a:p>
            <a:r>
              <a:rPr lang="en-US" sz="1400" b="1" dirty="0" smtClean="0"/>
              <a:t>Vitamin A</a:t>
            </a:r>
            <a:r>
              <a:rPr lang="en-US" sz="1400" dirty="0" smtClean="0"/>
              <a:t>.</a:t>
            </a:r>
          </a:p>
          <a:p>
            <a:r>
              <a:rPr lang="en-US" sz="1400" dirty="0" smtClean="0"/>
              <a:t> Deficiency may cause night-blindness and eye disorder . Good sources - liver, cod liver oil, carrot, broccoli, sweet potato, butter, kale, spinach, pumpkin, collard greens, some cheeses, egg, apricot, cantaloupe melon, milk.</a:t>
            </a:r>
          </a:p>
          <a:p>
            <a:r>
              <a:rPr lang="en-US" sz="1400" b="1" dirty="0" smtClean="0"/>
              <a:t>Vitamin B</a:t>
            </a:r>
            <a:r>
              <a:rPr lang="en-US" sz="1400" b="1" baseline="-25000" dirty="0" smtClean="0"/>
              <a:t>1</a:t>
            </a:r>
            <a:r>
              <a:rPr lang="en-US" sz="1400" b="1" dirty="0" smtClean="0"/>
              <a:t>.</a:t>
            </a:r>
            <a:r>
              <a:rPr lang="en-US" sz="1400" dirty="0" smtClean="0"/>
              <a:t/>
            </a:r>
            <a:br>
              <a:rPr lang="en-US" sz="1400" dirty="0" smtClean="0"/>
            </a:br>
            <a:r>
              <a:rPr lang="en-US" sz="1400" dirty="0" smtClean="0"/>
              <a:t>Chemical name (</a:t>
            </a:r>
            <a:r>
              <a:rPr lang="en-US" sz="1400" dirty="0" err="1" smtClean="0"/>
              <a:t>vitaminer</a:t>
            </a:r>
            <a:r>
              <a:rPr lang="en-US" sz="1400" dirty="0" smtClean="0"/>
              <a:t>) – thiamine. Water soluble.  Deficiency may cause beriberi, Good sources - yeast, pork, cereal grains, sunflower seeds, brown rice, whole grain rye, asparagus, kale, cauliflower, potatoes, oranges, liver, and eggs.</a:t>
            </a:r>
          </a:p>
          <a:p>
            <a:r>
              <a:rPr lang="en-US" sz="1400" b="1" dirty="0" smtClean="0"/>
              <a:t>Vitamin B</a:t>
            </a:r>
            <a:r>
              <a:rPr lang="en-US" sz="1400" b="1" baseline="-25000" dirty="0" smtClean="0"/>
              <a:t>2</a:t>
            </a:r>
            <a:r>
              <a:rPr lang="en-US" sz="1400" dirty="0" smtClean="0"/>
              <a:t>.</a:t>
            </a:r>
            <a:br>
              <a:rPr lang="en-US" sz="1400" dirty="0" smtClean="0"/>
            </a:br>
            <a:r>
              <a:rPr lang="en-US" sz="1400" dirty="0" smtClean="0"/>
              <a:t>Chemical name (</a:t>
            </a:r>
            <a:r>
              <a:rPr lang="en-US" sz="1400" dirty="0" err="1" smtClean="0"/>
              <a:t>vitaminer</a:t>
            </a:r>
            <a:r>
              <a:rPr lang="en-US" sz="1400" dirty="0" smtClean="0"/>
              <a:t>) – riboflavin. Water soluble.  Deficiency may cause </a:t>
            </a:r>
            <a:r>
              <a:rPr lang="en-US" sz="1400" dirty="0" err="1" smtClean="0"/>
              <a:t>ariboflavinosis</a:t>
            </a:r>
            <a:r>
              <a:rPr lang="en-US" sz="1400" dirty="0" smtClean="0"/>
              <a:t> Good sources - asparagus, bananas, persimmons, okra, chard, cottage cheese, milk, yogurt, meat, eggs, fish, and green beans.</a:t>
            </a:r>
          </a:p>
          <a:p>
            <a:r>
              <a:rPr lang="en-US" sz="1400" b="1" dirty="0" smtClean="0"/>
              <a:t>Vitamin B</a:t>
            </a:r>
            <a:r>
              <a:rPr lang="en-US" sz="1400" b="1" baseline="-25000" dirty="0" smtClean="0"/>
              <a:t>3</a:t>
            </a:r>
            <a:r>
              <a:rPr lang="en-US" sz="1400" dirty="0" smtClean="0"/>
              <a:t>.</a:t>
            </a:r>
            <a:br>
              <a:rPr lang="en-US" sz="1400" dirty="0" smtClean="0"/>
            </a:br>
            <a:r>
              <a:rPr lang="en-US" sz="1400" dirty="0" smtClean="0"/>
              <a:t>Chemical names (</a:t>
            </a:r>
            <a:r>
              <a:rPr lang="en-US" sz="1400" dirty="0" err="1" smtClean="0"/>
              <a:t>vitaminer</a:t>
            </a:r>
            <a:r>
              <a:rPr lang="en-US" sz="1400" dirty="0" smtClean="0"/>
              <a:t>) - niacin, </a:t>
            </a:r>
            <a:r>
              <a:rPr lang="en-US" sz="1400" dirty="0" err="1" smtClean="0"/>
              <a:t>niacinamide</a:t>
            </a:r>
            <a:r>
              <a:rPr lang="en-US" sz="1400" dirty="0" smtClean="0"/>
              <a:t> Water soluble. Deficiency may cause pellagra. Good sources - liver, heart, kidney, chicken, beef, fish (tuna, salmon), milk, eggs, avocados, dates, tomatoes, leafy vegetables, broccoli, carrots, sweet potatoes, asparagus, nuts, whole grains, legumes, mushrooms, and brewer's yeast.</a:t>
            </a:r>
          </a:p>
          <a:p>
            <a:r>
              <a:rPr lang="en-US" sz="1400" b="1" dirty="0" smtClean="0"/>
              <a:t>Vitamin B</a:t>
            </a:r>
            <a:r>
              <a:rPr lang="en-US" sz="1400" b="1" baseline="-25000" dirty="0" smtClean="0"/>
              <a:t>5</a:t>
            </a:r>
            <a:r>
              <a:rPr lang="en-US" sz="1400" dirty="0" smtClean="0"/>
              <a:t>.</a:t>
            </a:r>
            <a:br>
              <a:rPr lang="en-US" sz="1400" dirty="0" smtClean="0"/>
            </a:br>
            <a:r>
              <a:rPr lang="en-US" sz="1400" dirty="0" smtClean="0"/>
              <a:t>Chemical name (</a:t>
            </a:r>
            <a:r>
              <a:rPr lang="en-US" sz="1400" dirty="0" err="1" smtClean="0"/>
              <a:t>vitaminer</a:t>
            </a:r>
            <a:r>
              <a:rPr lang="en-US" sz="1400" dirty="0" smtClean="0"/>
              <a:t>) - </a:t>
            </a:r>
            <a:r>
              <a:rPr lang="en-US" sz="1400" dirty="0" err="1" smtClean="0"/>
              <a:t>pantothenic</a:t>
            </a:r>
            <a:r>
              <a:rPr lang="en-US" sz="1400" dirty="0" smtClean="0"/>
              <a:t> acid. Water soluble. </a:t>
            </a:r>
            <a:br>
              <a:rPr lang="en-US" sz="1400" dirty="0" smtClean="0"/>
            </a:br>
            <a:r>
              <a:rPr lang="en-US" sz="1400" dirty="0" smtClean="0"/>
              <a:t>Deficiency may cause </a:t>
            </a:r>
            <a:r>
              <a:rPr lang="en-US" sz="1400" dirty="0" err="1" smtClean="0"/>
              <a:t>paresthesia</a:t>
            </a:r>
            <a:r>
              <a:rPr lang="en-US" sz="1400" dirty="0" smtClean="0"/>
              <a:t>. Good sources - meats, whole grains (milling may remove it), broccoli, avocados, royal jelly, fish ovaries.</a:t>
            </a:r>
          </a:p>
          <a:p>
            <a:r>
              <a:rPr lang="en-US" sz="1400" b="1" dirty="0" smtClean="0"/>
              <a:t>Vitamin B</a:t>
            </a:r>
            <a:r>
              <a:rPr lang="en-US" sz="1400" b="1" baseline="-25000" dirty="0" smtClean="0"/>
              <a:t>6</a:t>
            </a:r>
            <a:r>
              <a:rPr lang="en-US" sz="1400" dirty="0" smtClean="0"/>
              <a:t>.</a:t>
            </a:r>
            <a:br>
              <a:rPr lang="en-US" sz="1400" dirty="0" smtClean="0"/>
            </a:br>
            <a:r>
              <a:rPr lang="en-US" sz="1400" dirty="0" smtClean="0"/>
              <a:t>Chemical names (</a:t>
            </a:r>
            <a:r>
              <a:rPr lang="en-US" sz="1400" dirty="0" err="1" smtClean="0"/>
              <a:t>vitaminer</a:t>
            </a:r>
            <a:r>
              <a:rPr lang="en-US" sz="1400" dirty="0" smtClean="0"/>
              <a:t>) - pyridoxine, </a:t>
            </a:r>
            <a:r>
              <a:rPr lang="en-US" sz="1400" dirty="0" err="1" smtClean="0"/>
              <a:t>pyridoxamine</a:t>
            </a:r>
            <a:r>
              <a:rPr lang="en-US" sz="1400" dirty="0" smtClean="0"/>
              <a:t>, </a:t>
            </a:r>
            <a:r>
              <a:rPr lang="en-US" sz="1400" dirty="0" err="1" smtClean="0"/>
              <a:t>pyridoxal</a:t>
            </a:r>
            <a:r>
              <a:rPr lang="en-US" sz="1400" dirty="0" smtClean="0"/>
              <a:t>. Water soluble. </a:t>
            </a:r>
            <a:br>
              <a:rPr lang="en-US" sz="1400" dirty="0" smtClean="0"/>
            </a:br>
            <a:r>
              <a:rPr lang="en-US" sz="1400" dirty="0" smtClean="0"/>
              <a:t>Deficiency may cause </a:t>
            </a:r>
            <a:r>
              <a:rPr lang="en-US" sz="1400" dirty="0" smtClean="0">
                <a:hlinkClick r:id="rId2" tooltip="What Is Anemia? What Causes Anemia?"/>
              </a:rPr>
              <a:t>anemia</a:t>
            </a:r>
            <a:r>
              <a:rPr lang="en-US" sz="1400" dirty="0" smtClean="0"/>
              <a:t>, peripheral </a:t>
            </a:r>
            <a:r>
              <a:rPr lang="en-US" sz="1400" dirty="0" smtClean="0">
                <a:hlinkClick r:id="rId3" tooltip="What Is Neuropathy? Neuropathy Causes And Treatments"/>
              </a:rPr>
              <a:t>neuropathy</a:t>
            </a:r>
            <a:r>
              <a:rPr lang="en-US" sz="1400" dirty="0" smtClean="0"/>
              <a:t>. Good sources - meats, bananas, whole grains, vegetables, and nuts. When milk is dried it loses about half of its B</a:t>
            </a:r>
            <a:r>
              <a:rPr lang="en-US" sz="1400" baseline="-25000" dirty="0" smtClean="0"/>
              <a:t>6</a:t>
            </a:r>
            <a:r>
              <a:rPr lang="en-US" sz="1400" dirty="0" smtClean="0"/>
              <a:t>. Freezing and canning can also reduce content.</a:t>
            </a:r>
          </a:p>
          <a:p>
            <a:r>
              <a:rPr lang="en-US" sz="1400" b="1" dirty="0" smtClean="0"/>
              <a:t>Vitamin B</a:t>
            </a:r>
            <a:r>
              <a:rPr lang="en-US" sz="1400" b="1" baseline="-25000" dirty="0" smtClean="0"/>
              <a:t>7</a:t>
            </a:r>
            <a:r>
              <a:rPr lang="en-US" sz="1400" dirty="0" smtClean="0"/>
              <a:t>.</a:t>
            </a:r>
            <a:br>
              <a:rPr lang="en-US" sz="1400" dirty="0" smtClean="0"/>
            </a:br>
            <a:r>
              <a:rPr lang="en-US" sz="1400" dirty="0" smtClean="0"/>
              <a:t>Chemical name (</a:t>
            </a:r>
            <a:r>
              <a:rPr lang="en-US" sz="1400" dirty="0" err="1" smtClean="0"/>
              <a:t>vitaminer</a:t>
            </a:r>
            <a:r>
              <a:rPr lang="en-US" sz="1400" dirty="0" smtClean="0"/>
              <a:t>) – biotin. Water soluble. Deficiency may cause dermatitis, enteritis. Good sources - egg yolk, liver, some vegetables.</a:t>
            </a:r>
          </a:p>
          <a:p>
            <a:r>
              <a:rPr lang="en-US" sz="1400" b="1" dirty="0" smtClean="0"/>
              <a:t>Vitamin B</a:t>
            </a:r>
            <a:r>
              <a:rPr lang="en-US" sz="1400" b="1" baseline="-25000" dirty="0" smtClean="0"/>
              <a:t>9</a:t>
            </a:r>
            <a:r>
              <a:rPr lang="en-US" sz="1400" dirty="0" smtClean="0"/>
              <a:t>.</a:t>
            </a:r>
            <a:br>
              <a:rPr lang="en-US" sz="1400" dirty="0" smtClean="0"/>
            </a:br>
            <a:r>
              <a:rPr lang="en-US" sz="1400" dirty="0" smtClean="0"/>
              <a:t>Chemical names (</a:t>
            </a:r>
            <a:r>
              <a:rPr lang="en-US" sz="1400" dirty="0" err="1" smtClean="0"/>
              <a:t>vitaminer</a:t>
            </a:r>
            <a:r>
              <a:rPr lang="en-US" sz="1400" dirty="0" smtClean="0"/>
              <a:t>) - </a:t>
            </a:r>
            <a:r>
              <a:rPr lang="en-US" sz="1400" dirty="0" smtClean="0">
                <a:hlinkClick r:id="rId4" tooltip="What Is Folic Acid? What Is Vitamin B9?"/>
              </a:rPr>
              <a:t>folic acid</a:t>
            </a:r>
            <a:r>
              <a:rPr lang="en-US" sz="1400" dirty="0" smtClean="0"/>
              <a:t>, </a:t>
            </a:r>
            <a:r>
              <a:rPr lang="en-US" sz="1400" dirty="0" err="1" smtClean="0"/>
              <a:t>folinic</a:t>
            </a:r>
            <a:r>
              <a:rPr lang="en-US" sz="1400" dirty="0" smtClean="0"/>
              <a:t> acid. Water soluble.  Deficiency may cause pregnancy deficiency linked to birth defects</a:t>
            </a:r>
            <a:br>
              <a:rPr lang="en-US" sz="1400" dirty="0" smtClean="0"/>
            </a:br>
            <a:r>
              <a:rPr lang="en-US" sz="1400" dirty="0" smtClean="0"/>
              <a:t>Good sources - leafy vegetables, legumes, liver, baker's yeast, some fortified grain products, sunflower seeds. Several fruits have moderate amounts, as does beer.</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363914"/>
            <a:ext cx="8001000" cy="550920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b="1" dirty="0" smtClean="0"/>
              <a:t>Vitamin B</a:t>
            </a:r>
            <a:r>
              <a:rPr lang="en-US" sz="1600" b="1" baseline="-25000" dirty="0" smtClean="0"/>
              <a:t>12</a:t>
            </a:r>
            <a:r>
              <a:rPr lang="en-US" sz="1600" dirty="0" smtClean="0"/>
              <a:t>.</a:t>
            </a:r>
            <a:br>
              <a:rPr lang="en-US" sz="1600" dirty="0" smtClean="0"/>
            </a:br>
            <a:r>
              <a:rPr lang="en-US" sz="1600" dirty="0" smtClean="0"/>
              <a:t>Chemical names (</a:t>
            </a:r>
            <a:r>
              <a:rPr lang="en-US" sz="1600" dirty="0" err="1" smtClean="0"/>
              <a:t>vitaminer</a:t>
            </a:r>
            <a:r>
              <a:rPr lang="en-US" sz="1600" dirty="0" smtClean="0"/>
              <a:t>) - </a:t>
            </a:r>
            <a:r>
              <a:rPr lang="en-US" sz="1600" dirty="0" err="1" smtClean="0"/>
              <a:t>cyanocobalamin</a:t>
            </a:r>
            <a:r>
              <a:rPr lang="en-US" sz="1600" dirty="0" smtClean="0"/>
              <a:t>, </a:t>
            </a:r>
            <a:r>
              <a:rPr lang="en-US" sz="1600" dirty="0" err="1" smtClean="0"/>
              <a:t>hydroxycobalamin</a:t>
            </a:r>
            <a:r>
              <a:rPr lang="en-US" sz="1600" dirty="0" smtClean="0"/>
              <a:t>, </a:t>
            </a:r>
            <a:r>
              <a:rPr lang="en-US" sz="1600" dirty="0" err="1" smtClean="0"/>
              <a:t>methylcobalamin</a:t>
            </a:r>
            <a:r>
              <a:rPr lang="en-US" sz="1600" dirty="0" smtClean="0"/>
              <a:t/>
            </a:r>
            <a:br>
              <a:rPr lang="en-US" sz="1600" dirty="0" smtClean="0"/>
            </a:br>
            <a:r>
              <a:rPr lang="en-US" sz="1600" dirty="0" smtClean="0"/>
              <a:t>Water soluble.  Deficiency may cause </a:t>
            </a:r>
            <a:r>
              <a:rPr lang="en-US" sz="1600" dirty="0" err="1" smtClean="0"/>
              <a:t>megaloblastic</a:t>
            </a:r>
            <a:r>
              <a:rPr lang="en-US" sz="1600" dirty="0" smtClean="0"/>
              <a:t> anemia. Good sources - fish, shellfish, meat, poultry, eggs, milk, and dairy products. Some fortified cereals and soy products, as well as fortified nutritional yeast.</a:t>
            </a:r>
          </a:p>
          <a:p>
            <a:r>
              <a:rPr lang="en-US" sz="1600" b="1" dirty="0" smtClean="0"/>
              <a:t>Vitamin C</a:t>
            </a:r>
            <a:r>
              <a:rPr lang="en-US" sz="1600" dirty="0" smtClean="0"/>
              <a:t>.</a:t>
            </a:r>
            <a:br>
              <a:rPr lang="en-US" sz="1600" dirty="0" smtClean="0"/>
            </a:br>
            <a:r>
              <a:rPr lang="en-US" sz="1600" dirty="0" smtClean="0"/>
              <a:t>Chemical names (</a:t>
            </a:r>
            <a:r>
              <a:rPr lang="en-US" sz="1600" dirty="0" err="1" smtClean="0"/>
              <a:t>vitaminer</a:t>
            </a:r>
            <a:r>
              <a:rPr lang="en-US" sz="1600" dirty="0" smtClean="0"/>
              <a:t>) - ascorbic acid. Water soluble.  Deficiency may cause </a:t>
            </a:r>
            <a:r>
              <a:rPr lang="en-US" sz="1600" dirty="0" err="1" smtClean="0"/>
              <a:t>megaloblastic</a:t>
            </a:r>
            <a:r>
              <a:rPr lang="en-US" sz="1600" dirty="0" smtClean="0"/>
              <a:t> anemia. Good sources - fruit and vegetables. The </a:t>
            </a:r>
            <a:r>
              <a:rPr lang="en-US" sz="1600" dirty="0" err="1" smtClean="0"/>
              <a:t>Kakadu</a:t>
            </a:r>
            <a:r>
              <a:rPr lang="en-US" sz="1600" dirty="0" smtClean="0"/>
              <a:t> plum and the </a:t>
            </a:r>
            <a:r>
              <a:rPr lang="en-US" sz="1600" dirty="0" err="1" smtClean="0"/>
              <a:t>camu</a:t>
            </a:r>
            <a:r>
              <a:rPr lang="en-US" sz="1600" dirty="0" smtClean="0"/>
              <a:t> </a:t>
            </a:r>
            <a:r>
              <a:rPr lang="en-US" sz="1600" dirty="0" err="1" smtClean="0"/>
              <a:t>camu</a:t>
            </a:r>
            <a:r>
              <a:rPr lang="en-US" sz="1600" dirty="0" smtClean="0"/>
              <a:t> fruit have the highest vitamin C contents of all foods. Liver also has vitamin C.</a:t>
            </a:r>
          </a:p>
          <a:p>
            <a:r>
              <a:rPr lang="en-US" sz="1600" b="1" dirty="0" smtClean="0"/>
              <a:t>Vitamin D</a:t>
            </a:r>
            <a:r>
              <a:rPr lang="en-US" sz="1600" dirty="0" smtClean="0"/>
              <a:t>.</a:t>
            </a:r>
            <a:br>
              <a:rPr lang="en-US" sz="1600" dirty="0" smtClean="0"/>
            </a:br>
            <a:r>
              <a:rPr lang="en-US" sz="1600" dirty="0" smtClean="0"/>
              <a:t>Chemical names (</a:t>
            </a:r>
            <a:r>
              <a:rPr lang="en-US" sz="1600" dirty="0" err="1" smtClean="0"/>
              <a:t>vitaminer</a:t>
            </a:r>
            <a:r>
              <a:rPr lang="en-US" sz="1600" dirty="0" smtClean="0"/>
              <a:t>) - </a:t>
            </a:r>
            <a:r>
              <a:rPr lang="en-US" sz="1600" dirty="0" err="1" smtClean="0"/>
              <a:t>ergocalciferol</a:t>
            </a:r>
            <a:r>
              <a:rPr lang="en-US" sz="1600" dirty="0" smtClean="0"/>
              <a:t>, </a:t>
            </a:r>
            <a:r>
              <a:rPr lang="en-US" sz="1600" dirty="0" err="1" smtClean="0"/>
              <a:t>cholecalciferol</a:t>
            </a:r>
            <a:r>
              <a:rPr lang="en-US" sz="1600" dirty="0" smtClean="0"/>
              <a:t>. Fat soluble.  Deficiency may cause </a:t>
            </a:r>
            <a:r>
              <a:rPr lang="en-US" sz="1600" dirty="0" smtClean="0">
                <a:hlinkClick r:id="rId2" tooltip="What Is Rickets? What Causes Rickets?"/>
              </a:rPr>
              <a:t>rickets</a:t>
            </a:r>
            <a:r>
              <a:rPr lang="en-US" sz="1600" dirty="0" smtClean="0"/>
              <a:t>, </a:t>
            </a:r>
            <a:r>
              <a:rPr lang="en-US" sz="1600" dirty="0" err="1" smtClean="0"/>
              <a:t>osteomalacia</a:t>
            </a:r>
            <a:r>
              <a:rPr lang="en-US" sz="1600" dirty="0" smtClean="0"/>
              <a:t>. Good sources - produced in the skin after exposure to ultraviolet B light from the sun or artificial sources. Found in fatty fish, eggs, beef liver, and mushrooms.</a:t>
            </a:r>
          </a:p>
          <a:p>
            <a:r>
              <a:rPr lang="en-US" sz="1600" b="1" dirty="0" smtClean="0"/>
              <a:t>Vitamin E</a:t>
            </a:r>
            <a:r>
              <a:rPr lang="en-US" sz="1600" dirty="0" smtClean="0"/>
              <a:t>.</a:t>
            </a:r>
            <a:br>
              <a:rPr lang="en-US" sz="1600" dirty="0" smtClean="0"/>
            </a:br>
            <a:r>
              <a:rPr lang="en-US" sz="1600" dirty="0" smtClean="0"/>
              <a:t>Chemical names (</a:t>
            </a:r>
            <a:r>
              <a:rPr lang="en-US" sz="1600" dirty="0" err="1" smtClean="0"/>
              <a:t>vitaminer</a:t>
            </a:r>
            <a:r>
              <a:rPr lang="en-US" sz="1600" dirty="0" smtClean="0"/>
              <a:t>) - </a:t>
            </a:r>
            <a:r>
              <a:rPr lang="en-US" sz="1600" dirty="0" err="1" smtClean="0"/>
              <a:t>tocopherols</a:t>
            </a:r>
            <a:r>
              <a:rPr lang="en-US" sz="1600" dirty="0" smtClean="0"/>
              <a:t>, </a:t>
            </a:r>
            <a:r>
              <a:rPr lang="en-US" sz="1600" dirty="0" err="1" smtClean="0"/>
              <a:t>tocotrienols</a:t>
            </a:r>
            <a:r>
              <a:rPr lang="en-US" sz="1600" dirty="0" smtClean="0"/>
              <a:t>. Fat soluble.  Deficiency is uncommon. May cause mild hemolytic anemia in newborns. Good sources - kiwi fruit, almonds, avocado, eggs, milk, nuts, leafy green vegetables, unheated vegetable oils, wheat germ, and </a:t>
            </a:r>
            <a:r>
              <a:rPr lang="en-US" sz="1600" dirty="0" err="1" smtClean="0"/>
              <a:t>wholegrains</a:t>
            </a:r>
            <a:r>
              <a:rPr lang="en-US" sz="1600" dirty="0" smtClean="0"/>
              <a:t>.</a:t>
            </a:r>
          </a:p>
          <a:p>
            <a:r>
              <a:rPr lang="en-US" sz="1600" b="1" dirty="0" smtClean="0"/>
              <a:t>Vitamin K</a:t>
            </a:r>
            <a:r>
              <a:rPr lang="en-US" sz="1600" dirty="0" smtClean="0"/>
              <a:t>.</a:t>
            </a:r>
            <a:br>
              <a:rPr lang="en-US" sz="1600" dirty="0" smtClean="0"/>
            </a:br>
            <a:r>
              <a:rPr lang="en-US" sz="1600" dirty="0" smtClean="0"/>
              <a:t>Chemical names (</a:t>
            </a:r>
            <a:r>
              <a:rPr lang="en-US" sz="1600" dirty="0" err="1" smtClean="0"/>
              <a:t>vitaminer</a:t>
            </a:r>
            <a:r>
              <a:rPr lang="en-US" sz="1600" dirty="0" smtClean="0"/>
              <a:t>) - </a:t>
            </a:r>
            <a:r>
              <a:rPr lang="en-US" sz="1600" dirty="0" err="1" smtClean="0"/>
              <a:t>phylloquinone</a:t>
            </a:r>
            <a:r>
              <a:rPr lang="en-US" sz="1600" dirty="0" smtClean="0"/>
              <a:t>, </a:t>
            </a:r>
            <a:r>
              <a:rPr lang="en-US" sz="1600" dirty="0" err="1" smtClean="0"/>
              <a:t>menaquinones</a:t>
            </a:r>
            <a:r>
              <a:rPr lang="en-US" sz="1600" dirty="0" smtClean="0"/>
              <a:t> Fat soluble. </a:t>
            </a:r>
            <a:br>
              <a:rPr lang="en-US" sz="1600" dirty="0" smtClean="0"/>
            </a:br>
            <a:r>
              <a:rPr lang="en-US" sz="1600" dirty="0" smtClean="0"/>
              <a:t>Deficiency may cause bleeding diathesis</a:t>
            </a:r>
            <a:br>
              <a:rPr lang="en-US" sz="1600" dirty="0" smtClean="0"/>
            </a:br>
            <a:r>
              <a:rPr lang="en-US" sz="1600" dirty="0" smtClean="0"/>
              <a:t>Good sources - leafy green vegetables, avocado, kiwi fruit. Parsley contain a lot of vitamin K.</a:t>
            </a:r>
            <a:endParaRPr lang="en-US" sz="16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3"/>
          </a:lnRef>
          <a:fillRef idx="1">
            <a:schemeClr val="lt1"/>
          </a:fillRef>
          <a:effectRef idx="0">
            <a:schemeClr val="accent3"/>
          </a:effectRef>
          <a:fontRef idx="minor">
            <a:schemeClr val="dk1"/>
          </a:fontRef>
        </p:style>
        <p:txBody>
          <a:bodyPr/>
          <a:lstStyle/>
          <a:p>
            <a:r>
              <a:rPr lang="en-US" b="1" dirty="0" smtClean="0"/>
              <a:t>Iron-sulfur protein</a:t>
            </a:r>
            <a:endParaRPr lang="en-US" dirty="0"/>
          </a:p>
        </p:txBody>
      </p:sp>
      <p:sp>
        <p:nvSpPr>
          <p:cNvPr id="6" name="Rectangle 5"/>
          <p:cNvSpPr/>
          <p:nvPr/>
        </p:nvSpPr>
        <p:spPr>
          <a:xfrm>
            <a:off x="1295400" y="1752600"/>
            <a:ext cx="6477000" cy="3046988"/>
          </a:xfrm>
          <a:prstGeom prst="rect">
            <a:avLst/>
          </a:prstGeom>
        </p:spPr>
        <p:txBody>
          <a:bodyPr wrap="square">
            <a:spAutoFit/>
          </a:bodyPr>
          <a:lstStyle/>
          <a:p>
            <a:r>
              <a:rPr lang="en-US" sz="3200" b="1" dirty="0" smtClean="0"/>
              <a:t>Iron-sulfur proteins</a:t>
            </a:r>
            <a:r>
              <a:rPr lang="en-US" sz="3200" dirty="0" smtClean="0"/>
              <a:t> are </a:t>
            </a:r>
            <a:r>
              <a:rPr lang="en-US" sz="3200" dirty="0" smtClean="0">
                <a:hlinkClick r:id="rId2" action="ppaction://hlinkfile" tooltip="Protein"/>
              </a:rPr>
              <a:t>proteins</a:t>
            </a:r>
            <a:r>
              <a:rPr lang="en-US" sz="3200" dirty="0" smtClean="0"/>
              <a:t> characterized by the presence of </a:t>
            </a:r>
            <a:r>
              <a:rPr lang="en-US" sz="3200" dirty="0" err="1" smtClean="0"/>
              <a:t>polymetallic</a:t>
            </a:r>
            <a:r>
              <a:rPr lang="en-US" sz="3200" dirty="0" smtClean="0"/>
              <a:t> systems (</a:t>
            </a:r>
            <a:r>
              <a:rPr lang="en-US" sz="3200" dirty="0" smtClean="0">
                <a:hlinkClick r:id="rId3" action="ppaction://hlinkfile" tooltip="Iron-sulfur cluster"/>
              </a:rPr>
              <a:t>iron-sulfur clusters</a:t>
            </a:r>
            <a:r>
              <a:rPr lang="en-US" sz="3200" dirty="0" smtClean="0"/>
              <a:t>) containing </a:t>
            </a:r>
            <a:r>
              <a:rPr lang="en-US" sz="3200" dirty="0" smtClean="0">
                <a:hlinkClick r:id="rId4" action="ppaction://hlinkfile" tooltip="Sulfide"/>
              </a:rPr>
              <a:t>sulfide</a:t>
            </a:r>
            <a:r>
              <a:rPr lang="en-US" sz="3200" dirty="0" smtClean="0"/>
              <a:t> ions, in which the </a:t>
            </a:r>
            <a:r>
              <a:rPr lang="en-US" sz="3200" dirty="0" smtClean="0">
                <a:hlinkClick r:id="rId5" action="ppaction://hlinkfile" tooltip="Iron"/>
              </a:rPr>
              <a:t>iron ions</a:t>
            </a:r>
            <a:r>
              <a:rPr lang="en-US" sz="3200" dirty="0" smtClean="0"/>
              <a:t> have variable </a:t>
            </a:r>
            <a:r>
              <a:rPr lang="en-US" sz="3200" dirty="0" smtClean="0">
                <a:hlinkClick r:id="rId6" action="ppaction://hlinkfile" tooltip="Oxidation state"/>
              </a:rPr>
              <a:t>oxidation states</a:t>
            </a:r>
            <a:r>
              <a:rPr lang="en-US" sz="3200" dirty="0" smtClean="0"/>
              <a:t>.</a:t>
            </a:r>
            <a:endParaRPr lang="en-US" sz="32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lstStyle/>
          <a:p>
            <a:r>
              <a:rPr lang="en-US" b="1" dirty="0" smtClean="0"/>
              <a:t>Definition</a:t>
            </a:r>
            <a:r>
              <a:rPr lang="en-US" dirty="0" smtClean="0"/>
              <a:t>: A group of proteins possessing only the </a:t>
            </a:r>
            <a:r>
              <a:rPr lang="en-US" dirty="0" smtClean="0">
                <a:solidFill>
                  <a:srgbClr val="FF0000"/>
                </a:solidFill>
              </a:rPr>
              <a:t>iron-sulfur</a:t>
            </a:r>
            <a:r>
              <a:rPr lang="en-US" dirty="0" smtClean="0"/>
              <a:t> complex as the prosthetic group. </a:t>
            </a:r>
          </a:p>
          <a:p>
            <a:endParaRPr lang="en-US" dirty="0" smtClean="0"/>
          </a:p>
          <a:p>
            <a:r>
              <a:rPr lang="en-US" dirty="0" smtClean="0"/>
              <a:t>These proteins participate in all major pathways of electron transport: photosynthesis, respiration, hydroxylation and bacterial hydrogen and nitrogen fixation.  </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4" name="Picture 4" descr="http://upload.wikimedia.org/wikipedia/commons/thumb/8/89/FeS.png/600px-FeS.png">
            <a:hlinkClick r:id="rId2"/>
          </p:cNvPr>
          <p:cNvPicPr>
            <a:picLocks noChangeAspect="1" noChangeArrowheads="1"/>
          </p:cNvPicPr>
          <p:nvPr/>
        </p:nvPicPr>
        <p:blipFill>
          <a:blip r:embed="rId3" cstate="print"/>
          <a:srcRect/>
          <a:stretch>
            <a:fillRect/>
          </a:stretch>
        </p:blipFill>
        <p:spPr bwMode="auto">
          <a:xfrm>
            <a:off x="228600" y="1676400"/>
            <a:ext cx="8671027" cy="1676400"/>
          </a:xfrm>
          <a:prstGeom prst="rect">
            <a:avLst/>
          </a:prstGeom>
        </p:spPr>
        <p:style>
          <a:lnRef idx="2">
            <a:schemeClr val="accent2"/>
          </a:lnRef>
          <a:fillRef idx="1">
            <a:schemeClr val="lt1"/>
          </a:fillRef>
          <a:effectRef idx="0">
            <a:schemeClr val="accent2"/>
          </a:effectRef>
          <a:fontRef idx="minor">
            <a:schemeClr val="dk1"/>
          </a:fontRef>
        </p:style>
      </p:pic>
      <p:sp>
        <p:nvSpPr>
          <p:cNvPr id="6" name="Rectangle 5"/>
          <p:cNvSpPr/>
          <p:nvPr/>
        </p:nvSpPr>
        <p:spPr>
          <a:xfrm>
            <a:off x="381000" y="3276600"/>
            <a:ext cx="7924800" cy="646331"/>
          </a:xfrm>
          <a:prstGeom prst="rect">
            <a:avLst/>
          </a:prstGeom>
        </p:spPr>
        <p:txBody>
          <a:bodyPr wrap="square">
            <a:spAutoFit/>
          </a:bodyPr>
          <a:lstStyle/>
          <a:p>
            <a:r>
              <a:rPr lang="en-US" b="1" dirty="0" smtClean="0"/>
              <a:t>Figure.</a:t>
            </a:r>
            <a:r>
              <a:rPr lang="en-US" dirty="0" smtClean="0"/>
              <a:t> Illustrative synthetic Fe-S clusters. From left to right: Fe</a:t>
            </a:r>
            <a:r>
              <a:rPr lang="en-US" baseline="-25000" dirty="0" smtClean="0"/>
              <a:t>3</a:t>
            </a:r>
            <a:r>
              <a:rPr lang="en-US" dirty="0" smtClean="0"/>
              <a:t>S</a:t>
            </a:r>
            <a:r>
              <a:rPr lang="en-US" baseline="-25000" dirty="0" smtClean="0"/>
              <a:t>2</a:t>
            </a:r>
            <a:r>
              <a:rPr lang="en-US" dirty="0" smtClean="0"/>
              <a:t>(CO)</a:t>
            </a:r>
            <a:r>
              <a:rPr lang="en-US" baseline="-25000" dirty="0" smtClean="0"/>
              <a:t>9</a:t>
            </a:r>
            <a:r>
              <a:rPr lang="en-US" dirty="0" smtClean="0"/>
              <a:t>, [Fe</a:t>
            </a:r>
            <a:r>
              <a:rPr lang="en-US" baseline="-25000" dirty="0" smtClean="0"/>
              <a:t>3</a:t>
            </a:r>
            <a:r>
              <a:rPr lang="en-US" dirty="0" smtClean="0"/>
              <a:t>S(CO)</a:t>
            </a:r>
            <a:r>
              <a:rPr lang="en-US" baseline="-25000" dirty="0" smtClean="0"/>
              <a:t>9</a:t>
            </a:r>
            <a:r>
              <a:rPr lang="en-US" dirty="0" smtClean="0"/>
              <a:t>]</a:t>
            </a:r>
            <a:r>
              <a:rPr lang="en-US" baseline="30000" dirty="0" smtClean="0"/>
              <a:t>2-</a:t>
            </a:r>
            <a:r>
              <a:rPr lang="en-US" dirty="0" smtClean="0"/>
              <a:t>, (C</a:t>
            </a:r>
            <a:r>
              <a:rPr lang="en-US" baseline="-25000" dirty="0" smtClean="0"/>
              <a:t>5</a:t>
            </a:r>
            <a:r>
              <a:rPr lang="en-US" dirty="0" smtClean="0"/>
              <a:t>H</a:t>
            </a:r>
            <a:r>
              <a:rPr lang="en-US" baseline="-25000" dirty="0" smtClean="0"/>
              <a:t>5</a:t>
            </a:r>
            <a:r>
              <a:rPr lang="en-US" dirty="0" smtClean="0"/>
              <a:t>)</a:t>
            </a:r>
            <a:r>
              <a:rPr lang="en-US" baseline="-25000" dirty="0" smtClean="0"/>
              <a:t>4</a:t>
            </a:r>
            <a:r>
              <a:rPr lang="en-US" dirty="0" smtClean="0"/>
              <a:t>Fe</a:t>
            </a:r>
            <a:r>
              <a:rPr lang="en-US" baseline="-25000" dirty="0" smtClean="0"/>
              <a:t>4</a:t>
            </a:r>
            <a:r>
              <a:rPr lang="en-US" dirty="0" smtClean="0"/>
              <a:t>S</a:t>
            </a:r>
            <a:r>
              <a:rPr lang="en-US" baseline="-25000" dirty="0" smtClean="0"/>
              <a:t>4</a:t>
            </a:r>
            <a:r>
              <a:rPr lang="en-US" dirty="0" smtClean="0"/>
              <a:t>, and [Fe</a:t>
            </a:r>
            <a:r>
              <a:rPr lang="en-US" baseline="-25000" dirty="0" smtClean="0"/>
              <a:t>4</a:t>
            </a:r>
            <a:r>
              <a:rPr lang="en-US" dirty="0" smtClean="0"/>
              <a:t>S</a:t>
            </a:r>
            <a:r>
              <a:rPr lang="en-US" baseline="-25000" dirty="0" smtClean="0"/>
              <a:t>4</a:t>
            </a:r>
            <a:r>
              <a:rPr lang="en-US" dirty="0" smtClean="0"/>
              <a:t>Cl</a:t>
            </a:r>
            <a:r>
              <a:rPr lang="en-US" baseline="-25000" dirty="0" smtClean="0"/>
              <a:t>4</a:t>
            </a:r>
            <a:r>
              <a:rPr lang="en-US" dirty="0" smtClean="0"/>
              <a:t>]</a:t>
            </a:r>
            <a:r>
              <a:rPr lang="en-US" baseline="30000" dirty="0" smtClean="0"/>
              <a:t>2-</a:t>
            </a:r>
            <a:r>
              <a:rPr lang="en-US" dirty="0" smtClean="0"/>
              <a:t>.</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Nitrogen fixation</a:t>
            </a:r>
            <a:br>
              <a:rPr lang="en-US" b="1" dirty="0" smtClean="0"/>
            </a:b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Nitrogen fixation</a:t>
            </a:r>
            <a:r>
              <a:rPr lang="en-US" dirty="0" smtClean="0"/>
              <a:t> is a process by which </a:t>
            </a:r>
            <a:r>
              <a:rPr lang="en-US" dirty="0" smtClean="0">
                <a:hlinkClick r:id="rId2" tooltip="Nitrogen"/>
              </a:rPr>
              <a:t>nitrogen</a:t>
            </a:r>
            <a:r>
              <a:rPr lang="en-US" dirty="0" smtClean="0"/>
              <a:t> (N</a:t>
            </a:r>
            <a:r>
              <a:rPr lang="en-US" baseline="-25000" dirty="0" smtClean="0"/>
              <a:t>2</a:t>
            </a:r>
            <a:r>
              <a:rPr lang="en-US" dirty="0" smtClean="0"/>
              <a:t>) in the </a:t>
            </a:r>
            <a:r>
              <a:rPr lang="en-US" dirty="0" smtClean="0">
                <a:hlinkClick r:id="rId3" tooltip="Earth's atmosphere"/>
              </a:rPr>
              <a:t>atmosphere</a:t>
            </a:r>
            <a:r>
              <a:rPr lang="en-US" dirty="0" smtClean="0"/>
              <a:t> is converted into </a:t>
            </a:r>
            <a:r>
              <a:rPr lang="en-US" dirty="0" smtClean="0">
                <a:hlinkClick r:id="rId4" tooltip="Ammonia"/>
              </a:rPr>
              <a:t>ammonia</a:t>
            </a:r>
            <a:r>
              <a:rPr lang="en-US" dirty="0" smtClean="0"/>
              <a:t> (NH</a:t>
            </a:r>
            <a:r>
              <a:rPr lang="en-US" baseline="-25000" dirty="0" smtClean="0"/>
              <a:t>3</a:t>
            </a:r>
            <a:r>
              <a:rPr lang="en-US" dirty="0" smtClean="0"/>
              <a:t>).</a:t>
            </a:r>
            <a:r>
              <a:rPr lang="en-US" baseline="30000" dirty="0" smtClean="0">
                <a:hlinkClick r:id="rId5"/>
              </a:rPr>
              <a:t>[1]</a:t>
            </a:r>
            <a:r>
              <a:rPr lang="en-US" dirty="0" smtClean="0"/>
              <a:t> Atmospheric nitrogen or molecular nitrogen (N</a:t>
            </a:r>
            <a:r>
              <a:rPr lang="en-US" baseline="-25000" dirty="0" smtClean="0"/>
              <a:t>2</a:t>
            </a:r>
            <a:r>
              <a:rPr lang="en-US" dirty="0" smtClean="0"/>
              <a:t>) is relatively inert: it does not easily react with other chemicals to form new compounds. Fixation processes free up the nitrogen atoms from their diatomic form (N</a:t>
            </a:r>
            <a:r>
              <a:rPr lang="en-US" baseline="-25000" dirty="0" smtClean="0"/>
              <a:t>2</a:t>
            </a:r>
            <a:r>
              <a:rPr lang="en-US" dirty="0" smtClean="0"/>
              <a:t>) to be used in other ways.</a:t>
            </a:r>
          </a:p>
          <a:p>
            <a:r>
              <a:rPr lang="en-US" dirty="0" smtClean="0"/>
              <a:t>Nitrogen fixation, natural and synthetic, is essential for all forms of life because nitrogen is required to </a:t>
            </a:r>
            <a:r>
              <a:rPr lang="en-US" dirty="0" smtClean="0">
                <a:hlinkClick r:id="rId6" tooltip="Biosynthesis"/>
              </a:rPr>
              <a:t>biosynthesize</a:t>
            </a:r>
            <a:r>
              <a:rPr lang="en-US" dirty="0" smtClean="0"/>
              <a:t> basic building blocks of plants, animals and other life forms, e.g., </a:t>
            </a:r>
            <a:r>
              <a:rPr lang="en-US" dirty="0" smtClean="0">
                <a:hlinkClick r:id="rId7" tooltip="Nucleotides"/>
              </a:rPr>
              <a:t>nucleotides</a:t>
            </a:r>
            <a:r>
              <a:rPr lang="en-US" dirty="0" smtClean="0"/>
              <a:t> for </a:t>
            </a:r>
            <a:r>
              <a:rPr lang="en-US" dirty="0" smtClean="0">
                <a:hlinkClick r:id="rId8" tooltip="DNA and RNA"/>
              </a:rPr>
              <a:t>DNA and RNA</a:t>
            </a:r>
            <a:r>
              <a:rPr lang="en-US" dirty="0" smtClean="0"/>
              <a:t> and </a:t>
            </a:r>
            <a:r>
              <a:rPr lang="en-US" dirty="0" smtClean="0">
                <a:hlinkClick r:id="rId9" tooltip="Amino acid"/>
              </a:rPr>
              <a:t>amino acids</a:t>
            </a:r>
            <a:r>
              <a:rPr lang="en-US" dirty="0" smtClean="0"/>
              <a:t> for </a:t>
            </a:r>
            <a:r>
              <a:rPr lang="en-US" dirty="0" smtClean="0">
                <a:hlinkClick r:id="rId10" tooltip="Protein"/>
              </a:rPr>
              <a:t>proteins</a:t>
            </a:r>
            <a:r>
              <a:rPr lang="en-US" dirty="0" smtClean="0"/>
              <a:t>. Therefore nitrogen fixation is essential for agriculture and the manufacture of fertilizer. It is also an important process in the manufacture of explosives (e.g. </a:t>
            </a:r>
            <a:r>
              <a:rPr lang="en-US" dirty="0" smtClean="0">
                <a:hlinkClick r:id="rId11" tooltip="Gunpowder"/>
              </a:rPr>
              <a:t>gunpowder</a:t>
            </a:r>
            <a:r>
              <a:rPr lang="en-US" dirty="0" smtClean="0"/>
              <a:t>, </a:t>
            </a:r>
            <a:r>
              <a:rPr lang="en-US" dirty="0" smtClean="0">
                <a:hlinkClick r:id="rId12" tooltip="Dynamite"/>
              </a:rPr>
              <a:t>dynamite</a:t>
            </a:r>
            <a:r>
              <a:rPr lang="en-US" dirty="0" smtClean="0"/>
              <a:t>, </a:t>
            </a:r>
            <a:r>
              <a:rPr lang="en-US" dirty="0" smtClean="0">
                <a:hlinkClick r:id="rId13" tooltip="Trinitrotoluene"/>
              </a:rPr>
              <a:t>TNT</a:t>
            </a:r>
            <a:r>
              <a:rPr lang="en-US" dirty="0" smtClean="0"/>
              <a:t>, etc.). Nitrogen fixation occurs naturally in the air by means of lightning.</a:t>
            </a:r>
            <a:r>
              <a:rPr lang="en-US" baseline="30000" dirty="0" smtClean="0">
                <a:hlinkClick r:id="rId5"/>
              </a:rPr>
              <a:t>[2][3]</a:t>
            </a:r>
            <a:endParaRPr lang="en-US" dirty="0" smtClean="0"/>
          </a:p>
          <a:p>
            <a:r>
              <a:rPr lang="en-US" dirty="0" smtClean="0"/>
              <a:t>Nitrogen fixation also refers to other biological conversions of nitrogen, such as its conversion to </a:t>
            </a:r>
            <a:r>
              <a:rPr lang="en-US" dirty="0" smtClean="0">
                <a:hlinkClick r:id="rId14" tooltip="Nitrogen dioxide"/>
              </a:rPr>
              <a:t>nitrogen dioxide</a:t>
            </a:r>
            <a:r>
              <a:rPr lang="en-US" dirty="0" smtClean="0"/>
              <a:t>. Microorganisms that can fix nitrogen are prokaryotes (both bacteria and </a:t>
            </a:r>
            <a:r>
              <a:rPr lang="en-US" dirty="0" err="1" smtClean="0"/>
              <a:t>archaea</a:t>
            </a:r>
            <a:r>
              <a:rPr lang="en-US" dirty="0" smtClean="0"/>
              <a:t>, distributed throughout their respective kingdoms) called </a:t>
            </a:r>
            <a:r>
              <a:rPr lang="en-US" dirty="0" err="1" smtClean="0">
                <a:hlinkClick r:id="rId15" tooltip="Diazotroph"/>
              </a:rPr>
              <a:t>diazotrophs</a:t>
            </a:r>
            <a:r>
              <a:rPr lang="en-US" dirty="0" smtClean="0"/>
              <a:t>. Some higher plants, and some animals (</a:t>
            </a:r>
            <a:r>
              <a:rPr lang="en-US" dirty="0" smtClean="0">
                <a:hlinkClick r:id="rId16" tooltip="Termite"/>
              </a:rPr>
              <a:t>termites</a:t>
            </a:r>
            <a:r>
              <a:rPr lang="en-US" dirty="0" smtClean="0"/>
              <a:t>), have formed associations (</a:t>
            </a:r>
            <a:r>
              <a:rPr lang="en-US" dirty="0" smtClean="0">
                <a:hlinkClick r:id="rId17" tooltip="Symbiosis"/>
              </a:rPr>
              <a:t>symbioses</a:t>
            </a:r>
            <a:r>
              <a:rPr lang="en-US" dirty="0" smtClean="0"/>
              <a:t>) with </a:t>
            </a:r>
            <a:r>
              <a:rPr lang="en-US" dirty="0" err="1" smtClean="0"/>
              <a:t>diazotrophs</a:t>
            </a:r>
            <a:r>
              <a:rPr lang="en-US" dirty="0" smtClean="0"/>
              <a:t>.</a:t>
            </a:r>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File:Nitrogen Cycle.svg"/>
          <p:cNvPicPr>
            <a:picLocks noChangeAspect="1" noChangeArrowheads="1"/>
          </p:cNvPicPr>
          <p:nvPr/>
        </p:nvPicPr>
        <p:blipFill>
          <a:blip r:embed="rId2" cstate="print"/>
          <a:srcRect/>
          <a:stretch>
            <a:fillRect/>
          </a:stretch>
        </p:blipFill>
        <p:spPr bwMode="auto">
          <a:xfrm>
            <a:off x="609600" y="304800"/>
            <a:ext cx="7845425" cy="5884069"/>
          </a:xfrm>
          <a:prstGeom prst="rect">
            <a:avLst/>
          </a:prstGeom>
          <a:noFill/>
        </p:spPr>
      </p:pic>
      <p:sp>
        <p:nvSpPr>
          <p:cNvPr id="7" name="Rectangle 6"/>
          <p:cNvSpPr/>
          <p:nvPr/>
        </p:nvSpPr>
        <p:spPr>
          <a:xfrm>
            <a:off x="533400" y="6172200"/>
            <a:ext cx="8001000" cy="646331"/>
          </a:xfrm>
          <a:prstGeom prst="rect">
            <a:avLst/>
          </a:prstGeom>
        </p:spPr>
        <p:txBody>
          <a:bodyPr wrap="square">
            <a:spAutoFit/>
          </a:bodyPr>
          <a:lstStyle/>
          <a:p>
            <a:r>
              <a:rPr lang="en-US" dirty="0" smtClean="0"/>
              <a:t>Schematic representation of the </a:t>
            </a:r>
            <a:r>
              <a:rPr lang="en-US" dirty="0" smtClean="0">
                <a:hlinkClick r:id="rId3" tooltip="Nitrogen cycle"/>
              </a:rPr>
              <a:t>nitrogen cycle</a:t>
            </a:r>
            <a:r>
              <a:rPr lang="en-US" dirty="0" smtClean="0"/>
              <a:t>. </a:t>
            </a:r>
            <a:r>
              <a:rPr lang="en-US" dirty="0" err="1" smtClean="0"/>
              <a:t>Abiotic</a:t>
            </a:r>
            <a:r>
              <a:rPr lang="en-US" dirty="0" smtClean="0"/>
              <a:t> nitrogen fixation has been omitted.</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descr="Nitrogen_Fixation"/>
          <p:cNvPicPr>
            <a:picLocks noChangeAspect="1" noChangeArrowheads="1"/>
          </p:cNvPicPr>
          <p:nvPr/>
        </p:nvPicPr>
        <p:blipFill>
          <a:blip r:embed="rId3" cstate="print"/>
          <a:srcRect/>
          <a:stretch>
            <a:fillRect/>
          </a:stretch>
        </p:blipFill>
        <p:spPr bwMode="auto">
          <a:xfrm>
            <a:off x="685800" y="609600"/>
            <a:ext cx="7153275" cy="571500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a:stretch>
            <a:fillRect/>
          </a:stretch>
        </p:blipFill>
        <p:spPr bwMode="auto">
          <a:xfrm>
            <a:off x="1143000" y="838200"/>
            <a:ext cx="5791200" cy="4953000"/>
          </a:xfrm>
          <a:prstGeom prst="rect">
            <a:avLst/>
          </a:prstGeom>
          <a:noFill/>
          <a:ln w="9525">
            <a:solidFill>
              <a:schemeClr val="accent1"/>
            </a:solid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Grp="1" noChangeAspect="1" noChangeArrowheads="1"/>
          </p:cNvPicPr>
          <p:nvPr>
            <p:ph idx="1"/>
          </p:nvPr>
        </p:nvPicPr>
        <p:blipFill>
          <a:blip r:embed="rId2"/>
          <a:srcRect/>
          <a:stretch>
            <a:fillRect/>
          </a:stretch>
        </p:blipFill>
        <p:spPr bwMode="auto">
          <a:xfrm>
            <a:off x="685800" y="609600"/>
            <a:ext cx="7667625" cy="5334000"/>
          </a:xfrm>
          <a:prstGeom prst="rect">
            <a:avLst/>
          </a:prstGeom>
          <a:ln>
            <a:headEnd/>
            <a:tailEnd/>
          </a:ln>
        </p:spPr>
        <p:style>
          <a:lnRef idx="1">
            <a:schemeClr val="accent2"/>
          </a:lnRef>
          <a:fillRef idx="2">
            <a:schemeClr val="accent2"/>
          </a:fillRef>
          <a:effectRef idx="1">
            <a:schemeClr val="accent2"/>
          </a:effectRef>
          <a:fontRef idx="minor">
            <a:schemeClr val="dk1"/>
          </a:fontRef>
        </p:style>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544</TotalTime>
  <Words>1191</Words>
  <Application>Microsoft Office PowerPoint</Application>
  <PresentationFormat>On-screen Show (4:3)</PresentationFormat>
  <Paragraphs>145</Paragraphs>
  <Slides>62</Slides>
  <Notes>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4" baseType="lpstr">
      <vt:lpstr>Office Theme</vt:lpstr>
      <vt:lpstr>Document</vt:lpstr>
      <vt:lpstr>Slide 1</vt:lpstr>
      <vt:lpstr> Biologically Important Elements </vt:lpstr>
      <vt:lpstr>Slide 3</vt:lpstr>
      <vt:lpstr>Slide 4</vt:lpstr>
      <vt:lpstr>Slide 5</vt:lpstr>
      <vt:lpstr>Slide 6</vt:lpstr>
      <vt:lpstr>Slide 7</vt:lpstr>
      <vt:lpstr>Slide 8</vt:lpstr>
      <vt:lpstr>Porphyrins</vt:lpstr>
      <vt:lpstr>What is porphyrin?</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Chlorophyll</vt:lpstr>
      <vt:lpstr>Slide 24</vt:lpstr>
      <vt:lpstr>Slide 25</vt:lpstr>
      <vt:lpstr>HEMOGLOBIN &amp; MYOGLOBIN </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Cytochromes</vt:lpstr>
      <vt:lpstr>Slide 45</vt:lpstr>
      <vt:lpstr>Slide 46</vt:lpstr>
      <vt:lpstr>Slide 47</vt:lpstr>
      <vt:lpstr>The Oxygen Dissociation Curve</vt:lpstr>
      <vt:lpstr>Factors that Influence Oxygen Binding  </vt:lpstr>
      <vt:lpstr>Slide 50</vt:lpstr>
      <vt:lpstr>Slide 51</vt:lpstr>
      <vt:lpstr>Slide 52</vt:lpstr>
      <vt:lpstr>Slide 53</vt:lpstr>
      <vt:lpstr>Slide 54</vt:lpstr>
      <vt:lpstr>Iron-sulfur protein</vt:lpstr>
      <vt:lpstr>Slide 56</vt:lpstr>
      <vt:lpstr>Slide 57</vt:lpstr>
      <vt:lpstr>Nitrogen fixation </vt:lpstr>
      <vt:lpstr>Slide 59</vt:lpstr>
      <vt:lpstr>Slide 60</vt:lpstr>
      <vt:lpstr>Slide 61</vt:lpstr>
      <vt:lpstr>Slide 62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 XP</dc:creator>
  <cp:lastModifiedBy>Pc Mela</cp:lastModifiedBy>
  <cp:revision>144</cp:revision>
  <dcterms:created xsi:type="dcterms:W3CDTF">2013-09-02T05:30:08Z</dcterms:created>
  <dcterms:modified xsi:type="dcterms:W3CDTF">2021-12-14T05:28:02Z</dcterms:modified>
</cp:coreProperties>
</file>