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66" r:id="rId5"/>
    <p:sldId id="268" r:id="rId6"/>
    <p:sldId id="257" r:id="rId7"/>
    <p:sldId id="258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22" autoAdjust="0"/>
    <p:restoredTop sz="94660"/>
  </p:normalViewPr>
  <p:slideViewPr>
    <p:cSldViewPr>
      <p:cViewPr varScale="1">
        <p:scale>
          <a:sx n="68" d="100"/>
          <a:sy n="68" d="100"/>
        </p:scale>
        <p:origin x="-58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B67E763-47CF-4F57-A5DF-A3D2B9D88166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085BE36-7D61-476A-AD39-AA24A5E6E36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76400"/>
            <a:ext cx="8686800" cy="480060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8000" b="1" dirty="0">
                <a:solidFill>
                  <a:srgbClr val="00B0F0"/>
                </a:solidFill>
              </a:rPr>
              <a:t>Three types of liquid substances</a:t>
            </a:r>
            <a:r>
              <a:rPr lang="en-US" sz="8000" b="1" dirty="0">
                <a:solidFill>
                  <a:srgbClr val="002060"/>
                </a:solidFill>
              </a:rPr>
              <a:t>, i.e. </a:t>
            </a:r>
            <a:r>
              <a:rPr lang="en-US" sz="8000" b="1" dirty="0">
                <a:solidFill>
                  <a:srgbClr val="FF0000"/>
                </a:solidFill>
              </a:rPr>
              <a:t>molecular liquids, ionic liquids and </a:t>
            </a:r>
            <a:r>
              <a:rPr lang="en-US" sz="8000" b="1" dirty="0" smtClean="0">
                <a:solidFill>
                  <a:srgbClr val="FF0000"/>
                </a:solidFill>
              </a:rPr>
              <a:t>atomic liquids</a:t>
            </a:r>
            <a:r>
              <a:rPr lang="en-US" sz="8000" b="1" dirty="0">
                <a:solidFill>
                  <a:srgbClr val="FF0000"/>
                </a:solidFill>
              </a:rPr>
              <a:t>, can serve </a:t>
            </a:r>
            <a:r>
              <a:rPr lang="en-US" sz="8000" b="1" dirty="0" smtClean="0">
                <a:solidFill>
                  <a:srgbClr val="FF0000"/>
                </a:solidFill>
              </a:rPr>
              <a:t>as solvents. </a:t>
            </a:r>
            <a:endParaRPr lang="en-US" sz="8000" b="1" dirty="0" smtClean="0">
              <a:solidFill>
                <a:srgbClr val="002060"/>
              </a:solidFill>
            </a:endParaRPr>
          </a:p>
          <a:p>
            <a:pPr algn="just"/>
            <a:endParaRPr lang="en-US" sz="8000" b="1" dirty="0" smtClean="0">
              <a:solidFill>
                <a:srgbClr val="002060"/>
              </a:solidFill>
            </a:endParaRPr>
          </a:p>
          <a:p>
            <a:pPr algn="just"/>
            <a:r>
              <a:rPr lang="en-US" sz="8000" b="1" dirty="0" smtClean="0">
                <a:solidFill>
                  <a:srgbClr val="002060"/>
                </a:solidFill>
              </a:rPr>
              <a:t>Molecular </a:t>
            </a:r>
            <a:r>
              <a:rPr lang="en-US" sz="8000" b="1" dirty="0">
                <a:solidFill>
                  <a:srgbClr val="002060"/>
                </a:solidFill>
              </a:rPr>
              <a:t>liquid solvents are the most common and </a:t>
            </a:r>
            <a:r>
              <a:rPr lang="en-US" sz="8000" b="1" dirty="0" smtClean="0">
                <a:solidFill>
                  <a:srgbClr val="002060"/>
                </a:solidFill>
              </a:rPr>
              <a:t>include, besides </a:t>
            </a:r>
            <a:r>
              <a:rPr lang="en-US" sz="8000" b="1" dirty="0">
                <a:solidFill>
                  <a:srgbClr val="002060"/>
                </a:solidFill>
              </a:rPr>
              <a:t>water, many organic solvents and some inorganic solvents, such as </a:t>
            </a:r>
            <a:endParaRPr lang="en-US" sz="8000" b="1" dirty="0" smtClean="0">
              <a:solidFill>
                <a:srgbClr val="002060"/>
              </a:solidFill>
            </a:endParaRPr>
          </a:p>
          <a:p>
            <a:pPr algn="just"/>
            <a:r>
              <a:rPr lang="en-US" sz="8000" b="1" dirty="0" smtClean="0">
                <a:solidFill>
                  <a:srgbClr val="7030A0"/>
                </a:solidFill>
              </a:rPr>
              <a:t>hydrogen fluoride</a:t>
            </a:r>
            <a:r>
              <a:rPr lang="en-US" sz="8000" b="1" dirty="0">
                <a:solidFill>
                  <a:srgbClr val="7030A0"/>
                </a:solidFill>
              </a:rPr>
              <a:t>, </a:t>
            </a:r>
            <a:endParaRPr lang="en-US" sz="8000" b="1" dirty="0" smtClean="0">
              <a:solidFill>
                <a:srgbClr val="7030A0"/>
              </a:solidFill>
            </a:endParaRPr>
          </a:p>
          <a:p>
            <a:pPr algn="just"/>
            <a:r>
              <a:rPr lang="en-US" sz="8000" b="1" dirty="0" smtClean="0">
                <a:solidFill>
                  <a:srgbClr val="7030A0"/>
                </a:solidFill>
              </a:rPr>
              <a:t>liquid </a:t>
            </a:r>
            <a:r>
              <a:rPr lang="en-US" sz="8000" b="1" dirty="0">
                <a:solidFill>
                  <a:srgbClr val="7030A0"/>
                </a:solidFill>
              </a:rPr>
              <a:t>ammonia and </a:t>
            </a:r>
            <a:endParaRPr lang="en-US" sz="8000" b="1" dirty="0" smtClean="0">
              <a:solidFill>
                <a:srgbClr val="7030A0"/>
              </a:solidFill>
            </a:endParaRPr>
          </a:p>
          <a:p>
            <a:pPr algn="just"/>
            <a:r>
              <a:rPr lang="en-US" sz="8000" b="1" dirty="0" smtClean="0">
                <a:solidFill>
                  <a:srgbClr val="7030A0"/>
                </a:solidFill>
              </a:rPr>
              <a:t>sulfur </a:t>
            </a:r>
            <a:r>
              <a:rPr lang="en-US" sz="8000" b="1" dirty="0">
                <a:solidFill>
                  <a:srgbClr val="7030A0"/>
                </a:solidFill>
              </a:rPr>
              <a:t>dioxide. </a:t>
            </a:r>
            <a:endParaRPr lang="en-US" sz="8000" b="1" dirty="0" smtClean="0">
              <a:solidFill>
                <a:srgbClr val="7030A0"/>
              </a:solidFill>
            </a:endParaRPr>
          </a:p>
          <a:p>
            <a:pPr algn="just"/>
            <a:r>
              <a:rPr lang="en-US" sz="8000" b="1" dirty="0" smtClean="0">
                <a:solidFill>
                  <a:srgbClr val="002060"/>
                </a:solidFill>
              </a:rPr>
              <a:t>Ionic liquid solvents are mostly molten salts and usually used at relatively high temperatures. </a:t>
            </a:r>
            <a:endParaRPr lang="en-US" sz="8000" b="1" dirty="0" smtClean="0">
              <a:solidFill>
                <a:srgbClr val="002060"/>
              </a:solidFill>
            </a:endParaRPr>
          </a:p>
          <a:p>
            <a:pPr algn="just"/>
            <a:endParaRPr lang="en-US" sz="8000" b="1" dirty="0" smtClean="0">
              <a:solidFill>
                <a:srgbClr val="002060"/>
              </a:solidFill>
            </a:endParaRPr>
          </a:p>
          <a:p>
            <a:pPr algn="just"/>
            <a:r>
              <a:rPr lang="en-US" sz="8000" b="1" dirty="0" smtClean="0">
                <a:solidFill>
                  <a:srgbClr val="002060"/>
                </a:solidFill>
              </a:rPr>
              <a:t>Atomic liquid solvents at room temperatures, metallic mercury being a typical example.</a:t>
            </a:r>
            <a:endParaRPr lang="en-US" sz="8000" b="1" dirty="0" smtClean="0">
              <a:solidFill>
                <a:srgbClr val="002060"/>
              </a:solidFill>
            </a:endParaRPr>
          </a:p>
          <a:p>
            <a:pPr algn="just"/>
            <a:endParaRPr lang="en-US" sz="8000" b="1" dirty="0" smtClean="0">
              <a:solidFill>
                <a:srgbClr val="002060"/>
              </a:solidFill>
            </a:endParaRPr>
          </a:p>
          <a:p>
            <a:pPr algn="just"/>
            <a:r>
              <a:rPr lang="en-US" sz="100" dirty="0" smtClean="0"/>
              <a:t>tomic liquid solvents at room temperatures, metallic mercury being a typical example.</a:t>
            </a:r>
            <a:endParaRPr lang="en-US" sz="100" dirty="0"/>
          </a:p>
        </p:txBody>
      </p:sp>
      <p:sp>
        <p:nvSpPr>
          <p:cNvPr id="6" name="Rectangle 5"/>
          <p:cNvSpPr/>
          <p:nvPr/>
        </p:nvSpPr>
        <p:spPr>
          <a:xfrm>
            <a:off x="0" y="152400"/>
            <a:ext cx="9162415" cy="14452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32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Properties of Solvents and Solvent Classification</a:t>
            </a:r>
            <a:br>
              <a:rPr lang="en-US" sz="6000" dirty="0" smtClean="0">
                <a:solidFill>
                  <a:schemeClr val="accent2">
                    <a:lumMod val="75000"/>
                  </a:schemeClr>
                </a:solidFill>
              </a:rPr>
            </a:b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89120"/>
          </a:xfrm>
        </p:spPr>
        <p:txBody>
          <a:bodyPr/>
          <a:lstStyle/>
          <a:p>
            <a:r>
              <a:rPr lang="en-US" sz="2400" dirty="0" smtClean="0"/>
              <a:t>Molecular solvents other than water are generally called </a:t>
            </a:r>
            <a:r>
              <a:rPr lang="en-US" sz="2400" dirty="0" err="1" smtClean="0"/>
              <a:t>nonaqueous</a:t>
            </a:r>
            <a:r>
              <a:rPr lang="en-US" sz="2400" dirty="0" smtClean="0"/>
              <a:t> solvents.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For example, if a solute is dissolved in any solvent such as,  benzene, alcohol, ether, carbon, disulphide, carbon tetrachloride, acetone, etc., the solution obtained is called a non aqueous solution.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err="1" smtClean="0"/>
              <a:t>Nonaqueous</a:t>
            </a:r>
            <a:r>
              <a:rPr lang="en-US" sz="2400" dirty="0" smtClean="0"/>
              <a:t> solvents are often mixed with water or some other </a:t>
            </a:r>
            <a:r>
              <a:rPr lang="en-US" sz="2400" dirty="0" err="1" smtClean="0"/>
              <a:t>nonaqueous</a:t>
            </a:r>
            <a:r>
              <a:rPr lang="en-US" sz="2400" dirty="0" smtClean="0"/>
              <a:t> solvents, to obtain desirable solvent properties. These mixtures of solvents are called mixed solvents.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229600" cy="1143000"/>
          </a:xfrm>
        </p:spPr>
        <p:txBody>
          <a:bodyPr/>
          <a:lstStyle/>
          <a:p>
            <a:r>
              <a:rPr lang="en-US" dirty="0" smtClean="0"/>
              <a:t>Properties of Solvent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The temperature range over which it is a liquid.</a:t>
            </a:r>
            <a:endParaRPr lang="en-US" dirty="0" smtClean="0"/>
          </a:p>
          <a:p>
            <a:r>
              <a:rPr lang="en-US" dirty="0" smtClean="0"/>
              <a:t>2. Its dielectric constant </a:t>
            </a:r>
            <a:endParaRPr lang="en-US" dirty="0" smtClean="0"/>
          </a:p>
          <a:p>
            <a:r>
              <a:rPr lang="en-US" dirty="0" smtClean="0"/>
              <a:t>3. Its donor and acceptor properties</a:t>
            </a:r>
            <a:endParaRPr lang="en-US" dirty="0" smtClean="0"/>
          </a:p>
          <a:p>
            <a:r>
              <a:rPr lang="en-US" dirty="0" smtClean="0"/>
              <a:t>4. Its </a:t>
            </a:r>
            <a:r>
              <a:rPr lang="en-US" dirty="0" err="1" smtClean="0"/>
              <a:t>protonic</a:t>
            </a:r>
            <a:r>
              <a:rPr lang="en-US" dirty="0" smtClean="0"/>
              <a:t> acidity and </a:t>
            </a:r>
            <a:r>
              <a:rPr lang="en-US" dirty="0" err="1" smtClean="0"/>
              <a:t>bacisity</a:t>
            </a:r>
            <a:endParaRPr lang="en-US" dirty="0" smtClean="0"/>
          </a:p>
          <a:p>
            <a:r>
              <a:rPr lang="en-US" dirty="0" smtClean="0"/>
              <a:t>5. The nature and extent of </a:t>
            </a:r>
            <a:r>
              <a:rPr lang="en-US" dirty="0" err="1" smtClean="0"/>
              <a:t>autodissociation</a:t>
            </a:r>
            <a:endParaRPr lang="en-US" dirty="0" smtClean="0"/>
          </a:p>
          <a:p>
            <a:r>
              <a:rPr lang="en-US" dirty="0" smtClean="0"/>
              <a:t>6. Hydrogen bonding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Types of Solvent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Protic</a:t>
            </a:r>
            <a:r>
              <a:rPr lang="en-US" dirty="0" smtClean="0"/>
              <a:t> Solvent : H</a:t>
            </a:r>
            <a:r>
              <a:rPr lang="en-US" baseline="-25000" dirty="0" smtClean="0"/>
              <a:t>2</a:t>
            </a:r>
            <a:r>
              <a:rPr lang="en-US" dirty="0" smtClean="0"/>
              <a:t>O, </a:t>
            </a:r>
            <a:r>
              <a:rPr lang="en-US" dirty="0" err="1" smtClean="0"/>
              <a:t>HCl</a:t>
            </a:r>
            <a:r>
              <a:rPr lang="en-US" dirty="0" smtClean="0"/>
              <a:t>, HF, H</a:t>
            </a:r>
            <a:r>
              <a:rPr lang="en-US" baseline="-25000" dirty="0" smtClean="0"/>
              <a:t>2</a:t>
            </a:r>
            <a:r>
              <a:rPr lang="en-US" dirty="0" smtClean="0"/>
              <a:t>SO</a:t>
            </a:r>
            <a:r>
              <a:rPr lang="en-US" baseline="-25000" dirty="0" smtClean="0"/>
              <a:t>4</a:t>
            </a:r>
            <a:endParaRPr lang="en-US" dirty="0" smtClean="0"/>
          </a:p>
          <a:p>
            <a:r>
              <a:rPr lang="en-US" dirty="0" err="1" smtClean="0"/>
              <a:t>Aprotic</a:t>
            </a:r>
            <a:r>
              <a:rPr lang="en-US" dirty="0" smtClean="0"/>
              <a:t> Solvent :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2209800" y="2667000"/>
          <a:ext cx="5362536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CS ChemDraw Drawing" r:id="rId1" imgW="22860000" imgH="14944725" progId="ChemDraw.Document.6.0">
                  <p:embed/>
                </p:oleObj>
              </mc:Choice>
              <mc:Fallback>
                <p:oleObj name="CS ChemDraw Drawing" r:id="rId1" imgW="22860000" imgH="14944725" progId="ChemDraw.Document.6.0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9800" y="2667000"/>
                        <a:ext cx="5362536" cy="350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389120"/>
          </a:xfrm>
        </p:spPr>
        <p:txBody>
          <a:bodyPr/>
          <a:lstStyle/>
          <a:p>
            <a:r>
              <a:rPr lang="en-US" sz="1800" dirty="0"/>
              <a:t>Alkali metals (e.g., Na) in NH3(</a:t>
            </a:r>
            <a:r>
              <a:rPr lang="en-US" sz="1800" i="1" dirty="0"/>
              <a:t>l) produce bronze colored solutions when</a:t>
            </a:r>
            <a:endParaRPr lang="en-US" sz="1800" i="1" dirty="0"/>
          </a:p>
          <a:p>
            <a:r>
              <a:rPr lang="en-US" sz="1800" dirty="0"/>
              <a:t>concentrated (&gt; 1.0 M) and blue solutions when less concentrated.</a:t>
            </a:r>
            <a:endParaRPr lang="en-US" sz="1800" dirty="0"/>
          </a:p>
          <a:p>
            <a:r>
              <a:rPr lang="en-US" sz="1800" dirty="0"/>
              <a:t>• In both cases, the solution contains solvated electrons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r>
              <a:rPr lang="en-US" sz="1800" dirty="0"/>
              <a:t>The more dilute blue solutions are strongly paramagnetic, becoming less so with</a:t>
            </a:r>
            <a:endParaRPr lang="en-US" sz="1800" dirty="0"/>
          </a:p>
          <a:p>
            <a:r>
              <a:rPr lang="en-US" sz="1800" dirty="0"/>
              <a:t>increasing concentration.</a:t>
            </a:r>
            <a:endParaRPr lang="en-US" sz="1800" dirty="0"/>
          </a:p>
          <a:p>
            <a:r>
              <a:rPr lang="en-US" sz="1800" dirty="0"/>
              <a:t>• In the concentrated solutions, extensive electron pairing occurs, making the</a:t>
            </a:r>
            <a:endParaRPr lang="en-US" sz="1800" dirty="0"/>
          </a:p>
          <a:p>
            <a:r>
              <a:rPr lang="en-US" sz="1800" dirty="0"/>
              <a:t>bronze colored solutions less paramagnetic.</a:t>
            </a:r>
            <a:endParaRPr lang="en-US" sz="1800" dirty="0"/>
          </a:p>
          <a:p>
            <a:r>
              <a:rPr lang="en-US" sz="1800" dirty="0"/>
              <a:t>• Solutions of metals in liquid ammonia are very strong reducing agents and react</a:t>
            </a:r>
            <a:endParaRPr lang="en-US" sz="1800" dirty="0"/>
          </a:p>
          <a:p>
            <a:r>
              <a:rPr lang="en-US" sz="1800" dirty="0"/>
              <a:t>very much like the free metals themselves.</a:t>
            </a:r>
            <a:endParaRPr lang="en-US" sz="1800" dirty="0"/>
          </a:p>
          <a:p>
            <a:r>
              <a:rPr lang="en-US" sz="1800" dirty="0"/>
              <a:t>• The reduction process appears to involve free solvated electrons.</a:t>
            </a:r>
            <a:endParaRPr lang="en-US" sz="1800" dirty="0"/>
          </a:p>
        </p:txBody>
      </p:sp>
      <p:sp>
        <p:nvSpPr>
          <p:cNvPr id="4" name="Title 1"/>
          <p:cNvSpPr txBox="1"/>
          <p:nvPr/>
        </p:nvSpPr>
        <p:spPr>
          <a:xfrm>
            <a:off x="533400" y="304801"/>
            <a:ext cx="7772400" cy="9143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Alkali </a:t>
            </a:r>
            <a:r>
              <a:rPr kumimoji="0" lang="en-US" sz="3600" b="1" i="0" u="none" strike="noStrike" kern="1200" cap="none" spc="0" normalizeH="0" baseline="0" noProof="0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Metals</a:t>
            </a:r>
            <a:r>
              <a:rPr kumimoji="0" lang="en-US" sz="3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in Liquid Ammonia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914400" y="2590800"/>
          <a:ext cx="41560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CS ChemDraw Drawing" r:id="rId1" imgW="25974675" imgH="1676400" progId="ChemDraw.Document.6.0">
                  <p:embed/>
                </p:oleObj>
              </mc:Choice>
              <mc:Fallback>
                <p:oleObj name="CS ChemDraw Drawing" r:id="rId1" imgW="25974675" imgH="1676400" progId="ChemDraw.Document.6.0">
                  <p:embed/>
                  <p:pic>
                    <p:nvPicPr>
                      <p:cNvPr id="0" name="Picture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2590800"/>
                        <a:ext cx="4156075" cy="266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Reduction of Ammonia by Alkali Metals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resistance of ammonia itself to reduction provides a medium in which highly</a:t>
            </a:r>
            <a:endParaRPr lang="en-US" sz="2000" dirty="0"/>
          </a:p>
          <a:p>
            <a:r>
              <a:rPr lang="en-US" sz="2000" dirty="0"/>
              <a:t>reduced states are thermodynamically stable.</a:t>
            </a:r>
            <a:endParaRPr lang="en-US" sz="2000" dirty="0"/>
          </a:p>
          <a:p>
            <a:r>
              <a:rPr lang="en-US" sz="2000" dirty="0"/>
              <a:t>• Alkali metals do react very slowly with NH3 in a manner analogous to </a:t>
            </a:r>
            <a:r>
              <a:rPr lang="en-US" sz="2000" dirty="0" smtClean="0"/>
              <a:t>their behavior </a:t>
            </a:r>
            <a:r>
              <a:rPr lang="en-US" sz="2000" dirty="0"/>
              <a:t>with water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/>
              <a:t>The reaction is catalyzed by small amounts of any Fe(III) salt.</a:t>
            </a:r>
            <a:endParaRPr lang="en-US" sz="2000" dirty="0"/>
          </a:p>
          <a:p>
            <a:r>
              <a:rPr lang="en-US" sz="2000" dirty="0"/>
              <a:t>• Catalytic mechanism is uncertain, but appears to involve rapid reduction of Fe(III)</a:t>
            </a:r>
            <a:endParaRPr lang="en-US" sz="2000" dirty="0"/>
          </a:p>
          <a:p>
            <a:r>
              <a:rPr lang="en-US" sz="2000" dirty="0"/>
              <a:t>to produce finely divided Fe(0), which may be the actual catalytic agent.</a:t>
            </a:r>
            <a:endParaRPr lang="en-US" sz="2000" dirty="0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066800" y="3505200"/>
          <a:ext cx="5645069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CS ChemDraw Drawing" r:id="rId1" imgW="23231475" imgH="1571625" progId="ChemDraw.Document.6.0">
                  <p:embed/>
                </p:oleObj>
              </mc:Choice>
              <mc:Fallback>
                <p:oleObj name="CS ChemDraw Drawing" r:id="rId1" imgW="23231475" imgH="1571625" progId="ChemDraw.Document.6.0">
                  <p:embed/>
                  <p:pic>
                    <p:nvPicPr>
                      <p:cNvPr id="0" name="Picture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3505200"/>
                        <a:ext cx="5645069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upload.wikimedia.org/wikipedia/commons/thumb/7/75/Sulfur-dioxide-resonance-2D.svg/360px-Sulfur-dioxide-resonance-2D.svg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1295400"/>
            <a:ext cx="7315200" cy="1524000"/>
          </a:xfrm>
          <a:prstGeom prst="rect">
            <a:avLst/>
          </a:prstGeom>
          <a:noFill/>
        </p:spPr>
      </p:pic>
      <p:pic>
        <p:nvPicPr>
          <p:cNvPr id="22532" name="Picture 4" descr="Skeletal formula sulfur dioxide with assorted dimension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352800"/>
            <a:ext cx="5410200" cy="26057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Cheletropic reaction of butadiene with SO2.sv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14400" y="1676400"/>
            <a:ext cx="5972171" cy="2514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2499</Words>
  <Application>WPS Presentation</Application>
  <PresentationFormat>On-screen Show (4:3)</PresentationFormat>
  <Paragraphs>65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</vt:lpstr>
      <vt:lpstr>3_Default Design</vt:lpstr>
      <vt:lpstr>ChemDraw.Document.6.0</vt:lpstr>
      <vt:lpstr>ChemDraw.Document.6.0</vt:lpstr>
      <vt:lpstr>ChemDraw.Document.6.0</vt:lpstr>
      <vt:lpstr>PowerPoint 演示文稿</vt:lpstr>
      <vt:lpstr>PowerPoint 演示文稿</vt:lpstr>
      <vt:lpstr>Properties of Solvent </vt:lpstr>
      <vt:lpstr>Types of Solvent  </vt:lpstr>
      <vt:lpstr>PowerPoint 演示文稿</vt:lpstr>
      <vt:lpstr>Reduction of Ammonia by Alkali Metals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Alkali Metals in Liquid Ammonia</dc:title>
  <dc:creator>Arzu</dc:creator>
  <cp:lastModifiedBy>A To Z Computer</cp:lastModifiedBy>
  <cp:revision>35</cp:revision>
  <dcterms:created xsi:type="dcterms:W3CDTF">2014-04-24T07:21:00Z</dcterms:created>
  <dcterms:modified xsi:type="dcterms:W3CDTF">2022-09-04T12:04:28Z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26DC9B2D54DF4458B785908342745E33</vt:lpwstr>
  </property>
  <property fmtid="{D5CDD505-2E9C-101B-9397-08002B2CF9AE}" pid="3" name="KSOProductBuildVer">
    <vt:lpwstr>1033-11.2.0.11306</vt:lpwstr>
  </property>
</Properties>
</file>