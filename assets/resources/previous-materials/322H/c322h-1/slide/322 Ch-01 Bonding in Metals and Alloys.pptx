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4" r:id="rId1"/>
  </p:sldMasterIdLst>
  <p:notesMasterIdLst>
    <p:notesMasterId r:id="rId129"/>
  </p:notesMasterIdLst>
  <p:sldIdLst>
    <p:sldId id="444" r:id="rId2"/>
    <p:sldId id="451" r:id="rId3"/>
    <p:sldId id="450" r:id="rId4"/>
    <p:sldId id="455" r:id="rId5"/>
    <p:sldId id="456" r:id="rId6"/>
    <p:sldId id="449" r:id="rId7"/>
    <p:sldId id="341" r:id="rId8"/>
    <p:sldId id="447" r:id="rId9"/>
    <p:sldId id="448" r:id="rId10"/>
    <p:sldId id="397" r:id="rId11"/>
    <p:sldId id="457" r:id="rId12"/>
    <p:sldId id="405" r:id="rId13"/>
    <p:sldId id="406" r:id="rId14"/>
    <p:sldId id="407" r:id="rId15"/>
    <p:sldId id="408" r:id="rId16"/>
    <p:sldId id="399" r:id="rId17"/>
    <p:sldId id="295" r:id="rId18"/>
    <p:sldId id="294" r:id="rId19"/>
    <p:sldId id="301" r:id="rId20"/>
    <p:sldId id="282" r:id="rId21"/>
    <p:sldId id="283" r:id="rId22"/>
    <p:sldId id="285" r:id="rId23"/>
    <p:sldId id="460" r:id="rId24"/>
    <p:sldId id="461" r:id="rId25"/>
    <p:sldId id="462" r:id="rId26"/>
    <p:sldId id="463" r:id="rId27"/>
    <p:sldId id="464" r:id="rId28"/>
    <p:sldId id="465" r:id="rId29"/>
    <p:sldId id="466" r:id="rId30"/>
    <p:sldId id="467" r:id="rId31"/>
    <p:sldId id="468" r:id="rId32"/>
    <p:sldId id="470" r:id="rId33"/>
    <p:sldId id="491" r:id="rId34"/>
    <p:sldId id="324" r:id="rId35"/>
    <p:sldId id="493" r:id="rId36"/>
    <p:sldId id="481" r:id="rId37"/>
    <p:sldId id="476" r:id="rId38"/>
    <p:sldId id="390" r:id="rId39"/>
    <p:sldId id="496" r:id="rId40"/>
    <p:sldId id="495" r:id="rId41"/>
    <p:sldId id="474" r:id="rId42"/>
    <p:sldId id="473" r:id="rId43"/>
    <p:sldId id="477" r:id="rId44"/>
    <p:sldId id="393" r:id="rId45"/>
    <p:sldId id="318" r:id="rId46"/>
    <p:sldId id="319" r:id="rId47"/>
    <p:sldId id="320" r:id="rId48"/>
    <p:sldId id="321" r:id="rId49"/>
    <p:sldId id="479" r:id="rId50"/>
    <p:sldId id="323" r:id="rId51"/>
    <p:sldId id="325" r:id="rId52"/>
    <p:sldId id="327" r:id="rId53"/>
    <p:sldId id="328" r:id="rId54"/>
    <p:sldId id="329" r:id="rId55"/>
    <p:sldId id="486" r:id="rId56"/>
    <p:sldId id="487" r:id="rId57"/>
    <p:sldId id="500" r:id="rId58"/>
    <p:sldId id="489" r:id="rId59"/>
    <p:sldId id="502" r:id="rId60"/>
    <p:sldId id="335" r:id="rId61"/>
    <p:sldId id="337" r:id="rId62"/>
    <p:sldId id="339" r:id="rId63"/>
    <p:sldId id="574" r:id="rId64"/>
    <p:sldId id="504" r:id="rId65"/>
    <p:sldId id="505" r:id="rId66"/>
    <p:sldId id="373" r:id="rId67"/>
    <p:sldId id="376" r:id="rId68"/>
    <p:sldId id="541" r:id="rId69"/>
    <p:sldId id="542" r:id="rId70"/>
    <p:sldId id="555" r:id="rId71"/>
    <p:sldId id="556" r:id="rId72"/>
    <p:sldId id="557" r:id="rId73"/>
    <p:sldId id="558" r:id="rId74"/>
    <p:sldId id="350" r:id="rId75"/>
    <p:sldId id="351" r:id="rId76"/>
    <p:sldId id="352" r:id="rId77"/>
    <p:sldId id="353" r:id="rId78"/>
    <p:sldId id="354" r:id="rId79"/>
    <p:sldId id="357" r:id="rId80"/>
    <p:sldId id="358" r:id="rId81"/>
    <p:sldId id="561" r:id="rId82"/>
    <p:sldId id="562" r:id="rId83"/>
    <p:sldId id="563" r:id="rId84"/>
    <p:sldId id="564" r:id="rId85"/>
    <p:sldId id="565" r:id="rId86"/>
    <p:sldId id="568" r:id="rId87"/>
    <p:sldId id="359" r:id="rId88"/>
    <p:sldId id="360" r:id="rId89"/>
    <p:sldId id="361" r:id="rId90"/>
    <p:sldId id="362" r:id="rId91"/>
    <p:sldId id="363" r:id="rId92"/>
    <p:sldId id="364" r:id="rId93"/>
    <p:sldId id="365" r:id="rId94"/>
    <p:sldId id="571" r:id="rId95"/>
    <p:sldId id="366" r:id="rId96"/>
    <p:sldId id="369" r:id="rId97"/>
    <p:sldId id="370" r:id="rId98"/>
    <p:sldId id="371" r:id="rId99"/>
    <p:sldId id="411" r:id="rId100"/>
    <p:sldId id="428" r:id="rId101"/>
    <p:sldId id="417" r:id="rId102"/>
    <p:sldId id="418" r:id="rId103"/>
    <p:sldId id="419" r:id="rId104"/>
    <p:sldId id="420" r:id="rId105"/>
    <p:sldId id="429" r:id="rId106"/>
    <p:sldId id="430" r:id="rId107"/>
    <p:sldId id="431" r:id="rId108"/>
    <p:sldId id="432" r:id="rId109"/>
    <p:sldId id="421" r:id="rId110"/>
    <p:sldId id="433" r:id="rId111"/>
    <p:sldId id="434" r:id="rId112"/>
    <p:sldId id="422" r:id="rId113"/>
    <p:sldId id="438" r:id="rId114"/>
    <p:sldId id="436" r:id="rId115"/>
    <p:sldId id="439" r:id="rId116"/>
    <p:sldId id="440" r:id="rId117"/>
    <p:sldId id="423" r:id="rId118"/>
    <p:sldId id="508" r:id="rId119"/>
    <p:sldId id="509" r:id="rId120"/>
    <p:sldId id="511" r:id="rId121"/>
    <p:sldId id="513" r:id="rId122"/>
    <p:sldId id="515" r:id="rId123"/>
    <p:sldId id="516" r:id="rId124"/>
    <p:sldId id="517" r:id="rId125"/>
    <p:sldId id="580" r:id="rId126"/>
    <p:sldId id="578" r:id="rId127"/>
    <p:sldId id="520" r:id="rId1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CC"/>
    <a:srgbClr val="0000FF"/>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0" autoAdjust="0"/>
    <p:restoredTop sz="94681" autoAdjust="0"/>
  </p:normalViewPr>
  <p:slideViewPr>
    <p:cSldViewPr>
      <p:cViewPr>
        <p:scale>
          <a:sx n="76" d="100"/>
          <a:sy n="76" d="100"/>
        </p:scale>
        <p:origin x="-330" y="-2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132034-D662-4EA9-91ED-0F6529239C14}"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D09E13C6-445D-4E03-A6EC-3D4992818C1C}">
      <dgm:prSet phldrT="[Text]" custT="1"/>
      <dgm:spPr/>
      <dgm:t>
        <a:bodyPr/>
        <a:lstStyle/>
        <a:p>
          <a:r>
            <a:rPr lang="en-US" sz="5400" b="1" dirty="0" smtClean="0">
              <a:solidFill>
                <a:srgbClr val="0000FF"/>
              </a:solidFill>
            </a:rPr>
            <a:t>Theory </a:t>
          </a:r>
          <a:endParaRPr lang="en-US" sz="5400" b="1" dirty="0">
            <a:solidFill>
              <a:srgbClr val="0000FF"/>
            </a:solidFill>
          </a:endParaRPr>
        </a:p>
      </dgm:t>
    </dgm:pt>
    <dgm:pt modelId="{EFAB19C0-37B8-4FA4-A899-6B83DE67DB2A}" type="parTrans" cxnId="{696ABE98-9C1F-4A52-A5A9-3F6066ECFAD4}">
      <dgm:prSet/>
      <dgm:spPr/>
      <dgm:t>
        <a:bodyPr/>
        <a:lstStyle/>
        <a:p>
          <a:endParaRPr lang="en-US"/>
        </a:p>
      </dgm:t>
    </dgm:pt>
    <dgm:pt modelId="{3ACDD911-0143-4129-98A8-B32CD2990DDD}" type="sibTrans" cxnId="{696ABE98-9C1F-4A52-A5A9-3F6066ECFAD4}">
      <dgm:prSet/>
      <dgm:spPr/>
      <dgm:t>
        <a:bodyPr/>
        <a:lstStyle/>
        <a:p>
          <a:endParaRPr lang="en-US"/>
        </a:p>
      </dgm:t>
    </dgm:pt>
    <dgm:pt modelId="{D0BD974E-5438-4366-B409-1B8EB066873E}">
      <dgm:prSet phldrT="[Text]"/>
      <dgm:spPr/>
      <dgm:t>
        <a:bodyPr/>
        <a:lstStyle/>
        <a:p>
          <a:r>
            <a:rPr lang="en-US" b="1" dirty="0" smtClean="0">
              <a:solidFill>
                <a:srgbClr val="FF0000"/>
              </a:solidFill>
            </a:rPr>
            <a:t> Electron Sea Model</a:t>
          </a:r>
          <a:endParaRPr lang="en-US" dirty="0"/>
        </a:p>
      </dgm:t>
    </dgm:pt>
    <dgm:pt modelId="{CBE8430C-6B65-4672-9D9F-3C154F51F8D6}" type="parTrans" cxnId="{3A0C8DEE-378A-4F94-987D-FBED418DC1A0}">
      <dgm:prSet/>
      <dgm:spPr/>
      <dgm:t>
        <a:bodyPr/>
        <a:lstStyle/>
        <a:p>
          <a:endParaRPr lang="en-US"/>
        </a:p>
      </dgm:t>
    </dgm:pt>
    <dgm:pt modelId="{7ABC9451-C582-469D-AB63-ACA3E2A61F32}" type="sibTrans" cxnId="{3A0C8DEE-378A-4F94-987D-FBED418DC1A0}">
      <dgm:prSet/>
      <dgm:spPr/>
      <dgm:t>
        <a:bodyPr/>
        <a:lstStyle/>
        <a:p>
          <a:endParaRPr lang="en-US"/>
        </a:p>
      </dgm:t>
    </dgm:pt>
    <dgm:pt modelId="{11BDD90E-EB2B-48BA-BD64-FB7A56400DF8}">
      <dgm:prSet phldrT="[Text]"/>
      <dgm:spPr/>
      <dgm:t>
        <a:bodyPr/>
        <a:lstStyle/>
        <a:p>
          <a:r>
            <a:rPr lang="en-US" dirty="0" smtClean="0"/>
            <a:t>Band Theory </a:t>
          </a:r>
          <a:endParaRPr lang="en-US" dirty="0"/>
        </a:p>
      </dgm:t>
    </dgm:pt>
    <dgm:pt modelId="{44E8171B-4800-47D3-AFB3-2BB649ECCEF7}" type="parTrans" cxnId="{CC5D5AF5-F85E-4268-86D8-8BBEEA43C367}">
      <dgm:prSet/>
      <dgm:spPr/>
      <dgm:t>
        <a:bodyPr/>
        <a:lstStyle/>
        <a:p>
          <a:endParaRPr lang="en-US"/>
        </a:p>
      </dgm:t>
    </dgm:pt>
    <dgm:pt modelId="{004BAFC8-7035-472E-831F-F8F44E17C8AB}" type="sibTrans" cxnId="{CC5D5AF5-F85E-4268-86D8-8BBEEA43C367}">
      <dgm:prSet/>
      <dgm:spPr/>
      <dgm:t>
        <a:bodyPr/>
        <a:lstStyle/>
        <a:p>
          <a:endParaRPr lang="en-US"/>
        </a:p>
      </dgm:t>
    </dgm:pt>
    <dgm:pt modelId="{05A7F108-60DA-4664-8716-A05F5EF91B2B}" type="pres">
      <dgm:prSet presAssocID="{8B132034-D662-4EA9-91ED-0F6529239C14}" presName="hierChild1" presStyleCnt="0">
        <dgm:presLayoutVars>
          <dgm:chPref val="1"/>
          <dgm:dir/>
          <dgm:animOne val="branch"/>
          <dgm:animLvl val="lvl"/>
          <dgm:resizeHandles/>
        </dgm:presLayoutVars>
      </dgm:prSet>
      <dgm:spPr/>
      <dgm:t>
        <a:bodyPr/>
        <a:lstStyle/>
        <a:p>
          <a:endParaRPr lang="en-US"/>
        </a:p>
      </dgm:t>
    </dgm:pt>
    <dgm:pt modelId="{DEE11FF8-7B48-4707-9CA5-12FC51C32ECB}" type="pres">
      <dgm:prSet presAssocID="{D09E13C6-445D-4E03-A6EC-3D4992818C1C}" presName="hierRoot1" presStyleCnt="0"/>
      <dgm:spPr/>
    </dgm:pt>
    <dgm:pt modelId="{4B1D91C9-6DA7-4DEF-9A79-2B2ABD159410}" type="pres">
      <dgm:prSet presAssocID="{D09E13C6-445D-4E03-A6EC-3D4992818C1C}" presName="composite" presStyleCnt="0"/>
      <dgm:spPr/>
    </dgm:pt>
    <dgm:pt modelId="{55BBE425-AB5B-4DA4-828D-EF13ADA3DCF1}" type="pres">
      <dgm:prSet presAssocID="{D09E13C6-445D-4E03-A6EC-3D4992818C1C}" presName="background" presStyleLbl="node0" presStyleIdx="0" presStyleCnt="1"/>
      <dgm:spPr/>
    </dgm:pt>
    <dgm:pt modelId="{BF09B934-1681-41E4-9E66-8C6BC390E2C8}" type="pres">
      <dgm:prSet presAssocID="{D09E13C6-445D-4E03-A6EC-3D4992818C1C}" presName="text" presStyleLbl="fgAcc0" presStyleIdx="0" presStyleCnt="1" custScaleX="150062" custLinFactNeighborX="-14920" custLinFactNeighborY="7935">
        <dgm:presLayoutVars>
          <dgm:chPref val="3"/>
        </dgm:presLayoutVars>
      </dgm:prSet>
      <dgm:spPr/>
      <dgm:t>
        <a:bodyPr/>
        <a:lstStyle/>
        <a:p>
          <a:endParaRPr lang="en-US"/>
        </a:p>
      </dgm:t>
    </dgm:pt>
    <dgm:pt modelId="{307D6ECF-408F-47ED-B57A-15724FA0F7D4}" type="pres">
      <dgm:prSet presAssocID="{D09E13C6-445D-4E03-A6EC-3D4992818C1C}" presName="hierChild2" presStyleCnt="0"/>
      <dgm:spPr/>
    </dgm:pt>
    <dgm:pt modelId="{E29664DB-5396-4332-BE5F-C1DE588019EC}" type="pres">
      <dgm:prSet presAssocID="{CBE8430C-6B65-4672-9D9F-3C154F51F8D6}" presName="Name10" presStyleLbl="parChTrans1D2" presStyleIdx="0" presStyleCnt="2"/>
      <dgm:spPr/>
      <dgm:t>
        <a:bodyPr/>
        <a:lstStyle/>
        <a:p>
          <a:endParaRPr lang="en-US"/>
        </a:p>
      </dgm:t>
    </dgm:pt>
    <dgm:pt modelId="{76873125-6BAA-44A9-ADFB-C3972C6F9C58}" type="pres">
      <dgm:prSet presAssocID="{D0BD974E-5438-4366-B409-1B8EB066873E}" presName="hierRoot2" presStyleCnt="0"/>
      <dgm:spPr/>
    </dgm:pt>
    <dgm:pt modelId="{DD8BE20A-60AF-4EF7-8A9C-DE532E013490}" type="pres">
      <dgm:prSet presAssocID="{D0BD974E-5438-4366-B409-1B8EB066873E}" presName="composite2" presStyleCnt="0"/>
      <dgm:spPr/>
    </dgm:pt>
    <dgm:pt modelId="{D5CE7E97-7FB0-437B-95E0-D2975018AD7F}" type="pres">
      <dgm:prSet presAssocID="{D0BD974E-5438-4366-B409-1B8EB066873E}" presName="background2" presStyleLbl="node2" presStyleIdx="0" presStyleCnt="2"/>
      <dgm:spPr/>
    </dgm:pt>
    <dgm:pt modelId="{F516824E-3EB9-4CAA-AD04-91D73BB09C7E}" type="pres">
      <dgm:prSet presAssocID="{D0BD974E-5438-4366-B409-1B8EB066873E}" presName="text2" presStyleLbl="fgAcc2" presStyleIdx="0" presStyleCnt="2">
        <dgm:presLayoutVars>
          <dgm:chPref val="3"/>
        </dgm:presLayoutVars>
      </dgm:prSet>
      <dgm:spPr/>
      <dgm:t>
        <a:bodyPr/>
        <a:lstStyle/>
        <a:p>
          <a:endParaRPr lang="en-US"/>
        </a:p>
      </dgm:t>
    </dgm:pt>
    <dgm:pt modelId="{200C5983-1628-4590-BA51-2C7F56FD2394}" type="pres">
      <dgm:prSet presAssocID="{D0BD974E-5438-4366-B409-1B8EB066873E}" presName="hierChild3" presStyleCnt="0"/>
      <dgm:spPr/>
    </dgm:pt>
    <dgm:pt modelId="{96166474-B2A1-4C6B-9DC3-736454F7C79A}" type="pres">
      <dgm:prSet presAssocID="{44E8171B-4800-47D3-AFB3-2BB649ECCEF7}" presName="Name10" presStyleLbl="parChTrans1D2" presStyleIdx="1" presStyleCnt="2"/>
      <dgm:spPr/>
      <dgm:t>
        <a:bodyPr/>
        <a:lstStyle/>
        <a:p>
          <a:endParaRPr lang="en-US"/>
        </a:p>
      </dgm:t>
    </dgm:pt>
    <dgm:pt modelId="{5ECECBA5-8769-4F2D-869C-7CC223CD182E}" type="pres">
      <dgm:prSet presAssocID="{11BDD90E-EB2B-48BA-BD64-FB7A56400DF8}" presName="hierRoot2" presStyleCnt="0"/>
      <dgm:spPr/>
    </dgm:pt>
    <dgm:pt modelId="{F2482E4F-E963-4883-B1E2-AC1C75F304B0}" type="pres">
      <dgm:prSet presAssocID="{11BDD90E-EB2B-48BA-BD64-FB7A56400DF8}" presName="composite2" presStyleCnt="0"/>
      <dgm:spPr/>
    </dgm:pt>
    <dgm:pt modelId="{4D1FA474-FFF4-4784-A84F-7EA7BA545E38}" type="pres">
      <dgm:prSet presAssocID="{11BDD90E-EB2B-48BA-BD64-FB7A56400DF8}" presName="background2" presStyleLbl="node2" presStyleIdx="1" presStyleCnt="2"/>
      <dgm:spPr/>
    </dgm:pt>
    <dgm:pt modelId="{91872C27-9723-4010-A3DD-74EA5634D462}" type="pres">
      <dgm:prSet presAssocID="{11BDD90E-EB2B-48BA-BD64-FB7A56400DF8}" presName="text2" presStyleLbl="fgAcc2" presStyleIdx="1" presStyleCnt="2" custLinFactNeighborX="-1038" custLinFactNeighborY="3246">
        <dgm:presLayoutVars>
          <dgm:chPref val="3"/>
        </dgm:presLayoutVars>
      </dgm:prSet>
      <dgm:spPr/>
      <dgm:t>
        <a:bodyPr/>
        <a:lstStyle/>
        <a:p>
          <a:endParaRPr lang="en-US"/>
        </a:p>
      </dgm:t>
    </dgm:pt>
    <dgm:pt modelId="{9D20786F-F584-4F93-96E2-E071B35098B8}" type="pres">
      <dgm:prSet presAssocID="{11BDD90E-EB2B-48BA-BD64-FB7A56400DF8}" presName="hierChild3" presStyleCnt="0"/>
      <dgm:spPr/>
    </dgm:pt>
  </dgm:ptLst>
  <dgm:cxnLst>
    <dgm:cxn modelId="{3A0C8DEE-378A-4F94-987D-FBED418DC1A0}" srcId="{D09E13C6-445D-4E03-A6EC-3D4992818C1C}" destId="{D0BD974E-5438-4366-B409-1B8EB066873E}" srcOrd="0" destOrd="0" parTransId="{CBE8430C-6B65-4672-9D9F-3C154F51F8D6}" sibTransId="{7ABC9451-C582-469D-AB63-ACA3E2A61F32}"/>
    <dgm:cxn modelId="{C98EC513-ECC1-480E-93F2-C32AC7AF0D65}" type="presOf" srcId="{D0BD974E-5438-4366-B409-1B8EB066873E}" destId="{F516824E-3EB9-4CAA-AD04-91D73BB09C7E}" srcOrd="0" destOrd="0" presId="urn:microsoft.com/office/officeart/2005/8/layout/hierarchy1"/>
    <dgm:cxn modelId="{696ABE98-9C1F-4A52-A5A9-3F6066ECFAD4}" srcId="{8B132034-D662-4EA9-91ED-0F6529239C14}" destId="{D09E13C6-445D-4E03-A6EC-3D4992818C1C}" srcOrd="0" destOrd="0" parTransId="{EFAB19C0-37B8-4FA4-A899-6B83DE67DB2A}" sibTransId="{3ACDD911-0143-4129-98A8-B32CD2990DDD}"/>
    <dgm:cxn modelId="{173440A8-FB4D-4A29-AB33-F875567A0406}" type="presOf" srcId="{44E8171B-4800-47D3-AFB3-2BB649ECCEF7}" destId="{96166474-B2A1-4C6B-9DC3-736454F7C79A}" srcOrd="0" destOrd="0" presId="urn:microsoft.com/office/officeart/2005/8/layout/hierarchy1"/>
    <dgm:cxn modelId="{34119716-1C14-4EA4-BBA6-4C1B6A08546D}" type="presOf" srcId="{CBE8430C-6B65-4672-9D9F-3C154F51F8D6}" destId="{E29664DB-5396-4332-BE5F-C1DE588019EC}" srcOrd="0" destOrd="0" presId="urn:microsoft.com/office/officeart/2005/8/layout/hierarchy1"/>
    <dgm:cxn modelId="{CC5D5AF5-F85E-4268-86D8-8BBEEA43C367}" srcId="{D09E13C6-445D-4E03-A6EC-3D4992818C1C}" destId="{11BDD90E-EB2B-48BA-BD64-FB7A56400DF8}" srcOrd="1" destOrd="0" parTransId="{44E8171B-4800-47D3-AFB3-2BB649ECCEF7}" sibTransId="{004BAFC8-7035-472E-831F-F8F44E17C8AB}"/>
    <dgm:cxn modelId="{839B76F4-1249-4C26-BE9E-70247E2B0838}" type="presOf" srcId="{8B132034-D662-4EA9-91ED-0F6529239C14}" destId="{05A7F108-60DA-4664-8716-A05F5EF91B2B}" srcOrd="0" destOrd="0" presId="urn:microsoft.com/office/officeart/2005/8/layout/hierarchy1"/>
    <dgm:cxn modelId="{C1E48192-7B54-4080-BA4D-2402511946FA}" type="presOf" srcId="{11BDD90E-EB2B-48BA-BD64-FB7A56400DF8}" destId="{91872C27-9723-4010-A3DD-74EA5634D462}" srcOrd="0" destOrd="0" presId="urn:microsoft.com/office/officeart/2005/8/layout/hierarchy1"/>
    <dgm:cxn modelId="{85DB42BD-13E1-48ED-8617-91765A176B90}" type="presOf" srcId="{D09E13C6-445D-4E03-A6EC-3D4992818C1C}" destId="{BF09B934-1681-41E4-9E66-8C6BC390E2C8}" srcOrd="0" destOrd="0" presId="urn:microsoft.com/office/officeart/2005/8/layout/hierarchy1"/>
    <dgm:cxn modelId="{EA70BCAC-20B2-4127-8C5B-269326C5A15F}" type="presParOf" srcId="{05A7F108-60DA-4664-8716-A05F5EF91B2B}" destId="{DEE11FF8-7B48-4707-9CA5-12FC51C32ECB}" srcOrd="0" destOrd="0" presId="urn:microsoft.com/office/officeart/2005/8/layout/hierarchy1"/>
    <dgm:cxn modelId="{90CA1284-AEB6-4D7B-B975-72FA6B326001}" type="presParOf" srcId="{DEE11FF8-7B48-4707-9CA5-12FC51C32ECB}" destId="{4B1D91C9-6DA7-4DEF-9A79-2B2ABD159410}" srcOrd="0" destOrd="0" presId="urn:microsoft.com/office/officeart/2005/8/layout/hierarchy1"/>
    <dgm:cxn modelId="{E0D2C0D7-3EB5-41AD-9411-14A8DDBA5980}" type="presParOf" srcId="{4B1D91C9-6DA7-4DEF-9A79-2B2ABD159410}" destId="{55BBE425-AB5B-4DA4-828D-EF13ADA3DCF1}" srcOrd="0" destOrd="0" presId="urn:microsoft.com/office/officeart/2005/8/layout/hierarchy1"/>
    <dgm:cxn modelId="{6F9B7A5F-05A1-4CED-A50A-F69C96C1048B}" type="presParOf" srcId="{4B1D91C9-6DA7-4DEF-9A79-2B2ABD159410}" destId="{BF09B934-1681-41E4-9E66-8C6BC390E2C8}" srcOrd="1" destOrd="0" presId="urn:microsoft.com/office/officeart/2005/8/layout/hierarchy1"/>
    <dgm:cxn modelId="{0A7E0A4E-E727-477D-9D78-C54AD5EF6169}" type="presParOf" srcId="{DEE11FF8-7B48-4707-9CA5-12FC51C32ECB}" destId="{307D6ECF-408F-47ED-B57A-15724FA0F7D4}" srcOrd="1" destOrd="0" presId="urn:microsoft.com/office/officeart/2005/8/layout/hierarchy1"/>
    <dgm:cxn modelId="{7A05CEEC-4DBB-4DCB-A17E-06B196A309C7}" type="presParOf" srcId="{307D6ECF-408F-47ED-B57A-15724FA0F7D4}" destId="{E29664DB-5396-4332-BE5F-C1DE588019EC}" srcOrd="0" destOrd="0" presId="urn:microsoft.com/office/officeart/2005/8/layout/hierarchy1"/>
    <dgm:cxn modelId="{09B022C1-13C9-45BE-964E-813C2D2A70C2}" type="presParOf" srcId="{307D6ECF-408F-47ED-B57A-15724FA0F7D4}" destId="{76873125-6BAA-44A9-ADFB-C3972C6F9C58}" srcOrd="1" destOrd="0" presId="urn:microsoft.com/office/officeart/2005/8/layout/hierarchy1"/>
    <dgm:cxn modelId="{7EDFF06F-A641-4915-9472-9602D5FCC06B}" type="presParOf" srcId="{76873125-6BAA-44A9-ADFB-C3972C6F9C58}" destId="{DD8BE20A-60AF-4EF7-8A9C-DE532E013490}" srcOrd="0" destOrd="0" presId="urn:microsoft.com/office/officeart/2005/8/layout/hierarchy1"/>
    <dgm:cxn modelId="{658E46D6-AE0D-496C-A6C0-D8FCD3131E04}" type="presParOf" srcId="{DD8BE20A-60AF-4EF7-8A9C-DE532E013490}" destId="{D5CE7E97-7FB0-437B-95E0-D2975018AD7F}" srcOrd="0" destOrd="0" presId="urn:microsoft.com/office/officeart/2005/8/layout/hierarchy1"/>
    <dgm:cxn modelId="{B029443B-1840-4B9B-9115-CC07242EBCDF}" type="presParOf" srcId="{DD8BE20A-60AF-4EF7-8A9C-DE532E013490}" destId="{F516824E-3EB9-4CAA-AD04-91D73BB09C7E}" srcOrd="1" destOrd="0" presId="urn:microsoft.com/office/officeart/2005/8/layout/hierarchy1"/>
    <dgm:cxn modelId="{6964FD1C-C502-429E-BB68-EBB3A87B7809}" type="presParOf" srcId="{76873125-6BAA-44A9-ADFB-C3972C6F9C58}" destId="{200C5983-1628-4590-BA51-2C7F56FD2394}" srcOrd="1" destOrd="0" presId="urn:microsoft.com/office/officeart/2005/8/layout/hierarchy1"/>
    <dgm:cxn modelId="{826EC203-83D8-4EDF-BACD-57FD07337453}" type="presParOf" srcId="{307D6ECF-408F-47ED-B57A-15724FA0F7D4}" destId="{96166474-B2A1-4C6B-9DC3-736454F7C79A}" srcOrd="2" destOrd="0" presId="urn:microsoft.com/office/officeart/2005/8/layout/hierarchy1"/>
    <dgm:cxn modelId="{ABC73D42-87A5-4730-9E82-9ED252728D10}" type="presParOf" srcId="{307D6ECF-408F-47ED-B57A-15724FA0F7D4}" destId="{5ECECBA5-8769-4F2D-869C-7CC223CD182E}" srcOrd="3" destOrd="0" presId="urn:microsoft.com/office/officeart/2005/8/layout/hierarchy1"/>
    <dgm:cxn modelId="{A8DC21FA-19D8-40E3-97E2-1F7844BEB0A2}" type="presParOf" srcId="{5ECECBA5-8769-4F2D-869C-7CC223CD182E}" destId="{F2482E4F-E963-4883-B1E2-AC1C75F304B0}" srcOrd="0" destOrd="0" presId="urn:microsoft.com/office/officeart/2005/8/layout/hierarchy1"/>
    <dgm:cxn modelId="{E8B183AF-4BE3-4133-A20E-95CB7611890C}" type="presParOf" srcId="{F2482E4F-E963-4883-B1E2-AC1C75F304B0}" destId="{4D1FA474-FFF4-4784-A84F-7EA7BA545E38}" srcOrd="0" destOrd="0" presId="urn:microsoft.com/office/officeart/2005/8/layout/hierarchy1"/>
    <dgm:cxn modelId="{E53DDF33-0F7E-4B96-B8E9-E9911BCC061D}" type="presParOf" srcId="{F2482E4F-E963-4883-B1E2-AC1C75F304B0}" destId="{91872C27-9723-4010-A3DD-74EA5634D462}" srcOrd="1" destOrd="0" presId="urn:microsoft.com/office/officeart/2005/8/layout/hierarchy1"/>
    <dgm:cxn modelId="{9D52DDBF-074C-4DAE-8C7F-EBFBDD6BF185}" type="presParOf" srcId="{5ECECBA5-8769-4F2D-869C-7CC223CD182E}" destId="{9D20786F-F584-4F93-96E2-E071B35098B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166474-B2A1-4C6B-9DC3-736454F7C79A}">
      <dsp:nvSpPr>
        <dsp:cNvPr id="0" name=""/>
        <dsp:cNvSpPr/>
      </dsp:nvSpPr>
      <dsp:spPr>
        <a:xfrm>
          <a:off x="2548845" y="1671674"/>
          <a:ext cx="1828185" cy="586995"/>
        </a:xfrm>
        <a:custGeom>
          <a:avLst/>
          <a:gdLst/>
          <a:ahLst/>
          <a:cxnLst/>
          <a:rect l="0" t="0" r="0" b="0"/>
          <a:pathLst>
            <a:path>
              <a:moveTo>
                <a:pt x="0" y="0"/>
              </a:moveTo>
              <a:lnTo>
                <a:pt x="0" y="361159"/>
              </a:lnTo>
              <a:lnTo>
                <a:pt x="1828185" y="361159"/>
              </a:lnTo>
              <a:lnTo>
                <a:pt x="1828185" y="58699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9664DB-5396-4332-BE5F-C1DE588019EC}">
      <dsp:nvSpPr>
        <dsp:cNvPr id="0" name=""/>
        <dsp:cNvSpPr/>
      </dsp:nvSpPr>
      <dsp:spPr>
        <a:xfrm>
          <a:off x="1422796" y="1671674"/>
          <a:ext cx="1126049" cy="586160"/>
        </a:xfrm>
        <a:custGeom>
          <a:avLst/>
          <a:gdLst/>
          <a:ahLst/>
          <a:cxnLst/>
          <a:rect l="0" t="0" r="0" b="0"/>
          <a:pathLst>
            <a:path>
              <a:moveTo>
                <a:pt x="1126049" y="0"/>
              </a:moveTo>
              <a:lnTo>
                <a:pt x="1126049" y="360325"/>
              </a:lnTo>
              <a:lnTo>
                <a:pt x="0" y="360325"/>
              </a:lnTo>
              <a:lnTo>
                <a:pt x="0" y="58616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BBE425-AB5B-4DA4-828D-EF13ADA3DCF1}">
      <dsp:nvSpPr>
        <dsp:cNvPr id="0" name=""/>
        <dsp:cNvSpPr/>
      </dsp:nvSpPr>
      <dsp:spPr>
        <a:xfrm>
          <a:off x="719736" y="123668"/>
          <a:ext cx="3658218" cy="15480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09B934-1681-41E4-9E66-8C6BC390E2C8}">
      <dsp:nvSpPr>
        <dsp:cNvPr id="0" name=""/>
        <dsp:cNvSpPr/>
      </dsp:nvSpPr>
      <dsp:spPr>
        <a:xfrm>
          <a:off x="990603" y="380992"/>
          <a:ext cx="3658218" cy="154800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5740" tIns="205740" rIns="205740" bIns="205740" numCol="1" spcCol="1270" anchor="ctr" anchorCtr="0">
          <a:noAutofit/>
        </a:bodyPr>
        <a:lstStyle/>
        <a:p>
          <a:pPr lvl="0" algn="ctr" defTabSz="2400300">
            <a:lnSpc>
              <a:spcPct val="90000"/>
            </a:lnSpc>
            <a:spcBef>
              <a:spcPct val="0"/>
            </a:spcBef>
            <a:spcAft>
              <a:spcPct val="35000"/>
            </a:spcAft>
          </a:pPr>
          <a:r>
            <a:rPr lang="en-US" sz="5400" b="1" kern="1200" dirty="0" smtClean="0">
              <a:solidFill>
                <a:srgbClr val="0000FF"/>
              </a:solidFill>
            </a:rPr>
            <a:t>Theory </a:t>
          </a:r>
          <a:endParaRPr lang="en-US" sz="5400" b="1" kern="1200" dirty="0">
            <a:solidFill>
              <a:srgbClr val="0000FF"/>
            </a:solidFill>
          </a:endParaRPr>
        </a:p>
      </dsp:txBody>
      <dsp:txXfrm>
        <a:off x="1035943" y="426332"/>
        <a:ext cx="3567538" cy="1457325"/>
      </dsp:txXfrm>
    </dsp:sp>
    <dsp:sp modelId="{D5CE7E97-7FB0-437B-95E0-D2975018AD7F}">
      <dsp:nvSpPr>
        <dsp:cNvPr id="0" name=""/>
        <dsp:cNvSpPr/>
      </dsp:nvSpPr>
      <dsp:spPr>
        <a:xfrm>
          <a:off x="203894" y="2257835"/>
          <a:ext cx="2437804" cy="15480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516824E-3EB9-4CAA-AD04-91D73BB09C7E}">
      <dsp:nvSpPr>
        <dsp:cNvPr id="0" name=""/>
        <dsp:cNvSpPr/>
      </dsp:nvSpPr>
      <dsp:spPr>
        <a:xfrm>
          <a:off x="474761" y="2515159"/>
          <a:ext cx="2437804" cy="154800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b="1" kern="1200" dirty="0" smtClean="0">
              <a:solidFill>
                <a:srgbClr val="FF0000"/>
              </a:solidFill>
            </a:rPr>
            <a:t> Electron Sea Model</a:t>
          </a:r>
          <a:endParaRPr lang="en-US" sz="3600" kern="1200" dirty="0"/>
        </a:p>
      </dsp:txBody>
      <dsp:txXfrm>
        <a:off x="520101" y="2560499"/>
        <a:ext cx="2347124" cy="1457325"/>
      </dsp:txXfrm>
    </dsp:sp>
    <dsp:sp modelId="{4D1FA474-FFF4-4784-A84F-7EA7BA545E38}">
      <dsp:nvSpPr>
        <dsp:cNvPr id="0" name=""/>
        <dsp:cNvSpPr/>
      </dsp:nvSpPr>
      <dsp:spPr>
        <a:xfrm>
          <a:off x="3158129" y="2258670"/>
          <a:ext cx="2437804" cy="15480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872C27-9723-4010-A3DD-74EA5634D462}">
      <dsp:nvSpPr>
        <dsp:cNvPr id="0" name=""/>
        <dsp:cNvSpPr/>
      </dsp:nvSpPr>
      <dsp:spPr>
        <a:xfrm>
          <a:off x="3428996" y="2515994"/>
          <a:ext cx="2437804" cy="154800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kern="1200" dirty="0" smtClean="0"/>
            <a:t>Band Theory </a:t>
          </a:r>
          <a:endParaRPr lang="en-US" sz="3600" kern="1200" dirty="0"/>
        </a:p>
      </dsp:txBody>
      <dsp:txXfrm>
        <a:off x="3474336" y="2561334"/>
        <a:ext cx="2347124" cy="1457325"/>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58A64C-C4DB-45AF-B828-9F7050F0CA3B}" type="datetimeFigureOut">
              <a:rPr lang="en-US" smtClean="0"/>
              <a:t>4/23/2025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DE6836-792F-4992-8959-A25A59761FEA}" type="slidenum">
              <a:rPr lang="en-US" smtClean="0"/>
              <a:t>‹#›</a:t>
            </a:fld>
            <a:endParaRPr lang="en-US"/>
          </a:p>
        </p:txBody>
      </p:sp>
    </p:spTree>
    <p:extLst>
      <p:ext uri="{BB962C8B-B14F-4D97-AF65-F5344CB8AC3E}">
        <p14:creationId xmlns:p14="http://schemas.microsoft.com/office/powerpoint/2010/main" val="3591195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p:spPr>
      </p:sp>
      <p:sp>
        <p:nvSpPr>
          <p:cNvPr id="256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CA" dirty="0"/>
          </a:p>
        </p:txBody>
      </p:sp>
      <p:sp>
        <p:nvSpPr>
          <p:cNvPr id="2458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E9B3422-B303-47DD-9CEF-72CAD5E40D8A}" type="slidenum">
              <a:rPr lang="en-CA" smtClean="0"/>
              <a:pPr fontAlgn="base">
                <a:spcBef>
                  <a:spcPct val="0"/>
                </a:spcBef>
                <a:spcAft>
                  <a:spcPct val="0"/>
                </a:spcAft>
                <a:defRPr/>
              </a:pPr>
              <a:t>1</a:t>
            </a:fld>
            <a:endParaRPr lang="en-CA"/>
          </a:p>
        </p:txBody>
      </p:sp>
    </p:spTree>
    <p:extLst>
      <p:ext uri="{BB962C8B-B14F-4D97-AF65-F5344CB8AC3E}">
        <p14:creationId xmlns:p14="http://schemas.microsoft.com/office/powerpoint/2010/main" val="1102012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9" name="Title 28"/>
          <p:cNvSpPr>
            <a:spLocks noGrp="1"/>
          </p:cNvSpPr>
          <p:nvPr>
            <p:ph type="ctrTitle"/>
          </p:nvPr>
        </p:nvSpPr>
        <p:spPr>
          <a:xfrm>
            <a:off x="381000" y="4853411"/>
            <a:ext cx="8458200" cy="1222375"/>
          </a:xfrm>
        </p:spPr>
        <p:txBody>
          <a:bodyPr anchor="t"/>
          <a:lstStyle/>
          <a:p>
            <a:r>
              <a:rPr kumimoji="0" lang="en-US" smtClean="0"/>
              <a:t>Click to edit Master title style</a:t>
            </a:r>
            <a:endParaRPr kumimoji="0" lang="en-US"/>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16" name="Date Placeholder 15"/>
          <p:cNvSpPr>
            <a:spLocks noGrp="1"/>
          </p:cNvSpPr>
          <p:nvPr>
            <p:ph type="dt" sz="half" idx="10"/>
          </p:nvPr>
        </p:nvSpPr>
        <p:spPr/>
        <p:txBody>
          <a:bodyPr/>
          <a:lstStyle/>
          <a:p>
            <a:fld id="{7DB96F79-074B-428D-BC39-369F641BE54B}" type="datetimeFigureOut">
              <a:rPr lang="en-US" smtClean="0"/>
              <a:t>4/23/2025</a:t>
            </a:fld>
            <a:endParaRPr lang="en-US"/>
          </a:p>
        </p:txBody>
      </p:sp>
      <p:sp>
        <p:nvSpPr>
          <p:cNvPr id="2" name="Footer Placeholder 1"/>
          <p:cNvSpPr>
            <a:spLocks noGrp="1"/>
          </p:cNvSpPr>
          <p:nvPr>
            <p:ph type="ftr" sz="quarter" idx="11"/>
          </p:nvPr>
        </p:nvSpPr>
        <p:spPr/>
        <p:txBody>
          <a:bodyPr/>
          <a:lstStyle/>
          <a:p>
            <a:endParaRPr lang="en-US"/>
          </a:p>
        </p:txBody>
      </p:sp>
      <p:sp>
        <p:nvSpPr>
          <p:cNvPr id="15" name="Slide Number Placeholder 14"/>
          <p:cNvSpPr>
            <a:spLocks noGrp="1"/>
          </p:cNvSpPr>
          <p:nvPr>
            <p:ph type="sldNum" sz="quarter" idx="12"/>
          </p:nvPr>
        </p:nvSpPr>
        <p:spPr>
          <a:xfrm>
            <a:off x="8229600" y="6473952"/>
            <a:ext cx="758952" cy="246888"/>
          </a:xfrm>
        </p:spPr>
        <p:txBody>
          <a:bodyPr/>
          <a:lstStyle/>
          <a:p>
            <a:fld id="{A607CB50-2825-4E4D-8A0B-F35666843D8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kumimoji="0" lang="en-US" smtClean="0"/>
              <a:t>Click to edit Master title style</a:t>
            </a:r>
            <a:endParaRPr kumimoji="0" lang="en-US"/>
          </a:p>
        </p:txBody>
      </p:sp>
      <p:sp>
        <p:nvSpPr>
          <p:cNvPr id="27" name="Content Placeholder 26"/>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7DB96F79-074B-428D-BC39-369F641BE54B}" type="datetimeFigureOut">
              <a:rPr lang="en-US" smtClean="0"/>
              <a:t>4/23/2025</a:t>
            </a:fld>
            <a:endParaRPr lang="en-US"/>
          </a:p>
        </p:txBody>
      </p:sp>
      <p:sp>
        <p:nvSpPr>
          <p:cNvPr id="19" name="Footer Placeholder 18"/>
          <p:cNvSpPr>
            <a:spLocks noGrp="1"/>
          </p:cNvSpPr>
          <p:nvPr>
            <p:ph type="ftr" sz="quarter" idx="11"/>
          </p:nvPr>
        </p:nvSpPr>
        <p:spPr>
          <a:xfrm>
            <a:off x="3581400" y="76200"/>
            <a:ext cx="2895600" cy="288925"/>
          </a:xfrm>
        </p:spPr>
        <p:txBody>
          <a:bodyPr/>
          <a:lstStyle/>
          <a:p>
            <a:endParaRPr lang="en-US"/>
          </a:p>
        </p:txBody>
      </p:sp>
      <p:sp>
        <p:nvSpPr>
          <p:cNvPr id="16" name="Slide Number Placeholder 15"/>
          <p:cNvSpPr>
            <a:spLocks noGrp="1"/>
          </p:cNvSpPr>
          <p:nvPr>
            <p:ph type="sldNum" sz="quarter" idx="12"/>
          </p:nvPr>
        </p:nvSpPr>
        <p:spPr>
          <a:xfrm>
            <a:off x="8229600" y="6473952"/>
            <a:ext cx="758952" cy="246888"/>
          </a:xfrm>
        </p:spPr>
        <p:txBody>
          <a:bodyPr/>
          <a:lstStyle/>
          <a:p>
            <a:fld id="{A607CB50-2825-4E4D-8A0B-F35666843D8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9" name="Date Placeholder 18"/>
          <p:cNvSpPr>
            <a:spLocks noGrp="1"/>
          </p:cNvSpPr>
          <p:nvPr>
            <p:ph type="dt" sz="half" idx="10"/>
          </p:nvPr>
        </p:nvSpPr>
        <p:spPr/>
        <p:txBody>
          <a:bodyPr/>
          <a:lstStyle/>
          <a:p>
            <a:fld id="{7DB96F79-074B-428D-BC39-369F641BE54B}" type="datetimeFigureOut">
              <a:rPr lang="en-US" smtClean="0"/>
              <a:t>4/23/2025</a:t>
            </a:fld>
            <a:endParaRPr lang="en-US"/>
          </a:p>
        </p:txBody>
      </p:sp>
      <p:sp>
        <p:nvSpPr>
          <p:cNvPr id="11" name="Footer Placeholder 10"/>
          <p:cNvSpPr>
            <a:spLocks noGrp="1"/>
          </p:cNvSpPr>
          <p:nvPr>
            <p:ph type="ftr" sz="quarter" idx="11"/>
          </p:nvPr>
        </p:nvSpPr>
        <p:spPr/>
        <p:txBody>
          <a:bodyPr/>
          <a:lstStyle/>
          <a:p>
            <a:endParaRPr lang="en-US"/>
          </a:p>
        </p:txBody>
      </p:sp>
      <p:sp>
        <p:nvSpPr>
          <p:cNvPr id="16" name="Slide Number Placeholder 15"/>
          <p:cNvSpPr>
            <a:spLocks noGrp="1"/>
          </p:cNvSpPr>
          <p:nvPr>
            <p:ph type="sldNum" sz="quarter" idx="12"/>
          </p:nvPr>
        </p:nvSpPr>
        <p:spPr/>
        <p:txBody>
          <a:bodyPr/>
          <a:lstStyle/>
          <a:p>
            <a:fld id="{A607CB50-2825-4E4D-8A0B-F35666843D88}" type="slidenum">
              <a:rPr lang="en-US" smtClean="0"/>
              <a:t>‹#›</a:t>
            </a:fld>
            <a:endParaRPr lang="en-US"/>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0"/>
          </p:nvPr>
        </p:nvSpPr>
        <p:spPr/>
        <p:txBody>
          <a:bodyPr/>
          <a:lstStyle/>
          <a:p>
            <a:fld id="{7DB96F79-074B-428D-BC39-369F641BE54B}" type="datetimeFigureOut">
              <a:rPr lang="en-US" smtClean="0"/>
              <a:t>4/23/2025</a:t>
            </a:fld>
            <a:endParaRPr lang="en-US"/>
          </a:p>
        </p:txBody>
      </p:sp>
      <p:sp>
        <p:nvSpPr>
          <p:cNvPr id="10" name="Footer Placeholder 9"/>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A607CB50-2825-4E4D-8A0B-F35666843D8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9" name="Title 28"/>
          <p:cNvSpPr>
            <a:spLocks noGrp="1"/>
          </p:cNvSpPr>
          <p:nvPr>
            <p:ph type="title"/>
          </p:nvPr>
        </p:nvSpPr>
        <p:spPr>
          <a:xfrm>
            <a:off x="304800" y="5410200"/>
            <a:ext cx="8610600" cy="882650"/>
          </a:xfrm>
        </p:spPr>
        <p:txBody>
          <a:bodyPr anchor="ctr"/>
          <a:lstStyle>
            <a:lvl1pPr>
              <a:defRPr/>
            </a:lvl1pPr>
          </a:lstStyle>
          <a:p>
            <a:r>
              <a:rPr kumimoji="0" lang="en-US" smtClean="0"/>
              <a:t>Click to edit Master title style</a:t>
            </a:r>
            <a:endParaRPr kumimoji="0" lang="en-US"/>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0"/>
          </p:nvPr>
        </p:nvSpPr>
        <p:spPr/>
        <p:txBody>
          <a:bodyPr/>
          <a:lstStyle/>
          <a:p>
            <a:fld id="{7DB96F79-074B-428D-BC39-369F641BE54B}" type="datetimeFigureOut">
              <a:rPr lang="en-US" smtClean="0"/>
              <a:t>4/23/2025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229600" y="6477000"/>
            <a:ext cx="762000" cy="246888"/>
          </a:xfrm>
        </p:spPr>
        <p:txBody>
          <a:bodyPr/>
          <a:lstStyle/>
          <a:p>
            <a:fld id="{A607CB50-2825-4E4D-8A0B-F35666843D88}" type="slidenum">
              <a:rPr lang="en-US" smtClean="0"/>
              <a:t>‹#›</a:t>
            </a:fld>
            <a:endParaRPr lang="en-US"/>
          </a:p>
        </p:txBody>
      </p:sp>
      <p:sp>
        <p:nvSpPr>
          <p:cNvPr id="11" name="Straight Connector 10"/>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7DB96F79-074B-428D-BC39-369F641BE54B}" type="datetimeFigureOut">
              <a:rPr lang="en-US" smtClean="0"/>
              <a:t>4/23/2025</a:t>
            </a:fld>
            <a:endParaRPr lang="en-US"/>
          </a:p>
        </p:txBody>
      </p:sp>
      <p:sp>
        <p:nvSpPr>
          <p:cNvPr id="21" name="Footer Placeholder 20"/>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07CB50-2825-4E4D-8A0B-F35666843D88}"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DB96F79-074B-428D-BC39-369F641BE54B}" type="datetimeFigureOut">
              <a:rPr lang="en-US" smtClean="0"/>
              <a:t>4/23/2025</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07CB50-2825-4E4D-8A0B-F35666843D8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Straight Connector 7"/>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title"/>
          </p:nvPr>
        </p:nvSpPr>
        <p:spPr>
          <a:xfrm>
            <a:off x="457200" y="5486400"/>
            <a:ext cx="8458200" cy="520700"/>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Date Placeholder 24"/>
          <p:cNvSpPr>
            <a:spLocks noGrp="1"/>
          </p:cNvSpPr>
          <p:nvPr>
            <p:ph type="dt" sz="half" idx="10"/>
          </p:nvPr>
        </p:nvSpPr>
        <p:spPr/>
        <p:txBody>
          <a:bodyPr/>
          <a:lstStyle/>
          <a:p>
            <a:fld id="{7DB96F79-074B-428D-BC39-369F641BE54B}" type="datetimeFigureOut">
              <a:rPr lang="en-US" smtClean="0"/>
              <a:t>4/23/2025</a:t>
            </a:fld>
            <a:endParaRPr lang="en-US"/>
          </a:p>
        </p:txBody>
      </p:sp>
      <p:sp>
        <p:nvSpPr>
          <p:cNvPr id="29" name="Footer Placeholder 28"/>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07CB50-2825-4E4D-8A0B-F35666843D8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3200"/>
            </a:lvl1pPr>
          </a:lstStyle>
          <a:p>
            <a:r>
              <a:rPr kumimoji="0" lang="en-US" smtClean="0"/>
              <a:t>Click icon to add picture</a:t>
            </a:r>
            <a:endParaRPr kumimoji="0" lang="en-US" dirty="0"/>
          </a:p>
        </p:txBody>
      </p:sp>
      <p:sp>
        <p:nvSpPr>
          <p:cNvPr id="7" name="Date Placeholder 6"/>
          <p:cNvSpPr>
            <a:spLocks noGrp="1"/>
          </p:cNvSpPr>
          <p:nvPr>
            <p:ph type="dt" sz="half" idx="10"/>
          </p:nvPr>
        </p:nvSpPr>
        <p:spPr/>
        <p:txBody>
          <a:bodyPr/>
          <a:lstStyle/>
          <a:p>
            <a:fld id="{7DB96F79-074B-428D-BC39-369F641BE54B}" type="datetimeFigureOut">
              <a:rPr lang="en-US" smtClean="0"/>
              <a:t>4/23/2025</a:t>
            </a:fld>
            <a:endParaRPr lang="en-US"/>
          </a:p>
        </p:txBody>
      </p:sp>
      <p:sp>
        <p:nvSpPr>
          <p:cNvPr id="5" name="Footer Placeholder 4"/>
          <p:cNvSpPr>
            <a:spLocks noGrp="1"/>
          </p:cNvSpPr>
          <p:nvPr>
            <p:ph type="ftr" sz="quarter" idx="11"/>
          </p:nvPr>
        </p:nvSpPr>
        <p:spPr/>
        <p:txBody>
          <a:bodyPr/>
          <a:lstStyle/>
          <a:p>
            <a:endParaRPr lang="en-US"/>
          </a:p>
        </p:txBody>
      </p:sp>
      <p:sp>
        <p:nvSpPr>
          <p:cNvPr id="31" name="Slide Number Placeholder 30"/>
          <p:cNvSpPr>
            <a:spLocks noGrp="1"/>
          </p:cNvSpPr>
          <p:nvPr>
            <p:ph type="sldNum" sz="quarter" idx="12"/>
          </p:nvPr>
        </p:nvSpPr>
        <p:spPr/>
        <p:txBody>
          <a:bodyPr/>
          <a:lstStyle/>
          <a:p>
            <a:fld id="{A607CB50-2825-4E4D-8A0B-F35666843D88}" type="slidenum">
              <a:rPr lang="en-US" smtClean="0"/>
              <a:t>‹#›</a:t>
            </a:fld>
            <a:endParaRPr lang="en-US"/>
          </a:p>
        </p:txBody>
      </p:sp>
      <p:sp>
        <p:nvSpPr>
          <p:cNvPr id="17" name="Title 16"/>
          <p:cNvSpPr>
            <a:spLocks noGrp="1"/>
          </p:cNvSpPr>
          <p:nvPr>
            <p:ph type="title"/>
          </p:nvPr>
        </p:nvSpPr>
        <p:spPr>
          <a:xfrm>
            <a:off x="381000" y="4993760"/>
            <a:ext cx="5867400" cy="522288"/>
          </a:xfrm>
        </p:spPr>
        <p:txBody>
          <a:bodyPr anchor="ctr"/>
          <a:lstStyle>
            <a:lvl1pPr algn="l">
              <a:buNone/>
              <a:defRPr sz="2000" b="1"/>
            </a:lvl1pPr>
          </a:lstStyle>
          <a:p>
            <a:r>
              <a:rPr kumimoji="0" lang="en-US" smtClean="0"/>
              <a:t>Click to edit Master title style</a:t>
            </a:r>
            <a:endParaRPr kumimoji="0" lang="en-US"/>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DB96F79-074B-428D-BC39-369F641BE54B}" type="datetimeFigureOut">
              <a:rPr lang="en-US" smtClean="0"/>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07CB50-2825-4E4D-8A0B-F35666843D8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549276"/>
            <a:ext cx="62484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DB96F79-074B-428D-BC39-369F641BE54B}" type="datetimeFigureOut">
              <a:rPr lang="en-US" smtClean="0"/>
              <a:t>4/23/2025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07CB50-2825-4E4D-8A0B-F35666843D8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Text Placeholder 7"/>
          <p:cNvSpPr>
            <a:spLocks noGrp="1"/>
          </p:cNvSpPr>
          <p:nvPr>
            <p:ph type="body" idx="1"/>
          </p:nvPr>
        </p:nvSpPr>
        <p:spPr>
          <a:xfrm>
            <a:off x="304800" y="1554162"/>
            <a:ext cx="86868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1" name="Date Placeholder 10"/>
          <p:cNvSpPr>
            <a:spLocks noGrp="1"/>
          </p:cNvSpPr>
          <p:nvPr>
            <p:ph type="dt" sz="half" idx="2"/>
          </p:nvPr>
        </p:nvSpPr>
        <p:spPr>
          <a:xfrm>
            <a:off x="6477000" y="76200"/>
            <a:ext cx="2514600" cy="288925"/>
          </a:xfrm>
          <a:prstGeom prst="rect">
            <a:avLst/>
          </a:prstGeom>
        </p:spPr>
        <p:txBody>
          <a:bodyPr vert="horz"/>
          <a:lstStyle>
            <a:lvl1pPr algn="l" eaLnBrk="1" latinLnBrk="0" hangingPunct="1">
              <a:defRPr kumimoji="0" sz="1200">
                <a:solidFill>
                  <a:schemeClr val="accent1">
                    <a:shade val="75000"/>
                  </a:schemeClr>
                </a:solidFill>
              </a:defRPr>
            </a:lvl1pPr>
          </a:lstStyle>
          <a:p>
            <a:fld id="{7DB96F79-074B-428D-BC39-369F641BE54B}" type="datetimeFigureOut">
              <a:rPr lang="en-US" smtClean="0"/>
              <a:t>4/23/2025</a:t>
            </a:fld>
            <a:endParaRPr lang="en-US"/>
          </a:p>
        </p:txBody>
      </p:sp>
      <p:sp>
        <p:nvSpPr>
          <p:cNvPr id="28" name="Footer Placeholder 27"/>
          <p:cNvSpPr>
            <a:spLocks noGrp="1"/>
          </p:cNvSpPr>
          <p:nvPr>
            <p:ph type="ftr" sz="quarter" idx="3"/>
          </p:nvPr>
        </p:nvSpPr>
        <p:spPr>
          <a:xfrm>
            <a:off x="3124200" y="76200"/>
            <a:ext cx="3352800" cy="288925"/>
          </a:xfrm>
          <a:prstGeom prst="rect">
            <a:avLst/>
          </a:prstGeom>
        </p:spPr>
        <p:txBody>
          <a:bodyPr vert="horz"/>
          <a:lstStyle>
            <a:lvl1pPr algn="r" eaLnBrk="1" latinLnBrk="0" hangingPunct="1">
              <a:defRPr kumimoji="0" sz="1200">
                <a:solidFill>
                  <a:schemeClr val="accent1">
                    <a:shade val="75000"/>
                  </a:schemeClr>
                </a:solidFill>
              </a:defRPr>
            </a:lvl1pPr>
          </a:lstStyle>
          <a:p>
            <a:endParaRPr lang="en-US"/>
          </a:p>
        </p:txBody>
      </p:sp>
      <p:sp>
        <p:nvSpPr>
          <p:cNvPr id="5" name="Slide Number Placeholder 4"/>
          <p:cNvSpPr>
            <a:spLocks noGrp="1"/>
          </p:cNvSpPr>
          <p:nvPr>
            <p:ph type="sldNum" sz="quarter" idx="4"/>
          </p:nvPr>
        </p:nvSpPr>
        <p:spPr>
          <a:xfrm>
            <a:off x="8229600" y="6477000"/>
            <a:ext cx="762000" cy="244475"/>
          </a:xfrm>
          <a:prstGeom prst="rect">
            <a:avLst/>
          </a:prstGeom>
        </p:spPr>
        <p:txBody>
          <a:bodyPr vert="horz"/>
          <a:lstStyle>
            <a:lvl1pPr algn="r" eaLnBrk="1" latinLnBrk="0" hangingPunct="1">
              <a:defRPr kumimoji="0" sz="1200">
                <a:solidFill>
                  <a:schemeClr val="accent1">
                    <a:shade val="75000"/>
                  </a:schemeClr>
                </a:solidFill>
              </a:defRPr>
            </a:lvl1pPr>
          </a:lstStyle>
          <a:p>
            <a:fld id="{A607CB50-2825-4E4D-8A0B-F35666843D88}" type="slidenum">
              <a:rPr lang="en-US" smtClean="0"/>
              <a:t>‹#›</a:t>
            </a:fld>
            <a:endParaRPr lang="en-US"/>
          </a:p>
        </p:txBody>
      </p:sp>
      <p:sp>
        <p:nvSpPr>
          <p:cNvPr id="10" name="Title Placeholder 9"/>
          <p:cNvSpPr>
            <a:spLocks noGrp="1"/>
          </p:cNvSpPr>
          <p:nvPr>
            <p:ph type="title"/>
          </p:nvPr>
        </p:nvSpPr>
        <p:spPr>
          <a:xfrm>
            <a:off x="304800" y="457200"/>
            <a:ext cx="8686800" cy="838200"/>
          </a:xfrm>
          <a:prstGeom prst="rect">
            <a:avLst/>
          </a:prstGeom>
        </p:spPr>
        <p:txBody>
          <a:bodyPr vert="horz" anchor="ctr">
            <a:normAutofit/>
          </a:bodyPr>
          <a:lstStyle/>
          <a:p>
            <a:r>
              <a:rPr kumimoji="0" lang="en-US" smtClean="0"/>
              <a:t>Click to edit Master title style</a:t>
            </a:r>
            <a:endParaRPr kumimoji="0" lang="en-US"/>
          </a:p>
        </p:txBody>
      </p:sp>
      <p:sp>
        <p:nvSpPr>
          <p:cNvPr id="9" name="Straight Connector 8"/>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Straight Connector 11"/>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91440" tIns="45720" rIns="91440" bIns="45720" anchor="t" compatLnSpc="1"/>
          <a:lstStyle/>
          <a:p>
            <a:endParaRPr kumimoji="0" lang="en-US"/>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xStyles>
    <p:titleStyle>
      <a:lvl1pPr algn="l" rtl="0" eaLnBrk="1" latinLnBrk="0" hangingPunct="1">
        <a:spcBef>
          <a:spcPct val="0"/>
        </a:spcBef>
        <a:buNone/>
        <a:defRPr kumimoji="0" sz="36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342900" indent="-342900" algn="l" rtl="0" eaLnBrk="1" latinLnBrk="0" hangingPunct="1">
        <a:spcBef>
          <a:spcPct val="20000"/>
        </a:spcBef>
        <a:buClr>
          <a:schemeClr val="accent1"/>
        </a:buClr>
        <a:buSzPct val="70000"/>
        <a:buFont typeface="Wingdings 2"/>
        <a:buChar char=""/>
        <a:defRPr kumimoji="0" sz="3200" kern="1200">
          <a:solidFill>
            <a:schemeClr val="tx2"/>
          </a:solidFill>
          <a:latin typeface="+mn-lt"/>
          <a:ea typeface="+mn-ea"/>
          <a:cs typeface="+mn-cs"/>
        </a:defRPr>
      </a:lvl1pPr>
      <a:lvl2pPr marL="742950" indent="-285750" algn="l" rtl="0" eaLnBrk="1" latinLnBrk="0" hangingPunct="1">
        <a:spcBef>
          <a:spcPct val="20000"/>
        </a:spcBef>
        <a:buClr>
          <a:schemeClr val="accent1"/>
        </a:buClr>
        <a:buSzPct val="70000"/>
        <a:buFont typeface="Wingdings 2"/>
        <a:buChar char=""/>
        <a:defRPr kumimoji="0" sz="2800" kern="1200">
          <a:solidFill>
            <a:schemeClr val="tx2"/>
          </a:solidFill>
          <a:latin typeface="+mn-lt"/>
          <a:ea typeface="+mn-ea"/>
          <a:cs typeface="+mn-cs"/>
        </a:defRPr>
      </a:lvl2pPr>
      <a:lvl3pPr marL="1143000" indent="-228600" algn="l" rtl="0" eaLnBrk="1" latinLnBrk="0" hangingPunct="1">
        <a:spcBef>
          <a:spcPct val="20000"/>
        </a:spcBef>
        <a:buClr>
          <a:schemeClr val="accent1"/>
        </a:buClr>
        <a:buSzPct val="70000"/>
        <a:buFont typeface="Wingdings 2"/>
        <a:buChar char=""/>
        <a:defRPr kumimoji="0" sz="2400" kern="1200">
          <a:solidFill>
            <a:schemeClr val="tx2"/>
          </a:solidFill>
          <a:latin typeface="+mn-lt"/>
          <a:ea typeface="+mn-ea"/>
          <a:cs typeface="+mn-cs"/>
        </a:defRPr>
      </a:lvl3pPr>
      <a:lvl4pPr marL="1600200" indent="-228600" algn="l" rtl="0" eaLnBrk="1" latinLnBrk="0" hangingPunct="1">
        <a:spcBef>
          <a:spcPct val="20000"/>
        </a:spcBef>
        <a:buClr>
          <a:schemeClr val="accent1"/>
        </a:buClr>
        <a:buSzPct val="70000"/>
        <a:buFont typeface="Wingdings 2"/>
        <a:buChar char=""/>
        <a:defRPr kumimoji="0" sz="2000" kern="1200">
          <a:solidFill>
            <a:schemeClr val="tx2"/>
          </a:solidFill>
          <a:latin typeface="+mn-lt"/>
          <a:ea typeface="+mn-ea"/>
          <a:cs typeface="+mn-cs"/>
        </a:defRPr>
      </a:lvl4pPr>
      <a:lvl5pPr marL="20574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amiah@juniv.edu"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byjus.com/physics/what-are-energy-bands/"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5.png"/><Relationship Id="rId1" Type="http://schemas.openxmlformats.org/officeDocument/2006/relationships/slideLayout" Target="../slideLayouts/slideLayout2.xml"/><Relationship Id="rId5" Type="http://schemas.microsoft.com/office/2007/relationships/hdphoto" Target="../media/hdphoto6.wdp"/><Relationship Id="rId4" Type="http://schemas.openxmlformats.org/officeDocument/2006/relationships/image" Target="../media/image16.jpeg"/></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g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www.electrical4u.com/theory-of-semiconductor/" TargetMode="External"/><Relationship Id="rId2" Type="http://schemas.openxmlformats.org/officeDocument/2006/relationships/hyperlink" Target="https://www.electrical4u.com/p-n-junction-diode/"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46.jpe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microsoft.com/office/2007/relationships/hdphoto" Target="../media/hdphoto12.wdp"/><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microsoft.com/office/2007/relationships/hdphoto" Target="../media/hdphoto14.wdp"/><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microsoft.com/office/2007/relationships/hdphoto" Target="../media/hdphoto17.wdp"/><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microsoft.com/office/2007/relationships/hdphoto" Target="../media/hdphoto20.wdp"/><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microsoft.com/office/2007/relationships/hdphoto" Target="../media/hdphoto21.wdp"/><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microsoft.com/office/2007/relationships/hdphoto" Target="../media/hdphoto22.wdp"/><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microsoft.com/office/2007/relationships/hdphoto" Target="../media/hdphoto23.wdp"/><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microsoft.com/office/2007/relationships/hdphoto" Target="../media/hdphoto24.wdp"/><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microsoft.com/office/2007/relationships/hdphoto" Target="../media/hdphoto25.wdp"/><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microsoft.com/office/2007/relationships/hdphoto" Target="../media/hdphoto26.wdp"/><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microsoft.com/office/2007/relationships/hdphoto" Target="../media/hdphoto27.wdp"/><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microsoft.com/office/2007/relationships/hdphoto" Target="../media/hdphoto28.wdp"/><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microsoft.com/office/2007/relationships/hdphoto" Target="../media/hdphoto29.wdp"/><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microsoft.com/office/2007/relationships/hdphoto" Target="../media/hdphoto30.wdp"/><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microsoft.com/office/2007/relationships/hdphoto" Target="../media/hdphoto31.wdp"/><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microsoft.com/office/2007/relationships/hdphoto" Target="../media/hdphoto32.wdp"/><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microsoft.com/office/2007/relationships/hdphoto" Target="../media/hdphoto33.wdp"/><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671391" y="327930"/>
            <a:ext cx="2711896" cy="89206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defRPr/>
            </a:pPr>
            <a:r>
              <a:rPr lang="en-US" b="1" dirty="0" err="1" smtClean="0">
                <a:solidFill>
                  <a:srgbClr val="FF0000"/>
                </a:solidFill>
                <a:latin typeface="Centaur" panose="02030504050205020304" pitchFamily="18" charset="0"/>
                <a:ea typeface="+mn-ea"/>
                <a:cs typeface="+mn-cs"/>
              </a:rPr>
              <a:t>Chem</a:t>
            </a:r>
            <a:r>
              <a:rPr lang="en-US" b="1" dirty="0" smtClean="0">
                <a:solidFill>
                  <a:srgbClr val="FF0000"/>
                </a:solidFill>
                <a:latin typeface="Centaur" panose="02030504050205020304" pitchFamily="18" charset="0"/>
                <a:ea typeface="+mn-ea"/>
                <a:cs typeface="+mn-cs"/>
              </a:rPr>
              <a:t> 322</a:t>
            </a:r>
            <a:endParaRPr lang="en-CA" b="1" dirty="0">
              <a:solidFill>
                <a:srgbClr val="FF0000"/>
              </a:solidFill>
              <a:latin typeface="Centaur" panose="02030504050205020304" pitchFamily="18" charset="0"/>
              <a:ea typeface="+mn-ea"/>
              <a:cs typeface="+mn-cs"/>
            </a:endParaRPr>
          </a:p>
        </p:txBody>
      </p:sp>
      <p:sp>
        <p:nvSpPr>
          <p:cNvPr id="12" name="Title 1"/>
          <p:cNvSpPr txBox="1">
            <a:spLocks/>
          </p:cNvSpPr>
          <p:nvPr/>
        </p:nvSpPr>
        <p:spPr>
          <a:xfrm>
            <a:off x="828263" y="3048000"/>
            <a:ext cx="7972985" cy="329330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25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just"/>
            <a:endParaRPr lang="en-US" sz="8000" b="1" dirty="0">
              <a:solidFill>
                <a:srgbClr val="00B050"/>
              </a:solidFill>
              <a:latin typeface="Corbel" panose="020B0503020204020204" pitchFamily="34" charset="0"/>
              <a:ea typeface="Microsoft YaHei" panose="020B0503020204020204" pitchFamily="34" charset="-122"/>
              <a:cs typeface="Arial" panose="020B0604020202020204" pitchFamily="34" charset="0"/>
            </a:endParaRPr>
          </a:p>
          <a:p>
            <a:pPr algn="just">
              <a:lnSpc>
                <a:spcPct val="120000"/>
              </a:lnSpc>
            </a:pPr>
            <a:endParaRPr lang="en-US" sz="11200" dirty="0">
              <a:solidFill>
                <a:srgbClr val="7030A0"/>
              </a:solidFill>
              <a:latin typeface="Calisto MT" panose="02040603050505030304" pitchFamily="18" charset="0"/>
              <a:ea typeface="Microsoft YaHei" panose="020B0503020204020204" pitchFamily="34" charset="-122"/>
              <a:cs typeface="Arial" panose="020B0604020202020204" pitchFamily="34" charset="0"/>
            </a:endParaRPr>
          </a:p>
          <a:p>
            <a:pPr algn="just">
              <a:lnSpc>
                <a:spcPct val="120000"/>
              </a:lnSpc>
            </a:pPr>
            <a:r>
              <a:rPr lang="en-US" sz="11200" b="1" dirty="0">
                <a:solidFill>
                  <a:srgbClr val="6600FF"/>
                </a:solidFill>
                <a:latin typeface="Arial Black" pitchFamily="34" charset="0"/>
                <a:ea typeface="Microsoft YaHei" panose="020B0503020204020204" pitchFamily="34" charset="-122"/>
                <a:cs typeface="Arial" panose="020B0604020202020204" pitchFamily="34" charset="0"/>
              </a:rPr>
              <a:t>Dr. </a:t>
            </a:r>
            <a:r>
              <a:rPr lang="en-US" sz="11200" b="1" dirty="0" smtClean="0">
                <a:solidFill>
                  <a:srgbClr val="6600FF"/>
                </a:solidFill>
                <a:latin typeface="Arial Black" pitchFamily="34" charset="0"/>
                <a:ea typeface="Microsoft YaHei" panose="020B0503020204020204" pitchFamily="34" charset="-122"/>
                <a:cs typeface="Arial" panose="020B0604020202020204" pitchFamily="34" charset="0"/>
              </a:rPr>
              <a:t>Md. </a:t>
            </a:r>
            <a:r>
              <a:rPr lang="en-US" sz="11200" b="1" dirty="0" err="1" smtClean="0">
                <a:solidFill>
                  <a:srgbClr val="6600FF"/>
                </a:solidFill>
                <a:latin typeface="Arial Black" pitchFamily="34" charset="0"/>
                <a:ea typeface="Microsoft YaHei" panose="020B0503020204020204" pitchFamily="34" charset="-122"/>
                <a:cs typeface="Arial" panose="020B0604020202020204" pitchFamily="34" charset="0"/>
              </a:rPr>
              <a:t>Arzu</a:t>
            </a:r>
            <a:r>
              <a:rPr lang="en-US" sz="11200" b="1" dirty="0" smtClean="0">
                <a:solidFill>
                  <a:srgbClr val="6600FF"/>
                </a:solidFill>
                <a:latin typeface="Arial Black" pitchFamily="34" charset="0"/>
                <a:ea typeface="Microsoft YaHei" panose="020B0503020204020204" pitchFamily="34" charset="-122"/>
                <a:cs typeface="Arial" panose="020B0604020202020204" pitchFamily="34" charset="0"/>
              </a:rPr>
              <a:t> </a:t>
            </a:r>
            <a:r>
              <a:rPr lang="en-US" sz="11200" b="1" dirty="0" err="1" smtClean="0">
                <a:solidFill>
                  <a:srgbClr val="6600FF"/>
                </a:solidFill>
                <a:latin typeface="Arial Black" pitchFamily="34" charset="0"/>
                <a:ea typeface="Microsoft YaHei" panose="020B0503020204020204" pitchFamily="34" charset="-122"/>
                <a:cs typeface="Arial" panose="020B0604020202020204" pitchFamily="34" charset="0"/>
              </a:rPr>
              <a:t>Miah</a:t>
            </a:r>
            <a:r>
              <a:rPr lang="en-US" sz="11200" b="1" dirty="0" smtClean="0">
                <a:solidFill>
                  <a:srgbClr val="6600FF"/>
                </a:solidFill>
                <a:latin typeface="Arial Black" pitchFamily="34" charset="0"/>
                <a:ea typeface="Microsoft YaHei" panose="020B0503020204020204" pitchFamily="34" charset="-122"/>
                <a:cs typeface="Arial" panose="020B0604020202020204" pitchFamily="34" charset="0"/>
              </a:rPr>
              <a:t> </a:t>
            </a:r>
            <a:endParaRPr lang="en-US" sz="8000" b="1" dirty="0">
              <a:solidFill>
                <a:srgbClr val="6600FF"/>
              </a:solidFill>
              <a:latin typeface="Arial Black" pitchFamily="34" charset="0"/>
              <a:ea typeface="Microsoft YaHei" panose="020B0503020204020204" pitchFamily="34" charset="-122"/>
              <a:cs typeface="Arial" panose="020B0604020202020204" pitchFamily="34" charset="0"/>
            </a:endParaRPr>
          </a:p>
          <a:p>
            <a:pPr algn="just">
              <a:lnSpc>
                <a:spcPct val="120000"/>
              </a:lnSpc>
            </a:pPr>
            <a:r>
              <a:rPr lang="en-US" sz="5600" b="1" dirty="0" smtClean="0">
                <a:solidFill>
                  <a:srgbClr val="7030A0"/>
                </a:solidFill>
                <a:latin typeface="Calisto MT" panose="02040603050505030304" pitchFamily="18" charset="0"/>
                <a:ea typeface="Microsoft YaHei" panose="020B0503020204020204" pitchFamily="34" charset="-122"/>
                <a:cs typeface="Arial" panose="020B0604020202020204" pitchFamily="34" charset="0"/>
              </a:rPr>
              <a:t>Post Doc. ( KAIST, S. Korea), PhD (</a:t>
            </a:r>
            <a:r>
              <a:rPr lang="en-US" sz="5600" b="1" dirty="0" err="1" smtClean="0">
                <a:solidFill>
                  <a:srgbClr val="7030A0"/>
                </a:solidFill>
                <a:latin typeface="Calisto MT" panose="02040603050505030304" pitchFamily="18" charset="0"/>
                <a:ea typeface="Microsoft YaHei" panose="020B0503020204020204" pitchFamily="34" charset="-122"/>
                <a:cs typeface="Arial" panose="020B0604020202020204" pitchFamily="34" charset="0"/>
              </a:rPr>
              <a:t>Veinna</a:t>
            </a:r>
            <a:r>
              <a:rPr lang="en-US" sz="5600" b="1" dirty="0" smtClean="0">
                <a:solidFill>
                  <a:srgbClr val="7030A0"/>
                </a:solidFill>
                <a:latin typeface="Calisto MT" panose="02040603050505030304" pitchFamily="18" charset="0"/>
                <a:ea typeface="Microsoft YaHei" panose="020B0503020204020204" pitchFamily="34" charset="-122"/>
                <a:cs typeface="Arial" panose="020B0604020202020204" pitchFamily="34" charset="0"/>
              </a:rPr>
              <a:t>, Austria), </a:t>
            </a:r>
            <a:r>
              <a:rPr lang="en-US" sz="5600" b="1" dirty="0" err="1" smtClean="0">
                <a:solidFill>
                  <a:srgbClr val="7030A0"/>
                </a:solidFill>
                <a:latin typeface="Calisto MT" panose="02040603050505030304" pitchFamily="18" charset="0"/>
                <a:ea typeface="Microsoft YaHei" panose="020B0503020204020204" pitchFamily="34" charset="-122"/>
                <a:cs typeface="Arial" panose="020B0604020202020204" pitchFamily="34" charset="0"/>
              </a:rPr>
              <a:t>M.Sc</a:t>
            </a:r>
            <a:r>
              <a:rPr lang="en-US" sz="5600" b="1" dirty="0" smtClean="0">
                <a:solidFill>
                  <a:srgbClr val="7030A0"/>
                </a:solidFill>
                <a:latin typeface="Calisto MT" panose="02040603050505030304" pitchFamily="18" charset="0"/>
                <a:ea typeface="Microsoft YaHei" panose="020B0503020204020204" pitchFamily="34" charset="-122"/>
                <a:cs typeface="Arial" panose="020B0604020202020204" pitchFamily="34" charset="0"/>
              </a:rPr>
              <a:t> &amp; </a:t>
            </a:r>
            <a:r>
              <a:rPr lang="en-US" sz="5600" b="1" dirty="0" err="1" smtClean="0">
                <a:solidFill>
                  <a:srgbClr val="7030A0"/>
                </a:solidFill>
                <a:latin typeface="Calisto MT" panose="02040603050505030304" pitchFamily="18" charset="0"/>
                <a:ea typeface="Microsoft YaHei" panose="020B0503020204020204" pitchFamily="34" charset="-122"/>
                <a:cs typeface="Arial" panose="020B0604020202020204" pitchFamily="34" charset="0"/>
              </a:rPr>
              <a:t>B.Sc</a:t>
            </a:r>
            <a:r>
              <a:rPr lang="en-US" sz="5600" b="1" dirty="0" smtClean="0">
                <a:solidFill>
                  <a:srgbClr val="7030A0"/>
                </a:solidFill>
                <a:latin typeface="Calisto MT" panose="02040603050505030304" pitchFamily="18" charset="0"/>
                <a:ea typeface="Microsoft YaHei" panose="020B0503020204020204" pitchFamily="34" charset="-122"/>
                <a:cs typeface="Arial" panose="020B0604020202020204" pitchFamily="34" charset="0"/>
              </a:rPr>
              <a:t> in Chemistry  (JU</a:t>
            </a:r>
            <a:r>
              <a:rPr lang="en-US" sz="5600" b="1" dirty="0">
                <a:solidFill>
                  <a:srgbClr val="7030A0"/>
                </a:solidFill>
                <a:latin typeface="Calisto MT" panose="02040603050505030304" pitchFamily="18" charset="0"/>
                <a:ea typeface="Microsoft YaHei" panose="020B0503020204020204" pitchFamily="34" charset="-122"/>
                <a:cs typeface="Arial" panose="020B0604020202020204" pitchFamily="34" charset="0"/>
              </a:rPr>
              <a:t>) </a:t>
            </a:r>
          </a:p>
          <a:p>
            <a:pPr algn="just">
              <a:lnSpc>
                <a:spcPct val="120000"/>
              </a:lnSpc>
            </a:pPr>
            <a:r>
              <a:rPr lang="en-US" sz="7200" b="1" dirty="0" smtClean="0">
                <a:solidFill>
                  <a:srgbClr val="C00000"/>
                </a:solidFill>
                <a:latin typeface="Calisto MT" panose="02040603050505030304" pitchFamily="18" charset="0"/>
                <a:ea typeface="Microsoft YaHei" panose="020B0503020204020204" pitchFamily="34" charset="-122"/>
                <a:cs typeface="Arial" panose="020B0604020202020204" pitchFamily="34" charset="0"/>
              </a:rPr>
              <a:t>Professor</a:t>
            </a:r>
            <a:endParaRPr lang="en-US" sz="7200" b="1" dirty="0">
              <a:solidFill>
                <a:srgbClr val="C00000"/>
              </a:solidFill>
              <a:latin typeface="Calisto MT" panose="02040603050505030304" pitchFamily="18" charset="0"/>
              <a:ea typeface="Microsoft YaHei" panose="020B0503020204020204" pitchFamily="34" charset="-122"/>
              <a:cs typeface="Arial" panose="020B0604020202020204" pitchFamily="34" charset="0"/>
            </a:endParaRPr>
          </a:p>
          <a:p>
            <a:pPr algn="just">
              <a:lnSpc>
                <a:spcPct val="120000"/>
              </a:lnSpc>
            </a:pPr>
            <a:r>
              <a:rPr lang="en-US" sz="7200" b="1" dirty="0">
                <a:solidFill>
                  <a:srgbClr val="C00000"/>
                </a:solidFill>
                <a:latin typeface="Calisto MT" panose="02040603050505030304" pitchFamily="18" charset="0"/>
                <a:ea typeface="Microsoft YaHei" panose="020B0503020204020204" pitchFamily="34" charset="-122"/>
                <a:cs typeface="Arial" panose="020B0604020202020204" pitchFamily="34" charset="0"/>
              </a:rPr>
              <a:t>Department of </a:t>
            </a:r>
            <a:r>
              <a:rPr lang="en-US" sz="7200" b="1" dirty="0" smtClean="0">
                <a:solidFill>
                  <a:srgbClr val="C00000"/>
                </a:solidFill>
                <a:latin typeface="Calisto MT" panose="02040603050505030304" pitchFamily="18" charset="0"/>
                <a:ea typeface="Microsoft YaHei" panose="020B0503020204020204" pitchFamily="34" charset="-122"/>
                <a:cs typeface="Arial" panose="020B0604020202020204" pitchFamily="34" charset="0"/>
              </a:rPr>
              <a:t>Chemistry</a:t>
            </a:r>
          </a:p>
          <a:p>
            <a:pPr algn="just">
              <a:lnSpc>
                <a:spcPct val="120000"/>
              </a:lnSpc>
            </a:pPr>
            <a:r>
              <a:rPr lang="en-US" sz="7200" b="1" dirty="0" err="1" smtClean="0">
                <a:solidFill>
                  <a:srgbClr val="C00000"/>
                </a:solidFill>
                <a:latin typeface="Calisto MT" panose="02040603050505030304" pitchFamily="18" charset="0"/>
                <a:ea typeface="Microsoft YaHei" panose="020B0503020204020204" pitchFamily="34" charset="-122"/>
                <a:cs typeface="Arial" panose="020B0604020202020204" pitchFamily="34" charset="0"/>
              </a:rPr>
              <a:t>Jahangirnagar</a:t>
            </a:r>
            <a:r>
              <a:rPr lang="en-US" sz="7200" b="1" dirty="0" smtClean="0">
                <a:solidFill>
                  <a:srgbClr val="C00000"/>
                </a:solidFill>
                <a:latin typeface="Calisto MT" panose="02040603050505030304" pitchFamily="18" charset="0"/>
                <a:ea typeface="Microsoft YaHei" panose="020B0503020204020204" pitchFamily="34" charset="-122"/>
                <a:cs typeface="Arial" panose="020B0604020202020204" pitchFamily="34" charset="0"/>
              </a:rPr>
              <a:t> University</a:t>
            </a:r>
          </a:p>
          <a:p>
            <a:pPr algn="just">
              <a:lnSpc>
                <a:spcPct val="120000"/>
              </a:lnSpc>
            </a:pPr>
            <a:r>
              <a:rPr lang="en-US" sz="7200" b="1" dirty="0" err="1" smtClean="0">
                <a:solidFill>
                  <a:srgbClr val="0000FF"/>
                </a:solidFill>
                <a:latin typeface="Calisto MT" panose="02040603050505030304" pitchFamily="18" charset="0"/>
                <a:ea typeface="Microsoft YaHei" panose="020B0503020204020204" pitchFamily="34" charset="-122"/>
                <a:cs typeface="Arial" panose="020B0604020202020204" pitchFamily="34" charset="0"/>
              </a:rPr>
              <a:t>Savar</a:t>
            </a:r>
            <a:r>
              <a:rPr lang="en-US" sz="7200" b="1" dirty="0" smtClean="0">
                <a:solidFill>
                  <a:srgbClr val="0000FF"/>
                </a:solidFill>
                <a:latin typeface="Calisto MT" panose="02040603050505030304" pitchFamily="18" charset="0"/>
                <a:ea typeface="Microsoft YaHei" panose="020B0503020204020204" pitchFamily="34" charset="-122"/>
                <a:cs typeface="Arial" panose="020B0604020202020204" pitchFamily="34" charset="0"/>
              </a:rPr>
              <a:t>, Dhaka-1342</a:t>
            </a:r>
          </a:p>
          <a:p>
            <a:pPr algn="just">
              <a:lnSpc>
                <a:spcPct val="120000"/>
              </a:lnSpc>
            </a:pPr>
            <a:r>
              <a:rPr lang="en-US" sz="7200" b="1" dirty="0" smtClean="0">
                <a:solidFill>
                  <a:srgbClr val="9900FF"/>
                </a:solidFill>
                <a:latin typeface="Calisto MT" panose="02040603050505030304" pitchFamily="18" charset="0"/>
                <a:ea typeface="Microsoft YaHei" panose="020B0503020204020204" pitchFamily="34" charset="-122"/>
                <a:cs typeface="Arial" panose="020B0604020202020204" pitchFamily="34" charset="0"/>
              </a:rPr>
              <a:t>Cell: 01732150725</a:t>
            </a:r>
          </a:p>
          <a:p>
            <a:pPr algn="just">
              <a:lnSpc>
                <a:spcPct val="120000"/>
              </a:lnSpc>
            </a:pPr>
            <a:r>
              <a:rPr lang="en-US" sz="7200" dirty="0" smtClean="0">
                <a:solidFill>
                  <a:srgbClr val="00B0F0"/>
                </a:solidFill>
                <a:latin typeface="Calisto MT" panose="02040603050505030304" pitchFamily="18" charset="0"/>
                <a:ea typeface="Microsoft YaHei" panose="020B0503020204020204" pitchFamily="34" charset="-122"/>
                <a:cs typeface="Arial" panose="020B0604020202020204" pitchFamily="34" charset="0"/>
                <a:hlinkClick r:id="rId3"/>
              </a:rPr>
              <a:t>mamiah</a:t>
            </a:r>
            <a:r>
              <a:rPr lang="en-US" sz="7200" dirty="0" smtClean="0">
                <a:latin typeface="Calisto MT" panose="02040603050505030304" pitchFamily="18" charset="0"/>
                <a:cs typeface="Calibri Light"/>
                <a:hlinkClick r:id="rId3"/>
              </a:rPr>
              <a:t>@juniv.edu</a:t>
            </a:r>
            <a:endParaRPr lang="en-US" sz="7200" dirty="0">
              <a:latin typeface="Calisto MT" panose="02040603050505030304" pitchFamily="18" charset="0"/>
              <a:cs typeface="Calibri Light"/>
            </a:endParaRPr>
          </a:p>
          <a:p>
            <a:pPr algn="just">
              <a:lnSpc>
                <a:spcPct val="120000"/>
              </a:lnSpc>
            </a:pPr>
            <a:endParaRPr lang="en-US" sz="7200" dirty="0">
              <a:latin typeface="Calisto MT" panose="02040603050505030304" pitchFamily="18" charset="0"/>
              <a:cs typeface="Calibri Light"/>
            </a:endParaRPr>
          </a:p>
          <a:p>
            <a:pPr algn="just"/>
            <a:endParaRPr lang="en-US" sz="8800" b="1" dirty="0">
              <a:latin typeface="Corbel" panose="020B0503020204020204" pitchFamily="34" charset="0"/>
              <a:cs typeface="Calibri Light"/>
            </a:endParaRPr>
          </a:p>
          <a:p>
            <a:pPr algn="l"/>
            <a:endParaRPr lang="en-CA" sz="3200" dirty="0">
              <a:cs typeface="Calibri Light"/>
            </a:endParaRPr>
          </a:p>
        </p:txBody>
      </p:sp>
      <p:sp>
        <p:nvSpPr>
          <p:cNvPr id="6" name="Text Box 6"/>
          <p:cNvSpPr txBox="1">
            <a:spLocks noChangeArrowheads="1"/>
          </p:cNvSpPr>
          <p:nvPr/>
        </p:nvSpPr>
        <p:spPr bwMode="auto">
          <a:xfrm>
            <a:off x="1302212" y="1600200"/>
            <a:ext cx="6667500" cy="1079399"/>
          </a:xfrm>
          <a:prstGeom prst="rect">
            <a:avLst/>
          </a:prstGeom>
          <a:ln/>
        </p:spPr>
        <p:style>
          <a:lnRef idx="1">
            <a:schemeClr val="accent3"/>
          </a:lnRef>
          <a:fillRef idx="2">
            <a:schemeClr val="accent3"/>
          </a:fillRef>
          <a:effectRef idx="1">
            <a:schemeClr val="accent3"/>
          </a:effectRef>
          <a:fontRef idx="minor">
            <a:schemeClr val="dk1"/>
          </a:fontRef>
        </p:style>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Arial" panose="020B0604020202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Arial" panose="020B0604020202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Arial" panose="020B0604020202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Arial" panose="020B0604020202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Arial" panose="020B0604020202020204" pitchFamily="34" charset="0"/>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Arial" panose="020B0604020202020204" pitchFamily="34" charset="0"/>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Arial" panose="020B0604020202020204" pitchFamily="34" charset="0"/>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Arial" panose="020B0604020202020204" pitchFamily="34" charset="0"/>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rgbClr val="000000"/>
                </a:solidFill>
                <a:latin typeface="Calibri" panose="020F0502020204030204" pitchFamily="34" charset="0"/>
                <a:cs typeface="Arial" panose="020B0604020202020204" pitchFamily="34" charset="0"/>
              </a:defRPr>
            </a:lvl9pPr>
          </a:lstStyle>
          <a:p>
            <a:pPr algn="ctr">
              <a:buClrTx/>
              <a:buFontTx/>
              <a:buNone/>
            </a:pPr>
            <a:r>
              <a:rPr lang="en-US" sz="3200" b="1" dirty="0" smtClean="0">
                <a:solidFill>
                  <a:srgbClr val="0000FF"/>
                </a:solidFill>
                <a:latin typeface="Calisto MT" panose="02040603050505030304" pitchFamily="18" charset="0"/>
              </a:rPr>
              <a:t>Selected Topic of Inorganic  </a:t>
            </a:r>
            <a:r>
              <a:rPr lang="en-US" sz="3200" b="1" dirty="0">
                <a:solidFill>
                  <a:srgbClr val="0000FF"/>
                </a:solidFill>
                <a:latin typeface="Calisto MT" panose="02040603050505030304" pitchFamily="18" charset="0"/>
              </a:rPr>
              <a:t>Chemistry</a:t>
            </a:r>
          </a:p>
        </p:txBody>
      </p:sp>
      <p:sp>
        <p:nvSpPr>
          <p:cNvPr id="2" name="AutoShape 2" descr="Jahangirnagar University School &amp; College Dhaka, others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36447" y="217860"/>
            <a:ext cx="999248" cy="1112207"/>
          </a:xfrm>
          <a:prstGeom prst="rect">
            <a:avLst/>
          </a:prstGeom>
          <a:ln/>
          <a:extLst/>
        </p:spPr>
        <p:style>
          <a:lnRef idx="1">
            <a:schemeClr val="accent2"/>
          </a:lnRef>
          <a:fillRef idx="2">
            <a:schemeClr val="accent2"/>
          </a:fillRef>
          <a:effectRef idx="1">
            <a:schemeClr val="accent2"/>
          </a:effectRef>
          <a:fontRef idx="minor">
            <a:schemeClr val="dk1"/>
          </a:fontRef>
        </p:style>
      </p:pic>
    </p:spTree>
    <p:extLst>
      <p:ext uri="{BB962C8B-B14F-4D97-AF65-F5344CB8AC3E}">
        <p14:creationId xmlns:p14="http://schemas.microsoft.com/office/powerpoint/2010/main" val="119067257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85800"/>
            <a:ext cx="6172200" cy="1676400"/>
          </a:xfrm>
        </p:spPr>
        <p:style>
          <a:lnRef idx="1">
            <a:schemeClr val="accent5"/>
          </a:lnRef>
          <a:fillRef idx="2">
            <a:schemeClr val="accent5"/>
          </a:fillRef>
          <a:effectRef idx="1">
            <a:schemeClr val="accent5"/>
          </a:effectRef>
          <a:fontRef idx="minor">
            <a:schemeClr val="dk1"/>
          </a:fontRef>
        </p:style>
        <p:txBody>
          <a:bodyPr>
            <a:normAutofit/>
          </a:bodyPr>
          <a:lstStyle/>
          <a:p>
            <a:pPr algn="ctr"/>
            <a:r>
              <a:rPr lang="en-US" sz="4800" dirty="0" smtClean="0">
                <a:solidFill>
                  <a:srgbClr val="FF0000"/>
                </a:solidFill>
              </a:rPr>
              <a:t>Chapter -1</a:t>
            </a:r>
            <a:endParaRPr lang="en-US" sz="4800" dirty="0">
              <a:solidFill>
                <a:srgbClr val="FF0000"/>
              </a:solidFill>
            </a:endParaRPr>
          </a:p>
        </p:txBody>
      </p:sp>
      <p:sp>
        <p:nvSpPr>
          <p:cNvPr id="3" name="Subtitle 2"/>
          <p:cNvSpPr>
            <a:spLocks noGrp="1"/>
          </p:cNvSpPr>
          <p:nvPr>
            <p:ph type="subTitle" idx="1"/>
          </p:nvPr>
        </p:nvSpPr>
        <p:spPr>
          <a:xfrm>
            <a:off x="1752600" y="2971800"/>
            <a:ext cx="5562600" cy="1524000"/>
          </a:xfrm>
        </p:spPr>
        <p:style>
          <a:lnRef idx="1">
            <a:schemeClr val="accent5"/>
          </a:lnRef>
          <a:fillRef idx="2">
            <a:schemeClr val="accent5"/>
          </a:fillRef>
          <a:effectRef idx="1">
            <a:schemeClr val="accent5"/>
          </a:effectRef>
          <a:fontRef idx="minor">
            <a:schemeClr val="dk1"/>
          </a:fontRef>
        </p:style>
        <p:txBody>
          <a:bodyPr>
            <a:normAutofit/>
          </a:bodyPr>
          <a:lstStyle/>
          <a:p>
            <a:pPr algn="ctr"/>
            <a:r>
              <a:rPr lang="en-US" sz="4000" b="1" dirty="0">
                <a:solidFill>
                  <a:srgbClr val="0000FF"/>
                </a:solidFill>
                <a:latin typeface="Arial Narrow" pitchFamily="34" charset="0"/>
              </a:rPr>
              <a:t>Bonding in </a:t>
            </a:r>
            <a:r>
              <a:rPr lang="en-US" sz="4000" b="1" dirty="0" smtClean="0">
                <a:solidFill>
                  <a:srgbClr val="0000FF"/>
                </a:solidFill>
                <a:latin typeface="Arial Narrow" pitchFamily="34" charset="0"/>
              </a:rPr>
              <a:t>Metals </a:t>
            </a:r>
            <a:r>
              <a:rPr lang="en-US" sz="4000" b="1" dirty="0">
                <a:solidFill>
                  <a:srgbClr val="0000FF"/>
                </a:solidFill>
                <a:latin typeface="Arial Narrow" pitchFamily="34" charset="0"/>
              </a:rPr>
              <a:t>and </a:t>
            </a:r>
            <a:r>
              <a:rPr lang="en-US" sz="4000" b="1" dirty="0" smtClean="0">
                <a:solidFill>
                  <a:srgbClr val="0000FF"/>
                </a:solidFill>
                <a:latin typeface="Arial Narrow" pitchFamily="34" charset="0"/>
              </a:rPr>
              <a:t>Alloys </a:t>
            </a:r>
            <a:endParaRPr lang="en-US" sz="4000" dirty="0"/>
          </a:p>
        </p:txBody>
      </p:sp>
    </p:spTree>
    <p:extLst>
      <p:ext uri="{BB962C8B-B14F-4D97-AF65-F5344CB8AC3E}">
        <p14:creationId xmlns:p14="http://schemas.microsoft.com/office/powerpoint/2010/main" val="29581384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04800"/>
            <a:ext cx="8001000" cy="9144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dirty="0" smtClean="0">
                <a:solidFill>
                  <a:srgbClr val="0000FF"/>
                </a:solidFill>
                <a:latin typeface="Arial Narrow" pitchFamily="34" charset="0"/>
              </a:rPr>
              <a:t/>
            </a:r>
            <a:br>
              <a:rPr lang="en-US" dirty="0" smtClean="0">
                <a:solidFill>
                  <a:srgbClr val="0000FF"/>
                </a:solidFill>
                <a:latin typeface="Arial Narrow" pitchFamily="34" charset="0"/>
              </a:rPr>
            </a:br>
            <a:r>
              <a:rPr lang="en-US" dirty="0" smtClean="0">
                <a:solidFill>
                  <a:srgbClr val="0000FF"/>
                </a:solidFill>
                <a:latin typeface="Arial Narrow" pitchFamily="34" charset="0"/>
              </a:rPr>
              <a:t/>
            </a:r>
            <a:br>
              <a:rPr lang="en-US" dirty="0" smtClean="0">
                <a:solidFill>
                  <a:srgbClr val="0000FF"/>
                </a:solidFill>
                <a:latin typeface="Arial Narrow" pitchFamily="34" charset="0"/>
              </a:rPr>
            </a:br>
            <a:r>
              <a:rPr lang="en-US" dirty="0">
                <a:solidFill>
                  <a:srgbClr val="0000FF"/>
                </a:solidFill>
                <a:latin typeface="Arial Narrow" pitchFamily="34" charset="0"/>
              </a:rPr>
              <a:t/>
            </a:r>
            <a:br>
              <a:rPr lang="en-US" dirty="0">
                <a:solidFill>
                  <a:srgbClr val="0000FF"/>
                </a:solidFill>
                <a:latin typeface="Arial Narrow" pitchFamily="34" charset="0"/>
              </a:rPr>
            </a:br>
            <a:r>
              <a:rPr lang="en-US" b="1" dirty="0" smtClean="0">
                <a:solidFill>
                  <a:srgbClr val="FF0000"/>
                </a:solidFill>
                <a:latin typeface="Arial Narrow" pitchFamily="34" charset="0"/>
              </a:rPr>
              <a:t>Chapter-1</a:t>
            </a:r>
            <a:r>
              <a:rPr lang="en-US" dirty="0">
                <a:solidFill>
                  <a:srgbClr val="0000FF"/>
                </a:solidFill>
                <a:latin typeface="Arial Narrow" pitchFamily="34" charset="0"/>
              </a:rPr>
              <a:t/>
            </a:r>
            <a:br>
              <a:rPr lang="en-US" dirty="0">
                <a:solidFill>
                  <a:srgbClr val="0000FF"/>
                </a:solidFill>
                <a:latin typeface="Arial Narrow" pitchFamily="34" charset="0"/>
              </a:rPr>
            </a:br>
            <a:r>
              <a:rPr lang="en-US" dirty="0" smtClean="0">
                <a:solidFill>
                  <a:srgbClr val="0000FF"/>
                </a:solidFill>
                <a:latin typeface="Arial Narrow" pitchFamily="34" charset="0"/>
              </a:rPr>
              <a:t/>
            </a:r>
            <a:br>
              <a:rPr lang="en-US" dirty="0" smtClean="0">
                <a:solidFill>
                  <a:srgbClr val="0000FF"/>
                </a:solidFill>
                <a:latin typeface="Arial Narrow" pitchFamily="34" charset="0"/>
              </a:rPr>
            </a:br>
            <a:r>
              <a:rPr lang="en-US" sz="3600" dirty="0">
                <a:solidFill>
                  <a:srgbClr val="FF0000"/>
                </a:solidFill>
                <a:latin typeface="Arial Narrow" pitchFamily="34" charset="0"/>
              </a:rPr>
              <a:t/>
            </a:r>
            <a:br>
              <a:rPr lang="en-US" sz="3600" dirty="0">
                <a:solidFill>
                  <a:srgbClr val="FF0000"/>
                </a:solidFill>
                <a:latin typeface="Arial Narrow" pitchFamily="34" charset="0"/>
              </a:rPr>
            </a:br>
            <a:r>
              <a:rPr lang="en-US" b="1" dirty="0">
                <a:solidFill>
                  <a:srgbClr val="FF0000"/>
                </a:solidFill>
                <a:latin typeface="Arial Narrow" pitchFamily="34" charset="0"/>
              </a:rPr>
              <a:t>Bonding in Metal And ALLOYS</a:t>
            </a:r>
            <a:endParaRPr lang="en-US" dirty="0">
              <a:solidFill>
                <a:srgbClr val="FF0000"/>
              </a:solidFill>
            </a:endParaRPr>
          </a:p>
        </p:txBody>
      </p:sp>
      <p:sp>
        <p:nvSpPr>
          <p:cNvPr id="3" name="Content Placeholder 2"/>
          <p:cNvSpPr>
            <a:spLocks noGrp="1"/>
          </p:cNvSpPr>
          <p:nvPr>
            <p:ph idx="1"/>
          </p:nvPr>
        </p:nvSpPr>
        <p:spPr>
          <a:xfrm>
            <a:off x="762000" y="1447800"/>
            <a:ext cx="7924800" cy="4906963"/>
          </a:xfrm>
        </p:spPr>
        <p:style>
          <a:lnRef idx="1">
            <a:schemeClr val="accent3"/>
          </a:lnRef>
          <a:fillRef idx="2">
            <a:schemeClr val="accent3"/>
          </a:fillRef>
          <a:effectRef idx="1">
            <a:schemeClr val="accent3"/>
          </a:effectRef>
          <a:fontRef idx="minor">
            <a:schemeClr val="dk1"/>
          </a:fontRef>
        </p:style>
        <p:txBody>
          <a:bodyPr>
            <a:normAutofit fontScale="85000" lnSpcReduction="10000"/>
          </a:bodyPr>
          <a:lstStyle/>
          <a:p>
            <a:pPr marL="285750" indent="-285750">
              <a:buFont typeface="Wingdings" pitchFamily="2" charset="2"/>
              <a:buChar char="q"/>
              <a:defRPr/>
            </a:pPr>
            <a:r>
              <a:rPr lang="en-US" sz="2600" b="1" dirty="0">
                <a:solidFill>
                  <a:srgbClr val="0000FF"/>
                </a:solidFill>
                <a:latin typeface="Arial Narrow" pitchFamily="34" charset="0"/>
              </a:rPr>
              <a:t>What is Alloys? </a:t>
            </a:r>
            <a:endParaRPr lang="en-US" sz="2600" b="1" dirty="0" smtClean="0">
              <a:solidFill>
                <a:srgbClr val="0000FF"/>
              </a:solidFill>
              <a:latin typeface="Arial Narrow" pitchFamily="34" charset="0"/>
            </a:endParaRPr>
          </a:p>
          <a:p>
            <a:pPr marL="285750" indent="-285750">
              <a:buFont typeface="Wingdings" pitchFamily="2" charset="2"/>
              <a:buChar char="q"/>
              <a:defRPr/>
            </a:pPr>
            <a:r>
              <a:rPr lang="en-US" sz="2600" b="1" dirty="0" smtClean="0">
                <a:solidFill>
                  <a:srgbClr val="0000FF"/>
                </a:solidFill>
                <a:latin typeface="Arial Narrow" pitchFamily="34" charset="0"/>
              </a:rPr>
              <a:t>What is Metallic Bonds </a:t>
            </a:r>
          </a:p>
          <a:p>
            <a:pPr marL="285750" indent="-285750">
              <a:buFont typeface="Wingdings" pitchFamily="2" charset="2"/>
              <a:buChar char="q"/>
              <a:defRPr/>
            </a:pPr>
            <a:r>
              <a:rPr lang="en-US" sz="2600" b="1" dirty="0" smtClean="0">
                <a:solidFill>
                  <a:srgbClr val="0000FF"/>
                </a:solidFill>
                <a:latin typeface="Arial Narrow" pitchFamily="34" charset="0"/>
              </a:rPr>
              <a:t>Properties of Metals </a:t>
            </a:r>
          </a:p>
          <a:p>
            <a:pPr marL="285750" indent="-285750">
              <a:buFont typeface="Wingdings" pitchFamily="2" charset="2"/>
              <a:buChar char="q"/>
              <a:defRPr/>
            </a:pPr>
            <a:r>
              <a:rPr lang="en-US" sz="2600" b="1" dirty="0" smtClean="0">
                <a:solidFill>
                  <a:srgbClr val="0000FF"/>
                </a:solidFill>
                <a:latin typeface="Arial Narrow" pitchFamily="34" charset="0"/>
              </a:rPr>
              <a:t>Theory </a:t>
            </a:r>
            <a:r>
              <a:rPr lang="en-US" sz="2600" b="1" dirty="0">
                <a:solidFill>
                  <a:srgbClr val="0000FF"/>
                </a:solidFill>
                <a:latin typeface="Arial Narrow" pitchFamily="34" charset="0"/>
              </a:rPr>
              <a:t>of metallic bond </a:t>
            </a:r>
            <a:r>
              <a:rPr lang="en-US" sz="2600" b="1" dirty="0" smtClean="0">
                <a:solidFill>
                  <a:srgbClr val="0000FF"/>
                </a:solidFill>
                <a:latin typeface="Arial Narrow" pitchFamily="34" charset="0"/>
              </a:rPr>
              <a:t>formation</a:t>
            </a:r>
          </a:p>
          <a:p>
            <a:pPr marL="285750" indent="-285750">
              <a:buFont typeface="Wingdings" pitchFamily="2" charset="2"/>
              <a:buChar char="q"/>
              <a:defRPr/>
            </a:pPr>
            <a:r>
              <a:rPr lang="en-US" sz="2600" b="1" dirty="0" smtClean="0">
                <a:solidFill>
                  <a:srgbClr val="0000FF"/>
                </a:solidFill>
                <a:latin typeface="Arial Narrow" pitchFamily="34" charset="0"/>
              </a:rPr>
              <a:t>Difference </a:t>
            </a:r>
            <a:r>
              <a:rPr lang="en-US" sz="2600" b="1" dirty="0">
                <a:solidFill>
                  <a:srgbClr val="0000FF"/>
                </a:solidFill>
                <a:latin typeface="Arial Narrow" pitchFamily="34" charset="0"/>
              </a:rPr>
              <a:t>between free electron theory and band </a:t>
            </a:r>
            <a:r>
              <a:rPr lang="en-US" sz="2600" b="1" dirty="0" smtClean="0">
                <a:solidFill>
                  <a:srgbClr val="0000FF"/>
                </a:solidFill>
                <a:latin typeface="Arial Narrow" pitchFamily="34" charset="0"/>
              </a:rPr>
              <a:t>theory of </a:t>
            </a:r>
            <a:r>
              <a:rPr lang="en-US" sz="2600" b="1" dirty="0">
                <a:solidFill>
                  <a:srgbClr val="0000FF"/>
                </a:solidFill>
                <a:latin typeface="Arial Narrow" pitchFamily="34" charset="0"/>
              </a:rPr>
              <a:t>solids, </a:t>
            </a:r>
          </a:p>
          <a:p>
            <a:pPr marL="285750" indent="-285750">
              <a:buFont typeface="Wingdings" pitchFamily="2" charset="2"/>
              <a:buChar char="q"/>
              <a:defRPr/>
            </a:pPr>
            <a:r>
              <a:rPr lang="en-US" sz="2600" b="1" dirty="0" smtClean="0">
                <a:solidFill>
                  <a:srgbClr val="0000FF"/>
                </a:solidFill>
                <a:latin typeface="Arial Narrow" pitchFamily="34" charset="0"/>
              </a:rPr>
              <a:t>Bonding </a:t>
            </a:r>
            <a:r>
              <a:rPr lang="en-US" sz="2600" b="1" dirty="0">
                <a:solidFill>
                  <a:srgbClr val="0000FF"/>
                </a:solidFill>
                <a:latin typeface="Arial Narrow" pitchFamily="34" charset="0"/>
              </a:rPr>
              <a:t>in metals and </a:t>
            </a:r>
            <a:r>
              <a:rPr lang="en-US" sz="2600" b="1" dirty="0" smtClean="0">
                <a:solidFill>
                  <a:srgbClr val="0000FF"/>
                </a:solidFill>
                <a:latin typeface="Arial Narrow" pitchFamily="34" charset="0"/>
              </a:rPr>
              <a:t>semiconductor Fermi </a:t>
            </a:r>
            <a:r>
              <a:rPr lang="en-US" sz="2600" b="1" dirty="0">
                <a:solidFill>
                  <a:srgbClr val="0000FF"/>
                </a:solidFill>
                <a:latin typeface="Arial Narrow" pitchFamily="34" charset="0"/>
              </a:rPr>
              <a:t>level, </a:t>
            </a:r>
            <a:r>
              <a:rPr lang="en-US" sz="2600" b="1" dirty="0" smtClean="0">
                <a:solidFill>
                  <a:srgbClr val="0000FF"/>
                </a:solidFill>
                <a:latin typeface="Arial Narrow" pitchFamily="34" charset="0"/>
              </a:rPr>
              <a:t>Doping</a:t>
            </a:r>
            <a:r>
              <a:rPr lang="en-US" sz="2600" b="1" dirty="0">
                <a:solidFill>
                  <a:srgbClr val="0000FF"/>
                </a:solidFill>
                <a:latin typeface="Arial Narrow" pitchFamily="34" charset="0"/>
              </a:rPr>
              <a:t>, </a:t>
            </a:r>
            <a:endParaRPr lang="en-US" sz="2600" b="1" dirty="0" smtClean="0">
              <a:solidFill>
                <a:srgbClr val="0000FF"/>
              </a:solidFill>
              <a:latin typeface="Arial Narrow" pitchFamily="34" charset="0"/>
            </a:endParaRPr>
          </a:p>
          <a:p>
            <a:pPr marL="285750" indent="-285750">
              <a:buFont typeface="Wingdings" pitchFamily="2" charset="2"/>
              <a:buChar char="q"/>
              <a:defRPr/>
            </a:pPr>
            <a:r>
              <a:rPr lang="en-US" sz="2600" b="1" dirty="0" smtClean="0">
                <a:solidFill>
                  <a:srgbClr val="0000FF"/>
                </a:solidFill>
                <a:latin typeface="Arial Narrow" pitchFamily="34" charset="0"/>
              </a:rPr>
              <a:t>P-type </a:t>
            </a:r>
            <a:r>
              <a:rPr lang="en-US" sz="2600" b="1" dirty="0">
                <a:solidFill>
                  <a:srgbClr val="0000FF"/>
                </a:solidFill>
                <a:latin typeface="Arial Narrow" pitchFamily="34" charset="0"/>
              </a:rPr>
              <a:t>and N-type semiconductor, </a:t>
            </a:r>
            <a:endParaRPr lang="en-US" sz="2600" b="1" dirty="0" smtClean="0">
              <a:solidFill>
                <a:srgbClr val="0000FF"/>
              </a:solidFill>
              <a:latin typeface="Arial Narrow" pitchFamily="34" charset="0"/>
            </a:endParaRPr>
          </a:p>
          <a:p>
            <a:pPr marL="285750" indent="-285750">
              <a:buFont typeface="Wingdings" pitchFamily="2" charset="2"/>
              <a:buChar char="q"/>
              <a:defRPr/>
            </a:pPr>
            <a:r>
              <a:rPr lang="en-US" sz="2600" b="1" dirty="0" smtClean="0">
                <a:solidFill>
                  <a:srgbClr val="0000FF"/>
                </a:solidFill>
                <a:latin typeface="Arial Narrow" pitchFamily="34" charset="0"/>
              </a:rPr>
              <a:t>Depleting zone</a:t>
            </a:r>
            <a:endParaRPr lang="en-US" sz="2600" b="1" dirty="0">
              <a:solidFill>
                <a:srgbClr val="0000FF"/>
              </a:solidFill>
              <a:latin typeface="Arial Narrow" pitchFamily="34" charset="0"/>
            </a:endParaRPr>
          </a:p>
          <a:p>
            <a:pPr marL="285750" indent="-285750">
              <a:buFont typeface="Wingdings" pitchFamily="2" charset="2"/>
              <a:buChar char="q"/>
              <a:defRPr/>
            </a:pPr>
            <a:r>
              <a:rPr lang="en-US" sz="2600" b="1" dirty="0" smtClean="0">
                <a:solidFill>
                  <a:srgbClr val="0000FF"/>
                </a:solidFill>
                <a:latin typeface="Arial Narrow" pitchFamily="34" charset="0"/>
              </a:rPr>
              <a:t>Importance </a:t>
            </a:r>
            <a:r>
              <a:rPr lang="en-US" sz="2600" b="1" dirty="0">
                <a:solidFill>
                  <a:srgbClr val="0000FF"/>
                </a:solidFill>
                <a:latin typeface="Arial Narrow" pitchFamily="34" charset="0"/>
              </a:rPr>
              <a:t>of metallic </a:t>
            </a:r>
            <a:r>
              <a:rPr lang="en-US" sz="2600" b="1" dirty="0" smtClean="0">
                <a:solidFill>
                  <a:srgbClr val="0000FF"/>
                </a:solidFill>
                <a:latin typeface="Arial Narrow" pitchFamily="34" charset="0"/>
              </a:rPr>
              <a:t>bond </a:t>
            </a:r>
            <a:r>
              <a:rPr lang="en-US" sz="2600" b="1" dirty="0">
                <a:solidFill>
                  <a:srgbClr val="0000FF"/>
                </a:solidFill>
                <a:latin typeface="Arial Narrow" pitchFamily="34" charset="0"/>
              </a:rPr>
              <a:t>theory in understanding the basic principles of </a:t>
            </a:r>
            <a:endParaRPr lang="en-US" sz="2600" b="1" dirty="0" smtClean="0">
              <a:solidFill>
                <a:srgbClr val="0000FF"/>
              </a:solidFill>
              <a:latin typeface="Arial Narrow" pitchFamily="34" charset="0"/>
            </a:endParaRPr>
          </a:p>
          <a:p>
            <a:pPr marL="285750" indent="-285750">
              <a:buFont typeface="Wingdings" pitchFamily="2" charset="2"/>
              <a:buChar char="q"/>
              <a:defRPr/>
            </a:pPr>
            <a:r>
              <a:rPr lang="en-US" sz="2600" b="1" dirty="0" smtClean="0">
                <a:solidFill>
                  <a:srgbClr val="0000FF"/>
                </a:solidFill>
                <a:latin typeface="Arial Narrow" pitchFamily="34" charset="0"/>
              </a:rPr>
              <a:t>Diode, LED </a:t>
            </a:r>
            <a:r>
              <a:rPr lang="en-US" sz="2600" b="1" dirty="0">
                <a:solidFill>
                  <a:srgbClr val="0000FF"/>
                </a:solidFill>
                <a:latin typeface="Arial Narrow" pitchFamily="34" charset="0"/>
              </a:rPr>
              <a:t>and </a:t>
            </a:r>
            <a:r>
              <a:rPr lang="en-US" sz="2600" b="1" dirty="0" smtClean="0">
                <a:solidFill>
                  <a:srgbClr val="0000FF"/>
                </a:solidFill>
                <a:latin typeface="Arial Narrow" pitchFamily="34" charset="0"/>
              </a:rPr>
              <a:t>Solar </a:t>
            </a:r>
            <a:r>
              <a:rPr lang="en-US" sz="2600" b="1" dirty="0">
                <a:solidFill>
                  <a:srgbClr val="0000FF"/>
                </a:solidFill>
                <a:latin typeface="Arial Narrow" pitchFamily="34" charset="0"/>
              </a:rPr>
              <a:t>cell</a:t>
            </a:r>
            <a:r>
              <a:rPr lang="en-US" sz="2600" b="1" dirty="0" smtClean="0">
                <a:solidFill>
                  <a:srgbClr val="0000FF"/>
                </a:solidFill>
                <a:latin typeface="Arial Narrow" pitchFamily="34" charset="0"/>
              </a:rPr>
              <a:t>.</a:t>
            </a:r>
          </a:p>
          <a:p>
            <a:pPr marL="285750" indent="-285750">
              <a:buFont typeface="Wingdings" pitchFamily="2" charset="2"/>
              <a:buChar char="q"/>
              <a:defRPr/>
            </a:pPr>
            <a:r>
              <a:rPr lang="en-US" sz="2600" b="1" dirty="0" smtClean="0">
                <a:solidFill>
                  <a:srgbClr val="0000FF"/>
                </a:solidFill>
                <a:latin typeface="Arial Narrow" pitchFamily="34" charset="0"/>
              </a:rPr>
              <a:t>Solid Solution </a:t>
            </a:r>
          </a:p>
          <a:p>
            <a:pPr marL="285750" indent="-285750">
              <a:buFont typeface="Wingdings" pitchFamily="2" charset="2"/>
              <a:buChar char="q"/>
              <a:defRPr/>
            </a:pPr>
            <a:r>
              <a:rPr lang="en-US" sz="2600" b="1" dirty="0" smtClean="0">
                <a:solidFill>
                  <a:srgbClr val="0000FF"/>
                </a:solidFill>
                <a:latin typeface="Arial Narrow" pitchFamily="34" charset="0"/>
              </a:rPr>
              <a:t>Imperfections in Solid </a:t>
            </a:r>
            <a:endParaRPr lang="en-US" sz="2600" b="1" dirty="0">
              <a:solidFill>
                <a:srgbClr val="0000FF"/>
              </a:solidFill>
              <a:latin typeface="Arial Narrow" pitchFamily="34" charset="0"/>
            </a:endParaRPr>
          </a:p>
          <a:p>
            <a:endParaRPr lang="en-US" dirty="0"/>
          </a:p>
        </p:txBody>
      </p:sp>
    </p:spTree>
    <p:extLst>
      <p:ext uri="{BB962C8B-B14F-4D97-AF65-F5344CB8AC3E}">
        <p14:creationId xmlns:p14="http://schemas.microsoft.com/office/powerpoint/2010/main" val="12785236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7520940" cy="609600"/>
          </a:xfrm>
        </p:spPr>
        <p:style>
          <a:lnRef idx="1">
            <a:schemeClr val="accent4"/>
          </a:lnRef>
          <a:fillRef idx="2">
            <a:schemeClr val="accent4"/>
          </a:fillRef>
          <a:effectRef idx="1">
            <a:schemeClr val="accent4"/>
          </a:effectRef>
          <a:fontRef idx="minor">
            <a:schemeClr val="dk1"/>
          </a:fontRef>
        </p:style>
        <p:txBody>
          <a:bodyPr>
            <a:normAutofit fontScale="90000"/>
          </a:bodyPr>
          <a:lstStyle/>
          <a:p>
            <a:pPr algn="ctr"/>
            <a:r>
              <a:rPr lang="en-US" dirty="0" smtClean="0">
                <a:solidFill>
                  <a:srgbClr val="0000FF"/>
                </a:solidFill>
                <a:latin typeface="Arial Narrow" pitchFamily="34" charset="0"/>
              </a:rPr>
              <a:t/>
            </a:r>
            <a:br>
              <a:rPr lang="en-US" dirty="0" smtClean="0">
                <a:solidFill>
                  <a:srgbClr val="0000FF"/>
                </a:solidFill>
                <a:latin typeface="Arial Narrow" pitchFamily="34" charset="0"/>
              </a:rPr>
            </a:br>
            <a:r>
              <a:rPr lang="en-US" b="1" dirty="0" smtClean="0">
                <a:solidFill>
                  <a:srgbClr val="FF0000"/>
                </a:solidFill>
                <a:latin typeface="Arial Narrow" pitchFamily="34" charset="0"/>
              </a:rPr>
              <a:t>What </a:t>
            </a:r>
            <a:r>
              <a:rPr lang="en-US" b="1" dirty="0">
                <a:solidFill>
                  <a:srgbClr val="FF0000"/>
                </a:solidFill>
                <a:latin typeface="Arial Narrow" pitchFamily="34" charset="0"/>
              </a:rPr>
              <a:t>is Alloys? </a:t>
            </a:r>
            <a:br>
              <a:rPr lang="en-US" b="1" dirty="0">
                <a:solidFill>
                  <a:srgbClr val="FF0000"/>
                </a:solidFill>
                <a:latin typeface="Arial Narrow" pitchFamily="34" charset="0"/>
              </a:rPr>
            </a:br>
            <a:endParaRPr lang="en-US" b="1" dirty="0">
              <a:solidFill>
                <a:srgbClr val="FF0000"/>
              </a:solidFill>
            </a:endParaRPr>
          </a:p>
        </p:txBody>
      </p:sp>
      <p:sp>
        <p:nvSpPr>
          <p:cNvPr id="3" name="Content Placeholder 2"/>
          <p:cNvSpPr>
            <a:spLocks noGrp="1"/>
          </p:cNvSpPr>
          <p:nvPr>
            <p:ph idx="1"/>
          </p:nvPr>
        </p:nvSpPr>
        <p:spPr>
          <a:xfrm>
            <a:off x="838200" y="1371600"/>
            <a:ext cx="7520940" cy="3579849"/>
          </a:xfrm>
        </p:spPr>
        <p:style>
          <a:lnRef idx="1">
            <a:schemeClr val="accent3"/>
          </a:lnRef>
          <a:fillRef idx="2">
            <a:schemeClr val="accent3"/>
          </a:fillRef>
          <a:effectRef idx="1">
            <a:schemeClr val="accent3"/>
          </a:effectRef>
          <a:fontRef idx="minor">
            <a:schemeClr val="dk1"/>
          </a:fontRef>
        </p:style>
        <p:txBody>
          <a:bodyPr>
            <a:normAutofit fontScale="92500" lnSpcReduction="10000"/>
          </a:bodyPr>
          <a:lstStyle/>
          <a:p>
            <a:pPr algn="just">
              <a:buFont typeface="Wingdings" pitchFamily="2" charset="2"/>
              <a:buChar char="q"/>
            </a:pPr>
            <a:r>
              <a:rPr lang="en-US" b="1" dirty="0">
                <a:solidFill>
                  <a:srgbClr val="0000FF"/>
                </a:solidFill>
              </a:rPr>
              <a:t>An </a:t>
            </a:r>
            <a:r>
              <a:rPr lang="en-US" b="1" i="1" dirty="0">
                <a:solidFill>
                  <a:srgbClr val="0000FF"/>
                </a:solidFill>
              </a:rPr>
              <a:t>alloy</a:t>
            </a:r>
            <a:r>
              <a:rPr lang="en-US" b="1" dirty="0">
                <a:solidFill>
                  <a:srgbClr val="0000FF"/>
                </a:solidFill>
              </a:rPr>
              <a:t> is a </a:t>
            </a:r>
            <a:r>
              <a:rPr lang="en-US" b="1" i="1" dirty="0">
                <a:solidFill>
                  <a:srgbClr val="0000FF"/>
                </a:solidFill>
              </a:rPr>
              <a:t>mixture</a:t>
            </a:r>
            <a:r>
              <a:rPr lang="en-US" b="1" dirty="0">
                <a:solidFill>
                  <a:srgbClr val="0000FF"/>
                </a:solidFill>
              </a:rPr>
              <a:t> of two or more </a:t>
            </a:r>
            <a:r>
              <a:rPr lang="en-US" b="1" i="1" dirty="0">
                <a:solidFill>
                  <a:srgbClr val="0000FF"/>
                </a:solidFill>
              </a:rPr>
              <a:t>elements</a:t>
            </a:r>
            <a:r>
              <a:rPr lang="en-US" b="1" dirty="0">
                <a:solidFill>
                  <a:srgbClr val="0000FF"/>
                </a:solidFill>
              </a:rPr>
              <a:t>, where at least one element is a </a:t>
            </a:r>
            <a:r>
              <a:rPr lang="en-US" b="1" i="1" dirty="0" smtClean="0">
                <a:solidFill>
                  <a:srgbClr val="0000FF"/>
                </a:solidFill>
              </a:rPr>
              <a:t>metal</a:t>
            </a:r>
            <a:r>
              <a:rPr lang="en-US" b="1" dirty="0" smtClean="0">
                <a:solidFill>
                  <a:srgbClr val="0000FF"/>
                </a:solidFill>
              </a:rPr>
              <a:t>. Many </a:t>
            </a:r>
            <a:r>
              <a:rPr lang="en-US" b="1" dirty="0">
                <a:solidFill>
                  <a:srgbClr val="0000FF"/>
                </a:solidFill>
              </a:rPr>
              <a:t>alloys are mixtures of two or more metals</a:t>
            </a:r>
            <a:r>
              <a:rPr lang="en-US" dirty="0"/>
              <a:t>.</a:t>
            </a:r>
            <a:endParaRPr lang="en-US" dirty="0" smtClean="0"/>
          </a:p>
          <a:p>
            <a:pPr algn="just">
              <a:buFont typeface="Wingdings" pitchFamily="2" charset="2"/>
              <a:buChar char="q"/>
            </a:pPr>
            <a:r>
              <a:rPr lang="en-US" sz="1800" b="1" dirty="0" smtClean="0">
                <a:solidFill>
                  <a:srgbClr val="FF0000"/>
                </a:solidFill>
              </a:rPr>
              <a:t>A </a:t>
            </a:r>
            <a:r>
              <a:rPr lang="en-US" sz="1800" b="1" dirty="0">
                <a:solidFill>
                  <a:srgbClr val="FF0000"/>
                </a:solidFill>
              </a:rPr>
              <a:t>substance composed of two or more metals or of a metal and a </a:t>
            </a:r>
            <a:r>
              <a:rPr lang="en-US" sz="1800" b="1" dirty="0" smtClean="0">
                <a:solidFill>
                  <a:srgbClr val="FF0000"/>
                </a:solidFill>
              </a:rPr>
              <a:t>nonmetal intimately </a:t>
            </a:r>
            <a:r>
              <a:rPr lang="en-US" sz="1800" b="1" dirty="0">
                <a:solidFill>
                  <a:srgbClr val="FF0000"/>
                </a:solidFill>
              </a:rPr>
              <a:t>united usually by being fused together and dissolving in </a:t>
            </a:r>
            <a:r>
              <a:rPr lang="en-US" sz="1800" b="1" dirty="0" smtClean="0">
                <a:solidFill>
                  <a:srgbClr val="FF0000"/>
                </a:solidFill>
              </a:rPr>
              <a:t>each other </a:t>
            </a:r>
            <a:r>
              <a:rPr lang="en-US" sz="1800" b="1" dirty="0">
                <a:solidFill>
                  <a:srgbClr val="FF0000"/>
                </a:solidFill>
              </a:rPr>
              <a:t>when </a:t>
            </a:r>
            <a:r>
              <a:rPr lang="en-US" sz="1800" b="1" dirty="0" smtClean="0">
                <a:solidFill>
                  <a:srgbClr val="FF0000"/>
                </a:solidFill>
              </a:rPr>
              <a:t>molten.</a:t>
            </a:r>
          </a:p>
          <a:p>
            <a:pPr algn="just">
              <a:buFont typeface="Wingdings" pitchFamily="2" charset="2"/>
              <a:buChar char="q"/>
            </a:pPr>
            <a:r>
              <a:rPr lang="en-US" sz="1800" b="1" dirty="0">
                <a:solidFill>
                  <a:srgbClr val="3333CC"/>
                </a:solidFill>
              </a:rPr>
              <a:t>Metal alloys emerge from the fusion of two or more elements to create a novel material.</a:t>
            </a:r>
            <a:endParaRPr lang="en-US" sz="1800" b="1" dirty="0" smtClean="0">
              <a:solidFill>
                <a:srgbClr val="3333CC"/>
              </a:solidFill>
            </a:endParaRPr>
          </a:p>
          <a:p>
            <a:pPr algn="just">
              <a:buFont typeface="Wingdings" pitchFamily="2" charset="2"/>
              <a:buChar char="q"/>
            </a:pPr>
            <a:r>
              <a:rPr lang="en-US" sz="1800" b="1" dirty="0" smtClean="0">
                <a:solidFill>
                  <a:srgbClr val="FF0000"/>
                </a:solidFill>
              </a:rPr>
              <a:t>Alloys </a:t>
            </a:r>
            <a:r>
              <a:rPr lang="en-US" sz="1800" b="1" dirty="0">
                <a:solidFill>
                  <a:srgbClr val="FF0000"/>
                </a:solidFill>
              </a:rPr>
              <a:t>of metals are often significantly stronger and harder than pure </a:t>
            </a:r>
            <a:r>
              <a:rPr lang="en-US" sz="1800" b="1" dirty="0" smtClean="0">
                <a:solidFill>
                  <a:srgbClr val="FF0000"/>
                </a:solidFill>
              </a:rPr>
              <a:t>metals because </a:t>
            </a:r>
            <a:r>
              <a:rPr lang="en-US" sz="1800" b="1" dirty="0">
                <a:solidFill>
                  <a:srgbClr val="FF0000"/>
                </a:solidFill>
              </a:rPr>
              <a:t>of their </a:t>
            </a:r>
            <a:r>
              <a:rPr lang="en-US" sz="1800" b="1" dirty="0" smtClean="0">
                <a:solidFill>
                  <a:srgbClr val="FF0000"/>
                </a:solidFill>
              </a:rPr>
              <a:t>tightly </a:t>
            </a:r>
            <a:r>
              <a:rPr lang="en-US" sz="1800" b="1" dirty="0">
                <a:solidFill>
                  <a:srgbClr val="FF0000"/>
                </a:solidFill>
              </a:rPr>
              <a:t>packed atoms</a:t>
            </a: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0" y="5181600"/>
            <a:ext cx="2286000"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188333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24800" cy="868362"/>
          </a:xfrm>
        </p:spPr>
        <p:style>
          <a:lnRef idx="1">
            <a:schemeClr val="accent3"/>
          </a:lnRef>
          <a:fillRef idx="2">
            <a:schemeClr val="accent3"/>
          </a:fillRef>
          <a:effectRef idx="1">
            <a:schemeClr val="accent3"/>
          </a:effectRef>
          <a:fontRef idx="minor">
            <a:schemeClr val="dk1"/>
          </a:fontRef>
        </p:style>
        <p:txBody>
          <a:bodyPr>
            <a:normAutofit fontScale="90000"/>
          </a:bodyPr>
          <a:lstStyle/>
          <a:p>
            <a:pPr algn="ctr"/>
            <a:r>
              <a:rPr lang="en-US" b="1" dirty="0" smtClean="0"/>
              <a:t/>
            </a:r>
            <a:br>
              <a:rPr lang="en-US" b="1" dirty="0" smtClean="0"/>
            </a:br>
            <a:r>
              <a:rPr lang="en-US" sz="2700" b="1" dirty="0" smtClean="0">
                <a:solidFill>
                  <a:srgbClr val="FF0000"/>
                </a:solidFill>
              </a:rPr>
              <a:t>Comparing </a:t>
            </a:r>
            <a:r>
              <a:rPr lang="en-US" sz="2700" b="1" dirty="0">
                <a:solidFill>
                  <a:srgbClr val="FF0000"/>
                </a:solidFill>
              </a:rPr>
              <a:t>properties of alloys and pure metals</a:t>
            </a:r>
            <a:r>
              <a:rPr lang="en-US" b="1" dirty="0">
                <a:solidFill>
                  <a:srgbClr val="0000FF"/>
                </a:solidFill>
              </a:rPr>
              <a:t/>
            </a:r>
            <a:br>
              <a:rPr lang="en-US" b="1" dirty="0">
                <a:solidFill>
                  <a:srgbClr val="0000FF"/>
                </a:solidFill>
              </a:rPr>
            </a:br>
            <a:endParaRPr lang="en-US" dirty="0">
              <a:solidFill>
                <a:srgbClr val="0000FF"/>
              </a:solidFill>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53471354"/>
              </p:ext>
            </p:extLst>
          </p:nvPr>
        </p:nvGraphicFramePr>
        <p:xfrm>
          <a:off x="457200" y="1524000"/>
          <a:ext cx="7924800" cy="4495803"/>
        </p:xfrm>
        <a:graphic>
          <a:graphicData uri="http://schemas.openxmlformats.org/drawingml/2006/table">
            <a:tbl>
              <a:tblPr/>
              <a:tblGrid>
                <a:gridCol w="2641600"/>
                <a:gridCol w="2641600"/>
                <a:gridCol w="2641600"/>
              </a:tblGrid>
              <a:tr h="1421995">
                <a:tc>
                  <a:txBody>
                    <a:bodyPr/>
                    <a:lstStyle/>
                    <a:p>
                      <a:r>
                        <a:rPr lang="en-US" sz="2400" b="1" dirty="0">
                          <a:solidFill>
                            <a:srgbClr val="7030A0"/>
                          </a:solidFill>
                        </a:rPr>
                        <a:t>Steel</a:t>
                      </a:r>
                    </a:p>
                  </a:txBody>
                  <a:tcPr anchor="ctr">
                    <a:lnL>
                      <a:noFill/>
                    </a:lnL>
                    <a:lnR>
                      <a:noFill/>
                    </a:lnR>
                    <a:lnT>
                      <a:noFill/>
                    </a:lnT>
                    <a:lnB>
                      <a:noFill/>
                    </a:lnB>
                    <a:solidFill>
                      <a:schemeClr val="accent1">
                        <a:lumMod val="40000"/>
                        <a:lumOff val="60000"/>
                      </a:schemeClr>
                    </a:solidFill>
                  </a:tcPr>
                </a:tc>
                <a:tc>
                  <a:txBody>
                    <a:bodyPr/>
                    <a:lstStyle/>
                    <a:p>
                      <a:r>
                        <a:rPr lang="en-US" sz="2400" b="1" dirty="0">
                          <a:solidFill>
                            <a:srgbClr val="7030A0"/>
                          </a:solidFill>
                        </a:rPr>
                        <a:t>Elements</a:t>
                      </a:r>
                    </a:p>
                  </a:txBody>
                  <a:tcPr anchor="ctr">
                    <a:lnL>
                      <a:noFill/>
                    </a:lnL>
                    <a:lnR>
                      <a:noFill/>
                    </a:lnR>
                    <a:lnT>
                      <a:noFill/>
                    </a:lnT>
                    <a:lnB>
                      <a:noFill/>
                    </a:lnB>
                    <a:solidFill>
                      <a:schemeClr val="accent1">
                        <a:lumMod val="40000"/>
                        <a:lumOff val="60000"/>
                      </a:schemeClr>
                    </a:solidFill>
                  </a:tcPr>
                </a:tc>
                <a:tc>
                  <a:txBody>
                    <a:bodyPr/>
                    <a:lstStyle/>
                    <a:p>
                      <a:r>
                        <a:rPr lang="en-US" sz="2400" b="1" dirty="0">
                          <a:solidFill>
                            <a:srgbClr val="7030A0"/>
                          </a:solidFill>
                        </a:rPr>
                        <a:t>Properties</a:t>
                      </a:r>
                    </a:p>
                  </a:txBody>
                  <a:tcPr anchor="ctr">
                    <a:lnL>
                      <a:noFill/>
                    </a:lnL>
                    <a:lnR>
                      <a:noFill/>
                    </a:lnR>
                    <a:lnT>
                      <a:noFill/>
                    </a:lnT>
                    <a:lnB>
                      <a:noFill/>
                    </a:lnB>
                    <a:solidFill>
                      <a:schemeClr val="accent1">
                        <a:lumMod val="40000"/>
                        <a:lumOff val="60000"/>
                      </a:schemeClr>
                    </a:solidFill>
                  </a:tcPr>
                </a:tc>
              </a:tr>
              <a:tr h="890543">
                <a:tc>
                  <a:txBody>
                    <a:bodyPr/>
                    <a:lstStyle/>
                    <a:p>
                      <a:r>
                        <a:rPr lang="en-US" sz="2400" b="1" dirty="0">
                          <a:solidFill>
                            <a:srgbClr val="7030A0"/>
                          </a:solidFill>
                        </a:rPr>
                        <a:t>Mild steel</a:t>
                      </a:r>
                    </a:p>
                  </a:txBody>
                  <a:tcPr anchor="ctr">
                    <a:lnL>
                      <a:noFill/>
                    </a:lnL>
                    <a:lnR>
                      <a:noFill/>
                    </a:lnR>
                    <a:lnT>
                      <a:noFill/>
                    </a:lnT>
                    <a:lnB>
                      <a:noFill/>
                    </a:lnB>
                    <a:solidFill>
                      <a:schemeClr val="accent1">
                        <a:lumMod val="40000"/>
                        <a:lumOff val="60000"/>
                      </a:schemeClr>
                    </a:solidFill>
                  </a:tcPr>
                </a:tc>
                <a:tc>
                  <a:txBody>
                    <a:bodyPr/>
                    <a:lstStyle/>
                    <a:p>
                      <a:r>
                        <a:rPr lang="en-US" sz="2400" b="1" dirty="0">
                          <a:solidFill>
                            <a:srgbClr val="7030A0"/>
                          </a:solidFill>
                        </a:rPr>
                        <a:t>Carbon and iron</a:t>
                      </a:r>
                    </a:p>
                  </a:txBody>
                  <a:tcPr anchor="ctr">
                    <a:lnL>
                      <a:noFill/>
                    </a:lnL>
                    <a:lnR>
                      <a:noFill/>
                    </a:lnR>
                    <a:lnT>
                      <a:noFill/>
                    </a:lnT>
                    <a:lnB>
                      <a:noFill/>
                    </a:lnB>
                    <a:solidFill>
                      <a:schemeClr val="accent1">
                        <a:lumMod val="40000"/>
                        <a:lumOff val="60000"/>
                      </a:schemeClr>
                    </a:solidFill>
                  </a:tcPr>
                </a:tc>
                <a:tc>
                  <a:txBody>
                    <a:bodyPr/>
                    <a:lstStyle/>
                    <a:p>
                      <a:r>
                        <a:rPr lang="en-US" sz="2400" b="1" dirty="0">
                          <a:solidFill>
                            <a:srgbClr val="7030A0"/>
                          </a:solidFill>
                        </a:rPr>
                        <a:t>Easy to bend and pull into wires</a:t>
                      </a:r>
                    </a:p>
                  </a:txBody>
                  <a:tcPr anchor="ctr">
                    <a:lnL>
                      <a:noFill/>
                    </a:lnL>
                    <a:lnR>
                      <a:noFill/>
                    </a:lnR>
                    <a:lnT>
                      <a:noFill/>
                    </a:lnT>
                    <a:lnB>
                      <a:noFill/>
                    </a:lnB>
                    <a:solidFill>
                      <a:schemeClr val="accent1">
                        <a:lumMod val="40000"/>
                        <a:lumOff val="60000"/>
                      </a:schemeClr>
                    </a:solidFill>
                  </a:tcPr>
                </a:tc>
              </a:tr>
              <a:tr h="1292722">
                <a:tc>
                  <a:txBody>
                    <a:bodyPr/>
                    <a:lstStyle/>
                    <a:p>
                      <a:r>
                        <a:rPr lang="en-US" sz="2400" b="1" dirty="0">
                          <a:solidFill>
                            <a:srgbClr val="7030A0"/>
                          </a:solidFill>
                        </a:rPr>
                        <a:t>Tool steel</a:t>
                      </a:r>
                    </a:p>
                  </a:txBody>
                  <a:tcPr anchor="ctr">
                    <a:lnL>
                      <a:noFill/>
                    </a:lnL>
                    <a:lnR>
                      <a:noFill/>
                    </a:lnR>
                    <a:lnT>
                      <a:noFill/>
                    </a:lnT>
                    <a:lnB>
                      <a:noFill/>
                    </a:lnB>
                    <a:solidFill>
                      <a:schemeClr val="accent1">
                        <a:lumMod val="40000"/>
                        <a:lumOff val="60000"/>
                      </a:schemeClr>
                    </a:solidFill>
                  </a:tcPr>
                </a:tc>
                <a:tc>
                  <a:txBody>
                    <a:bodyPr/>
                    <a:lstStyle/>
                    <a:p>
                      <a:r>
                        <a:rPr lang="en-US" sz="2400" b="1" dirty="0">
                          <a:solidFill>
                            <a:srgbClr val="7030A0"/>
                          </a:solidFill>
                        </a:rPr>
                        <a:t>Tungsten and iron</a:t>
                      </a:r>
                    </a:p>
                  </a:txBody>
                  <a:tcPr anchor="ctr">
                    <a:lnL>
                      <a:noFill/>
                    </a:lnL>
                    <a:lnR>
                      <a:noFill/>
                    </a:lnR>
                    <a:lnT>
                      <a:noFill/>
                    </a:lnT>
                    <a:lnB>
                      <a:noFill/>
                    </a:lnB>
                    <a:solidFill>
                      <a:schemeClr val="accent1">
                        <a:lumMod val="40000"/>
                        <a:lumOff val="60000"/>
                      </a:schemeClr>
                    </a:solidFill>
                  </a:tcPr>
                </a:tc>
                <a:tc>
                  <a:txBody>
                    <a:bodyPr/>
                    <a:lstStyle/>
                    <a:p>
                      <a:r>
                        <a:rPr lang="en-US" sz="2400" b="1" dirty="0">
                          <a:solidFill>
                            <a:srgbClr val="7030A0"/>
                          </a:solidFill>
                        </a:rPr>
                        <a:t>Hard, can be heated to high temperatures</a:t>
                      </a:r>
                    </a:p>
                  </a:txBody>
                  <a:tcPr anchor="ctr">
                    <a:lnL>
                      <a:noFill/>
                    </a:lnL>
                    <a:lnR>
                      <a:noFill/>
                    </a:lnR>
                    <a:lnT>
                      <a:noFill/>
                    </a:lnT>
                    <a:lnB>
                      <a:noFill/>
                    </a:lnB>
                    <a:solidFill>
                      <a:schemeClr val="accent1">
                        <a:lumMod val="40000"/>
                        <a:lumOff val="60000"/>
                      </a:schemeClr>
                    </a:solidFill>
                  </a:tcPr>
                </a:tc>
              </a:tr>
              <a:tr h="890543">
                <a:tc>
                  <a:txBody>
                    <a:bodyPr/>
                    <a:lstStyle/>
                    <a:p>
                      <a:r>
                        <a:rPr lang="en-US" sz="2400" b="1" dirty="0">
                          <a:solidFill>
                            <a:srgbClr val="7030A0"/>
                          </a:solidFill>
                        </a:rPr>
                        <a:t>Stainless steel</a:t>
                      </a:r>
                    </a:p>
                  </a:txBody>
                  <a:tcPr anchor="ctr">
                    <a:lnL>
                      <a:noFill/>
                    </a:lnL>
                    <a:lnR>
                      <a:noFill/>
                    </a:lnR>
                    <a:lnT>
                      <a:noFill/>
                    </a:lnT>
                    <a:lnB>
                      <a:noFill/>
                    </a:lnB>
                    <a:solidFill>
                      <a:schemeClr val="accent1">
                        <a:lumMod val="40000"/>
                        <a:lumOff val="60000"/>
                      </a:schemeClr>
                    </a:solidFill>
                  </a:tcPr>
                </a:tc>
                <a:tc>
                  <a:txBody>
                    <a:bodyPr/>
                    <a:lstStyle/>
                    <a:p>
                      <a:r>
                        <a:rPr lang="en-US" sz="2400" b="1" dirty="0">
                          <a:solidFill>
                            <a:srgbClr val="7030A0"/>
                          </a:solidFill>
                        </a:rPr>
                        <a:t>Chromium and iron</a:t>
                      </a:r>
                    </a:p>
                  </a:txBody>
                  <a:tcPr anchor="ctr">
                    <a:lnL>
                      <a:noFill/>
                    </a:lnL>
                    <a:lnR>
                      <a:noFill/>
                    </a:lnR>
                    <a:lnT>
                      <a:noFill/>
                    </a:lnT>
                    <a:lnB>
                      <a:noFill/>
                    </a:lnB>
                    <a:solidFill>
                      <a:schemeClr val="accent1">
                        <a:lumMod val="40000"/>
                        <a:lumOff val="60000"/>
                      </a:schemeClr>
                    </a:solidFill>
                  </a:tcPr>
                </a:tc>
                <a:tc>
                  <a:txBody>
                    <a:bodyPr/>
                    <a:lstStyle/>
                    <a:p>
                      <a:r>
                        <a:rPr lang="en-US" sz="2400" b="1" dirty="0">
                          <a:solidFill>
                            <a:srgbClr val="7030A0"/>
                          </a:solidFill>
                        </a:rPr>
                        <a:t>Hard, does not rust easily</a:t>
                      </a:r>
                    </a:p>
                  </a:txBody>
                  <a:tcPr anchor="ctr">
                    <a:lnL>
                      <a:noFill/>
                    </a:lnL>
                    <a:lnR>
                      <a:noFill/>
                    </a:lnR>
                    <a:lnT>
                      <a:noFill/>
                    </a:lnT>
                    <a:lnB>
                      <a:noFill/>
                    </a:lnB>
                    <a:solidFill>
                      <a:schemeClr val="accent1">
                        <a:lumMod val="40000"/>
                        <a:lumOff val="60000"/>
                      </a:schemeClr>
                    </a:solidFill>
                  </a:tcPr>
                </a:tc>
              </a:tr>
            </a:tbl>
          </a:graphicData>
        </a:graphic>
      </p:graphicFrame>
    </p:spTree>
    <p:extLst>
      <p:ext uri="{BB962C8B-B14F-4D97-AF65-F5344CB8AC3E}">
        <p14:creationId xmlns:p14="http://schemas.microsoft.com/office/powerpoint/2010/main" val="698061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400" b="1" dirty="0" smtClean="0">
                <a:solidFill>
                  <a:srgbClr val="FF0000"/>
                </a:solidFill>
              </a:rPr>
              <a:t/>
            </a:r>
            <a:br>
              <a:rPr lang="en-US" sz="2400" b="1" dirty="0" smtClean="0">
                <a:solidFill>
                  <a:srgbClr val="FF0000"/>
                </a:solidFill>
              </a:rPr>
            </a:br>
            <a:r>
              <a:rPr lang="en-US" sz="2800" b="1" dirty="0" smtClean="0">
                <a:solidFill>
                  <a:srgbClr val="FF0000"/>
                </a:solidFill>
              </a:rPr>
              <a:t>What is Metallic Bond?</a:t>
            </a:r>
            <a:br>
              <a:rPr lang="en-US" sz="2800" b="1" dirty="0" smtClean="0">
                <a:solidFill>
                  <a:srgbClr val="FF0000"/>
                </a:solidFill>
              </a:rPr>
            </a:br>
            <a:endParaRPr lang="en-US" sz="2800" b="1" dirty="0">
              <a:solidFill>
                <a:srgbClr val="FF0000"/>
              </a:solidFill>
            </a:endParaRPr>
          </a:p>
        </p:txBody>
      </p:sp>
      <p:sp>
        <p:nvSpPr>
          <p:cNvPr id="3" name="Content Placeholder 2"/>
          <p:cNvSpPr>
            <a:spLocks noGrp="1"/>
          </p:cNvSpPr>
          <p:nvPr>
            <p:ph idx="1"/>
          </p:nvPr>
        </p:nvSpPr>
        <p:spPr/>
        <p:style>
          <a:lnRef idx="1">
            <a:schemeClr val="accent4"/>
          </a:lnRef>
          <a:fillRef idx="2">
            <a:schemeClr val="accent4"/>
          </a:fillRef>
          <a:effectRef idx="1">
            <a:schemeClr val="accent4"/>
          </a:effectRef>
          <a:fontRef idx="minor">
            <a:schemeClr val="dk1"/>
          </a:fontRef>
        </p:style>
        <p:txBody>
          <a:bodyPr>
            <a:normAutofit/>
          </a:bodyPr>
          <a:lstStyle/>
          <a:p>
            <a:r>
              <a:rPr lang="en-US" sz="2400" dirty="0" smtClean="0">
                <a:solidFill>
                  <a:srgbClr val="0000FF"/>
                </a:solidFill>
              </a:rPr>
              <a:t>A metallic bond is a force that binds several metal atoms</a:t>
            </a:r>
          </a:p>
          <a:p>
            <a:r>
              <a:rPr lang="en-US" sz="2400" dirty="0" smtClean="0">
                <a:solidFill>
                  <a:srgbClr val="0000FF"/>
                </a:solidFill>
              </a:rPr>
              <a:t> together in a metallic solid.</a:t>
            </a:r>
            <a:endParaRPr lang="en-US" sz="2400" dirty="0">
              <a:solidFill>
                <a:srgbClr val="0000FF"/>
              </a:solidFill>
            </a:endParaRPr>
          </a:p>
        </p:txBody>
      </p:sp>
      <p:pic>
        <p:nvPicPr>
          <p:cNvPr id="1638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colorTemperature colorTemp="112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990600" y="2743200"/>
            <a:ext cx="7162800" cy="2971800"/>
          </a:xfrm>
          <a:prstGeom prst="rect">
            <a:avLst/>
          </a:prstGeom>
          <a:ln/>
          <a:extLst/>
        </p:spPr>
        <p:style>
          <a:lnRef idx="1">
            <a:schemeClr val="accent3"/>
          </a:lnRef>
          <a:fillRef idx="2">
            <a:schemeClr val="accent3"/>
          </a:fillRef>
          <a:effectRef idx="1">
            <a:schemeClr val="accent3"/>
          </a:effectRef>
          <a:fontRef idx="minor">
            <a:schemeClr val="dk1"/>
          </a:fontRef>
        </p:style>
      </p:pic>
    </p:spTree>
    <p:extLst>
      <p:ext uri="{BB962C8B-B14F-4D97-AF65-F5344CB8AC3E}">
        <p14:creationId xmlns:p14="http://schemas.microsoft.com/office/powerpoint/2010/main" val="269648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pic>
        <p:nvPicPr>
          <p:cNvPr id="1026" name="Picture 2" descr="https://slideplayer.com/slide/3426953/12/images/2/Physical+Properties+of+Metals.jpg"/>
          <p:cNvPicPr>
            <a:picLocks noChangeAspect="1" noChangeArrowheads="1"/>
          </p:cNvPicPr>
          <p:nvPr/>
        </p:nvPicPr>
        <p:blipFill>
          <a:blip r:embed="rId2">
            <a:duotone>
              <a:prstClr val="black"/>
              <a:schemeClr val="accent5">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533399" y="228600"/>
            <a:ext cx="8162925" cy="6124575"/>
          </a:xfrm>
          <a:prstGeom prst="rect">
            <a:avLst/>
          </a:prstGeom>
          <a:extLst/>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32896943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p:cNvGraphicFramePr/>
          <p:nvPr>
            <p:extLst>
              <p:ext uri="{D42A27DB-BD31-4B8C-83A1-F6EECF244321}">
                <p14:modId xmlns:p14="http://schemas.microsoft.com/office/powerpoint/2010/main" val="212193915"/>
              </p:ext>
            </p:extLst>
          </p:nvPr>
        </p:nvGraphicFramePr>
        <p:xfrm>
          <a:off x="1524000" y="9144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07454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normAutofit/>
          </a:bodyPr>
          <a:lstStyle/>
          <a:p>
            <a:r>
              <a:rPr lang="en-US" b="1" dirty="0">
                <a:solidFill>
                  <a:srgbClr val="0000FF"/>
                </a:solidFill>
              </a:rPr>
              <a:t>1. What is the Electron Sea Model</a:t>
            </a:r>
            <a:r>
              <a:rPr lang="en-US" b="1" dirty="0" smtClean="0">
                <a:solidFill>
                  <a:srgbClr val="0000FF"/>
                </a:solidFill>
              </a:rPr>
              <a:t>?</a:t>
            </a:r>
            <a:endParaRPr lang="en-US" dirty="0">
              <a:solidFill>
                <a:srgbClr val="0000FF"/>
              </a:solidFill>
            </a:endParaRPr>
          </a:p>
        </p:txBody>
      </p:sp>
      <p:sp>
        <p:nvSpPr>
          <p:cNvPr id="3" name="Content Placeholder 2"/>
          <p:cNvSpPr>
            <a:spLocks noGrp="1"/>
          </p:cNvSpPr>
          <p:nvPr>
            <p:ph idx="1"/>
          </p:nvPr>
        </p:nvSpPr>
        <p:spPr>
          <a:xfrm>
            <a:off x="822960" y="1676400"/>
            <a:ext cx="7520940" cy="4724400"/>
          </a:xfrm>
        </p:spPr>
        <p:style>
          <a:lnRef idx="1">
            <a:schemeClr val="accent4"/>
          </a:lnRef>
          <a:fillRef idx="2">
            <a:schemeClr val="accent4"/>
          </a:fillRef>
          <a:effectRef idx="1">
            <a:schemeClr val="accent4"/>
          </a:effectRef>
          <a:fontRef idx="minor">
            <a:schemeClr val="dk1"/>
          </a:fontRef>
        </p:style>
        <p:txBody>
          <a:bodyPr>
            <a:noAutofit/>
          </a:bodyPr>
          <a:lstStyle/>
          <a:p>
            <a:pPr marL="0" indent="0" algn="just"/>
            <a:r>
              <a:rPr lang="en-US" sz="2400" dirty="0" smtClean="0"/>
              <a:t>The </a:t>
            </a:r>
            <a:r>
              <a:rPr lang="en-US" sz="2400" b="1" dirty="0"/>
              <a:t>Electron Sea Model</a:t>
            </a:r>
            <a:r>
              <a:rPr lang="en-US" sz="2400" dirty="0"/>
              <a:t> suggests that:</a:t>
            </a:r>
          </a:p>
          <a:p>
            <a:pPr marL="457200" indent="-457200" algn="just">
              <a:buFont typeface="+mj-lt"/>
              <a:buAutoNum type="alphaUcPeriod"/>
            </a:pPr>
            <a:r>
              <a:rPr lang="en-US" sz="2400" b="1" dirty="0">
                <a:solidFill>
                  <a:srgbClr val="0000FF"/>
                </a:solidFill>
              </a:rPr>
              <a:t>Metal atoms lose their outer (valence) electrons</a:t>
            </a:r>
            <a:r>
              <a:rPr lang="en-US" sz="2400" dirty="0"/>
              <a:t>, which become </a:t>
            </a:r>
            <a:r>
              <a:rPr lang="en-US" sz="2400" b="1" dirty="0">
                <a:solidFill>
                  <a:srgbClr val="FF0000"/>
                </a:solidFill>
              </a:rPr>
              <a:t>delocalized</a:t>
            </a:r>
            <a:r>
              <a:rPr lang="en-US" sz="2400" dirty="0"/>
              <a:t> (not attached to any one atom).</a:t>
            </a:r>
          </a:p>
          <a:p>
            <a:pPr marL="457200" indent="-457200" algn="just">
              <a:buFont typeface="+mj-lt"/>
              <a:buAutoNum type="alphaUcPeriod"/>
            </a:pPr>
            <a:r>
              <a:rPr lang="en-US" sz="2400" dirty="0"/>
              <a:t>These </a:t>
            </a:r>
            <a:r>
              <a:rPr lang="en-US" sz="2400" b="1" dirty="0">
                <a:solidFill>
                  <a:srgbClr val="FF0000"/>
                </a:solidFill>
              </a:rPr>
              <a:t>free-moving electrons</a:t>
            </a:r>
            <a:r>
              <a:rPr lang="en-US" sz="2400" dirty="0">
                <a:solidFill>
                  <a:srgbClr val="FF0000"/>
                </a:solidFill>
              </a:rPr>
              <a:t> </a:t>
            </a:r>
            <a:r>
              <a:rPr lang="en-US" sz="2400" dirty="0"/>
              <a:t>form a </a:t>
            </a:r>
            <a:r>
              <a:rPr lang="en-US" sz="2400" b="1" dirty="0">
                <a:solidFill>
                  <a:srgbClr val="0000FF"/>
                </a:solidFill>
              </a:rPr>
              <a:t>“sea” </a:t>
            </a:r>
            <a:r>
              <a:rPr lang="en-US" sz="2400" b="1" dirty="0"/>
              <a:t>of electrons</a:t>
            </a:r>
            <a:r>
              <a:rPr lang="en-US" sz="2400" dirty="0"/>
              <a:t> that surrounds </a:t>
            </a:r>
            <a:r>
              <a:rPr lang="en-US" sz="2400" b="1" dirty="0"/>
              <a:t>positively charged metal ions</a:t>
            </a:r>
            <a:r>
              <a:rPr lang="en-US" sz="2400" dirty="0"/>
              <a:t> (</a:t>
            </a:r>
            <a:r>
              <a:rPr lang="en-US" sz="2400" dirty="0" err="1">
                <a:solidFill>
                  <a:srgbClr val="FF0000"/>
                </a:solidFill>
              </a:rPr>
              <a:t>cations</a:t>
            </a:r>
            <a:r>
              <a:rPr lang="en-US" sz="2400" dirty="0"/>
              <a:t>).</a:t>
            </a:r>
          </a:p>
          <a:p>
            <a:pPr marL="457200" indent="-457200" algn="just">
              <a:buFont typeface="+mj-lt"/>
              <a:buAutoNum type="alphaUcPeriod"/>
            </a:pPr>
            <a:r>
              <a:rPr lang="en-US" sz="2400" dirty="0"/>
              <a:t>This creates a strong </a:t>
            </a:r>
            <a:r>
              <a:rPr lang="en-US" sz="2400" b="1" dirty="0"/>
              <a:t>electrostatic attraction</a:t>
            </a:r>
            <a:r>
              <a:rPr lang="en-US" sz="2400" dirty="0"/>
              <a:t> between the </a:t>
            </a:r>
            <a:r>
              <a:rPr lang="en-US" sz="2400" dirty="0">
                <a:solidFill>
                  <a:srgbClr val="FF0000"/>
                </a:solidFill>
              </a:rPr>
              <a:t>negative electron sea </a:t>
            </a:r>
            <a:r>
              <a:rPr lang="en-US" sz="2400" dirty="0">
                <a:solidFill>
                  <a:srgbClr val="0000FF"/>
                </a:solidFill>
              </a:rPr>
              <a:t>and the positive metal ions.</a:t>
            </a:r>
          </a:p>
          <a:p>
            <a:pPr algn="just"/>
            <a:endParaRPr lang="en-US" sz="2400" dirty="0"/>
          </a:p>
        </p:txBody>
      </p:sp>
    </p:spTree>
    <p:extLst>
      <p:ext uri="{BB962C8B-B14F-4D97-AF65-F5344CB8AC3E}">
        <p14:creationId xmlns:p14="http://schemas.microsoft.com/office/powerpoint/2010/main" val="3382744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81000"/>
            <a:ext cx="6094413" cy="609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54676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What are some ways to describe metallic bonding? - Quor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402" y="685800"/>
            <a:ext cx="7382299" cy="40386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54833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lstStyle/>
          <a:p>
            <a:r>
              <a:rPr b="1" dirty="0">
                <a:solidFill>
                  <a:srgbClr val="002060"/>
                </a:solidFill>
              </a:rPr>
              <a:t>2. Structural Representation</a:t>
            </a:r>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pPr marL="0" indent="0">
              <a:buNone/>
            </a:pPr>
            <a:r>
              <a:rPr dirty="0"/>
              <a:t>• </a:t>
            </a:r>
            <a:r>
              <a:rPr b="1" dirty="0">
                <a:solidFill>
                  <a:srgbClr val="C00000"/>
                </a:solidFill>
              </a:rPr>
              <a:t>Metal ions arranged in a fixed lattice</a:t>
            </a:r>
          </a:p>
          <a:p>
            <a:pPr marL="0" indent="0">
              <a:buNone/>
            </a:pPr>
            <a:r>
              <a:rPr b="1" dirty="0">
                <a:solidFill>
                  <a:srgbClr val="C00000"/>
                </a:solidFill>
              </a:rPr>
              <a:t>• Free-moving electrons surround them</a:t>
            </a:r>
          </a:p>
          <a:p>
            <a:pPr marL="0" indent="0">
              <a:buNone/>
            </a:pPr>
            <a:r>
              <a:rPr b="1" dirty="0">
                <a:solidFill>
                  <a:srgbClr val="C00000"/>
                </a:solidFill>
              </a:rPr>
              <a:t>• Electrons act as a glue to bind the structure</a:t>
            </a:r>
          </a:p>
        </p:txBody>
      </p:sp>
    </p:spTree>
    <p:extLst>
      <p:ext uri="{BB962C8B-B14F-4D97-AF65-F5344CB8AC3E}">
        <p14:creationId xmlns:p14="http://schemas.microsoft.com/office/powerpoint/2010/main" val="11033823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noAutofit/>
          </a:bodyPr>
          <a:lstStyle/>
          <a:p>
            <a:r>
              <a:rPr sz="2400" b="1" dirty="0">
                <a:solidFill>
                  <a:srgbClr val="002060"/>
                </a:solidFill>
              </a:rPr>
              <a:t>3. Properties Explained by Electron Sea Model</a:t>
            </a:r>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pPr marL="0" indent="0">
              <a:buNone/>
            </a:pPr>
            <a:r>
              <a:rPr b="1" dirty="0">
                <a:solidFill>
                  <a:srgbClr val="FF0000"/>
                </a:solidFill>
              </a:rPr>
              <a:t>• Electrical conductivity – Free electrons carry charge</a:t>
            </a:r>
          </a:p>
          <a:p>
            <a:pPr marL="0" indent="0">
              <a:buNone/>
            </a:pPr>
            <a:r>
              <a:rPr b="1" dirty="0">
                <a:solidFill>
                  <a:srgbClr val="FF0000"/>
                </a:solidFill>
              </a:rPr>
              <a:t>• Thermal conductivity – Electrons transfer heat</a:t>
            </a:r>
          </a:p>
          <a:p>
            <a:pPr marL="0" indent="0">
              <a:buNone/>
            </a:pPr>
            <a:r>
              <a:rPr b="1" dirty="0">
                <a:solidFill>
                  <a:srgbClr val="FF0000"/>
                </a:solidFill>
              </a:rPr>
              <a:t>• Luster – Electrons reflect light</a:t>
            </a:r>
          </a:p>
          <a:p>
            <a:pPr marL="0" indent="0">
              <a:buNone/>
            </a:pPr>
            <a:r>
              <a:rPr b="1" dirty="0">
                <a:solidFill>
                  <a:srgbClr val="FF0000"/>
                </a:solidFill>
              </a:rPr>
              <a:t>• Malleability – Ions slide, bond remains</a:t>
            </a:r>
          </a:p>
          <a:p>
            <a:pPr marL="0" indent="0">
              <a:buNone/>
            </a:pPr>
            <a:r>
              <a:rPr b="1" dirty="0">
                <a:solidFill>
                  <a:srgbClr val="FF0000"/>
                </a:solidFill>
              </a:rPr>
              <a:t>• High melting point – Strong electrostatic attraction</a:t>
            </a:r>
          </a:p>
        </p:txBody>
      </p:sp>
    </p:spTree>
    <p:extLst>
      <p:ext uri="{BB962C8B-B14F-4D97-AF65-F5344CB8AC3E}">
        <p14:creationId xmlns:p14="http://schemas.microsoft.com/office/powerpoint/2010/main" val="301780462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normAutofit/>
          </a:bodyPr>
          <a:lstStyle/>
          <a:p>
            <a:r>
              <a:rPr b="1" dirty="0">
                <a:solidFill>
                  <a:srgbClr val="002060"/>
                </a:solidFill>
              </a:rPr>
              <a:t>4. Example: Sodium (Na) Metal</a:t>
            </a:r>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pPr marL="0" indent="0">
              <a:buNone/>
            </a:pPr>
            <a:r>
              <a:rPr dirty="0">
                <a:solidFill>
                  <a:srgbClr val="FF0000"/>
                </a:solidFill>
              </a:rPr>
              <a:t>• </a:t>
            </a:r>
            <a:r>
              <a:rPr b="1" dirty="0">
                <a:solidFill>
                  <a:srgbClr val="FF0000"/>
                </a:solidFill>
              </a:rPr>
              <a:t>Each Na atom donates 1 valence electron</a:t>
            </a:r>
          </a:p>
          <a:p>
            <a:pPr marL="0" indent="0">
              <a:buNone/>
            </a:pPr>
            <a:r>
              <a:rPr b="1" dirty="0">
                <a:solidFill>
                  <a:srgbClr val="FF0000"/>
                </a:solidFill>
              </a:rPr>
              <a:t>• Na⁺ ions form a lattice</a:t>
            </a:r>
          </a:p>
          <a:p>
            <a:pPr marL="0" indent="0">
              <a:buNone/>
            </a:pPr>
            <a:r>
              <a:rPr b="1" dirty="0">
                <a:solidFill>
                  <a:srgbClr val="FF0000"/>
                </a:solidFill>
              </a:rPr>
              <a:t>• Electrons ensure conductivity and softness</a:t>
            </a:r>
          </a:p>
        </p:txBody>
      </p:sp>
    </p:spTree>
    <p:extLst>
      <p:ext uri="{BB962C8B-B14F-4D97-AF65-F5344CB8AC3E}">
        <p14:creationId xmlns:p14="http://schemas.microsoft.com/office/powerpoint/2010/main" val="29909025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lstStyle/>
          <a:p>
            <a:r>
              <a:rPr b="1" dirty="0">
                <a:solidFill>
                  <a:srgbClr val="002060"/>
                </a:solidFill>
              </a:rPr>
              <a:t>5. Limitations of the Model</a:t>
            </a:r>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pPr marL="0" indent="0">
              <a:buNone/>
            </a:pPr>
            <a:r>
              <a:rPr dirty="0"/>
              <a:t>• </a:t>
            </a:r>
            <a:r>
              <a:rPr b="1" dirty="0">
                <a:solidFill>
                  <a:srgbClr val="FF0000"/>
                </a:solidFill>
              </a:rPr>
              <a:t>Doesn’t explain all differences in metal properties</a:t>
            </a:r>
          </a:p>
          <a:p>
            <a:pPr marL="0" indent="0">
              <a:buNone/>
            </a:pPr>
            <a:r>
              <a:rPr b="1" dirty="0">
                <a:solidFill>
                  <a:srgbClr val="FF0000"/>
                </a:solidFill>
              </a:rPr>
              <a:t>• Doesn’t consider quantum behavior</a:t>
            </a:r>
          </a:p>
          <a:p>
            <a:pPr marL="0" indent="0">
              <a:buNone/>
            </a:pPr>
            <a:r>
              <a:rPr b="1" dirty="0">
                <a:solidFill>
                  <a:srgbClr val="FF0000"/>
                </a:solidFill>
              </a:rPr>
              <a:t>• Band theory provides more accuracy</a:t>
            </a:r>
          </a:p>
        </p:txBody>
      </p:sp>
    </p:spTree>
    <p:extLst>
      <p:ext uri="{BB962C8B-B14F-4D97-AF65-F5344CB8AC3E}">
        <p14:creationId xmlns:p14="http://schemas.microsoft.com/office/powerpoint/2010/main" val="37890750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normAutofit/>
          </a:bodyPr>
          <a:lstStyle/>
          <a:p>
            <a:r>
              <a:rPr lang="en-US" sz="4000" b="1" dirty="0" smtClean="0">
                <a:solidFill>
                  <a:srgbClr val="0000FF"/>
                </a:solidFill>
              </a:rPr>
              <a:t>6. Visual </a:t>
            </a:r>
            <a:r>
              <a:rPr lang="en-US" sz="4000" b="1" dirty="0">
                <a:solidFill>
                  <a:srgbClr val="0000FF"/>
                </a:solidFill>
              </a:rPr>
              <a:t>Summary (Concept Map)</a:t>
            </a:r>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normAutofit fontScale="92500" lnSpcReduction="20000"/>
          </a:bodyPr>
          <a:lstStyle/>
          <a:p>
            <a:pPr>
              <a:buFont typeface="Wingdings" pitchFamily="2" charset="2"/>
              <a:buChar char="q"/>
            </a:pPr>
            <a:r>
              <a:rPr lang="en-US" b="1" dirty="0">
                <a:solidFill>
                  <a:srgbClr val="FF0000"/>
                </a:solidFill>
              </a:rPr>
              <a:t>Metal Atom → Loses Electron → Forms Positive Ion (</a:t>
            </a:r>
            <a:r>
              <a:rPr lang="en-US" b="1" dirty="0" err="1">
                <a:solidFill>
                  <a:srgbClr val="FF0000"/>
                </a:solidFill>
              </a:rPr>
              <a:t>Cation</a:t>
            </a:r>
            <a:r>
              <a:rPr lang="en-US" b="1" dirty="0">
                <a:solidFill>
                  <a:srgbClr val="FF0000"/>
                </a:solidFill>
              </a:rPr>
              <a:t>)</a:t>
            </a:r>
          </a:p>
          <a:p>
            <a:pPr>
              <a:buFont typeface="Wingdings" pitchFamily="2" charset="2"/>
              <a:buChar char="q"/>
            </a:pPr>
            <a:r>
              <a:rPr lang="en-US" dirty="0"/>
              <a:t>↓</a:t>
            </a:r>
          </a:p>
          <a:p>
            <a:pPr>
              <a:buFont typeface="Wingdings" pitchFamily="2" charset="2"/>
              <a:buChar char="q"/>
            </a:pPr>
            <a:r>
              <a:rPr lang="en-US" b="1" dirty="0">
                <a:solidFill>
                  <a:srgbClr val="002060"/>
                </a:solidFill>
              </a:rPr>
              <a:t>Electron Sea → Delocalized Electrons Flow Freely</a:t>
            </a:r>
          </a:p>
          <a:p>
            <a:pPr>
              <a:buFont typeface="Wingdings" pitchFamily="2" charset="2"/>
              <a:buChar char="q"/>
            </a:pPr>
            <a:r>
              <a:rPr lang="en-US" dirty="0"/>
              <a:t>↓</a:t>
            </a:r>
          </a:p>
          <a:p>
            <a:pPr>
              <a:buFont typeface="Wingdings" pitchFamily="2" charset="2"/>
              <a:buChar char="q"/>
            </a:pPr>
            <a:r>
              <a:rPr lang="en-US" b="1" dirty="0">
                <a:solidFill>
                  <a:srgbClr val="7030A0"/>
                </a:solidFill>
              </a:rPr>
              <a:t>Electrostatic Attraction between </a:t>
            </a:r>
            <a:r>
              <a:rPr lang="en-US" b="1" dirty="0" err="1">
                <a:solidFill>
                  <a:srgbClr val="7030A0"/>
                </a:solidFill>
              </a:rPr>
              <a:t>Cations</a:t>
            </a:r>
            <a:r>
              <a:rPr lang="en-US" b="1" dirty="0">
                <a:solidFill>
                  <a:srgbClr val="7030A0"/>
                </a:solidFill>
              </a:rPr>
              <a:t> and Electron Sea → Metallic Bond</a:t>
            </a:r>
          </a:p>
          <a:p>
            <a:pPr>
              <a:buFont typeface="Wingdings" pitchFamily="2" charset="2"/>
              <a:buChar char="q"/>
            </a:pPr>
            <a:r>
              <a:rPr lang="en-US" dirty="0"/>
              <a:t>↓</a:t>
            </a:r>
          </a:p>
          <a:p>
            <a:pPr>
              <a:buFont typeface="Wingdings" pitchFamily="2" charset="2"/>
              <a:buChar char="q"/>
            </a:pPr>
            <a:r>
              <a:rPr lang="en-US" b="1" dirty="0">
                <a:solidFill>
                  <a:srgbClr val="00B050"/>
                </a:solidFill>
              </a:rPr>
              <a:t>Results: Conductivity, Malleability, Ductility, High Melting Point</a:t>
            </a:r>
          </a:p>
          <a:p>
            <a:endParaRPr lang="en-US" dirty="0"/>
          </a:p>
        </p:txBody>
      </p:sp>
    </p:spTree>
    <p:extLst>
      <p:ext uri="{BB962C8B-B14F-4D97-AF65-F5344CB8AC3E}">
        <p14:creationId xmlns:p14="http://schemas.microsoft.com/office/powerpoint/2010/main" val="2497953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821363"/>
          </a:xfrm>
        </p:spPr>
        <p:style>
          <a:lnRef idx="1">
            <a:schemeClr val="accent3"/>
          </a:lnRef>
          <a:fillRef idx="2">
            <a:schemeClr val="accent3"/>
          </a:fillRef>
          <a:effectRef idx="1">
            <a:schemeClr val="accent3"/>
          </a:effectRef>
          <a:fontRef idx="minor">
            <a:schemeClr val="dk1"/>
          </a:fontRef>
        </p:style>
        <p:txBody>
          <a:bodyPr>
            <a:normAutofit/>
          </a:bodyPr>
          <a:lstStyle/>
          <a:p>
            <a:pPr>
              <a:buFont typeface="Wingdings" pitchFamily="2" charset="2"/>
              <a:buChar char="v"/>
            </a:pPr>
            <a:r>
              <a:rPr lang="en-US" dirty="0" smtClean="0">
                <a:solidFill>
                  <a:srgbClr val="0000FF"/>
                </a:solidFill>
              </a:rPr>
              <a:t>The discovery of metallic bonding started with certain observations. The observations indicated that the bond between two metal atoms is neither ionic nor covalent </a:t>
            </a:r>
          </a:p>
          <a:p>
            <a:pPr>
              <a:buFont typeface="Wingdings" pitchFamily="2" charset="2"/>
              <a:buChar char="v"/>
            </a:pPr>
            <a:r>
              <a:rPr lang="en-US" b="1" dirty="0">
                <a:solidFill>
                  <a:srgbClr val="FF0000"/>
                </a:solidFill>
              </a:rPr>
              <a:t>OBSERVATION # 1 –  Values of Electrical conductivity</a:t>
            </a:r>
            <a:r>
              <a:rPr lang="en-US" dirty="0">
                <a:solidFill>
                  <a:srgbClr val="FF0000"/>
                </a:solidFill>
              </a:rPr>
              <a:t>. </a:t>
            </a:r>
            <a:endParaRPr lang="en-US" dirty="0" smtClean="0">
              <a:solidFill>
                <a:srgbClr val="FF0000"/>
              </a:solidFill>
            </a:endParaRPr>
          </a:p>
          <a:p>
            <a:pPr>
              <a:buFont typeface="Wingdings" pitchFamily="2" charset="2"/>
              <a:buChar char="v"/>
            </a:pPr>
            <a:r>
              <a:rPr lang="en-US" dirty="0" smtClean="0">
                <a:solidFill>
                  <a:srgbClr val="7030A0"/>
                </a:solidFill>
              </a:rPr>
              <a:t>Electrical conductivity values show </a:t>
            </a:r>
            <a:r>
              <a:rPr lang="en-US" b="1" i="1" dirty="0" smtClean="0">
                <a:solidFill>
                  <a:srgbClr val="7030A0"/>
                </a:solidFill>
              </a:rPr>
              <a:t>how well a substance allows electricity to pass through it.</a:t>
            </a:r>
          </a:p>
          <a:p>
            <a:pPr>
              <a:buFont typeface="Wingdings" pitchFamily="2" charset="2"/>
              <a:buChar char="v"/>
            </a:pPr>
            <a:r>
              <a:rPr lang="en-US" dirty="0" smtClean="0">
                <a:solidFill>
                  <a:srgbClr val="0000FF"/>
                </a:solidFill>
              </a:rPr>
              <a:t>Good conductors of electricity have greater electrical conductivity values</a:t>
            </a:r>
            <a:r>
              <a:rPr lang="en-US" dirty="0" smtClean="0"/>
              <a:t>.</a:t>
            </a:r>
            <a:endParaRPr lang="en-US" dirty="0"/>
          </a:p>
        </p:txBody>
      </p:sp>
    </p:spTree>
    <p:extLst>
      <p:ext uri="{BB962C8B-B14F-4D97-AF65-F5344CB8AC3E}">
        <p14:creationId xmlns:p14="http://schemas.microsoft.com/office/powerpoint/2010/main" val="336898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4"/>
          </a:lnRef>
          <a:fillRef idx="2">
            <a:schemeClr val="accent4"/>
          </a:fillRef>
          <a:effectRef idx="1">
            <a:schemeClr val="accent4"/>
          </a:effectRef>
          <a:fontRef idx="minor">
            <a:schemeClr val="dk1"/>
          </a:fontRef>
        </p:style>
        <p:txBody>
          <a:bodyPr>
            <a:normAutofit fontScale="90000"/>
          </a:bodyPr>
          <a:lstStyle/>
          <a:p>
            <a:r>
              <a:rPr lang="en-US" b="1" dirty="0" smtClean="0">
                <a:solidFill>
                  <a:srgbClr val="FF0000"/>
                </a:solidFill>
              </a:rPr>
              <a:t>This model stated that the metal atoms consist of two parts</a:t>
            </a:r>
            <a:endParaRPr lang="en-US" b="1" dirty="0">
              <a:solidFill>
                <a:srgbClr val="FF0000"/>
              </a:solidFill>
            </a:endParaRPr>
          </a:p>
        </p:txBody>
      </p:sp>
      <p:sp>
        <p:nvSpPr>
          <p:cNvPr id="3" name="Content Placeholder 2"/>
          <p:cNvSpPr>
            <a:spLocks noGrp="1"/>
          </p:cNvSpPr>
          <p:nvPr>
            <p:ph idx="1"/>
          </p:nvPr>
        </p:nvSpPr>
        <p:spPr/>
        <p:style>
          <a:lnRef idx="1">
            <a:schemeClr val="accent3"/>
          </a:lnRef>
          <a:fillRef idx="2">
            <a:schemeClr val="accent3"/>
          </a:fillRef>
          <a:effectRef idx="1">
            <a:schemeClr val="accent3"/>
          </a:effectRef>
          <a:fontRef idx="minor">
            <a:schemeClr val="dk1"/>
          </a:fontRef>
        </p:style>
        <p:txBody>
          <a:bodyPr>
            <a:normAutofit/>
          </a:bodyPr>
          <a:lstStyle/>
          <a:p>
            <a:pPr marL="514350" indent="-514350">
              <a:buAutoNum type="arabicParenR"/>
            </a:pPr>
            <a:r>
              <a:rPr lang="en-US" dirty="0" smtClean="0"/>
              <a:t>The </a:t>
            </a:r>
            <a:r>
              <a:rPr lang="en-US" b="1" i="1" u="sng" dirty="0" smtClean="0">
                <a:solidFill>
                  <a:srgbClr val="0000FF"/>
                </a:solidFill>
                <a:effectLst/>
              </a:rPr>
              <a:t>Atomic</a:t>
            </a:r>
            <a:r>
              <a:rPr lang="en-US" b="1" i="1" dirty="0" smtClean="0">
                <a:solidFill>
                  <a:srgbClr val="0000FF"/>
                </a:solidFill>
              </a:rPr>
              <a:t> </a:t>
            </a:r>
            <a:r>
              <a:rPr lang="en-US" b="1" i="1" u="sng" dirty="0" smtClean="0">
                <a:solidFill>
                  <a:srgbClr val="0000FF"/>
                </a:solidFill>
                <a:effectLst/>
              </a:rPr>
              <a:t>Core</a:t>
            </a:r>
            <a:r>
              <a:rPr lang="en-US" b="1" i="1" dirty="0" smtClean="0">
                <a:solidFill>
                  <a:srgbClr val="0000FF"/>
                </a:solidFill>
              </a:rPr>
              <a:t> </a:t>
            </a:r>
            <a:r>
              <a:rPr lang="en-US" dirty="0" smtClean="0"/>
              <a:t>⇒ includes the nucleus of the atom and all its inner shell electrons.</a:t>
            </a:r>
          </a:p>
          <a:p>
            <a:pPr marL="0" indent="0">
              <a:buNone/>
            </a:pPr>
            <a:r>
              <a:rPr lang="en-US" dirty="0" smtClean="0"/>
              <a:t/>
            </a:r>
            <a:br>
              <a:rPr lang="en-US" dirty="0" smtClean="0"/>
            </a:br>
            <a:r>
              <a:rPr lang="en-US" dirty="0" smtClean="0"/>
              <a:t>2) The </a:t>
            </a:r>
            <a:r>
              <a:rPr lang="en-US" b="1" i="1" u="sng" dirty="0" smtClean="0">
                <a:solidFill>
                  <a:srgbClr val="0000FF"/>
                </a:solidFill>
                <a:effectLst/>
              </a:rPr>
              <a:t>Valence</a:t>
            </a:r>
            <a:r>
              <a:rPr lang="en-US" b="1" i="1" dirty="0" smtClean="0">
                <a:solidFill>
                  <a:srgbClr val="0000FF"/>
                </a:solidFill>
              </a:rPr>
              <a:t> </a:t>
            </a:r>
            <a:r>
              <a:rPr lang="en-US" b="1" i="1" u="sng" dirty="0" smtClean="0">
                <a:solidFill>
                  <a:srgbClr val="0000FF"/>
                </a:solidFill>
                <a:effectLst/>
              </a:rPr>
              <a:t>electrons</a:t>
            </a:r>
            <a:r>
              <a:rPr lang="en-US" dirty="0" smtClean="0">
                <a:solidFill>
                  <a:srgbClr val="0000FF"/>
                </a:solidFill>
              </a:rPr>
              <a:t> </a:t>
            </a:r>
            <a:r>
              <a:rPr lang="en-US" dirty="0" smtClean="0"/>
              <a:t>⇒ the outermost electrons of the atom.</a:t>
            </a:r>
          </a:p>
          <a:p>
            <a:pPr marL="0" indent="0">
              <a:buNone/>
            </a:pPr>
            <a:r>
              <a:rPr lang="en-US" dirty="0" smtClean="0"/>
              <a:t>This model considers the lattice as being made up of </a:t>
            </a:r>
            <a:r>
              <a:rPr lang="en-US" b="1" i="1" dirty="0" smtClean="0">
                <a:solidFill>
                  <a:srgbClr val="FF0000"/>
                </a:solidFill>
              </a:rPr>
              <a:t>metal ions surrounded by a sea of delocalized electrons.</a:t>
            </a:r>
            <a:endParaRPr lang="en-US" b="1" dirty="0" smtClean="0">
              <a:solidFill>
                <a:srgbClr val="FF0000"/>
              </a:solidFill>
            </a:endParaRPr>
          </a:p>
          <a:p>
            <a:endParaRPr lang="en-US" dirty="0"/>
          </a:p>
        </p:txBody>
      </p:sp>
    </p:spTree>
    <p:extLst>
      <p:ext uri="{BB962C8B-B14F-4D97-AF65-F5344CB8AC3E}">
        <p14:creationId xmlns:p14="http://schemas.microsoft.com/office/powerpoint/2010/main" val="12485821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4525963"/>
          </a:xfrm>
        </p:spPr>
        <p:style>
          <a:lnRef idx="1">
            <a:schemeClr val="accent3"/>
          </a:lnRef>
          <a:fillRef idx="2">
            <a:schemeClr val="accent3"/>
          </a:fillRef>
          <a:effectRef idx="1">
            <a:schemeClr val="accent3"/>
          </a:effectRef>
          <a:fontRef idx="minor">
            <a:schemeClr val="dk1"/>
          </a:fontRef>
        </p:style>
        <p:txBody>
          <a:bodyPr/>
          <a:lstStyle/>
          <a:p>
            <a:pPr algn="ctr"/>
            <a:r>
              <a:rPr lang="en-US" sz="4000" dirty="0" smtClean="0">
                <a:solidFill>
                  <a:srgbClr val="0000FF"/>
                </a:solidFill>
              </a:rPr>
              <a:t>Limitation of Electron Sea Model</a:t>
            </a:r>
          </a:p>
          <a:p>
            <a:pPr algn="ctr"/>
            <a:endParaRPr lang="en-US" dirty="0" smtClean="0">
              <a:solidFill>
                <a:srgbClr val="0000FF"/>
              </a:solidFill>
            </a:endParaRPr>
          </a:p>
          <a:p>
            <a:pPr algn="just"/>
            <a:r>
              <a:rPr lang="en-US" dirty="0" smtClean="0"/>
              <a:t>This Theory  </a:t>
            </a:r>
            <a:r>
              <a:rPr lang="en-US" b="1" i="1" dirty="0" smtClean="0"/>
              <a:t>could not correctly predict the </a:t>
            </a:r>
            <a:r>
              <a:rPr lang="en-US" b="1" i="1" dirty="0" smtClean="0">
                <a:solidFill>
                  <a:srgbClr val="FF0000"/>
                </a:solidFill>
              </a:rPr>
              <a:t>heat capacity </a:t>
            </a:r>
            <a:r>
              <a:rPr lang="en-US" b="1" i="1" dirty="0" smtClean="0"/>
              <a:t>and the </a:t>
            </a:r>
            <a:r>
              <a:rPr lang="en-US" b="1" i="1" dirty="0" smtClean="0">
                <a:solidFill>
                  <a:srgbClr val="FF0000"/>
                </a:solidFill>
              </a:rPr>
              <a:t>temperature dependence of the electrical conductivity of metals.</a:t>
            </a:r>
            <a:endParaRPr lang="en-US" dirty="0" smtClean="0">
              <a:solidFill>
                <a:srgbClr val="FF0000"/>
              </a:solidFill>
            </a:endParaRPr>
          </a:p>
          <a:p>
            <a:endParaRPr lang="en-US" dirty="0"/>
          </a:p>
        </p:txBody>
      </p:sp>
    </p:spTree>
    <p:extLst>
      <p:ext uri="{BB962C8B-B14F-4D97-AF65-F5344CB8AC3E}">
        <p14:creationId xmlns:p14="http://schemas.microsoft.com/office/powerpoint/2010/main" val="22653099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7200" y="1554163"/>
            <a:ext cx="8686800" cy="4525962"/>
          </a:xfrm>
        </p:spPr>
        <p:style>
          <a:lnRef idx="1">
            <a:schemeClr val="accent3"/>
          </a:lnRef>
          <a:fillRef idx="2">
            <a:schemeClr val="accent3"/>
          </a:fillRef>
          <a:effectRef idx="1">
            <a:schemeClr val="accent3"/>
          </a:effectRef>
          <a:fontRef idx="minor">
            <a:schemeClr val="dk1"/>
          </a:fontRef>
        </p:style>
        <p:txBody>
          <a:bodyPr/>
          <a:lstStyle/>
          <a:p>
            <a:pPr marL="0" indent="0">
              <a:buNone/>
            </a:pPr>
            <a:r>
              <a:rPr lang="en-US" sz="4000" b="1" dirty="0">
                <a:solidFill>
                  <a:srgbClr val="00B050"/>
                </a:solidFill>
              </a:rPr>
              <a:t>T</a:t>
            </a:r>
            <a:r>
              <a:rPr lang="en-US" sz="4000" b="1" dirty="0" smtClean="0">
                <a:solidFill>
                  <a:srgbClr val="00B050"/>
                </a:solidFill>
              </a:rPr>
              <a:t>wo AOs form two MOs – </a:t>
            </a:r>
          </a:p>
          <a:p>
            <a:pPr>
              <a:buFont typeface="Wingdings" pitchFamily="2" charset="2"/>
              <a:buChar char="q"/>
            </a:pPr>
            <a:r>
              <a:rPr lang="en-US" dirty="0" smtClean="0">
                <a:solidFill>
                  <a:srgbClr val="00B050"/>
                </a:solidFill>
              </a:rPr>
              <a:t/>
            </a:r>
            <a:br>
              <a:rPr lang="en-US" dirty="0" smtClean="0">
                <a:solidFill>
                  <a:srgbClr val="00B050"/>
                </a:solidFill>
              </a:rPr>
            </a:br>
            <a:r>
              <a:rPr lang="en-US" b="1" dirty="0" smtClean="0">
                <a:solidFill>
                  <a:srgbClr val="FF0000"/>
                </a:solidFill>
              </a:rPr>
              <a:t>i)one lower energy bonding molecular orbital(BMO) </a:t>
            </a:r>
            <a:r>
              <a:rPr lang="el-GR" b="1" dirty="0" smtClean="0">
                <a:solidFill>
                  <a:srgbClr val="FF0000"/>
                </a:solidFill>
              </a:rPr>
              <a:t>σ </a:t>
            </a:r>
            <a:r>
              <a:rPr lang="en-US" b="1" dirty="0" smtClean="0">
                <a:solidFill>
                  <a:srgbClr val="FF0000"/>
                </a:solidFill>
              </a:rPr>
              <a:t>and </a:t>
            </a:r>
          </a:p>
          <a:p>
            <a:pPr>
              <a:buFont typeface="Wingdings" pitchFamily="2" charset="2"/>
              <a:buChar char="q"/>
            </a:pPr>
            <a:r>
              <a:rPr lang="en-US" b="1" dirty="0" smtClean="0">
                <a:solidFill>
                  <a:srgbClr val="FF0000"/>
                </a:solidFill>
              </a:rPr>
              <a:t/>
            </a:r>
            <a:br>
              <a:rPr lang="en-US" b="1" dirty="0" smtClean="0">
                <a:solidFill>
                  <a:srgbClr val="FF0000"/>
                </a:solidFill>
              </a:rPr>
            </a:br>
            <a:r>
              <a:rPr lang="en-US" b="1" dirty="0" smtClean="0">
                <a:solidFill>
                  <a:srgbClr val="0000FF"/>
                </a:solidFill>
              </a:rPr>
              <a:t>ii) another higher energy </a:t>
            </a:r>
            <a:r>
              <a:rPr lang="en-US" b="1" dirty="0" err="1" smtClean="0">
                <a:solidFill>
                  <a:srgbClr val="0000FF"/>
                </a:solidFill>
              </a:rPr>
              <a:t>antibonding</a:t>
            </a:r>
            <a:r>
              <a:rPr lang="en-US" b="1" dirty="0" smtClean="0">
                <a:solidFill>
                  <a:srgbClr val="0000FF"/>
                </a:solidFill>
              </a:rPr>
              <a:t> molecular orbital(ABMO), </a:t>
            </a:r>
            <a:r>
              <a:rPr lang="el-GR" b="1" dirty="0" smtClean="0">
                <a:solidFill>
                  <a:srgbClr val="0000FF"/>
                </a:solidFill>
              </a:rPr>
              <a:t>σ*. </a:t>
            </a:r>
            <a:endParaRPr lang="en-US" b="1" dirty="0">
              <a:solidFill>
                <a:srgbClr val="0000FF"/>
              </a:solidFill>
            </a:endParaRPr>
          </a:p>
        </p:txBody>
      </p:sp>
      <p:sp>
        <p:nvSpPr>
          <p:cNvPr id="2" name="Title 1"/>
          <p:cNvSpPr>
            <a:spLocks noGrp="1"/>
          </p:cNvSpPr>
          <p:nvPr>
            <p:ph type="title" idx="4294967295"/>
          </p:nvPr>
        </p:nvSpPr>
        <p:spPr>
          <a:xfrm>
            <a:off x="457200" y="457200"/>
            <a:ext cx="8686800" cy="841375"/>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b="1" dirty="0" smtClean="0">
                <a:solidFill>
                  <a:srgbClr val="FF0000"/>
                </a:solidFill>
              </a:rPr>
              <a:t>The Band Theory Of Solids</a:t>
            </a:r>
            <a:endParaRPr lang="en-US" sz="3200" dirty="0">
              <a:solidFill>
                <a:srgbClr val="FF0000"/>
              </a:solidFill>
            </a:endParaRPr>
          </a:p>
        </p:txBody>
      </p:sp>
    </p:spTree>
    <p:extLst>
      <p:ext uri="{BB962C8B-B14F-4D97-AF65-F5344CB8AC3E}">
        <p14:creationId xmlns:p14="http://schemas.microsoft.com/office/powerpoint/2010/main" val="12187861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sharpenSoften amount="50000"/>
                    </a14:imgEffect>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2333207" y="304800"/>
            <a:ext cx="3762793" cy="31482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style>
          <a:lnRef idx="1">
            <a:schemeClr val="accent4"/>
          </a:lnRef>
          <a:fillRef idx="2">
            <a:schemeClr val="accent4"/>
          </a:fillRef>
          <a:effectRef idx="1">
            <a:schemeClr val="accent4"/>
          </a:effectRef>
          <a:fontRef idx="minor">
            <a:schemeClr val="dk1"/>
          </a:fontRef>
        </p:style>
      </p:pic>
      <p:sp>
        <p:nvSpPr>
          <p:cNvPr id="4" name="Rectangle 3"/>
          <p:cNvSpPr/>
          <p:nvPr/>
        </p:nvSpPr>
        <p:spPr>
          <a:xfrm>
            <a:off x="647700" y="3534882"/>
            <a:ext cx="7543800" cy="193899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sz="2400" b="1" dirty="0" smtClean="0"/>
              <a:t>When this same approach is applied to an </a:t>
            </a:r>
            <a:r>
              <a:rPr lang="en-US" sz="2400" b="1" i="1" dirty="0" smtClean="0"/>
              <a:t>ensemble of atomic orbitals</a:t>
            </a:r>
            <a:r>
              <a:rPr lang="en-US" sz="2400" b="1" dirty="0" smtClean="0"/>
              <a:t>, we get very closely spaced </a:t>
            </a:r>
            <a:r>
              <a:rPr lang="en-US" sz="2400" b="1" dirty="0" smtClean="0">
                <a:solidFill>
                  <a:srgbClr val="FF0000"/>
                </a:solidFill>
              </a:rPr>
              <a:t>BMOs and ABMOs</a:t>
            </a:r>
            <a:r>
              <a:rPr lang="en-US" sz="2400" b="1" dirty="0" smtClean="0"/>
              <a:t>, which appear like a band from a distance. The energy gap between them is very low, and so the levels </a:t>
            </a:r>
            <a:r>
              <a:rPr lang="en-US" sz="2400" dirty="0" smtClean="0"/>
              <a:t>appear to be in a </a:t>
            </a:r>
            <a:r>
              <a:rPr lang="en-US" sz="2400" b="1" dirty="0" smtClean="0">
                <a:solidFill>
                  <a:srgbClr val="FF0000"/>
                </a:solidFill>
              </a:rPr>
              <a:t>continuum.</a:t>
            </a:r>
            <a:endParaRPr lang="en-US" sz="2400" b="1" dirty="0">
              <a:solidFill>
                <a:srgbClr val="FF0000"/>
              </a:solidFill>
            </a:endParaRPr>
          </a:p>
        </p:txBody>
      </p:sp>
      <p:sp>
        <p:nvSpPr>
          <p:cNvPr id="5" name="Rectangle 4"/>
          <p:cNvSpPr/>
          <p:nvPr/>
        </p:nvSpPr>
        <p:spPr>
          <a:xfrm>
            <a:off x="647700" y="5473874"/>
            <a:ext cx="7543800" cy="1200329"/>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sz="2400" b="1" dirty="0" smtClean="0"/>
              <a:t>If N atomic orbitals combine to form N molecular orbitals, then </a:t>
            </a:r>
            <a:r>
              <a:rPr lang="en-US" sz="2400" b="1" dirty="0" smtClean="0">
                <a:solidFill>
                  <a:srgbClr val="FF0000"/>
                </a:solidFill>
              </a:rPr>
              <a:t>N/2</a:t>
            </a:r>
            <a:r>
              <a:rPr lang="en-US" sz="2400" b="1" dirty="0" smtClean="0"/>
              <a:t> will be bonding molecular orbitals and </a:t>
            </a:r>
            <a:r>
              <a:rPr lang="en-US" sz="2400" b="1" dirty="0" smtClean="0">
                <a:solidFill>
                  <a:srgbClr val="FF0000"/>
                </a:solidFill>
              </a:rPr>
              <a:t>N/2</a:t>
            </a:r>
            <a:r>
              <a:rPr lang="en-US" sz="2400" b="1" dirty="0" smtClean="0"/>
              <a:t> will be anti-bonding.</a:t>
            </a:r>
            <a:endParaRPr lang="en-US" sz="2400" b="1" dirty="0"/>
          </a:p>
        </p:txBody>
      </p:sp>
    </p:spTree>
    <p:extLst>
      <p:ext uri="{BB962C8B-B14F-4D97-AF65-F5344CB8AC3E}">
        <p14:creationId xmlns:p14="http://schemas.microsoft.com/office/powerpoint/2010/main" val="5955695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849" y="228600"/>
            <a:ext cx="8686800" cy="1146048"/>
          </a:xfrm>
        </p:spPr>
        <p:style>
          <a:lnRef idx="1">
            <a:schemeClr val="accent5"/>
          </a:lnRef>
          <a:fillRef idx="2">
            <a:schemeClr val="accent5"/>
          </a:fillRef>
          <a:effectRef idx="1">
            <a:schemeClr val="accent5"/>
          </a:effectRef>
          <a:fontRef idx="minor">
            <a:schemeClr val="dk1"/>
          </a:fontRef>
        </p:style>
        <p:txBody>
          <a:bodyPr>
            <a:normAutofit fontScale="90000"/>
          </a:bodyPr>
          <a:lstStyle/>
          <a:p>
            <a:pPr algn="ctr"/>
            <a:r>
              <a:rPr lang="en-US" dirty="0" smtClean="0">
                <a:solidFill>
                  <a:srgbClr val="3333CC"/>
                </a:solidFill>
              </a:rPr>
              <a:t/>
            </a:r>
            <a:br>
              <a:rPr lang="en-US" dirty="0" smtClean="0">
                <a:solidFill>
                  <a:srgbClr val="3333CC"/>
                </a:solidFill>
              </a:rPr>
            </a:br>
            <a:r>
              <a:rPr lang="en-US" dirty="0" smtClean="0">
                <a:solidFill>
                  <a:srgbClr val="FF0000"/>
                </a:solidFill>
              </a:rPr>
              <a:t>Two </a:t>
            </a:r>
            <a:r>
              <a:rPr lang="en-US" dirty="0">
                <a:solidFill>
                  <a:srgbClr val="FF0000"/>
                </a:solidFill>
              </a:rPr>
              <a:t>bands will be formed </a:t>
            </a:r>
            <a:r>
              <a:rPr lang="en-US" sz="2400" dirty="0">
                <a:solidFill>
                  <a:srgbClr val="FF0000"/>
                </a:solidFill>
              </a:rPr>
              <a:t>– </a:t>
            </a:r>
            <a:br>
              <a:rPr lang="en-US" sz="2400" dirty="0">
                <a:solidFill>
                  <a:srgbClr val="FF0000"/>
                </a:solidFill>
              </a:rPr>
            </a:br>
            <a:endParaRPr lang="en-US" dirty="0">
              <a:solidFill>
                <a:srgbClr val="FF0000"/>
              </a:solidFill>
            </a:endParaRPr>
          </a:p>
        </p:txBody>
      </p:sp>
      <p:sp>
        <p:nvSpPr>
          <p:cNvPr id="3" name="Content Placeholder 2"/>
          <p:cNvSpPr>
            <a:spLocks noGrp="1"/>
          </p:cNvSpPr>
          <p:nvPr>
            <p:ph idx="4294967295"/>
          </p:nvPr>
        </p:nvSpPr>
        <p:spPr>
          <a:xfrm>
            <a:off x="533400" y="1752600"/>
            <a:ext cx="8229600" cy="4525963"/>
          </a:xfrm>
        </p:spPr>
        <p:style>
          <a:lnRef idx="2">
            <a:schemeClr val="accent1"/>
          </a:lnRef>
          <a:fillRef idx="1">
            <a:schemeClr val="lt1"/>
          </a:fillRef>
          <a:effectRef idx="0">
            <a:schemeClr val="accent1"/>
          </a:effectRef>
          <a:fontRef idx="minor">
            <a:schemeClr val="dk1"/>
          </a:fontRef>
        </p:style>
        <p:txBody>
          <a:bodyPr/>
          <a:lstStyle/>
          <a:p>
            <a:pPr>
              <a:buFont typeface="Wingdings" pitchFamily="2" charset="2"/>
              <a:buChar char="q"/>
            </a:pPr>
            <a:endParaRPr lang="en-US" sz="3600" dirty="0" smtClean="0"/>
          </a:p>
          <a:p>
            <a:pPr>
              <a:buFont typeface="Wingdings" pitchFamily="2" charset="2"/>
              <a:buChar char="q"/>
            </a:pPr>
            <a:r>
              <a:rPr lang="en-US" b="1" dirty="0" smtClean="0">
                <a:solidFill>
                  <a:srgbClr val="0000FF"/>
                </a:solidFill>
              </a:rPr>
              <a:t>Bonding Molecular Orbitals Band </a:t>
            </a:r>
            <a:r>
              <a:rPr lang="en-US" b="1" dirty="0" smtClean="0">
                <a:solidFill>
                  <a:srgbClr val="00B050"/>
                </a:solidFill>
              </a:rPr>
              <a:t>→ This is called the </a:t>
            </a:r>
            <a:r>
              <a:rPr lang="en-US" b="1" dirty="0" smtClean="0">
                <a:solidFill>
                  <a:srgbClr val="FF0000"/>
                </a:solidFill>
              </a:rPr>
              <a:t>VALENCE BAND.</a:t>
            </a:r>
          </a:p>
          <a:p>
            <a:pPr>
              <a:buFont typeface="Wingdings" pitchFamily="2" charset="2"/>
              <a:buChar char="q"/>
            </a:pPr>
            <a:endParaRPr lang="en-US" dirty="0" smtClean="0"/>
          </a:p>
          <a:p>
            <a:pPr>
              <a:buFont typeface="Wingdings" pitchFamily="2" charset="2"/>
              <a:buChar char="q"/>
            </a:pPr>
            <a:r>
              <a:rPr lang="en-US" b="1" dirty="0" smtClean="0">
                <a:solidFill>
                  <a:srgbClr val="0000FF"/>
                </a:solidFill>
              </a:rPr>
              <a:t>Anti-bonding Molecular Orbitals Band </a:t>
            </a:r>
            <a:r>
              <a:rPr lang="en-US" b="1" dirty="0" smtClean="0">
                <a:solidFill>
                  <a:srgbClr val="00B050"/>
                </a:solidFill>
              </a:rPr>
              <a:t>→</a:t>
            </a:r>
            <a:r>
              <a:rPr lang="en-US" dirty="0" smtClean="0">
                <a:solidFill>
                  <a:srgbClr val="00B050"/>
                </a:solidFill>
              </a:rPr>
              <a:t> This </a:t>
            </a:r>
            <a:r>
              <a:rPr lang="en-US" b="1" dirty="0" smtClean="0">
                <a:solidFill>
                  <a:srgbClr val="00B050"/>
                </a:solidFill>
              </a:rPr>
              <a:t>is called the </a:t>
            </a:r>
            <a:r>
              <a:rPr lang="en-US" b="1" dirty="0" smtClean="0">
                <a:solidFill>
                  <a:srgbClr val="FF0000"/>
                </a:solidFill>
              </a:rPr>
              <a:t>CONDUCTION BAND.</a:t>
            </a:r>
            <a:endParaRPr lang="en-US" dirty="0" smtClean="0">
              <a:solidFill>
                <a:srgbClr val="FF0000"/>
              </a:solidFill>
            </a:endParaRPr>
          </a:p>
          <a:p>
            <a:endParaRPr lang="en-US" dirty="0"/>
          </a:p>
        </p:txBody>
      </p:sp>
    </p:spTree>
    <p:extLst>
      <p:ext uri="{BB962C8B-B14F-4D97-AF65-F5344CB8AC3E}">
        <p14:creationId xmlns:p14="http://schemas.microsoft.com/office/powerpoint/2010/main" val="23987842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style>
          <a:lnRef idx="1">
            <a:schemeClr val="accent4"/>
          </a:lnRef>
          <a:fillRef idx="2">
            <a:schemeClr val="accent4"/>
          </a:fillRef>
          <a:effectRef idx="1">
            <a:schemeClr val="accent4"/>
          </a:effectRef>
          <a:fontRef idx="minor">
            <a:schemeClr val="dk1"/>
          </a:fontRef>
        </p:style>
        <p:txBody>
          <a:bodyPr>
            <a:normAutofit fontScale="90000"/>
          </a:bodyPr>
          <a:lstStyle/>
          <a:p>
            <a:r>
              <a:rPr lang="en-US" b="1" dirty="0" smtClean="0">
                <a:solidFill>
                  <a:srgbClr val="3333FF"/>
                </a:solidFill>
              </a:rPr>
              <a:t/>
            </a:r>
            <a:br>
              <a:rPr lang="en-US" b="1" dirty="0" smtClean="0">
                <a:solidFill>
                  <a:srgbClr val="3333FF"/>
                </a:solidFill>
              </a:rPr>
            </a:br>
            <a:r>
              <a:rPr lang="en-US" b="1" dirty="0" smtClean="0">
                <a:solidFill>
                  <a:srgbClr val="3333FF"/>
                </a:solidFill>
              </a:rPr>
              <a:t>    What is Band Theory of Solids?</a:t>
            </a:r>
            <a:br>
              <a:rPr lang="en-US" b="1" dirty="0" smtClean="0">
                <a:solidFill>
                  <a:srgbClr val="3333FF"/>
                </a:solidFill>
              </a:rPr>
            </a:br>
            <a:endParaRPr lang="en-US" dirty="0">
              <a:solidFill>
                <a:srgbClr val="3333FF"/>
              </a:solidFill>
            </a:endParaRPr>
          </a:p>
        </p:txBody>
      </p:sp>
      <p:sp>
        <p:nvSpPr>
          <p:cNvPr id="3" name="Content Placeholder 2"/>
          <p:cNvSpPr>
            <a:spLocks noGrp="1"/>
          </p:cNvSpPr>
          <p:nvPr>
            <p:ph sz="quarter" idx="4294967295"/>
          </p:nvPr>
        </p:nvSpPr>
        <p:spPr>
          <a:xfrm>
            <a:off x="0" y="1450975"/>
            <a:ext cx="8763000" cy="5407025"/>
          </a:xfrm>
        </p:spPr>
        <p:style>
          <a:lnRef idx="2">
            <a:schemeClr val="accent2"/>
          </a:lnRef>
          <a:fillRef idx="1">
            <a:schemeClr val="lt1"/>
          </a:fillRef>
          <a:effectRef idx="0">
            <a:schemeClr val="accent2"/>
          </a:effectRef>
          <a:fontRef idx="minor">
            <a:schemeClr val="dk1"/>
          </a:fontRef>
        </p:style>
        <p:txBody>
          <a:bodyPr>
            <a:normAutofit fontScale="77500" lnSpcReduction="20000"/>
          </a:bodyPr>
          <a:lstStyle/>
          <a:p>
            <a:pPr algn="just">
              <a:buFont typeface="Wingdings" pitchFamily="2" charset="2"/>
              <a:buChar char="q"/>
            </a:pPr>
            <a:r>
              <a:rPr lang="en-US" dirty="0" smtClean="0">
                <a:solidFill>
                  <a:srgbClr val="FF00FF"/>
                </a:solidFill>
              </a:rPr>
              <a:t>The way electrons behave inside a molecule is well explained through this theory.</a:t>
            </a:r>
          </a:p>
          <a:p>
            <a:pPr algn="just">
              <a:buFont typeface="Wingdings" pitchFamily="2" charset="2"/>
              <a:buChar char="q"/>
            </a:pPr>
            <a:r>
              <a:rPr lang="en-US" b="1" dirty="0" smtClean="0">
                <a:solidFill>
                  <a:srgbClr val="6600CC"/>
                </a:solidFill>
              </a:rPr>
              <a:t>In atoms</a:t>
            </a:r>
            <a:r>
              <a:rPr lang="en-US" b="1" dirty="0" smtClean="0">
                <a:solidFill>
                  <a:srgbClr val="FF00FF"/>
                </a:solidFill>
              </a:rPr>
              <a:t>, </a:t>
            </a:r>
            <a:r>
              <a:rPr lang="en-US" b="1" dirty="0" smtClean="0">
                <a:solidFill>
                  <a:srgbClr val="0000FF"/>
                </a:solidFill>
              </a:rPr>
              <a:t>electrons are filled in respective energy orbits following Pauli’s exclusion principle.</a:t>
            </a:r>
          </a:p>
          <a:p>
            <a:pPr algn="just">
              <a:buFont typeface="Wingdings" pitchFamily="2" charset="2"/>
              <a:buChar char="q"/>
            </a:pPr>
            <a:endParaRPr lang="en-US" b="1" dirty="0" smtClean="0">
              <a:solidFill>
                <a:srgbClr val="FF00FF"/>
              </a:solidFill>
            </a:endParaRPr>
          </a:p>
          <a:p>
            <a:pPr algn="just">
              <a:buFont typeface="Wingdings" pitchFamily="2" charset="2"/>
              <a:buChar char="q"/>
            </a:pPr>
            <a:r>
              <a:rPr lang="en-US" b="1" dirty="0" smtClean="0">
                <a:solidFill>
                  <a:srgbClr val="6600CC"/>
                </a:solidFill>
              </a:rPr>
              <a:t>In molecules</a:t>
            </a:r>
            <a:r>
              <a:rPr lang="en-US" b="1" dirty="0" smtClean="0">
                <a:solidFill>
                  <a:srgbClr val="FF00FF"/>
                </a:solidFill>
              </a:rPr>
              <a:t>, </a:t>
            </a:r>
            <a:r>
              <a:rPr lang="en-US" b="1" dirty="0" smtClean="0">
                <a:solidFill>
                  <a:srgbClr val="0000FF"/>
                </a:solidFill>
              </a:rPr>
              <a:t>Two atomic </a:t>
            </a:r>
            <a:r>
              <a:rPr lang="en-US" b="1" dirty="0" err="1" smtClean="0">
                <a:solidFill>
                  <a:srgbClr val="0000FF"/>
                </a:solidFill>
              </a:rPr>
              <a:t>orbitals</a:t>
            </a:r>
            <a:r>
              <a:rPr lang="en-US" b="1" dirty="0" smtClean="0">
                <a:solidFill>
                  <a:srgbClr val="0000FF"/>
                </a:solidFill>
              </a:rPr>
              <a:t> combine together to form a molecular orbital with two distinct energy levels</a:t>
            </a:r>
            <a:r>
              <a:rPr lang="en-US" b="1" dirty="0" smtClean="0">
                <a:solidFill>
                  <a:srgbClr val="FF00FF"/>
                </a:solidFill>
              </a:rPr>
              <a:t>.</a:t>
            </a:r>
          </a:p>
          <a:p>
            <a:pPr algn="just">
              <a:buFont typeface="Wingdings" pitchFamily="2" charset="2"/>
              <a:buChar char="q"/>
            </a:pPr>
            <a:endParaRPr lang="en-US" b="1" dirty="0" smtClean="0">
              <a:solidFill>
                <a:srgbClr val="FF00FF"/>
              </a:solidFill>
            </a:endParaRPr>
          </a:p>
          <a:p>
            <a:pPr algn="just">
              <a:buFont typeface="Wingdings" pitchFamily="2" charset="2"/>
              <a:buChar char="q"/>
            </a:pPr>
            <a:r>
              <a:rPr lang="en-US" b="1" dirty="0" smtClean="0">
                <a:solidFill>
                  <a:srgbClr val="6600CC"/>
                </a:solidFill>
              </a:rPr>
              <a:t>In solids, </a:t>
            </a:r>
            <a:r>
              <a:rPr lang="en-US" b="1" dirty="0" smtClean="0">
                <a:solidFill>
                  <a:srgbClr val="0000FF"/>
                </a:solidFill>
              </a:rPr>
              <a:t>10</a:t>
            </a:r>
            <a:r>
              <a:rPr lang="en-US" b="1" baseline="30000" dirty="0" smtClean="0">
                <a:solidFill>
                  <a:srgbClr val="0000FF"/>
                </a:solidFill>
              </a:rPr>
              <a:t>23</a:t>
            </a:r>
            <a:r>
              <a:rPr lang="en-US" b="1" dirty="0" smtClean="0">
                <a:solidFill>
                  <a:srgbClr val="0000FF"/>
                </a:solidFill>
              </a:rPr>
              <a:t> stacked up lines confined in a tiny space would look like a band. Thereby forming energy continuum called energy bands.</a:t>
            </a:r>
          </a:p>
          <a:p>
            <a:pPr algn="just">
              <a:buFont typeface="Wingdings" pitchFamily="2" charset="2"/>
              <a:buChar char="q"/>
            </a:pPr>
            <a:endParaRPr lang="en-US" b="1" dirty="0" smtClean="0">
              <a:solidFill>
                <a:srgbClr val="0000FF"/>
              </a:solidFill>
            </a:endParaRPr>
          </a:p>
          <a:p>
            <a:pPr algn="just">
              <a:buFont typeface="Wingdings" pitchFamily="2" charset="2"/>
              <a:buChar char="q"/>
            </a:pPr>
            <a:r>
              <a:rPr lang="en-US" dirty="0" smtClean="0">
                <a:solidFill>
                  <a:srgbClr val="FF00FF"/>
                </a:solidFill>
              </a:rPr>
              <a:t>This theory helps to visualize the difference between </a:t>
            </a:r>
            <a:r>
              <a:rPr lang="en-US" b="1" dirty="0" smtClean="0">
                <a:solidFill>
                  <a:srgbClr val="00B050"/>
                </a:solidFill>
              </a:rPr>
              <a:t>conductor, semiconductor and an insulator </a:t>
            </a:r>
            <a:r>
              <a:rPr lang="en-US" dirty="0" smtClean="0">
                <a:solidFill>
                  <a:srgbClr val="FF00FF"/>
                </a:solidFill>
              </a:rPr>
              <a:t>by plotting available energies for an electron in a material.</a:t>
            </a:r>
          </a:p>
          <a:p>
            <a:pPr algn="just"/>
            <a:endParaRPr lang="en-US" dirty="0">
              <a:solidFill>
                <a:srgbClr val="FF00FF"/>
              </a:solidFill>
            </a:endParaRPr>
          </a:p>
        </p:txBody>
      </p:sp>
    </p:spTree>
    <p:extLst>
      <p:ext uri="{BB962C8B-B14F-4D97-AF65-F5344CB8AC3E}">
        <p14:creationId xmlns:p14="http://schemas.microsoft.com/office/powerpoint/2010/main" val="3072010776"/>
      </p:ext>
    </p:extLst>
  </p:cSld>
  <p:clrMapOvr>
    <a:masterClrMapping/>
  </p:clrMapOvr>
  <p:transition>
    <p:dissolv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8" name="Picture 2"/>
          <p:cNvPicPr>
            <a:picLocks noGrp="1" noChangeAspect="1" noChangeArrowheads="1"/>
          </p:cNvPicPr>
          <p:nvPr>
            <p:ph sz="quarter"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rcRect/>
          <a:stretch>
            <a:fillRect/>
          </a:stretch>
        </p:blipFill>
        <p:spPr bwMode="auto">
          <a:xfrm>
            <a:off x="533400" y="2438400"/>
            <a:ext cx="7543800" cy="3962400"/>
          </a:xfrm>
          <a:prstGeom prst="rect">
            <a:avLst/>
          </a:prstGeom>
          <a:solidFill>
            <a:srgbClr val="7030A0"/>
          </a:solidFill>
          <a:ln>
            <a:headEnd/>
            <a:tailEnd/>
          </a:ln>
        </p:spPr>
        <p:style>
          <a:lnRef idx="2">
            <a:schemeClr val="accent2"/>
          </a:lnRef>
          <a:fillRef idx="1">
            <a:schemeClr val="lt1"/>
          </a:fillRef>
          <a:effectRef idx="0">
            <a:schemeClr val="accent2"/>
          </a:effectRef>
          <a:fontRef idx="minor">
            <a:schemeClr val="dk1"/>
          </a:fontRef>
        </p:style>
      </p:pic>
      <p:sp>
        <p:nvSpPr>
          <p:cNvPr id="5" name="Rectangle 4"/>
          <p:cNvSpPr/>
          <p:nvPr/>
        </p:nvSpPr>
        <p:spPr>
          <a:xfrm>
            <a:off x="609600" y="1600200"/>
            <a:ext cx="7467600"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b="1" dirty="0" smtClean="0">
                <a:solidFill>
                  <a:srgbClr val="0000FF"/>
                </a:solidFill>
              </a:rPr>
              <a:t>Consider a Sodium a atom. It comprises of </a:t>
            </a:r>
            <a:r>
              <a:rPr lang="en-US" b="1" dirty="0" smtClean="0">
                <a:solidFill>
                  <a:srgbClr val="FF0000"/>
                </a:solidFill>
              </a:rPr>
              <a:t>11 electrons</a:t>
            </a:r>
            <a:r>
              <a:rPr lang="en-US" b="1" dirty="0" smtClean="0">
                <a:solidFill>
                  <a:srgbClr val="0000FF"/>
                </a:solidFill>
              </a:rPr>
              <a:t>. They fill up energy level following Pauli’s exclusion principle</a:t>
            </a:r>
            <a:endParaRPr lang="en-US" b="1" dirty="0">
              <a:solidFill>
                <a:srgbClr val="0000FF"/>
              </a:solidFill>
            </a:endParaRPr>
          </a:p>
        </p:txBody>
      </p:sp>
      <p:sp>
        <p:nvSpPr>
          <p:cNvPr id="9" name="Title 1"/>
          <p:cNvSpPr>
            <a:spLocks noGrp="1"/>
          </p:cNvSpPr>
          <p:nvPr>
            <p:ph type="title"/>
          </p:nvPr>
        </p:nvSpPr>
        <p:spPr>
          <a:xfrm>
            <a:off x="609600" y="533400"/>
            <a:ext cx="7543800" cy="685800"/>
          </a:xfrm>
        </p:spPr>
        <p:style>
          <a:lnRef idx="1">
            <a:schemeClr val="accent2"/>
          </a:lnRef>
          <a:fillRef idx="2">
            <a:schemeClr val="accent2"/>
          </a:fillRef>
          <a:effectRef idx="1">
            <a:schemeClr val="accent2"/>
          </a:effectRef>
          <a:fontRef idx="minor">
            <a:schemeClr val="dk1"/>
          </a:fontRef>
        </p:style>
        <p:txBody>
          <a:bodyPr>
            <a:normAutofit fontScale="90000"/>
          </a:bodyPr>
          <a:lstStyle/>
          <a:p>
            <a:r>
              <a:rPr lang="en-US" sz="2700" b="1" dirty="0" smtClean="0">
                <a:solidFill>
                  <a:srgbClr val="CC00FF"/>
                </a:solidFill>
              </a:rPr>
              <a:t/>
            </a:r>
            <a:br>
              <a:rPr lang="en-US" sz="2700" b="1" dirty="0" smtClean="0">
                <a:solidFill>
                  <a:srgbClr val="CC00FF"/>
                </a:solidFill>
              </a:rPr>
            </a:br>
            <a:r>
              <a:rPr lang="en-US" sz="2700" b="1" dirty="0" smtClean="0">
                <a:solidFill>
                  <a:srgbClr val="CC00FF"/>
                </a:solidFill>
              </a:rPr>
              <a:t/>
            </a:r>
            <a:br>
              <a:rPr lang="en-US" sz="2700" b="1" dirty="0" smtClean="0">
                <a:solidFill>
                  <a:srgbClr val="CC00FF"/>
                </a:solidFill>
              </a:rPr>
            </a:br>
            <a:r>
              <a:rPr lang="en-US" sz="3600" b="1" dirty="0" smtClean="0">
                <a:solidFill>
                  <a:srgbClr val="0000FF"/>
                </a:solidFill>
              </a:rPr>
              <a:t>Energy Bands In Inside </a:t>
            </a:r>
            <a:r>
              <a:rPr lang="en-US" sz="3600" b="1" dirty="0" smtClean="0">
                <a:solidFill>
                  <a:srgbClr val="FF0000"/>
                </a:solidFill>
              </a:rPr>
              <a:t>a Single atom</a:t>
            </a:r>
            <a:r>
              <a:rPr lang="en-US" sz="4000" b="1" dirty="0" smtClean="0">
                <a:solidFill>
                  <a:srgbClr val="0000FF"/>
                </a:solidFill>
              </a:rPr>
              <a:t/>
            </a:r>
            <a:br>
              <a:rPr lang="en-US" sz="4000" b="1" dirty="0" smtClean="0">
                <a:solidFill>
                  <a:srgbClr val="0000FF"/>
                </a:solidFill>
              </a:rPr>
            </a:br>
            <a:endParaRPr lang="en-US" dirty="0">
              <a:solidFill>
                <a:srgbClr val="0000FF"/>
              </a:solidFill>
            </a:endParaRPr>
          </a:p>
        </p:txBody>
      </p:sp>
    </p:spTree>
    <p:extLst>
      <p:ext uri="{BB962C8B-B14F-4D97-AF65-F5344CB8AC3E}">
        <p14:creationId xmlns:p14="http://schemas.microsoft.com/office/powerpoint/2010/main" val="4103969939"/>
      </p:ext>
    </p:extLst>
  </p:cSld>
  <p:clrMapOvr>
    <a:masterClrMapping/>
  </p:clrMapOvr>
  <p:transition>
    <p:dissolv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838200" y="1524000"/>
            <a:ext cx="7467600" cy="5181600"/>
          </a:xfrm>
        </p:spPr>
        <p:style>
          <a:lnRef idx="2">
            <a:schemeClr val="accent3"/>
          </a:lnRef>
          <a:fillRef idx="1">
            <a:schemeClr val="lt1"/>
          </a:fillRef>
          <a:effectRef idx="0">
            <a:schemeClr val="accent3"/>
          </a:effectRef>
          <a:fontRef idx="minor">
            <a:schemeClr val="dk1"/>
          </a:fontRef>
        </p:style>
        <p:txBody>
          <a:bodyPr>
            <a:noAutofit/>
          </a:bodyPr>
          <a:lstStyle/>
          <a:p>
            <a:pPr algn="just"/>
            <a:endParaRPr lang="en-US" sz="1800" b="1" dirty="0" smtClean="0">
              <a:solidFill>
                <a:srgbClr val="FF00FF"/>
              </a:solidFill>
              <a:latin typeface="Times New Roman" pitchFamily="18" charset="0"/>
              <a:cs typeface="Times New Roman" pitchFamily="18" charset="0"/>
            </a:endParaRPr>
          </a:p>
          <a:p>
            <a:pPr marL="514350" indent="-514350" algn="just">
              <a:buFont typeface="+mj-lt"/>
              <a:buAutoNum type="alphaUcPeriod"/>
            </a:pPr>
            <a:r>
              <a:rPr lang="en-US" sz="2800" b="1" dirty="0" smtClean="0">
                <a:solidFill>
                  <a:srgbClr val="FF00FF"/>
                </a:solidFill>
                <a:latin typeface="Times New Roman" pitchFamily="18" charset="0"/>
                <a:cs typeface="Times New Roman" pitchFamily="18" charset="0"/>
              </a:rPr>
              <a:t>When two atoms come very </a:t>
            </a:r>
            <a:r>
              <a:rPr lang="en-US" sz="2800" b="1" dirty="0" smtClean="0">
                <a:solidFill>
                  <a:srgbClr val="0000FF"/>
                </a:solidFill>
                <a:latin typeface="Times New Roman" pitchFamily="18" charset="0"/>
                <a:cs typeface="Times New Roman" pitchFamily="18" charset="0"/>
              </a:rPr>
              <a:t>close to each other</a:t>
            </a:r>
            <a:r>
              <a:rPr lang="en-US" sz="2800" b="1" dirty="0" smtClean="0">
                <a:solidFill>
                  <a:srgbClr val="FF00FF"/>
                </a:solidFill>
                <a:latin typeface="Times New Roman" pitchFamily="18" charset="0"/>
                <a:cs typeface="Times New Roman" pitchFamily="18" charset="0"/>
              </a:rPr>
              <a:t>. </a:t>
            </a:r>
          </a:p>
          <a:p>
            <a:pPr marL="514350" indent="-514350" algn="just">
              <a:buFont typeface="+mj-lt"/>
              <a:buAutoNum type="alphaUcPeriod"/>
            </a:pPr>
            <a:r>
              <a:rPr lang="en-US" sz="2800" b="1" dirty="0">
                <a:solidFill>
                  <a:srgbClr val="FF00FF"/>
                </a:solidFill>
                <a:latin typeface="Times New Roman" pitchFamily="18" charset="0"/>
                <a:cs typeface="Times New Roman" pitchFamily="18" charset="0"/>
              </a:rPr>
              <a:t>T</a:t>
            </a:r>
            <a:r>
              <a:rPr lang="en-US" sz="2800" b="1" dirty="0" smtClean="0">
                <a:solidFill>
                  <a:srgbClr val="FF00FF"/>
                </a:solidFill>
                <a:latin typeface="Times New Roman" pitchFamily="18" charset="0"/>
                <a:cs typeface="Times New Roman" pitchFamily="18" charset="0"/>
              </a:rPr>
              <a:t>heir respective energy bands are going to overlap on each other and transform into what we call as </a:t>
            </a:r>
            <a:r>
              <a:rPr lang="en-US" sz="2800" b="1" dirty="0" smtClean="0">
                <a:solidFill>
                  <a:srgbClr val="0000FF"/>
                </a:solidFill>
                <a:latin typeface="Times New Roman" pitchFamily="18" charset="0"/>
                <a:cs typeface="Times New Roman" pitchFamily="18" charset="0"/>
              </a:rPr>
              <a:t>Molecular orbital.</a:t>
            </a:r>
          </a:p>
          <a:p>
            <a:pPr marL="514350" indent="-514350" algn="just">
              <a:buFont typeface="+mj-lt"/>
              <a:buAutoNum type="alphaUcPeriod"/>
            </a:pPr>
            <a:r>
              <a:rPr lang="en-US" sz="2800" b="1" dirty="0" smtClean="0">
                <a:solidFill>
                  <a:srgbClr val="FF00FF"/>
                </a:solidFill>
                <a:latin typeface="Times New Roman" pitchFamily="18" charset="0"/>
                <a:cs typeface="Times New Roman" pitchFamily="18" charset="0"/>
              </a:rPr>
              <a:t>Where the </a:t>
            </a:r>
            <a:r>
              <a:rPr lang="en-US" sz="2800" b="1" dirty="0" smtClean="0">
                <a:solidFill>
                  <a:srgbClr val="0000FF"/>
                </a:solidFill>
                <a:latin typeface="Times New Roman" pitchFamily="18" charset="0"/>
                <a:cs typeface="Times New Roman" pitchFamily="18" charset="0"/>
              </a:rPr>
              <a:t>Lower energy level is called bonding orbital </a:t>
            </a:r>
            <a:r>
              <a:rPr lang="en-US" sz="2800" b="1" dirty="0" smtClean="0">
                <a:solidFill>
                  <a:srgbClr val="FF00FF"/>
                </a:solidFill>
                <a:latin typeface="Times New Roman" pitchFamily="18" charset="0"/>
                <a:cs typeface="Times New Roman" pitchFamily="18" charset="0"/>
              </a:rPr>
              <a:t>and </a:t>
            </a:r>
            <a:r>
              <a:rPr lang="en-US" sz="2800" b="1" dirty="0" smtClean="0">
                <a:solidFill>
                  <a:srgbClr val="0000FF"/>
                </a:solidFill>
                <a:latin typeface="Times New Roman" pitchFamily="18" charset="0"/>
                <a:cs typeface="Times New Roman" pitchFamily="18" charset="0"/>
              </a:rPr>
              <a:t>Higher energy level is called anti-bonding orbital</a:t>
            </a:r>
            <a:r>
              <a:rPr lang="en-US" sz="2800" b="1" dirty="0" smtClean="0">
                <a:solidFill>
                  <a:srgbClr val="FF00FF"/>
                </a:solidFill>
                <a:latin typeface="Times New Roman" pitchFamily="18" charset="0"/>
                <a:cs typeface="Times New Roman" pitchFamily="18" charset="0"/>
              </a:rPr>
              <a:t>. This will repeat for all orbits. </a:t>
            </a:r>
            <a:endParaRPr lang="en-US" sz="1100" dirty="0"/>
          </a:p>
        </p:txBody>
      </p:sp>
      <p:sp>
        <p:nvSpPr>
          <p:cNvPr id="4" name="Rectangle 3"/>
          <p:cNvSpPr/>
          <p:nvPr/>
        </p:nvSpPr>
        <p:spPr>
          <a:xfrm>
            <a:off x="762000" y="457200"/>
            <a:ext cx="7467600"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sz="2800" b="1" dirty="0" smtClean="0">
                <a:solidFill>
                  <a:srgbClr val="3333FF"/>
                </a:solidFill>
              </a:rPr>
              <a:t>Energy levels </a:t>
            </a:r>
            <a:r>
              <a:rPr lang="en-US" sz="2800" b="1" dirty="0" smtClean="0">
                <a:solidFill>
                  <a:srgbClr val="FF0000"/>
                </a:solidFill>
              </a:rPr>
              <a:t>inside a molecule </a:t>
            </a:r>
            <a:r>
              <a:rPr lang="en-US" sz="2800" b="1" dirty="0" smtClean="0">
                <a:solidFill>
                  <a:srgbClr val="3333FF"/>
                </a:solidFill>
              </a:rPr>
              <a:t>made up of </a:t>
            </a:r>
            <a:r>
              <a:rPr lang="en-US" sz="2800" b="1" dirty="0" smtClean="0">
                <a:solidFill>
                  <a:srgbClr val="FF00FF"/>
                </a:solidFill>
              </a:rPr>
              <a:t>two atoms</a:t>
            </a:r>
          </a:p>
        </p:txBody>
      </p:sp>
    </p:spTree>
    <p:extLst>
      <p:ext uri="{BB962C8B-B14F-4D97-AF65-F5344CB8AC3E}">
        <p14:creationId xmlns:p14="http://schemas.microsoft.com/office/powerpoint/2010/main" val="34160833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p:cNvPicPr>
            <a:picLocks noGrp="1" noChangeAspect="1" noChangeArrowheads="1"/>
          </p:cNvPicPr>
          <p:nvPr>
            <p:ph sz="quarter" idx="1"/>
          </p:nvPr>
        </p:nvPicPr>
        <p:blipFill>
          <a:blip r:embed="rId2"/>
          <a:srcRect/>
          <a:stretch>
            <a:fillRect/>
          </a:stretch>
        </p:blipFill>
        <p:spPr bwMode="auto">
          <a:xfrm>
            <a:off x="1219200" y="533400"/>
            <a:ext cx="6629400" cy="5729696"/>
          </a:xfrm>
          <a:prstGeom prst="rect">
            <a:avLst/>
          </a:prstGeom>
          <a:ln>
            <a:headEnd/>
            <a:tailEnd/>
          </a:ln>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20638656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lnRef>
          <a:fillRef idx="1">
            <a:schemeClr val="lt1"/>
          </a:fillRef>
          <a:effectRef idx="0">
            <a:schemeClr val="accent2"/>
          </a:effectRef>
          <a:fontRef idx="minor">
            <a:schemeClr val="dk1"/>
          </a:fontRef>
        </p:style>
        <p:txBody>
          <a:bodyPr>
            <a:normAutofit fontScale="90000"/>
          </a:bodyPr>
          <a:lstStyle/>
          <a:p>
            <a:r>
              <a:rPr lang="en-US" sz="2700" b="1" dirty="0" smtClean="0">
                <a:solidFill>
                  <a:srgbClr val="CC00FF"/>
                </a:solidFill>
              </a:rPr>
              <a:t>Energy levels inside </a:t>
            </a:r>
            <a:r>
              <a:rPr lang="en-US" sz="2700" b="1" dirty="0" smtClean="0">
                <a:solidFill>
                  <a:srgbClr val="0000FF"/>
                </a:solidFill>
              </a:rPr>
              <a:t>a molecule made up of three atoms</a:t>
            </a:r>
            <a:r>
              <a:rPr lang="en-US" b="1" dirty="0" smtClean="0">
                <a:solidFill>
                  <a:srgbClr val="0000FF"/>
                </a:solidFill>
              </a:rPr>
              <a:t/>
            </a:r>
            <a:br>
              <a:rPr lang="en-US" b="1" dirty="0" smtClean="0">
                <a:solidFill>
                  <a:srgbClr val="0000FF"/>
                </a:solidFill>
              </a:rPr>
            </a:br>
            <a:endParaRPr lang="en-US" dirty="0">
              <a:solidFill>
                <a:srgbClr val="0000FF"/>
              </a:solidFill>
            </a:endParaRPr>
          </a:p>
        </p:txBody>
      </p:sp>
      <p:sp>
        <p:nvSpPr>
          <p:cNvPr id="3" name="Content Placeholder 2"/>
          <p:cNvSpPr>
            <a:spLocks noGrp="1"/>
          </p:cNvSpPr>
          <p:nvPr>
            <p:ph sz="quarter" idx="1"/>
          </p:nvPr>
        </p:nvSpPr>
        <p:spPr>
          <a:xfrm>
            <a:off x="533400" y="1981200"/>
            <a:ext cx="8305800" cy="3657600"/>
          </a:xfrm>
        </p:spPr>
        <p:style>
          <a:lnRef idx="2">
            <a:schemeClr val="accent4"/>
          </a:lnRef>
          <a:fillRef idx="1">
            <a:schemeClr val="lt1"/>
          </a:fillRef>
          <a:effectRef idx="0">
            <a:schemeClr val="accent4"/>
          </a:effectRef>
          <a:fontRef idx="minor">
            <a:schemeClr val="dk1"/>
          </a:fontRef>
        </p:style>
        <p:txBody>
          <a:bodyPr>
            <a:normAutofit fontScale="77500" lnSpcReduction="20000"/>
          </a:bodyPr>
          <a:lstStyle/>
          <a:p>
            <a:pPr algn="just">
              <a:buFont typeface="Wingdings" pitchFamily="2" charset="2"/>
              <a:buChar char="q"/>
            </a:pPr>
            <a:r>
              <a:rPr lang="en-US" dirty="0" smtClean="0">
                <a:solidFill>
                  <a:srgbClr val="0070C0"/>
                </a:solidFill>
              </a:rPr>
              <a:t>Now try to </a:t>
            </a:r>
            <a:r>
              <a:rPr lang="en-US" dirty="0" err="1" smtClean="0">
                <a:solidFill>
                  <a:srgbClr val="0070C0"/>
                </a:solidFill>
              </a:rPr>
              <a:t>picturise</a:t>
            </a:r>
            <a:r>
              <a:rPr lang="en-US" dirty="0" smtClean="0">
                <a:solidFill>
                  <a:srgbClr val="0070C0"/>
                </a:solidFill>
              </a:rPr>
              <a:t>, what is going to happen if we add a third sodium atom to the mix? </a:t>
            </a:r>
          </a:p>
          <a:p>
            <a:pPr algn="just">
              <a:buFont typeface="Wingdings" pitchFamily="2" charset="2"/>
              <a:buChar char="q"/>
            </a:pPr>
            <a:endParaRPr lang="en-US" dirty="0" smtClean="0">
              <a:solidFill>
                <a:srgbClr val="0070C0"/>
              </a:solidFill>
            </a:endParaRPr>
          </a:p>
          <a:p>
            <a:pPr algn="just">
              <a:buFont typeface="Wingdings" pitchFamily="2" charset="2"/>
              <a:buChar char="q"/>
            </a:pPr>
            <a:r>
              <a:rPr lang="en-US" dirty="0" smtClean="0">
                <a:solidFill>
                  <a:srgbClr val="0070C0"/>
                </a:solidFill>
              </a:rPr>
              <a:t>The </a:t>
            </a:r>
            <a:r>
              <a:rPr lang="en-US" dirty="0" smtClean="0">
                <a:solidFill>
                  <a:srgbClr val="0000FF"/>
                </a:solidFill>
              </a:rPr>
              <a:t>three atomic orbitals will be overlapping forming single molecular orbital with three discrete energy levels. </a:t>
            </a:r>
          </a:p>
          <a:p>
            <a:pPr marL="0" indent="0" algn="just">
              <a:buNone/>
            </a:pPr>
            <a:endParaRPr lang="en-US" dirty="0" smtClean="0">
              <a:solidFill>
                <a:srgbClr val="0000FF"/>
              </a:solidFill>
            </a:endParaRPr>
          </a:p>
          <a:p>
            <a:pPr algn="just">
              <a:buFont typeface="Wingdings" pitchFamily="2" charset="2"/>
              <a:buChar char="q"/>
            </a:pPr>
            <a:r>
              <a:rPr lang="en-US" dirty="0" smtClean="0">
                <a:solidFill>
                  <a:srgbClr val="0070C0"/>
                </a:solidFill>
              </a:rPr>
              <a:t>Each molecular orbital here will inherit </a:t>
            </a:r>
            <a:r>
              <a:rPr lang="en-US" dirty="0" smtClean="0">
                <a:solidFill>
                  <a:srgbClr val="0000FF"/>
                </a:solidFill>
              </a:rPr>
              <a:t>three energy levels.</a:t>
            </a:r>
            <a:r>
              <a:rPr lang="en-US" dirty="0" smtClean="0">
                <a:solidFill>
                  <a:srgbClr val="0070C0"/>
                </a:solidFill>
              </a:rPr>
              <a:t> In general, the more we add atoms, more energy levels the molecular orbit going to have.</a:t>
            </a:r>
            <a:endParaRPr lang="en-US" dirty="0">
              <a:solidFill>
                <a:srgbClr val="0070C0"/>
              </a:solidFill>
            </a:endParaRPr>
          </a:p>
        </p:txBody>
      </p:sp>
    </p:spTree>
    <p:extLst>
      <p:ext uri="{BB962C8B-B14F-4D97-AF65-F5344CB8AC3E}">
        <p14:creationId xmlns:p14="http://schemas.microsoft.com/office/powerpoint/2010/main" val="317642841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AutoShape 2" descr="band theory of solids-3"/>
          <p:cNvSpPr>
            <a:spLocks noChangeAspect="1" noChangeArrowheads="1"/>
          </p:cNvSpPr>
          <p:nvPr/>
        </p:nvSpPr>
        <p:spPr bwMode="auto">
          <a:xfrm>
            <a:off x="155575" y="-1500188"/>
            <a:ext cx="3629025" cy="3133726"/>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58723" name="Picture 3"/>
          <p:cNvPicPr>
            <a:picLocks noChangeAspect="1" noChangeArrowheads="1"/>
          </p:cNvPicPr>
          <p:nvPr/>
        </p:nvPicPr>
        <p:blipFill>
          <a:blip r:embed="rId2"/>
          <a:srcRect/>
          <a:stretch>
            <a:fillRect/>
          </a:stretch>
        </p:blipFill>
        <p:spPr bwMode="auto">
          <a:xfrm>
            <a:off x="1066800" y="1219200"/>
            <a:ext cx="6665913" cy="5762625"/>
          </a:xfrm>
          <a:prstGeom prst="rect">
            <a:avLst/>
          </a:prstGeom>
          <a:ln>
            <a:headEnd/>
            <a:tailEnd/>
          </a:ln>
        </p:spPr>
        <p:style>
          <a:lnRef idx="2">
            <a:schemeClr val="accent2"/>
          </a:lnRef>
          <a:fillRef idx="1">
            <a:schemeClr val="lt1"/>
          </a:fillRef>
          <a:effectRef idx="0">
            <a:schemeClr val="accent2"/>
          </a:effectRef>
          <a:fontRef idx="minor">
            <a:schemeClr val="dk1"/>
          </a:fontRef>
        </p:style>
      </p:pic>
      <p:cxnSp>
        <p:nvCxnSpPr>
          <p:cNvPr id="3" name="Straight Arrow Connector 2"/>
          <p:cNvCxnSpPr/>
          <p:nvPr/>
        </p:nvCxnSpPr>
        <p:spPr>
          <a:xfrm>
            <a:off x="3886200" y="5271370"/>
            <a:ext cx="0" cy="4572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7" name="Straight Arrow Connector 6"/>
          <p:cNvCxnSpPr/>
          <p:nvPr/>
        </p:nvCxnSpPr>
        <p:spPr>
          <a:xfrm flipV="1">
            <a:off x="3790863" y="5271370"/>
            <a:ext cx="0" cy="4572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1" name="Straight Arrow Connector 10"/>
          <p:cNvCxnSpPr/>
          <p:nvPr/>
        </p:nvCxnSpPr>
        <p:spPr>
          <a:xfrm>
            <a:off x="4876800" y="4267200"/>
            <a:ext cx="0" cy="4572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618986">
            <a:off x="4745385" y="3913534"/>
            <a:ext cx="523875" cy="81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455987"/>
            <a:ext cx="523875" cy="81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640715">
            <a:off x="5028307" y="3113741"/>
            <a:ext cx="523875" cy="81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4504584" y="2290831"/>
            <a:ext cx="523875" cy="81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5401021" y="3102045"/>
            <a:ext cx="523875" cy="81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9217" y="3420814"/>
            <a:ext cx="523875" cy="81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2958" y="3420814"/>
            <a:ext cx="523875" cy="81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800000">
            <a:off x="5810759" y="3139173"/>
            <a:ext cx="523875" cy="811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395832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lnRef>
          <a:fillRef idx="1">
            <a:schemeClr val="lt1"/>
          </a:fillRef>
          <a:effectRef idx="0">
            <a:schemeClr val="accent2"/>
          </a:effectRef>
          <a:fontRef idx="minor">
            <a:schemeClr val="dk1"/>
          </a:fontRef>
        </p:style>
        <p:txBody>
          <a:bodyPr>
            <a:normAutofit/>
          </a:bodyPr>
          <a:lstStyle/>
          <a:p>
            <a:r>
              <a:rPr lang="en-US" sz="2000" b="1" dirty="0" smtClean="0">
                <a:solidFill>
                  <a:srgbClr val="6600CC"/>
                </a:solidFill>
              </a:rPr>
              <a:t>Energy levels inside a solid made up of </a:t>
            </a:r>
            <a:r>
              <a:rPr lang="en-US" sz="2000" b="1" dirty="0" smtClean="0">
                <a:solidFill>
                  <a:srgbClr val="FF0000"/>
                </a:solidFill>
              </a:rPr>
              <a:t>Avogadro number of atoms</a:t>
            </a:r>
            <a:r>
              <a:rPr lang="en-US" sz="2800" b="1" dirty="0" smtClean="0"/>
              <a:t/>
            </a:r>
            <a:br>
              <a:rPr lang="en-US" sz="2800" b="1" dirty="0" smtClean="0"/>
            </a:br>
            <a:endParaRPr lang="en-US" sz="2800" dirty="0"/>
          </a:p>
        </p:txBody>
      </p:sp>
      <p:sp>
        <p:nvSpPr>
          <p:cNvPr id="3" name="Content Placeholder 2"/>
          <p:cNvSpPr>
            <a:spLocks noGrp="1"/>
          </p:cNvSpPr>
          <p:nvPr>
            <p:ph sz="quarter" idx="1"/>
          </p:nvPr>
        </p:nvSpPr>
        <p:spPr/>
        <p:style>
          <a:lnRef idx="2">
            <a:schemeClr val="accent2"/>
          </a:lnRef>
          <a:fillRef idx="1">
            <a:schemeClr val="lt1"/>
          </a:fillRef>
          <a:effectRef idx="0">
            <a:schemeClr val="accent2"/>
          </a:effectRef>
          <a:fontRef idx="minor">
            <a:schemeClr val="dk1"/>
          </a:fontRef>
        </p:style>
        <p:txBody>
          <a:bodyPr>
            <a:noAutofit/>
          </a:bodyPr>
          <a:lstStyle/>
          <a:p>
            <a:pPr algn="just">
              <a:buFont typeface="Wingdings" pitchFamily="2" charset="2"/>
              <a:buChar char="q"/>
            </a:pPr>
            <a:r>
              <a:rPr lang="en-US" sz="2000" dirty="0" smtClean="0">
                <a:solidFill>
                  <a:srgbClr val="FF0000"/>
                </a:solidFill>
              </a:rPr>
              <a:t>Eventually, if we have an entire solid, which is made of sodium with something like </a:t>
            </a:r>
            <a:r>
              <a:rPr lang="en-US" sz="2000" dirty="0" smtClean="0">
                <a:solidFill>
                  <a:srgbClr val="0000FF"/>
                </a:solidFill>
              </a:rPr>
              <a:t>10</a:t>
            </a:r>
            <a:r>
              <a:rPr lang="en-US" sz="2000" baseline="30000" dirty="0" smtClean="0">
                <a:solidFill>
                  <a:srgbClr val="0000FF"/>
                </a:solidFill>
              </a:rPr>
              <a:t>23</a:t>
            </a:r>
            <a:r>
              <a:rPr lang="en-US" sz="2000" dirty="0" smtClean="0">
                <a:solidFill>
                  <a:srgbClr val="FF0000"/>
                </a:solidFill>
              </a:rPr>
              <a:t> atoms packed together, Each molecular orbital of this solid will have now </a:t>
            </a:r>
            <a:r>
              <a:rPr lang="en-US" sz="2000" dirty="0" smtClean="0">
                <a:solidFill>
                  <a:srgbClr val="0000FF"/>
                </a:solidFill>
              </a:rPr>
              <a:t>10</a:t>
            </a:r>
            <a:r>
              <a:rPr lang="en-US" sz="2000" baseline="30000" dirty="0" smtClean="0">
                <a:solidFill>
                  <a:srgbClr val="0000FF"/>
                </a:solidFill>
              </a:rPr>
              <a:t>23</a:t>
            </a:r>
            <a:r>
              <a:rPr lang="en-US" sz="2000" dirty="0" smtClean="0">
                <a:solidFill>
                  <a:srgbClr val="FF0000"/>
                </a:solidFill>
              </a:rPr>
              <a:t> discrete energy levels. </a:t>
            </a:r>
          </a:p>
          <a:p>
            <a:pPr algn="just">
              <a:buFont typeface="Wingdings" pitchFamily="2" charset="2"/>
              <a:buChar char="q"/>
            </a:pPr>
            <a:endParaRPr lang="en-US" sz="2000" dirty="0" smtClean="0">
              <a:solidFill>
                <a:srgbClr val="FF0000"/>
              </a:solidFill>
            </a:endParaRPr>
          </a:p>
          <a:p>
            <a:pPr algn="just">
              <a:buFont typeface="Wingdings" pitchFamily="2" charset="2"/>
              <a:buChar char="q"/>
            </a:pPr>
            <a:r>
              <a:rPr lang="en-US" sz="2000" dirty="0" smtClean="0">
                <a:solidFill>
                  <a:srgbClr val="FF0000"/>
                </a:solidFill>
              </a:rPr>
              <a:t>For better understanding purpose, Think about drawing </a:t>
            </a:r>
            <a:r>
              <a:rPr lang="en-US" sz="2000" dirty="0" smtClean="0">
                <a:solidFill>
                  <a:srgbClr val="0000FF"/>
                </a:solidFill>
              </a:rPr>
              <a:t>1s orbital of Sodium solid block, draw lower energy level and upper energy level and in between stack it with 10</a:t>
            </a:r>
            <a:r>
              <a:rPr lang="en-US" sz="2000" baseline="30000" dirty="0" smtClean="0">
                <a:solidFill>
                  <a:srgbClr val="0000FF"/>
                </a:solidFill>
              </a:rPr>
              <a:t>23</a:t>
            </a:r>
            <a:r>
              <a:rPr lang="en-US" sz="2000" dirty="0" smtClean="0">
                <a:solidFill>
                  <a:srgbClr val="0000FF"/>
                </a:solidFill>
              </a:rPr>
              <a:t> energy levels! </a:t>
            </a:r>
          </a:p>
          <a:p>
            <a:pPr algn="just">
              <a:buFont typeface="Wingdings" pitchFamily="2" charset="2"/>
              <a:buChar char="q"/>
            </a:pPr>
            <a:endParaRPr lang="en-US" sz="2000" dirty="0" smtClean="0">
              <a:solidFill>
                <a:srgbClr val="0000FF"/>
              </a:solidFill>
            </a:endParaRPr>
          </a:p>
          <a:p>
            <a:pPr algn="just">
              <a:buFont typeface="Wingdings" pitchFamily="2" charset="2"/>
              <a:buChar char="q"/>
            </a:pPr>
            <a:r>
              <a:rPr lang="en-US" sz="2000" dirty="0" smtClean="0">
                <a:solidFill>
                  <a:srgbClr val="FF0000"/>
                </a:solidFill>
              </a:rPr>
              <a:t>The gaps between them will be extremely small such that, no longer we can notice individual energy levels. As a result, It is convenient to think of it as continuous energy or </a:t>
            </a:r>
            <a:r>
              <a:rPr lang="en-US" sz="2000" dirty="0" smtClean="0">
                <a:solidFill>
                  <a:srgbClr val="0000FF"/>
                </a:solidFill>
              </a:rPr>
              <a:t>energy continuum</a:t>
            </a:r>
            <a:r>
              <a:rPr lang="en-US" sz="2000" dirty="0" smtClean="0">
                <a:solidFill>
                  <a:srgbClr val="FF0000"/>
                </a:solidFill>
              </a:rPr>
              <a:t>. When we think in this way, we can </a:t>
            </a:r>
            <a:r>
              <a:rPr lang="en-US" sz="2000" dirty="0" smtClean="0">
                <a:solidFill>
                  <a:srgbClr val="0000FF"/>
                </a:solidFill>
              </a:rPr>
              <a:t>call them as energy band instead of molecular orbit</a:t>
            </a:r>
            <a:r>
              <a:rPr lang="en-US" sz="2000" dirty="0" smtClean="0">
                <a:solidFill>
                  <a:srgbClr val="FF0000"/>
                </a:solidFill>
              </a:rPr>
              <a:t>. </a:t>
            </a:r>
            <a:endParaRPr lang="en-US" sz="2000" dirty="0">
              <a:solidFill>
                <a:srgbClr val="FF0000"/>
              </a:solidFill>
            </a:endParaRPr>
          </a:p>
        </p:txBody>
      </p:sp>
    </p:spTree>
    <p:extLst>
      <p:ext uri="{BB962C8B-B14F-4D97-AF65-F5344CB8AC3E}">
        <p14:creationId xmlns:p14="http://schemas.microsoft.com/office/powerpoint/2010/main" val="127189238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49" name="Picture 1"/>
          <p:cNvPicPr>
            <a:picLocks noGrp="1" noChangeAspect="1" noChangeArrowheads="1"/>
          </p:cNvPicPr>
          <p:nvPr>
            <p:ph sz="quarter" idx="1"/>
          </p:nvPr>
        </p:nvPicPr>
        <p:blipFill>
          <a:blip r:embed="rId2"/>
          <a:srcRect/>
          <a:stretch>
            <a:fillRect/>
          </a:stretch>
        </p:blipFill>
        <p:spPr bwMode="auto">
          <a:xfrm>
            <a:off x="457200" y="228600"/>
            <a:ext cx="7308150" cy="5867400"/>
          </a:xfrm>
          <a:prstGeom prst="rect">
            <a:avLst/>
          </a:prstGeom>
          <a:ln>
            <a:headEnd/>
            <a:tailEnd/>
          </a:ln>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138782926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685800" y="381000"/>
            <a:ext cx="7848600" cy="624786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342900" indent="-342900" algn="just">
              <a:buFont typeface="Wingdings" pitchFamily="2" charset="2"/>
              <a:buChar char="q"/>
            </a:pPr>
            <a:r>
              <a:rPr lang="en-US" sz="2000" b="1" dirty="0" smtClean="0">
                <a:solidFill>
                  <a:srgbClr val="00B0F0"/>
                </a:solidFill>
                <a:latin typeface="+mj-lt"/>
                <a:cs typeface="Times New Roman" pitchFamily="18" charset="0"/>
              </a:rPr>
              <a:t>In general, If there are n-number of atoms, then there will be n discrete energy levels in each </a:t>
            </a:r>
            <a:r>
              <a:rPr lang="en-US" sz="2000" b="1" dirty="0" smtClean="0">
                <a:solidFill>
                  <a:srgbClr val="00B0F0"/>
                </a:solidFill>
                <a:latin typeface="+mj-lt"/>
                <a:cs typeface="Times New Roman" pitchFamily="18" charset="0"/>
                <a:hlinkClick r:id="rId2"/>
              </a:rPr>
              <a:t>energy band</a:t>
            </a:r>
            <a:r>
              <a:rPr lang="en-US" sz="2000" b="1" dirty="0" smtClean="0">
                <a:solidFill>
                  <a:srgbClr val="00B0F0"/>
                </a:solidFill>
                <a:latin typeface="+mj-lt"/>
                <a:cs typeface="Times New Roman" pitchFamily="18" charset="0"/>
              </a:rPr>
              <a:t>. </a:t>
            </a:r>
          </a:p>
          <a:p>
            <a:pPr marL="342900" indent="-342900" algn="just">
              <a:buFont typeface="Wingdings" pitchFamily="2" charset="2"/>
              <a:buChar char="q"/>
            </a:pPr>
            <a:r>
              <a:rPr lang="en-US" sz="2000" b="1" dirty="0" smtClean="0">
                <a:solidFill>
                  <a:srgbClr val="00B0F0"/>
                </a:solidFill>
                <a:latin typeface="+mj-lt"/>
                <a:cs typeface="Times New Roman" pitchFamily="18" charset="0"/>
              </a:rPr>
              <a:t>In such a system of n number of atoms, the molecular orbitals are called as energy bands.</a:t>
            </a:r>
          </a:p>
          <a:p>
            <a:pPr algn="just"/>
            <a:endParaRPr lang="en-US" sz="2000" dirty="0" smtClean="0">
              <a:solidFill>
                <a:srgbClr val="00B0F0"/>
              </a:solidFill>
              <a:latin typeface="+mj-lt"/>
              <a:cs typeface="Times New Roman" pitchFamily="18" charset="0"/>
            </a:endParaRPr>
          </a:p>
          <a:p>
            <a:pPr marL="342900" indent="-342900" algn="just">
              <a:buFont typeface="Wingdings" pitchFamily="2" charset="2"/>
              <a:buChar char="q"/>
            </a:pPr>
            <a:r>
              <a:rPr lang="en-US" sz="2000" dirty="0" smtClean="0">
                <a:solidFill>
                  <a:srgbClr val="00B0F0"/>
                </a:solidFill>
                <a:latin typeface="+mj-lt"/>
                <a:cs typeface="Times New Roman" pitchFamily="18" charset="0"/>
              </a:rPr>
              <a:t>Single 1s orbital and 2s orbital can fit 2 electrons each. thus, the total number of electrons a 1s and 2s energy band can fit is 2n. A single 2p level can fit 6 electrons so 2p energy band can fit is 6n electron so on and so forth.</a:t>
            </a:r>
          </a:p>
          <a:p>
            <a:pPr marL="342900" indent="-342900" algn="just">
              <a:buFont typeface="Wingdings" pitchFamily="2" charset="2"/>
              <a:buChar char="q"/>
            </a:pPr>
            <a:endParaRPr lang="en-US" sz="2000" dirty="0" smtClean="0">
              <a:solidFill>
                <a:srgbClr val="C00000"/>
              </a:solidFill>
              <a:latin typeface="+mj-lt"/>
              <a:cs typeface="Times New Roman" pitchFamily="18" charset="0"/>
            </a:endParaRPr>
          </a:p>
          <a:p>
            <a:pPr marL="342900" indent="-342900" algn="just">
              <a:buFont typeface="Wingdings" pitchFamily="2" charset="2"/>
              <a:buChar char="q"/>
            </a:pPr>
            <a:r>
              <a:rPr lang="en-US" sz="2000" dirty="0" smtClean="0">
                <a:solidFill>
                  <a:srgbClr val="C00000"/>
                </a:solidFill>
                <a:latin typeface="+mj-lt"/>
              </a:rPr>
              <a:t>As atoms come close to each other and eventually form a solid, They end up forming energy continuum and we name that continuum as bands. Within the bands, energy levels which are available are continuous. Thus, the name of this theory without any surprise is, </a:t>
            </a:r>
            <a:r>
              <a:rPr lang="en-US" sz="2000" i="1" dirty="0" smtClean="0">
                <a:solidFill>
                  <a:srgbClr val="C00000"/>
                </a:solidFill>
                <a:latin typeface="+mj-lt"/>
              </a:rPr>
              <a:t>“</a:t>
            </a:r>
            <a:r>
              <a:rPr lang="en-US" sz="2000" b="1" i="1" dirty="0" smtClean="0">
                <a:solidFill>
                  <a:srgbClr val="0000FF"/>
                </a:solidFill>
                <a:latin typeface="+mj-lt"/>
              </a:rPr>
              <a:t>The band theory of solids” </a:t>
            </a:r>
          </a:p>
          <a:p>
            <a:pPr algn="just"/>
            <a:endParaRPr lang="en-US" sz="2000" b="1" dirty="0" smtClean="0">
              <a:solidFill>
                <a:srgbClr val="C00000"/>
              </a:solidFill>
              <a:latin typeface="+mj-lt"/>
            </a:endParaRPr>
          </a:p>
          <a:p>
            <a:pPr marL="342900" indent="-342900" algn="just">
              <a:buFont typeface="Wingdings" pitchFamily="2" charset="2"/>
              <a:buChar char="q"/>
            </a:pPr>
            <a:r>
              <a:rPr lang="en-US" sz="2000" dirty="0" smtClean="0">
                <a:solidFill>
                  <a:srgbClr val="C00000"/>
                </a:solidFill>
                <a:latin typeface="+mj-lt"/>
              </a:rPr>
              <a:t>Using this theory, we can understand how free electrons are generated and why certain material readily have free electron available making them a conductor and why some others don’t?</a:t>
            </a:r>
          </a:p>
          <a:p>
            <a:pPr algn="just"/>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34473339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533400"/>
            <a:ext cx="7467600" cy="5940552"/>
          </a:xfrm>
        </p:spPr>
        <p:style>
          <a:lnRef idx="2">
            <a:schemeClr val="accent2"/>
          </a:lnRef>
          <a:fillRef idx="1">
            <a:schemeClr val="lt1"/>
          </a:fillRef>
          <a:effectRef idx="0">
            <a:schemeClr val="accent2"/>
          </a:effectRef>
          <a:fontRef idx="minor">
            <a:schemeClr val="dk1"/>
          </a:fontRef>
        </p:style>
        <p:txBody>
          <a:bodyPr>
            <a:normAutofit/>
          </a:bodyPr>
          <a:lstStyle/>
          <a:p>
            <a:pPr algn="just">
              <a:buFont typeface="Wingdings" pitchFamily="2" charset="2"/>
              <a:buChar char="q"/>
            </a:pPr>
            <a:endParaRPr lang="en-US" sz="2400" dirty="0" smtClean="0">
              <a:solidFill>
                <a:srgbClr val="6600CC"/>
              </a:solidFill>
            </a:endParaRPr>
          </a:p>
          <a:p>
            <a:pPr algn="just">
              <a:buFont typeface="Wingdings" pitchFamily="2" charset="2"/>
              <a:buChar char="q"/>
            </a:pPr>
            <a:endParaRPr lang="en-US" sz="2400" dirty="0">
              <a:solidFill>
                <a:srgbClr val="6600CC"/>
              </a:solidFill>
            </a:endParaRPr>
          </a:p>
          <a:p>
            <a:pPr algn="just">
              <a:buFont typeface="Wingdings" pitchFamily="2" charset="2"/>
              <a:buChar char="q"/>
            </a:pPr>
            <a:r>
              <a:rPr lang="en-US" sz="2400" dirty="0" smtClean="0">
                <a:solidFill>
                  <a:srgbClr val="6600CC"/>
                </a:solidFill>
              </a:rPr>
              <a:t>Atoms have been seen to have discrete energy levels. </a:t>
            </a:r>
          </a:p>
          <a:p>
            <a:pPr algn="just">
              <a:buFont typeface="Wingdings" pitchFamily="2" charset="2"/>
              <a:buChar char="q"/>
            </a:pPr>
            <a:r>
              <a:rPr lang="en-US" sz="2400" dirty="0" smtClean="0">
                <a:solidFill>
                  <a:srgbClr val="6600CC"/>
                </a:solidFill>
              </a:rPr>
              <a:t>When a huge number of atoms are combined to form a solid however, these discrete energy levels are replaced by discrete ranges of energy, or energy bands, within which there are so many individual allowed energy values that within the bands the distribution can be considered to be continuous. This idea is seen in the following figure: </a:t>
            </a:r>
          </a:p>
          <a:p>
            <a:pPr>
              <a:buFont typeface="Wingdings" pitchFamily="2" charset="2"/>
              <a:buChar char="q"/>
            </a:pPr>
            <a:endParaRPr lang="en-US" sz="2400" dirty="0"/>
          </a:p>
        </p:txBody>
      </p:sp>
    </p:spTree>
    <p:extLst>
      <p:ext uri="{BB962C8B-B14F-4D97-AF65-F5344CB8AC3E}">
        <p14:creationId xmlns:p14="http://schemas.microsoft.com/office/powerpoint/2010/main" val="418867952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228601" y="457200"/>
            <a:ext cx="4419599" cy="3152647"/>
          </a:xfrm>
          <a:prstGeom prst="rect">
            <a:avLst/>
          </a:prstGeom>
          <a:noFill/>
          <a:ln w="9525">
            <a:solidFill>
              <a:srgbClr val="FF0000">
                <a:alpha val="54000"/>
              </a:srgb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42590" y="3866151"/>
            <a:ext cx="8153400" cy="1200329"/>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400" dirty="0" smtClean="0"/>
              <a:t>The energy gap between the valence and the </a:t>
            </a:r>
            <a:r>
              <a:rPr lang="en-US" sz="2400" dirty="0" smtClean="0">
                <a:solidFill>
                  <a:srgbClr val="3333CC"/>
                </a:solidFill>
              </a:rPr>
              <a:t>conduction</a:t>
            </a:r>
            <a:r>
              <a:rPr lang="en-US" sz="2400" dirty="0" smtClean="0"/>
              <a:t> band is called </a:t>
            </a:r>
            <a:r>
              <a:rPr lang="en-US" sz="2400" b="1" dirty="0" smtClean="0">
                <a:solidFill>
                  <a:srgbClr val="FF0000"/>
                </a:solidFill>
              </a:rPr>
              <a:t>BAND GAP/FORBIDDEN GAP/FORBIDDEN BAND.</a:t>
            </a:r>
            <a:endParaRPr lang="en-US" sz="2400" dirty="0">
              <a:solidFill>
                <a:srgbClr val="FF0000"/>
              </a:solidFill>
            </a:endParaRPr>
          </a:p>
        </p:txBody>
      </p:sp>
      <p:pic>
        <p:nvPicPr>
          <p:cNvPr id="10244" name="Picture 4" descr="https://madoverchemistry.files.wordpress.com/2023/05/963.jpg?w=677"/>
          <p:cNvPicPr>
            <a:picLocks noChangeAspect="1" noChangeArrowheads="1"/>
          </p:cNvPicPr>
          <p:nvPr/>
        </p:nvPicPr>
        <p:blipFill>
          <a:blip r:embed="rId4">
            <a:extLst>
              <a:ext uri="{BEBA8EAE-BF5A-486C-A8C5-ECC9F3942E4B}">
                <a14:imgProps xmlns:a14="http://schemas.microsoft.com/office/drawing/2010/main">
                  <a14:imgLayer r:embed="rId5">
                    <a14:imgEffect>
                      <a14:sharpenSoften amount="500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4759036" y="457200"/>
            <a:ext cx="4136954" cy="3124200"/>
          </a:xfrm>
          <a:prstGeom prst="rect">
            <a:avLst/>
          </a:prstGeom>
          <a:noFill/>
          <a:ln>
            <a:solidFill>
              <a:schemeClr val="tx2">
                <a:lumMod val="75000"/>
              </a:schemeClr>
            </a:solidFill>
          </a:ln>
          <a:extLst>
            <a:ext uri="{909E8E84-426E-40DD-AFC4-6F175D3DCCD1}">
              <a14:hiddenFill xmlns:a14="http://schemas.microsoft.com/office/drawing/2010/main">
                <a:solidFill>
                  <a:srgbClr val="FFFFFF"/>
                </a:solidFill>
              </a14:hiddenFill>
            </a:ext>
          </a:extLst>
        </p:spPr>
      </p:pic>
      <p:sp>
        <p:nvSpPr>
          <p:cNvPr id="5" name="Rectangle 4"/>
          <p:cNvSpPr/>
          <p:nvPr/>
        </p:nvSpPr>
        <p:spPr>
          <a:xfrm>
            <a:off x="710230" y="5345502"/>
            <a:ext cx="8185759" cy="95410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sz="2800" b="1" dirty="0" smtClean="0">
                <a:solidFill>
                  <a:srgbClr val="3333CC"/>
                </a:solidFill>
              </a:rPr>
              <a:t>This band gap determines whether a </a:t>
            </a:r>
            <a:r>
              <a:rPr lang="en-US" sz="2800" b="1" dirty="0" smtClean="0">
                <a:solidFill>
                  <a:srgbClr val="FF0000"/>
                </a:solidFill>
              </a:rPr>
              <a:t>material </a:t>
            </a:r>
            <a:r>
              <a:rPr lang="en-US" sz="2800" b="1" dirty="0" smtClean="0">
                <a:solidFill>
                  <a:srgbClr val="3333CC"/>
                </a:solidFill>
              </a:rPr>
              <a:t>is a </a:t>
            </a:r>
            <a:r>
              <a:rPr lang="en-US" sz="2800" b="1" dirty="0" smtClean="0">
                <a:solidFill>
                  <a:srgbClr val="7030A0"/>
                </a:solidFill>
              </a:rPr>
              <a:t>Conductor, Semi-conductor, or An insulator</a:t>
            </a:r>
            <a:endParaRPr lang="en-US" sz="2800" b="1" dirty="0">
              <a:solidFill>
                <a:srgbClr val="7030A0"/>
              </a:solidFill>
            </a:endParaRPr>
          </a:p>
        </p:txBody>
      </p:sp>
    </p:spTree>
    <p:extLst>
      <p:ext uri="{BB962C8B-B14F-4D97-AF65-F5344CB8AC3E}">
        <p14:creationId xmlns:p14="http://schemas.microsoft.com/office/powerpoint/2010/main" val="194356141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7458" name="Picture 2"/>
          <p:cNvPicPr>
            <a:picLocks noGrp="1" noChangeAspect="1" noChangeArrowheads="1"/>
          </p:cNvPicPr>
          <p:nvPr>
            <p:ph idx="1"/>
          </p:nvPr>
        </p:nvPicPr>
        <p:blipFill>
          <a:blip r:embed="rId2"/>
          <a:srcRect/>
          <a:stretch>
            <a:fillRect/>
          </a:stretch>
        </p:blipFill>
        <p:spPr bwMode="auto">
          <a:xfrm>
            <a:off x="381000" y="914400"/>
            <a:ext cx="8344953" cy="5181600"/>
          </a:xfrm>
          <a:prstGeom prst="rect">
            <a:avLst/>
          </a:prstGeom>
          <a:ln>
            <a:headEnd/>
            <a:tailEnd/>
          </a:ln>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369693757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PPT - SEMI CONDUCTOR MATERIAL PowerPoint Presentation, free downloa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219200"/>
            <a:ext cx="6469308" cy="369795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439311" y="378054"/>
            <a:ext cx="8386078" cy="707886"/>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US" sz="3200" b="1" dirty="0" smtClean="0">
                <a:solidFill>
                  <a:srgbClr val="FF0000"/>
                </a:solidFill>
              </a:rPr>
              <a:t>Classification of Metals Based on Band Theor</a:t>
            </a:r>
            <a:r>
              <a:rPr lang="en-US" sz="4000" b="1" dirty="0" smtClean="0">
                <a:solidFill>
                  <a:srgbClr val="FF0000"/>
                </a:solidFill>
              </a:rPr>
              <a:t>y </a:t>
            </a:r>
            <a:endParaRPr lang="en-US" sz="4000" b="1" dirty="0">
              <a:solidFill>
                <a:srgbClr val="FF0000"/>
              </a:solidFill>
            </a:endParaRPr>
          </a:p>
        </p:txBody>
      </p:sp>
      <p:sp>
        <p:nvSpPr>
          <p:cNvPr id="4" name="Rectangle 3"/>
          <p:cNvSpPr/>
          <p:nvPr/>
        </p:nvSpPr>
        <p:spPr>
          <a:xfrm>
            <a:off x="1883931" y="4917151"/>
            <a:ext cx="4572000" cy="1477328"/>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marL="342900" indent="-342900">
              <a:buAutoNum type="arabicPeriod"/>
            </a:pPr>
            <a:r>
              <a:rPr lang="en-US" b="1" dirty="0" smtClean="0">
                <a:solidFill>
                  <a:srgbClr val="7030A0"/>
                </a:solidFill>
              </a:rPr>
              <a:t>If the band gap is too high, the material is an insulator.</a:t>
            </a:r>
          </a:p>
          <a:p>
            <a:pPr marL="342900" indent="-342900">
              <a:buAutoNum type="arabicPeriod"/>
            </a:pPr>
            <a:r>
              <a:rPr lang="en-US" b="1" dirty="0" smtClean="0">
                <a:solidFill>
                  <a:srgbClr val="7030A0"/>
                </a:solidFill>
              </a:rPr>
              <a:t>In semiconductors, this gap is a little less. </a:t>
            </a:r>
          </a:p>
          <a:p>
            <a:pPr marL="342900" indent="-342900">
              <a:buAutoNum type="arabicPeriod"/>
            </a:pPr>
            <a:r>
              <a:rPr lang="en-US" b="1" dirty="0" smtClean="0">
                <a:solidFill>
                  <a:srgbClr val="7030A0"/>
                </a:solidFill>
              </a:rPr>
              <a:t>In metals, however, there is no band gap. </a:t>
            </a:r>
          </a:p>
          <a:p>
            <a:pPr marL="342900" indent="-342900">
              <a:buAutoNum type="arabicPeriod"/>
            </a:pPr>
            <a:endParaRPr lang="en-US" b="1" dirty="0"/>
          </a:p>
        </p:txBody>
      </p:sp>
      <p:sp>
        <p:nvSpPr>
          <p:cNvPr id="5" name="Rectangle 4"/>
          <p:cNvSpPr/>
          <p:nvPr/>
        </p:nvSpPr>
        <p:spPr>
          <a:xfrm>
            <a:off x="1317650" y="6155244"/>
            <a:ext cx="6629400" cy="646331"/>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b="1" dirty="0" smtClean="0">
                <a:solidFill>
                  <a:srgbClr val="FF0000"/>
                </a:solidFill>
              </a:rPr>
              <a:t>If there is </a:t>
            </a:r>
            <a:r>
              <a:rPr lang="en-US" b="1" i="1" dirty="0">
                <a:solidFill>
                  <a:srgbClr val="FF0000"/>
                </a:solidFill>
              </a:rPr>
              <a:t>only one electron in the valence shell</a:t>
            </a:r>
            <a:r>
              <a:rPr lang="en-US" b="1" dirty="0" smtClean="0">
                <a:solidFill>
                  <a:srgbClr val="FF0000"/>
                </a:solidFill>
              </a:rPr>
              <a:t> of the atom, then the band will be half-filled</a:t>
            </a:r>
            <a:endParaRPr lang="en-US" b="1" dirty="0">
              <a:solidFill>
                <a:srgbClr val="FF0000"/>
              </a:solidFill>
            </a:endParaRPr>
          </a:p>
        </p:txBody>
      </p:sp>
    </p:spTree>
    <p:extLst>
      <p:ext uri="{BB962C8B-B14F-4D97-AF65-F5344CB8AC3E}">
        <p14:creationId xmlns:p14="http://schemas.microsoft.com/office/powerpoint/2010/main" val="188846620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1. Conductors, semiconductors, and insulators | Toshiba Electronic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693" y="838200"/>
            <a:ext cx="8000998" cy="4495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36271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Example Of Conduc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457200"/>
            <a:ext cx="8343900" cy="556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30980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F8844CD-D625-4188-BBC9-8B2197CD0D78}" type="slidenum">
              <a:rPr lang="en-US" smtClean="0">
                <a:solidFill>
                  <a:srgbClr val="000000"/>
                </a:solidFill>
              </a:rPr>
              <a:pPr>
                <a:defRPr/>
              </a:pPr>
              <a:t>38</a:t>
            </a:fld>
            <a:endParaRPr lang="en-US">
              <a:solidFill>
                <a:srgbClr val="000000"/>
              </a:solidFill>
            </a:endParaRPr>
          </a:p>
        </p:txBody>
      </p:sp>
      <p:pic>
        <p:nvPicPr>
          <p:cNvPr id="15363" name="Picture 2" descr="12.3: Bonding in Metals and Semiconductors - Chemistry LibreTex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09600"/>
            <a:ext cx="8262938" cy="46482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011132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 Types of semiconductors&#10;Semiconductors&#10;Intrinsic Semiconductor Extrinsic Semiconductor&#10;p - type n - type&#10; "/>
          <p:cNvPicPr>
            <a:picLocks noChangeAspect="1" noChangeArrowheads="1"/>
          </p:cNvPicPr>
          <p:nvPr/>
        </p:nvPicPr>
        <p:blipFill>
          <a:blip r:embed="rId2"/>
          <a:srcRect/>
          <a:stretch>
            <a:fillRect/>
          </a:stretch>
        </p:blipFill>
        <p:spPr bwMode="auto">
          <a:xfrm>
            <a:off x="533400" y="457200"/>
            <a:ext cx="7409056" cy="5562600"/>
          </a:xfrm>
          <a:prstGeom prst="rect">
            <a:avLst/>
          </a:prstGeom>
        </p:spPr>
        <p:style>
          <a:lnRef idx="1">
            <a:schemeClr val="accent3"/>
          </a:lnRef>
          <a:fillRef idx="3">
            <a:schemeClr val="accent3"/>
          </a:fillRef>
          <a:effectRef idx="2">
            <a:schemeClr val="accent3"/>
          </a:effectRef>
          <a:fontRef idx="minor">
            <a:schemeClr val="lt1"/>
          </a:fontRef>
        </p:style>
      </p:pic>
    </p:spTree>
    <p:extLst>
      <p:ext uri="{BB962C8B-B14F-4D97-AF65-F5344CB8AC3E}">
        <p14:creationId xmlns:p14="http://schemas.microsoft.com/office/powerpoint/2010/main" val="14074862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rcRect/>
          <a:stretch>
            <a:fillRect/>
          </a:stretch>
        </p:blipFill>
        <p:spPr bwMode="auto">
          <a:xfrm>
            <a:off x="228600" y="685800"/>
            <a:ext cx="8723100" cy="5638800"/>
          </a:xfrm>
          <a:prstGeom prst="rect">
            <a:avLst/>
          </a:prstGeom>
          <a:ln/>
          <a:extLst/>
        </p:spPr>
        <p:style>
          <a:lnRef idx="2">
            <a:schemeClr val="accent3"/>
          </a:lnRef>
          <a:fillRef idx="1">
            <a:schemeClr val="lt1"/>
          </a:fillRef>
          <a:effectRef idx="0">
            <a:schemeClr val="accent3"/>
          </a:effectRef>
          <a:fontRef idx="minor">
            <a:schemeClr val="dk1"/>
          </a:fontRef>
        </p:style>
      </p:pic>
    </p:spTree>
    <p:extLst>
      <p:ext uri="{BB962C8B-B14F-4D97-AF65-F5344CB8AC3E}">
        <p14:creationId xmlns:p14="http://schemas.microsoft.com/office/powerpoint/2010/main" val="21045104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lassification of Materials Based on current conduction materials"/>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169102" y="0"/>
            <a:ext cx="8839198" cy="6629400"/>
          </a:xfrm>
          <a:prstGeom prst="rect">
            <a:avLst/>
          </a:prstGeom>
          <a:extLst/>
        </p:spPr>
        <p:style>
          <a:lnRef idx="1">
            <a:schemeClr val="accent4"/>
          </a:lnRef>
          <a:fillRef idx="2">
            <a:schemeClr val="accent4"/>
          </a:fillRef>
          <a:effectRef idx="1">
            <a:schemeClr val="accent4"/>
          </a:effectRef>
          <a:fontRef idx="minor">
            <a:schemeClr val="dk1"/>
          </a:fontRef>
        </p:style>
      </p:pic>
    </p:spTree>
    <p:extLst>
      <p:ext uri="{BB962C8B-B14F-4D97-AF65-F5344CB8AC3E}">
        <p14:creationId xmlns:p14="http://schemas.microsoft.com/office/powerpoint/2010/main" val="20702272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Ppt semi conductor | PP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171" name="Picture 3"/>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60338"/>
            <a:ext cx="8153400" cy="6115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494694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685800"/>
            <a:ext cx="7412311"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982431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770" name="Picture 2" descr="In the example for P-type, boron is shown as an example. Boron is electron deficient and so it gains electron from the valence band of the semiconductor. This is labeled as hole transport. Phosphorus is used an example for N-type. Phosphorus wants to lose its electron from its valence shell and so there is electron transport from phosphorus to the conducting band. The empty space in P's orbital is called a fixed hole.   "/>
          <p:cNvPicPr>
            <a:picLocks noChangeAspect="1" noChangeArrowheads="1"/>
          </p:cNvPicPr>
          <p:nvPr/>
        </p:nvPicPr>
        <p:blipFill>
          <a:blip r:embed="rId2"/>
          <a:srcRect/>
          <a:stretch>
            <a:fillRect/>
          </a:stretch>
        </p:blipFill>
        <p:spPr bwMode="auto">
          <a:xfrm>
            <a:off x="1790700" y="1066800"/>
            <a:ext cx="5867400" cy="5640388"/>
          </a:xfrm>
          <a:prstGeom prst="rect">
            <a:avLst/>
          </a:prstGeom>
        </p:spPr>
        <p:style>
          <a:lnRef idx="2">
            <a:schemeClr val="accent5"/>
          </a:lnRef>
          <a:fillRef idx="1">
            <a:schemeClr val="lt1"/>
          </a:fillRef>
          <a:effectRef idx="0">
            <a:schemeClr val="accent5"/>
          </a:effectRef>
          <a:fontRef idx="minor">
            <a:schemeClr val="dk1"/>
          </a:fontRef>
        </p:style>
      </p:pic>
      <p:sp>
        <p:nvSpPr>
          <p:cNvPr id="4" name="Rectangle 3"/>
          <p:cNvSpPr/>
          <p:nvPr/>
        </p:nvSpPr>
        <p:spPr>
          <a:xfrm>
            <a:off x="2743200" y="381000"/>
            <a:ext cx="4572000" cy="584200"/>
          </a:xfrm>
          <a:prstGeom prst="rect">
            <a:avLst/>
          </a:prstGeom>
        </p:spPr>
        <p:style>
          <a:lnRef idx="2">
            <a:schemeClr val="accent4"/>
          </a:lnRef>
          <a:fillRef idx="1">
            <a:schemeClr val="lt1"/>
          </a:fillRef>
          <a:effectRef idx="0">
            <a:schemeClr val="accent4"/>
          </a:effectRef>
          <a:fontRef idx="minor">
            <a:schemeClr val="dk1"/>
          </a:fontRef>
        </p:style>
        <p:txBody>
          <a:bodyPr>
            <a:spAutoFit/>
          </a:bodyPr>
          <a:lstStyle/>
          <a:p>
            <a:pPr>
              <a:defRPr/>
            </a:pPr>
            <a:r>
              <a:rPr lang="en-US" sz="3200" b="1" dirty="0">
                <a:solidFill>
                  <a:srgbClr val="9900FF"/>
                </a:solidFill>
              </a:rPr>
              <a:t>Extrinsic Semiconductors</a:t>
            </a:r>
          </a:p>
        </p:txBody>
      </p:sp>
    </p:spTree>
    <p:extLst>
      <p:ext uri="{BB962C8B-B14F-4D97-AF65-F5344CB8AC3E}">
        <p14:creationId xmlns:p14="http://schemas.microsoft.com/office/powerpoint/2010/main" val="340788733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0" y="685800"/>
            <a:ext cx="3200400" cy="639762"/>
          </a:xfrm>
        </p:spPr>
        <p:style>
          <a:lnRef idx="1">
            <a:schemeClr val="accent1"/>
          </a:lnRef>
          <a:fillRef idx="2">
            <a:schemeClr val="accent1"/>
          </a:fillRef>
          <a:effectRef idx="1">
            <a:schemeClr val="accent1"/>
          </a:effectRef>
          <a:fontRef idx="minor">
            <a:schemeClr val="dk1"/>
          </a:fontRef>
        </p:style>
        <p:txBody>
          <a:bodyPr>
            <a:normAutofit fontScale="90000"/>
          </a:bodyPr>
          <a:lstStyle/>
          <a:p>
            <a:pPr algn="ctr"/>
            <a:r>
              <a:rPr lang="en-US" b="1" dirty="0" smtClean="0"/>
              <a:t/>
            </a:r>
            <a:br>
              <a:rPr lang="en-US" b="1" dirty="0" smtClean="0"/>
            </a:br>
            <a:r>
              <a:rPr lang="en-US" b="1" dirty="0" smtClean="0">
                <a:solidFill>
                  <a:srgbClr val="0000FF"/>
                </a:solidFill>
              </a:rPr>
              <a:t>Doping</a:t>
            </a:r>
            <a:br>
              <a:rPr lang="en-US" b="1" dirty="0" smtClean="0">
                <a:solidFill>
                  <a:srgbClr val="0000FF"/>
                </a:solidFill>
              </a:rPr>
            </a:br>
            <a:endParaRPr lang="en-US" dirty="0">
              <a:solidFill>
                <a:srgbClr val="0000FF"/>
              </a:solidFill>
            </a:endParaRPr>
          </a:p>
        </p:txBody>
      </p:sp>
      <p:sp>
        <p:nvSpPr>
          <p:cNvPr id="3" name="Content Placeholder 2"/>
          <p:cNvSpPr>
            <a:spLocks noGrp="1"/>
          </p:cNvSpPr>
          <p:nvPr>
            <p:ph idx="1"/>
          </p:nvPr>
        </p:nvSpPr>
        <p:spPr/>
        <p:style>
          <a:lnRef idx="1">
            <a:schemeClr val="accent3"/>
          </a:lnRef>
          <a:fillRef idx="2">
            <a:schemeClr val="accent3"/>
          </a:fillRef>
          <a:effectRef idx="1">
            <a:schemeClr val="accent3"/>
          </a:effectRef>
          <a:fontRef idx="minor">
            <a:schemeClr val="dk1"/>
          </a:fontRef>
        </p:style>
        <p:txBody>
          <a:bodyPr>
            <a:normAutofit fontScale="70000" lnSpcReduction="20000"/>
          </a:bodyPr>
          <a:lstStyle/>
          <a:p>
            <a:pPr algn="just">
              <a:buFont typeface="Wingdings" pitchFamily="2" charset="2"/>
              <a:buChar char="q"/>
            </a:pPr>
            <a:r>
              <a:rPr lang="en-US" sz="3400" b="1" dirty="0" smtClean="0">
                <a:solidFill>
                  <a:srgbClr val="FF0000"/>
                </a:solidFill>
              </a:rPr>
              <a:t>Doping means the introduction of impurities into a semiconductor crystal to the defined modification of conductivity. </a:t>
            </a:r>
          </a:p>
          <a:p>
            <a:pPr algn="just">
              <a:buFont typeface="Wingdings" pitchFamily="2" charset="2"/>
              <a:buChar char="q"/>
            </a:pPr>
            <a:r>
              <a:rPr lang="en-US" sz="3400" b="1" dirty="0" smtClean="0">
                <a:solidFill>
                  <a:srgbClr val="FF0000"/>
                </a:solidFill>
              </a:rPr>
              <a:t>Two of the most important materials silicon can be doped with, are boron (3 valence electrons = 3-valent) and phosphorus (5 valence electrons = 5-valent). Other materials are aluminum, indium (3-valent) and arsenic, antimony (5-valent).</a:t>
            </a:r>
          </a:p>
          <a:p>
            <a:pPr algn="just">
              <a:buFont typeface="Wingdings" pitchFamily="2" charset="2"/>
              <a:buChar char="q"/>
            </a:pPr>
            <a:r>
              <a:rPr lang="en-US" sz="3400" b="1" dirty="0" smtClean="0">
                <a:solidFill>
                  <a:srgbClr val="FF0000"/>
                </a:solidFill>
              </a:rPr>
              <a:t>The dopant is integrated into the lattice structure of the semiconductor crystal, the number of outer electrons define the type of doping. </a:t>
            </a:r>
          </a:p>
          <a:p>
            <a:pPr algn="just">
              <a:buFont typeface="Wingdings" pitchFamily="2" charset="2"/>
              <a:buChar char="q"/>
            </a:pPr>
            <a:r>
              <a:rPr lang="en-US" sz="3400" b="1" dirty="0" smtClean="0">
                <a:solidFill>
                  <a:srgbClr val="FF0000"/>
                </a:solidFill>
              </a:rPr>
              <a:t>Elements with 3 valence electrons are used for p-type doping, 5-valued elements for n-doping. The conductivity of a deliberately contaminated silicon crystal can be increased by a factor of 10</a:t>
            </a:r>
            <a:r>
              <a:rPr lang="en-US" sz="3400" b="1" baseline="30000" dirty="0" smtClean="0">
                <a:solidFill>
                  <a:srgbClr val="FF0000"/>
                </a:solidFill>
              </a:rPr>
              <a:t>6</a:t>
            </a:r>
            <a:r>
              <a:rPr lang="en-US" sz="3400" b="1" dirty="0" smtClean="0">
                <a:solidFill>
                  <a:srgbClr val="FF0000"/>
                </a:solidFill>
              </a:rPr>
              <a:t>.</a:t>
            </a:r>
          </a:p>
          <a:p>
            <a:endParaRPr lang="en-US" dirty="0"/>
          </a:p>
        </p:txBody>
      </p:sp>
    </p:spTree>
    <p:extLst>
      <p:ext uri="{BB962C8B-B14F-4D97-AF65-F5344CB8AC3E}">
        <p14:creationId xmlns:p14="http://schemas.microsoft.com/office/powerpoint/2010/main" val="114940649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r>
              <a:rPr lang="en-US" b="1" dirty="0" smtClean="0"/>
              <a:t>n-doping</a:t>
            </a:r>
            <a:br>
              <a:rPr lang="en-US" b="1" dirty="0" smtClean="0"/>
            </a:br>
            <a:endParaRPr lang="en-US" dirty="0"/>
          </a:p>
        </p:txBody>
      </p:sp>
      <p:sp>
        <p:nvSpPr>
          <p:cNvPr id="3" name="Content Placeholder 2"/>
          <p:cNvSpPr>
            <a:spLocks noGrp="1"/>
          </p:cNvSpPr>
          <p:nvPr>
            <p:ph idx="1"/>
          </p:nvPr>
        </p:nvSpPr>
        <p:spPr/>
        <p:style>
          <a:lnRef idx="1">
            <a:schemeClr val="accent3"/>
          </a:lnRef>
          <a:fillRef idx="2">
            <a:schemeClr val="accent3"/>
          </a:fillRef>
          <a:effectRef idx="1">
            <a:schemeClr val="accent3"/>
          </a:effectRef>
          <a:fontRef idx="minor">
            <a:schemeClr val="dk1"/>
          </a:fontRef>
        </p:style>
        <p:txBody>
          <a:bodyPr>
            <a:normAutofit lnSpcReduction="10000"/>
          </a:bodyPr>
          <a:lstStyle/>
          <a:p>
            <a:r>
              <a:rPr lang="en-US" dirty="0" smtClean="0"/>
              <a:t>The </a:t>
            </a:r>
            <a:r>
              <a:rPr lang="en-US" dirty="0" smtClean="0">
                <a:solidFill>
                  <a:srgbClr val="00B050"/>
                </a:solidFill>
              </a:rPr>
              <a:t>5-valent </a:t>
            </a:r>
            <a:r>
              <a:rPr lang="en-US" dirty="0" err="1" smtClean="0">
                <a:solidFill>
                  <a:srgbClr val="00B050"/>
                </a:solidFill>
              </a:rPr>
              <a:t>dopant</a:t>
            </a:r>
            <a:r>
              <a:rPr lang="en-US" dirty="0" smtClean="0">
                <a:solidFill>
                  <a:srgbClr val="00B050"/>
                </a:solidFill>
              </a:rPr>
              <a:t> </a:t>
            </a:r>
            <a:r>
              <a:rPr lang="en-US" dirty="0" smtClean="0"/>
              <a:t>has an outer electron more than the </a:t>
            </a:r>
            <a:r>
              <a:rPr lang="en-US" dirty="0" smtClean="0">
                <a:solidFill>
                  <a:srgbClr val="FF0000"/>
                </a:solidFill>
              </a:rPr>
              <a:t>silicon atoms</a:t>
            </a:r>
            <a:r>
              <a:rPr lang="en-US" dirty="0" smtClean="0"/>
              <a:t>. </a:t>
            </a:r>
            <a:r>
              <a:rPr lang="en-US" b="1" i="1" dirty="0" smtClean="0">
                <a:solidFill>
                  <a:srgbClr val="00B0F0"/>
                </a:solidFill>
              </a:rPr>
              <a:t>Four outer electrons combine with ever one silicon atom</a:t>
            </a:r>
            <a:r>
              <a:rPr lang="en-US" dirty="0" smtClean="0"/>
              <a:t>, while the </a:t>
            </a:r>
            <a:r>
              <a:rPr lang="en-US" dirty="0" smtClean="0">
                <a:solidFill>
                  <a:srgbClr val="00B050"/>
                </a:solidFill>
              </a:rPr>
              <a:t>fifth electron is free </a:t>
            </a:r>
            <a:r>
              <a:rPr lang="en-US" dirty="0" smtClean="0"/>
              <a:t>to move and serves as </a:t>
            </a:r>
            <a:r>
              <a:rPr lang="en-US" dirty="0" smtClean="0">
                <a:solidFill>
                  <a:srgbClr val="00B050"/>
                </a:solidFill>
              </a:rPr>
              <a:t>charge carrier.</a:t>
            </a:r>
            <a:r>
              <a:rPr lang="en-US" dirty="0" smtClean="0"/>
              <a:t> This free electron requires much less energy to be lifted from the </a:t>
            </a:r>
            <a:r>
              <a:rPr lang="en-US" dirty="0" smtClean="0">
                <a:solidFill>
                  <a:srgbClr val="00B050"/>
                </a:solidFill>
              </a:rPr>
              <a:t>valence band into the conduction band, than the electrons which cause the intrinsic conductivity of silicon</a:t>
            </a:r>
            <a:r>
              <a:rPr lang="en-US" dirty="0" smtClean="0"/>
              <a:t>. The </a:t>
            </a:r>
            <a:r>
              <a:rPr lang="en-US" dirty="0" err="1" smtClean="0"/>
              <a:t>dopant</a:t>
            </a:r>
            <a:r>
              <a:rPr lang="en-US" dirty="0" smtClean="0"/>
              <a:t>, which emits an electron, is known as an electron donor (</a:t>
            </a:r>
            <a:r>
              <a:rPr lang="en-US" dirty="0" err="1" smtClean="0"/>
              <a:t>donare</a:t>
            </a:r>
            <a:r>
              <a:rPr lang="en-US" dirty="0" smtClean="0"/>
              <a:t>, lat. = to give).</a:t>
            </a:r>
            <a:endParaRPr lang="en-US" dirty="0"/>
          </a:p>
        </p:txBody>
      </p:sp>
    </p:spTree>
    <p:extLst>
      <p:ext uri="{BB962C8B-B14F-4D97-AF65-F5344CB8AC3E}">
        <p14:creationId xmlns:p14="http://schemas.microsoft.com/office/powerpoint/2010/main" val="141378390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152401"/>
            <a:ext cx="7010400" cy="1600199"/>
          </a:xfrm>
        </p:spPr>
        <p:style>
          <a:lnRef idx="1">
            <a:schemeClr val="accent4"/>
          </a:lnRef>
          <a:fillRef idx="2">
            <a:schemeClr val="accent4"/>
          </a:fillRef>
          <a:effectRef idx="1">
            <a:schemeClr val="accent4"/>
          </a:effectRef>
          <a:fontRef idx="minor">
            <a:schemeClr val="dk1"/>
          </a:fontRef>
        </p:style>
        <p:txBody>
          <a:bodyPr>
            <a:normAutofit fontScale="92500"/>
          </a:bodyPr>
          <a:lstStyle/>
          <a:p>
            <a:r>
              <a:rPr lang="en-US" dirty="0" smtClean="0">
                <a:solidFill>
                  <a:srgbClr val="00B050"/>
                </a:solidFill>
              </a:rPr>
              <a:t>Doped semimetals </a:t>
            </a:r>
            <a:r>
              <a:rPr lang="en-US" dirty="0" smtClean="0"/>
              <a:t>whose conductivity is based on </a:t>
            </a:r>
            <a:r>
              <a:rPr lang="en-US" dirty="0" smtClean="0">
                <a:solidFill>
                  <a:srgbClr val="00B050"/>
                </a:solidFill>
              </a:rPr>
              <a:t>free (negative) electrons </a:t>
            </a:r>
            <a:r>
              <a:rPr lang="en-US" dirty="0" smtClean="0"/>
              <a:t>are </a:t>
            </a:r>
            <a:r>
              <a:rPr lang="en-US" dirty="0" smtClean="0">
                <a:solidFill>
                  <a:srgbClr val="FF0000"/>
                </a:solidFill>
              </a:rPr>
              <a:t>n-type or n-doped.</a:t>
            </a:r>
            <a:endParaRPr lang="en-US" dirty="0">
              <a:solidFill>
                <a:srgbClr val="FF0000"/>
              </a:solidFill>
            </a:endParaRPr>
          </a:p>
        </p:txBody>
      </p:sp>
      <p:pic>
        <p:nvPicPr>
          <p:cNvPr id="1026" name="Picture 2" descr="n-doping with phosphorus"/>
          <p:cNvPicPr>
            <a:picLocks noChangeAspect="1" noChangeArrowheads="1"/>
          </p:cNvPicPr>
          <p:nvPr/>
        </p:nvPicPr>
        <p:blipFill>
          <a:blip r:embed="rId2"/>
          <a:srcRect/>
          <a:stretch>
            <a:fillRect/>
          </a:stretch>
        </p:blipFill>
        <p:spPr bwMode="auto">
          <a:xfrm>
            <a:off x="2133600" y="2819400"/>
            <a:ext cx="5122333" cy="2898566"/>
          </a:xfrm>
          <a:prstGeom prst="rect">
            <a:avLst/>
          </a:prstGeom>
        </p:spPr>
        <p:style>
          <a:lnRef idx="1">
            <a:schemeClr val="accent3"/>
          </a:lnRef>
          <a:fillRef idx="2">
            <a:schemeClr val="accent3"/>
          </a:fillRef>
          <a:effectRef idx="1">
            <a:schemeClr val="accent3"/>
          </a:effectRef>
          <a:fontRef idx="minor">
            <a:schemeClr val="dk1"/>
          </a:fontRef>
        </p:style>
      </p:pic>
      <p:sp>
        <p:nvSpPr>
          <p:cNvPr id="7" name="Rectangle 6"/>
          <p:cNvSpPr/>
          <p:nvPr/>
        </p:nvSpPr>
        <p:spPr>
          <a:xfrm>
            <a:off x="2590800" y="2209800"/>
            <a:ext cx="4114800" cy="523220"/>
          </a:xfrm>
          <a:prstGeom prst="rect">
            <a:avLst/>
          </a:prstGeom>
        </p:spPr>
        <p:txBody>
          <a:bodyPr wrap="square">
            <a:spAutoFit/>
          </a:bodyPr>
          <a:lstStyle/>
          <a:p>
            <a:r>
              <a:rPr lang="en-US" sz="2800" b="1" dirty="0" smtClean="0">
                <a:solidFill>
                  <a:srgbClr val="FF0000"/>
                </a:solidFill>
              </a:rPr>
              <a:t>n-doping with phosphorus</a:t>
            </a:r>
            <a:endParaRPr lang="en-US" sz="2800" b="1" dirty="0">
              <a:solidFill>
                <a:srgbClr val="FF0000"/>
              </a:solidFill>
            </a:endParaRPr>
          </a:p>
        </p:txBody>
      </p:sp>
      <p:sp>
        <p:nvSpPr>
          <p:cNvPr id="8" name="Rectangle 7"/>
          <p:cNvSpPr/>
          <p:nvPr/>
        </p:nvSpPr>
        <p:spPr>
          <a:xfrm>
            <a:off x="2286000" y="5934670"/>
            <a:ext cx="5867400" cy="646331"/>
          </a:xfrm>
          <a:prstGeom prst="rect">
            <a:avLst/>
          </a:prstGeom>
        </p:spPr>
        <p:txBody>
          <a:bodyPr wrap="square">
            <a:spAutoFit/>
          </a:bodyPr>
          <a:lstStyle/>
          <a:p>
            <a:r>
              <a:rPr lang="en-US" b="1" dirty="0" smtClean="0">
                <a:solidFill>
                  <a:srgbClr val="00B050"/>
                </a:solidFill>
              </a:rPr>
              <a:t>Arsenic</a:t>
            </a:r>
            <a:r>
              <a:rPr lang="en-US" dirty="0" smtClean="0">
                <a:solidFill>
                  <a:srgbClr val="FF0000"/>
                </a:solidFill>
              </a:rPr>
              <a:t> is used as an alternative to phosphorus, because its diffusion coefficient is lower</a:t>
            </a:r>
            <a:endParaRPr lang="en-US" dirty="0">
              <a:solidFill>
                <a:srgbClr val="FF0000"/>
              </a:solidFill>
            </a:endParaRPr>
          </a:p>
        </p:txBody>
      </p:sp>
    </p:spTree>
    <p:extLst>
      <p:ext uri="{BB962C8B-B14F-4D97-AF65-F5344CB8AC3E}">
        <p14:creationId xmlns:p14="http://schemas.microsoft.com/office/powerpoint/2010/main" val="117862461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0"/>
            <a:ext cx="4191000" cy="914400"/>
          </a:xfrm>
        </p:spPr>
        <p:style>
          <a:lnRef idx="1">
            <a:schemeClr val="accent2"/>
          </a:lnRef>
          <a:fillRef idx="2">
            <a:schemeClr val="accent2"/>
          </a:fillRef>
          <a:effectRef idx="1">
            <a:schemeClr val="accent2"/>
          </a:effectRef>
          <a:fontRef idx="minor">
            <a:schemeClr val="dk1"/>
          </a:fontRef>
        </p:style>
        <p:txBody>
          <a:bodyPr>
            <a:noAutofit/>
          </a:bodyPr>
          <a:lstStyle/>
          <a:p>
            <a:r>
              <a:rPr lang="en-US" sz="6000" b="1" dirty="0" smtClean="0"/>
              <a:t/>
            </a:r>
            <a:br>
              <a:rPr lang="en-US" sz="6000" b="1" dirty="0" smtClean="0"/>
            </a:br>
            <a:r>
              <a:rPr lang="en-US" sz="6000" b="1" dirty="0" smtClean="0"/>
              <a:t>p-doping</a:t>
            </a:r>
            <a:br>
              <a:rPr lang="en-US" sz="6000" b="1" dirty="0" smtClean="0"/>
            </a:br>
            <a:endParaRPr lang="en-US" sz="6000" dirty="0"/>
          </a:p>
        </p:txBody>
      </p:sp>
      <p:pic>
        <p:nvPicPr>
          <p:cNvPr id="8" name="Picture 5" descr="p-doping with boron"/>
          <p:cNvPicPr>
            <a:picLocks noGrp="1" noChangeAspect="1" noChangeArrowheads="1"/>
          </p:cNvPicPr>
          <p:nvPr>
            <p:ph idx="1"/>
          </p:nvPr>
        </p:nvPicPr>
        <p:blipFill>
          <a:blip r:embed="rId2"/>
          <a:stretch>
            <a:fillRect/>
          </a:stretch>
        </p:blipFill>
        <p:spPr bwMode="auto">
          <a:xfrm>
            <a:off x="2871787" y="2807494"/>
            <a:ext cx="3552825" cy="2019300"/>
          </a:xfrm>
          <a:prstGeom prst="rect">
            <a:avLst/>
          </a:prstGeom>
        </p:spPr>
        <p:style>
          <a:lnRef idx="1">
            <a:schemeClr val="accent4"/>
          </a:lnRef>
          <a:fillRef idx="2">
            <a:schemeClr val="accent4"/>
          </a:fillRef>
          <a:effectRef idx="1">
            <a:schemeClr val="accent4"/>
          </a:effectRef>
          <a:fontRef idx="minor">
            <a:schemeClr val="dk1"/>
          </a:fontRef>
        </p:style>
      </p:pic>
      <p:sp>
        <p:nvSpPr>
          <p:cNvPr id="9" name="Rectangle 8"/>
          <p:cNvSpPr/>
          <p:nvPr/>
        </p:nvSpPr>
        <p:spPr>
          <a:xfrm>
            <a:off x="762000" y="1371600"/>
            <a:ext cx="7924800" cy="1323439"/>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sz="2000" dirty="0" smtClean="0">
                <a:solidFill>
                  <a:srgbClr val="FF0000"/>
                </a:solidFill>
              </a:rPr>
              <a:t>The 3-valent </a:t>
            </a:r>
            <a:r>
              <a:rPr lang="en-US" sz="2000" dirty="0" err="1" smtClean="0">
                <a:solidFill>
                  <a:srgbClr val="FF0000"/>
                </a:solidFill>
              </a:rPr>
              <a:t>dopants</a:t>
            </a:r>
            <a:r>
              <a:rPr lang="en-US" sz="2000" dirty="0" smtClean="0">
                <a:solidFill>
                  <a:srgbClr val="FF0000"/>
                </a:solidFill>
              </a:rPr>
              <a:t> can catch an additional outer electron, thus leaving a hole in the valence band of silicon atoms. Therefore the electrons in the valence band become mobile. The holes move in the opposite direction to the movement of the electrons.</a:t>
            </a:r>
            <a:endParaRPr lang="en-US" sz="2000" dirty="0">
              <a:solidFill>
                <a:srgbClr val="FF0000"/>
              </a:solidFill>
            </a:endParaRPr>
          </a:p>
        </p:txBody>
      </p:sp>
      <p:sp>
        <p:nvSpPr>
          <p:cNvPr id="10" name="Rectangle 9"/>
          <p:cNvSpPr/>
          <p:nvPr/>
        </p:nvSpPr>
        <p:spPr>
          <a:xfrm>
            <a:off x="3276600" y="2819400"/>
            <a:ext cx="2147126" cy="369332"/>
          </a:xfrm>
          <a:prstGeom prst="rect">
            <a:avLst/>
          </a:prstGeom>
        </p:spPr>
        <p:txBody>
          <a:bodyPr wrap="none">
            <a:spAutoFit/>
          </a:bodyPr>
          <a:lstStyle/>
          <a:p>
            <a:r>
              <a:rPr lang="en-US" b="1" dirty="0" smtClean="0">
                <a:solidFill>
                  <a:srgbClr val="00B050"/>
                </a:solidFill>
              </a:rPr>
              <a:t>p-doping with boron</a:t>
            </a:r>
            <a:endParaRPr lang="en-US" b="1" dirty="0">
              <a:solidFill>
                <a:srgbClr val="00B050"/>
              </a:solidFill>
            </a:endParaRPr>
          </a:p>
        </p:txBody>
      </p:sp>
    </p:spTree>
    <p:extLst>
      <p:ext uri="{BB962C8B-B14F-4D97-AF65-F5344CB8AC3E}">
        <p14:creationId xmlns:p14="http://schemas.microsoft.com/office/powerpoint/2010/main" val="163848418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Grp="1" noChangeAspect="1" noChangeArrowheads="1"/>
          </p:cNvPicPr>
          <p:nvPr>
            <p:ph idx="1"/>
          </p:nvPr>
        </p:nvPicPr>
        <p:blipFill>
          <a:blip r:embed="rId2">
            <a:duotone>
              <a:prstClr val="black"/>
              <a:schemeClr val="accent5">
                <a:tint val="45000"/>
                <a:satMod val="400000"/>
              </a:schemeClr>
            </a:duotone>
            <a:extLst>
              <a:ext uri="{BEBA8EAE-BF5A-486C-A8C5-ECC9F3942E4B}">
                <a14:imgProps xmlns:a14="http://schemas.microsoft.com/office/drawing/2010/main">
                  <a14:imgLayer r:embed="rId3">
                    <a14:imgEffect>
                      <a14:sharpenSoften amount="25000"/>
                    </a14:imgEffect>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1828800" y="228600"/>
            <a:ext cx="5105400" cy="6381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866313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normAutofit fontScale="90000"/>
          </a:bodyPr>
          <a:lstStyle/>
          <a:p>
            <a:r>
              <a:rPr lang="en-US" b="1" dirty="0" smtClean="0"/>
              <a:t/>
            </a:r>
            <a:br>
              <a:rPr lang="en-US" b="1" dirty="0" smtClean="0"/>
            </a:br>
            <a:r>
              <a:rPr lang="en-US" b="1" dirty="0" smtClean="0">
                <a:solidFill>
                  <a:srgbClr val="FF0000"/>
                </a:solidFill>
              </a:rPr>
              <a:t>Electronic band structure in doped semiconductors</a:t>
            </a:r>
            <a:r>
              <a:rPr lang="en-US" b="1" dirty="0" smtClean="0"/>
              <a:t/>
            </a:r>
            <a:br>
              <a:rPr lang="en-US" b="1" dirty="0" smtClean="0"/>
            </a:br>
            <a:endParaRPr lang="en-US" dirty="0"/>
          </a:p>
        </p:txBody>
      </p:sp>
      <p:pic>
        <p:nvPicPr>
          <p:cNvPr id="26626" name="Picture 2" descr="Band model of doped semiconductors"/>
          <p:cNvPicPr>
            <a:picLocks noChangeAspect="1" noChangeArrowheads="1"/>
          </p:cNvPicPr>
          <p:nvPr/>
        </p:nvPicPr>
        <p:blipFill>
          <a:blip r:embed="rId2"/>
          <a:srcRect/>
          <a:stretch>
            <a:fillRect/>
          </a:stretch>
        </p:blipFill>
        <p:spPr bwMode="auto">
          <a:xfrm>
            <a:off x="685800" y="2971800"/>
            <a:ext cx="6923658" cy="2590800"/>
          </a:xfrm>
          <a:prstGeom prst="rect">
            <a:avLst/>
          </a:prstGeom>
        </p:spPr>
        <p:style>
          <a:lnRef idx="1">
            <a:schemeClr val="accent4"/>
          </a:lnRef>
          <a:fillRef idx="2">
            <a:schemeClr val="accent4"/>
          </a:fillRef>
          <a:effectRef idx="1">
            <a:schemeClr val="accent4"/>
          </a:effectRef>
          <a:fontRef idx="minor">
            <a:schemeClr val="dk1"/>
          </a:fontRef>
        </p:style>
      </p:pic>
      <p:sp>
        <p:nvSpPr>
          <p:cNvPr id="5" name="Rectangle 4"/>
          <p:cNvSpPr/>
          <p:nvPr/>
        </p:nvSpPr>
        <p:spPr>
          <a:xfrm>
            <a:off x="2438400" y="2057400"/>
            <a:ext cx="3806042" cy="369332"/>
          </a:xfrm>
          <a:prstGeom prst="rect">
            <a:avLst/>
          </a:prstGeom>
        </p:spPr>
        <p:txBody>
          <a:bodyPr wrap="none">
            <a:spAutoFit/>
          </a:bodyPr>
          <a:lstStyle/>
          <a:p>
            <a:r>
              <a:rPr lang="en-US" dirty="0" smtClean="0">
                <a:solidFill>
                  <a:srgbClr val="FF0000"/>
                </a:solidFill>
              </a:rPr>
              <a:t>Band model of doped semiconductors</a:t>
            </a:r>
            <a:endParaRPr lang="en-US" dirty="0">
              <a:solidFill>
                <a:srgbClr val="FF0000"/>
              </a:solidFill>
            </a:endParaRPr>
          </a:p>
        </p:txBody>
      </p:sp>
    </p:spTree>
    <p:extLst>
      <p:ext uri="{BB962C8B-B14F-4D97-AF65-F5344CB8AC3E}">
        <p14:creationId xmlns:p14="http://schemas.microsoft.com/office/powerpoint/2010/main" val="374403263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5" name="Picture 1"/>
          <p:cNvPicPr>
            <a:picLocks noGrp="1" noChangeAspect="1" noChangeArrowheads="1"/>
          </p:cNvPicPr>
          <p:nvPr>
            <p:ph idx="1"/>
          </p:nvPr>
        </p:nvPicPr>
        <p:blipFill>
          <a:blip r:embed="rId2"/>
          <a:srcRect/>
          <a:stretch>
            <a:fillRect/>
          </a:stretch>
        </p:blipFill>
        <p:spPr bwMode="auto">
          <a:xfrm>
            <a:off x="381000" y="304800"/>
            <a:ext cx="7916528" cy="5943600"/>
          </a:xfrm>
          <a:prstGeom prst="rect">
            <a:avLst/>
          </a:prstGeom>
          <a:ln>
            <a:headEnd/>
            <a:tailEnd/>
          </a:ln>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390829936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 Intrinsic Semiconductor&#10; The intrinsic semiconductor are pure semiconductor materials.&#10; These semiconductors posses po..."/>
          <p:cNvPicPr>
            <a:picLocks noChangeAspect="1" noChangeArrowheads="1"/>
          </p:cNvPicPr>
          <p:nvPr/>
        </p:nvPicPr>
        <p:blipFill>
          <a:blip r:embed="rId2"/>
          <a:srcRect/>
          <a:stretch>
            <a:fillRect/>
          </a:stretch>
        </p:blipFill>
        <p:spPr bwMode="auto">
          <a:xfrm>
            <a:off x="457200" y="381000"/>
            <a:ext cx="7510550" cy="5638800"/>
          </a:xfrm>
          <a:prstGeom prst="rect">
            <a:avLst/>
          </a:prstGeom>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252803566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 Extrinsic Semiconductor&#10; Extrinsic semiconductor is an impure semiconductor&#10;formed from an intrinsic semiconductor by a..."/>
          <p:cNvPicPr>
            <a:picLocks noChangeAspect="1" noChangeArrowheads="1"/>
          </p:cNvPicPr>
          <p:nvPr/>
        </p:nvPicPr>
        <p:blipFill>
          <a:blip r:embed="rId2"/>
          <a:srcRect/>
          <a:stretch>
            <a:fillRect/>
          </a:stretch>
        </p:blipFill>
        <p:spPr bwMode="auto">
          <a:xfrm>
            <a:off x="304800" y="228600"/>
            <a:ext cx="8018020" cy="6019800"/>
          </a:xfrm>
          <a:prstGeom prst="rect">
            <a:avLst/>
          </a:prstGeom>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115619198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nvPr>
        </p:nvGraphicFramePr>
        <p:xfrm>
          <a:off x="533400" y="1600200"/>
          <a:ext cx="7467600" cy="4267200"/>
        </p:xfrm>
        <a:graphic>
          <a:graphicData uri="http://schemas.openxmlformats.org/drawingml/2006/table">
            <a:tbl>
              <a:tblPr firstRow="1" bandRow="1">
                <a:tableStyleId>{5C22544A-7EE6-4342-B048-85BDC9FD1C3A}</a:tableStyleId>
              </a:tblPr>
              <a:tblGrid>
                <a:gridCol w="3733800"/>
                <a:gridCol w="3733800"/>
              </a:tblGrid>
              <a:tr h="711200">
                <a:tc>
                  <a:txBody>
                    <a:bodyPr/>
                    <a:lstStyle/>
                    <a:p>
                      <a:r>
                        <a:rPr lang="en-US" b="1" dirty="0">
                          <a:solidFill>
                            <a:srgbClr val="CC00FF"/>
                          </a:solidFill>
                        </a:rPr>
                        <a:t>Intrinsic Semiconductor</a:t>
                      </a:r>
                      <a:endParaRPr lang="en-US" dirty="0">
                        <a:solidFill>
                          <a:srgbClr val="CC00FF"/>
                        </a:solidFill>
                      </a:endParaRPr>
                    </a:p>
                  </a:txBody>
                  <a:tcPr anchor="ctr"/>
                </a:tc>
                <a:tc>
                  <a:txBody>
                    <a:bodyPr/>
                    <a:lstStyle/>
                    <a:p>
                      <a:r>
                        <a:rPr lang="en-US" b="1" dirty="0">
                          <a:solidFill>
                            <a:srgbClr val="CC00FF"/>
                          </a:solidFill>
                        </a:rPr>
                        <a:t>Extrinsic Semiconductor</a:t>
                      </a:r>
                      <a:endParaRPr lang="en-US" dirty="0">
                        <a:solidFill>
                          <a:srgbClr val="CC00FF"/>
                        </a:solidFill>
                      </a:endParaRPr>
                    </a:p>
                  </a:txBody>
                  <a:tcPr anchor="ctr"/>
                </a:tc>
              </a:tr>
              <a:tr h="711200">
                <a:tc>
                  <a:txBody>
                    <a:bodyPr/>
                    <a:lstStyle/>
                    <a:p>
                      <a:r>
                        <a:rPr lang="en-US" dirty="0">
                          <a:solidFill>
                            <a:srgbClr val="6600CC"/>
                          </a:solidFill>
                        </a:rPr>
                        <a:t>Pure semiconductor</a:t>
                      </a:r>
                    </a:p>
                  </a:txBody>
                  <a:tcPr anchor="ctr"/>
                </a:tc>
                <a:tc>
                  <a:txBody>
                    <a:bodyPr/>
                    <a:lstStyle/>
                    <a:p>
                      <a:r>
                        <a:rPr lang="en-US" dirty="0">
                          <a:solidFill>
                            <a:srgbClr val="0070C0"/>
                          </a:solidFill>
                        </a:rPr>
                        <a:t>Impure semiconductor</a:t>
                      </a:r>
                    </a:p>
                  </a:txBody>
                  <a:tcPr anchor="ctr"/>
                </a:tc>
              </a:tr>
              <a:tr h="711200">
                <a:tc>
                  <a:txBody>
                    <a:bodyPr/>
                    <a:lstStyle/>
                    <a:p>
                      <a:r>
                        <a:rPr lang="en-US" dirty="0">
                          <a:solidFill>
                            <a:srgbClr val="6600CC"/>
                          </a:solidFill>
                        </a:rPr>
                        <a:t>Density of electrons is equal to the density of holes</a:t>
                      </a:r>
                    </a:p>
                  </a:txBody>
                  <a:tcPr anchor="ctr"/>
                </a:tc>
                <a:tc>
                  <a:txBody>
                    <a:bodyPr/>
                    <a:lstStyle/>
                    <a:p>
                      <a:r>
                        <a:rPr lang="en-US" dirty="0">
                          <a:solidFill>
                            <a:srgbClr val="0070C0"/>
                          </a:solidFill>
                        </a:rPr>
                        <a:t>Density of electrons is not equal to the density of holes</a:t>
                      </a:r>
                    </a:p>
                  </a:txBody>
                  <a:tcPr anchor="ctr"/>
                </a:tc>
              </a:tr>
              <a:tr h="711200">
                <a:tc>
                  <a:txBody>
                    <a:bodyPr/>
                    <a:lstStyle/>
                    <a:p>
                      <a:r>
                        <a:rPr lang="en-US" dirty="0">
                          <a:solidFill>
                            <a:srgbClr val="6600CC"/>
                          </a:solidFill>
                        </a:rPr>
                        <a:t>Electrical conductivity is low</a:t>
                      </a:r>
                    </a:p>
                  </a:txBody>
                  <a:tcPr anchor="ctr"/>
                </a:tc>
                <a:tc>
                  <a:txBody>
                    <a:bodyPr/>
                    <a:lstStyle/>
                    <a:p>
                      <a:r>
                        <a:rPr lang="en-US" dirty="0">
                          <a:solidFill>
                            <a:srgbClr val="0070C0"/>
                          </a:solidFill>
                        </a:rPr>
                        <a:t>Electrical conductivity is high</a:t>
                      </a:r>
                    </a:p>
                  </a:txBody>
                  <a:tcPr anchor="ctr"/>
                </a:tc>
              </a:tr>
              <a:tr h="711200">
                <a:tc>
                  <a:txBody>
                    <a:bodyPr/>
                    <a:lstStyle/>
                    <a:p>
                      <a:r>
                        <a:rPr lang="en-US" dirty="0">
                          <a:solidFill>
                            <a:srgbClr val="6600CC"/>
                          </a:solidFill>
                        </a:rPr>
                        <a:t>Dependence on temperature only</a:t>
                      </a:r>
                    </a:p>
                  </a:txBody>
                  <a:tcPr anchor="ctr"/>
                </a:tc>
                <a:tc>
                  <a:txBody>
                    <a:bodyPr/>
                    <a:lstStyle/>
                    <a:p>
                      <a:r>
                        <a:rPr lang="en-US" dirty="0">
                          <a:solidFill>
                            <a:srgbClr val="0070C0"/>
                          </a:solidFill>
                        </a:rPr>
                        <a:t>Dependence on temperature as well as on the amount of impurity</a:t>
                      </a:r>
                    </a:p>
                  </a:txBody>
                  <a:tcPr anchor="ctr"/>
                </a:tc>
              </a:tr>
              <a:tr h="711200">
                <a:tc>
                  <a:txBody>
                    <a:bodyPr/>
                    <a:lstStyle/>
                    <a:p>
                      <a:r>
                        <a:rPr lang="en-US" dirty="0">
                          <a:solidFill>
                            <a:srgbClr val="6600CC"/>
                          </a:solidFill>
                        </a:rPr>
                        <a:t>No impurities</a:t>
                      </a:r>
                    </a:p>
                  </a:txBody>
                  <a:tcPr anchor="ctr"/>
                </a:tc>
                <a:tc>
                  <a:txBody>
                    <a:bodyPr/>
                    <a:lstStyle/>
                    <a:p>
                      <a:r>
                        <a:rPr lang="en-US" dirty="0">
                          <a:solidFill>
                            <a:srgbClr val="0070C0"/>
                          </a:solidFill>
                        </a:rPr>
                        <a:t>Trivalent impurity, </a:t>
                      </a:r>
                      <a:r>
                        <a:rPr lang="en-US" dirty="0" err="1">
                          <a:solidFill>
                            <a:srgbClr val="0070C0"/>
                          </a:solidFill>
                        </a:rPr>
                        <a:t>pentavalent</a:t>
                      </a:r>
                      <a:r>
                        <a:rPr lang="en-US" dirty="0">
                          <a:solidFill>
                            <a:srgbClr val="0070C0"/>
                          </a:solidFill>
                        </a:rPr>
                        <a:t> impurity</a:t>
                      </a:r>
                    </a:p>
                  </a:txBody>
                  <a:tcPr anchor="ctr"/>
                </a:tc>
              </a:tr>
            </a:tbl>
          </a:graphicData>
        </a:graphic>
      </p:graphicFrame>
      <p:sp>
        <p:nvSpPr>
          <p:cNvPr id="153601" name="Rectangle 1"/>
          <p:cNvSpPr>
            <a:spLocks noChangeArrowheads="1"/>
          </p:cNvSpPr>
          <p:nvPr/>
        </p:nvSpPr>
        <p:spPr bwMode="auto">
          <a:xfrm>
            <a:off x="381001" y="533400"/>
            <a:ext cx="8305799" cy="46166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800080"/>
                </a:solidFill>
                <a:effectLst/>
                <a:latin typeface="Calibri" pitchFamily="34" charset="0"/>
                <a:ea typeface="Times New Roman" pitchFamily="18" charset="0"/>
                <a:cs typeface="Vrinda" pitchFamily="34" charset="0"/>
              </a:rPr>
              <a:t>Difference between Intrinsic and Extrinsic Semiconductors</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28494825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3"/>
          </a:lnRef>
          <a:fillRef idx="1">
            <a:schemeClr val="lt1"/>
          </a:fillRef>
          <a:effectRef idx="0">
            <a:schemeClr val="accent3"/>
          </a:effectRef>
          <a:fontRef idx="minor">
            <a:schemeClr val="dk1"/>
          </a:fontRef>
        </p:style>
        <p:txBody>
          <a:bodyPr/>
          <a:lstStyle/>
          <a:p>
            <a:pPr algn="ctr"/>
            <a:r>
              <a:rPr lang="en-US" dirty="0" smtClean="0">
                <a:solidFill>
                  <a:srgbClr val="FF0000"/>
                </a:solidFill>
              </a:rPr>
              <a:t>N-</a:t>
            </a:r>
            <a:r>
              <a:rPr lang="en-US" dirty="0" err="1" smtClean="0">
                <a:solidFill>
                  <a:srgbClr val="FF0000"/>
                </a:solidFill>
              </a:rPr>
              <a:t>TYpe</a:t>
            </a:r>
            <a:r>
              <a:rPr lang="en-US" dirty="0" smtClean="0">
                <a:solidFill>
                  <a:srgbClr val="FF0000"/>
                </a:solidFill>
              </a:rPr>
              <a:t>  </a:t>
            </a:r>
            <a:r>
              <a:rPr lang="en-US" dirty="0" err="1" smtClean="0">
                <a:solidFill>
                  <a:srgbClr val="FF0000"/>
                </a:solidFill>
              </a:rPr>
              <a:t>SeMICONDUCTOR</a:t>
            </a:r>
            <a:r>
              <a:rPr lang="en-US" dirty="0" smtClean="0">
                <a:solidFill>
                  <a:srgbClr val="FF0000"/>
                </a:solidFill>
              </a:rPr>
              <a:t> </a:t>
            </a:r>
            <a:endParaRPr lang="en-US" dirty="0">
              <a:solidFill>
                <a:srgbClr val="FF0000"/>
              </a:solidFill>
            </a:endParaRPr>
          </a:p>
        </p:txBody>
      </p:sp>
      <p:sp>
        <p:nvSpPr>
          <p:cNvPr id="3" name="Content Placeholder 2"/>
          <p:cNvSpPr>
            <a:spLocks noGrp="1"/>
          </p:cNvSpPr>
          <p:nvPr>
            <p:ph idx="1"/>
          </p:nvPr>
        </p:nvSpPr>
        <p:spPr/>
        <p:style>
          <a:lnRef idx="2">
            <a:schemeClr val="accent3"/>
          </a:lnRef>
          <a:fillRef idx="1">
            <a:schemeClr val="lt1"/>
          </a:fillRef>
          <a:effectRef idx="0">
            <a:schemeClr val="accent3"/>
          </a:effectRef>
          <a:fontRef idx="minor">
            <a:schemeClr val="dk1"/>
          </a:fontRef>
        </p:style>
        <p:txBody>
          <a:bodyPr/>
          <a:lstStyle/>
          <a:p>
            <a:pPr algn="just" fontAlgn="base">
              <a:buFont typeface="Wingdings" pitchFamily="2" charset="2"/>
              <a:buChar char="q"/>
            </a:pPr>
            <a:r>
              <a:rPr lang="en-US" b="1" dirty="0">
                <a:solidFill>
                  <a:srgbClr val="7030A0"/>
                </a:solidFill>
              </a:rPr>
              <a:t>Conductivity is mainly because of electrons.</a:t>
            </a:r>
          </a:p>
          <a:p>
            <a:pPr algn="just" fontAlgn="base">
              <a:buFont typeface="Wingdings" pitchFamily="2" charset="2"/>
              <a:buChar char="q"/>
            </a:pPr>
            <a:r>
              <a:rPr lang="en-US" b="1" dirty="0">
                <a:solidFill>
                  <a:srgbClr val="7030A0"/>
                </a:solidFill>
              </a:rPr>
              <a:t>The material is entirely neutral.</a:t>
            </a:r>
          </a:p>
          <a:p>
            <a:pPr algn="just" fontAlgn="base">
              <a:buFont typeface="Wingdings" pitchFamily="2" charset="2"/>
              <a:buChar char="q"/>
            </a:pPr>
            <a:r>
              <a:rPr lang="en-US" b="1" dirty="0">
                <a:solidFill>
                  <a:srgbClr val="7030A0"/>
                </a:solidFill>
              </a:rPr>
              <a:t>The current (I) is due to electron current (</a:t>
            </a:r>
            <a:r>
              <a:rPr lang="en-US" b="1" dirty="0" err="1">
                <a:solidFill>
                  <a:srgbClr val="7030A0"/>
                </a:solidFill>
              </a:rPr>
              <a:t>Ie</a:t>
            </a:r>
            <a:r>
              <a:rPr lang="en-US" b="1" dirty="0">
                <a:solidFill>
                  <a:srgbClr val="7030A0"/>
                </a:solidFill>
              </a:rPr>
              <a:t>), and the concentration of electrons (ne) is much greater than that of holes (</a:t>
            </a:r>
            <a:r>
              <a:rPr lang="en-US" b="1" dirty="0" err="1">
                <a:solidFill>
                  <a:srgbClr val="7030A0"/>
                </a:solidFill>
              </a:rPr>
              <a:t>nh</a:t>
            </a:r>
            <a:r>
              <a:rPr lang="en-US" b="1" dirty="0">
                <a:solidFill>
                  <a:srgbClr val="7030A0"/>
                </a:solidFill>
              </a:rPr>
              <a:t>).</a:t>
            </a:r>
          </a:p>
          <a:p>
            <a:pPr algn="just" fontAlgn="base">
              <a:buFont typeface="Wingdings" pitchFamily="2" charset="2"/>
              <a:buChar char="q"/>
            </a:pPr>
            <a:r>
              <a:rPr lang="en-US" b="1" dirty="0">
                <a:solidFill>
                  <a:srgbClr val="7030A0"/>
                </a:solidFill>
              </a:rPr>
              <a:t>Majority carriers are electrons, and minority carriers are holes.</a:t>
            </a:r>
          </a:p>
        </p:txBody>
      </p:sp>
    </p:spTree>
    <p:extLst>
      <p:ext uri="{BB962C8B-B14F-4D97-AF65-F5344CB8AC3E}">
        <p14:creationId xmlns:p14="http://schemas.microsoft.com/office/powerpoint/2010/main" val="319544592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lstStyle/>
          <a:p>
            <a:pPr algn="ctr"/>
            <a:r>
              <a:rPr lang="en-US" dirty="0" smtClean="0">
                <a:solidFill>
                  <a:srgbClr val="FF0000"/>
                </a:solidFill>
              </a:rPr>
              <a:t>P-</a:t>
            </a:r>
            <a:r>
              <a:rPr lang="en-US" dirty="0" err="1" smtClean="0">
                <a:solidFill>
                  <a:srgbClr val="FF0000"/>
                </a:solidFill>
              </a:rPr>
              <a:t>TYpe</a:t>
            </a:r>
            <a:r>
              <a:rPr lang="en-US" dirty="0" smtClean="0"/>
              <a:t>  </a:t>
            </a:r>
            <a:r>
              <a:rPr lang="en-US" dirty="0" err="1"/>
              <a:t>SeMICONDUCTOR</a:t>
            </a:r>
            <a:r>
              <a:rPr lang="en-US" dirty="0"/>
              <a:t> </a:t>
            </a:r>
          </a:p>
        </p:txBody>
      </p:sp>
      <p:sp>
        <p:nvSpPr>
          <p:cNvPr id="3" name="Content Placeholder 2"/>
          <p:cNvSpPr>
            <a:spLocks noGrp="1"/>
          </p:cNvSpPr>
          <p:nvPr>
            <p:ph idx="1"/>
          </p:nvPr>
        </p:nvSpPr>
        <p:spPr/>
        <p:style>
          <a:lnRef idx="2">
            <a:schemeClr val="accent4"/>
          </a:lnRef>
          <a:fillRef idx="1">
            <a:schemeClr val="lt1"/>
          </a:fillRef>
          <a:effectRef idx="0">
            <a:schemeClr val="accent4"/>
          </a:effectRef>
          <a:fontRef idx="minor">
            <a:schemeClr val="dk1"/>
          </a:fontRef>
        </p:style>
        <p:txBody>
          <a:bodyPr/>
          <a:lstStyle/>
          <a:p>
            <a:pPr fontAlgn="base">
              <a:buFont typeface="Wingdings" pitchFamily="2" charset="2"/>
              <a:buChar char="q"/>
            </a:pPr>
            <a:r>
              <a:rPr lang="en-US" b="1" dirty="0">
                <a:solidFill>
                  <a:srgbClr val="0000FF"/>
                </a:solidFill>
              </a:rPr>
              <a:t>Conductivity is mainly because of the holes.</a:t>
            </a:r>
          </a:p>
          <a:p>
            <a:pPr fontAlgn="base">
              <a:buFont typeface="Wingdings" pitchFamily="2" charset="2"/>
              <a:buChar char="q"/>
            </a:pPr>
            <a:r>
              <a:rPr lang="en-US" b="1" dirty="0">
                <a:solidFill>
                  <a:srgbClr val="0000FF"/>
                </a:solidFill>
              </a:rPr>
              <a:t>The material is entirely neutral.</a:t>
            </a:r>
          </a:p>
          <a:p>
            <a:pPr fontAlgn="base">
              <a:buFont typeface="Wingdings" pitchFamily="2" charset="2"/>
              <a:buChar char="q"/>
            </a:pPr>
            <a:r>
              <a:rPr lang="en-US" b="1" dirty="0">
                <a:solidFill>
                  <a:srgbClr val="0000FF"/>
                </a:solidFill>
              </a:rPr>
              <a:t>The current (I) is due to hole current (</a:t>
            </a:r>
            <a:r>
              <a:rPr lang="en-US" b="1" dirty="0" err="1">
                <a:solidFill>
                  <a:srgbClr val="0000FF"/>
                </a:solidFill>
              </a:rPr>
              <a:t>Ih</a:t>
            </a:r>
            <a:r>
              <a:rPr lang="en-US" b="1" dirty="0">
                <a:solidFill>
                  <a:srgbClr val="0000FF"/>
                </a:solidFill>
              </a:rPr>
              <a:t>), and the concentration of holes (</a:t>
            </a:r>
            <a:r>
              <a:rPr lang="en-US" b="1" dirty="0" err="1">
                <a:solidFill>
                  <a:srgbClr val="0000FF"/>
                </a:solidFill>
              </a:rPr>
              <a:t>nh</a:t>
            </a:r>
            <a:r>
              <a:rPr lang="en-US" b="1" dirty="0">
                <a:solidFill>
                  <a:srgbClr val="0000FF"/>
                </a:solidFill>
              </a:rPr>
              <a:t>) is much greater than that of electrons (ne).</a:t>
            </a:r>
          </a:p>
          <a:p>
            <a:pPr fontAlgn="base">
              <a:buFont typeface="Wingdings" pitchFamily="2" charset="2"/>
              <a:buChar char="q"/>
            </a:pPr>
            <a:r>
              <a:rPr lang="en-US" b="1" dirty="0">
                <a:solidFill>
                  <a:srgbClr val="0000FF"/>
                </a:solidFill>
              </a:rPr>
              <a:t>Majority carriers are holes, and minority carriers are electrons.</a:t>
            </a:r>
          </a:p>
          <a:p>
            <a:endParaRPr lang="en-US" dirty="0"/>
          </a:p>
        </p:txBody>
      </p:sp>
    </p:spTree>
    <p:extLst>
      <p:ext uri="{BB962C8B-B14F-4D97-AF65-F5344CB8AC3E}">
        <p14:creationId xmlns:p14="http://schemas.microsoft.com/office/powerpoint/2010/main" val="106876225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8600" y="457200"/>
            <a:ext cx="9053065"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81000" y="4953000"/>
            <a:ext cx="4572000" cy="1200329"/>
          </a:xfrm>
          <a:prstGeom prst="rect">
            <a:avLst/>
          </a:prstGeom>
        </p:spPr>
        <p:txBody>
          <a:bodyPr>
            <a:spAutoFit/>
          </a:bodyPr>
          <a:lstStyle/>
          <a:p>
            <a:r>
              <a:rPr lang="en-US" b="1" dirty="0"/>
              <a:t>top of valence band and the bottom of the conduction band are at same momentum</a:t>
            </a:r>
            <a:r>
              <a:rPr lang="en-US" dirty="0" smtClean="0"/>
              <a:t>.</a:t>
            </a:r>
          </a:p>
          <a:p>
            <a:r>
              <a:rPr lang="en-US" b="1" dirty="0"/>
              <a:t>Examples: </a:t>
            </a:r>
            <a:r>
              <a:rPr lang="en-US" dirty="0"/>
              <a:t>Gallium arsenide (</a:t>
            </a:r>
            <a:r>
              <a:rPr lang="en-US" dirty="0" err="1"/>
              <a:t>GaAs</a:t>
            </a:r>
            <a:r>
              <a:rPr lang="en-US" dirty="0"/>
              <a:t>), Indium phosphide (</a:t>
            </a:r>
            <a:r>
              <a:rPr lang="en-US" dirty="0" err="1"/>
              <a:t>InP</a:t>
            </a:r>
            <a:r>
              <a:rPr lang="en-US" dirty="0"/>
              <a:t>), Gallium nitride (</a:t>
            </a:r>
            <a:r>
              <a:rPr lang="en-US" dirty="0" err="1"/>
              <a:t>GaN</a:t>
            </a:r>
            <a:r>
              <a:rPr lang="en-US" dirty="0"/>
              <a:t>) etc.</a:t>
            </a:r>
          </a:p>
        </p:txBody>
      </p:sp>
      <p:sp>
        <p:nvSpPr>
          <p:cNvPr id="5" name="Rectangle 4"/>
          <p:cNvSpPr/>
          <p:nvPr/>
        </p:nvSpPr>
        <p:spPr>
          <a:xfrm>
            <a:off x="4800600" y="4814500"/>
            <a:ext cx="4343400" cy="1200329"/>
          </a:xfrm>
          <a:prstGeom prst="rect">
            <a:avLst/>
          </a:prstGeom>
        </p:spPr>
        <p:txBody>
          <a:bodyPr wrap="square">
            <a:spAutoFit/>
          </a:bodyPr>
          <a:lstStyle/>
          <a:p>
            <a:r>
              <a:rPr lang="en-US" dirty="0"/>
              <a:t>the </a:t>
            </a:r>
            <a:r>
              <a:rPr lang="en-US" b="1" dirty="0"/>
              <a:t>top of valence band and the bottom of conduction band don’t have same momentum</a:t>
            </a:r>
            <a:r>
              <a:rPr lang="en-US" dirty="0"/>
              <a:t>. </a:t>
            </a:r>
            <a:r>
              <a:rPr lang="en-US" b="1" dirty="0"/>
              <a:t>Examples:</a:t>
            </a:r>
            <a:r>
              <a:rPr lang="en-US" dirty="0"/>
              <a:t> Silicon (Si), Germanium (</a:t>
            </a:r>
            <a:r>
              <a:rPr lang="en-US" dirty="0" err="1"/>
              <a:t>Ge</a:t>
            </a:r>
            <a:r>
              <a:rPr lang="en-US" dirty="0"/>
              <a:t>) etc.</a:t>
            </a:r>
          </a:p>
        </p:txBody>
      </p:sp>
    </p:spTree>
    <p:extLst>
      <p:ext uri="{BB962C8B-B14F-4D97-AF65-F5344CB8AC3E}">
        <p14:creationId xmlns:p14="http://schemas.microsoft.com/office/powerpoint/2010/main" val="326855590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style>
          <a:lnRef idx="2">
            <a:schemeClr val="accent5"/>
          </a:lnRef>
          <a:fillRef idx="1">
            <a:schemeClr val="lt1"/>
          </a:fillRef>
          <a:effectRef idx="0">
            <a:schemeClr val="accent5"/>
          </a:effectRef>
          <a:fontRef idx="minor">
            <a:schemeClr val="dk1"/>
          </a:fontRef>
        </p:style>
        <p:txBody>
          <a:bodyPr>
            <a:normAutofit fontScale="70000" lnSpcReduction="20000"/>
          </a:bodyPr>
          <a:lstStyle/>
          <a:p>
            <a:pPr marL="0" indent="0">
              <a:buNone/>
            </a:pPr>
            <a:endParaRPr lang="en-US" b="1" dirty="0" smtClean="0"/>
          </a:p>
          <a:p>
            <a:pPr algn="just" fontAlgn="base">
              <a:buFont typeface="Wingdings" pitchFamily="2" charset="2"/>
              <a:buChar char="v"/>
            </a:pPr>
            <a:r>
              <a:rPr lang="en-US" dirty="0"/>
              <a:t>The free electrons of negative </a:t>
            </a:r>
            <a:r>
              <a:rPr lang="en-US" dirty="0">
                <a:solidFill>
                  <a:srgbClr val="0000FF"/>
                </a:solidFill>
              </a:rPr>
              <a:t>N type region will move towards the P type semiconductor</a:t>
            </a:r>
            <a:r>
              <a:rPr lang="en-US" dirty="0"/>
              <a:t> and </a:t>
            </a:r>
            <a:r>
              <a:rPr lang="en-US" dirty="0">
                <a:solidFill>
                  <a:srgbClr val="FF0000"/>
                </a:solidFill>
              </a:rPr>
              <a:t>the holes move in opposite direction towards n type region. </a:t>
            </a:r>
            <a:endParaRPr lang="en-US" dirty="0" smtClean="0">
              <a:solidFill>
                <a:srgbClr val="FF0000"/>
              </a:solidFill>
            </a:endParaRPr>
          </a:p>
          <a:p>
            <a:pPr algn="just" fontAlgn="base">
              <a:buFont typeface="Wingdings" pitchFamily="2" charset="2"/>
              <a:buChar char="v"/>
            </a:pPr>
            <a:r>
              <a:rPr lang="en-US" dirty="0" smtClean="0"/>
              <a:t>The </a:t>
            </a:r>
            <a:r>
              <a:rPr lang="en-US" dirty="0">
                <a:solidFill>
                  <a:srgbClr val="00B050"/>
                </a:solidFill>
              </a:rPr>
              <a:t>holes and the electrons recombine </a:t>
            </a:r>
            <a:r>
              <a:rPr lang="en-US" dirty="0"/>
              <a:t>with each other a form a region where no free mobile charge carriers(charge carriers which have movement ) are present it is known as </a:t>
            </a:r>
            <a:r>
              <a:rPr lang="en-US" dirty="0">
                <a:solidFill>
                  <a:srgbClr val="0000FF"/>
                </a:solidFill>
              </a:rPr>
              <a:t>depletion region</a:t>
            </a:r>
            <a:r>
              <a:rPr lang="en-US" dirty="0" smtClean="0">
                <a:solidFill>
                  <a:srgbClr val="0000FF"/>
                </a:solidFill>
              </a:rPr>
              <a:t>.</a:t>
            </a:r>
          </a:p>
          <a:p>
            <a:pPr marL="0" indent="0" algn="just" fontAlgn="base">
              <a:buNone/>
            </a:pPr>
            <a:endParaRPr lang="en-US" dirty="0"/>
          </a:p>
          <a:p>
            <a:pPr algn="just" fontAlgn="base">
              <a:buFont typeface="Wingdings" pitchFamily="2" charset="2"/>
              <a:buChar char="v"/>
            </a:pPr>
            <a:r>
              <a:rPr lang="en-US" dirty="0"/>
              <a:t>In a </a:t>
            </a:r>
            <a:r>
              <a:rPr lang="en-US" dirty="0">
                <a:solidFill>
                  <a:srgbClr val="FF0000"/>
                </a:solidFill>
              </a:rPr>
              <a:t>forward bias</a:t>
            </a:r>
            <a:r>
              <a:rPr lang="en-US" dirty="0"/>
              <a:t>, </a:t>
            </a:r>
            <a:r>
              <a:rPr lang="en-US" b="1" dirty="0">
                <a:solidFill>
                  <a:srgbClr val="0070C0"/>
                </a:solidFill>
              </a:rPr>
              <a:t>when a positive voltage is applied to the P-side and negative voltage to the N-side,</a:t>
            </a:r>
            <a:r>
              <a:rPr lang="en-US" dirty="0"/>
              <a:t> </a:t>
            </a:r>
            <a:r>
              <a:rPr lang="en-US" dirty="0">
                <a:solidFill>
                  <a:srgbClr val="FF0000"/>
                </a:solidFill>
              </a:rPr>
              <a:t>the potential barrier is reduced</a:t>
            </a:r>
            <a:r>
              <a:rPr lang="en-US" dirty="0"/>
              <a:t>, and current can flow across the junction. </a:t>
            </a:r>
            <a:endParaRPr lang="en-US" dirty="0" smtClean="0"/>
          </a:p>
          <a:p>
            <a:pPr algn="just" fontAlgn="base">
              <a:buFont typeface="Wingdings" pitchFamily="2" charset="2"/>
              <a:buChar char="v"/>
            </a:pPr>
            <a:r>
              <a:rPr lang="en-US" dirty="0" smtClean="0"/>
              <a:t>In </a:t>
            </a:r>
            <a:r>
              <a:rPr lang="en-US" dirty="0">
                <a:solidFill>
                  <a:srgbClr val="FF0000"/>
                </a:solidFill>
              </a:rPr>
              <a:t>reverse bias, </a:t>
            </a:r>
            <a:r>
              <a:rPr lang="en-US" dirty="0"/>
              <a:t>where the P-side is negative and the N-side is positive, the </a:t>
            </a:r>
            <a:r>
              <a:rPr lang="en-US" dirty="0">
                <a:solidFill>
                  <a:srgbClr val="FF0000"/>
                </a:solidFill>
              </a:rPr>
              <a:t>potential barrier increases</a:t>
            </a:r>
            <a:r>
              <a:rPr lang="en-US" dirty="0"/>
              <a:t>, and the junction prevents significant current flow.</a:t>
            </a:r>
          </a:p>
          <a:p>
            <a:endParaRPr lang="en-US" dirty="0"/>
          </a:p>
        </p:txBody>
      </p:sp>
      <p:sp>
        <p:nvSpPr>
          <p:cNvPr id="4" name="Rectangle 3"/>
          <p:cNvSpPr/>
          <p:nvPr/>
        </p:nvSpPr>
        <p:spPr>
          <a:xfrm>
            <a:off x="381000" y="304800"/>
            <a:ext cx="8610600" cy="95410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algn="ctr"/>
            <a:r>
              <a:rPr lang="en-US" sz="2800" b="1" dirty="0">
                <a:solidFill>
                  <a:srgbClr val="0000FF"/>
                </a:solidFill>
              </a:rPr>
              <a:t>Bringing the created N and P type Semiconductor together</a:t>
            </a:r>
            <a:endParaRPr lang="en-US" sz="2800" dirty="0">
              <a:solidFill>
                <a:srgbClr val="0000FF"/>
              </a:solidFill>
            </a:endParaRPr>
          </a:p>
        </p:txBody>
      </p:sp>
    </p:spTree>
    <p:extLst>
      <p:ext uri="{BB962C8B-B14F-4D97-AF65-F5344CB8AC3E}">
        <p14:creationId xmlns:p14="http://schemas.microsoft.com/office/powerpoint/2010/main" val="60442008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457200" y="1447800"/>
            <a:ext cx="7620000" cy="3810000"/>
          </a:xfrm>
          <a:prstGeom prst="rect">
            <a:avLst/>
          </a:prstGeom>
          <a:ln>
            <a:headEnd/>
            <a:tailEnd/>
          </a:ln>
        </p:spPr>
        <p:style>
          <a:lnRef idx="2">
            <a:schemeClr val="accent1"/>
          </a:lnRef>
          <a:fillRef idx="1">
            <a:schemeClr val="lt1"/>
          </a:fillRef>
          <a:effectRef idx="0">
            <a:schemeClr val="accent1"/>
          </a:effectRef>
          <a:fontRef idx="minor">
            <a:schemeClr val="dk1"/>
          </a:fontRef>
        </p:style>
      </p:pic>
      <p:sp>
        <p:nvSpPr>
          <p:cNvPr id="5" name="Rectangle 4"/>
          <p:cNvSpPr/>
          <p:nvPr/>
        </p:nvSpPr>
        <p:spPr>
          <a:xfrm>
            <a:off x="2133600" y="381000"/>
            <a:ext cx="5782352" cy="707886"/>
          </a:xfrm>
          <a:prstGeom prst="rect">
            <a:avLst/>
          </a:prstGeom>
        </p:spPr>
        <p:style>
          <a:lnRef idx="2">
            <a:schemeClr val="accent3"/>
          </a:lnRef>
          <a:fillRef idx="1">
            <a:schemeClr val="lt1"/>
          </a:fillRef>
          <a:effectRef idx="0">
            <a:schemeClr val="accent3"/>
          </a:effectRef>
          <a:fontRef idx="minor">
            <a:schemeClr val="dk1"/>
          </a:fontRef>
        </p:style>
        <p:txBody>
          <a:bodyPr wrap="none">
            <a:spAutoFit/>
          </a:bodyPr>
          <a:lstStyle/>
          <a:p>
            <a:r>
              <a:rPr lang="en-US" sz="4000" b="1" dirty="0" smtClean="0">
                <a:solidFill>
                  <a:srgbClr val="3333FF"/>
                </a:solidFill>
              </a:rPr>
              <a:t>What is Fermi Level?</a:t>
            </a:r>
            <a:endParaRPr lang="en-US" sz="4000" b="1" dirty="0">
              <a:solidFill>
                <a:srgbClr val="3333FF"/>
              </a:solidFill>
            </a:endParaRPr>
          </a:p>
        </p:txBody>
      </p:sp>
      <p:sp>
        <p:nvSpPr>
          <p:cNvPr id="2" name="Rectangle 1"/>
          <p:cNvSpPr/>
          <p:nvPr/>
        </p:nvSpPr>
        <p:spPr>
          <a:xfrm>
            <a:off x="494778" y="5650055"/>
            <a:ext cx="76200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just"/>
            <a:r>
              <a:rPr lang="en-US" b="1" dirty="0">
                <a:solidFill>
                  <a:srgbClr val="0000FF"/>
                </a:solidFill>
              </a:rPr>
              <a:t>"Fermi level" is the term used to describe the top of the collection of electron energy levels at absolute zero temperature. </a:t>
            </a:r>
          </a:p>
        </p:txBody>
      </p:sp>
    </p:spTree>
    <p:extLst>
      <p:ext uri="{BB962C8B-B14F-4D97-AF65-F5344CB8AC3E}">
        <p14:creationId xmlns:p14="http://schemas.microsoft.com/office/powerpoint/2010/main" val="141789820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lnRef>
          <a:fillRef idx="1">
            <a:schemeClr val="lt1"/>
          </a:fillRef>
          <a:effectRef idx="0">
            <a:schemeClr val="accent2"/>
          </a:effectRef>
          <a:fontRef idx="minor">
            <a:schemeClr val="dk1"/>
          </a:fontRef>
        </p:style>
        <p:txBody>
          <a:bodyPr>
            <a:normAutofit fontScale="90000"/>
          </a:bodyPr>
          <a:lstStyle/>
          <a:p>
            <a:pPr algn="ctr"/>
            <a:r>
              <a:rPr lang="en-US" b="1" dirty="0" smtClean="0">
                <a:solidFill>
                  <a:srgbClr val="FF0000"/>
                </a:solidFill>
              </a:rPr>
              <a:t>What is Fermi Energy?</a:t>
            </a:r>
            <a:br>
              <a:rPr lang="en-US" b="1" dirty="0" smtClean="0">
                <a:solidFill>
                  <a:srgbClr val="FF0000"/>
                </a:solidFill>
              </a:rPr>
            </a:br>
            <a:endParaRPr lang="en-US" dirty="0">
              <a:solidFill>
                <a:srgbClr val="FF0000"/>
              </a:solidFill>
            </a:endParaRPr>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normAutofit fontScale="77500" lnSpcReduction="20000"/>
          </a:bodyPr>
          <a:lstStyle/>
          <a:p>
            <a:pPr>
              <a:buFont typeface="Wingdings" pitchFamily="2" charset="2"/>
              <a:buChar char="Ø"/>
            </a:pPr>
            <a:r>
              <a:rPr lang="en-US" dirty="0" smtClean="0"/>
              <a:t>Named after the Physicist, </a:t>
            </a:r>
            <a:r>
              <a:rPr lang="en-US" dirty="0" err="1" smtClean="0">
                <a:solidFill>
                  <a:srgbClr val="FF0000"/>
                </a:solidFill>
              </a:rPr>
              <a:t>Enrico</a:t>
            </a:r>
            <a:r>
              <a:rPr lang="en-US" dirty="0" smtClean="0">
                <a:solidFill>
                  <a:srgbClr val="FF0000"/>
                </a:solidFill>
              </a:rPr>
              <a:t> Fermi, </a:t>
            </a:r>
            <a:r>
              <a:rPr lang="en-US" dirty="0" smtClean="0"/>
              <a:t>a Fermi level is the measure of the energy of least tightly held electrons within a solid. It is important in determining the thermal and electrical properties of solids. It can be defined as:</a:t>
            </a:r>
          </a:p>
          <a:p>
            <a:pPr>
              <a:buFont typeface="Wingdings" pitchFamily="2" charset="2"/>
              <a:buChar char="Ø"/>
            </a:pPr>
            <a:r>
              <a:rPr lang="en-US" dirty="0" smtClean="0">
                <a:solidFill>
                  <a:srgbClr val="7030A0"/>
                </a:solidFill>
              </a:rPr>
              <a:t>The Fermi energy is a concept in quantum mechanics usually referring to the energy difference between the highest and lowest occupied single-particle states in a quantum system of non-interacting fermions at absolute zero temperature.</a:t>
            </a:r>
          </a:p>
          <a:p>
            <a:pPr>
              <a:buFont typeface="Wingdings" pitchFamily="2" charset="2"/>
              <a:buChar char="Ø"/>
            </a:pPr>
            <a:r>
              <a:rPr lang="en-US" dirty="0" smtClean="0">
                <a:solidFill>
                  <a:srgbClr val="FF0000"/>
                </a:solidFill>
              </a:rPr>
              <a:t>The value of the Fermi level at absolute zero temperature (−273.15 °C) is known as the </a:t>
            </a:r>
            <a:r>
              <a:rPr lang="en-US" b="1" dirty="0" smtClean="0">
                <a:solidFill>
                  <a:srgbClr val="FF0000"/>
                </a:solidFill>
              </a:rPr>
              <a:t>Fermi energy</a:t>
            </a:r>
            <a:r>
              <a:rPr lang="en-US" dirty="0" smtClean="0">
                <a:solidFill>
                  <a:srgbClr val="FF0000"/>
                </a:solidFill>
              </a:rPr>
              <a:t>.</a:t>
            </a:r>
            <a:r>
              <a:rPr lang="en-US" dirty="0" smtClean="0"/>
              <a:t> </a:t>
            </a:r>
          </a:p>
          <a:p>
            <a:pPr>
              <a:buFont typeface="Wingdings" pitchFamily="2" charset="2"/>
              <a:buChar char="Ø"/>
            </a:pPr>
            <a:r>
              <a:rPr lang="en-US" dirty="0" smtClean="0">
                <a:solidFill>
                  <a:srgbClr val="FF0000"/>
                </a:solidFill>
              </a:rPr>
              <a:t>It is also the maximum kinetic energy an electron can attain at 0K. Fermi energy is constant for each solid.</a:t>
            </a:r>
          </a:p>
          <a:p>
            <a:pPr>
              <a:buFont typeface="Wingdings" pitchFamily="2" charset="2"/>
              <a:buChar char="Ø"/>
            </a:pPr>
            <a:endParaRPr lang="en-US" dirty="0"/>
          </a:p>
        </p:txBody>
      </p:sp>
    </p:spTree>
    <p:extLst>
      <p:ext uri="{BB962C8B-B14F-4D97-AF65-F5344CB8AC3E}">
        <p14:creationId xmlns:p14="http://schemas.microsoft.com/office/powerpoint/2010/main" val="67959208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4"/>
          </a:lnRef>
          <a:fillRef idx="2">
            <a:schemeClr val="accent4"/>
          </a:fillRef>
          <a:effectRef idx="1">
            <a:schemeClr val="accent4"/>
          </a:effectRef>
          <a:fontRef idx="minor">
            <a:schemeClr val="dk1"/>
          </a:fontRef>
        </p:style>
        <p:txBody>
          <a:bodyPr>
            <a:normAutofit fontScale="90000"/>
          </a:bodyPr>
          <a:lstStyle/>
          <a:p>
            <a:pPr algn="ctr"/>
            <a:r>
              <a:rPr lang="en-US" b="1" dirty="0" smtClean="0">
                <a:solidFill>
                  <a:srgbClr val="FF0000"/>
                </a:solidFill>
              </a:rPr>
              <a:t>What is Quasi-</a:t>
            </a:r>
            <a:r>
              <a:rPr lang="en-US" b="1" dirty="0" err="1" smtClean="0">
                <a:solidFill>
                  <a:srgbClr val="FF0000"/>
                </a:solidFill>
              </a:rPr>
              <a:t>fermi</a:t>
            </a:r>
            <a:r>
              <a:rPr lang="en-US" b="1" dirty="0" smtClean="0">
                <a:solidFill>
                  <a:srgbClr val="FF0000"/>
                </a:solidFill>
              </a:rPr>
              <a:t> energy level?</a:t>
            </a:r>
            <a:br>
              <a:rPr lang="en-US" b="1" dirty="0" smtClean="0">
                <a:solidFill>
                  <a:srgbClr val="FF0000"/>
                </a:solidFill>
              </a:rPr>
            </a:br>
            <a:endParaRPr lang="en-US" dirty="0">
              <a:solidFill>
                <a:srgbClr val="FF0000"/>
              </a:solidFill>
            </a:endParaRPr>
          </a:p>
        </p:txBody>
      </p:sp>
      <p:sp>
        <p:nvSpPr>
          <p:cNvPr id="3" name="Content Placeholder 2"/>
          <p:cNvSpPr>
            <a:spLocks noGrp="1"/>
          </p:cNvSpPr>
          <p:nvPr>
            <p:ph idx="1"/>
          </p:nvPr>
        </p:nvSpPr>
        <p:spPr/>
        <p:style>
          <a:lnRef idx="1">
            <a:schemeClr val="accent3"/>
          </a:lnRef>
          <a:fillRef idx="2">
            <a:schemeClr val="accent3"/>
          </a:fillRef>
          <a:effectRef idx="1">
            <a:schemeClr val="accent3"/>
          </a:effectRef>
          <a:fontRef idx="minor">
            <a:schemeClr val="dk1"/>
          </a:fontRef>
        </p:style>
        <p:txBody>
          <a:bodyPr/>
          <a:lstStyle/>
          <a:p>
            <a:pPr marL="0" indent="0" algn="just">
              <a:buNone/>
            </a:pPr>
            <a:r>
              <a:rPr lang="en-US" dirty="0" smtClean="0">
                <a:solidFill>
                  <a:srgbClr val="3333FF"/>
                </a:solidFill>
              </a:rPr>
              <a:t>Quasi-</a:t>
            </a:r>
            <a:r>
              <a:rPr lang="en-US" dirty="0" err="1" smtClean="0">
                <a:solidFill>
                  <a:srgbClr val="3333FF"/>
                </a:solidFill>
              </a:rPr>
              <a:t>fermi</a:t>
            </a:r>
            <a:r>
              <a:rPr lang="en-US" dirty="0" smtClean="0">
                <a:solidFill>
                  <a:srgbClr val="3333FF"/>
                </a:solidFill>
              </a:rPr>
              <a:t> energy level is defined as the change in the level of </a:t>
            </a:r>
            <a:r>
              <a:rPr lang="en-US" dirty="0" smtClean="0">
                <a:solidFill>
                  <a:srgbClr val="FF0000"/>
                </a:solidFill>
              </a:rPr>
              <a:t>Fermi level </a:t>
            </a:r>
            <a:r>
              <a:rPr lang="en-US" dirty="0" smtClean="0">
                <a:solidFill>
                  <a:srgbClr val="3333FF"/>
                </a:solidFill>
              </a:rPr>
              <a:t>as the charge carriers are added excessively to the semiconductor.</a:t>
            </a:r>
          </a:p>
          <a:p>
            <a:pPr algn="just"/>
            <a:endParaRPr lang="en-US" dirty="0"/>
          </a:p>
        </p:txBody>
      </p:sp>
    </p:spTree>
    <p:extLst>
      <p:ext uri="{BB962C8B-B14F-4D97-AF65-F5344CB8AC3E}">
        <p14:creationId xmlns:p14="http://schemas.microsoft.com/office/powerpoint/2010/main" val="64793454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66800" y="1143000"/>
            <a:ext cx="7086600" cy="424731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en-US" b="1" dirty="0" smtClean="0">
                <a:solidFill>
                  <a:srgbClr val="FF0000"/>
                </a:solidFill>
              </a:rPr>
              <a:t>Applications of Fermi Energy</a:t>
            </a:r>
          </a:p>
          <a:p>
            <a:pPr algn="just"/>
            <a:endParaRPr lang="en-US" b="1" dirty="0" smtClean="0">
              <a:solidFill>
                <a:srgbClr val="FF0000"/>
              </a:solidFill>
            </a:endParaRPr>
          </a:p>
          <a:p>
            <a:pPr algn="just"/>
            <a:r>
              <a:rPr lang="en-US" dirty="0" smtClean="0">
                <a:solidFill>
                  <a:srgbClr val="CC00FF"/>
                </a:solidFill>
              </a:rPr>
              <a:t>It is one of the important concepts in quantum mechanics and condensed matter physics. Some </a:t>
            </a:r>
            <a:r>
              <a:rPr lang="en-US" dirty="0" err="1" smtClean="0">
                <a:solidFill>
                  <a:srgbClr val="CC00FF"/>
                </a:solidFill>
              </a:rPr>
              <a:t>fermi</a:t>
            </a:r>
            <a:r>
              <a:rPr lang="en-US" dirty="0" smtClean="0">
                <a:solidFill>
                  <a:srgbClr val="CC00FF"/>
                </a:solidFill>
              </a:rPr>
              <a:t> energy applications are given in the points below.</a:t>
            </a:r>
          </a:p>
          <a:p>
            <a:pPr algn="just"/>
            <a:r>
              <a:rPr lang="en-US" dirty="0" smtClean="0">
                <a:solidFill>
                  <a:srgbClr val="CC00FF"/>
                </a:solidFill>
              </a:rPr>
              <a:t>It is used in semiconductors and insulators.</a:t>
            </a:r>
          </a:p>
          <a:p>
            <a:pPr algn="just"/>
            <a:endParaRPr lang="en-US" dirty="0" smtClean="0">
              <a:solidFill>
                <a:srgbClr val="CC00FF"/>
              </a:solidFill>
            </a:endParaRPr>
          </a:p>
          <a:p>
            <a:pPr algn="just"/>
            <a:r>
              <a:rPr lang="en-US" dirty="0" smtClean="0">
                <a:solidFill>
                  <a:srgbClr val="CC00FF"/>
                </a:solidFill>
              </a:rPr>
              <a:t>It is used to describe insulators, metals, and semiconductors.</a:t>
            </a:r>
          </a:p>
          <a:p>
            <a:pPr algn="just"/>
            <a:endParaRPr lang="en-US" dirty="0" smtClean="0">
              <a:solidFill>
                <a:srgbClr val="CC00FF"/>
              </a:solidFill>
            </a:endParaRPr>
          </a:p>
          <a:p>
            <a:pPr algn="just"/>
            <a:r>
              <a:rPr lang="en-US" dirty="0" smtClean="0">
                <a:solidFill>
                  <a:srgbClr val="CC00FF"/>
                </a:solidFill>
              </a:rPr>
              <a:t>Fermi energy is applied in determining the electrical and thermal characteristics of the solids.</a:t>
            </a:r>
          </a:p>
          <a:p>
            <a:pPr algn="just"/>
            <a:endParaRPr lang="en-US" dirty="0" smtClean="0">
              <a:solidFill>
                <a:srgbClr val="CC00FF"/>
              </a:solidFill>
            </a:endParaRPr>
          </a:p>
          <a:p>
            <a:pPr algn="just"/>
            <a:r>
              <a:rPr lang="en-US" dirty="0" smtClean="0">
                <a:solidFill>
                  <a:srgbClr val="CC00FF"/>
                </a:solidFill>
              </a:rPr>
              <a:t>It is also important in nuclear physics to understand the stability of white dwarfs. White dwarfs are stars that have a mass comparable to the Sun but have about a hundredth of its radius.</a:t>
            </a:r>
            <a:endParaRPr lang="en-US" dirty="0">
              <a:solidFill>
                <a:srgbClr val="CC00FF"/>
              </a:solidFill>
            </a:endParaRPr>
          </a:p>
        </p:txBody>
      </p:sp>
    </p:spTree>
    <p:extLst>
      <p:ext uri="{BB962C8B-B14F-4D97-AF65-F5344CB8AC3E}">
        <p14:creationId xmlns:p14="http://schemas.microsoft.com/office/powerpoint/2010/main" val="170781537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rgbClr val="FF0000"/>
                </a:solidFill>
              </a:rPr>
              <a:t/>
            </a:r>
            <a:br>
              <a:rPr lang="en-US" sz="3200" b="1" dirty="0" smtClean="0">
                <a:solidFill>
                  <a:srgbClr val="FF0000"/>
                </a:solidFill>
              </a:rPr>
            </a:br>
            <a:r>
              <a:rPr lang="en-US" sz="3200" b="1" dirty="0" smtClean="0">
                <a:solidFill>
                  <a:srgbClr val="FF0000"/>
                </a:solidFill>
              </a:rPr>
              <a:t>What </a:t>
            </a:r>
            <a:r>
              <a:rPr lang="en-US" sz="3200" b="1" dirty="0">
                <a:solidFill>
                  <a:srgbClr val="FF0000"/>
                </a:solidFill>
              </a:rPr>
              <a:t>is a Light Emitting Diode (LED)?</a:t>
            </a:r>
            <a:br>
              <a:rPr lang="en-US" sz="3200" b="1" dirty="0">
                <a:solidFill>
                  <a:srgbClr val="FF0000"/>
                </a:solidFill>
              </a:rPr>
            </a:br>
            <a:endParaRPr lang="en-US" sz="3200" dirty="0">
              <a:solidFill>
                <a:srgbClr val="FF0000"/>
              </a:solidFill>
            </a:endParaRPr>
          </a:p>
        </p:txBody>
      </p:sp>
      <p:sp>
        <p:nvSpPr>
          <p:cNvPr id="3" name="Content Placeholder 2"/>
          <p:cNvSpPr>
            <a:spLocks noGrp="1"/>
          </p:cNvSpPr>
          <p:nvPr>
            <p:ph idx="1"/>
          </p:nvPr>
        </p:nvSpPr>
        <p:spPr/>
        <p:style>
          <a:lnRef idx="1">
            <a:schemeClr val="accent4"/>
          </a:lnRef>
          <a:fillRef idx="2">
            <a:schemeClr val="accent4"/>
          </a:fillRef>
          <a:effectRef idx="1">
            <a:schemeClr val="accent4"/>
          </a:effectRef>
          <a:fontRef idx="minor">
            <a:schemeClr val="dk1"/>
          </a:fontRef>
        </p:style>
        <p:txBody>
          <a:bodyPr>
            <a:normAutofit lnSpcReduction="10000"/>
          </a:bodyPr>
          <a:lstStyle/>
          <a:p>
            <a:pPr>
              <a:buFont typeface="Wingdings" pitchFamily="2" charset="2"/>
              <a:buChar char="Ø"/>
            </a:pPr>
            <a:r>
              <a:rPr lang="en-US" dirty="0" smtClean="0"/>
              <a:t>A </a:t>
            </a:r>
            <a:r>
              <a:rPr lang="en-US" b="1" dirty="0">
                <a:solidFill>
                  <a:srgbClr val="0000FF"/>
                </a:solidFill>
              </a:rPr>
              <a:t>Light Emitting Diode (LED) </a:t>
            </a:r>
            <a:r>
              <a:rPr lang="en-US" dirty="0"/>
              <a:t>is a special type of </a:t>
            </a:r>
            <a:r>
              <a:rPr lang="en-US" b="1" dirty="0">
                <a:solidFill>
                  <a:srgbClr val="FF0000"/>
                </a:solidFill>
                <a:hlinkClick r:id="rId2"/>
              </a:rPr>
              <a:t>PN junction diode</a:t>
            </a:r>
            <a:r>
              <a:rPr lang="en-US" b="1" dirty="0">
                <a:solidFill>
                  <a:srgbClr val="FF0000"/>
                </a:solidFill>
              </a:rPr>
              <a:t>. </a:t>
            </a:r>
            <a:r>
              <a:rPr lang="en-US" dirty="0"/>
              <a:t>The light emitting diode is specially doped and made of a special type of </a:t>
            </a:r>
            <a:r>
              <a:rPr lang="en-US" dirty="0">
                <a:hlinkClick r:id="rId3"/>
              </a:rPr>
              <a:t>semiconductor</a:t>
            </a:r>
            <a:r>
              <a:rPr lang="en-US" dirty="0"/>
              <a:t>. </a:t>
            </a:r>
            <a:endParaRPr lang="en-US" dirty="0" smtClean="0"/>
          </a:p>
          <a:p>
            <a:pPr algn="just">
              <a:buFont typeface="Wingdings" pitchFamily="2" charset="2"/>
              <a:buChar char="Ø"/>
            </a:pPr>
            <a:r>
              <a:rPr lang="en-US" dirty="0" smtClean="0"/>
              <a:t>This </a:t>
            </a:r>
            <a:r>
              <a:rPr lang="en-US" dirty="0"/>
              <a:t>diode can emit light when it is in the forward biased state. Aluminum indium gallium phosphide (</a:t>
            </a:r>
            <a:r>
              <a:rPr lang="en-US" dirty="0" err="1"/>
              <a:t>AlInGaP</a:t>
            </a:r>
            <a:r>
              <a:rPr lang="en-US" dirty="0"/>
              <a:t>) and indium gallium nitride (</a:t>
            </a:r>
            <a:r>
              <a:rPr lang="en-US" dirty="0" err="1"/>
              <a:t>InGaN</a:t>
            </a:r>
            <a:r>
              <a:rPr lang="en-US" dirty="0"/>
              <a:t>) are two of the most commonly used semiconductors for LED technologies.</a:t>
            </a:r>
          </a:p>
          <a:p>
            <a:endParaRPr lang="en-US" dirty="0"/>
          </a:p>
        </p:txBody>
      </p:sp>
    </p:spTree>
    <p:extLst>
      <p:ext uri="{BB962C8B-B14F-4D97-AF65-F5344CB8AC3E}">
        <p14:creationId xmlns:p14="http://schemas.microsoft.com/office/powerpoint/2010/main" val="43370712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2"/>
          </a:lnRef>
          <a:fillRef idx="1">
            <a:schemeClr val="lt1"/>
          </a:fillRef>
          <a:effectRef idx="0">
            <a:schemeClr val="accent2"/>
          </a:effectRef>
          <a:fontRef idx="minor">
            <a:schemeClr val="dk1"/>
          </a:fontRef>
        </p:style>
        <p:txBody>
          <a:bodyPr>
            <a:normAutofit fontScale="90000"/>
          </a:bodyPr>
          <a:lstStyle/>
          <a:p>
            <a:r>
              <a:rPr lang="en-US" b="1" dirty="0" smtClean="0">
                <a:effectLst/>
              </a:rPr>
              <a:t/>
            </a:r>
            <a:br>
              <a:rPr lang="en-US" b="1" dirty="0" smtClean="0">
                <a:effectLst/>
              </a:rPr>
            </a:br>
            <a:r>
              <a:rPr lang="en-US" b="1" dirty="0" smtClean="0">
                <a:solidFill>
                  <a:srgbClr val="FF0000"/>
                </a:solidFill>
                <a:effectLst/>
              </a:rPr>
              <a:t>Formation </a:t>
            </a:r>
            <a:r>
              <a:rPr lang="en-US" b="1" dirty="0">
                <a:solidFill>
                  <a:srgbClr val="FF0000"/>
                </a:solidFill>
                <a:effectLst/>
              </a:rPr>
              <a:t>of PN Junction by N and P type Semiconductor</a:t>
            </a:r>
            <a:r>
              <a:rPr lang="en-US" b="1" dirty="0">
                <a:effectLst/>
              </a:rPr>
              <a:t/>
            </a:r>
            <a:br>
              <a:rPr lang="en-US" b="1" dirty="0">
                <a:effectLst/>
              </a:rPr>
            </a:br>
            <a:endParaRPr lang="en-US" dirty="0"/>
          </a:p>
        </p:txBody>
      </p:sp>
      <p:pic>
        <p:nvPicPr>
          <p:cNvPr id="1741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91587" y="1554163"/>
            <a:ext cx="7913226" cy="452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122572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 Simple Diode (p n- junction Diode)&#10; The two terminals are called Anode and Cathode.&#10; At the instant the two materials ..."/>
          <p:cNvPicPr>
            <a:picLocks noChangeAspect="1" noChangeArrowheads="1"/>
          </p:cNvPicPr>
          <p:nvPr/>
        </p:nvPicPr>
        <p:blipFill>
          <a:blip r:embed="rId2"/>
          <a:srcRect/>
          <a:stretch>
            <a:fillRect/>
          </a:stretch>
        </p:blipFill>
        <p:spPr bwMode="auto">
          <a:xfrm>
            <a:off x="990600" y="838200"/>
            <a:ext cx="7409056" cy="5562600"/>
          </a:xfrm>
          <a:prstGeom prst="rect">
            <a:avLst/>
          </a:prstGeom>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259016539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undefin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09600"/>
            <a:ext cx="7858125" cy="52482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143000" y="5715000"/>
            <a:ext cx="7315200" cy="369332"/>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b="1" dirty="0">
                <a:solidFill>
                  <a:srgbClr val="3333CC"/>
                </a:solidFill>
              </a:rPr>
              <a:t>Top: p–n junction before diffusion; Bottom: After equilibrium is reached</a:t>
            </a:r>
          </a:p>
        </p:txBody>
      </p:sp>
    </p:spTree>
    <p:extLst>
      <p:ext uri="{BB962C8B-B14F-4D97-AF65-F5344CB8AC3E}">
        <p14:creationId xmlns:p14="http://schemas.microsoft.com/office/powerpoint/2010/main" val="365941598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lstStyle/>
          <a:p>
            <a:pPr algn="ctr"/>
            <a:r>
              <a:rPr lang="en-US" b="1" dirty="0">
                <a:solidFill>
                  <a:srgbClr val="0000FF"/>
                </a:solidFill>
              </a:rPr>
              <a:t>Depletion region</a:t>
            </a:r>
            <a:endParaRPr lang="en-US" dirty="0">
              <a:solidFill>
                <a:srgbClr val="0000FF"/>
              </a:solidFill>
            </a:endParaRPr>
          </a:p>
        </p:txBody>
      </p:sp>
      <p:sp>
        <p:nvSpPr>
          <p:cNvPr id="3" name="Content Placeholder 2"/>
          <p:cNvSpPr>
            <a:spLocks noGrp="1"/>
          </p:cNvSpPr>
          <p:nvPr>
            <p:ph idx="1"/>
          </p:nvPr>
        </p:nvSpPr>
        <p:spPr/>
        <p:style>
          <a:lnRef idx="1">
            <a:schemeClr val="accent3"/>
          </a:lnRef>
          <a:fillRef idx="2">
            <a:schemeClr val="accent3"/>
          </a:fillRef>
          <a:effectRef idx="1">
            <a:schemeClr val="accent3"/>
          </a:effectRef>
          <a:fontRef idx="minor">
            <a:schemeClr val="dk1"/>
          </a:fontRef>
        </p:style>
        <p:txBody>
          <a:bodyPr/>
          <a:lstStyle/>
          <a:p>
            <a:pPr>
              <a:buFont typeface="Wingdings" pitchFamily="2" charset="2"/>
              <a:buChar char="Ø"/>
            </a:pPr>
            <a:r>
              <a:rPr lang="en-US" b="1" dirty="0">
                <a:solidFill>
                  <a:srgbClr val="FF0000"/>
                </a:solidFill>
              </a:rPr>
              <a:t>Depletion region or depletion layer is a region in a P-N junction diode where no mobile charge carriers are present. </a:t>
            </a:r>
            <a:endParaRPr lang="en-US" b="1" dirty="0" smtClean="0">
              <a:solidFill>
                <a:srgbClr val="FF0000"/>
              </a:solidFill>
            </a:endParaRPr>
          </a:p>
          <a:p>
            <a:pPr>
              <a:buFont typeface="Wingdings" pitchFamily="2" charset="2"/>
              <a:buChar char="Ø"/>
            </a:pPr>
            <a:r>
              <a:rPr lang="en-US" b="1" dirty="0" smtClean="0">
                <a:solidFill>
                  <a:srgbClr val="FF0000"/>
                </a:solidFill>
              </a:rPr>
              <a:t>Depletion </a:t>
            </a:r>
            <a:r>
              <a:rPr lang="en-US" b="1" dirty="0">
                <a:solidFill>
                  <a:srgbClr val="FF0000"/>
                </a:solidFill>
              </a:rPr>
              <a:t>layer acts like a barrier that opposes the flow of electrons from n-side and holes from p-side</a:t>
            </a:r>
          </a:p>
          <a:p>
            <a:endParaRPr lang="en-US" dirty="0"/>
          </a:p>
        </p:txBody>
      </p:sp>
    </p:spTree>
    <p:extLst>
      <p:ext uri="{BB962C8B-B14F-4D97-AF65-F5344CB8AC3E}">
        <p14:creationId xmlns:p14="http://schemas.microsoft.com/office/powerpoint/2010/main" val="215781402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381000"/>
            <a:ext cx="6858000" cy="838200"/>
          </a:xfrm>
        </p:spPr>
        <p:style>
          <a:lnRef idx="1">
            <a:schemeClr val="accent5"/>
          </a:lnRef>
          <a:fillRef idx="2">
            <a:schemeClr val="accent5"/>
          </a:fillRef>
          <a:effectRef idx="1">
            <a:schemeClr val="accent5"/>
          </a:effectRef>
          <a:fontRef idx="minor">
            <a:schemeClr val="dk1"/>
          </a:fontRef>
        </p:style>
        <p:txBody>
          <a:bodyPr>
            <a:normAutofit/>
          </a:bodyPr>
          <a:lstStyle/>
          <a:p>
            <a:r>
              <a:rPr lang="en-US" sz="2800" b="1" dirty="0">
                <a:solidFill>
                  <a:srgbClr val="FF0000"/>
                </a:solidFill>
              </a:rPr>
              <a:t>NP junction </a:t>
            </a:r>
            <a:r>
              <a:rPr lang="en-US" sz="2800" b="1" dirty="0" smtClean="0">
                <a:solidFill>
                  <a:srgbClr val="FF0000"/>
                </a:solidFill>
              </a:rPr>
              <a:t>diode/</a:t>
            </a:r>
            <a:r>
              <a:rPr lang="en-US" sz="2800" b="1" dirty="0" err="1">
                <a:solidFill>
                  <a:srgbClr val="FF0000"/>
                </a:solidFill>
              </a:rPr>
              <a:t>pn</a:t>
            </a:r>
            <a:r>
              <a:rPr lang="en-US" sz="2800" b="1" dirty="0">
                <a:solidFill>
                  <a:srgbClr val="FF0000"/>
                </a:solidFill>
              </a:rPr>
              <a:t> junction diode</a:t>
            </a:r>
          </a:p>
        </p:txBody>
      </p:sp>
      <p:sp>
        <p:nvSpPr>
          <p:cNvPr id="3" name="Content Placeholder 2"/>
          <p:cNvSpPr>
            <a:spLocks noGrp="1"/>
          </p:cNvSpPr>
          <p:nvPr>
            <p:ph idx="1"/>
          </p:nvPr>
        </p:nvSpPr>
        <p:spPr>
          <a:xfrm>
            <a:off x="304800" y="1600200"/>
            <a:ext cx="8686800" cy="5257800"/>
          </a:xfrm>
        </p:spPr>
        <p:style>
          <a:lnRef idx="2">
            <a:schemeClr val="accent3"/>
          </a:lnRef>
          <a:fillRef idx="1">
            <a:schemeClr val="lt1"/>
          </a:fillRef>
          <a:effectRef idx="0">
            <a:schemeClr val="accent3"/>
          </a:effectRef>
          <a:fontRef idx="minor">
            <a:schemeClr val="dk1"/>
          </a:fontRef>
        </p:style>
        <p:txBody>
          <a:bodyPr>
            <a:noAutofit/>
          </a:bodyPr>
          <a:lstStyle/>
          <a:p>
            <a:pPr>
              <a:buFont typeface="Wingdings" pitchFamily="2" charset="2"/>
              <a:buChar char="Ø"/>
            </a:pPr>
            <a:r>
              <a:rPr lang="en-US" sz="1800" dirty="0">
                <a:solidFill>
                  <a:srgbClr val="0000FF"/>
                </a:solidFill>
              </a:rPr>
              <a:t>NP junction diode is a semiconductor device formed at the junction of an N-type and a P-type semiconductor </a:t>
            </a:r>
            <a:r>
              <a:rPr lang="en-US" sz="1800" dirty="0" smtClean="0">
                <a:solidFill>
                  <a:srgbClr val="0000FF"/>
                </a:solidFill>
              </a:rPr>
              <a:t>material. It </a:t>
            </a:r>
            <a:r>
              <a:rPr lang="en-US" sz="1800" dirty="0">
                <a:solidFill>
                  <a:srgbClr val="0000FF"/>
                </a:solidFill>
              </a:rPr>
              <a:t>is also called </a:t>
            </a:r>
            <a:r>
              <a:rPr lang="en-US" sz="1800" dirty="0" err="1">
                <a:solidFill>
                  <a:srgbClr val="0000FF"/>
                </a:solidFill>
              </a:rPr>
              <a:t>pn</a:t>
            </a:r>
            <a:r>
              <a:rPr lang="en-US" sz="1800" dirty="0">
                <a:solidFill>
                  <a:srgbClr val="0000FF"/>
                </a:solidFill>
              </a:rPr>
              <a:t> junction </a:t>
            </a:r>
            <a:r>
              <a:rPr lang="en-US" sz="1800" dirty="0" err="1">
                <a:solidFill>
                  <a:srgbClr val="0000FF"/>
                </a:solidFill>
              </a:rPr>
              <a:t>diode.Its</a:t>
            </a:r>
            <a:r>
              <a:rPr lang="en-US" sz="1800" dirty="0">
                <a:solidFill>
                  <a:srgbClr val="0000FF"/>
                </a:solidFill>
              </a:rPr>
              <a:t> main features and functions</a:t>
            </a:r>
            <a:r>
              <a:rPr lang="en-US" sz="1800" dirty="0" smtClean="0">
                <a:solidFill>
                  <a:srgbClr val="0000FF"/>
                </a:solidFill>
              </a:rPr>
              <a:t>:</a:t>
            </a:r>
          </a:p>
          <a:p>
            <a:pPr>
              <a:buFont typeface="Wingdings" pitchFamily="2" charset="2"/>
              <a:buChar char="Ø"/>
            </a:pPr>
            <a:endParaRPr lang="en-US" sz="1800" dirty="0" smtClean="0">
              <a:solidFill>
                <a:srgbClr val="0000FF"/>
              </a:solidFill>
            </a:endParaRPr>
          </a:p>
          <a:p>
            <a:pPr>
              <a:buFont typeface="Wingdings" pitchFamily="2" charset="2"/>
              <a:buChar char="Ø"/>
            </a:pPr>
            <a:r>
              <a:rPr lang="en-US" sz="1800" b="1" dirty="0" smtClean="0">
                <a:solidFill>
                  <a:srgbClr val="00B050"/>
                </a:solidFill>
              </a:rPr>
              <a:t>Forward </a:t>
            </a:r>
            <a:r>
              <a:rPr lang="en-US" sz="1800" b="1" dirty="0">
                <a:solidFill>
                  <a:srgbClr val="00B050"/>
                </a:solidFill>
              </a:rPr>
              <a:t>Bias</a:t>
            </a:r>
            <a:r>
              <a:rPr lang="en-US" sz="1800" b="1" dirty="0" smtClean="0">
                <a:solidFill>
                  <a:srgbClr val="00B050"/>
                </a:solidFill>
              </a:rPr>
              <a:t>: </a:t>
            </a:r>
            <a:r>
              <a:rPr lang="en-US" sz="1800" dirty="0" smtClean="0">
                <a:solidFill>
                  <a:srgbClr val="0000FF"/>
                </a:solidFill>
              </a:rPr>
              <a:t>When </a:t>
            </a:r>
            <a:r>
              <a:rPr lang="en-US" sz="1800" dirty="0">
                <a:solidFill>
                  <a:srgbClr val="0000FF"/>
                </a:solidFill>
              </a:rPr>
              <a:t>a positive (+) voltage is applied to the P-side and a negative (-) voltage is applied to the N-side, the diode conducts, i.e. electricity flows</a:t>
            </a:r>
            <a:r>
              <a:rPr lang="en-US" sz="1800" dirty="0" smtClean="0">
                <a:solidFill>
                  <a:srgbClr val="0000FF"/>
                </a:solidFill>
              </a:rPr>
              <a:t>.</a:t>
            </a:r>
          </a:p>
          <a:p>
            <a:pPr>
              <a:buFont typeface="Wingdings" pitchFamily="2" charset="2"/>
              <a:buChar char="Ø"/>
            </a:pPr>
            <a:endParaRPr lang="en-US" sz="1800" dirty="0" smtClean="0">
              <a:solidFill>
                <a:srgbClr val="0000FF"/>
              </a:solidFill>
            </a:endParaRPr>
          </a:p>
          <a:p>
            <a:pPr>
              <a:buFont typeface="Wingdings" pitchFamily="2" charset="2"/>
              <a:buChar char="Ø"/>
            </a:pPr>
            <a:r>
              <a:rPr lang="en-US" sz="1800" b="1" dirty="0" smtClean="0">
                <a:solidFill>
                  <a:srgbClr val="00B050"/>
                </a:solidFill>
              </a:rPr>
              <a:t>Reverse </a:t>
            </a:r>
            <a:r>
              <a:rPr lang="en-US" sz="1800" b="1" dirty="0">
                <a:solidFill>
                  <a:srgbClr val="00B050"/>
                </a:solidFill>
              </a:rPr>
              <a:t>Bias</a:t>
            </a:r>
            <a:r>
              <a:rPr lang="en-US" sz="1800" b="1" dirty="0" smtClean="0">
                <a:solidFill>
                  <a:srgbClr val="00B050"/>
                </a:solidFill>
              </a:rPr>
              <a:t>: </a:t>
            </a:r>
            <a:r>
              <a:rPr lang="en-US" sz="1800" dirty="0" smtClean="0">
                <a:solidFill>
                  <a:srgbClr val="0000FF"/>
                </a:solidFill>
              </a:rPr>
              <a:t>When </a:t>
            </a:r>
            <a:r>
              <a:rPr lang="en-US" sz="1800" dirty="0">
                <a:solidFill>
                  <a:srgbClr val="0000FF"/>
                </a:solidFill>
              </a:rPr>
              <a:t>a negative (-) voltage is applied to the P-side and a positive (+) voltage is applied to the N-side, the diode is non-conducting, i.e. electricity does not flow</a:t>
            </a:r>
            <a:r>
              <a:rPr lang="en-US" sz="1800" dirty="0" smtClean="0">
                <a:solidFill>
                  <a:srgbClr val="0000FF"/>
                </a:solidFill>
              </a:rPr>
              <a:t>.</a:t>
            </a:r>
          </a:p>
          <a:p>
            <a:pPr>
              <a:buFont typeface="Wingdings" pitchFamily="2" charset="2"/>
              <a:buChar char="Ø"/>
            </a:pPr>
            <a:endParaRPr lang="en-US" sz="1800" dirty="0" smtClean="0">
              <a:solidFill>
                <a:srgbClr val="0000FF"/>
              </a:solidFill>
            </a:endParaRPr>
          </a:p>
          <a:p>
            <a:pPr>
              <a:buFont typeface="Wingdings" pitchFamily="2" charset="2"/>
              <a:buChar char="Ø"/>
            </a:pPr>
            <a:r>
              <a:rPr lang="en-US" sz="1800" b="1" dirty="0" smtClean="0">
                <a:solidFill>
                  <a:srgbClr val="00B050"/>
                </a:solidFill>
              </a:rPr>
              <a:t>Depletion </a:t>
            </a:r>
            <a:r>
              <a:rPr lang="en-US" sz="1800" b="1" dirty="0">
                <a:solidFill>
                  <a:srgbClr val="00B050"/>
                </a:solidFill>
              </a:rPr>
              <a:t>Region</a:t>
            </a:r>
            <a:r>
              <a:rPr lang="en-US" sz="1800" b="1" dirty="0" smtClean="0">
                <a:solidFill>
                  <a:srgbClr val="00B050"/>
                </a:solidFill>
              </a:rPr>
              <a:t>: </a:t>
            </a:r>
            <a:r>
              <a:rPr lang="en-US" sz="1800" dirty="0" smtClean="0">
                <a:solidFill>
                  <a:srgbClr val="0000FF"/>
                </a:solidFill>
              </a:rPr>
              <a:t>A </a:t>
            </a:r>
            <a:r>
              <a:rPr lang="en-US" sz="1800" dirty="0">
                <a:solidFill>
                  <a:srgbClr val="0000FF"/>
                </a:solidFill>
              </a:rPr>
              <a:t>barrier is formed at the junction of the N and P regions, which is called the depletion layer, which initially does not allow any charge carriers to flow</a:t>
            </a:r>
            <a:r>
              <a:rPr lang="en-US" sz="1800" dirty="0" smtClean="0">
                <a:solidFill>
                  <a:srgbClr val="0000FF"/>
                </a:solidFill>
              </a:rPr>
              <a:t>.</a:t>
            </a:r>
          </a:p>
          <a:p>
            <a:pPr>
              <a:buFont typeface="Wingdings" pitchFamily="2" charset="2"/>
              <a:buChar char="Ø"/>
            </a:pPr>
            <a:endParaRPr lang="en-US" sz="1800" dirty="0">
              <a:solidFill>
                <a:srgbClr val="0000FF"/>
              </a:solidFill>
            </a:endParaRPr>
          </a:p>
          <a:p>
            <a:pPr>
              <a:buFont typeface="Wingdings" pitchFamily="2" charset="2"/>
              <a:buChar char="Ø"/>
            </a:pPr>
            <a:r>
              <a:rPr lang="en-US" sz="1800" b="1" dirty="0" smtClean="0">
                <a:solidFill>
                  <a:srgbClr val="00B050"/>
                </a:solidFill>
              </a:rPr>
              <a:t>Uses: </a:t>
            </a:r>
            <a:r>
              <a:rPr lang="en-US" sz="1800" dirty="0" smtClean="0">
                <a:solidFill>
                  <a:srgbClr val="0000FF"/>
                </a:solidFill>
              </a:rPr>
              <a:t>Rectifier </a:t>
            </a:r>
            <a:r>
              <a:rPr lang="en-US" sz="1800" dirty="0">
                <a:solidFill>
                  <a:srgbClr val="0000FF"/>
                </a:solidFill>
              </a:rPr>
              <a:t>(to convert AC to DC)Voltage </a:t>
            </a:r>
            <a:r>
              <a:rPr lang="en-US" sz="1800" dirty="0" smtClean="0">
                <a:solidFill>
                  <a:srgbClr val="0000FF"/>
                </a:solidFill>
              </a:rPr>
              <a:t>regulation To </a:t>
            </a:r>
            <a:r>
              <a:rPr lang="en-US" sz="1800" dirty="0">
                <a:solidFill>
                  <a:srgbClr val="0000FF"/>
                </a:solidFill>
              </a:rPr>
              <a:t>ensure unidirectional flow of electricity in a circuit</a:t>
            </a:r>
          </a:p>
        </p:txBody>
      </p:sp>
    </p:spTree>
    <p:extLst>
      <p:ext uri="{BB962C8B-B14F-4D97-AF65-F5344CB8AC3E}">
        <p14:creationId xmlns:p14="http://schemas.microsoft.com/office/powerpoint/2010/main" val="22055021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306881"/>
            <a:ext cx="5486400" cy="5486401"/>
          </a:xfrm>
          <a:prstGeom prst="rect">
            <a:avLst/>
          </a:prstGeom>
          <a:ln/>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31911338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epletion lay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894" y="1330036"/>
            <a:ext cx="8997106" cy="4267200"/>
          </a:xfrm>
          <a:prstGeom prst="rect">
            <a:avLst/>
          </a:prstGeom>
        </p:spPr>
        <p:style>
          <a:lnRef idx="1">
            <a:schemeClr val="accent4"/>
          </a:lnRef>
          <a:fillRef idx="2">
            <a:schemeClr val="accent4"/>
          </a:fillRef>
          <a:effectRef idx="1">
            <a:schemeClr val="accent4"/>
          </a:effectRef>
          <a:fontRef idx="minor">
            <a:schemeClr val="dk1"/>
          </a:fontRef>
        </p:style>
      </p:pic>
    </p:spTree>
    <p:extLst>
      <p:ext uri="{BB962C8B-B14F-4D97-AF65-F5344CB8AC3E}">
        <p14:creationId xmlns:p14="http://schemas.microsoft.com/office/powerpoint/2010/main" val="55547930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701"/>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701976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990600"/>
            <a:ext cx="810768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757591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500" y="152400"/>
            <a:ext cx="8229600" cy="4023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descr="Symbol of L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4398513"/>
            <a:ext cx="5257800" cy="2285390"/>
          </a:xfrm>
          <a:prstGeom prst="rect">
            <a:avLst/>
          </a:prstGeom>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312847185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What is a solar cell?&#10;• A structure that converts solar energy directly to&#10;DC electric energy.&#10;– It supplies a voltage and..."/>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Lst>
          </a:blip>
          <a:srcRect/>
          <a:stretch>
            <a:fillRect/>
          </a:stretch>
        </p:blipFill>
        <p:spPr bwMode="auto">
          <a:xfrm>
            <a:off x="1143000" y="381000"/>
            <a:ext cx="7206069" cy="5410200"/>
          </a:xfrm>
          <a:prstGeom prst="rect">
            <a:avLst/>
          </a:prstGeom>
          <a:ln w="228600" cap="sq" cmpd="thickThin">
            <a:solidFill>
              <a:srgbClr val="92D050"/>
            </a:solidFill>
            <a:prstDash val="solid"/>
            <a:miter lim="800000"/>
          </a:ln>
          <a:effectLst>
            <a:innerShdw blurRad="76200">
              <a:srgbClr val="000000"/>
            </a:innerShdw>
          </a:effectLst>
        </p:spPr>
        <p:style>
          <a:lnRef idx="1">
            <a:schemeClr val="accent3"/>
          </a:lnRef>
          <a:fillRef idx="3">
            <a:schemeClr val="accent3"/>
          </a:fillRef>
          <a:effectRef idx="2">
            <a:schemeClr val="accent3"/>
          </a:effectRef>
          <a:fontRef idx="minor">
            <a:schemeClr val="lt1"/>
          </a:fontRef>
        </p:style>
      </p:pic>
    </p:spTree>
    <p:extLst>
      <p:ext uri="{BB962C8B-B14F-4D97-AF65-F5344CB8AC3E}">
        <p14:creationId xmlns:p14="http://schemas.microsoft.com/office/powerpoint/2010/main" val="347005268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Basic Physics of Solar Cells&#10;• Silicon (Si) is from group 4 of the period&#10;table. When many Si atoms are in close&#10;proximity..."/>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11200"/>
                    </a14:imgEffect>
                    <a14:imgEffect>
                      <a14:saturation sat="400000"/>
                    </a14:imgEffect>
                  </a14:imgLayer>
                </a14:imgProps>
              </a:ext>
            </a:extLst>
          </a:blip>
          <a:srcRect/>
          <a:stretch>
            <a:fillRect/>
          </a:stretch>
        </p:blipFill>
        <p:spPr bwMode="auto">
          <a:xfrm>
            <a:off x="381000" y="228600"/>
            <a:ext cx="8423275" cy="6324600"/>
          </a:xfrm>
          <a:prstGeom prst="rect">
            <a:avLst/>
          </a:prstGeom>
        </p:spPr>
        <p:style>
          <a:lnRef idx="2">
            <a:schemeClr val="accent2">
              <a:shade val="50000"/>
            </a:schemeClr>
          </a:lnRef>
          <a:fillRef idx="1">
            <a:schemeClr val="accent2"/>
          </a:fillRef>
          <a:effectRef idx="0">
            <a:schemeClr val="accent2"/>
          </a:effectRef>
          <a:fontRef idx="minor">
            <a:schemeClr val="lt1"/>
          </a:fontRef>
        </p:style>
      </p:pic>
    </p:spTree>
    <p:extLst>
      <p:ext uri="{BB962C8B-B14F-4D97-AF65-F5344CB8AC3E}">
        <p14:creationId xmlns:p14="http://schemas.microsoft.com/office/powerpoint/2010/main" val="328520836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7" name="Picture 1"/>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colorTemperature colorTemp="11200"/>
                    </a14:imgEffect>
                  </a14:imgLayer>
                </a14:imgProps>
              </a:ext>
            </a:extLst>
          </a:blip>
          <a:srcRect/>
          <a:stretch>
            <a:fillRect/>
          </a:stretch>
        </p:blipFill>
        <p:spPr bwMode="auto">
          <a:xfrm>
            <a:off x="609600" y="685800"/>
            <a:ext cx="7510463" cy="5638800"/>
          </a:xfrm>
          <a:prstGeom prst="rect">
            <a:avLst/>
          </a:prstGeom>
          <a:ln>
            <a:headEnd/>
            <a:tailEnd/>
          </a:ln>
        </p:spPr>
        <p:style>
          <a:lnRef idx="1">
            <a:schemeClr val="accent4"/>
          </a:lnRef>
          <a:fillRef idx="2">
            <a:schemeClr val="accent4"/>
          </a:fillRef>
          <a:effectRef idx="1">
            <a:schemeClr val="accent4"/>
          </a:effectRef>
          <a:fontRef idx="minor">
            <a:schemeClr val="dk1"/>
          </a:fontRef>
        </p:style>
      </p:pic>
    </p:spTree>
    <p:extLst>
      <p:ext uri="{BB962C8B-B14F-4D97-AF65-F5344CB8AC3E}">
        <p14:creationId xmlns:p14="http://schemas.microsoft.com/office/powerpoint/2010/main" val="247640929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Basic Physics of Solar Cells&#10;• Si is covalently bonded: It shares electrons.&#10;– When a Si atom is replaced with a group 3 (..."/>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colorTemperature colorTemp="11200"/>
                    </a14:imgEffect>
                  </a14:imgLayer>
                </a14:imgProps>
              </a:ext>
            </a:extLst>
          </a:blip>
          <a:srcRect/>
          <a:stretch>
            <a:fillRect/>
          </a:stretch>
        </p:blipFill>
        <p:spPr bwMode="auto">
          <a:xfrm>
            <a:off x="685800" y="890392"/>
            <a:ext cx="7916528" cy="5943600"/>
          </a:xfrm>
          <a:prstGeom prst="rect">
            <a:avLst/>
          </a:prstGeom>
        </p:spPr>
        <p:style>
          <a:lnRef idx="1">
            <a:schemeClr val="accent4"/>
          </a:lnRef>
          <a:fillRef idx="2">
            <a:schemeClr val="accent4"/>
          </a:fillRef>
          <a:effectRef idx="1">
            <a:schemeClr val="accent4"/>
          </a:effectRef>
          <a:fontRef idx="minor">
            <a:schemeClr val="dk1"/>
          </a:fontRef>
        </p:style>
      </p:pic>
    </p:spTree>
    <p:extLst>
      <p:ext uri="{BB962C8B-B14F-4D97-AF65-F5344CB8AC3E}">
        <p14:creationId xmlns:p14="http://schemas.microsoft.com/office/powerpoint/2010/main" val="69524227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1"/>
          <p:cNvPicPr>
            <a:picLocks noChangeAspect="1" noChangeArrowheads="1"/>
          </p:cNvPicPr>
          <p:nvPr/>
        </p:nvPicPr>
        <p:blipFill>
          <a:blip r:embed="rId2"/>
          <a:srcRect/>
          <a:stretch>
            <a:fillRect/>
          </a:stretch>
        </p:blipFill>
        <p:spPr bwMode="auto">
          <a:xfrm>
            <a:off x="762000" y="762000"/>
            <a:ext cx="7205663" cy="541020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pic>
    </p:spTree>
    <p:extLst>
      <p:ext uri="{BB962C8B-B14F-4D97-AF65-F5344CB8AC3E}">
        <p14:creationId xmlns:p14="http://schemas.microsoft.com/office/powerpoint/2010/main" val="76472554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5" name="Picture 1"/>
          <p:cNvPicPr>
            <a:picLocks noChangeAspect="1" noChangeArrowheads="1"/>
          </p:cNvPicPr>
          <p:nvPr/>
        </p:nvPicPr>
        <p:blipFill>
          <a:blip r:embed="rId2"/>
          <a:srcRect/>
          <a:stretch>
            <a:fillRect/>
          </a:stretch>
        </p:blipFill>
        <p:spPr bwMode="auto">
          <a:xfrm>
            <a:off x="609600" y="533400"/>
            <a:ext cx="7916863" cy="5943600"/>
          </a:xfrm>
          <a:prstGeom prst="rect">
            <a:avLst/>
          </a:prstGeom>
          <a:ln>
            <a:headEnd/>
            <a:tailEnd/>
          </a:ln>
        </p:spPr>
        <p:style>
          <a:lnRef idx="2">
            <a:schemeClr val="accent3">
              <a:shade val="50000"/>
            </a:schemeClr>
          </a:lnRef>
          <a:fillRef idx="1">
            <a:schemeClr val="accent3"/>
          </a:fillRef>
          <a:effectRef idx="0">
            <a:schemeClr val="accent3"/>
          </a:effectRef>
          <a:fontRef idx="minor">
            <a:schemeClr val="lt1"/>
          </a:fontRef>
        </p:style>
      </p:pic>
    </p:spTree>
    <p:extLst>
      <p:ext uri="{BB962C8B-B14F-4D97-AF65-F5344CB8AC3E}">
        <p14:creationId xmlns:p14="http://schemas.microsoft.com/office/powerpoint/2010/main" val="200518319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1" name="Picture 1"/>
          <p:cNvPicPr>
            <a:picLocks noChangeAspect="1" noChangeArrowheads="1"/>
          </p:cNvPicPr>
          <p:nvPr/>
        </p:nvPicPr>
        <p:blipFill>
          <a:blip r:embed="rId2"/>
          <a:srcRect/>
          <a:stretch>
            <a:fillRect/>
          </a:stretch>
        </p:blipFill>
        <p:spPr bwMode="auto">
          <a:xfrm>
            <a:off x="990600" y="685800"/>
            <a:ext cx="6900863" cy="5181600"/>
          </a:xfrm>
          <a:prstGeom prst="rect">
            <a:avLst/>
          </a:prstGeom>
          <a:ln>
            <a:headEnd/>
            <a:tailEnd/>
          </a:ln>
        </p:spPr>
        <p:style>
          <a:lnRef idx="1">
            <a:schemeClr val="accent3"/>
          </a:lnRef>
          <a:fillRef idx="3">
            <a:schemeClr val="accent3"/>
          </a:fillRef>
          <a:effectRef idx="2">
            <a:schemeClr val="accent3"/>
          </a:effectRef>
          <a:fontRef idx="minor">
            <a:schemeClr val="lt1"/>
          </a:fontRef>
        </p:style>
      </p:pic>
    </p:spTree>
    <p:extLst>
      <p:ext uri="{BB962C8B-B14F-4D97-AF65-F5344CB8AC3E}">
        <p14:creationId xmlns:p14="http://schemas.microsoft.com/office/powerpoint/2010/main" val="406627383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304800"/>
            <a:ext cx="4953000" cy="533400"/>
          </a:xfrm>
          <a:effectLst>
            <a:outerShdw blurRad="50800" dist="38100" dir="5400000" algn="t" rotWithShape="0">
              <a:prstClr val="black">
                <a:alpha val="40000"/>
              </a:prstClr>
            </a:outerShdw>
          </a:effectLst>
        </p:spPr>
        <p:style>
          <a:lnRef idx="1">
            <a:schemeClr val="accent5"/>
          </a:lnRef>
          <a:fillRef idx="2">
            <a:schemeClr val="accent5"/>
          </a:fillRef>
          <a:effectRef idx="1">
            <a:schemeClr val="accent5"/>
          </a:effectRef>
          <a:fontRef idx="minor">
            <a:schemeClr val="dk1"/>
          </a:fontRef>
        </p:style>
        <p:txBody>
          <a:bodyPr>
            <a:normAutofit/>
          </a:bodyPr>
          <a:lstStyle/>
          <a:p>
            <a:pPr algn="ctr"/>
            <a:r>
              <a:rPr lang="en-US" sz="2400" b="1" dirty="0">
                <a:solidFill>
                  <a:srgbClr val="6600CC"/>
                </a:solidFill>
              </a:rPr>
              <a:t>Solar CELL Mechanism</a:t>
            </a:r>
          </a:p>
        </p:txBody>
      </p:sp>
      <p:sp>
        <p:nvSpPr>
          <p:cNvPr id="3" name="Content Placeholder 2"/>
          <p:cNvSpPr>
            <a:spLocks noGrp="1"/>
          </p:cNvSpPr>
          <p:nvPr>
            <p:ph idx="1"/>
          </p:nvPr>
        </p:nvSpPr>
        <p:spPr>
          <a:xfrm>
            <a:off x="304800" y="914400"/>
            <a:ext cx="8686800" cy="5638800"/>
          </a:xfrm>
        </p:spPr>
        <p:style>
          <a:lnRef idx="2">
            <a:schemeClr val="accent5"/>
          </a:lnRef>
          <a:fillRef idx="1">
            <a:schemeClr val="lt1"/>
          </a:fillRef>
          <a:effectRef idx="0">
            <a:schemeClr val="accent5"/>
          </a:effectRef>
          <a:fontRef idx="minor">
            <a:schemeClr val="dk1"/>
          </a:fontRef>
        </p:style>
        <p:txBody>
          <a:bodyPr>
            <a:noAutofit/>
          </a:bodyPr>
          <a:lstStyle/>
          <a:p>
            <a:pPr marL="0" indent="0" algn="just">
              <a:buNone/>
            </a:pPr>
            <a:r>
              <a:rPr lang="en-US" sz="2000" dirty="0">
                <a:solidFill>
                  <a:srgbClr val="002060"/>
                </a:solidFill>
              </a:rPr>
              <a:t>The mechanism of a solar cell, also known as the </a:t>
            </a:r>
            <a:r>
              <a:rPr lang="en-US" sz="2000" b="1" dirty="0">
                <a:solidFill>
                  <a:srgbClr val="002060"/>
                </a:solidFill>
              </a:rPr>
              <a:t>photovoltaic effect</a:t>
            </a:r>
            <a:r>
              <a:rPr lang="en-US" sz="2000" dirty="0">
                <a:solidFill>
                  <a:srgbClr val="002060"/>
                </a:solidFill>
              </a:rPr>
              <a:t>, involves the conversion of sunlight (solar energy) into electricity. Here's a breakdown of how a solar cell works:</a:t>
            </a:r>
          </a:p>
          <a:p>
            <a:pPr marL="0" indent="0" algn="just">
              <a:buNone/>
            </a:pPr>
            <a:r>
              <a:rPr lang="en-US" sz="2000" b="1" dirty="0">
                <a:solidFill>
                  <a:srgbClr val="0000FF"/>
                </a:solidFill>
              </a:rPr>
              <a:t>1. Absorption of Light</a:t>
            </a:r>
          </a:p>
          <a:p>
            <a:pPr marL="0" indent="0" algn="just">
              <a:buNone/>
            </a:pPr>
            <a:r>
              <a:rPr lang="en-US" sz="2000" dirty="0">
                <a:solidFill>
                  <a:srgbClr val="002060"/>
                </a:solidFill>
              </a:rPr>
              <a:t>Solar cells are made of semiconductor materials, typically </a:t>
            </a:r>
            <a:r>
              <a:rPr lang="en-US" sz="2000" b="1" dirty="0">
                <a:solidFill>
                  <a:srgbClr val="002060"/>
                </a:solidFill>
              </a:rPr>
              <a:t>silicon</a:t>
            </a:r>
            <a:r>
              <a:rPr lang="en-US" sz="2000" dirty="0">
                <a:solidFill>
                  <a:srgbClr val="002060"/>
                </a:solidFill>
              </a:rPr>
              <a:t>. When sunlight hits the solar cell, the </a:t>
            </a:r>
            <a:r>
              <a:rPr lang="en-US" sz="2000" b="1" dirty="0">
                <a:solidFill>
                  <a:srgbClr val="002060"/>
                </a:solidFill>
              </a:rPr>
              <a:t>photons</a:t>
            </a:r>
            <a:r>
              <a:rPr lang="en-US" sz="2000" dirty="0">
                <a:solidFill>
                  <a:srgbClr val="002060"/>
                </a:solidFill>
              </a:rPr>
              <a:t> (light particles) are absorbed by the semiconductor material.</a:t>
            </a:r>
          </a:p>
          <a:p>
            <a:pPr marL="0" indent="0" algn="just">
              <a:buNone/>
            </a:pPr>
            <a:r>
              <a:rPr lang="en-US" sz="2000" dirty="0">
                <a:solidFill>
                  <a:srgbClr val="002060"/>
                </a:solidFill>
              </a:rPr>
              <a:t>This energy from the photons excites electrons in the material, giving them enough energy to break free from their atoms. This process is called </a:t>
            </a:r>
            <a:r>
              <a:rPr lang="en-US" sz="2000" b="1" dirty="0" err="1">
                <a:solidFill>
                  <a:srgbClr val="002060"/>
                </a:solidFill>
              </a:rPr>
              <a:t>photoexcitation</a:t>
            </a:r>
            <a:r>
              <a:rPr lang="en-US" sz="2000" dirty="0">
                <a:solidFill>
                  <a:srgbClr val="002060"/>
                </a:solidFill>
              </a:rPr>
              <a:t>.</a:t>
            </a:r>
          </a:p>
          <a:p>
            <a:pPr marL="0" indent="0" algn="just">
              <a:buNone/>
            </a:pPr>
            <a:r>
              <a:rPr lang="en-US" sz="2000" b="1" dirty="0">
                <a:solidFill>
                  <a:srgbClr val="0000FF"/>
                </a:solidFill>
              </a:rPr>
              <a:t>2. Generation of Electron-Hole Pairs</a:t>
            </a:r>
          </a:p>
          <a:p>
            <a:pPr marL="0" indent="0" algn="just">
              <a:buNone/>
            </a:pPr>
            <a:r>
              <a:rPr lang="en-US" sz="2000" dirty="0">
                <a:solidFill>
                  <a:srgbClr val="002060"/>
                </a:solidFill>
              </a:rPr>
              <a:t>As the photons hit the semiconductor, they knock electrons loose from their atoms. This creates </a:t>
            </a:r>
            <a:r>
              <a:rPr lang="en-US" sz="2000" b="1" dirty="0">
                <a:solidFill>
                  <a:srgbClr val="002060"/>
                </a:solidFill>
              </a:rPr>
              <a:t>electron-hole pairs</a:t>
            </a:r>
            <a:r>
              <a:rPr lang="en-US" sz="2000" dirty="0">
                <a:solidFill>
                  <a:srgbClr val="002060"/>
                </a:solidFill>
              </a:rPr>
              <a:t>. An </a:t>
            </a:r>
            <a:r>
              <a:rPr lang="en-US" sz="2000" b="1" dirty="0">
                <a:solidFill>
                  <a:srgbClr val="002060"/>
                </a:solidFill>
              </a:rPr>
              <a:t>electron</a:t>
            </a:r>
            <a:r>
              <a:rPr lang="en-US" sz="2000" dirty="0">
                <a:solidFill>
                  <a:srgbClr val="002060"/>
                </a:solidFill>
              </a:rPr>
              <a:t> is the negatively charged particle, and the </a:t>
            </a:r>
            <a:r>
              <a:rPr lang="en-US" sz="2000" b="1" dirty="0">
                <a:solidFill>
                  <a:srgbClr val="002060"/>
                </a:solidFill>
              </a:rPr>
              <a:t>hole</a:t>
            </a:r>
            <a:r>
              <a:rPr lang="en-US" sz="2000" dirty="0">
                <a:solidFill>
                  <a:srgbClr val="002060"/>
                </a:solidFill>
              </a:rPr>
              <a:t> is the absence of an electron, acting like a positively charged particle.</a:t>
            </a:r>
          </a:p>
          <a:p>
            <a:pPr marL="0" indent="0" algn="just">
              <a:buNone/>
            </a:pPr>
            <a:r>
              <a:rPr lang="en-US" sz="2000" dirty="0">
                <a:solidFill>
                  <a:srgbClr val="002060"/>
                </a:solidFill>
              </a:rPr>
              <a:t>These electron-hole pairs are the key to generating electricity</a:t>
            </a:r>
            <a:r>
              <a:rPr lang="en-US" sz="2000" dirty="0" smtClean="0">
                <a:solidFill>
                  <a:srgbClr val="002060"/>
                </a:solidFill>
              </a:rPr>
              <a:t>.</a:t>
            </a:r>
            <a:endParaRPr lang="en-US" sz="2000" dirty="0">
              <a:solidFill>
                <a:srgbClr val="002060"/>
              </a:solidFill>
            </a:endParaRPr>
          </a:p>
        </p:txBody>
      </p:sp>
    </p:spTree>
    <p:extLst>
      <p:ext uri="{BB962C8B-B14F-4D97-AF65-F5344CB8AC3E}">
        <p14:creationId xmlns:p14="http://schemas.microsoft.com/office/powerpoint/2010/main" val="40357018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57200"/>
            <a:ext cx="8686800" cy="6248400"/>
          </a:xfrm>
        </p:spPr>
        <p:style>
          <a:lnRef idx="2">
            <a:schemeClr val="accent3"/>
          </a:lnRef>
          <a:fillRef idx="1">
            <a:schemeClr val="lt1"/>
          </a:fillRef>
          <a:effectRef idx="0">
            <a:schemeClr val="accent3"/>
          </a:effectRef>
          <a:fontRef idx="minor">
            <a:schemeClr val="dk1"/>
          </a:fontRef>
        </p:style>
        <p:txBody>
          <a:bodyPr>
            <a:normAutofit fontScale="85000" lnSpcReduction="20000"/>
          </a:bodyPr>
          <a:lstStyle/>
          <a:p>
            <a:pPr marL="0" indent="0" algn="just">
              <a:buNone/>
            </a:pPr>
            <a:endParaRPr lang="en-US" b="1" dirty="0" smtClean="0">
              <a:solidFill>
                <a:srgbClr val="0000FF"/>
              </a:solidFill>
            </a:endParaRPr>
          </a:p>
          <a:p>
            <a:pPr marL="0" indent="0" algn="just">
              <a:buNone/>
            </a:pPr>
            <a:r>
              <a:rPr lang="en-US" b="1" dirty="0" smtClean="0">
                <a:solidFill>
                  <a:srgbClr val="0000FF"/>
                </a:solidFill>
              </a:rPr>
              <a:t>3</a:t>
            </a:r>
            <a:r>
              <a:rPr lang="en-US" b="1" dirty="0">
                <a:solidFill>
                  <a:srgbClr val="0000FF"/>
                </a:solidFill>
              </a:rPr>
              <a:t>. Creation of an Electric Field</a:t>
            </a:r>
          </a:p>
          <a:p>
            <a:pPr marL="0" indent="0" algn="just">
              <a:buNone/>
            </a:pPr>
            <a:r>
              <a:rPr lang="en-US" dirty="0">
                <a:solidFill>
                  <a:srgbClr val="002060"/>
                </a:solidFill>
              </a:rPr>
              <a:t>Solar cells are designed with two layers of semiconductor material: one layer is </a:t>
            </a:r>
            <a:r>
              <a:rPr lang="en-US" b="1" dirty="0">
                <a:solidFill>
                  <a:srgbClr val="002060"/>
                </a:solidFill>
              </a:rPr>
              <a:t>positively charged</a:t>
            </a:r>
            <a:r>
              <a:rPr lang="en-US" dirty="0">
                <a:solidFill>
                  <a:srgbClr val="002060"/>
                </a:solidFill>
              </a:rPr>
              <a:t> (p-type) and the other is </a:t>
            </a:r>
            <a:r>
              <a:rPr lang="en-US" b="1" dirty="0">
                <a:solidFill>
                  <a:srgbClr val="002060"/>
                </a:solidFill>
              </a:rPr>
              <a:t>negatively charged</a:t>
            </a:r>
            <a:r>
              <a:rPr lang="en-US" dirty="0">
                <a:solidFill>
                  <a:srgbClr val="002060"/>
                </a:solidFill>
              </a:rPr>
              <a:t> (n-type). The </a:t>
            </a:r>
            <a:r>
              <a:rPr lang="en-US" b="1" dirty="0">
                <a:solidFill>
                  <a:srgbClr val="002060"/>
                </a:solidFill>
              </a:rPr>
              <a:t>p-n junction</a:t>
            </a:r>
            <a:r>
              <a:rPr lang="en-US" dirty="0">
                <a:solidFill>
                  <a:srgbClr val="002060"/>
                </a:solidFill>
              </a:rPr>
              <a:t> is formed where these two layers meet. This junction creates an </a:t>
            </a:r>
            <a:r>
              <a:rPr lang="en-US" b="1" dirty="0">
                <a:solidFill>
                  <a:srgbClr val="002060"/>
                </a:solidFill>
              </a:rPr>
              <a:t>electric field</a:t>
            </a:r>
            <a:r>
              <a:rPr lang="en-US" dirty="0">
                <a:solidFill>
                  <a:srgbClr val="002060"/>
                </a:solidFill>
              </a:rPr>
              <a:t> that pushes the free electrons in the </a:t>
            </a:r>
            <a:r>
              <a:rPr lang="en-US" b="1" dirty="0">
                <a:solidFill>
                  <a:srgbClr val="002060"/>
                </a:solidFill>
              </a:rPr>
              <a:t>n-type layer</a:t>
            </a:r>
            <a:r>
              <a:rPr lang="en-US" dirty="0">
                <a:solidFill>
                  <a:srgbClr val="002060"/>
                </a:solidFill>
              </a:rPr>
              <a:t> toward the </a:t>
            </a:r>
            <a:r>
              <a:rPr lang="en-US" b="1" dirty="0">
                <a:solidFill>
                  <a:srgbClr val="002060"/>
                </a:solidFill>
              </a:rPr>
              <a:t>p-type layer</a:t>
            </a:r>
            <a:r>
              <a:rPr lang="en-US" dirty="0">
                <a:solidFill>
                  <a:srgbClr val="002060"/>
                </a:solidFill>
              </a:rPr>
              <a:t>, and the holes toward the </a:t>
            </a:r>
            <a:r>
              <a:rPr lang="en-US" b="1" dirty="0">
                <a:solidFill>
                  <a:srgbClr val="002060"/>
                </a:solidFill>
              </a:rPr>
              <a:t>n-type layer</a:t>
            </a:r>
            <a:r>
              <a:rPr lang="en-US" dirty="0">
                <a:solidFill>
                  <a:srgbClr val="002060"/>
                </a:solidFill>
              </a:rPr>
              <a:t>. The electric field helps to separate the electrons and holes, preventing them from recombining</a:t>
            </a:r>
            <a:r>
              <a:rPr lang="en-US" dirty="0" smtClean="0">
                <a:solidFill>
                  <a:srgbClr val="002060"/>
                </a:solidFill>
              </a:rPr>
              <a:t>.</a:t>
            </a:r>
          </a:p>
          <a:p>
            <a:pPr marL="0" indent="0" algn="just">
              <a:buNone/>
            </a:pPr>
            <a:endParaRPr lang="en-US" dirty="0">
              <a:solidFill>
                <a:srgbClr val="002060"/>
              </a:solidFill>
            </a:endParaRPr>
          </a:p>
          <a:p>
            <a:pPr marL="0" indent="0" algn="just">
              <a:buNone/>
            </a:pPr>
            <a:r>
              <a:rPr lang="en-US" b="1" dirty="0">
                <a:solidFill>
                  <a:srgbClr val="0000FF"/>
                </a:solidFill>
              </a:rPr>
              <a:t>4. Movement of Electrons</a:t>
            </a:r>
          </a:p>
          <a:p>
            <a:pPr marL="0" indent="0" algn="just">
              <a:buNone/>
            </a:pPr>
            <a:r>
              <a:rPr lang="en-US" dirty="0">
                <a:solidFill>
                  <a:srgbClr val="002060"/>
                </a:solidFill>
              </a:rPr>
              <a:t>The electrons that are freed by the absorbed light are pushed through the </a:t>
            </a:r>
            <a:r>
              <a:rPr lang="en-US" b="1" dirty="0">
                <a:solidFill>
                  <a:srgbClr val="002060"/>
                </a:solidFill>
              </a:rPr>
              <a:t>electric field</a:t>
            </a:r>
            <a:r>
              <a:rPr lang="en-US" dirty="0">
                <a:solidFill>
                  <a:srgbClr val="002060"/>
                </a:solidFill>
              </a:rPr>
              <a:t> towards the n-type side.</a:t>
            </a:r>
          </a:p>
          <a:p>
            <a:pPr marL="0" indent="0" algn="just">
              <a:buNone/>
            </a:pPr>
            <a:r>
              <a:rPr lang="en-US" dirty="0">
                <a:solidFill>
                  <a:srgbClr val="002060"/>
                </a:solidFill>
              </a:rPr>
              <a:t>These electrons are directed into an external circuit, creating an </a:t>
            </a:r>
            <a:r>
              <a:rPr lang="en-US" b="1" dirty="0">
                <a:solidFill>
                  <a:srgbClr val="002060"/>
                </a:solidFill>
              </a:rPr>
              <a:t>electric current</a:t>
            </a:r>
            <a:r>
              <a:rPr lang="en-US" dirty="0">
                <a:solidFill>
                  <a:srgbClr val="002060"/>
                </a:solidFill>
              </a:rPr>
              <a:t>.</a:t>
            </a:r>
            <a:endParaRPr lang="en-US" dirty="0"/>
          </a:p>
        </p:txBody>
      </p:sp>
    </p:spTree>
    <p:extLst>
      <p:ext uri="{BB962C8B-B14F-4D97-AF65-F5344CB8AC3E}">
        <p14:creationId xmlns:p14="http://schemas.microsoft.com/office/powerpoint/2010/main" val="119261541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8686800" cy="5562600"/>
          </a:xfrm>
        </p:spPr>
        <p:style>
          <a:lnRef idx="2">
            <a:schemeClr val="accent3"/>
          </a:lnRef>
          <a:fillRef idx="1">
            <a:schemeClr val="lt1"/>
          </a:fillRef>
          <a:effectRef idx="0">
            <a:schemeClr val="accent3"/>
          </a:effectRef>
          <a:fontRef idx="minor">
            <a:schemeClr val="dk1"/>
          </a:fontRef>
        </p:style>
        <p:txBody>
          <a:bodyPr>
            <a:normAutofit fontScale="85000" lnSpcReduction="20000"/>
          </a:bodyPr>
          <a:lstStyle/>
          <a:p>
            <a:pPr marL="0" indent="0" algn="just">
              <a:buNone/>
            </a:pPr>
            <a:r>
              <a:rPr lang="en-US" b="1" dirty="0">
                <a:solidFill>
                  <a:srgbClr val="0000FF"/>
                </a:solidFill>
              </a:rPr>
              <a:t>5. Electric Current Generation</a:t>
            </a:r>
          </a:p>
          <a:p>
            <a:pPr marL="0" indent="0" algn="just">
              <a:buNone/>
            </a:pPr>
            <a:r>
              <a:rPr lang="en-US" dirty="0">
                <a:solidFill>
                  <a:srgbClr val="002060"/>
                </a:solidFill>
              </a:rPr>
              <a:t>The movement of the electrons through the external circuit constitutes an </a:t>
            </a:r>
            <a:r>
              <a:rPr lang="en-US" b="1" dirty="0">
                <a:solidFill>
                  <a:srgbClr val="002060"/>
                </a:solidFill>
              </a:rPr>
              <a:t>electric current</a:t>
            </a:r>
            <a:r>
              <a:rPr lang="en-US" dirty="0">
                <a:solidFill>
                  <a:srgbClr val="002060"/>
                </a:solidFill>
              </a:rPr>
              <a:t>. This current can be used to power electrical devices.</a:t>
            </a:r>
          </a:p>
          <a:p>
            <a:pPr marL="0" indent="0" algn="just">
              <a:buNone/>
            </a:pPr>
            <a:r>
              <a:rPr lang="en-US" dirty="0">
                <a:solidFill>
                  <a:srgbClr val="002060"/>
                </a:solidFill>
              </a:rPr>
              <a:t>The </a:t>
            </a:r>
            <a:r>
              <a:rPr lang="en-US" b="1" dirty="0">
                <a:solidFill>
                  <a:srgbClr val="002060"/>
                </a:solidFill>
              </a:rPr>
              <a:t>holes</a:t>
            </a:r>
            <a:r>
              <a:rPr lang="en-US" dirty="0">
                <a:solidFill>
                  <a:srgbClr val="002060"/>
                </a:solidFill>
              </a:rPr>
              <a:t> left behind in the p-type material move in the opposite direction, eventually reaching the external circuit, completing the electrical circuit</a:t>
            </a:r>
            <a:r>
              <a:rPr lang="en-US" dirty="0" smtClean="0">
                <a:solidFill>
                  <a:srgbClr val="002060"/>
                </a:solidFill>
              </a:rPr>
              <a:t>.</a:t>
            </a:r>
          </a:p>
          <a:p>
            <a:pPr marL="0" indent="0" algn="just">
              <a:buNone/>
            </a:pPr>
            <a:endParaRPr lang="en-US" dirty="0">
              <a:solidFill>
                <a:srgbClr val="002060"/>
              </a:solidFill>
            </a:endParaRPr>
          </a:p>
          <a:p>
            <a:pPr marL="0" indent="0" algn="just">
              <a:buNone/>
            </a:pPr>
            <a:r>
              <a:rPr lang="en-US" b="1" dirty="0">
                <a:solidFill>
                  <a:srgbClr val="0000FF"/>
                </a:solidFill>
              </a:rPr>
              <a:t>6. Energy Output</a:t>
            </a:r>
          </a:p>
          <a:p>
            <a:pPr marL="0" indent="0" algn="just">
              <a:buNone/>
            </a:pPr>
            <a:r>
              <a:rPr lang="en-US" dirty="0">
                <a:solidFill>
                  <a:srgbClr val="002060"/>
                </a:solidFill>
              </a:rPr>
              <a:t>The external circuit connects the positive and negative sides of the solar cell, allowing the electrons to flow, creating a direct current (DC).</a:t>
            </a:r>
          </a:p>
          <a:p>
            <a:pPr marL="0" indent="0" algn="just">
              <a:buNone/>
            </a:pPr>
            <a:r>
              <a:rPr lang="en-US" dirty="0">
                <a:solidFill>
                  <a:srgbClr val="002060"/>
                </a:solidFill>
              </a:rPr>
              <a:t>This </a:t>
            </a:r>
            <a:r>
              <a:rPr lang="en-US" b="1" dirty="0">
                <a:solidFill>
                  <a:srgbClr val="002060"/>
                </a:solidFill>
              </a:rPr>
              <a:t>direct current</a:t>
            </a:r>
            <a:r>
              <a:rPr lang="en-US" dirty="0">
                <a:solidFill>
                  <a:srgbClr val="002060"/>
                </a:solidFill>
              </a:rPr>
              <a:t> can be used to power DC devices directly or converted to </a:t>
            </a:r>
            <a:r>
              <a:rPr lang="en-US" b="1" dirty="0">
                <a:solidFill>
                  <a:srgbClr val="002060"/>
                </a:solidFill>
              </a:rPr>
              <a:t>alternating current (AC)</a:t>
            </a:r>
            <a:r>
              <a:rPr lang="en-US" dirty="0">
                <a:solidFill>
                  <a:srgbClr val="002060"/>
                </a:solidFill>
              </a:rPr>
              <a:t> using an inverter for use in homes and businesses.</a:t>
            </a:r>
          </a:p>
          <a:p>
            <a:endParaRPr lang="en-US" dirty="0"/>
          </a:p>
        </p:txBody>
      </p:sp>
    </p:spTree>
    <p:extLst>
      <p:ext uri="{BB962C8B-B14F-4D97-AF65-F5344CB8AC3E}">
        <p14:creationId xmlns:p14="http://schemas.microsoft.com/office/powerpoint/2010/main" val="217081542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686800" cy="457200"/>
          </a:xfrm>
        </p:spPr>
        <p:style>
          <a:lnRef idx="1">
            <a:schemeClr val="accent5"/>
          </a:lnRef>
          <a:fillRef idx="2">
            <a:schemeClr val="accent5"/>
          </a:fillRef>
          <a:effectRef idx="1">
            <a:schemeClr val="accent5"/>
          </a:effectRef>
          <a:fontRef idx="minor">
            <a:schemeClr val="dk1"/>
          </a:fontRef>
        </p:style>
        <p:txBody>
          <a:bodyPr>
            <a:normAutofit fontScale="90000"/>
          </a:bodyPr>
          <a:lstStyle/>
          <a:p>
            <a:pPr algn="ctr"/>
            <a:r>
              <a:rPr lang="en-US" b="1" dirty="0" smtClean="0">
                <a:solidFill>
                  <a:srgbClr val="FF0000"/>
                </a:solidFill>
              </a:rPr>
              <a:t/>
            </a:r>
            <a:br>
              <a:rPr lang="en-US" b="1" dirty="0" smtClean="0">
                <a:solidFill>
                  <a:srgbClr val="FF0000"/>
                </a:solidFill>
              </a:rPr>
            </a:br>
            <a:r>
              <a:rPr lang="en-US" sz="2700" b="1" dirty="0" smtClean="0">
                <a:solidFill>
                  <a:srgbClr val="FF0000"/>
                </a:solidFill>
              </a:rPr>
              <a:t>Summary </a:t>
            </a:r>
            <a:r>
              <a:rPr lang="en-US" sz="2700" b="1" dirty="0">
                <a:solidFill>
                  <a:srgbClr val="FF0000"/>
                </a:solidFill>
              </a:rPr>
              <a:t>of the Solar Cell Mechanism</a:t>
            </a:r>
            <a:r>
              <a:rPr lang="en-US" sz="2700" b="1" dirty="0"/>
              <a:t>:</a:t>
            </a:r>
            <a:br>
              <a:rPr lang="en-US" sz="2700" b="1" dirty="0"/>
            </a:br>
            <a:endParaRPr lang="en-US" sz="2700" dirty="0"/>
          </a:p>
        </p:txBody>
      </p:sp>
      <p:sp>
        <p:nvSpPr>
          <p:cNvPr id="3" name="Content Placeholder 2"/>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fontScale="85000" lnSpcReduction="10000"/>
          </a:bodyPr>
          <a:lstStyle/>
          <a:p>
            <a:pPr>
              <a:buFont typeface="Wingdings" pitchFamily="2" charset="2"/>
              <a:buChar char="q"/>
            </a:pPr>
            <a:r>
              <a:rPr lang="en-US" b="1" dirty="0" smtClean="0">
                <a:solidFill>
                  <a:srgbClr val="0000FF"/>
                </a:solidFill>
              </a:rPr>
              <a:t>Photons</a:t>
            </a:r>
            <a:r>
              <a:rPr lang="en-US" dirty="0" smtClean="0">
                <a:solidFill>
                  <a:srgbClr val="0000FF"/>
                </a:solidFill>
              </a:rPr>
              <a:t> </a:t>
            </a:r>
            <a:r>
              <a:rPr lang="en-US" dirty="0">
                <a:solidFill>
                  <a:srgbClr val="0000FF"/>
                </a:solidFill>
              </a:rPr>
              <a:t>from sunlight hit the semiconductor material.</a:t>
            </a:r>
          </a:p>
          <a:p>
            <a:pPr>
              <a:buFont typeface="Wingdings" pitchFamily="2" charset="2"/>
              <a:buChar char="q"/>
            </a:pPr>
            <a:r>
              <a:rPr lang="en-US" dirty="0">
                <a:solidFill>
                  <a:srgbClr val="0000FF"/>
                </a:solidFill>
              </a:rPr>
              <a:t>Electrons are knocked free from their atoms, creating </a:t>
            </a:r>
            <a:r>
              <a:rPr lang="en-US" b="1" dirty="0">
                <a:solidFill>
                  <a:srgbClr val="0000FF"/>
                </a:solidFill>
              </a:rPr>
              <a:t>electron-hole pairs</a:t>
            </a:r>
            <a:r>
              <a:rPr lang="en-US" dirty="0">
                <a:solidFill>
                  <a:srgbClr val="0000FF"/>
                </a:solidFill>
              </a:rPr>
              <a:t>.</a:t>
            </a:r>
          </a:p>
          <a:p>
            <a:pPr>
              <a:buFont typeface="Wingdings" pitchFamily="2" charset="2"/>
              <a:buChar char="q"/>
            </a:pPr>
            <a:r>
              <a:rPr lang="en-US" dirty="0">
                <a:solidFill>
                  <a:srgbClr val="0000FF"/>
                </a:solidFill>
              </a:rPr>
              <a:t>The </a:t>
            </a:r>
            <a:r>
              <a:rPr lang="en-US" b="1" dirty="0">
                <a:solidFill>
                  <a:srgbClr val="0000FF"/>
                </a:solidFill>
              </a:rPr>
              <a:t>electric field</a:t>
            </a:r>
            <a:r>
              <a:rPr lang="en-US" dirty="0">
                <a:solidFill>
                  <a:srgbClr val="0000FF"/>
                </a:solidFill>
              </a:rPr>
              <a:t> at the p-n junction drives the electrons toward the n-type material and holes toward the p-type material.</a:t>
            </a:r>
          </a:p>
          <a:p>
            <a:pPr>
              <a:buFont typeface="Wingdings" pitchFamily="2" charset="2"/>
              <a:buChar char="q"/>
            </a:pPr>
            <a:r>
              <a:rPr lang="en-US" dirty="0">
                <a:solidFill>
                  <a:srgbClr val="0000FF"/>
                </a:solidFill>
              </a:rPr>
              <a:t>The movement of </a:t>
            </a:r>
            <a:r>
              <a:rPr lang="en-US" b="1" dirty="0">
                <a:solidFill>
                  <a:srgbClr val="0000FF"/>
                </a:solidFill>
              </a:rPr>
              <a:t>electrons</a:t>
            </a:r>
            <a:r>
              <a:rPr lang="en-US" dirty="0">
                <a:solidFill>
                  <a:srgbClr val="0000FF"/>
                </a:solidFill>
              </a:rPr>
              <a:t> creates an </a:t>
            </a:r>
            <a:r>
              <a:rPr lang="en-US" b="1" dirty="0">
                <a:solidFill>
                  <a:srgbClr val="0000FF"/>
                </a:solidFill>
              </a:rPr>
              <a:t>electric current</a:t>
            </a:r>
            <a:r>
              <a:rPr lang="en-US" dirty="0">
                <a:solidFill>
                  <a:srgbClr val="0000FF"/>
                </a:solidFill>
              </a:rPr>
              <a:t>.</a:t>
            </a:r>
          </a:p>
          <a:p>
            <a:pPr>
              <a:buFont typeface="Wingdings" pitchFamily="2" charset="2"/>
              <a:buChar char="q"/>
            </a:pPr>
            <a:r>
              <a:rPr lang="en-US" dirty="0">
                <a:solidFill>
                  <a:srgbClr val="0000FF"/>
                </a:solidFill>
              </a:rPr>
              <a:t>The current is used to power electrical devices.</a:t>
            </a:r>
          </a:p>
          <a:p>
            <a:pPr>
              <a:buFont typeface="Wingdings" pitchFamily="2" charset="2"/>
              <a:buChar char="q"/>
            </a:pPr>
            <a:r>
              <a:rPr lang="en-US" dirty="0">
                <a:solidFill>
                  <a:srgbClr val="0000FF"/>
                </a:solidFill>
              </a:rPr>
              <a:t>This process converts solar energy into usable electrical energy.</a:t>
            </a:r>
          </a:p>
          <a:p>
            <a:endParaRPr lang="en-US" dirty="0"/>
          </a:p>
        </p:txBody>
      </p:sp>
    </p:spTree>
    <p:extLst>
      <p:ext uri="{BB962C8B-B14F-4D97-AF65-F5344CB8AC3E}">
        <p14:creationId xmlns:p14="http://schemas.microsoft.com/office/powerpoint/2010/main" val="1821660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686800" cy="1066800"/>
          </a:xfrm>
        </p:spPr>
        <p:style>
          <a:lnRef idx="1">
            <a:schemeClr val="accent5"/>
          </a:lnRef>
          <a:fillRef idx="2">
            <a:schemeClr val="accent5"/>
          </a:fillRef>
          <a:effectRef idx="1">
            <a:schemeClr val="accent5"/>
          </a:effectRef>
          <a:fontRef idx="minor">
            <a:schemeClr val="dk1"/>
          </a:fontRef>
        </p:style>
        <p:txBody>
          <a:bodyPr/>
          <a:lstStyle/>
          <a:p>
            <a:pPr algn="ctr"/>
            <a:r>
              <a:rPr lang="en-US" dirty="0" smtClean="0">
                <a:solidFill>
                  <a:srgbClr val="0000FF"/>
                </a:solidFill>
              </a:rPr>
              <a:t>Solar CELL Mechanism</a:t>
            </a:r>
            <a:endParaRPr lang="en-US" dirty="0">
              <a:solidFill>
                <a:srgbClr val="0000FF"/>
              </a:solidFill>
            </a:endParaRPr>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676400"/>
            <a:ext cx="72009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26105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style>
          <a:lnRef idx="1">
            <a:schemeClr val="accent3"/>
          </a:lnRef>
          <a:fillRef idx="2">
            <a:schemeClr val="accent3"/>
          </a:fillRef>
          <a:effectRef idx="1">
            <a:schemeClr val="accent3"/>
          </a:effectRef>
          <a:fontRef idx="minor">
            <a:schemeClr val="dk1"/>
          </a:fontRef>
        </p:style>
        <p:txBody>
          <a:bodyPr>
            <a:normAutofit fontScale="62500" lnSpcReduction="20000"/>
          </a:bodyPr>
          <a:lstStyle/>
          <a:p>
            <a:endParaRPr lang="en-US" b="1" dirty="0" smtClean="0"/>
          </a:p>
          <a:p>
            <a:pPr marL="0" indent="0" algn="ctr">
              <a:buNone/>
            </a:pPr>
            <a:r>
              <a:rPr lang="en-US" sz="5100" b="1" dirty="0">
                <a:solidFill>
                  <a:srgbClr val="FF0000"/>
                </a:solidFill>
              </a:rPr>
              <a:t>What causes the depletion region?</a:t>
            </a:r>
          </a:p>
          <a:p>
            <a:pPr marL="0" indent="0">
              <a:buNone/>
            </a:pPr>
            <a:endParaRPr lang="en-US" b="1" dirty="0" smtClean="0"/>
          </a:p>
          <a:p>
            <a:pPr marL="0" indent="0">
              <a:buNone/>
            </a:pPr>
            <a:r>
              <a:rPr lang="en-US" sz="4500" b="1" dirty="0" smtClean="0">
                <a:solidFill>
                  <a:srgbClr val="3333CC"/>
                </a:solidFill>
              </a:rPr>
              <a:t>Solution: </a:t>
            </a:r>
            <a:endParaRPr lang="en-US" sz="4500" b="1" dirty="0">
              <a:solidFill>
                <a:srgbClr val="3333CC"/>
              </a:solidFill>
            </a:endParaRPr>
          </a:p>
          <a:p>
            <a:endParaRPr lang="en-US" b="1" dirty="0"/>
          </a:p>
          <a:p>
            <a:pPr marL="514350" indent="-514350">
              <a:buFont typeface="+mj-lt"/>
              <a:buAutoNum type="arabicPeriod"/>
            </a:pPr>
            <a:r>
              <a:rPr lang="en-US" sz="3400" b="1" dirty="0">
                <a:solidFill>
                  <a:srgbClr val="3333CC"/>
                </a:solidFill>
              </a:rPr>
              <a:t>A p-n junction diode's depletion area, also known as the depletion layer, is a space devoid of mobile charge carriers.</a:t>
            </a:r>
          </a:p>
          <a:p>
            <a:pPr marL="514350" indent="-514350">
              <a:buFont typeface="+mj-lt"/>
              <a:buAutoNum type="arabicPeriod"/>
            </a:pPr>
            <a:r>
              <a:rPr lang="en-US" sz="3400" b="1" dirty="0">
                <a:solidFill>
                  <a:srgbClr val="3333CC"/>
                </a:solidFill>
              </a:rPr>
              <a:t>The depletion region is caused by the diffusion of charges. Because of the concentration gradient holes diffuse from p-side to the n-side across the junction while electrons diffuse from the n-side to the p-side. </a:t>
            </a:r>
          </a:p>
          <a:p>
            <a:pPr marL="514350" indent="-514350">
              <a:buFont typeface="+mj-lt"/>
              <a:buAutoNum type="arabicPeriod"/>
            </a:pPr>
            <a:r>
              <a:rPr lang="en-US" sz="3400" b="1" dirty="0">
                <a:solidFill>
                  <a:srgbClr val="3333CC"/>
                </a:solidFill>
              </a:rPr>
              <a:t>The holes and the electrons diffusing towards each other combine near the junction.</a:t>
            </a:r>
          </a:p>
          <a:p>
            <a:pPr marL="514350" indent="-514350">
              <a:buFont typeface="+mj-lt"/>
              <a:buAutoNum type="arabicPeriod"/>
            </a:pPr>
            <a:r>
              <a:rPr lang="en-US" sz="3400" b="1" dirty="0">
                <a:solidFill>
                  <a:srgbClr val="3333CC"/>
                </a:solidFill>
              </a:rPr>
              <a:t>When the diode is in the forward bias connection the width of the depletion region decreases.</a:t>
            </a:r>
          </a:p>
          <a:p>
            <a:pPr marL="514350" indent="-514350">
              <a:buFont typeface="+mj-lt"/>
              <a:buAutoNum type="arabicPeriod"/>
            </a:pPr>
            <a:r>
              <a:rPr lang="en-US" sz="3400" b="1" dirty="0">
                <a:solidFill>
                  <a:srgbClr val="3333CC"/>
                </a:solidFill>
              </a:rPr>
              <a:t>When the diode is in the reverse bias connection the width of the depletion region increases.</a:t>
            </a:r>
          </a:p>
          <a:p>
            <a:endParaRPr lang="en-US" dirty="0"/>
          </a:p>
        </p:txBody>
      </p:sp>
    </p:spTree>
    <p:extLst>
      <p:ext uri="{BB962C8B-B14F-4D97-AF65-F5344CB8AC3E}">
        <p14:creationId xmlns:p14="http://schemas.microsoft.com/office/powerpoint/2010/main" val="223513294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7" name="Picture 1"/>
          <p:cNvPicPr>
            <a:picLocks noChangeAspect="1" noChangeArrowheads="1"/>
          </p:cNvPicPr>
          <p:nvPr/>
        </p:nvPicPr>
        <p:blipFill>
          <a:blip r:embed="rId2"/>
          <a:srcRect/>
          <a:stretch>
            <a:fillRect/>
          </a:stretch>
        </p:blipFill>
        <p:spPr bwMode="auto">
          <a:xfrm>
            <a:off x="1524000" y="990600"/>
            <a:ext cx="6076950" cy="4562475"/>
          </a:xfrm>
          <a:prstGeom prst="rect">
            <a:avLst/>
          </a:prstGeom>
          <a:ln>
            <a:headEnd/>
            <a:tailEnd/>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71290838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extLst>
              <a:ext uri="{BEBA8EAE-BF5A-486C-A8C5-ECC9F3942E4B}">
                <a14:imgProps xmlns:a14="http://schemas.microsoft.com/office/drawing/2010/main">
                  <a14:imgLayer r:embed="rId3">
                    <a14:imgEffect>
                      <a14:saturation sat="300000"/>
                    </a14:imgEffect>
                  </a14:imgLayer>
                </a14:imgProps>
              </a:ext>
            </a:extLst>
          </a:blip>
          <a:srcRect/>
          <a:stretch>
            <a:fillRect/>
          </a:stretch>
        </p:blipFill>
        <p:spPr bwMode="auto">
          <a:xfrm>
            <a:off x="1219200" y="1371599"/>
            <a:ext cx="6076950" cy="4562475"/>
          </a:xfrm>
          <a:prstGeom prst="rect">
            <a:avLst/>
          </a:prstGeom>
          <a:ln>
            <a:headEnd/>
            <a:tailEnd/>
          </a:ln>
        </p:spPr>
        <p:style>
          <a:lnRef idx="1">
            <a:schemeClr val="accent2"/>
          </a:lnRef>
          <a:fillRef idx="2">
            <a:schemeClr val="accent2"/>
          </a:fillRef>
          <a:effectRef idx="1">
            <a:schemeClr val="accent2"/>
          </a:effectRef>
          <a:fontRef idx="minor">
            <a:schemeClr val="dk1"/>
          </a:fontRef>
        </p:style>
      </p:pic>
    </p:spTree>
    <p:extLst>
      <p:ext uri="{BB962C8B-B14F-4D97-AF65-F5344CB8AC3E}">
        <p14:creationId xmlns:p14="http://schemas.microsoft.com/office/powerpoint/2010/main" val="944547547"/>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Effect>
                      <a14:saturation sat="400000"/>
                    </a14:imgEffect>
                  </a14:imgLayer>
                </a14:imgProps>
              </a:ext>
            </a:extLst>
          </a:blip>
          <a:srcRect/>
          <a:stretch>
            <a:fillRect/>
          </a:stretch>
        </p:blipFill>
        <p:spPr bwMode="auto">
          <a:xfrm>
            <a:off x="914400" y="381000"/>
            <a:ext cx="8018463" cy="6019800"/>
          </a:xfrm>
          <a:prstGeom prst="rect">
            <a:avLst/>
          </a:prstGeom>
          <a:ln>
            <a:headEnd/>
            <a:tailEnd/>
          </a:ln>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90807369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colorTemperature colorTemp="11200"/>
                    </a14:imgEffect>
                    <a14:imgEffect>
                      <a14:saturation sat="400000"/>
                    </a14:imgEffect>
                  </a14:imgLayer>
                </a14:imgProps>
              </a:ext>
            </a:extLst>
          </a:blip>
          <a:srcRect/>
          <a:stretch>
            <a:fillRect/>
          </a:stretch>
        </p:blipFill>
        <p:spPr bwMode="auto">
          <a:xfrm>
            <a:off x="1219200" y="1066800"/>
            <a:ext cx="7010400" cy="5263294"/>
          </a:xfrm>
          <a:prstGeom prst="rect">
            <a:avLst/>
          </a:prstGeom>
          <a:ln>
            <a:headEnd/>
            <a:tailEnd/>
          </a:ln>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48355497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rcRect/>
          <a:stretch>
            <a:fillRect/>
          </a:stretch>
        </p:blipFill>
        <p:spPr bwMode="auto">
          <a:xfrm>
            <a:off x="838200" y="457200"/>
            <a:ext cx="7815263" cy="5867400"/>
          </a:xfrm>
          <a:prstGeom prst="rect">
            <a:avLst/>
          </a:prstGeom>
          <a:ln>
            <a:headEnd/>
            <a:tailEnd/>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74568796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11200"/>
                    </a14:imgEffect>
                    <a14:imgEffect>
                      <a14:saturation sat="400000"/>
                    </a14:imgEffect>
                  </a14:imgLayer>
                </a14:imgProps>
              </a:ext>
            </a:extLst>
          </a:blip>
          <a:srcRect/>
          <a:stretch>
            <a:fillRect/>
          </a:stretch>
        </p:blipFill>
        <p:spPr bwMode="auto">
          <a:xfrm>
            <a:off x="601249" y="755737"/>
            <a:ext cx="8120063" cy="6096000"/>
          </a:xfrm>
          <a:prstGeom prst="rect">
            <a:avLst/>
          </a:prstGeom>
          <a:ln>
            <a:headEnd/>
            <a:tailEnd/>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95359091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2">
            <a:duotone>
              <a:prstClr val="black"/>
              <a:schemeClr val="accent5">
                <a:tint val="45000"/>
                <a:satMod val="400000"/>
              </a:schemeClr>
            </a:duotone>
            <a:extLst>
              <a:ext uri="{BEBA8EAE-BF5A-486C-A8C5-ECC9F3942E4B}">
                <a14:imgProps xmlns:a14="http://schemas.microsoft.com/office/drawing/2010/main">
                  <a14:imgLayer r:embed="rId3">
                    <a14:imgEffect>
                      <a14:colorTemperature colorTemp="11200"/>
                    </a14:imgEffect>
                    <a14:imgEffect>
                      <a14:saturation sat="400000"/>
                    </a14:imgEffect>
                  </a14:imgLayer>
                </a14:imgProps>
              </a:ext>
            </a:extLst>
          </a:blip>
          <a:srcRect/>
          <a:stretch>
            <a:fillRect/>
          </a:stretch>
        </p:blipFill>
        <p:spPr bwMode="auto">
          <a:xfrm>
            <a:off x="762000" y="914400"/>
            <a:ext cx="7205663" cy="5410200"/>
          </a:xfrm>
          <a:prstGeom prst="rect">
            <a:avLst/>
          </a:prstGeom>
          <a:ln>
            <a:headEnd/>
            <a:tailEnd/>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37153349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610600" cy="533400"/>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ormAutofit/>
          </a:bodyPr>
          <a:lstStyle/>
          <a:p>
            <a:pPr algn="ctr"/>
            <a:r>
              <a:rPr lang="en-US" sz="2400" b="1" dirty="0">
                <a:solidFill>
                  <a:srgbClr val="6600CC"/>
                </a:solidFill>
              </a:rPr>
              <a:t>a comparison of solar cells in a table format</a:t>
            </a:r>
          </a:p>
        </p:txBody>
      </p:sp>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302225"/>
            <a:ext cx="7315200" cy="5553687"/>
          </a:xfrm>
          <a:prstGeom prst="rect">
            <a:avLst/>
          </a:prstGeom>
          <a:solidFill>
            <a:schemeClr val="accent1">
              <a:lumMod val="20000"/>
              <a:lumOff val="80000"/>
            </a:schemeClr>
          </a:solidFill>
          <a:ln/>
        </p:spPr>
        <p:style>
          <a:lnRef idx="2">
            <a:schemeClr val="accent3"/>
          </a:lnRef>
          <a:fillRef idx="1">
            <a:schemeClr val="lt1"/>
          </a:fillRef>
          <a:effectRef idx="0">
            <a:schemeClr val="accent3"/>
          </a:effectRef>
          <a:fontRef idx="minor">
            <a:schemeClr val="dk1"/>
          </a:fontRef>
        </p:style>
      </p:pic>
    </p:spTree>
    <p:extLst>
      <p:ext uri="{BB962C8B-B14F-4D97-AF65-F5344CB8AC3E}">
        <p14:creationId xmlns:p14="http://schemas.microsoft.com/office/powerpoint/2010/main" val="89888149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colorTemperature colorTemp="11200"/>
                    </a14:imgEffect>
                  </a14:imgLayer>
                </a14:imgProps>
              </a:ext>
            </a:extLst>
          </a:blip>
          <a:stretch>
            <a:fillRect/>
          </a:stretch>
        </p:blipFill>
        <p:spPr>
          <a:xfrm>
            <a:off x="1634042" y="1554163"/>
            <a:ext cx="6028316" cy="4525962"/>
          </a:xfrm>
          <a:ln>
            <a:headEnd/>
            <a:tailEnd/>
          </a:ln>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3156655704"/>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5" name="Picture 1"/>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Lst>
          </a:blip>
          <a:srcRect/>
          <a:stretch>
            <a:fillRect/>
          </a:stretch>
        </p:blipFill>
        <p:spPr bwMode="auto">
          <a:xfrm>
            <a:off x="1371600" y="457200"/>
            <a:ext cx="6076950" cy="4562475"/>
          </a:xfrm>
          <a:prstGeom prst="rect">
            <a:avLst/>
          </a:prstGeom>
          <a:ln>
            <a:headEnd/>
            <a:tailEnd/>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1036818838"/>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Presentation on solar cell"/>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Lst>
          </a:blip>
          <a:srcRect/>
          <a:stretch>
            <a:fillRect/>
          </a:stretch>
        </p:blipFill>
        <p:spPr bwMode="auto">
          <a:xfrm>
            <a:off x="1066800" y="762000"/>
            <a:ext cx="6800850" cy="510540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23838153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3" name="Picture 1"/>
          <p:cNvPicPr>
            <a:picLocks noChangeAspect="1" noChangeArrowheads="1"/>
          </p:cNvPicPr>
          <p:nvPr/>
        </p:nvPicPr>
        <p:blipFill>
          <a:blip r:embed="rId2">
            <a:extLst>
              <a:ext uri="{BEBA8EAE-BF5A-486C-A8C5-ECC9F3942E4B}">
                <a14:imgProps xmlns:a14="http://schemas.microsoft.com/office/drawing/2010/main">
                  <a14:imgLayer r:embed="rId3">
                    <a14:imgEffect>
                      <a14:colorTemperature colorTemp="11200"/>
                    </a14:imgEffect>
                  </a14:imgLayer>
                </a14:imgProps>
              </a:ext>
            </a:extLst>
          </a:blip>
          <a:srcRect/>
          <a:stretch>
            <a:fillRect/>
          </a:stretch>
        </p:blipFill>
        <p:spPr bwMode="auto">
          <a:xfrm>
            <a:off x="990600" y="381000"/>
            <a:ext cx="7620000" cy="5721350"/>
          </a:xfrm>
          <a:prstGeom prst="rect">
            <a:avLst/>
          </a:prstGeom>
          <a:ln>
            <a:headEnd/>
            <a:tailEnd/>
          </a:ln>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3287662909"/>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3"/>
          </a:fillRef>
          <a:effectRef idx="1">
            <a:schemeClr val="accent3"/>
          </a:effectRef>
          <a:fontRef idx="minor">
            <a:schemeClr val="lt1"/>
          </a:fontRef>
        </p:style>
        <p:txBody>
          <a:bodyPr/>
          <a:lstStyle/>
          <a:p>
            <a:pPr algn="ctr"/>
            <a:r>
              <a:rPr lang="en-US" b="1" dirty="0" smtClean="0">
                <a:solidFill>
                  <a:srgbClr val="0000FF"/>
                </a:solidFill>
              </a:rPr>
              <a:t>“Imperfection </a:t>
            </a:r>
            <a:r>
              <a:rPr lang="en-US" b="1" dirty="0">
                <a:solidFill>
                  <a:srgbClr val="0000FF"/>
                </a:solidFill>
              </a:rPr>
              <a:t>in solids"</a:t>
            </a:r>
            <a:endParaRPr lang="en-US" dirty="0">
              <a:solidFill>
                <a:srgbClr val="0000FF"/>
              </a:solidFill>
            </a:endParaRPr>
          </a:p>
        </p:txBody>
      </p:sp>
      <p:sp>
        <p:nvSpPr>
          <p:cNvPr id="3" name="Content Placeholder 2"/>
          <p:cNvSpPr>
            <a:spLocks noGrp="1"/>
          </p:cNvSpPr>
          <p:nvPr>
            <p:ph idx="1"/>
          </p:nvPr>
        </p:nvSpPr>
        <p:spPr/>
        <p:style>
          <a:lnRef idx="1">
            <a:schemeClr val="accent4"/>
          </a:lnRef>
          <a:fillRef idx="2">
            <a:schemeClr val="accent4"/>
          </a:fillRef>
          <a:effectRef idx="1">
            <a:schemeClr val="accent4"/>
          </a:effectRef>
          <a:fontRef idx="minor">
            <a:schemeClr val="dk1"/>
          </a:fontRef>
        </p:style>
        <p:txBody>
          <a:bodyPr/>
          <a:lstStyle/>
          <a:p>
            <a:pPr>
              <a:buFont typeface="Wingdings" pitchFamily="2" charset="2"/>
              <a:buChar char="q"/>
            </a:pPr>
            <a:r>
              <a:rPr lang="en-US" dirty="0"/>
              <a:t>The term </a:t>
            </a:r>
            <a:r>
              <a:rPr lang="en-US" b="1" dirty="0"/>
              <a:t>"imperfection in solids"</a:t>
            </a:r>
            <a:r>
              <a:rPr lang="en-US" dirty="0"/>
              <a:t> refers to deviations from the perfect, orderly arrangement of atoms or ions in a crystal lattice. </a:t>
            </a:r>
            <a:endParaRPr lang="en-US" dirty="0" smtClean="0"/>
          </a:p>
          <a:p>
            <a:pPr>
              <a:buFont typeface="Wingdings" pitchFamily="2" charset="2"/>
              <a:buChar char="q"/>
            </a:pPr>
            <a:r>
              <a:rPr lang="en-US" dirty="0"/>
              <a:t>There are </a:t>
            </a:r>
            <a:r>
              <a:rPr lang="en-US" b="1" dirty="0" smtClean="0">
                <a:solidFill>
                  <a:srgbClr val="FF0000"/>
                </a:solidFill>
              </a:rPr>
              <a:t>four </a:t>
            </a:r>
            <a:r>
              <a:rPr lang="en-US" b="1" dirty="0">
                <a:solidFill>
                  <a:srgbClr val="FF0000"/>
                </a:solidFill>
              </a:rPr>
              <a:t>main types of imperfections</a:t>
            </a:r>
            <a:r>
              <a:rPr lang="en-US" dirty="0">
                <a:solidFill>
                  <a:srgbClr val="FF0000"/>
                </a:solidFill>
              </a:rPr>
              <a:t> </a:t>
            </a:r>
            <a:r>
              <a:rPr lang="en-US" dirty="0"/>
              <a:t>(also called </a:t>
            </a:r>
            <a:r>
              <a:rPr lang="en-US" b="1" dirty="0"/>
              <a:t>defects</a:t>
            </a:r>
            <a:r>
              <a:rPr lang="en-US" dirty="0"/>
              <a:t>) in solids:</a:t>
            </a:r>
          </a:p>
        </p:txBody>
      </p:sp>
    </p:spTree>
    <p:extLst>
      <p:ext uri="{BB962C8B-B14F-4D97-AF65-F5344CB8AC3E}">
        <p14:creationId xmlns:p14="http://schemas.microsoft.com/office/powerpoint/2010/main" val="59354854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lassification of defects in crystalline soli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7534" y="1219200"/>
            <a:ext cx="8315236" cy="5210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2452015"/>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4"/>
          </a:lnRef>
          <a:fillRef idx="2">
            <a:schemeClr val="accent4"/>
          </a:fillRef>
          <a:effectRef idx="1">
            <a:schemeClr val="accent4"/>
          </a:effectRef>
          <a:fontRef idx="minor">
            <a:schemeClr val="dk1"/>
          </a:fontRef>
        </p:style>
        <p:txBody>
          <a:bodyPr>
            <a:normAutofit/>
          </a:bodyPr>
          <a:lstStyle/>
          <a:p>
            <a:r>
              <a:rPr lang="en-US" dirty="0">
                <a:solidFill>
                  <a:srgbClr val="FF0000"/>
                </a:solidFill>
              </a:rPr>
              <a:t>1. </a:t>
            </a:r>
            <a:r>
              <a:rPr lang="en-US" b="1" dirty="0">
                <a:solidFill>
                  <a:srgbClr val="FF0000"/>
                </a:solidFill>
              </a:rPr>
              <a:t>Point Defects</a:t>
            </a:r>
            <a:r>
              <a:rPr lang="en-US" dirty="0">
                <a:solidFill>
                  <a:srgbClr val="FF0000"/>
                </a:solidFill>
              </a:rPr>
              <a:t> (Zero-dimensional</a:t>
            </a:r>
            <a:r>
              <a:rPr lang="en-US" dirty="0"/>
              <a:t>)</a:t>
            </a:r>
          </a:p>
        </p:txBody>
      </p:sp>
      <p:sp>
        <p:nvSpPr>
          <p:cNvPr id="3" name="Content Placeholder 2"/>
          <p:cNvSpPr>
            <a:spLocks noGrp="1"/>
          </p:cNvSpPr>
          <p:nvPr>
            <p:ph idx="1"/>
          </p:nvPr>
        </p:nvSpPr>
        <p:spPr/>
        <p:style>
          <a:lnRef idx="1">
            <a:schemeClr val="accent3"/>
          </a:lnRef>
          <a:fillRef idx="2">
            <a:schemeClr val="accent3"/>
          </a:fillRef>
          <a:effectRef idx="1">
            <a:schemeClr val="accent3"/>
          </a:effectRef>
          <a:fontRef idx="minor">
            <a:schemeClr val="dk1"/>
          </a:fontRef>
        </p:style>
        <p:txBody>
          <a:bodyPr>
            <a:normAutofit fontScale="85000" lnSpcReduction="20000"/>
          </a:bodyPr>
          <a:lstStyle/>
          <a:p>
            <a:pPr>
              <a:buFont typeface="Wingdings" pitchFamily="2" charset="2"/>
              <a:buChar char="q"/>
            </a:pPr>
            <a:r>
              <a:rPr lang="en-US" dirty="0"/>
              <a:t>These are imperfections that occur at or around a single lattice point.</a:t>
            </a:r>
          </a:p>
          <a:p>
            <a:pPr>
              <a:buFont typeface="Wingdings" pitchFamily="2" charset="2"/>
              <a:buChar char="q"/>
            </a:pPr>
            <a:r>
              <a:rPr lang="en-US" b="1" dirty="0">
                <a:solidFill>
                  <a:srgbClr val="0000FF"/>
                </a:solidFill>
              </a:rPr>
              <a:t>Vacancy defect</a:t>
            </a:r>
            <a:r>
              <a:rPr lang="en-US" dirty="0"/>
              <a:t>: A lattice site is vacant; an atom is missing.</a:t>
            </a:r>
          </a:p>
          <a:p>
            <a:pPr>
              <a:buFont typeface="Wingdings" pitchFamily="2" charset="2"/>
              <a:buChar char="q"/>
            </a:pPr>
            <a:r>
              <a:rPr lang="en-US" b="1" dirty="0">
                <a:solidFill>
                  <a:srgbClr val="0000FF"/>
                </a:solidFill>
              </a:rPr>
              <a:t>Interstitial defect</a:t>
            </a:r>
            <a:r>
              <a:rPr lang="en-US" dirty="0">
                <a:solidFill>
                  <a:srgbClr val="0000FF"/>
                </a:solidFill>
              </a:rPr>
              <a:t>: </a:t>
            </a:r>
            <a:r>
              <a:rPr lang="en-US" dirty="0"/>
              <a:t>An extra atom occupies a space between regular lattice points.</a:t>
            </a:r>
          </a:p>
          <a:p>
            <a:pPr>
              <a:buFont typeface="Wingdings" pitchFamily="2" charset="2"/>
              <a:buChar char="q"/>
            </a:pPr>
            <a:r>
              <a:rPr lang="en-US" b="1" dirty="0" err="1">
                <a:solidFill>
                  <a:srgbClr val="0000FF"/>
                </a:solidFill>
              </a:rPr>
              <a:t>Substitutional</a:t>
            </a:r>
            <a:r>
              <a:rPr lang="en-US" b="1" dirty="0">
                <a:solidFill>
                  <a:srgbClr val="0000FF"/>
                </a:solidFill>
              </a:rPr>
              <a:t> defect</a:t>
            </a:r>
            <a:r>
              <a:rPr lang="en-US" dirty="0">
                <a:solidFill>
                  <a:srgbClr val="0000FF"/>
                </a:solidFill>
              </a:rPr>
              <a:t>: </a:t>
            </a:r>
            <a:r>
              <a:rPr lang="en-US" dirty="0"/>
              <a:t>A different atom replaces an atom in the lattice.</a:t>
            </a:r>
          </a:p>
          <a:p>
            <a:pPr>
              <a:buFont typeface="Wingdings" pitchFamily="2" charset="2"/>
              <a:buChar char="q"/>
            </a:pPr>
            <a:r>
              <a:rPr lang="en-US" b="1" dirty="0" err="1">
                <a:solidFill>
                  <a:srgbClr val="0000FF"/>
                </a:solidFill>
              </a:rPr>
              <a:t>Frenkel</a:t>
            </a:r>
            <a:r>
              <a:rPr lang="en-US" b="1" dirty="0">
                <a:solidFill>
                  <a:srgbClr val="0000FF"/>
                </a:solidFill>
              </a:rPr>
              <a:t> defect</a:t>
            </a:r>
            <a:r>
              <a:rPr lang="en-US" dirty="0"/>
              <a:t>: An ion (usually </a:t>
            </a:r>
            <a:r>
              <a:rPr lang="en-US" dirty="0" err="1"/>
              <a:t>cation</a:t>
            </a:r>
            <a:r>
              <a:rPr lang="en-US" dirty="0"/>
              <a:t>) leaves its lattice site and occupies an interstitial site.</a:t>
            </a:r>
          </a:p>
          <a:p>
            <a:pPr>
              <a:buFont typeface="Wingdings" pitchFamily="2" charset="2"/>
              <a:buChar char="q"/>
            </a:pPr>
            <a:r>
              <a:rPr lang="en-US" b="1" dirty="0" err="1">
                <a:solidFill>
                  <a:srgbClr val="0000FF"/>
                </a:solidFill>
              </a:rPr>
              <a:t>Schottky</a:t>
            </a:r>
            <a:r>
              <a:rPr lang="en-US" b="1" dirty="0">
                <a:solidFill>
                  <a:srgbClr val="0000FF"/>
                </a:solidFill>
              </a:rPr>
              <a:t> defect</a:t>
            </a:r>
            <a:r>
              <a:rPr lang="en-US" dirty="0"/>
              <a:t>: Equal numbers of </a:t>
            </a:r>
            <a:r>
              <a:rPr lang="en-US" dirty="0" err="1"/>
              <a:t>cations</a:t>
            </a:r>
            <a:r>
              <a:rPr lang="en-US" dirty="0"/>
              <a:t> and anions are missing to maintain electrical neutrality.</a:t>
            </a:r>
          </a:p>
          <a:p>
            <a:endParaRPr lang="en-US" dirty="0"/>
          </a:p>
        </p:txBody>
      </p:sp>
    </p:spTree>
    <p:extLst>
      <p:ext uri="{BB962C8B-B14F-4D97-AF65-F5344CB8AC3E}">
        <p14:creationId xmlns:p14="http://schemas.microsoft.com/office/powerpoint/2010/main" val="4275599427"/>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0" y="5334000"/>
            <a:ext cx="5408634" cy="646331"/>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b="1" dirty="0">
                <a:solidFill>
                  <a:srgbClr val="0000FF"/>
                </a:solidFill>
              </a:rPr>
              <a:t>One atom is missing in the middle — that empty spot is the vacancy defect.</a:t>
            </a:r>
          </a:p>
        </p:txBody>
      </p:sp>
      <p:sp>
        <p:nvSpPr>
          <p:cNvPr id="5" name="Rectangle 4"/>
          <p:cNvSpPr/>
          <p:nvPr/>
        </p:nvSpPr>
        <p:spPr>
          <a:xfrm>
            <a:off x="1714500" y="457200"/>
            <a:ext cx="5257800" cy="92333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US" sz="3600" dirty="0">
                <a:solidFill>
                  <a:srgbClr val="0000FF"/>
                </a:solidFill>
              </a:rPr>
              <a:t>Vacancy </a:t>
            </a:r>
            <a:r>
              <a:rPr lang="en-US" sz="3600" dirty="0" smtClean="0">
                <a:solidFill>
                  <a:srgbClr val="0000FF"/>
                </a:solidFill>
              </a:rPr>
              <a:t>Defect</a:t>
            </a:r>
            <a:r>
              <a:rPr lang="en-US" sz="5400" dirty="0">
                <a:solidFill>
                  <a:srgbClr val="0000FF"/>
                </a:solidFill>
              </a:rPr>
              <a:t> </a:t>
            </a:r>
          </a:p>
        </p:txBody>
      </p:sp>
      <p:pic>
        <p:nvPicPr>
          <p:cNvPr id="1027" name="Picture 3"/>
          <p:cNvPicPr>
            <a:picLocks noChangeAspect="1" noChangeArrowheads="1"/>
          </p:cNvPicPr>
          <p:nvPr/>
        </p:nvPicPr>
        <p:blipFill>
          <a:blip r:embed="rId2">
            <a:duotone>
              <a:prstClr val="black"/>
              <a:schemeClr val="accent6">
                <a:tint val="45000"/>
                <a:satMod val="400000"/>
              </a:schemeClr>
            </a:duoton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85800" y="1524000"/>
            <a:ext cx="7315200" cy="3524250"/>
          </a:xfrm>
          <a:prstGeom prst="rect">
            <a:avLst/>
          </a:prstGeom>
          <a:ln/>
        </p:spPr>
        <p:style>
          <a:lnRef idx="1">
            <a:schemeClr val="accent4"/>
          </a:lnRef>
          <a:fillRef idx="2">
            <a:schemeClr val="accent4"/>
          </a:fillRef>
          <a:effectRef idx="1">
            <a:schemeClr val="accent4"/>
          </a:effectRef>
          <a:fontRef idx="minor">
            <a:schemeClr val="dk1"/>
          </a:fontRef>
        </p:style>
      </p:pic>
    </p:spTree>
    <p:extLst>
      <p:ext uri="{BB962C8B-B14F-4D97-AF65-F5344CB8AC3E}">
        <p14:creationId xmlns:p14="http://schemas.microsoft.com/office/powerpoint/2010/main" val="28629676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nterstitial Atom - Point Defect - Defects in Solid"/>
          <p:cNvPicPr>
            <a:picLocks noChangeAspect="1" noChangeArrowheads="1"/>
          </p:cNvPicPr>
          <p:nvPr/>
        </p:nvPicPr>
        <p:blipFill>
          <a:blip r:embed="rId2" cstate="print">
            <a:duotone>
              <a:prstClr val="black"/>
              <a:schemeClr val="accent3">
                <a:tint val="45000"/>
                <a:satMod val="400000"/>
              </a:schemeClr>
            </a:duotone>
            <a:extLst>
              <a:ext uri="{28A0092B-C50C-407E-A947-70E740481C1C}">
                <a14:useLocalDpi xmlns:a14="http://schemas.microsoft.com/office/drawing/2010/main" val="0"/>
              </a:ext>
            </a:extLst>
          </a:blip>
          <a:srcRect/>
          <a:stretch>
            <a:fillRect/>
          </a:stretch>
        </p:blipFill>
        <p:spPr bwMode="auto">
          <a:xfrm>
            <a:off x="304800" y="1066800"/>
            <a:ext cx="8362950" cy="4025473"/>
          </a:xfrm>
          <a:prstGeom prst="rect">
            <a:avLst/>
          </a:prstGeom>
        </p:spPr>
        <p:style>
          <a:lnRef idx="1">
            <a:schemeClr val="accent4"/>
          </a:lnRef>
          <a:fillRef idx="2">
            <a:schemeClr val="accent4"/>
          </a:fillRef>
          <a:effectRef idx="1">
            <a:schemeClr val="accent4"/>
          </a:effectRef>
          <a:fontRef idx="minor">
            <a:schemeClr val="dk1"/>
          </a:fontRef>
        </p:style>
      </p:pic>
      <p:sp>
        <p:nvSpPr>
          <p:cNvPr id="4" name="Rectangle 3"/>
          <p:cNvSpPr/>
          <p:nvPr/>
        </p:nvSpPr>
        <p:spPr>
          <a:xfrm>
            <a:off x="1514475" y="5257800"/>
            <a:ext cx="59436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dirty="0">
                <a:solidFill>
                  <a:srgbClr val="0000FF"/>
                </a:solidFill>
              </a:rPr>
              <a:t>Interstitial Atom is a Point Defect. Here a foreign atom occupies the interstitial position of a perfect crystal.</a:t>
            </a:r>
          </a:p>
        </p:txBody>
      </p:sp>
      <p:sp>
        <p:nvSpPr>
          <p:cNvPr id="5" name="Rectangle 4"/>
          <p:cNvSpPr/>
          <p:nvPr/>
        </p:nvSpPr>
        <p:spPr>
          <a:xfrm>
            <a:off x="2544397" y="129436"/>
            <a:ext cx="3883755" cy="707886"/>
          </a:xfrm>
          <a:prstGeom prst="rect">
            <a:avLst/>
          </a:prstGeom>
        </p:spPr>
        <p:style>
          <a:lnRef idx="1">
            <a:schemeClr val="accent3"/>
          </a:lnRef>
          <a:fillRef idx="2">
            <a:schemeClr val="accent3"/>
          </a:fillRef>
          <a:effectRef idx="1">
            <a:schemeClr val="accent3"/>
          </a:effectRef>
          <a:fontRef idx="minor">
            <a:schemeClr val="dk1"/>
          </a:fontRef>
        </p:style>
        <p:txBody>
          <a:bodyPr wrap="none">
            <a:spAutoFit/>
          </a:bodyPr>
          <a:lstStyle/>
          <a:p>
            <a:r>
              <a:rPr lang="en-US" sz="4000" b="1" dirty="0">
                <a:solidFill>
                  <a:srgbClr val="0000FF"/>
                </a:solidFill>
              </a:rPr>
              <a:t>Interstitial Defect</a:t>
            </a:r>
            <a:endParaRPr lang="en-US" sz="4000" dirty="0">
              <a:solidFill>
                <a:srgbClr val="0000FF"/>
              </a:solidFill>
            </a:endParaRPr>
          </a:p>
        </p:txBody>
      </p:sp>
      <p:sp>
        <p:nvSpPr>
          <p:cNvPr id="7" name="Rectangle 6"/>
          <p:cNvSpPr/>
          <p:nvPr/>
        </p:nvSpPr>
        <p:spPr>
          <a:xfrm>
            <a:off x="2200275" y="6019800"/>
            <a:ext cx="4572000" cy="646331"/>
          </a:xfrm>
          <a:prstGeom prst="rect">
            <a:avLst/>
          </a:prstGeom>
        </p:spPr>
        <p:style>
          <a:lnRef idx="1">
            <a:schemeClr val="accent4"/>
          </a:lnRef>
          <a:fillRef idx="2">
            <a:schemeClr val="accent4"/>
          </a:fillRef>
          <a:effectRef idx="1">
            <a:schemeClr val="accent4"/>
          </a:effectRef>
          <a:fontRef idx="minor">
            <a:schemeClr val="dk1"/>
          </a:fontRef>
        </p:style>
        <p:txBody>
          <a:bodyPr>
            <a:spAutoFit/>
          </a:bodyPr>
          <a:lstStyle/>
          <a:p>
            <a:r>
              <a:rPr lang="en-US" dirty="0">
                <a:solidFill>
                  <a:srgbClr val="FF0000"/>
                </a:solidFill>
              </a:rPr>
              <a:t>An extra atom is inserted into the lattice structure at a vacant position.</a:t>
            </a:r>
          </a:p>
        </p:txBody>
      </p:sp>
    </p:spTree>
    <p:extLst>
      <p:ext uri="{BB962C8B-B14F-4D97-AF65-F5344CB8AC3E}">
        <p14:creationId xmlns:p14="http://schemas.microsoft.com/office/powerpoint/2010/main" val="4026211059"/>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elf-Interstitial Atom - Point Defect - Defects in Solid"/>
          <p:cNvPicPr>
            <a:picLocks noChangeAspect="1" noChangeArrowheads="1"/>
          </p:cNvPicPr>
          <p:nvPr/>
        </p:nvPicPr>
        <p:blipFill>
          <a:blip r:embed="rId2" cstate="print">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471527" y="457200"/>
            <a:ext cx="8004417" cy="3852894"/>
          </a:xfrm>
          <a:prstGeom prst="rect">
            <a:avLst/>
          </a:prstGeom>
        </p:spPr>
        <p:style>
          <a:lnRef idx="2">
            <a:schemeClr val="accent4"/>
          </a:lnRef>
          <a:fillRef idx="1">
            <a:schemeClr val="lt1"/>
          </a:fillRef>
          <a:effectRef idx="0">
            <a:schemeClr val="accent4"/>
          </a:effectRef>
          <a:fontRef idx="minor">
            <a:schemeClr val="dk1"/>
          </a:fontRef>
        </p:style>
      </p:pic>
      <p:sp>
        <p:nvSpPr>
          <p:cNvPr id="4" name="Rectangle 3"/>
          <p:cNvSpPr/>
          <p:nvPr/>
        </p:nvSpPr>
        <p:spPr>
          <a:xfrm>
            <a:off x="838200" y="4648200"/>
            <a:ext cx="7619999" cy="646331"/>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dirty="0">
                <a:solidFill>
                  <a:srgbClr val="0000FF"/>
                </a:solidFill>
              </a:rPr>
              <a:t>Self-Interstitial Atom is also a Point Defect. Here an extra atom of same crystal occupies the interstitial position of the crystal.</a:t>
            </a:r>
          </a:p>
        </p:txBody>
      </p:sp>
    </p:spTree>
    <p:extLst>
      <p:ext uri="{BB962C8B-B14F-4D97-AF65-F5344CB8AC3E}">
        <p14:creationId xmlns:p14="http://schemas.microsoft.com/office/powerpoint/2010/main" val="2740809253"/>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5943600" cy="792162"/>
          </a:xfrm>
        </p:spPr>
        <p:style>
          <a:lnRef idx="1">
            <a:schemeClr val="accent4"/>
          </a:lnRef>
          <a:fillRef idx="2">
            <a:schemeClr val="accent4"/>
          </a:fillRef>
          <a:effectRef idx="1">
            <a:schemeClr val="accent4"/>
          </a:effectRef>
          <a:fontRef idx="minor">
            <a:schemeClr val="dk1"/>
          </a:fontRef>
        </p:style>
        <p:txBody>
          <a:bodyPr>
            <a:normAutofit fontScale="90000"/>
          </a:bodyPr>
          <a:lstStyle/>
          <a:p>
            <a:r>
              <a:rPr lang="en-US" b="1" dirty="0" smtClean="0">
                <a:solidFill>
                  <a:srgbClr val="0000FF"/>
                </a:solidFill>
              </a:rPr>
              <a:t/>
            </a:r>
            <a:br>
              <a:rPr lang="en-US" b="1" dirty="0" smtClean="0">
                <a:solidFill>
                  <a:srgbClr val="0000FF"/>
                </a:solidFill>
              </a:rPr>
            </a:br>
            <a:r>
              <a:rPr lang="en-US" b="1" dirty="0" err="1" smtClean="0">
                <a:solidFill>
                  <a:srgbClr val="0000FF"/>
                </a:solidFill>
              </a:rPr>
              <a:t>Substitutional</a:t>
            </a:r>
            <a:r>
              <a:rPr lang="en-US" b="1" dirty="0">
                <a:solidFill>
                  <a:srgbClr val="0000FF"/>
                </a:solidFill>
              </a:rPr>
              <a:t> defects</a:t>
            </a:r>
            <a:r>
              <a:rPr lang="en-US" b="1" dirty="0"/>
              <a:t> </a:t>
            </a:r>
            <a:r>
              <a:rPr lang="en-US" dirty="0"/>
              <a:t/>
            </a:r>
            <a:br>
              <a:rPr lang="en-US" dirty="0"/>
            </a:br>
            <a:endParaRPr lang="en-US" dirty="0"/>
          </a:p>
        </p:txBody>
      </p:sp>
      <p:pic>
        <p:nvPicPr>
          <p:cNvPr id="5122" name="Picture 2"/>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colorTemperature colorTemp="8800"/>
                    </a14:imgEffect>
                  </a14:imgLayer>
                </a14:imgProps>
              </a:ext>
              <a:ext uri="{28A0092B-C50C-407E-A947-70E740481C1C}">
                <a14:useLocalDpi xmlns:a14="http://schemas.microsoft.com/office/drawing/2010/main" val="0"/>
              </a:ext>
            </a:extLst>
          </a:blip>
          <a:srcRect/>
          <a:stretch>
            <a:fillRect/>
          </a:stretch>
        </p:blipFill>
        <p:spPr bwMode="auto">
          <a:xfrm>
            <a:off x="762000" y="1447800"/>
            <a:ext cx="7315200" cy="3524250"/>
          </a:xfrm>
          <a:prstGeom prst="rect">
            <a:avLst/>
          </a:prstGeom>
          <a:ln/>
        </p:spPr>
        <p:style>
          <a:lnRef idx="1">
            <a:schemeClr val="accent3"/>
          </a:lnRef>
          <a:fillRef idx="2">
            <a:schemeClr val="accent3"/>
          </a:fillRef>
          <a:effectRef idx="1">
            <a:schemeClr val="accent3"/>
          </a:effectRef>
          <a:fontRef idx="minor">
            <a:schemeClr val="dk1"/>
          </a:fontRef>
        </p:style>
      </p:pic>
      <p:sp>
        <p:nvSpPr>
          <p:cNvPr id="4" name="Rectangle 3"/>
          <p:cNvSpPr/>
          <p:nvPr/>
        </p:nvSpPr>
        <p:spPr>
          <a:xfrm>
            <a:off x="2057400" y="5105400"/>
            <a:ext cx="4572000" cy="830997"/>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r>
              <a:rPr lang="en-US" sz="2400" b="1" dirty="0">
                <a:solidFill>
                  <a:srgbClr val="FF0000"/>
                </a:solidFill>
              </a:rPr>
              <a:t>One atom is replaced by an atom of a different type.</a:t>
            </a:r>
          </a:p>
        </p:txBody>
      </p:sp>
    </p:spTree>
    <p:extLst>
      <p:ext uri="{BB962C8B-B14F-4D97-AF65-F5344CB8AC3E}">
        <p14:creationId xmlns:p14="http://schemas.microsoft.com/office/powerpoint/2010/main" val="228594678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33400"/>
            <a:ext cx="7315200" cy="1143000"/>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en-US" b="1" dirty="0" err="1">
                <a:solidFill>
                  <a:srgbClr val="0000FF"/>
                </a:solidFill>
              </a:rPr>
              <a:t>Frenkel</a:t>
            </a:r>
            <a:r>
              <a:rPr lang="en-US" b="1" dirty="0">
                <a:solidFill>
                  <a:srgbClr val="0000FF"/>
                </a:solidFill>
              </a:rPr>
              <a:t> </a:t>
            </a:r>
            <a:r>
              <a:rPr lang="en-US" b="1" dirty="0" smtClean="0">
                <a:solidFill>
                  <a:srgbClr val="0000FF"/>
                </a:solidFill>
              </a:rPr>
              <a:t>Defect</a:t>
            </a:r>
            <a:endParaRPr lang="en-US" dirty="0">
              <a:solidFill>
                <a:srgbClr val="0000FF"/>
              </a:solidFill>
            </a:endParaRPr>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219200" y="1752600"/>
            <a:ext cx="6629400" cy="3193852"/>
          </a:xfrm>
          <a:prstGeom prst="rect">
            <a:avLst/>
          </a:prstGeom>
          <a:ln/>
        </p:spPr>
        <p:style>
          <a:lnRef idx="1">
            <a:schemeClr val="accent5"/>
          </a:lnRef>
          <a:fillRef idx="2">
            <a:schemeClr val="accent5"/>
          </a:fillRef>
          <a:effectRef idx="1">
            <a:schemeClr val="accent5"/>
          </a:effectRef>
          <a:fontRef idx="minor">
            <a:schemeClr val="dk1"/>
          </a:fontRef>
        </p:style>
      </p:pic>
      <p:sp>
        <p:nvSpPr>
          <p:cNvPr id="4" name="Rectangle 3"/>
          <p:cNvSpPr/>
          <p:nvPr/>
        </p:nvSpPr>
        <p:spPr>
          <a:xfrm>
            <a:off x="1066800" y="5151566"/>
            <a:ext cx="7162800"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b="1" dirty="0"/>
              <a:t>Example of Materials Where </a:t>
            </a:r>
            <a:r>
              <a:rPr lang="en-US" b="1" dirty="0" err="1"/>
              <a:t>Frenkel</a:t>
            </a:r>
            <a:r>
              <a:rPr lang="en-US" b="1" dirty="0"/>
              <a:t> Defect can be Found:</a:t>
            </a:r>
            <a:endParaRPr lang="en-US" dirty="0"/>
          </a:p>
          <a:p>
            <a:r>
              <a:rPr lang="en-US" b="1" dirty="0">
                <a:solidFill>
                  <a:srgbClr val="0000FF"/>
                </a:solidFill>
              </a:rPr>
              <a:t>Zinc Sulfide (</a:t>
            </a:r>
            <a:r>
              <a:rPr lang="en-US" b="1" dirty="0" err="1">
                <a:solidFill>
                  <a:srgbClr val="0000FF"/>
                </a:solidFill>
              </a:rPr>
              <a:t>ZnS</a:t>
            </a:r>
            <a:r>
              <a:rPr lang="en-US" b="1" dirty="0">
                <a:solidFill>
                  <a:srgbClr val="0000FF"/>
                </a:solidFill>
              </a:rPr>
              <a:t>)</a:t>
            </a:r>
          </a:p>
          <a:p>
            <a:r>
              <a:rPr lang="en-US" b="1" dirty="0">
                <a:solidFill>
                  <a:srgbClr val="0000FF"/>
                </a:solidFill>
              </a:rPr>
              <a:t>Silver Chloride (</a:t>
            </a:r>
            <a:r>
              <a:rPr lang="en-US" b="1" dirty="0" err="1">
                <a:solidFill>
                  <a:srgbClr val="0000FF"/>
                </a:solidFill>
              </a:rPr>
              <a:t>AgCl</a:t>
            </a:r>
            <a:r>
              <a:rPr lang="en-US" b="1" dirty="0">
                <a:solidFill>
                  <a:srgbClr val="0000FF"/>
                </a:solidFill>
              </a:rPr>
              <a:t>)</a:t>
            </a:r>
          </a:p>
          <a:p>
            <a:r>
              <a:rPr lang="en-US" b="1" dirty="0">
                <a:solidFill>
                  <a:srgbClr val="0000FF"/>
                </a:solidFill>
              </a:rPr>
              <a:t>Silver Bromide (</a:t>
            </a:r>
            <a:r>
              <a:rPr lang="en-US" b="1" dirty="0" err="1">
                <a:solidFill>
                  <a:srgbClr val="0000FF"/>
                </a:solidFill>
              </a:rPr>
              <a:t>AgBr</a:t>
            </a:r>
            <a:r>
              <a:rPr lang="en-US" b="1" dirty="0">
                <a:solidFill>
                  <a:srgbClr val="0000FF"/>
                </a:solidFill>
              </a:rPr>
              <a:t>)</a:t>
            </a:r>
          </a:p>
        </p:txBody>
      </p:sp>
      <p:sp>
        <p:nvSpPr>
          <p:cNvPr id="5" name="Rectangle 4"/>
          <p:cNvSpPr/>
          <p:nvPr/>
        </p:nvSpPr>
        <p:spPr>
          <a:xfrm>
            <a:off x="4419600" y="5455900"/>
            <a:ext cx="4572000" cy="646331"/>
          </a:xfrm>
          <a:prstGeom prst="rect">
            <a:avLst/>
          </a:prstGeom>
        </p:spPr>
        <p:style>
          <a:lnRef idx="1">
            <a:schemeClr val="accent5"/>
          </a:lnRef>
          <a:fillRef idx="2">
            <a:schemeClr val="accent5"/>
          </a:fillRef>
          <a:effectRef idx="1">
            <a:schemeClr val="accent5"/>
          </a:effectRef>
          <a:fontRef idx="minor">
            <a:schemeClr val="dk1"/>
          </a:fontRef>
        </p:style>
        <p:txBody>
          <a:bodyPr>
            <a:spAutoFit/>
          </a:bodyPr>
          <a:lstStyle/>
          <a:p>
            <a:r>
              <a:rPr lang="en-US" b="1" dirty="0">
                <a:solidFill>
                  <a:srgbClr val="FF0000"/>
                </a:solidFill>
              </a:rPr>
              <a:t>when one ion moves from its normal lattice site to an interstitial position</a:t>
            </a:r>
          </a:p>
        </p:txBody>
      </p:sp>
    </p:spTree>
    <p:extLst>
      <p:ext uri="{BB962C8B-B14F-4D97-AF65-F5344CB8AC3E}">
        <p14:creationId xmlns:p14="http://schemas.microsoft.com/office/powerpoint/2010/main" val="2605000836"/>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6400800" cy="715962"/>
          </a:xfrm>
        </p:spPr>
        <p:style>
          <a:lnRef idx="1">
            <a:schemeClr val="accent3"/>
          </a:lnRef>
          <a:fillRef idx="2">
            <a:schemeClr val="accent3"/>
          </a:fillRef>
          <a:effectRef idx="1">
            <a:schemeClr val="accent3"/>
          </a:effectRef>
          <a:fontRef idx="minor">
            <a:schemeClr val="dk1"/>
          </a:fontRef>
        </p:style>
        <p:txBody>
          <a:bodyPr>
            <a:normAutofit/>
          </a:bodyPr>
          <a:lstStyle/>
          <a:p>
            <a:pPr algn="ctr"/>
            <a:r>
              <a:rPr lang="en-US" b="1" dirty="0">
                <a:solidFill>
                  <a:srgbClr val="0000FF"/>
                </a:solidFill>
              </a:rPr>
              <a:t> </a:t>
            </a:r>
            <a:r>
              <a:rPr lang="en-US" b="1" dirty="0" err="1">
                <a:solidFill>
                  <a:srgbClr val="0000FF"/>
                </a:solidFill>
              </a:rPr>
              <a:t>Schottky</a:t>
            </a:r>
            <a:r>
              <a:rPr lang="en-US" b="1" dirty="0">
                <a:solidFill>
                  <a:srgbClr val="0000FF"/>
                </a:solidFill>
              </a:rPr>
              <a:t> defect </a:t>
            </a:r>
            <a:endParaRPr lang="en-US" dirty="0">
              <a:solidFill>
                <a:srgbClr val="0000FF"/>
              </a:solidFill>
            </a:endParaRPr>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76400" y="1371600"/>
            <a:ext cx="5791200" cy="2790031"/>
          </a:xfrm>
          <a:prstGeom prst="rect">
            <a:avLst/>
          </a:prstGeom>
          <a:ln/>
        </p:spPr>
        <p:style>
          <a:lnRef idx="1">
            <a:schemeClr val="accent5"/>
          </a:lnRef>
          <a:fillRef idx="2">
            <a:schemeClr val="accent5"/>
          </a:fillRef>
          <a:effectRef idx="1">
            <a:schemeClr val="accent5"/>
          </a:effectRef>
          <a:fontRef idx="minor">
            <a:schemeClr val="dk1"/>
          </a:fontRef>
        </p:style>
      </p:pic>
      <p:sp>
        <p:nvSpPr>
          <p:cNvPr id="4" name="Rectangle 3"/>
          <p:cNvSpPr/>
          <p:nvPr/>
        </p:nvSpPr>
        <p:spPr>
          <a:xfrm>
            <a:off x="685800" y="4343400"/>
            <a:ext cx="8001000" cy="2031325"/>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b="1" dirty="0"/>
              <a:t>Example of materials where </a:t>
            </a:r>
            <a:r>
              <a:rPr lang="en-US" b="1" dirty="0" err="1"/>
              <a:t>Schottky</a:t>
            </a:r>
            <a:r>
              <a:rPr lang="en-US" b="1" dirty="0"/>
              <a:t> defect can be found:</a:t>
            </a:r>
            <a:endParaRPr lang="en-US" dirty="0"/>
          </a:p>
          <a:p>
            <a:r>
              <a:rPr lang="en-US" dirty="0"/>
              <a:t>Sodium Chloride (</a:t>
            </a:r>
            <a:r>
              <a:rPr lang="en-US" dirty="0" err="1"/>
              <a:t>NaCl</a:t>
            </a:r>
            <a:r>
              <a:rPr lang="en-US" dirty="0"/>
              <a:t>)</a:t>
            </a:r>
          </a:p>
          <a:p>
            <a:r>
              <a:rPr lang="en-US" dirty="0"/>
              <a:t>Potassium Chloride (</a:t>
            </a:r>
            <a:r>
              <a:rPr lang="en-US" dirty="0" err="1"/>
              <a:t>KCl</a:t>
            </a:r>
            <a:r>
              <a:rPr lang="en-US" dirty="0"/>
              <a:t>)</a:t>
            </a:r>
          </a:p>
          <a:p>
            <a:r>
              <a:rPr lang="en-US" dirty="0"/>
              <a:t>Potassium Bromide (</a:t>
            </a:r>
            <a:r>
              <a:rPr lang="en-US" dirty="0" err="1"/>
              <a:t>KBr</a:t>
            </a:r>
            <a:r>
              <a:rPr lang="en-US" dirty="0"/>
              <a:t>)</a:t>
            </a:r>
          </a:p>
          <a:p>
            <a:r>
              <a:rPr lang="en-US" dirty="0"/>
              <a:t>Silver Bromide (</a:t>
            </a:r>
            <a:r>
              <a:rPr lang="en-US" dirty="0" err="1"/>
              <a:t>AgBr</a:t>
            </a:r>
            <a:r>
              <a:rPr lang="en-US" dirty="0"/>
              <a:t>)</a:t>
            </a:r>
          </a:p>
          <a:p>
            <a:r>
              <a:rPr lang="en-US" dirty="0"/>
              <a:t>Cerium Dioxide (CeO</a:t>
            </a:r>
            <a:r>
              <a:rPr lang="en-US" baseline="-25000" dirty="0"/>
              <a:t>2</a:t>
            </a:r>
            <a:r>
              <a:rPr lang="en-US" dirty="0"/>
              <a:t>)</a:t>
            </a:r>
          </a:p>
          <a:p>
            <a:r>
              <a:rPr lang="en-US" dirty="0"/>
              <a:t>Thorium Dioxide (ThO</a:t>
            </a:r>
            <a:r>
              <a:rPr lang="en-US" baseline="-25000" dirty="0"/>
              <a:t>2</a:t>
            </a:r>
            <a:r>
              <a:rPr lang="en-US" dirty="0"/>
              <a:t>)</a:t>
            </a:r>
          </a:p>
        </p:txBody>
      </p:sp>
      <p:sp>
        <p:nvSpPr>
          <p:cNvPr id="5" name="Rectangle 4"/>
          <p:cNvSpPr/>
          <p:nvPr/>
        </p:nvSpPr>
        <p:spPr>
          <a:xfrm>
            <a:off x="3810000" y="5264496"/>
            <a:ext cx="4572000" cy="646331"/>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r>
              <a:rPr lang="en-US" dirty="0" err="1">
                <a:solidFill>
                  <a:srgbClr val="FF0000"/>
                </a:solidFill>
              </a:rPr>
              <a:t>cation</a:t>
            </a:r>
            <a:r>
              <a:rPr lang="en-US" dirty="0">
                <a:solidFill>
                  <a:srgbClr val="FF0000"/>
                </a:solidFill>
              </a:rPr>
              <a:t> and anion are lost from their normal lattice site </a:t>
            </a:r>
          </a:p>
        </p:txBody>
      </p:sp>
    </p:spTree>
    <p:extLst>
      <p:ext uri="{BB962C8B-B14F-4D97-AF65-F5344CB8AC3E}">
        <p14:creationId xmlns:p14="http://schemas.microsoft.com/office/powerpoint/2010/main" val="136538728"/>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9"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9828" y="1676400"/>
            <a:ext cx="6197600" cy="5029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988512" y="504855"/>
            <a:ext cx="6781800" cy="95410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US" sz="2800" b="1" dirty="0">
                <a:solidFill>
                  <a:srgbClr val="0000FF"/>
                </a:solidFill>
              </a:rPr>
              <a:t>Differences between </a:t>
            </a:r>
            <a:r>
              <a:rPr lang="en-US" sz="2800" b="1" dirty="0" err="1">
                <a:solidFill>
                  <a:srgbClr val="0000FF"/>
                </a:solidFill>
              </a:rPr>
              <a:t>Schottky</a:t>
            </a:r>
            <a:r>
              <a:rPr lang="en-US" sz="2800" b="1" dirty="0">
                <a:solidFill>
                  <a:srgbClr val="0000FF"/>
                </a:solidFill>
              </a:rPr>
              <a:t> defect and </a:t>
            </a:r>
            <a:r>
              <a:rPr lang="en-US" sz="2800" b="1" dirty="0" err="1">
                <a:solidFill>
                  <a:srgbClr val="0000FF"/>
                </a:solidFill>
              </a:rPr>
              <a:t>Frenkel</a:t>
            </a:r>
            <a:r>
              <a:rPr lang="en-US" sz="2800" b="1" dirty="0">
                <a:solidFill>
                  <a:srgbClr val="0000FF"/>
                </a:solidFill>
              </a:rPr>
              <a:t> defect</a:t>
            </a:r>
            <a:r>
              <a:rPr lang="en-US" sz="2000" dirty="0">
                <a:solidFill>
                  <a:srgbClr val="0000FF"/>
                </a:solidFill>
              </a:rPr>
              <a:t> </a:t>
            </a:r>
          </a:p>
        </p:txBody>
      </p:sp>
    </p:spTree>
    <p:extLst>
      <p:ext uri="{BB962C8B-B14F-4D97-AF65-F5344CB8AC3E}">
        <p14:creationId xmlns:p14="http://schemas.microsoft.com/office/powerpoint/2010/main" val="79516053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normAutofit/>
          </a:bodyPr>
          <a:lstStyle/>
          <a:p>
            <a:r>
              <a:rPr lang="en-US" b="1" dirty="0"/>
              <a:t>2. Line Defects (One-dimensional</a:t>
            </a:r>
            <a:endParaRPr lang="en-US" dirty="0"/>
          </a:p>
        </p:txBody>
      </p:sp>
      <p:sp>
        <p:nvSpPr>
          <p:cNvPr id="3" name="Content Placeholder 2"/>
          <p:cNvSpPr>
            <a:spLocks noGrp="1"/>
          </p:cNvSpPr>
          <p:nvPr>
            <p:ph idx="1"/>
          </p:nvPr>
        </p:nvSpPr>
        <p:spPr/>
        <p:style>
          <a:lnRef idx="1">
            <a:schemeClr val="accent4"/>
          </a:lnRef>
          <a:fillRef idx="2">
            <a:schemeClr val="accent4"/>
          </a:fillRef>
          <a:effectRef idx="1">
            <a:schemeClr val="accent4"/>
          </a:effectRef>
          <a:fontRef idx="minor">
            <a:schemeClr val="dk1"/>
          </a:fontRef>
        </p:style>
        <p:txBody>
          <a:bodyPr/>
          <a:lstStyle/>
          <a:p>
            <a:r>
              <a:rPr lang="en-US" dirty="0" smtClean="0"/>
              <a:t>These </a:t>
            </a:r>
            <a:r>
              <a:rPr lang="en-US" dirty="0"/>
              <a:t>are associated with a row of atoms and are commonly called </a:t>
            </a:r>
            <a:r>
              <a:rPr lang="en-US" b="1" dirty="0"/>
              <a:t>dislocations</a:t>
            </a:r>
            <a:r>
              <a:rPr lang="en-US" dirty="0"/>
              <a:t>.</a:t>
            </a:r>
          </a:p>
          <a:p>
            <a:r>
              <a:rPr lang="en-US" b="1" dirty="0"/>
              <a:t>Edge dislocation</a:t>
            </a:r>
            <a:r>
              <a:rPr lang="en-US" dirty="0"/>
              <a:t>: An extra half-plane of atoms is inserted into a crystal.</a:t>
            </a:r>
          </a:p>
          <a:p>
            <a:r>
              <a:rPr lang="en-US" b="1" dirty="0"/>
              <a:t>Screw dislocation</a:t>
            </a:r>
            <a:r>
              <a:rPr lang="en-US" dirty="0"/>
              <a:t>: A part of the crystal is shifted relative to the rest, creating a spiral structure.</a:t>
            </a:r>
          </a:p>
          <a:p>
            <a:endParaRPr lang="en-US" dirty="0"/>
          </a:p>
        </p:txBody>
      </p:sp>
    </p:spTree>
    <p:extLst>
      <p:ext uri="{BB962C8B-B14F-4D97-AF65-F5344CB8AC3E}">
        <p14:creationId xmlns:p14="http://schemas.microsoft.com/office/powerpoint/2010/main" val="1047659437"/>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lstStyle/>
          <a:p>
            <a:pPr algn="ctr"/>
            <a:r>
              <a:rPr lang="en-US" b="1" dirty="0" smtClean="0">
                <a:solidFill>
                  <a:srgbClr val="0000FF"/>
                </a:solidFill>
              </a:rPr>
              <a:t>Edge dislocations</a:t>
            </a:r>
            <a:endParaRPr lang="en-US" dirty="0">
              <a:solidFill>
                <a:srgbClr val="0000FF"/>
              </a:solidFill>
            </a:endParaRPr>
          </a:p>
        </p:txBody>
      </p:sp>
      <p:pic>
        <p:nvPicPr>
          <p:cNvPr id="9218" name="Picture 2"/>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sharpenSoften amount="50000"/>
                    </a14:imgEffect>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2438400" y="1600200"/>
            <a:ext cx="3352800" cy="3156790"/>
          </a:xfrm>
          <a:prstGeom prst="rect">
            <a:avLst/>
          </a:prstGeom>
          <a:ln/>
        </p:spPr>
        <p:style>
          <a:lnRef idx="1">
            <a:schemeClr val="accent4"/>
          </a:lnRef>
          <a:fillRef idx="2">
            <a:schemeClr val="accent4"/>
          </a:fillRef>
          <a:effectRef idx="1">
            <a:schemeClr val="accent4"/>
          </a:effectRef>
          <a:fontRef idx="minor">
            <a:schemeClr val="dk1"/>
          </a:fontRef>
        </p:style>
      </p:pic>
      <p:sp>
        <p:nvSpPr>
          <p:cNvPr id="4" name="Rectangle 3"/>
          <p:cNvSpPr/>
          <p:nvPr/>
        </p:nvSpPr>
        <p:spPr>
          <a:xfrm>
            <a:off x="1371600" y="5029200"/>
            <a:ext cx="6858000" cy="646331"/>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dirty="0"/>
              <a:t>Dislocations are generated if, for example, an extra half plane of atoms is inserted or removed. Such dislocations are called </a:t>
            </a:r>
            <a:r>
              <a:rPr lang="en-US" b="1" dirty="0"/>
              <a:t>edge dislocations</a:t>
            </a:r>
            <a:r>
              <a:rPr lang="en-US" dirty="0"/>
              <a:t>.</a:t>
            </a:r>
          </a:p>
        </p:txBody>
      </p:sp>
    </p:spTree>
    <p:extLst>
      <p:ext uri="{BB962C8B-B14F-4D97-AF65-F5344CB8AC3E}">
        <p14:creationId xmlns:p14="http://schemas.microsoft.com/office/powerpoint/2010/main" val="1472216906"/>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normAutofit fontScale="90000"/>
          </a:bodyPr>
          <a:lstStyle/>
          <a:p>
            <a:pPr algn="ctr"/>
            <a:r>
              <a:rPr lang="en-US" sz="5400" b="1" dirty="0" smtClean="0">
                <a:solidFill>
                  <a:srgbClr val="0000FF"/>
                </a:solidFill>
              </a:rPr>
              <a:t>Screw dislocations</a:t>
            </a:r>
            <a:endParaRPr lang="en-US" sz="5400" dirty="0">
              <a:solidFill>
                <a:srgbClr val="0000FF"/>
              </a:solidFill>
            </a:endParaRPr>
          </a:p>
        </p:txBody>
      </p:sp>
      <p:pic>
        <p:nvPicPr>
          <p:cNvPr id="10242" name="Picture 2"/>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2514600" y="1600200"/>
            <a:ext cx="3284951" cy="3766553"/>
          </a:xfrm>
          <a:prstGeom prst="rect">
            <a:avLst/>
          </a:prstGeom>
          <a:ln/>
        </p:spPr>
        <p:style>
          <a:lnRef idx="1">
            <a:schemeClr val="accent4"/>
          </a:lnRef>
          <a:fillRef idx="2">
            <a:schemeClr val="accent4"/>
          </a:fillRef>
          <a:effectRef idx="1">
            <a:schemeClr val="accent4"/>
          </a:effectRef>
          <a:fontRef idx="minor">
            <a:schemeClr val="dk1"/>
          </a:fontRef>
        </p:style>
      </p:pic>
      <p:sp>
        <p:nvSpPr>
          <p:cNvPr id="4" name="Rectangle 3"/>
          <p:cNvSpPr/>
          <p:nvPr/>
        </p:nvSpPr>
        <p:spPr>
          <a:xfrm>
            <a:off x="1718153" y="5784513"/>
            <a:ext cx="60960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dirty="0">
                <a:solidFill>
                  <a:srgbClr val="FF0000"/>
                </a:solidFill>
              </a:rPr>
              <a:t>In </a:t>
            </a:r>
            <a:r>
              <a:rPr lang="en-US" b="1" dirty="0">
                <a:solidFill>
                  <a:srgbClr val="FF0000"/>
                </a:solidFill>
              </a:rPr>
              <a:t>screw dislocations</a:t>
            </a:r>
            <a:r>
              <a:rPr lang="en-US" dirty="0">
                <a:solidFill>
                  <a:srgbClr val="FF0000"/>
                </a:solidFill>
              </a:rPr>
              <a:t>, atoms are displaced in two separate planes perpendicular to each other.</a:t>
            </a:r>
          </a:p>
        </p:txBody>
      </p:sp>
    </p:spTree>
    <p:extLst>
      <p:ext uri="{BB962C8B-B14F-4D97-AF65-F5344CB8AC3E}">
        <p14:creationId xmlns:p14="http://schemas.microsoft.com/office/powerpoint/2010/main" val="3360644908"/>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normAutofit fontScale="90000"/>
          </a:bodyPr>
          <a:lstStyle/>
          <a:p>
            <a:pPr algn="ctr"/>
            <a:r>
              <a:rPr lang="en-US" b="1" dirty="0">
                <a:solidFill>
                  <a:srgbClr val="FF0000"/>
                </a:solidFill>
              </a:rPr>
              <a:t>3</a:t>
            </a:r>
            <a:r>
              <a:rPr lang="en-US" b="1" dirty="0"/>
              <a:t>. </a:t>
            </a:r>
            <a:r>
              <a:rPr lang="en-US" b="1" dirty="0">
                <a:solidFill>
                  <a:srgbClr val="FF0000"/>
                </a:solidFill>
              </a:rPr>
              <a:t>Surface Defects (Two-dimensional</a:t>
            </a:r>
            <a:r>
              <a:rPr lang="en-US" b="1" dirty="0"/>
              <a:t>)</a:t>
            </a:r>
            <a:br>
              <a:rPr lang="en-US" b="1" dirty="0"/>
            </a:br>
            <a:endParaRPr lang="en-US" dirty="0"/>
          </a:p>
        </p:txBody>
      </p:sp>
      <p:sp>
        <p:nvSpPr>
          <p:cNvPr id="3" name="Content Placeholder 2"/>
          <p:cNvSpPr>
            <a:spLocks noGrp="1"/>
          </p:cNvSpPr>
          <p:nvPr>
            <p:ph idx="1"/>
          </p:nvPr>
        </p:nvSpPr>
        <p:spPr/>
        <p:style>
          <a:lnRef idx="1">
            <a:schemeClr val="accent4"/>
          </a:lnRef>
          <a:fillRef idx="2">
            <a:schemeClr val="accent4"/>
          </a:fillRef>
          <a:effectRef idx="1">
            <a:schemeClr val="accent4"/>
          </a:effectRef>
          <a:fontRef idx="minor">
            <a:schemeClr val="dk1"/>
          </a:fontRef>
        </p:style>
        <p:txBody>
          <a:bodyPr>
            <a:normAutofit/>
          </a:bodyPr>
          <a:lstStyle/>
          <a:p>
            <a:pPr>
              <a:buFont typeface="Wingdings" pitchFamily="2" charset="2"/>
              <a:buChar char="Ø"/>
            </a:pPr>
            <a:r>
              <a:rPr lang="en-US" dirty="0" smtClean="0"/>
              <a:t>These </a:t>
            </a:r>
            <a:r>
              <a:rPr lang="en-US" dirty="0"/>
              <a:t>occur at the boundaries or surfaces of the material.</a:t>
            </a:r>
          </a:p>
          <a:p>
            <a:pPr>
              <a:buFont typeface="Wingdings" pitchFamily="2" charset="2"/>
              <a:buChar char="Ø"/>
            </a:pPr>
            <a:r>
              <a:rPr lang="en-US" b="1" dirty="0"/>
              <a:t>Grain boundaries</a:t>
            </a:r>
            <a:r>
              <a:rPr lang="en-US" dirty="0"/>
              <a:t>: Found in polycrystalline materials where different crystals meet.</a:t>
            </a:r>
          </a:p>
          <a:p>
            <a:pPr>
              <a:buFont typeface="Wingdings" pitchFamily="2" charset="2"/>
              <a:buChar char="Ø"/>
            </a:pPr>
            <a:r>
              <a:rPr lang="en-US" b="1" dirty="0"/>
              <a:t>External surfaces</a:t>
            </a:r>
            <a:r>
              <a:rPr lang="en-US" dirty="0"/>
              <a:t>: Atoms at the surface are not fully coordinated.</a:t>
            </a:r>
          </a:p>
          <a:p>
            <a:pPr>
              <a:buFont typeface="Wingdings" pitchFamily="2" charset="2"/>
              <a:buChar char="Ø"/>
            </a:pPr>
            <a:r>
              <a:rPr lang="en-US" b="1" dirty="0"/>
              <a:t>Stacking faults</a:t>
            </a:r>
            <a:r>
              <a:rPr lang="en-US" dirty="0"/>
              <a:t>: A disruption in the regular stacking sequence of atomic planes.</a:t>
            </a:r>
          </a:p>
          <a:p>
            <a:pPr>
              <a:buFont typeface="Wingdings" pitchFamily="2" charset="2"/>
              <a:buChar char="Ø"/>
            </a:pPr>
            <a:endParaRPr lang="en-US" dirty="0"/>
          </a:p>
        </p:txBody>
      </p:sp>
    </p:spTree>
    <p:extLst>
      <p:ext uri="{BB962C8B-B14F-4D97-AF65-F5344CB8AC3E}">
        <p14:creationId xmlns:p14="http://schemas.microsoft.com/office/powerpoint/2010/main" val="381331679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Surface defect – 2D&#10;• Surface defect&#10; Takes place on the surface of a material.&#10; Due to imperfect placing of atoms during crystallization or defective&#10;orientation of the surface.&#10; Types - Grain boundary&#10;- Twin boundary&#10;- Stacking fault&#10;11&#10; "/>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1143000" y="762000"/>
            <a:ext cx="6908797" cy="5181600"/>
          </a:xfrm>
          <a:prstGeom prst="rect">
            <a:avLst/>
          </a:prstGeom>
        </p:spPr>
        <p:style>
          <a:lnRef idx="1">
            <a:schemeClr val="accent3"/>
          </a:lnRef>
          <a:fillRef idx="2">
            <a:schemeClr val="accent3"/>
          </a:fillRef>
          <a:effectRef idx="1">
            <a:schemeClr val="accent3"/>
          </a:effectRef>
          <a:fontRef idx="minor">
            <a:schemeClr val="dk1"/>
          </a:fontRef>
        </p:style>
      </p:pic>
    </p:spTree>
    <p:extLst>
      <p:ext uri="{BB962C8B-B14F-4D97-AF65-F5344CB8AC3E}">
        <p14:creationId xmlns:p14="http://schemas.microsoft.com/office/powerpoint/2010/main" val="2636736678"/>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a) Grain boundary&#10;12&#10; Grain boundary – Defects which separate grains of different orientation&#10;from each other in a polycrystalline material.&#10; Orientation difference between two crystals is greater than 10-15° - High&#10;angle grain boundary&#10; Orientation difference between two crystals is less than 10° - Low angle&#10;grain boundary.&#10;Grain boundary&#10; "/>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838200" y="457200"/>
            <a:ext cx="7213596" cy="5410200"/>
          </a:xfrm>
          <a:prstGeom prst="rect">
            <a:avLst/>
          </a:prstGeom>
        </p:spPr>
        <p:style>
          <a:lnRef idx="1">
            <a:schemeClr val="accent3"/>
          </a:lnRef>
          <a:fillRef idx="2">
            <a:schemeClr val="accent3"/>
          </a:fillRef>
          <a:effectRef idx="1">
            <a:schemeClr val="accent3"/>
          </a:effectRef>
          <a:fontRef idx="minor">
            <a:schemeClr val="dk1"/>
          </a:fontRef>
        </p:style>
      </p:pic>
    </p:spTree>
    <p:extLst>
      <p:ext uri="{BB962C8B-B14F-4D97-AF65-F5344CB8AC3E}">
        <p14:creationId xmlns:p14="http://schemas.microsoft.com/office/powerpoint/2010/main" val="3351752000"/>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b) Twin boundary&#10;13&#10; Boundaries in the grains at which the atomic arrangement on one side of&#10;the boundary is the mirror image of the atoms on the other side.&#10; Volume of material which has orientation similar to the mirror image of&#10;the matrix operation – Twin&#10; Mirror – Twinning plane.&#10; "/>
          <p:cNvPicPr>
            <a:picLocks noChangeAspect="1" noChangeArrowheads="1"/>
          </p:cNvPicPr>
          <p:nvPr/>
        </p:nvPicPr>
        <p:blipFill>
          <a:blip r:embed="rId2">
            <a:duotone>
              <a:prstClr val="black"/>
              <a:schemeClr val="accent3">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11200"/>
                    </a14:imgEffect>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1600200" y="685800"/>
            <a:ext cx="6299197" cy="472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5118120"/>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sharpenSoften amount="50000"/>
                    </a14:imgEffect>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1752600" y="1371600"/>
            <a:ext cx="5486400" cy="4114800"/>
          </a:xfrm>
          <a:prstGeom prst="rect">
            <a:avLst/>
          </a:prstGeom>
          <a:ln/>
        </p:spPr>
        <p:style>
          <a:lnRef idx="1">
            <a:schemeClr val="accent3"/>
          </a:lnRef>
          <a:fillRef idx="2">
            <a:schemeClr val="accent3"/>
          </a:fillRef>
          <a:effectRef idx="1">
            <a:schemeClr val="accent3"/>
          </a:effectRef>
          <a:fontRef idx="minor">
            <a:schemeClr val="dk1"/>
          </a:fontRef>
        </p:style>
      </p:pic>
    </p:spTree>
    <p:extLst>
      <p:ext uri="{BB962C8B-B14F-4D97-AF65-F5344CB8AC3E}">
        <p14:creationId xmlns:p14="http://schemas.microsoft.com/office/powerpoint/2010/main" val="1732533358"/>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lstStyle/>
          <a:p>
            <a:pPr algn="ctr"/>
            <a:r>
              <a:rPr lang="en-US" dirty="0" smtClean="0">
                <a:solidFill>
                  <a:srgbClr val="0000FF"/>
                </a:solidFill>
              </a:rPr>
              <a:t>4. Volume defects </a:t>
            </a:r>
            <a:endParaRPr lang="en-US" dirty="0">
              <a:solidFill>
                <a:srgbClr val="0000FF"/>
              </a:solidFill>
            </a:endParaRPr>
          </a:p>
        </p:txBody>
      </p:sp>
      <p:pic>
        <p:nvPicPr>
          <p:cNvPr id="13319" name="Picture 7" descr="Volume defect – 3D&#10;• Volume defect&#10; Cracks may arise when there is only small electrostatic dissimilarity&#10;between the stacking sequences of close packed planes in metals.&#10; Whenever a cluster of atoms are missing large vacancy or void is got.&#10; Foreign particle inclusions, large voids or non crystalline regions which&#10;have the dimensions of the order of 20 Å - volume imperfection.&#10;15&#10; "/>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1600200" y="1600200"/>
            <a:ext cx="6400800" cy="4800602"/>
          </a:xfrm>
          <a:prstGeom prst="rect">
            <a:avLst/>
          </a:prstGeom>
        </p:spPr>
        <p:style>
          <a:lnRef idx="1">
            <a:schemeClr val="accent3"/>
          </a:lnRef>
          <a:fillRef idx="2">
            <a:schemeClr val="accent3"/>
          </a:fillRef>
          <a:effectRef idx="1">
            <a:schemeClr val="accent3"/>
          </a:effectRef>
          <a:fontRef idx="minor">
            <a:schemeClr val="dk1"/>
          </a:fontRef>
        </p:style>
      </p:pic>
    </p:spTree>
    <p:extLst>
      <p:ext uri="{BB962C8B-B14F-4D97-AF65-F5344CB8AC3E}">
        <p14:creationId xmlns:p14="http://schemas.microsoft.com/office/powerpoint/2010/main" val="1501328243"/>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76200"/>
            <a:ext cx="6629400" cy="6465035"/>
          </a:xfrm>
          <a:prstGeom prst="rect">
            <a:avLst/>
          </a:prstGeom>
          <a:ln/>
        </p:spPr>
        <p:style>
          <a:lnRef idx="1">
            <a:schemeClr val="accent4"/>
          </a:lnRef>
          <a:fillRef idx="2">
            <a:schemeClr val="accent4"/>
          </a:fillRef>
          <a:effectRef idx="1">
            <a:schemeClr val="accent4"/>
          </a:effectRef>
          <a:fontRef idx="minor">
            <a:schemeClr val="dk1"/>
          </a:fontRef>
        </p:style>
      </p:pic>
    </p:spTree>
    <p:extLst>
      <p:ext uri="{BB962C8B-B14F-4D97-AF65-F5344CB8AC3E}">
        <p14:creationId xmlns:p14="http://schemas.microsoft.com/office/powerpoint/2010/main" val="89617078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00200" y="76200"/>
            <a:ext cx="5214938" cy="499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010293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4"/>
          </a:lnRef>
          <a:fillRef idx="2">
            <a:schemeClr val="accent4"/>
          </a:fillRef>
          <a:effectRef idx="1">
            <a:schemeClr val="accent4"/>
          </a:effectRef>
          <a:fontRef idx="minor">
            <a:schemeClr val="dk1"/>
          </a:fontRef>
        </p:style>
        <p:txBody>
          <a:bodyPr>
            <a:noAutofit/>
          </a:bodyPr>
          <a:lstStyle/>
          <a:p>
            <a:pPr algn="ctr"/>
            <a:r>
              <a:rPr lang="en-US" sz="2800" b="1" dirty="0" smtClean="0">
                <a:solidFill>
                  <a:srgbClr val="6600CC"/>
                </a:solidFill>
              </a:rPr>
              <a:t/>
            </a:r>
            <a:br>
              <a:rPr lang="en-US" sz="2800" b="1" dirty="0" smtClean="0">
                <a:solidFill>
                  <a:srgbClr val="6600CC"/>
                </a:solidFill>
              </a:rPr>
            </a:br>
            <a:r>
              <a:rPr lang="en-US" sz="2800" b="1" dirty="0" smtClean="0">
                <a:solidFill>
                  <a:srgbClr val="6600CC"/>
                </a:solidFill>
              </a:rPr>
              <a:t>Hume-</a:t>
            </a:r>
            <a:r>
              <a:rPr lang="en-US" sz="2800" b="1" dirty="0" err="1" smtClean="0">
                <a:solidFill>
                  <a:srgbClr val="6600CC"/>
                </a:solidFill>
              </a:rPr>
              <a:t>Rothery</a:t>
            </a:r>
            <a:r>
              <a:rPr lang="en-US" sz="2800" b="1" dirty="0" smtClean="0">
                <a:solidFill>
                  <a:srgbClr val="6600CC"/>
                </a:solidFill>
              </a:rPr>
              <a:t> </a:t>
            </a:r>
            <a:r>
              <a:rPr lang="en-US" sz="2800" b="1" dirty="0" smtClean="0">
                <a:solidFill>
                  <a:srgbClr val="6600CC"/>
                </a:solidFill>
              </a:rPr>
              <a:t>Rules</a:t>
            </a:r>
            <a:br>
              <a:rPr lang="en-US" sz="2800" b="1" dirty="0" smtClean="0">
                <a:solidFill>
                  <a:srgbClr val="6600CC"/>
                </a:solidFill>
              </a:rPr>
            </a:br>
            <a:endParaRPr lang="en-US" sz="2800" dirty="0">
              <a:solidFill>
                <a:srgbClr val="6600CC"/>
              </a:solidFill>
            </a:endParaRPr>
          </a:p>
        </p:txBody>
      </p:sp>
      <p:sp>
        <p:nvSpPr>
          <p:cNvPr id="3" name="Content Placeholder 2"/>
          <p:cNvSpPr>
            <a:spLocks noGrp="1"/>
          </p:cNvSpPr>
          <p:nvPr>
            <p:ph idx="1"/>
          </p:nvPr>
        </p:nvSpPr>
        <p:spPr>
          <a:xfrm>
            <a:off x="304800" y="1295400"/>
            <a:ext cx="8686800" cy="4953000"/>
          </a:xfrm>
        </p:spPr>
        <p:style>
          <a:lnRef idx="1">
            <a:schemeClr val="accent5"/>
          </a:lnRef>
          <a:fillRef idx="2">
            <a:schemeClr val="accent5"/>
          </a:fillRef>
          <a:effectRef idx="1">
            <a:schemeClr val="accent5"/>
          </a:effectRef>
          <a:fontRef idx="minor">
            <a:schemeClr val="dk1"/>
          </a:fontRef>
        </p:style>
        <p:txBody>
          <a:bodyPr>
            <a:normAutofit/>
          </a:bodyPr>
          <a:lstStyle/>
          <a:p>
            <a:pPr algn="ctr">
              <a:buFont typeface="Wingdings" pitchFamily="2" charset="2"/>
              <a:buChar char="q"/>
            </a:pPr>
            <a:r>
              <a:rPr lang="en-US" sz="2400" b="1" dirty="0" smtClean="0"/>
              <a:t>The </a:t>
            </a:r>
            <a:r>
              <a:rPr lang="en-US" sz="2400" b="1" dirty="0"/>
              <a:t>Hume-</a:t>
            </a:r>
            <a:r>
              <a:rPr lang="en-US" sz="2400" b="1" dirty="0" err="1"/>
              <a:t>Rothery</a:t>
            </a:r>
            <a:r>
              <a:rPr lang="en-US" sz="2400" b="1" dirty="0"/>
              <a:t> rules are</a:t>
            </a:r>
            <a:r>
              <a:rPr lang="en-US" sz="2400" b="1" dirty="0" smtClean="0"/>
              <a:t>:</a:t>
            </a:r>
          </a:p>
          <a:p>
            <a:pPr>
              <a:buFont typeface="Wingdings" pitchFamily="2" charset="2"/>
              <a:buChar char="q"/>
            </a:pPr>
            <a:endParaRPr lang="en-US" sz="2400" dirty="0"/>
          </a:p>
          <a:p>
            <a:pPr marL="457200" indent="-457200" algn="ctr">
              <a:buFont typeface="+mj-lt"/>
              <a:buAutoNum type="arabicPeriod"/>
            </a:pPr>
            <a:r>
              <a:rPr lang="en-US" sz="2400" b="1" dirty="0">
                <a:solidFill>
                  <a:srgbClr val="0000FF"/>
                </a:solidFill>
              </a:rPr>
              <a:t>Similar atomic radii (15% difference)</a:t>
            </a:r>
            <a:endParaRPr lang="en-US" sz="2400" dirty="0">
              <a:solidFill>
                <a:srgbClr val="0000FF"/>
              </a:solidFill>
            </a:endParaRPr>
          </a:p>
          <a:p>
            <a:pPr marL="457200" indent="-457200" algn="ctr">
              <a:buFont typeface="+mj-lt"/>
              <a:buAutoNum type="arabicPeriod"/>
            </a:pPr>
            <a:r>
              <a:rPr lang="en-US" sz="2400" b="1" dirty="0">
                <a:solidFill>
                  <a:srgbClr val="0000FF"/>
                </a:solidFill>
              </a:rPr>
              <a:t>Similar </a:t>
            </a:r>
            <a:r>
              <a:rPr lang="en-US" sz="2400" b="1" dirty="0" err="1">
                <a:solidFill>
                  <a:srgbClr val="0000FF"/>
                </a:solidFill>
              </a:rPr>
              <a:t>electronegativities</a:t>
            </a:r>
            <a:endParaRPr lang="en-US" sz="2400" dirty="0">
              <a:solidFill>
                <a:srgbClr val="0000FF"/>
              </a:solidFill>
            </a:endParaRPr>
          </a:p>
          <a:p>
            <a:pPr marL="457200" indent="-457200" algn="ctr">
              <a:buFont typeface="+mj-lt"/>
              <a:buAutoNum type="arabicPeriod"/>
            </a:pPr>
            <a:r>
              <a:rPr lang="en-US" sz="2400" b="1" dirty="0">
                <a:solidFill>
                  <a:srgbClr val="0000FF"/>
                </a:solidFill>
              </a:rPr>
              <a:t>Same crystal structure</a:t>
            </a:r>
            <a:endParaRPr lang="en-US" sz="2400" dirty="0">
              <a:solidFill>
                <a:srgbClr val="0000FF"/>
              </a:solidFill>
            </a:endParaRPr>
          </a:p>
          <a:p>
            <a:pPr marL="457200" indent="-457200" algn="ctr">
              <a:buFont typeface="+mj-lt"/>
              <a:buAutoNum type="arabicPeriod"/>
            </a:pPr>
            <a:r>
              <a:rPr lang="en-US" sz="2400" b="1" dirty="0">
                <a:solidFill>
                  <a:srgbClr val="0000FF"/>
                </a:solidFill>
              </a:rPr>
              <a:t>Similar </a:t>
            </a:r>
            <a:r>
              <a:rPr lang="en-US" sz="2400" b="1" dirty="0" err="1">
                <a:solidFill>
                  <a:srgbClr val="0000FF"/>
                </a:solidFill>
              </a:rPr>
              <a:t>valency</a:t>
            </a:r>
            <a:endParaRPr lang="en-US" sz="2400" dirty="0">
              <a:solidFill>
                <a:srgbClr val="0000FF"/>
              </a:solidFill>
            </a:endParaRPr>
          </a:p>
          <a:p>
            <a:pPr marL="0" indent="0">
              <a:buNone/>
            </a:pPr>
            <a:endParaRPr lang="en-US" sz="2400" b="1" dirty="0">
              <a:solidFill>
                <a:srgbClr val="0000FF"/>
              </a:solidFill>
            </a:endParaRPr>
          </a:p>
          <a:p>
            <a:pPr marL="0" indent="0">
              <a:buNone/>
            </a:pPr>
            <a:endParaRPr lang="en-US" sz="2400" b="1" dirty="0">
              <a:solidFill>
                <a:srgbClr val="0000FF"/>
              </a:solidFill>
            </a:endParaRPr>
          </a:p>
        </p:txBody>
      </p:sp>
    </p:spTree>
    <p:extLst>
      <p:ext uri="{BB962C8B-B14F-4D97-AF65-F5344CB8AC3E}">
        <p14:creationId xmlns:p14="http://schemas.microsoft.com/office/powerpoint/2010/main" val="187866674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msestudent.com/wp-content/uploads/2020/10/bcc-fcc-hcp-elementsOPT.svg"/>
          <p:cNvSpPr>
            <a:spLocks noChangeAspect="1" noChangeArrowheads="1"/>
          </p:cNvSpPr>
          <p:nvPr/>
        </p:nvSpPr>
        <p:spPr bwMode="auto">
          <a:xfrm>
            <a:off x="155575" y="-4937125"/>
            <a:ext cx="18288000" cy="10287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1" y="1905000"/>
            <a:ext cx="7183602"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914401" y="818438"/>
            <a:ext cx="7277546" cy="92333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just"/>
            <a:r>
              <a:rPr lang="en-US" b="1" dirty="0">
                <a:solidFill>
                  <a:srgbClr val="0000FF"/>
                </a:solidFill>
              </a:rPr>
              <a:t>In a solid solution, atoms from one element occupy sites in a crystal lattice (FCC, BCC, HCP, </a:t>
            </a:r>
            <a:r>
              <a:rPr lang="en-US" b="1" dirty="0" err="1">
                <a:solidFill>
                  <a:srgbClr val="0000FF"/>
                </a:solidFill>
              </a:rPr>
              <a:t>etc</a:t>
            </a:r>
            <a:r>
              <a:rPr lang="en-US" b="1" dirty="0">
                <a:solidFill>
                  <a:srgbClr val="0000FF"/>
                </a:solidFill>
              </a:rPr>
              <a:t>). This element is the solvent. Atoms from one or more elements are “dissolved” into the solvent.</a:t>
            </a:r>
          </a:p>
        </p:txBody>
      </p:sp>
    </p:spTree>
    <p:extLst>
      <p:ext uri="{BB962C8B-B14F-4D97-AF65-F5344CB8AC3E}">
        <p14:creationId xmlns:p14="http://schemas.microsoft.com/office/powerpoint/2010/main" val="100911710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8229600" cy="1143000"/>
          </a:xfrm>
        </p:spPr>
        <p:style>
          <a:lnRef idx="1">
            <a:schemeClr val="accent3"/>
          </a:lnRef>
          <a:fillRef idx="2">
            <a:schemeClr val="accent3"/>
          </a:fillRef>
          <a:effectRef idx="1">
            <a:schemeClr val="accent3"/>
          </a:effectRef>
          <a:fontRef idx="minor">
            <a:schemeClr val="dk1"/>
          </a:fontRef>
        </p:style>
        <p:txBody>
          <a:bodyPr>
            <a:normAutofit fontScale="90000"/>
          </a:bodyPr>
          <a:lstStyle/>
          <a:p>
            <a:pPr algn="ctr"/>
            <a:r>
              <a:rPr lang="en-US" b="1" dirty="0" smtClean="0">
                <a:solidFill>
                  <a:srgbClr val="FF0000"/>
                </a:solidFill>
              </a:rPr>
              <a:t>Hume-</a:t>
            </a:r>
            <a:r>
              <a:rPr lang="en-US" b="1" dirty="0" err="1" smtClean="0">
                <a:solidFill>
                  <a:srgbClr val="FF0000"/>
                </a:solidFill>
              </a:rPr>
              <a:t>Rothery</a:t>
            </a:r>
            <a:r>
              <a:rPr lang="en-US" b="1" dirty="0" smtClean="0">
                <a:solidFill>
                  <a:srgbClr val="FF0000"/>
                </a:solidFill>
              </a:rPr>
              <a:t> Rules</a:t>
            </a:r>
            <a:br>
              <a:rPr lang="en-US" b="1" dirty="0" smtClean="0">
                <a:solidFill>
                  <a:srgbClr val="FF0000"/>
                </a:solidFill>
              </a:rPr>
            </a:br>
            <a:endParaRPr lang="en-US" dirty="0">
              <a:solidFill>
                <a:srgbClr val="FF0000"/>
              </a:solidFill>
            </a:endParaRPr>
          </a:p>
        </p:txBody>
      </p:sp>
      <p:sp>
        <p:nvSpPr>
          <p:cNvPr id="3" name="Content Placeholder 2"/>
          <p:cNvSpPr>
            <a:spLocks noGrp="1"/>
          </p:cNvSpPr>
          <p:nvPr>
            <p:ph idx="1"/>
          </p:nvPr>
        </p:nvSpPr>
        <p:spPr/>
        <p:style>
          <a:lnRef idx="1">
            <a:schemeClr val="accent4"/>
          </a:lnRef>
          <a:fillRef idx="2">
            <a:schemeClr val="accent4"/>
          </a:fillRef>
          <a:effectRef idx="1">
            <a:schemeClr val="accent4"/>
          </a:effectRef>
          <a:fontRef idx="minor">
            <a:schemeClr val="dk1"/>
          </a:fontRef>
        </p:style>
        <p:txBody>
          <a:bodyPr>
            <a:normAutofit fontScale="92500" lnSpcReduction="10000"/>
          </a:bodyPr>
          <a:lstStyle/>
          <a:p>
            <a:r>
              <a:rPr lang="en-US" dirty="0" smtClean="0"/>
              <a:t>The </a:t>
            </a:r>
            <a:r>
              <a:rPr lang="en-US" b="1" dirty="0" smtClean="0"/>
              <a:t>Hume-</a:t>
            </a:r>
            <a:r>
              <a:rPr lang="en-US" b="1" dirty="0" err="1" smtClean="0"/>
              <a:t>Rothery</a:t>
            </a:r>
            <a:r>
              <a:rPr lang="en-US" b="1" dirty="0" smtClean="0"/>
              <a:t> rules</a:t>
            </a:r>
            <a:r>
              <a:rPr lang="en-US" dirty="0" smtClean="0"/>
              <a:t> state that two elements will likely form a </a:t>
            </a:r>
            <a:r>
              <a:rPr lang="en-US" dirty="0" err="1" smtClean="0"/>
              <a:t>substitutional</a:t>
            </a:r>
            <a:r>
              <a:rPr lang="en-US" dirty="0" smtClean="0"/>
              <a:t> solid solution when these four conditions are met:</a:t>
            </a:r>
          </a:p>
          <a:p>
            <a:endParaRPr lang="en-US" dirty="0" smtClean="0"/>
          </a:p>
          <a:p>
            <a:pPr marL="514350" indent="-514350">
              <a:buFont typeface="+mj-lt"/>
              <a:buAutoNum type="arabicPeriod"/>
            </a:pPr>
            <a:r>
              <a:rPr lang="en-US" dirty="0" smtClean="0"/>
              <a:t>The </a:t>
            </a:r>
            <a:r>
              <a:rPr lang="en-US" dirty="0" smtClean="0">
                <a:solidFill>
                  <a:srgbClr val="FF0000"/>
                </a:solidFill>
              </a:rPr>
              <a:t>atomic size of the solute atoms </a:t>
            </a:r>
            <a:r>
              <a:rPr lang="en-US" dirty="0" smtClean="0"/>
              <a:t>is within 15% of the atomic size of the solvent atoms.</a:t>
            </a:r>
          </a:p>
          <a:p>
            <a:pPr marL="514350" indent="-514350">
              <a:buFont typeface="+mj-lt"/>
              <a:buAutoNum type="arabicPeriod"/>
            </a:pPr>
            <a:r>
              <a:rPr lang="en-US" dirty="0" smtClean="0"/>
              <a:t>The </a:t>
            </a:r>
            <a:r>
              <a:rPr lang="en-US" dirty="0" smtClean="0">
                <a:solidFill>
                  <a:srgbClr val="FF0000"/>
                </a:solidFill>
              </a:rPr>
              <a:t>two elements have similar crystal structures</a:t>
            </a:r>
            <a:r>
              <a:rPr lang="en-US" dirty="0" smtClean="0"/>
              <a:t>.</a:t>
            </a:r>
          </a:p>
          <a:p>
            <a:pPr marL="514350" indent="-514350">
              <a:buFont typeface="+mj-lt"/>
              <a:buAutoNum type="arabicPeriod"/>
            </a:pPr>
            <a:r>
              <a:rPr lang="en-US" dirty="0" smtClean="0"/>
              <a:t>The </a:t>
            </a:r>
            <a:r>
              <a:rPr lang="en-US" dirty="0" smtClean="0">
                <a:solidFill>
                  <a:srgbClr val="FF0000"/>
                </a:solidFill>
              </a:rPr>
              <a:t>two elements have similar </a:t>
            </a:r>
            <a:r>
              <a:rPr lang="en-US" dirty="0" smtClean="0">
                <a:solidFill>
                  <a:srgbClr val="FF0000"/>
                </a:solidFill>
              </a:rPr>
              <a:t>electronegativity</a:t>
            </a:r>
            <a:r>
              <a:rPr lang="en-US" dirty="0" smtClean="0"/>
              <a:t>.</a:t>
            </a:r>
            <a:endParaRPr lang="en-US" dirty="0" smtClean="0"/>
          </a:p>
          <a:p>
            <a:pPr marL="514350" indent="-514350">
              <a:buFont typeface="+mj-lt"/>
              <a:buAutoNum type="arabicPeriod"/>
            </a:pPr>
            <a:r>
              <a:rPr lang="en-US" dirty="0" smtClean="0"/>
              <a:t>The </a:t>
            </a:r>
            <a:r>
              <a:rPr lang="en-US" dirty="0" smtClean="0">
                <a:solidFill>
                  <a:srgbClr val="FF0000"/>
                </a:solidFill>
              </a:rPr>
              <a:t>two elements have similar valences.</a:t>
            </a:r>
          </a:p>
          <a:p>
            <a:endParaRPr lang="en-US" dirty="0"/>
          </a:p>
        </p:txBody>
      </p:sp>
    </p:spTree>
    <p:extLst>
      <p:ext uri="{BB962C8B-B14F-4D97-AF65-F5344CB8AC3E}">
        <p14:creationId xmlns:p14="http://schemas.microsoft.com/office/powerpoint/2010/main" val="301283100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81000"/>
            <a:ext cx="7772400" cy="762001"/>
          </a:xfrm>
        </p:spPr>
        <p:style>
          <a:lnRef idx="1">
            <a:schemeClr val="accent5"/>
          </a:lnRef>
          <a:fillRef idx="2">
            <a:schemeClr val="accent5"/>
          </a:fillRef>
          <a:effectRef idx="1">
            <a:schemeClr val="accent5"/>
          </a:effectRef>
          <a:fontRef idx="minor">
            <a:schemeClr val="dk1"/>
          </a:fontRef>
        </p:style>
        <p:txBody>
          <a:bodyPr>
            <a:normAutofit fontScale="90000"/>
          </a:bodyPr>
          <a:lstStyle/>
          <a:p>
            <a:pPr algn="ctr"/>
            <a:r>
              <a:rPr lang="en-US" b="1" dirty="0">
                <a:solidFill>
                  <a:srgbClr val="FF0000"/>
                </a:solidFill>
              </a:rPr>
              <a:t>Solid solutions</a:t>
            </a:r>
            <a:r>
              <a:rPr lang="en-US" b="1" dirty="0" smtClean="0">
                <a:solidFill>
                  <a:srgbClr val="FF0000"/>
                </a:solidFill>
              </a:rPr>
              <a:t/>
            </a:r>
            <a:br>
              <a:rPr lang="en-US" b="1" dirty="0" smtClean="0">
                <a:solidFill>
                  <a:srgbClr val="FF0000"/>
                </a:solidFill>
              </a:rPr>
            </a:br>
            <a:r>
              <a:rPr lang="en-US" b="1" dirty="0" smtClean="0">
                <a:solidFill>
                  <a:srgbClr val="FF0000"/>
                </a:solidFill>
              </a:rPr>
              <a:t/>
            </a:r>
            <a:br>
              <a:rPr lang="en-US" b="1" dirty="0" smtClean="0">
                <a:solidFill>
                  <a:srgbClr val="FF0000"/>
                </a:solidFill>
              </a:rPr>
            </a:br>
            <a:endParaRPr lang="en-US" dirty="0">
              <a:solidFill>
                <a:srgbClr val="FF0000"/>
              </a:solidFill>
            </a:endParaRPr>
          </a:p>
        </p:txBody>
      </p:sp>
      <p:sp>
        <p:nvSpPr>
          <p:cNvPr id="3" name="Subtitle 2"/>
          <p:cNvSpPr>
            <a:spLocks noGrp="1"/>
          </p:cNvSpPr>
          <p:nvPr>
            <p:ph type="subTitle" idx="1"/>
          </p:nvPr>
        </p:nvSpPr>
        <p:spPr>
          <a:xfrm>
            <a:off x="762000" y="1295400"/>
            <a:ext cx="7924800" cy="4953000"/>
          </a:xfrm>
        </p:spPr>
        <p:style>
          <a:lnRef idx="1">
            <a:schemeClr val="accent4"/>
          </a:lnRef>
          <a:fillRef idx="2">
            <a:schemeClr val="accent4"/>
          </a:fillRef>
          <a:effectRef idx="1">
            <a:schemeClr val="accent4"/>
          </a:effectRef>
          <a:fontRef idx="minor">
            <a:schemeClr val="dk1"/>
          </a:fontRef>
        </p:style>
        <p:txBody>
          <a:bodyPr>
            <a:normAutofit/>
          </a:bodyPr>
          <a:lstStyle/>
          <a:p>
            <a:pPr algn="just"/>
            <a:r>
              <a:rPr lang="en-US" b="1" dirty="0" smtClean="0">
                <a:solidFill>
                  <a:srgbClr val="FF0000"/>
                </a:solidFill>
              </a:rPr>
              <a:t>Alloy</a:t>
            </a:r>
            <a:r>
              <a:rPr lang="en-US" b="1" dirty="0" smtClean="0">
                <a:solidFill>
                  <a:srgbClr val="FF0000"/>
                </a:solidFill>
              </a:rPr>
              <a:t>- </a:t>
            </a:r>
            <a:r>
              <a:rPr lang="en-US" dirty="0" smtClean="0">
                <a:solidFill>
                  <a:srgbClr val="0000FF"/>
                </a:solidFill>
              </a:rPr>
              <a:t>Alloy </a:t>
            </a:r>
            <a:r>
              <a:rPr lang="en-US" dirty="0" smtClean="0">
                <a:solidFill>
                  <a:srgbClr val="0000FF"/>
                </a:solidFill>
              </a:rPr>
              <a:t>is a metal, composing of a mixture of elements. Most of alloys are composed of a base metal with small amounts of additives or alloying elements. The typical examples of alloys are steel/cast iron (iron base alloys), bronze/brass (copper base alloys), aluminum alloys, nickel base alloys, magnesium base alloys, titanium alloys. </a:t>
            </a:r>
            <a:endParaRPr lang="en-US" b="1" dirty="0">
              <a:solidFill>
                <a:srgbClr val="C00000"/>
              </a:solidFill>
            </a:endParaRPr>
          </a:p>
          <a:p>
            <a:pPr algn="just"/>
            <a:r>
              <a:rPr lang="en-US" b="1" dirty="0">
                <a:solidFill>
                  <a:srgbClr val="C00000"/>
                </a:solidFill>
              </a:rPr>
              <a:t>A combination of metals is called an alloy. </a:t>
            </a:r>
            <a:endParaRPr lang="en-US" b="1" dirty="0" smtClean="0">
              <a:solidFill>
                <a:srgbClr val="C00000"/>
              </a:solidFill>
            </a:endParaRPr>
          </a:p>
          <a:p>
            <a:r>
              <a:rPr lang="en-US" b="1" dirty="0" smtClean="0">
                <a:solidFill>
                  <a:srgbClr val="C00000"/>
                </a:solidFill>
              </a:rPr>
              <a:t>There </a:t>
            </a:r>
            <a:r>
              <a:rPr lang="en-US" b="1" dirty="0">
                <a:solidFill>
                  <a:srgbClr val="C00000"/>
                </a:solidFill>
              </a:rPr>
              <a:t>are 3 kinds of alloys</a:t>
            </a:r>
            <a:r>
              <a:rPr lang="en-US" b="1" dirty="0" smtClean="0">
                <a:solidFill>
                  <a:srgbClr val="C00000"/>
                </a:solidFill>
              </a:rPr>
              <a:t>:</a:t>
            </a:r>
          </a:p>
          <a:p>
            <a:r>
              <a:rPr lang="en-US" b="1" dirty="0" err="1" smtClean="0">
                <a:solidFill>
                  <a:srgbClr val="C00000"/>
                </a:solidFill>
              </a:rPr>
              <a:t>Substitutional</a:t>
            </a:r>
            <a:r>
              <a:rPr lang="en-US" b="1" dirty="0" smtClean="0">
                <a:solidFill>
                  <a:srgbClr val="C00000"/>
                </a:solidFill>
              </a:rPr>
              <a:t> </a:t>
            </a:r>
            <a:r>
              <a:rPr lang="en-US" b="1" dirty="0">
                <a:solidFill>
                  <a:srgbClr val="C00000"/>
                </a:solidFill>
              </a:rPr>
              <a:t>solid solutions</a:t>
            </a:r>
          </a:p>
          <a:p>
            <a:r>
              <a:rPr lang="en-US" b="1" dirty="0">
                <a:solidFill>
                  <a:srgbClr val="C00000"/>
                </a:solidFill>
              </a:rPr>
              <a:t>Interstitial solid solutions</a:t>
            </a:r>
          </a:p>
          <a:p>
            <a:r>
              <a:rPr lang="en-US" b="1" dirty="0">
                <a:solidFill>
                  <a:srgbClr val="C00000"/>
                </a:solidFill>
              </a:rPr>
              <a:t>Intermetallic </a:t>
            </a:r>
            <a:r>
              <a:rPr lang="en-US" b="1" dirty="0" smtClean="0">
                <a:solidFill>
                  <a:srgbClr val="C00000"/>
                </a:solidFill>
              </a:rPr>
              <a:t>compounds</a:t>
            </a:r>
            <a:endParaRPr lang="en-US" b="1" dirty="0">
              <a:solidFill>
                <a:srgbClr val="C00000"/>
              </a:solidFill>
            </a:endParaRPr>
          </a:p>
        </p:txBody>
      </p:sp>
    </p:spTree>
    <p:extLst>
      <p:ext uri="{BB962C8B-B14F-4D97-AF65-F5344CB8AC3E}">
        <p14:creationId xmlns:p14="http://schemas.microsoft.com/office/powerpoint/2010/main" val="291189543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3"/>
          </a:lnRef>
          <a:fillRef idx="2">
            <a:schemeClr val="accent3"/>
          </a:fillRef>
          <a:effectRef idx="1">
            <a:schemeClr val="accent3"/>
          </a:effectRef>
          <a:fontRef idx="minor">
            <a:schemeClr val="dk1"/>
          </a:fontRef>
        </p:style>
        <p:txBody>
          <a:bodyPr>
            <a:normAutofit fontScale="90000"/>
          </a:bodyPr>
          <a:lstStyle/>
          <a:p>
            <a:r>
              <a:rPr lang="en-US" b="1" dirty="0" smtClean="0">
                <a:solidFill>
                  <a:srgbClr val="FF0000"/>
                </a:solidFill>
              </a:rPr>
              <a:t>Phase</a:t>
            </a:r>
            <a:br>
              <a:rPr lang="en-US" b="1" dirty="0" smtClean="0">
                <a:solidFill>
                  <a:srgbClr val="FF0000"/>
                </a:solidFill>
              </a:rPr>
            </a:br>
            <a:endParaRPr lang="en-US" dirty="0">
              <a:solidFill>
                <a:srgbClr val="FF0000"/>
              </a:solidFill>
            </a:endParaRPr>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pPr marL="0" indent="0" algn="just">
              <a:buNone/>
            </a:pPr>
            <a:r>
              <a:rPr lang="en-US" b="1" dirty="0" smtClean="0">
                <a:solidFill>
                  <a:srgbClr val="0000FF"/>
                </a:solidFill>
              </a:rPr>
              <a:t>Phase</a:t>
            </a:r>
            <a:r>
              <a:rPr lang="en-US" dirty="0" smtClean="0">
                <a:solidFill>
                  <a:srgbClr val="0000FF"/>
                </a:solidFill>
              </a:rPr>
              <a:t> is a uniform part of an alloy, having a certain chemical </a:t>
            </a:r>
            <a:r>
              <a:rPr lang="en-US" dirty="0" smtClean="0">
                <a:solidFill>
                  <a:srgbClr val="FF0000"/>
                </a:solidFill>
              </a:rPr>
              <a:t>composition and structure</a:t>
            </a:r>
            <a:r>
              <a:rPr lang="en-US" dirty="0" smtClean="0">
                <a:solidFill>
                  <a:srgbClr val="0000FF"/>
                </a:solidFill>
              </a:rPr>
              <a:t>, and which is separated from other alloy constituents by a </a:t>
            </a:r>
            <a:r>
              <a:rPr lang="en-US" dirty="0" smtClean="0">
                <a:solidFill>
                  <a:srgbClr val="FF0000"/>
                </a:solidFill>
              </a:rPr>
              <a:t>phase boundary. </a:t>
            </a:r>
          </a:p>
          <a:p>
            <a:pPr marL="0" indent="0" algn="just">
              <a:buNone/>
            </a:pPr>
            <a:endParaRPr lang="en-US" b="1" dirty="0" smtClean="0"/>
          </a:p>
          <a:p>
            <a:pPr marL="0" indent="0" algn="just">
              <a:buNone/>
            </a:pPr>
            <a:r>
              <a:rPr lang="en-US" b="1" dirty="0" smtClean="0">
                <a:solidFill>
                  <a:srgbClr val="0000FF"/>
                </a:solidFill>
              </a:rPr>
              <a:t>Solid solution</a:t>
            </a:r>
            <a:r>
              <a:rPr lang="en-US" dirty="0" smtClean="0">
                <a:solidFill>
                  <a:srgbClr val="0000FF"/>
                </a:solidFill>
              </a:rPr>
              <a:t> </a:t>
            </a:r>
            <a:r>
              <a:rPr lang="en-US" dirty="0" smtClean="0"/>
              <a:t>is a phase, where two or more elements are completely </a:t>
            </a:r>
            <a:r>
              <a:rPr lang="en-US" dirty="0" smtClean="0">
                <a:solidFill>
                  <a:srgbClr val="FF0000"/>
                </a:solidFill>
              </a:rPr>
              <a:t>soluble in each other</a:t>
            </a:r>
            <a:r>
              <a:rPr lang="en-US" dirty="0" smtClean="0"/>
              <a:t>. </a:t>
            </a:r>
            <a:endParaRPr lang="en-US" dirty="0">
              <a:solidFill>
                <a:srgbClr val="FF0000"/>
              </a:solidFill>
            </a:endParaRPr>
          </a:p>
        </p:txBody>
      </p:sp>
    </p:spTree>
    <p:extLst>
      <p:ext uri="{BB962C8B-B14F-4D97-AF65-F5344CB8AC3E}">
        <p14:creationId xmlns:p14="http://schemas.microsoft.com/office/powerpoint/2010/main" val="56125118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57200"/>
            <a:ext cx="8686800" cy="6096000"/>
          </a:xfrm>
        </p:spPr>
        <p:style>
          <a:lnRef idx="2">
            <a:schemeClr val="accent5"/>
          </a:lnRef>
          <a:fillRef idx="1">
            <a:schemeClr val="lt1"/>
          </a:fillRef>
          <a:effectRef idx="0">
            <a:schemeClr val="accent5"/>
          </a:effectRef>
          <a:fontRef idx="minor">
            <a:schemeClr val="dk1"/>
          </a:fontRef>
        </p:style>
        <p:txBody>
          <a:bodyPr>
            <a:normAutofit/>
          </a:bodyPr>
          <a:lstStyle/>
          <a:p>
            <a:pPr marL="514350" indent="-514350" algn="just">
              <a:buAutoNum type="arabicPeriod"/>
            </a:pPr>
            <a:endParaRPr lang="en-US" sz="2800" dirty="0" smtClean="0">
              <a:solidFill>
                <a:srgbClr val="0000FF"/>
              </a:solidFill>
            </a:endParaRPr>
          </a:p>
          <a:p>
            <a:pPr marL="514350" indent="-514350" algn="just">
              <a:buAutoNum type="arabicPeriod"/>
            </a:pPr>
            <a:endParaRPr lang="en-US" sz="2800" dirty="0">
              <a:solidFill>
                <a:srgbClr val="0000FF"/>
              </a:solidFill>
            </a:endParaRPr>
          </a:p>
          <a:p>
            <a:pPr marL="514350" indent="-514350" algn="just">
              <a:buAutoNum type="arabicPeriod"/>
            </a:pPr>
            <a:r>
              <a:rPr lang="en-US" sz="2800" dirty="0" smtClean="0">
                <a:solidFill>
                  <a:srgbClr val="0000FF"/>
                </a:solidFill>
              </a:rPr>
              <a:t>In </a:t>
            </a:r>
            <a:r>
              <a:rPr lang="en-US" sz="2800" dirty="0">
                <a:solidFill>
                  <a:srgbClr val="0000FF"/>
                </a:solidFill>
              </a:rPr>
              <a:t>a </a:t>
            </a:r>
            <a:r>
              <a:rPr lang="en-US" sz="2800" b="1" dirty="0" err="1">
                <a:solidFill>
                  <a:srgbClr val="FF0000"/>
                </a:solidFill>
              </a:rPr>
              <a:t>substitutional</a:t>
            </a:r>
            <a:r>
              <a:rPr lang="en-US" sz="2800" b="1" dirty="0">
                <a:solidFill>
                  <a:srgbClr val="FF0000"/>
                </a:solidFill>
              </a:rPr>
              <a:t> solid solution</a:t>
            </a:r>
            <a:r>
              <a:rPr lang="en-US" sz="2800" dirty="0">
                <a:solidFill>
                  <a:srgbClr val="0000FF"/>
                </a:solidFill>
              </a:rPr>
              <a:t>, the solute atoms will randomly take the place of the solvent atoms. </a:t>
            </a:r>
            <a:r>
              <a:rPr lang="en-US" sz="2800" dirty="0">
                <a:solidFill>
                  <a:srgbClr val="6600CC"/>
                </a:solidFill>
              </a:rPr>
              <a:t>This is a </a:t>
            </a:r>
            <a:r>
              <a:rPr lang="en-US" sz="2800" dirty="0" smtClean="0">
                <a:solidFill>
                  <a:srgbClr val="6600CC"/>
                </a:solidFill>
              </a:rPr>
              <a:t>1-to-1</a:t>
            </a:r>
            <a:r>
              <a:rPr lang="en-US" sz="2800" dirty="0">
                <a:solidFill>
                  <a:srgbClr val="6600CC"/>
                </a:solidFill>
              </a:rPr>
              <a:t>, direct substitution</a:t>
            </a:r>
            <a:r>
              <a:rPr lang="en-US" sz="2800" dirty="0" smtClean="0">
                <a:solidFill>
                  <a:srgbClr val="6600CC"/>
                </a:solidFill>
              </a:rPr>
              <a:t>.</a:t>
            </a:r>
          </a:p>
          <a:p>
            <a:pPr marL="514350" indent="-514350" algn="just">
              <a:buAutoNum type="arabicPeriod"/>
            </a:pPr>
            <a:r>
              <a:rPr lang="en-US" sz="2800" dirty="0"/>
              <a:t>In an </a:t>
            </a:r>
            <a:r>
              <a:rPr lang="en-US" sz="2800" b="1" dirty="0">
                <a:solidFill>
                  <a:srgbClr val="FF0000"/>
                </a:solidFill>
              </a:rPr>
              <a:t>interstitial solid solution</a:t>
            </a:r>
            <a:r>
              <a:rPr lang="en-US" sz="2800" dirty="0"/>
              <a:t>, the solute atoms fit between solvent atoms. We call these “</a:t>
            </a:r>
            <a:r>
              <a:rPr lang="en-US" sz="2800" dirty="0">
                <a:solidFill>
                  <a:srgbClr val="6600CC"/>
                </a:solidFill>
              </a:rPr>
              <a:t>in between” positions </a:t>
            </a:r>
            <a:r>
              <a:rPr lang="en-US" sz="2800" b="1" dirty="0" smtClean="0">
                <a:solidFill>
                  <a:srgbClr val="6600CC"/>
                </a:solidFill>
              </a:rPr>
              <a:t>interstitial </a:t>
            </a:r>
            <a:r>
              <a:rPr lang="en-US" sz="2800" b="1" dirty="0">
                <a:solidFill>
                  <a:srgbClr val="6600CC"/>
                </a:solidFill>
              </a:rPr>
              <a:t>sites</a:t>
            </a:r>
            <a:r>
              <a:rPr lang="en-US" sz="2800" dirty="0">
                <a:solidFill>
                  <a:srgbClr val="6600CC"/>
                </a:solidFill>
              </a:rPr>
              <a:t>. </a:t>
            </a:r>
            <a:endParaRPr lang="en-US" sz="2800" dirty="0" smtClean="0">
              <a:solidFill>
                <a:srgbClr val="6600CC"/>
              </a:solidFill>
            </a:endParaRPr>
          </a:p>
          <a:p>
            <a:pPr marL="514350" indent="-514350" algn="just">
              <a:buAutoNum type="arabicPeriod"/>
            </a:pPr>
            <a:r>
              <a:rPr lang="en-US" sz="2800" dirty="0">
                <a:solidFill>
                  <a:srgbClr val="0000FF"/>
                </a:solidFill>
              </a:rPr>
              <a:t>In an </a:t>
            </a:r>
            <a:r>
              <a:rPr lang="en-US" sz="2800" b="1" dirty="0">
                <a:solidFill>
                  <a:srgbClr val="FF0000"/>
                </a:solidFill>
              </a:rPr>
              <a:t>intermetallic compound</a:t>
            </a:r>
            <a:r>
              <a:rPr lang="en-US" sz="2800" dirty="0">
                <a:solidFill>
                  <a:srgbClr val="0000FF"/>
                </a:solidFill>
              </a:rPr>
              <a:t>, there is no solute or solvent. Instead the atoms bond </a:t>
            </a:r>
            <a:r>
              <a:rPr lang="en-US" sz="2800" dirty="0" err="1">
                <a:solidFill>
                  <a:srgbClr val="6600CC"/>
                </a:solidFill>
              </a:rPr>
              <a:t>stoichiometrically</a:t>
            </a:r>
            <a:r>
              <a:rPr lang="en-US" sz="2800" dirty="0">
                <a:solidFill>
                  <a:srgbClr val="0000FF"/>
                </a:solidFill>
              </a:rPr>
              <a:t>, just like any other compound. Because of this, most </a:t>
            </a:r>
            <a:r>
              <a:rPr lang="en-US" sz="2800" dirty="0" err="1">
                <a:solidFill>
                  <a:srgbClr val="0000FF"/>
                </a:solidFill>
              </a:rPr>
              <a:t>intermetallics</a:t>
            </a:r>
            <a:r>
              <a:rPr lang="en-US" sz="2800" dirty="0">
                <a:solidFill>
                  <a:srgbClr val="0000FF"/>
                </a:solidFill>
              </a:rPr>
              <a:t> </a:t>
            </a:r>
            <a:r>
              <a:rPr lang="en-US" sz="2800" i="1" dirty="0">
                <a:solidFill>
                  <a:srgbClr val="0000FF"/>
                </a:solidFill>
              </a:rPr>
              <a:t>do not</a:t>
            </a:r>
            <a:r>
              <a:rPr lang="en-US" sz="2800" b="1" i="1" dirty="0">
                <a:solidFill>
                  <a:srgbClr val="0000FF"/>
                </a:solidFill>
              </a:rPr>
              <a:t> </a:t>
            </a:r>
            <a:r>
              <a:rPr lang="en-US" sz="2800" dirty="0">
                <a:solidFill>
                  <a:srgbClr val="0000FF"/>
                </a:solidFill>
              </a:rPr>
              <a:t>behave like typical metals. </a:t>
            </a:r>
          </a:p>
          <a:p>
            <a:pPr marL="514350" indent="-514350" algn="just">
              <a:buAutoNum type="arabicPeriod"/>
            </a:pPr>
            <a:endParaRPr lang="en-US" dirty="0">
              <a:solidFill>
                <a:srgbClr val="0000FF"/>
              </a:solidFill>
            </a:endParaRPr>
          </a:p>
        </p:txBody>
      </p:sp>
    </p:spTree>
    <p:extLst>
      <p:ext uri="{BB962C8B-B14F-4D97-AF65-F5344CB8AC3E}">
        <p14:creationId xmlns:p14="http://schemas.microsoft.com/office/powerpoint/2010/main" val="230728285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399" y="533400"/>
            <a:ext cx="7873653" cy="5781675"/>
          </a:xfrm>
          <a:prstGeom prst="rect">
            <a:avLst/>
          </a:prstGeom>
          <a:ln/>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90656585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2">
            <a:schemeClr val="accent5"/>
          </a:fillRef>
          <a:effectRef idx="1">
            <a:schemeClr val="accent5"/>
          </a:effectRef>
          <a:fontRef idx="minor">
            <a:schemeClr val="dk1"/>
          </a:fontRef>
        </p:style>
        <p:txBody>
          <a:bodyPr>
            <a:normAutofit/>
          </a:bodyPr>
          <a:lstStyle/>
          <a:p>
            <a:pPr algn="ctr"/>
            <a:r>
              <a:rPr lang="en-US" b="1" dirty="0" smtClean="0">
                <a:solidFill>
                  <a:srgbClr val="FF0000"/>
                </a:solidFill>
              </a:rPr>
              <a:t>Metals crystal structure</a:t>
            </a:r>
            <a:endParaRPr lang="en-US" b="1" dirty="0">
              <a:solidFill>
                <a:srgbClr val="FF0000"/>
              </a:solidFill>
            </a:endParaRPr>
          </a:p>
        </p:txBody>
      </p:sp>
      <p:sp>
        <p:nvSpPr>
          <p:cNvPr id="3" name="Content Placeholder 2"/>
          <p:cNvSpPr>
            <a:spLocks noGrp="1"/>
          </p:cNvSpPr>
          <p:nvPr>
            <p:ph idx="1"/>
          </p:nvPr>
        </p:nvSpPr>
        <p:spPr/>
        <p:style>
          <a:lnRef idx="1">
            <a:schemeClr val="accent4"/>
          </a:lnRef>
          <a:fillRef idx="2">
            <a:schemeClr val="accent4"/>
          </a:fillRef>
          <a:effectRef idx="1">
            <a:schemeClr val="accent4"/>
          </a:effectRef>
          <a:fontRef idx="minor">
            <a:schemeClr val="dk1"/>
          </a:fontRef>
        </p:style>
        <p:txBody>
          <a:bodyPr>
            <a:normAutofit lnSpcReduction="10000"/>
          </a:bodyPr>
          <a:lstStyle/>
          <a:p>
            <a:pPr algn="just"/>
            <a:r>
              <a:rPr lang="en-US" i="1" dirty="0" smtClean="0">
                <a:solidFill>
                  <a:srgbClr val="C00000"/>
                </a:solidFill>
              </a:rPr>
              <a:t>There are two main forms of solid substance, characterizing different atoms arrangement in their microstructures:</a:t>
            </a:r>
            <a:endParaRPr lang="en-US" b="1" dirty="0" smtClean="0"/>
          </a:p>
          <a:p>
            <a:r>
              <a:rPr lang="en-US" b="1" dirty="0" smtClean="0"/>
              <a:t>Amorphous solid-</a:t>
            </a:r>
            <a:r>
              <a:rPr lang="en-US" dirty="0" smtClean="0"/>
              <a:t>Amorphous solid substance does not possess long-range order of atoms positions.</a:t>
            </a:r>
            <a:endParaRPr lang="en-US" b="1" dirty="0" smtClean="0"/>
          </a:p>
          <a:p>
            <a:r>
              <a:rPr lang="en-US" b="1" dirty="0" smtClean="0"/>
              <a:t>Crystalline solid : </a:t>
            </a:r>
            <a:r>
              <a:rPr lang="en-US" dirty="0" smtClean="0"/>
              <a:t>Crystalline solid substance is characterized by atoms arranged in a regular pattern, extending in all three dimensions. </a:t>
            </a:r>
            <a:endParaRPr lang="en-US" b="1" dirty="0" smtClean="0"/>
          </a:p>
          <a:p>
            <a:endParaRPr lang="en-US" dirty="0"/>
          </a:p>
        </p:txBody>
      </p:sp>
    </p:spTree>
    <p:extLst>
      <p:ext uri="{BB962C8B-B14F-4D97-AF65-F5344CB8AC3E}">
        <p14:creationId xmlns:p14="http://schemas.microsoft.com/office/powerpoint/2010/main" val="107794910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805</TotalTime>
  <Words>4157</Words>
  <Application>Microsoft Office PowerPoint</Application>
  <PresentationFormat>On-screen Show (4:3)</PresentationFormat>
  <Paragraphs>364</Paragraphs>
  <Slides>127</Slides>
  <Notes>1</Notes>
  <HiddenSlides>0</HiddenSlides>
  <MMClips>0</MMClips>
  <ScaleCrop>false</ScaleCrop>
  <HeadingPairs>
    <vt:vector size="4" baseType="variant">
      <vt:variant>
        <vt:lpstr>Theme</vt:lpstr>
      </vt:variant>
      <vt:variant>
        <vt:i4>1</vt:i4>
      </vt:variant>
      <vt:variant>
        <vt:lpstr>Slide Titles</vt:lpstr>
      </vt:variant>
      <vt:variant>
        <vt:i4>127</vt:i4>
      </vt:variant>
    </vt:vector>
  </HeadingPairs>
  <TitlesOfParts>
    <vt:vector size="128" baseType="lpstr">
      <vt:lpstr>Trek</vt:lpstr>
      <vt:lpstr>PowerPoint Presentation</vt:lpstr>
      <vt:lpstr>Chapter -1</vt:lpstr>
      <vt:lpstr>   Chapter-1   Bonding in Metal And ALLOYS</vt:lpstr>
      <vt:lpstr> What is Alloys?  </vt:lpstr>
      <vt:lpstr> Comparing properties of alloys and pure metals </vt:lpstr>
      <vt:lpstr> What is Metallic Bond? </vt:lpstr>
      <vt:lpstr>PowerPoint Presentation</vt:lpstr>
      <vt:lpstr>PowerPoint Presentation</vt:lpstr>
      <vt:lpstr>1. What is the Electron Sea Model?</vt:lpstr>
      <vt:lpstr>PowerPoint Presentation</vt:lpstr>
      <vt:lpstr>PowerPoint Presentation</vt:lpstr>
      <vt:lpstr>2. Structural Representation</vt:lpstr>
      <vt:lpstr>3. Properties Explained by Electron Sea Model</vt:lpstr>
      <vt:lpstr>4. Example: Sodium (Na) Metal</vt:lpstr>
      <vt:lpstr>5. Limitations of the Model</vt:lpstr>
      <vt:lpstr>6. Visual Summary (Concept Map)</vt:lpstr>
      <vt:lpstr>PowerPoint Presentation</vt:lpstr>
      <vt:lpstr>This model stated that the metal atoms consist of two parts</vt:lpstr>
      <vt:lpstr>PowerPoint Presentation</vt:lpstr>
      <vt:lpstr>The Band Theory Of Solids</vt:lpstr>
      <vt:lpstr>PowerPoint Presentation</vt:lpstr>
      <vt:lpstr> Two bands will be formed –  </vt:lpstr>
      <vt:lpstr>     What is Band Theory of Solids? </vt:lpstr>
      <vt:lpstr>  Energy Bands In Inside a Single atom </vt:lpstr>
      <vt:lpstr>PowerPoint Presentation</vt:lpstr>
      <vt:lpstr>PowerPoint Presentation</vt:lpstr>
      <vt:lpstr>Energy levels inside a molecule made up of three atoms </vt:lpstr>
      <vt:lpstr>PowerPoint Presentation</vt:lpstr>
      <vt:lpstr>Energy levels inside a solid made up of Avogadro number of atoms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Doping </vt:lpstr>
      <vt:lpstr>n-doping </vt:lpstr>
      <vt:lpstr>PowerPoint Presentation</vt:lpstr>
      <vt:lpstr> p-doping </vt:lpstr>
      <vt:lpstr>PowerPoint Presentation</vt:lpstr>
      <vt:lpstr> Electronic band structure in doped semiconductors </vt:lpstr>
      <vt:lpstr>PowerPoint Presentation</vt:lpstr>
      <vt:lpstr>PowerPoint Presentation</vt:lpstr>
      <vt:lpstr>PowerPoint Presentation</vt:lpstr>
      <vt:lpstr>PowerPoint Presentation</vt:lpstr>
      <vt:lpstr>N-TYpe  SeMICONDUCTOR </vt:lpstr>
      <vt:lpstr>P-TYpe  SeMICONDUCTOR </vt:lpstr>
      <vt:lpstr>PowerPoint Presentation</vt:lpstr>
      <vt:lpstr>PowerPoint Presentation</vt:lpstr>
      <vt:lpstr>PowerPoint Presentation</vt:lpstr>
      <vt:lpstr>What is Fermi Energy? </vt:lpstr>
      <vt:lpstr>What is Quasi-fermi energy level? </vt:lpstr>
      <vt:lpstr>PowerPoint Presentation</vt:lpstr>
      <vt:lpstr> What is a Light Emitting Diode (LED)? </vt:lpstr>
      <vt:lpstr> Formation of PN Junction by N and P type Semiconductor </vt:lpstr>
      <vt:lpstr>PowerPoint Presentation</vt:lpstr>
      <vt:lpstr>PowerPoint Presentation</vt:lpstr>
      <vt:lpstr>Depletion region</vt:lpstr>
      <vt:lpstr>NP junction diode/pn junction diode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Solar CELL Mechanism</vt:lpstr>
      <vt:lpstr>PowerPoint Presentation</vt:lpstr>
      <vt:lpstr>PowerPoint Presentation</vt:lpstr>
      <vt:lpstr> Summary of the Solar Cell Mechanism: </vt:lpstr>
      <vt:lpstr>Solar CELL Mechanism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 comparison of solar cells in a table format</vt:lpstr>
      <vt:lpstr>PowerPoint Presentation</vt:lpstr>
      <vt:lpstr>PowerPoint Presentation</vt:lpstr>
      <vt:lpstr>PowerPoint Presentation</vt:lpstr>
      <vt:lpstr>PowerPoint Presentation</vt:lpstr>
      <vt:lpstr>“Imperfection in solids"</vt:lpstr>
      <vt:lpstr>PowerPoint Presentation</vt:lpstr>
      <vt:lpstr>1. Point Defects (Zero-dimensional)</vt:lpstr>
      <vt:lpstr>PowerPoint Presentation</vt:lpstr>
      <vt:lpstr>PowerPoint Presentation</vt:lpstr>
      <vt:lpstr>PowerPoint Presentation</vt:lpstr>
      <vt:lpstr> Substitutional defects  </vt:lpstr>
      <vt:lpstr>Frenkel Defect</vt:lpstr>
      <vt:lpstr> Schottky defect </vt:lpstr>
      <vt:lpstr>PowerPoint Presentation</vt:lpstr>
      <vt:lpstr>2. Line Defects (One-dimensional</vt:lpstr>
      <vt:lpstr>Edge dislocations</vt:lpstr>
      <vt:lpstr>Screw dislocations</vt:lpstr>
      <vt:lpstr>3. Surface Defects (Two-dimensional) </vt:lpstr>
      <vt:lpstr>PowerPoint Presentation</vt:lpstr>
      <vt:lpstr>PowerPoint Presentation</vt:lpstr>
      <vt:lpstr>PowerPoint Presentation</vt:lpstr>
      <vt:lpstr>PowerPoint Presentation</vt:lpstr>
      <vt:lpstr>4. Volume defects </vt:lpstr>
      <vt:lpstr>PowerPoint Presentation</vt:lpstr>
      <vt:lpstr>PowerPoint Presentation</vt:lpstr>
      <vt:lpstr> Hume-Rothery Rules </vt:lpstr>
      <vt:lpstr>PowerPoint Presentation</vt:lpstr>
      <vt:lpstr>Hume-Rothery Rules </vt:lpstr>
      <vt:lpstr>Solid solutions  </vt:lpstr>
      <vt:lpstr>Phase </vt:lpstr>
      <vt:lpstr>PowerPoint Presentation</vt:lpstr>
      <vt:lpstr>PowerPoint Presentation</vt:lpstr>
      <vt:lpstr>Metals crystal structure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PC-12</dc:creator>
  <cp:lastModifiedBy>PC-12</cp:lastModifiedBy>
  <cp:revision>215</cp:revision>
  <dcterms:created xsi:type="dcterms:W3CDTF">2024-02-26T05:27:05Z</dcterms:created>
  <dcterms:modified xsi:type="dcterms:W3CDTF">2025-04-23T03:18:29Z</dcterms:modified>
</cp:coreProperties>
</file>