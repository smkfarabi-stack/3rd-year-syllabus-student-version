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73"/>
  </p:notesMasterIdLst>
  <p:sldIdLst>
    <p:sldId id="256" r:id="rId2"/>
    <p:sldId id="293" r:id="rId3"/>
    <p:sldId id="294" r:id="rId4"/>
    <p:sldId id="302" r:id="rId5"/>
    <p:sldId id="303" r:id="rId6"/>
    <p:sldId id="296" r:id="rId7"/>
    <p:sldId id="295" r:id="rId8"/>
    <p:sldId id="297" r:id="rId9"/>
    <p:sldId id="298" r:id="rId10"/>
    <p:sldId id="299" r:id="rId11"/>
    <p:sldId id="307" r:id="rId12"/>
    <p:sldId id="291" r:id="rId13"/>
    <p:sldId id="288" r:id="rId14"/>
    <p:sldId id="305" r:id="rId15"/>
    <p:sldId id="289" r:id="rId16"/>
    <p:sldId id="290" r:id="rId17"/>
    <p:sldId id="292" r:id="rId18"/>
    <p:sldId id="259" r:id="rId19"/>
    <p:sldId id="260" r:id="rId20"/>
    <p:sldId id="261" r:id="rId21"/>
    <p:sldId id="262" r:id="rId22"/>
    <p:sldId id="264" r:id="rId23"/>
    <p:sldId id="265" r:id="rId24"/>
    <p:sldId id="266" r:id="rId25"/>
    <p:sldId id="300" r:id="rId26"/>
    <p:sldId id="301" r:id="rId27"/>
    <p:sldId id="268" r:id="rId28"/>
    <p:sldId id="269" r:id="rId29"/>
    <p:sldId id="308" r:id="rId30"/>
    <p:sldId id="309" r:id="rId31"/>
    <p:sldId id="270" r:id="rId32"/>
    <p:sldId id="271" r:id="rId33"/>
    <p:sldId id="272" r:id="rId34"/>
    <p:sldId id="273" r:id="rId35"/>
    <p:sldId id="274" r:id="rId36"/>
    <p:sldId id="275" r:id="rId37"/>
    <p:sldId id="310" r:id="rId38"/>
    <p:sldId id="340" r:id="rId39"/>
    <p:sldId id="341" r:id="rId40"/>
    <p:sldId id="342" r:id="rId41"/>
    <p:sldId id="343" r:id="rId42"/>
    <p:sldId id="344" r:id="rId43"/>
    <p:sldId id="345" r:id="rId44"/>
    <p:sldId id="346" r:id="rId45"/>
    <p:sldId id="316" r:id="rId46"/>
    <p:sldId id="317" r:id="rId47"/>
    <p:sldId id="318" r:id="rId48"/>
    <p:sldId id="313" r:id="rId49"/>
    <p:sldId id="319" r:id="rId50"/>
    <p:sldId id="320" r:id="rId51"/>
    <p:sldId id="321" r:id="rId52"/>
    <p:sldId id="322" r:id="rId53"/>
    <p:sldId id="323" r:id="rId54"/>
    <p:sldId id="324" r:id="rId55"/>
    <p:sldId id="325" r:id="rId56"/>
    <p:sldId id="326" r:id="rId57"/>
    <p:sldId id="327" r:id="rId58"/>
    <p:sldId id="328" r:id="rId59"/>
    <p:sldId id="329" r:id="rId60"/>
    <p:sldId id="330" r:id="rId61"/>
    <p:sldId id="331" r:id="rId62"/>
    <p:sldId id="332" r:id="rId63"/>
    <p:sldId id="333" r:id="rId64"/>
    <p:sldId id="334" r:id="rId65"/>
    <p:sldId id="335" r:id="rId66"/>
    <p:sldId id="336" r:id="rId67"/>
    <p:sldId id="337" r:id="rId68"/>
    <p:sldId id="338" r:id="rId69"/>
    <p:sldId id="339" r:id="rId70"/>
    <p:sldId id="314" r:id="rId71"/>
    <p:sldId id="315" r:id="rId7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6600CC"/>
    <a:srgbClr val="CC00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54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9DA4FBC-93B1-4D6A-8B6B-A1B4FFECD3C5}" type="datetimeFigureOut">
              <a:rPr lang="en-US" smtClean="0"/>
              <a:t>3/14/2023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E1A7CE-8E21-4994-8E46-066A3FE39C52}" type="slidenum">
              <a:rPr lang="en-US" smtClean="0"/>
              <a:t>‹#›</a:t>
            </a:fld>
            <a:endParaRPr lang="en-US"/>
          </a:p>
        </p:txBody>
      </p:sp>
    </p:spTree>
    <p:extLst>
      <p:ext uri="{BB962C8B-B14F-4D97-AF65-F5344CB8AC3E}">
        <p14:creationId xmlns:p14="http://schemas.microsoft.com/office/powerpoint/2010/main" val="751946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773B302A-D295-4482-8050-0608636D36B9}" type="slidenum">
              <a:rPr lang="en-US" sz="1200"/>
              <a:pPr eaLnBrk="1" hangingPunct="1"/>
              <a:t>45</a:t>
            </a:fld>
            <a:endParaRPr lang="en-US" sz="1200"/>
          </a:p>
        </p:txBody>
      </p:sp>
      <p:sp>
        <p:nvSpPr>
          <p:cNvPr id="27651" name="Rectangle 2"/>
          <p:cNvSpPr>
            <a:spLocks noRo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A0245373-8553-44F7-94C5-7D288F6B9813}" type="slidenum">
              <a:rPr lang="en-US" sz="1200"/>
              <a:pPr eaLnBrk="1" hangingPunct="1"/>
              <a:t>46</a:t>
            </a:fld>
            <a:endParaRPr lang="en-US" sz="1200"/>
          </a:p>
        </p:txBody>
      </p:sp>
      <p:sp>
        <p:nvSpPr>
          <p:cNvPr id="28675" name="Rectangle 2"/>
          <p:cNvSpPr>
            <a:spLocks noRo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A0679A84-00D8-4148-980C-9F35290DAC97}" type="slidenum">
              <a:rPr lang="en-US" sz="1200"/>
              <a:pPr eaLnBrk="1" hangingPunct="1"/>
              <a:t>47</a:t>
            </a:fld>
            <a:endParaRPr lang="en-US" sz="1200"/>
          </a:p>
        </p:txBody>
      </p:sp>
      <p:sp>
        <p:nvSpPr>
          <p:cNvPr id="29699" name="Rectangle 2"/>
          <p:cNvSpPr>
            <a:spLocks noRo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BF182D6B-1CA5-46ED-907C-FF173A96CC31}" type="slidenum">
              <a:rPr lang="en-US" sz="1200"/>
              <a:pPr eaLnBrk="1" hangingPunct="1"/>
              <a:t>49</a:t>
            </a:fld>
            <a:endParaRPr lang="en-US" sz="1200"/>
          </a:p>
        </p:txBody>
      </p:sp>
      <p:sp>
        <p:nvSpPr>
          <p:cNvPr id="30723" name="Rectangle 2"/>
          <p:cNvSpPr>
            <a:spLocks noRo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06C96C0B-F50A-4104-8A1E-A29A43239941}" type="slidenum">
              <a:rPr lang="en-US" sz="1200"/>
              <a:pPr eaLnBrk="1" hangingPunct="1"/>
              <a:t>50</a:t>
            </a:fld>
            <a:endParaRPr lang="en-US" sz="1200"/>
          </a:p>
        </p:txBody>
      </p:sp>
      <p:sp>
        <p:nvSpPr>
          <p:cNvPr id="31747" name="Rectangle 2"/>
          <p:cNvSpPr>
            <a:spLocks noRo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2316CC6D-FF97-477A-8AB3-7A46573CB571}" type="slidenum">
              <a:rPr lang="en-US" sz="1200"/>
              <a:pPr eaLnBrk="1" hangingPunct="1"/>
              <a:t>51</a:t>
            </a:fld>
            <a:endParaRPr lang="en-US" sz="1200"/>
          </a:p>
        </p:txBody>
      </p:sp>
      <p:sp>
        <p:nvSpPr>
          <p:cNvPr id="32771" name="Rectangle 2"/>
          <p:cNvSpPr>
            <a:spLocks noRo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F107634D-38AA-43AB-9F33-C0B6176D5856}" type="slidenum">
              <a:rPr lang="en-US" sz="1200"/>
              <a:pPr eaLnBrk="1" hangingPunct="1"/>
              <a:t>52</a:t>
            </a:fld>
            <a:endParaRPr lang="en-US" sz="1200"/>
          </a:p>
        </p:txBody>
      </p:sp>
      <p:sp>
        <p:nvSpPr>
          <p:cNvPr id="33795" name="Rectangle 2"/>
          <p:cNvSpPr>
            <a:spLocks noRo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30F5DFCA-035E-4CAC-A0CA-E096A6BC9AF8}" type="slidenum">
              <a:rPr lang="en-US" sz="1200"/>
              <a:pPr eaLnBrk="1" hangingPunct="1"/>
              <a:t>53</a:t>
            </a:fld>
            <a:endParaRPr lang="en-US" sz="1200"/>
          </a:p>
        </p:txBody>
      </p:sp>
      <p:sp>
        <p:nvSpPr>
          <p:cNvPr id="34819" name="Rectangle 2"/>
          <p:cNvSpPr>
            <a:spLocks noRo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BF66EE2F-5C1E-4BD0-9DBD-1BB1A77F2D1A}" type="slidenum">
              <a:rPr lang="en-US" sz="1200"/>
              <a:pPr eaLnBrk="1" hangingPunct="1"/>
              <a:t>54</a:t>
            </a:fld>
            <a:endParaRPr lang="en-US" sz="1200"/>
          </a:p>
        </p:txBody>
      </p:sp>
      <p:sp>
        <p:nvSpPr>
          <p:cNvPr id="35843" name="Rectangle 2"/>
          <p:cNvSpPr>
            <a:spLocks noRo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2095B4B7-2481-4E0C-A9A1-68514BE5EA01}" type="slidenum">
              <a:rPr lang="en-US" sz="1200"/>
              <a:pPr eaLnBrk="1" hangingPunct="1"/>
              <a:t>55</a:t>
            </a:fld>
            <a:endParaRPr lang="en-US" sz="1200"/>
          </a:p>
        </p:txBody>
      </p:sp>
      <p:sp>
        <p:nvSpPr>
          <p:cNvPr id="36867" name="Rectangle 2"/>
          <p:cNvSpPr>
            <a:spLocks noRot="1" noChangeArrowheads="1" noTextEdit="1"/>
          </p:cNvSpPr>
          <p:nvPr>
            <p:ph type="sldImg"/>
          </p:nvPr>
        </p:nvSpPr>
        <p:spPr>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C984BA3C-7B13-4BC6-BC3C-08C90430906E}" type="slidenum">
              <a:rPr lang="en-US" sz="1200"/>
              <a:pPr eaLnBrk="1" hangingPunct="1"/>
              <a:t>56</a:t>
            </a:fld>
            <a:endParaRPr lang="en-US" sz="1200"/>
          </a:p>
        </p:txBody>
      </p:sp>
      <p:sp>
        <p:nvSpPr>
          <p:cNvPr id="37891" name="Rectangle 2"/>
          <p:cNvSpPr>
            <a:spLocks noRo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32B407EB-E022-406B-BD0A-DC1C8BF1F4E3}" type="slidenum">
              <a:rPr lang="en-US" sz="1200"/>
              <a:pPr eaLnBrk="1" hangingPunct="1"/>
              <a:t>57</a:t>
            </a:fld>
            <a:endParaRPr lang="en-US" sz="1200"/>
          </a:p>
        </p:txBody>
      </p:sp>
      <p:sp>
        <p:nvSpPr>
          <p:cNvPr id="38915" name="Rectangle 2"/>
          <p:cNvSpPr>
            <a:spLocks noRot="1" noChangeArrowheads="1" noTextEdit="1"/>
          </p:cNvSpPr>
          <p:nvPr>
            <p:ph type="sldImg"/>
          </p:nvPr>
        </p:nvSpPr>
        <p:spPr>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8127160B-2B01-4018-B919-6C75625B5555}" type="slidenum">
              <a:rPr lang="en-US" sz="1200"/>
              <a:pPr eaLnBrk="1" hangingPunct="1"/>
              <a:t>58</a:t>
            </a:fld>
            <a:endParaRPr lang="en-US" sz="1200"/>
          </a:p>
        </p:txBody>
      </p:sp>
      <p:sp>
        <p:nvSpPr>
          <p:cNvPr id="39939" name="Rectangle 2"/>
          <p:cNvSpPr>
            <a:spLocks noRo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B64866F7-E729-44D6-A233-A6AE7EA0FAC7}" type="slidenum">
              <a:rPr lang="en-US" sz="1200"/>
              <a:pPr eaLnBrk="1" hangingPunct="1"/>
              <a:t>59</a:t>
            </a:fld>
            <a:endParaRPr lang="en-US" sz="1200"/>
          </a:p>
        </p:txBody>
      </p:sp>
      <p:sp>
        <p:nvSpPr>
          <p:cNvPr id="40963" name="Rectangle 2"/>
          <p:cNvSpPr>
            <a:spLocks noRo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E30C77D9-0FC9-4853-BC93-E989D7F4B086}" type="slidenum">
              <a:rPr lang="en-US" sz="1200"/>
              <a:pPr eaLnBrk="1" hangingPunct="1"/>
              <a:t>60</a:t>
            </a:fld>
            <a:endParaRPr lang="en-US" sz="1200"/>
          </a:p>
        </p:txBody>
      </p:sp>
      <p:sp>
        <p:nvSpPr>
          <p:cNvPr id="41987" name="Rectangle 2"/>
          <p:cNvSpPr>
            <a:spLocks noRo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1175F4BE-C80D-4B40-8DD2-96ED8279D033}" type="slidenum">
              <a:rPr lang="en-US" sz="1200"/>
              <a:pPr eaLnBrk="1" hangingPunct="1"/>
              <a:t>61</a:t>
            </a:fld>
            <a:endParaRPr lang="en-US" sz="1200"/>
          </a:p>
        </p:txBody>
      </p:sp>
      <p:sp>
        <p:nvSpPr>
          <p:cNvPr id="43011" name="Rectangle 2"/>
          <p:cNvSpPr>
            <a:spLocks noRo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CE68F7AD-FB56-47C1-B2A7-DCB6E17B68ED}" type="slidenum">
              <a:rPr lang="en-US" sz="1200"/>
              <a:pPr eaLnBrk="1" hangingPunct="1"/>
              <a:t>62</a:t>
            </a:fld>
            <a:endParaRPr lang="en-US" sz="1200"/>
          </a:p>
        </p:txBody>
      </p:sp>
      <p:sp>
        <p:nvSpPr>
          <p:cNvPr id="44035" name="Rectangle 2"/>
          <p:cNvSpPr>
            <a:spLocks noRo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B57A1B9C-BD25-456D-9163-8313F004DD68}" type="slidenum">
              <a:rPr lang="en-US" sz="1200"/>
              <a:pPr eaLnBrk="1" hangingPunct="1"/>
              <a:t>63</a:t>
            </a:fld>
            <a:endParaRPr lang="en-US" sz="1200"/>
          </a:p>
        </p:txBody>
      </p:sp>
      <p:sp>
        <p:nvSpPr>
          <p:cNvPr id="45059" name="Rectangle 2"/>
          <p:cNvSpPr>
            <a:spLocks noRo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F5FD5C7F-C8F5-4E37-B11F-9711EF86F52A}" type="slidenum">
              <a:rPr lang="en-US" sz="1200"/>
              <a:pPr eaLnBrk="1" hangingPunct="1"/>
              <a:t>64</a:t>
            </a:fld>
            <a:endParaRPr lang="en-US" sz="1200"/>
          </a:p>
        </p:txBody>
      </p:sp>
      <p:sp>
        <p:nvSpPr>
          <p:cNvPr id="46083" name="Rectangle 2"/>
          <p:cNvSpPr>
            <a:spLocks noRo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E4B219A2-6D59-438B-B48D-20CB292FC252}" type="slidenum">
              <a:rPr lang="en-US" sz="1200"/>
              <a:pPr eaLnBrk="1" hangingPunct="1"/>
              <a:t>66</a:t>
            </a:fld>
            <a:endParaRPr lang="en-US" sz="1200"/>
          </a:p>
        </p:txBody>
      </p:sp>
      <p:sp>
        <p:nvSpPr>
          <p:cNvPr id="47107" name="Rectangle 2"/>
          <p:cNvSpPr>
            <a:spLocks noRo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AD22F5C3-E5DD-4883-B32E-1D3FB1C2787D}" type="slidenum">
              <a:rPr lang="en-US" sz="1200"/>
              <a:pPr eaLnBrk="1" hangingPunct="1"/>
              <a:t>67</a:t>
            </a:fld>
            <a:endParaRPr lang="en-US" sz="1200"/>
          </a:p>
        </p:txBody>
      </p:sp>
      <p:sp>
        <p:nvSpPr>
          <p:cNvPr id="48131" name="Rectangle 2"/>
          <p:cNvSpPr>
            <a:spLocks noRo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E5C9D99D-F2BA-48C8-AB28-A6386FD2D40C}" type="slidenum">
              <a:rPr lang="en-US" sz="1200"/>
              <a:pPr eaLnBrk="1" hangingPunct="1"/>
              <a:t>68</a:t>
            </a:fld>
            <a:endParaRPr lang="en-US" sz="1200"/>
          </a:p>
        </p:txBody>
      </p:sp>
      <p:sp>
        <p:nvSpPr>
          <p:cNvPr id="49155" name="Rectangle 2"/>
          <p:cNvSpPr>
            <a:spLocks noRo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9B21EF4A-D65A-4A41-A764-3B1B96E4C06E}" type="slidenum">
              <a:rPr lang="en-US" sz="1200"/>
              <a:pPr eaLnBrk="1" hangingPunct="1"/>
              <a:t>69</a:t>
            </a:fld>
            <a:endParaRPr lang="en-US" sz="1200"/>
          </a:p>
        </p:txBody>
      </p:sp>
      <p:sp>
        <p:nvSpPr>
          <p:cNvPr id="50179" name="Rectangle 2"/>
          <p:cNvSpPr>
            <a:spLocks noRo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ED8B82D6-A190-47B1-B470-CA25CF0A0554}" type="datetimeFigureOut">
              <a:rPr lang="en-US" smtClean="0"/>
              <a:pPr/>
              <a:t>3/14/2023</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283FAD63-5B90-4B5A-8F3D-867CEC5916E4}"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ED8B82D6-A190-47B1-B470-CA25CF0A0554}" type="datetimeFigureOut">
              <a:rPr lang="en-US" smtClean="0"/>
              <a:pPr/>
              <a:t>3/14/2023</a:t>
            </a:fld>
            <a:endParaRPr lang="en-US"/>
          </a:p>
        </p:txBody>
      </p:sp>
      <p:sp>
        <p:nvSpPr>
          <p:cNvPr id="9" name="Slide Number Placeholder 8"/>
          <p:cNvSpPr>
            <a:spLocks noGrp="1"/>
          </p:cNvSpPr>
          <p:nvPr>
            <p:ph type="sldNum" sz="quarter" idx="15"/>
          </p:nvPr>
        </p:nvSpPr>
        <p:spPr/>
        <p:txBody>
          <a:bodyPr rtlCol="0"/>
          <a:lstStyle/>
          <a:p>
            <a:fld id="{283FAD63-5B90-4B5A-8F3D-867CEC5916E4}"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ED8B82D6-A190-47B1-B470-CA25CF0A0554}" type="datetimeFigureOut">
              <a:rPr lang="en-US" smtClean="0"/>
              <a:pPr/>
              <a:t>3/14/2023</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283FAD63-5B90-4B5A-8F3D-867CEC5916E4}"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ED8B82D6-A190-47B1-B470-CA25CF0A0554}" type="datetimeFigureOut">
              <a:rPr lang="en-US" smtClean="0"/>
              <a:pPr/>
              <a:t>3/14/2023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3FAD63-5B90-4B5A-8F3D-867CEC5916E4}"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ED8B82D6-A190-47B1-B470-CA25CF0A0554}" type="datetimeFigureOut">
              <a:rPr lang="en-US" smtClean="0"/>
              <a:pPr/>
              <a:t>3/14/2023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3FAD63-5B90-4B5A-8F3D-867CEC5916E4}"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ED8B82D6-A190-47B1-B470-CA25CF0A0554}" type="datetimeFigureOut">
              <a:rPr lang="en-US" smtClean="0"/>
              <a:pPr/>
              <a:t>3/14/2023</a:t>
            </a:fld>
            <a:endParaRPr lang="en-US"/>
          </a:p>
        </p:txBody>
      </p:sp>
      <p:sp>
        <p:nvSpPr>
          <p:cNvPr id="7" name="Slide Number Placeholder 6"/>
          <p:cNvSpPr>
            <a:spLocks noGrp="1"/>
          </p:cNvSpPr>
          <p:nvPr>
            <p:ph type="sldNum" sz="quarter" idx="11"/>
          </p:nvPr>
        </p:nvSpPr>
        <p:spPr/>
        <p:txBody>
          <a:bodyPr rtlCol="0"/>
          <a:lstStyle/>
          <a:p>
            <a:fld id="{283FAD63-5B90-4B5A-8F3D-867CEC5916E4}"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8B82D6-A190-47B1-B470-CA25CF0A0554}" type="datetimeFigureOut">
              <a:rPr lang="en-US" smtClean="0"/>
              <a:pPr/>
              <a:t>3/14/2023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3FAD63-5B90-4B5A-8F3D-867CEC5916E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ED8B82D6-A190-47B1-B470-CA25CF0A0554}" type="datetimeFigureOut">
              <a:rPr lang="en-US" smtClean="0"/>
              <a:pPr/>
              <a:t>3/14/2023</a:t>
            </a:fld>
            <a:endParaRPr lang="en-US"/>
          </a:p>
        </p:txBody>
      </p:sp>
      <p:sp>
        <p:nvSpPr>
          <p:cNvPr id="22" name="Slide Number Placeholder 21"/>
          <p:cNvSpPr>
            <a:spLocks noGrp="1"/>
          </p:cNvSpPr>
          <p:nvPr>
            <p:ph type="sldNum" sz="quarter" idx="15"/>
          </p:nvPr>
        </p:nvSpPr>
        <p:spPr/>
        <p:txBody>
          <a:bodyPr rtlCol="0"/>
          <a:lstStyle/>
          <a:p>
            <a:fld id="{283FAD63-5B90-4B5A-8F3D-867CEC5916E4}"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ED8B82D6-A190-47B1-B470-CA25CF0A0554}" type="datetimeFigureOut">
              <a:rPr lang="en-US" smtClean="0"/>
              <a:pPr/>
              <a:t>3/14/2023</a:t>
            </a:fld>
            <a:endParaRPr lang="en-US"/>
          </a:p>
        </p:txBody>
      </p:sp>
      <p:sp>
        <p:nvSpPr>
          <p:cNvPr id="18" name="Slide Number Placeholder 17"/>
          <p:cNvSpPr>
            <a:spLocks noGrp="1"/>
          </p:cNvSpPr>
          <p:nvPr>
            <p:ph type="sldNum" sz="quarter" idx="11"/>
          </p:nvPr>
        </p:nvSpPr>
        <p:spPr/>
        <p:txBody>
          <a:bodyPr rtlCol="0"/>
          <a:lstStyle/>
          <a:p>
            <a:fld id="{283FAD63-5B90-4B5A-8F3D-867CEC5916E4}"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D8B82D6-A190-47B1-B470-CA25CF0A0554}" type="datetimeFigureOut">
              <a:rPr lang="en-US" smtClean="0"/>
              <a:pPr/>
              <a:t>3/14/2023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3FAD63-5B90-4B5A-8F3D-867CEC5916E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D8B82D6-A190-47B1-B470-CA25CF0A0554}" type="datetimeFigureOut">
              <a:rPr lang="en-US" smtClean="0"/>
              <a:pPr/>
              <a:t>3/14/2023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3FAD63-5B90-4B5A-8F3D-867CEC5916E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ED8B82D6-A190-47B1-B470-CA25CF0A0554}" type="datetimeFigureOut">
              <a:rPr lang="en-US" smtClean="0"/>
              <a:pPr/>
              <a:t>3/14/2023</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283FAD63-5B90-4B5A-8F3D-867CEC5916E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amiah@juniv.edu" TargetMode="External"/><Relationship Id="rId2" Type="http://schemas.openxmlformats.org/officeDocument/2006/relationships/hyperlink" Target="mailto:mamiah@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byjus.com/physics/what-are-energy-band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www.differencebetween.com/difference-between-atom-and-vs-ion-2/" TargetMode="External"/><Relationship Id="rId2" Type="http://schemas.openxmlformats.org/officeDocument/2006/relationships/hyperlink" Target="https://www.differencebetween.com/difference-between-lattice-and-vs-crystal/"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9.w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33.wmf"/><Relationship Id="rId4" Type="http://schemas.openxmlformats.org/officeDocument/2006/relationships/image" Target="../media/image32.wmf"/></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video" Target="file:///C:\files%20to%20transfer\callister,%20fund%202e\callister%202e%20ppt\chptr5_ppt\4_7.avi" TargetMode="External"/><Relationship Id="rId5" Type="http://schemas.openxmlformats.org/officeDocument/2006/relationships/image" Target="../media/image35.png"/><Relationship Id="rId4" Type="http://schemas.openxmlformats.org/officeDocument/2006/relationships/image" Target="../media/image34.wmf"/></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6.wmf"/><Relationship Id="rId5" Type="http://schemas.openxmlformats.org/officeDocument/2006/relationships/oleObject" Target="../embeddings/oleObject1.bin"/><Relationship Id="rId4" Type="http://schemas.openxmlformats.org/officeDocument/2006/relationships/image" Target="../media/image37.wmf"/></Relationships>
</file>

<file path=ppt/slides/_rels/slide53.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40.wmf"/><Relationship Id="rId4" Type="http://schemas.openxmlformats.org/officeDocument/2006/relationships/image" Target="../media/image39.wmf"/></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video" Target="file:///C:\files%20to%20transfer\callister,%20fund%202e\callister%202e%20ppt\chptr5_ppt\4_9.avi" TargetMode="External"/><Relationship Id="rId4" Type="http://schemas.openxmlformats.org/officeDocument/2006/relationships/image" Target="../media/image41.png"/></Relationships>
</file>

<file path=ppt/slides/_rels/slide55.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44.wmf"/><Relationship Id="rId4" Type="http://schemas.openxmlformats.org/officeDocument/2006/relationships/image" Target="../media/image43.wmf"/></Relationships>
</file>

<file path=ppt/slides/_rels/slide56.xml.rels><?xml version="1.0" encoding="UTF-8" standalone="yes"?>
<Relationships xmlns="http://schemas.openxmlformats.org/package/2006/relationships"><Relationship Id="rId3" Type="http://schemas.openxmlformats.org/officeDocument/2006/relationships/image" Target="../media/image45.wmf"/><Relationship Id="rId7" Type="http://schemas.openxmlformats.org/officeDocument/2006/relationships/image" Target="../media/image49.wmf"/><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8.wmf"/><Relationship Id="rId5" Type="http://schemas.openxmlformats.org/officeDocument/2006/relationships/image" Target="../media/image47.wmf"/><Relationship Id="rId4" Type="http://schemas.openxmlformats.org/officeDocument/2006/relationships/image" Target="../media/image46.wmf"/></Relationships>
</file>

<file path=ppt/slides/_rels/slide57.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51.wmf"/></Relationships>
</file>

<file path=ppt/slides/_rels/slide58.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video" Target="file:///D:\4_13.avi" TargetMode="External"/><Relationship Id="rId4" Type="http://schemas.openxmlformats.org/officeDocument/2006/relationships/image" Target="../media/image55.png"/></Relationships>
</file>

<file path=ppt/slides/_rels/slide62.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57.wmf"/></Relationships>
</file>

<file path=ppt/slides/_rels/slide6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63.wmf"/></Relationships>
</file>

<file path=ppt/slides/_rels/slide6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65.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85800" y="533400"/>
            <a:ext cx="7385355" cy="707886"/>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US" sz="4000" b="1" dirty="0" smtClean="0">
                <a:solidFill>
                  <a:srgbClr val="6600CC"/>
                </a:solidFill>
              </a:rPr>
              <a:t>The Band Theory of Solids </a:t>
            </a:r>
            <a:endParaRPr lang="en-US" sz="4000" b="1" dirty="0">
              <a:solidFill>
                <a:srgbClr val="6600CC"/>
              </a:solidFill>
            </a:endParaRPr>
          </a:p>
        </p:txBody>
      </p:sp>
      <p:sp>
        <p:nvSpPr>
          <p:cNvPr id="9" name="TextBox 8"/>
          <p:cNvSpPr txBox="1"/>
          <p:nvPr/>
        </p:nvSpPr>
        <p:spPr>
          <a:xfrm>
            <a:off x="1981200" y="1676400"/>
            <a:ext cx="5105400" cy="4370427"/>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sz="3200" b="1" dirty="0" smtClean="0">
                <a:solidFill>
                  <a:srgbClr val="CC00FF"/>
                </a:solidFill>
              </a:rPr>
              <a:t>Dr. Md. </a:t>
            </a:r>
            <a:r>
              <a:rPr lang="en-US" sz="3200" b="1" dirty="0" err="1" smtClean="0">
                <a:solidFill>
                  <a:srgbClr val="CC00FF"/>
                </a:solidFill>
              </a:rPr>
              <a:t>Arzu</a:t>
            </a:r>
            <a:r>
              <a:rPr lang="en-US" sz="3200" b="1" dirty="0" smtClean="0">
                <a:solidFill>
                  <a:srgbClr val="CC00FF"/>
                </a:solidFill>
              </a:rPr>
              <a:t> </a:t>
            </a:r>
            <a:r>
              <a:rPr lang="en-US" sz="3200" b="1" dirty="0" err="1" smtClean="0">
                <a:solidFill>
                  <a:srgbClr val="CC00FF"/>
                </a:solidFill>
              </a:rPr>
              <a:t>Miah</a:t>
            </a:r>
            <a:r>
              <a:rPr lang="en-US" sz="3200" b="1" dirty="0" smtClean="0">
                <a:solidFill>
                  <a:srgbClr val="CC00FF"/>
                </a:solidFill>
              </a:rPr>
              <a:t> </a:t>
            </a:r>
          </a:p>
          <a:p>
            <a:r>
              <a:rPr lang="en-US" sz="2400" b="1" dirty="0" smtClean="0">
                <a:solidFill>
                  <a:srgbClr val="CC00FF"/>
                </a:solidFill>
              </a:rPr>
              <a:t>Professor</a:t>
            </a:r>
          </a:p>
          <a:p>
            <a:r>
              <a:rPr lang="en-US" sz="2400" b="1" dirty="0" smtClean="0">
                <a:solidFill>
                  <a:srgbClr val="CC00FF"/>
                </a:solidFill>
              </a:rPr>
              <a:t>Department of Chemistry</a:t>
            </a:r>
          </a:p>
          <a:p>
            <a:r>
              <a:rPr lang="en-US" sz="2400" b="1" dirty="0" err="1" smtClean="0">
                <a:solidFill>
                  <a:srgbClr val="CC00FF"/>
                </a:solidFill>
              </a:rPr>
              <a:t>Jahangirnagar</a:t>
            </a:r>
            <a:r>
              <a:rPr lang="en-US" sz="2400" b="1" dirty="0" smtClean="0">
                <a:solidFill>
                  <a:srgbClr val="CC00FF"/>
                </a:solidFill>
              </a:rPr>
              <a:t> University</a:t>
            </a:r>
          </a:p>
          <a:p>
            <a:r>
              <a:rPr lang="en-US" sz="2400" b="1" dirty="0" err="1" smtClean="0">
                <a:solidFill>
                  <a:srgbClr val="CC00FF"/>
                </a:solidFill>
              </a:rPr>
              <a:t>Savar</a:t>
            </a:r>
            <a:r>
              <a:rPr lang="en-US" sz="2400" b="1" dirty="0" smtClean="0">
                <a:solidFill>
                  <a:srgbClr val="CC00FF"/>
                </a:solidFill>
              </a:rPr>
              <a:t>, Dhaka-1342</a:t>
            </a:r>
          </a:p>
          <a:p>
            <a:r>
              <a:rPr lang="en-US" sz="2400" b="1" dirty="0" smtClean="0">
                <a:solidFill>
                  <a:srgbClr val="CC00FF"/>
                </a:solidFill>
              </a:rPr>
              <a:t>Bangladesh</a:t>
            </a:r>
          </a:p>
          <a:p>
            <a:r>
              <a:rPr lang="en-US" sz="2400" b="1" dirty="0" smtClean="0">
                <a:solidFill>
                  <a:srgbClr val="CC00FF"/>
                </a:solidFill>
              </a:rPr>
              <a:t>Cell: 01732150725.</a:t>
            </a:r>
          </a:p>
          <a:p>
            <a:r>
              <a:rPr lang="en-US" sz="2400" b="1" dirty="0" smtClean="0">
                <a:solidFill>
                  <a:srgbClr val="CC00FF"/>
                </a:solidFill>
              </a:rPr>
              <a:t>Email: </a:t>
            </a:r>
            <a:r>
              <a:rPr lang="en-US" sz="2400" b="1" dirty="0" smtClean="0">
                <a:solidFill>
                  <a:srgbClr val="6600CC"/>
                </a:solidFill>
                <a:hlinkClick r:id="rId2"/>
              </a:rPr>
              <a:t>mamiah@gmail.com</a:t>
            </a:r>
            <a:endParaRPr lang="en-US" sz="2400" b="1" dirty="0" smtClean="0">
              <a:solidFill>
                <a:srgbClr val="6600CC"/>
              </a:solidFill>
            </a:endParaRPr>
          </a:p>
          <a:p>
            <a:r>
              <a:rPr lang="en-US" sz="2400" b="1" dirty="0" smtClean="0">
                <a:solidFill>
                  <a:srgbClr val="6600CC"/>
                </a:solidFill>
                <a:hlinkClick r:id="rId3"/>
              </a:rPr>
              <a:t>mamiah@juniv.edu</a:t>
            </a:r>
            <a:endParaRPr lang="en-US" sz="2400" b="1" dirty="0" smtClean="0">
              <a:solidFill>
                <a:srgbClr val="6600CC"/>
              </a:solidFill>
            </a:endParaRPr>
          </a:p>
          <a:p>
            <a:endParaRPr lang="en-US" dirty="0" smtClean="0"/>
          </a:p>
          <a:p>
            <a:endParaRPr lang="en-US" dirty="0" smtClean="0"/>
          </a:p>
          <a:p>
            <a:endParaRPr lang="en-US" dirty="0"/>
          </a:p>
        </p:txBody>
      </p:sp>
    </p:spTree>
  </p:cSld>
  <p:clrMapOvr>
    <a:masterClrMapping/>
  </p:clrMapOvr>
  <p:transition>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7467600" cy="944562"/>
          </a:xfrm>
        </p:spPr>
        <p:style>
          <a:lnRef idx="1">
            <a:schemeClr val="accent4"/>
          </a:lnRef>
          <a:fillRef idx="2">
            <a:schemeClr val="accent4"/>
          </a:fillRef>
          <a:effectRef idx="1">
            <a:schemeClr val="accent4"/>
          </a:effectRef>
          <a:fontRef idx="minor">
            <a:schemeClr val="dk1"/>
          </a:fontRef>
        </p:style>
        <p:txBody>
          <a:bodyPr>
            <a:normAutofit fontScale="90000"/>
          </a:bodyPr>
          <a:lstStyle/>
          <a:p>
            <a:r>
              <a:rPr lang="en-US" b="1" dirty="0" smtClean="0">
                <a:solidFill>
                  <a:srgbClr val="3333FF"/>
                </a:solidFill>
              </a:rPr>
              <a:t/>
            </a:r>
            <a:br>
              <a:rPr lang="en-US" b="1" dirty="0" smtClean="0">
                <a:solidFill>
                  <a:srgbClr val="3333FF"/>
                </a:solidFill>
              </a:rPr>
            </a:br>
            <a:r>
              <a:rPr lang="en-US" b="1" dirty="0" smtClean="0">
                <a:solidFill>
                  <a:srgbClr val="3333FF"/>
                </a:solidFill>
              </a:rPr>
              <a:t>    What is Band Theory of Solids?</a:t>
            </a:r>
            <a:br>
              <a:rPr lang="en-US" b="1" dirty="0" smtClean="0">
                <a:solidFill>
                  <a:srgbClr val="3333FF"/>
                </a:solidFill>
              </a:rPr>
            </a:br>
            <a:endParaRPr lang="en-US" dirty="0">
              <a:solidFill>
                <a:srgbClr val="3333FF"/>
              </a:solidFill>
            </a:endParaRPr>
          </a:p>
        </p:txBody>
      </p:sp>
      <p:sp>
        <p:nvSpPr>
          <p:cNvPr id="3" name="Content Placeholder 2"/>
          <p:cNvSpPr>
            <a:spLocks noGrp="1"/>
          </p:cNvSpPr>
          <p:nvPr>
            <p:ph sz="quarter" idx="1"/>
          </p:nvPr>
        </p:nvSpPr>
        <p:spPr>
          <a:xfrm>
            <a:off x="457200" y="1450848"/>
            <a:ext cx="7467600" cy="5407152"/>
          </a:xfrm>
        </p:spPr>
        <p:style>
          <a:lnRef idx="2">
            <a:schemeClr val="accent2"/>
          </a:lnRef>
          <a:fillRef idx="1">
            <a:schemeClr val="lt1"/>
          </a:fillRef>
          <a:effectRef idx="0">
            <a:schemeClr val="accent2"/>
          </a:effectRef>
          <a:fontRef idx="minor">
            <a:schemeClr val="dk1"/>
          </a:fontRef>
        </p:style>
        <p:txBody>
          <a:bodyPr>
            <a:normAutofit fontScale="85000" lnSpcReduction="10000"/>
          </a:bodyPr>
          <a:lstStyle/>
          <a:p>
            <a:pPr algn="just"/>
            <a:r>
              <a:rPr lang="en-US" dirty="0" smtClean="0">
                <a:solidFill>
                  <a:srgbClr val="FF00FF"/>
                </a:solidFill>
              </a:rPr>
              <a:t>This theory explains the quantum state that an electron takes inside metal solid. Every molecule comprises of various discrete energy levels. The way electrons behave inside a molecule is well explained through this theory.</a:t>
            </a:r>
          </a:p>
          <a:p>
            <a:pPr algn="just"/>
            <a:r>
              <a:rPr lang="en-US" b="1" dirty="0" smtClean="0">
                <a:solidFill>
                  <a:srgbClr val="6600CC"/>
                </a:solidFill>
              </a:rPr>
              <a:t>In atoms</a:t>
            </a:r>
            <a:r>
              <a:rPr lang="en-US" dirty="0" smtClean="0">
                <a:solidFill>
                  <a:srgbClr val="FF00FF"/>
                </a:solidFill>
              </a:rPr>
              <a:t>, electrons are filled in respective energy orbits following Pauli’s exclusion principle.</a:t>
            </a:r>
          </a:p>
          <a:p>
            <a:pPr algn="just"/>
            <a:endParaRPr lang="en-US" dirty="0" smtClean="0">
              <a:solidFill>
                <a:srgbClr val="FF00FF"/>
              </a:solidFill>
            </a:endParaRPr>
          </a:p>
          <a:p>
            <a:pPr algn="just"/>
            <a:r>
              <a:rPr lang="en-US" b="1" dirty="0" smtClean="0">
                <a:solidFill>
                  <a:srgbClr val="6600CC"/>
                </a:solidFill>
              </a:rPr>
              <a:t>In molecules</a:t>
            </a:r>
            <a:r>
              <a:rPr lang="en-US" dirty="0" smtClean="0">
                <a:solidFill>
                  <a:srgbClr val="FF00FF"/>
                </a:solidFill>
              </a:rPr>
              <a:t>, Two atomic </a:t>
            </a:r>
            <a:r>
              <a:rPr lang="en-US" dirty="0" err="1" smtClean="0">
                <a:solidFill>
                  <a:srgbClr val="FF00FF"/>
                </a:solidFill>
              </a:rPr>
              <a:t>orbitals</a:t>
            </a:r>
            <a:r>
              <a:rPr lang="en-US" dirty="0" smtClean="0">
                <a:solidFill>
                  <a:srgbClr val="FF00FF"/>
                </a:solidFill>
              </a:rPr>
              <a:t> combine together to form a molecular orbital with two distinct energy levels.</a:t>
            </a:r>
          </a:p>
          <a:p>
            <a:pPr algn="just"/>
            <a:endParaRPr lang="en-US" dirty="0" smtClean="0">
              <a:solidFill>
                <a:srgbClr val="FF00FF"/>
              </a:solidFill>
            </a:endParaRPr>
          </a:p>
          <a:p>
            <a:pPr algn="just"/>
            <a:r>
              <a:rPr lang="en-US" b="1" dirty="0" smtClean="0">
                <a:solidFill>
                  <a:srgbClr val="6600CC"/>
                </a:solidFill>
              </a:rPr>
              <a:t>In solids, </a:t>
            </a:r>
            <a:r>
              <a:rPr lang="en-US" dirty="0" smtClean="0">
                <a:solidFill>
                  <a:srgbClr val="3333FF"/>
                </a:solidFill>
              </a:rPr>
              <a:t>10</a:t>
            </a:r>
            <a:r>
              <a:rPr lang="en-US" baseline="30000" dirty="0" smtClean="0">
                <a:solidFill>
                  <a:srgbClr val="3333FF"/>
                </a:solidFill>
              </a:rPr>
              <a:t>23</a:t>
            </a:r>
            <a:r>
              <a:rPr lang="en-US" dirty="0" smtClean="0">
                <a:solidFill>
                  <a:srgbClr val="FF00FF"/>
                </a:solidFill>
              </a:rPr>
              <a:t> stacked up lines confined in a tiny space would look like a band. Thereby forming energy continuum called energy </a:t>
            </a:r>
            <a:r>
              <a:rPr lang="en-US" dirty="0" smtClean="0">
                <a:solidFill>
                  <a:srgbClr val="3333FF"/>
                </a:solidFill>
              </a:rPr>
              <a:t>bands.</a:t>
            </a:r>
          </a:p>
          <a:p>
            <a:pPr algn="just"/>
            <a:r>
              <a:rPr lang="en-US" dirty="0" smtClean="0">
                <a:solidFill>
                  <a:srgbClr val="FF00FF"/>
                </a:solidFill>
              </a:rPr>
              <a:t>This theory helps to </a:t>
            </a:r>
            <a:r>
              <a:rPr lang="en-US" dirty="0" err="1" smtClean="0">
                <a:solidFill>
                  <a:srgbClr val="FF00FF"/>
                </a:solidFill>
              </a:rPr>
              <a:t>visualise</a:t>
            </a:r>
            <a:r>
              <a:rPr lang="en-US" dirty="0" smtClean="0">
                <a:solidFill>
                  <a:srgbClr val="FF00FF"/>
                </a:solidFill>
              </a:rPr>
              <a:t> the difference between </a:t>
            </a:r>
            <a:r>
              <a:rPr lang="en-US" b="1" dirty="0" smtClean="0">
                <a:solidFill>
                  <a:srgbClr val="00B050"/>
                </a:solidFill>
              </a:rPr>
              <a:t>conductor, semiconductor and an insulator </a:t>
            </a:r>
            <a:r>
              <a:rPr lang="en-US" dirty="0" smtClean="0">
                <a:solidFill>
                  <a:srgbClr val="FF00FF"/>
                </a:solidFill>
              </a:rPr>
              <a:t>by plotting available energies for an electron in a material.</a:t>
            </a:r>
          </a:p>
          <a:p>
            <a:pPr algn="just"/>
            <a:endParaRPr lang="en-US" dirty="0">
              <a:solidFill>
                <a:srgbClr val="FF00FF"/>
              </a:solidFill>
            </a:endParaRPr>
          </a:p>
        </p:txBody>
      </p:sp>
    </p:spTree>
  </p:cSld>
  <p:clrMapOvr>
    <a:masterClrMapping/>
  </p:clrMapOvr>
  <p:transition>
    <p:dissolv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578" name="Picture 2"/>
          <p:cNvPicPr>
            <a:picLocks noGrp="1" noChangeAspect="1" noChangeArrowheads="1"/>
          </p:cNvPicPr>
          <p:nvPr>
            <p:ph sz="quarter" idx="1"/>
          </p:nvPr>
        </p:nvPicPr>
        <p:blipFill>
          <a:blip r:embed="rId2"/>
          <a:srcRect/>
          <a:stretch>
            <a:fillRect/>
          </a:stretch>
        </p:blipFill>
        <p:spPr bwMode="auto">
          <a:xfrm>
            <a:off x="533400" y="2438400"/>
            <a:ext cx="7543800" cy="3505200"/>
          </a:xfrm>
          <a:prstGeom prst="rect">
            <a:avLst/>
          </a:prstGeom>
          <a:ln>
            <a:headEnd/>
            <a:tailEnd/>
          </a:ln>
        </p:spPr>
        <p:style>
          <a:lnRef idx="2">
            <a:schemeClr val="accent2"/>
          </a:lnRef>
          <a:fillRef idx="1">
            <a:schemeClr val="lt1"/>
          </a:fillRef>
          <a:effectRef idx="0">
            <a:schemeClr val="accent2"/>
          </a:effectRef>
          <a:fontRef idx="minor">
            <a:schemeClr val="dk1"/>
          </a:fontRef>
        </p:style>
      </p:pic>
      <p:sp>
        <p:nvSpPr>
          <p:cNvPr id="5" name="Rectangle 4"/>
          <p:cNvSpPr/>
          <p:nvPr/>
        </p:nvSpPr>
        <p:spPr>
          <a:xfrm>
            <a:off x="609600" y="1600200"/>
            <a:ext cx="7162800"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dirty="0" smtClean="0">
                <a:solidFill>
                  <a:srgbClr val="3333FF"/>
                </a:solidFill>
              </a:rPr>
              <a:t>Consider a Sodium a atom. It comprises of 11 electrons. They fill up energy level following Pauli’s exclusion principle</a:t>
            </a:r>
            <a:endParaRPr lang="en-US" dirty="0">
              <a:solidFill>
                <a:srgbClr val="3333FF"/>
              </a:solidFill>
            </a:endParaRPr>
          </a:p>
        </p:txBody>
      </p:sp>
      <p:sp>
        <p:nvSpPr>
          <p:cNvPr id="9" name="Title 1"/>
          <p:cNvSpPr>
            <a:spLocks noGrp="1"/>
          </p:cNvSpPr>
          <p:nvPr>
            <p:ph type="title"/>
          </p:nvPr>
        </p:nvSpPr>
        <p:spPr>
          <a:xfrm>
            <a:off x="609600" y="228600"/>
            <a:ext cx="7239000" cy="1143000"/>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sz="2700" b="1" dirty="0" smtClean="0">
                <a:solidFill>
                  <a:srgbClr val="CC00FF"/>
                </a:solidFill>
              </a:rPr>
              <a:t/>
            </a:r>
            <a:br>
              <a:rPr lang="en-US" sz="2700" b="1" dirty="0" smtClean="0">
                <a:solidFill>
                  <a:srgbClr val="CC00FF"/>
                </a:solidFill>
              </a:rPr>
            </a:br>
            <a:r>
              <a:rPr lang="en-US" sz="2700" b="1" dirty="0" smtClean="0">
                <a:solidFill>
                  <a:srgbClr val="CC00FF"/>
                </a:solidFill>
              </a:rPr>
              <a:t/>
            </a:r>
            <a:br>
              <a:rPr lang="en-US" sz="2700" b="1" dirty="0" smtClean="0">
                <a:solidFill>
                  <a:srgbClr val="CC00FF"/>
                </a:solidFill>
              </a:rPr>
            </a:br>
            <a:r>
              <a:rPr lang="en-US" sz="3600" b="1" dirty="0" smtClean="0">
                <a:solidFill>
                  <a:srgbClr val="CC00FF"/>
                </a:solidFill>
              </a:rPr>
              <a:t>Energy Bands In Inside an atom</a:t>
            </a:r>
            <a:r>
              <a:rPr lang="en-US" sz="4000" b="1" dirty="0" smtClean="0"/>
              <a:t/>
            </a:r>
            <a:br>
              <a:rPr lang="en-US" sz="4000" b="1" dirty="0" smtClean="0"/>
            </a:br>
            <a:endParaRPr lang="en-US" dirty="0"/>
          </a:p>
        </p:txBody>
      </p:sp>
    </p:spTree>
  </p:cSld>
  <p:clrMapOvr>
    <a:masterClrMapping/>
  </p:clrMapOvr>
  <p:transition>
    <p:dissolv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371600"/>
            <a:ext cx="7467600" cy="5181600"/>
          </a:xfrm>
        </p:spPr>
        <p:style>
          <a:lnRef idx="2">
            <a:schemeClr val="accent3"/>
          </a:lnRef>
          <a:fillRef idx="1">
            <a:schemeClr val="lt1"/>
          </a:fillRef>
          <a:effectRef idx="0">
            <a:schemeClr val="accent3"/>
          </a:effectRef>
          <a:fontRef idx="minor">
            <a:schemeClr val="dk1"/>
          </a:fontRef>
        </p:style>
        <p:txBody>
          <a:bodyPr>
            <a:noAutofit/>
          </a:bodyPr>
          <a:lstStyle/>
          <a:p>
            <a:pPr algn="just"/>
            <a:endParaRPr lang="en-US" sz="1800" b="1" dirty="0" smtClean="0">
              <a:solidFill>
                <a:srgbClr val="FF00FF"/>
              </a:solidFill>
              <a:latin typeface="Times New Roman" pitchFamily="18" charset="0"/>
              <a:cs typeface="Times New Roman" pitchFamily="18" charset="0"/>
            </a:endParaRPr>
          </a:p>
          <a:p>
            <a:pPr algn="just">
              <a:buNone/>
            </a:pPr>
            <a:r>
              <a:rPr lang="en-US" sz="2000" b="1" dirty="0" smtClean="0">
                <a:solidFill>
                  <a:srgbClr val="FF00FF"/>
                </a:solidFill>
                <a:latin typeface="Times New Roman" pitchFamily="18" charset="0"/>
                <a:cs typeface="Times New Roman" pitchFamily="18" charset="0"/>
              </a:rPr>
              <a:t>     What happens when two sodium atoms very close to each other almost forming a molecule? Now each atom cannot have the configuration as it followed as an individual atom If they do they will be violating Pauli’s exclusion principle and end up with a lot of electrons of the same energy levels.</a:t>
            </a:r>
          </a:p>
          <a:p>
            <a:pPr algn="just"/>
            <a:r>
              <a:rPr lang="en-US" sz="2000" b="1" dirty="0" smtClean="0">
                <a:solidFill>
                  <a:srgbClr val="FF00FF"/>
                </a:solidFill>
                <a:latin typeface="Times New Roman" pitchFamily="18" charset="0"/>
                <a:cs typeface="Times New Roman" pitchFamily="18" charset="0"/>
              </a:rPr>
              <a:t>When two atoms come very close to each other, What is going to happen to this system? The answer is, their respective energy bands are going to overlap on each other and transform into what we call as Molecular orbital. That is the 1s orbit of individual Sodium atom combines to form 1s molecular orbital. As two atomic </a:t>
            </a:r>
            <a:r>
              <a:rPr lang="en-US" sz="2000" b="1" dirty="0" err="1" smtClean="0">
                <a:solidFill>
                  <a:srgbClr val="FF00FF"/>
                </a:solidFill>
                <a:latin typeface="Times New Roman" pitchFamily="18" charset="0"/>
                <a:cs typeface="Times New Roman" pitchFamily="18" charset="0"/>
              </a:rPr>
              <a:t>orbitals</a:t>
            </a:r>
            <a:r>
              <a:rPr lang="en-US" sz="2000" b="1" dirty="0" smtClean="0">
                <a:solidFill>
                  <a:srgbClr val="FF00FF"/>
                </a:solidFill>
                <a:latin typeface="Times New Roman" pitchFamily="18" charset="0"/>
                <a:cs typeface="Times New Roman" pitchFamily="18" charset="0"/>
              </a:rPr>
              <a:t> are overlapping, the molecular orbit ends up having two discrete energy levels. Where the Lower energy level is called bonding orbital and Higher energy level is called anti-bonding orbital. This will repeat for all orbits. </a:t>
            </a:r>
            <a:endParaRPr lang="en-US" sz="1000" dirty="0"/>
          </a:p>
        </p:txBody>
      </p:sp>
      <p:sp>
        <p:nvSpPr>
          <p:cNvPr id="4" name="Rectangle 3"/>
          <p:cNvSpPr/>
          <p:nvPr/>
        </p:nvSpPr>
        <p:spPr>
          <a:xfrm>
            <a:off x="381000" y="304800"/>
            <a:ext cx="7467600" cy="95410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sz="2800" b="1" dirty="0" smtClean="0">
                <a:solidFill>
                  <a:srgbClr val="3333FF"/>
                </a:solidFill>
              </a:rPr>
              <a:t>Energy levels inside a molecule made up of </a:t>
            </a:r>
            <a:r>
              <a:rPr lang="en-US" sz="2800" b="1" dirty="0" smtClean="0">
                <a:solidFill>
                  <a:srgbClr val="FF00FF"/>
                </a:solidFill>
              </a:rPr>
              <a:t>two atoms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794" name="Picture 2"/>
          <p:cNvPicPr>
            <a:picLocks noGrp="1" noChangeAspect="1" noChangeArrowheads="1"/>
          </p:cNvPicPr>
          <p:nvPr>
            <p:ph sz="quarter" idx="1"/>
          </p:nvPr>
        </p:nvPicPr>
        <p:blipFill>
          <a:blip r:embed="rId2"/>
          <a:srcRect/>
          <a:stretch>
            <a:fillRect/>
          </a:stretch>
        </p:blipFill>
        <p:spPr bwMode="auto">
          <a:xfrm>
            <a:off x="1371600" y="685800"/>
            <a:ext cx="5638905" cy="4873625"/>
          </a:xfrm>
          <a:prstGeom prst="rect">
            <a:avLst/>
          </a:prstGeom>
          <a:ln>
            <a:headEnd/>
            <a:tailEnd/>
          </a:ln>
        </p:spPr>
        <p:style>
          <a:lnRef idx="2">
            <a:schemeClr val="accent2"/>
          </a:lnRef>
          <a:fillRef idx="1">
            <a:schemeClr val="lt1"/>
          </a:fillRef>
          <a:effectRef idx="0">
            <a:schemeClr val="accent2"/>
          </a:effectRef>
          <a:fontRef idx="minor">
            <a:schemeClr val="dk1"/>
          </a:fontRef>
        </p:style>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lnRef>
          <a:fillRef idx="1">
            <a:schemeClr val="lt1"/>
          </a:fillRef>
          <a:effectRef idx="0">
            <a:schemeClr val="accent2"/>
          </a:effectRef>
          <a:fontRef idx="minor">
            <a:schemeClr val="dk1"/>
          </a:fontRef>
        </p:style>
        <p:txBody>
          <a:bodyPr>
            <a:normAutofit fontScale="90000"/>
          </a:bodyPr>
          <a:lstStyle/>
          <a:p>
            <a:r>
              <a:rPr lang="en-US" sz="2700" b="1" dirty="0" smtClean="0">
                <a:solidFill>
                  <a:srgbClr val="CC00FF"/>
                </a:solidFill>
              </a:rPr>
              <a:t>Energy levels inside a molecule made up of </a:t>
            </a:r>
            <a:r>
              <a:rPr lang="en-US" sz="2700" b="1" dirty="0" smtClean="0">
                <a:solidFill>
                  <a:srgbClr val="6600CC"/>
                </a:solidFill>
              </a:rPr>
              <a:t>three atoms</a:t>
            </a:r>
            <a:r>
              <a:rPr lang="en-US" b="1" dirty="0" smtClean="0"/>
              <a:t/>
            </a:r>
            <a:br>
              <a:rPr lang="en-US" b="1" dirty="0" smtClean="0"/>
            </a:br>
            <a:endParaRPr lang="en-US" dirty="0"/>
          </a:p>
        </p:txBody>
      </p:sp>
      <p:sp>
        <p:nvSpPr>
          <p:cNvPr id="3" name="Content Placeholder 2"/>
          <p:cNvSpPr>
            <a:spLocks noGrp="1"/>
          </p:cNvSpPr>
          <p:nvPr>
            <p:ph sz="quarter" idx="1"/>
          </p:nvPr>
        </p:nvSpPr>
        <p:spPr>
          <a:xfrm>
            <a:off x="457200" y="1600200"/>
            <a:ext cx="7467600" cy="3657600"/>
          </a:xfrm>
        </p:spPr>
        <p:style>
          <a:lnRef idx="2">
            <a:schemeClr val="accent4"/>
          </a:lnRef>
          <a:fillRef idx="1">
            <a:schemeClr val="lt1"/>
          </a:fillRef>
          <a:effectRef idx="0">
            <a:schemeClr val="accent4"/>
          </a:effectRef>
          <a:fontRef idx="minor">
            <a:schemeClr val="dk1"/>
          </a:fontRef>
        </p:style>
        <p:txBody>
          <a:bodyPr>
            <a:normAutofit/>
          </a:bodyPr>
          <a:lstStyle/>
          <a:p>
            <a:pPr algn="just"/>
            <a:r>
              <a:rPr lang="en-US" dirty="0" smtClean="0">
                <a:solidFill>
                  <a:srgbClr val="0070C0"/>
                </a:solidFill>
              </a:rPr>
              <a:t>Now try to </a:t>
            </a:r>
            <a:r>
              <a:rPr lang="en-US" dirty="0" err="1" smtClean="0">
                <a:solidFill>
                  <a:srgbClr val="0070C0"/>
                </a:solidFill>
              </a:rPr>
              <a:t>picturise</a:t>
            </a:r>
            <a:r>
              <a:rPr lang="en-US" dirty="0" smtClean="0">
                <a:solidFill>
                  <a:srgbClr val="0070C0"/>
                </a:solidFill>
              </a:rPr>
              <a:t>, what is going to happen if we add a third sodium atom to the mix? Well, according to the theory we learned just now. here three atomic </a:t>
            </a:r>
            <a:r>
              <a:rPr lang="en-US" dirty="0" err="1" smtClean="0">
                <a:solidFill>
                  <a:srgbClr val="0070C0"/>
                </a:solidFill>
              </a:rPr>
              <a:t>orbitals</a:t>
            </a:r>
            <a:r>
              <a:rPr lang="en-US" dirty="0" smtClean="0">
                <a:solidFill>
                  <a:srgbClr val="0070C0"/>
                </a:solidFill>
              </a:rPr>
              <a:t> will be overlapping forming single molecular orbital with three discrete energy levels. Each molecular orbital here will inherit three energy levels. In general, the more we add atoms, more energy levels the molecular orbit going to have.</a:t>
            </a:r>
            <a:endParaRPr lang="en-US" dirty="0">
              <a:solidFill>
                <a:srgbClr val="0070C0"/>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AutoShape 2" descr="band theory of solids-3"/>
          <p:cNvSpPr>
            <a:spLocks noChangeAspect="1" noChangeArrowheads="1"/>
          </p:cNvSpPr>
          <p:nvPr/>
        </p:nvSpPr>
        <p:spPr bwMode="auto">
          <a:xfrm>
            <a:off x="155575" y="-1500188"/>
            <a:ext cx="3629025" cy="3133726"/>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58723" name="Picture 3"/>
          <p:cNvPicPr>
            <a:picLocks noChangeAspect="1" noChangeArrowheads="1"/>
          </p:cNvPicPr>
          <p:nvPr/>
        </p:nvPicPr>
        <p:blipFill>
          <a:blip r:embed="rId2"/>
          <a:srcRect/>
          <a:stretch>
            <a:fillRect/>
          </a:stretch>
        </p:blipFill>
        <p:spPr bwMode="auto">
          <a:xfrm>
            <a:off x="533400" y="457200"/>
            <a:ext cx="6665913" cy="5762625"/>
          </a:xfrm>
          <a:prstGeom prst="rect">
            <a:avLst/>
          </a:prstGeom>
          <a:ln>
            <a:headEnd/>
            <a:tailEnd/>
          </a:ln>
        </p:spPr>
        <p:style>
          <a:lnRef idx="2">
            <a:schemeClr val="accent2"/>
          </a:lnRef>
          <a:fillRef idx="1">
            <a:schemeClr val="lt1"/>
          </a:fillRef>
          <a:effectRef idx="0">
            <a:schemeClr val="accent2"/>
          </a:effectRef>
          <a:fontRef idx="minor">
            <a:schemeClr val="dk1"/>
          </a:fontRef>
        </p:style>
      </p:pic>
      <p:cxnSp>
        <p:nvCxnSpPr>
          <p:cNvPr id="10" name="Straight Arrow Connector 9"/>
          <p:cNvCxnSpPr/>
          <p:nvPr/>
        </p:nvCxnSpPr>
        <p:spPr>
          <a:xfrm flipV="1">
            <a:off x="3505200" y="4450772"/>
            <a:ext cx="0" cy="44334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1" name="Straight Arrow Connector 10"/>
          <p:cNvCxnSpPr/>
          <p:nvPr/>
        </p:nvCxnSpPr>
        <p:spPr>
          <a:xfrm>
            <a:off x="4419600" y="3581399"/>
            <a:ext cx="0" cy="533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4" name="Straight Arrow Connector 13"/>
          <p:cNvCxnSpPr/>
          <p:nvPr/>
        </p:nvCxnSpPr>
        <p:spPr>
          <a:xfrm flipV="1">
            <a:off x="4281055" y="3626427"/>
            <a:ext cx="0" cy="44334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5" name="Straight Arrow Connector 14"/>
          <p:cNvCxnSpPr/>
          <p:nvPr/>
        </p:nvCxnSpPr>
        <p:spPr>
          <a:xfrm flipV="1">
            <a:off x="4572000" y="2712027"/>
            <a:ext cx="0" cy="44334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6" name="Straight Arrow Connector 15"/>
          <p:cNvCxnSpPr/>
          <p:nvPr/>
        </p:nvCxnSpPr>
        <p:spPr>
          <a:xfrm flipV="1">
            <a:off x="4953000" y="2691245"/>
            <a:ext cx="0" cy="44334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7" name="Straight Arrow Connector 16"/>
          <p:cNvCxnSpPr/>
          <p:nvPr/>
        </p:nvCxnSpPr>
        <p:spPr>
          <a:xfrm flipV="1">
            <a:off x="5334000" y="2712026"/>
            <a:ext cx="0" cy="44334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8" name="Straight Arrow Connector 17"/>
          <p:cNvCxnSpPr/>
          <p:nvPr/>
        </p:nvCxnSpPr>
        <p:spPr>
          <a:xfrm flipV="1">
            <a:off x="4225636" y="1911927"/>
            <a:ext cx="0" cy="44334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9" name="Straight Arrow Connector 18"/>
          <p:cNvCxnSpPr/>
          <p:nvPr/>
        </p:nvCxnSpPr>
        <p:spPr>
          <a:xfrm>
            <a:off x="4724400" y="2667000"/>
            <a:ext cx="0" cy="533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0" name="Straight Arrow Connector 19"/>
          <p:cNvCxnSpPr/>
          <p:nvPr/>
        </p:nvCxnSpPr>
        <p:spPr>
          <a:xfrm>
            <a:off x="5105400" y="2712027"/>
            <a:ext cx="0" cy="533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1" name="Straight Arrow Connector 20"/>
          <p:cNvCxnSpPr/>
          <p:nvPr/>
        </p:nvCxnSpPr>
        <p:spPr>
          <a:xfrm>
            <a:off x="5486400" y="2725881"/>
            <a:ext cx="0" cy="533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3" name="Straight Arrow Connector 22"/>
          <p:cNvCxnSpPr/>
          <p:nvPr/>
        </p:nvCxnSpPr>
        <p:spPr>
          <a:xfrm>
            <a:off x="3352800" y="4461161"/>
            <a:ext cx="0" cy="533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lnRef>
          <a:fillRef idx="1">
            <a:schemeClr val="lt1"/>
          </a:fillRef>
          <a:effectRef idx="0">
            <a:schemeClr val="accent2"/>
          </a:effectRef>
          <a:fontRef idx="minor">
            <a:schemeClr val="dk1"/>
          </a:fontRef>
        </p:style>
        <p:txBody>
          <a:bodyPr>
            <a:normAutofit fontScale="90000"/>
          </a:bodyPr>
          <a:lstStyle/>
          <a:p>
            <a:r>
              <a:rPr lang="en-US" sz="2700" b="1" dirty="0" smtClean="0">
                <a:solidFill>
                  <a:srgbClr val="6600CC"/>
                </a:solidFill>
              </a:rPr>
              <a:t>Energy levels inside a solid made up of </a:t>
            </a:r>
            <a:r>
              <a:rPr lang="en-US" sz="2700" b="1" dirty="0" smtClean="0">
                <a:solidFill>
                  <a:srgbClr val="FF0000"/>
                </a:solidFill>
              </a:rPr>
              <a:t>Avogadro number of atoms</a:t>
            </a:r>
            <a:r>
              <a:rPr lang="en-US" b="1" dirty="0" smtClean="0"/>
              <a:t/>
            </a:r>
            <a:br>
              <a:rPr lang="en-US" b="1" dirty="0" smtClean="0"/>
            </a:br>
            <a:endParaRPr lang="en-US" dirty="0"/>
          </a:p>
        </p:txBody>
      </p:sp>
      <p:sp>
        <p:nvSpPr>
          <p:cNvPr id="3" name="Content Placeholder 2"/>
          <p:cNvSpPr>
            <a:spLocks noGrp="1"/>
          </p:cNvSpPr>
          <p:nvPr>
            <p:ph sz="quarter" idx="1"/>
          </p:nvPr>
        </p:nvSpPr>
        <p:spPr/>
        <p:style>
          <a:lnRef idx="2">
            <a:schemeClr val="accent2"/>
          </a:lnRef>
          <a:fillRef idx="1">
            <a:schemeClr val="lt1"/>
          </a:fillRef>
          <a:effectRef idx="0">
            <a:schemeClr val="accent2"/>
          </a:effectRef>
          <a:fontRef idx="minor">
            <a:schemeClr val="dk1"/>
          </a:fontRef>
        </p:style>
        <p:txBody>
          <a:bodyPr>
            <a:normAutofit lnSpcReduction="10000"/>
          </a:bodyPr>
          <a:lstStyle/>
          <a:p>
            <a:pPr algn="just"/>
            <a:r>
              <a:rPr lang="en-US" dirty="0" smtClean="0">
                <a:solidFill>
                  <a:srgbClr val="FF0000"/>
                </a:solidFill>
              </a:rPr>
              <a:t>Eventually, if we have an entire solid, which is made of sodium with something like 10</a:t>
            </a:r>
            <a:r>
              <a:rPr lang="en-US" baseline="30000" dirty="0" smtClean="0">
                <a:solidFill>
                  <a:srgbClr val="FF0000"/>
                </a:solidFill>
              </a:rPr>
              <a:t>23</a:t>
            </a:r>
            <a:r>
              <a:rPr lang="en-US" dirty="0" smtClean="0">
                <a:solidFill>
                  <a:srgbClr val="FF0000"/>
                </a:solidFill>
              </a:rPr>
              <a:t> atoms packed together, Each molecular orbital of this solid will have now 10</a:t>
            </a:r>
            <a:r>
              <a:rPr lang="en-US" baseline="30000" dirty="0" smtClean="0">
                <a:solidFill>
                  <a:srgbClr val="FF0000"/>
                </a:solidFill>
              </a:rPr>
              <a:t>23</a:t>
            </a:r>
            <a:r>
              <a:rPr lang="en-US" dirty="0" smtClean="0">
                <a:solidFill>
                  <a:srgbClr val="FF0000"/>
                </a:solidFill>
              </a:rPr>
              <a:t> discrete energy levels. For better understanding purpose, Think about drawing 1s orbital of Sodium solid block, draw lower energy level and upper energy level and in between stack it with 10</a:t>
            </a:r>
            <a:r>
              <a:rPr lang="en-US" baseline="30000" dirty="0" smtClean="0">
                <a:solidFill>
                  <a:srgbClr val="FF0000"/>
                </a:solidFill>
              </a:rPr>
              <a:t>23</a:t>
            </a:r>
            <a:r>
              <a:rPr lang="en-US" dirty="0" smtClean="0">
                <a:solidFill>
                  <a:srgbClr val="FF0000"/>
                </a:solidFill>
              </a:rPr>
              <a:t> energy levels! The gaps between them will be extremely small such that, no longer we can notice individual energy levels. As a result, It is convenient to think of it as continuous energy or energy continuum. When we think in this way, we can call them as energy band instead of molecular orbit. </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5649" name="Picture 1"/>
          <p:cNvPicPr>
            <a:picLocks noGrp="1" noChangeAspect="1" noChangeArrowheads="1"/>
          </p:cNvPicPr>
          <p:nvPr>
            <p:ph sz="quarter" idx="1"/>
          </p:nvPr>
        </p:nvPicPr>
        <p:blipFill>
          <a:blip r:embed="rId2"/>
          <a:srcRect/>
          <a:stretch>
            <a:fillRect/>
          </a:stretch>
        </p:blipFill>
        <p:spPr bwMode="auto">
          <a:xfrm>
            <a:off x="457200" y="228600"/>
            <a:ext cx="7308150" cy="5867400"/>
          </a:xfrm>
          <a:prstGeom prst="rect">
            <a:avLst/>
          </a:prstGeom>
          <a:ln>
            <a:headEnd/>
            <a:tailEnd/>
          </a:ln>
        </p:spPr>
        <p:style>
          <a:lnRef idx="2">
            <a:schemeClr val="accent2"/>
          </a:lnRef>
          <a:fillRef idx="1">
            <a:schemeClr val="lt1"/>
          </a:fillRef>
          <a:effectRef idx="0">
            <a:schemeClr val="accent2"/>
          </a:effectRef>
          <a:fontRef idx="minor">
            <a:schemeClr val="dk1"/>
          </a:fontRef>
        </p:style>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7467600" cy="685800"/>
          </a:xfrm>
        </p:spPr>
        <p:style>
          <a:lnRef idx="2">
            <a:schemeClr val="accent2"/>
          </a:lnRef>
          <a:fillRef idx="1">
            <a:schemeClr val="lt1"/>
          </a:fillRef>
          <a:effectRef idx="0">
            <a:schemeClr val="accent2"/>
          </a:effectRef>
          <a:fontRef idx="minor">
            <a:schemeClr val="dk1"/>
          </a:fontRef>
        </p:style>
        <p:txBody>
          <a:bodyPr>
            <a:noAutofit/>
          </a:bodyPr>
          <a:lstStyle/>
          <a:p>
            <a:r>
              <a:rPr lang="en-US" sz="2400" b="1" dirty="0" smtClean="0"/>
              <a:t/>
            </a:r>
            <a:br>
              <a:rPr lang="en-US" sz="2400" b="1" dirty="0" smtClean="0"/>
            </a:br>
            <a:r>
              <a:rPr lang="en-US" sz="2400" b="1" dirty="0" smtClean="0"/>
              <a:t/>
            </a:r>
            <a:br>
              <a:rPr lang="en-US" sz="2400" b="1" dirty="0" smtClean="0"/>
            </a:br>
            <a:r>
              <a:rPr lang="en-US" sz="2400" b="1" dirty="0" smtClean="0"/>
              <a:t/>
            </a:r>
            <a:br>
              <a:rPr lang="en-US" sz="2400" b="1" dirty="0" smtClean="0"/>
            </a:br>
            <a:r>
              <a:rPr lang="en-US" sz="2400" b="1" dirty="0" smtClean="0"/>
              <a:t> </a:t>
            </a:r>
            <a:br>
              <a:rPr lang="en-US" sz="2400" b="1" dirty="0" smtClean="0"/>
            </a:br>
            <a:r>
              <a:rPr lang="en-US" sz="2400" b="1" dirty="0" smtClean="0"/>
              <a:t/>
            </a:r>
            <a:br>
              <a:rPr lang="en-US" sz="2400" b="1" dirty="0" smtClean="0"/>
            </a:br>
            <a:r>
              <a:rPr lang="en-US" sz="2400" b="1" dirty="0" smtClean="0">
                <a:latin typeface="Times New Roman" pitchFamily="18" charset="0"/>
                <a:cs typeface="Times New Roman" pitchFamily="18" charset="0"/>
              </a:rPr>
              <a:t/>
            </a:r>
            <a:br>
              <a:rPr lang="en-US" sz="2400" b="1" dirty="0" smtClean="0">
                <a:latin typeface="Times New Roman" pitchFamily="18" charset="0"/>
                <a:cs typeface="Times New Roman" pitchFamily="18" charset="0"/>
              </a:rPr>
            </a:br>
            <a:r>
              <a:rPr lang="en-US" sz="2800" b="1" dirty="0" smtClean="0">
                <a:solidFill>
                  <a:srgbClr val="6600CC"/>
                </a:solidFill>
              </a:rPr>
              <a:t/>
            </a:r>
            <a:br>
              <a:rPr lang="en-US" sz="2800" b="1" dirty="0" smtClean="0">
                <a:solidFill>
                  <a:srgbClr val="6600CC"/>
                </a:solidFill>
              </a:rPr>
            </a:br>
            <a:r>
              <a:rPr lang="en-US" sz="2400" b="1" dirty="0" smtClean="0">
                <a:solidFill>
                  <a:srgbClr val="6600CC"/>
                </a:solidFill>
                <a:latin typeface="Times New Roman" pitchFamily="18" charset="0"/>
                <a:cs typeface="Times New Roman" pitchFamily="18" charset="0"/>
              </a:rPr>
              <a:t> Energy levels inside a solid made up of </a:t>
            </a:r>
            <a:r>
              <a:rPr lang="en-US" sz="2400" b="1" dirty="0" smtClean="0">
                <a:solidFill>
                  <a:srgbClr val="CC00FF"/>
                </a:solidFill>
                <a:latin typeface="Times New Roman" pitchFamily="18" charset="0"/>
                <a:cs typeface="Times New Roman" pitchFamily="18" charset="0"/>
              </a:rPr>
              <a:t>n-number of atoms</a:t>
            </a:r>
            <a:endParaRPr lang="en-US" sz="2400" dirty="0">
              <a:solidFill>
                <a:srgbClr val="CC00FF"/>
              </a:solidFill>
            </a:endParaRPr>
          </a:p>
        </p:txBody>
      </p:sp>
      <p:sp>
        <p:nvSpPr>
          <p:cNvPr id="7" name="Rectangle 6"/>
          <p:cNvSpPr/>
          <p:nvPr/>
        </p:nvSpPr>
        <p:spPr>
          <a:xfrm>
            <a:off x="685800" y="1371600"/>
            <a:ext cx="7848600" cy="470898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sz="2000" dirty="0" smtClean="0">
                <a:solidFill>
                  <a:srgbClr val="FF00FF"/>
                </a:solidFill>
                <a:latin typeface="Times New Roman" pitchFamily="18" charset="0"/>
                <a:cs typeface="Times New Roman" pitchFamily="18" charset="0"/>
              </a:rPr>
              <a:t>In general, If there are n-number of atoms, then there will be n discrete energy levels in each </a:t>
            </a:r>
            <a:r>
              <a:rPr lang="en-US" sz="2000" dirty="0" smtClean="0">
                <a:solidFill>
                  <a:srgbClr val="FF00FF"/>
                </a:solidFill>
                <a:latin typeface="Times New Roman" pitchFamily="18" charset="0"/>
                <a:cs typeface="Times New Roman" pitchFamily="18" charset="0"/>
                <a:hlinkClick r:id="rId2"/>
              </a:rPr>
              <a:t>energy band</a:t>
            </a:r>
            <a:r>
              <a:rPr lang="en-US" sz="2000" dirty="0" smtClean="0">
                <a:solidFill>
                  <a:srgbClr val="FF00FF"/>
                </a:solidFill>
                <a:latin typeface="Times New Roman" pitchFamily="18" charset="0"/>
                <a:cs typeface="Times New Roman" pitchFamily="18" charset="0"/>
              </a:rPr>
              <a:t>. In such a system of n number of atoms, the molecular </a:t>
            </a:r>
            <a:r>
              <a:rPr lang="en-US" sz="2000" dirty="0" err="1" smtClean="0">
                <a:solidFill>
                  <a:srgbClr val="FF00FF"/>
                </a:solidFill>
                <a:latin typeface="Times New Roman" pitchFamily="18" charset="0"/>
                <a:cs typeface="Times New Roman" pitchFamily="18" charset="0"/>
              </a:rPr>
              <a:t>orbitals</a:t>
            </a:r>
            <a:r>
              <a:rPr lang="en-US" sz="2000" dirty="0" smtClean="0">
                <a:solidFill>
                  <a:srgbClr val="FF00FF"/>
                </a:solidFill>
                <a:latin typeface="Times New Roman" pitchFamily="18" charset="0"/>
                <a:cs typeface="Times New Roman" pitchFamily="18" charset="0"/>
              </a:rPr>
              <a:t> are called as energy bands. Single 1s orbital and 2s orbital can fit 2 electrons each. thus, the total number of electrons a 1s and 2s energy band can fit is 2n. A single 2p level can fit 6 electrons so 2p energy band can fit is 6n electron so on and so forth.</a:t>
            </a:r>
          </a:p>
          <a:p>
            <a:pPr algn="just"/>
            <a:r>
              <a:rPr lang="en-US" sz="2000" dirty="0" smtClean="0">
                <a:solidFill>
                  <a:srgbClr val="FF00FF"/>
                </a:solidFill>
              </a:rPr>
              <a:t>As atoms come close to each other and eventually form a solid, They end up forming energy continuum and we name that continuum as bands. Within the bands, energy levels which are available are continuous. Thus, the name of this theory without any surprise is, </a:t>
            </a:r>
            <a:r>
              <a:rPr lang="en-US" sz="2000" i="1" dirty="0" smtClean="0">
                <a:solidFill>
                  <a:srgbClr val="FF00FF"/>
                </a:solidFill>
              </a:rPr>
              <a:t>“</a:t>
            </a:r>
            <a:r>
              <a:rPr lang="en-US" sz="2000" b="1" i="1" dirty="0" smtClean="0">
                <a:solidFill>
                  <a:srgbClr val="6600CC"/>
                </a:solidFill>
              </a:rPr>
              <a:t>The band theory of solids” </a:t>
            </a:r>
            <a:endParaRPr lang="en-US" sz="2000" b="1" dirty="0" smtClean="0">
              <a:solidFill>
                <a:srgbClr val="6600CC"/>
              </a:solidFill>
            </a:endParaRPr>
          </a:p>
          <a:p>
            <a:pPr algn="just"/>
            <a:r>
              <a:rPr lang="en-US" sz="2000" dirty="0" smtClean="0">
                <a:solidFill>
                  <a:srgbClr val="FF00FF"/>
                </a:solidFill>
              </a:rPr>
              <a:t>Using this theory, we can understand how free electrons are generated and why certain material readily have free electron available making them a conductor and why some others don’t?</a:t>
            </a:r>
          </a:p>
          <a:p>
            <a:pPr algn="just"/>
            <a:endParaRPr lang="en-US" sz="20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noChangeArrowheads="1"/>
          </p:cNvPicPr>
          <p:nvPr/>
        </p:nvPicPr>
        <p:blipFill>
          <a:blip r:embed="rId2"/>
          <a:srcRect/>
          <a:stretch>
            <a:fillRect/>
          </a:stretch>
        </p:blipFill>
        <p:spPr bwMode="auto">
          <a:xfrm>
            <a:off x="838200" y="457200"/>
            <a:ext cx="6665913" cy="5400675"/>
          </a:xfrm>
          <a:prstGeom prst="rect">
            <a:avLst/>
          </a:prstGeom>
          <a:ln>
            <a:headEnd/>
            <a:tailEnd/>
          </a:ln>
        </p:spPr>
        <p:style>
          <a:lnRef idx="2">
            <a:schemeClr val="accent2"/>
          </a:lnRef>
          <a:fillRef idx="1">
            <a:schemeClr val="lt1"/>
          </a:fillRef>
          <a:effectRef idx="0">
            <a:schemeClr val="accent2"/>
          </a:effectRef>
          <a:fontRef idx="minor">
            <a:schemeClr val="dk1"/>
          </a:fontRef>
        </p:style>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533400"/>
            <a:ext cx="7467600" cy="5940552"/>
          </a:xfrm>
        </p:spPr>
        <p:style>
          <a:lnRef idx="2">
            <a:schemeClr val="accent2"/>
          </a:lnRef>
          <a:fillRef idx="1">
            <a:schemeClr val="lt1"/>
          </a:fillRef>
          <a:effectRef idx="0">
            <a:schemeClr val="accent2"/>
          </a:effectRef>
          <a:fontRef idx="minor">
            <a:schemeClr val="dk1"/>
          </a:fontRef>
        </p:style>
        <p:txBody>
          <a:bodyPr>
            <a:normAutofit lnSpcReduction="10000"/>
          </a:bodyPr>
          <a:lstStyle/>
          <a:p>
            <a:pPr algn="just"/>
            <a:r>
              <a:rPr lang="en-US" sz="3200" dirty="0" smtClean="0">
                <a:solidFill>
                  <a:srgbClr val="6600CC"/>
                </a:solidFill>
              </a:rPr>
              <a:t>Atoms have been seen to have discrete energy levels. </a:t>
            </a:r>
          </a:p>
          <a:p>
            <a:pPr algn="just"/>
            <a:r>
              <a:rPr lang="en-US" sz="3200" dirty="0" smtClean="0">
                <a:solidFill>
                  <a:srgbClr val="6600CC"/>
                </a:solidFill>
              </a:rPr>
              <a:t>When a huge number of atoms are combined to form a solid however, these discrete energy levels are replaced by discrete ranges of energy, or energy bands, within which there are so many individual allowed energy values that within the bands the distribution can be considered to be continuous. This idea is seen in the following figure: </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458" name="Picture 2"/>
          <p:cNvPicPr>
            <a:picLocks noGrp="1" noChangeAspect="1" noChangeArrowheads="1"/>
          </p:cNvPicPr>
          <p:nvPr>
            <p:ph sz="quarter" idx="1"/>
          </p:nvPr>
        </p:nvPicPr>
        <p:blipFill>
          <a:blip r:embed="rId2"/>
          <a:srcRect/>
          <a:stretch>
            <a:fillRect/>
          </a:stretch>
        </p:blipFill>
        <p:spPr bwMode="auto">
          <a:xfrm>
            <a:off x="381000" y="914400"/>
            <a:ext cx="8344953" cy="5181600"/>
          </a:xfrm>
          <a:prstGeom prst="rect">
            <a:avLst/>
          </a:prstGeom>
          <a:ln>
            <a:headEnd/>
            <a:tailEnd/>
          </a:ln>
        </p:spPr>
        <p:style>
          <a:lnRef idx="2">
            <a:schemeClr val="accent2"/>
          </a:lnRef>
          <a:fillRef idx="1">
            <a:schemeClr val="lt1"/>
          </a:fillRef>
          <a:effectRef idx="0">
            <a:schemeClr val="accent2"/>
          </a:effectRef>
          <a:fontRef idx="minor">
            <a:schemeClr val="dk1"/>
          </a:fontRef>
        </p:style>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 According to the classical free electron theory,&#10;materials are classified in to three types:&#10; Conductors&#10; Semiconducto..."/>
          <p:cNvPicPr>
            <a:picLocks noGrp="1" noChangeAspect="1" noChangeArrowheads="1"/>
          </p:cNvPicPr>
          <p:nvPr>
            <p:ph sz="quarter" idx="1"/>
          </p:nvPr>
        </p:nvPicPr>
        <p:blipFill>
          <a:blip r:embed="rId2"/>
          <a:srcRect/>
          <a:stretch>
            <a:fillRect/>
          </a:stretch>
        </p:blipFill>
        <p:spPr bwMode="auto">
          <a:xfrm>
            <a:off x="1066800" y="609600"/>
            <a:ext cx="6076950" cy="4562475"/>
          </a:xfrm>
          <a:prstGeom prst="rect">
            <a:avLst/>
          </a:prstGeom>
        </p:spPr>
        <p:style>
          <a:lnRef idx="2">
            <a:schemeClr val="accent2"/>
          </a:lnRef>
          <a:fillRef idx="1">
            <a:schemeClr val="lt1"/>
          </a:fillRef>
          <a:effectRef idx="0">
            <a:schemeClr val="accent2"/>
          </a:effectRef>
          <a:fontRef idx="minor">
            <a:schemeClr val="dk1"/>
          </a:fontRef>
        </p:style>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530" name="Picture 2" descr="File:Screen Shot 2012-10-16 at 10.19.43 AM.png"/>
          <p:cNvPicPr>
            <a:picLocks noChangeAspect="1" noChangeArrowheads="1"/>
          </p:cNvPicPr>
          <p:nvPr/>
        </p:nvPicPr>
        <p:blipFill>
          <a:blip r:embed="rId2"/>
          <a:srcRect/>
          <a:stretch>
            <a:fillRect/>
          </a:stretch>
        </p:blipFill>
        <p:spPr bwMode="auto">
          <a:xfrm>
            <a:off x="228601" y="762000"/>
            <a:ext cx="8458200" cy="5181599"/>
          </a:xfrm>
          <a:prstGeom prst="rect">
            <a:avLst/>
          </a:prstGeom>
        </p:spPr>
        <p:style>
          <a:lnRef idx="2">
            <a:schemeClr val="accent2"/>
          </a:lnRef>
          <a:fillRef idx="1">
            <a:schemeClr val="lt1"/>
          </a:fillRef>
          <a:effectRef idx="0">
            <a:schemeClr val="accent2"/>
          </a:effectRef>
          <a:fontRef idx="minor">
            <a:schemeClr val="dk1"/>
          </a:fontRef>
        </p:style>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AutoShape 2" descr="Energy Bands - Definition and Classification of Energy Bands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49508" name="AutoShape 4" descr="Energy Bands - Definition and Classification of Energy Bands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49509" name="Picture 5"/>
          <p:cNvPicPr>
            <a:picLocks noGrp="1" noChangeAspect="1" noChangeArrowheads="1"/>
          </p:cNvPicPr>
          <p:nvPr>
            <p:ph sz="quarter" idx="1"/>
          </p:nvPr>
        </p:nvPicPr>
        <p:blipFill>
          <a:blip r:embed="rId2"/>
          <a:srcRect/>
          <a:stretch>
            <a:fillRect/>
          </a:stretch>
        </p:blipFill>
        <p:spPr bwMode="auto">
          <a:xfrm>
            <a:off x="304800" y="762000"/>
            <a:ext cx="7602524" cy="4419600"/>
          </a:xfrm>
          <a:prstGeom prst="rect">
            <a:avLst/>
          </a:prstGeom>
          <a:ln>
            <a:headEnd/>
            <a:tailEnd/>
          </a:ln>
        </p:spPr>
        <p:style>
          <a:lnRef idx="2">
            <a:schemeClr val="accent2"/>
          </a:lnRef>
          <a:fillRef idx="1">
            <a:schemeClr val="lt1"/>
          </a:fillRef>
          <a:effectRef idx="0">
            <a:schemeClr val="accent2"/>
          </a:effectRef>
          <a:fontRef idx="minor">
            <a:schemeClr val="dk1"/>
          </a:fontRef>
        </p:style>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557" name="Picture 5"/>
          <p:cNvPicPr>
            <a:picLocks noGrp="1" noChangeAspect="1" noChangeArrowheads="1"/>
          </p:cNvPicPr>
          <p:nvPr>
            <p:ph sz="quarter" idx="1"/>
          </p:nvPr>
        </p:nvPicPr>
        <p:blipFill>
          <a:blip r:embed="rId2"/>
          <a:srcRect/>
          <a:stretch>
            <a:fillRect/>
          </a:stretch>
        </p:blipFill>
        <p:spPr bwMode="auto">
          <a:xfrm>
            <a:off x="381000" y="838200"/>
            <a:ext cx="7467600" cy="3347913"/>
          </a:xfrm>
          <a:prstGeom prst="rect">
            <a:avLst/>
          </a:prstGeom>
          <a:ln>
            <a:headEnd/>
            <a:tailEnd/>
          </a:ln>
        </p:spPr>
        <p:style>
          <a:lnRef idx="2">
            <a:schemeClr val="accent2"/>
          </a:lnRef>
          <a:fillRef idx="1">
            <a:schemeClr val="lt1"/>
          </a:fillRef>
          <a:effectRef idx="0">
            <a:schemeClr val="accent2"/>
          </a:effectRef>
          <a:fontRef idx="minor">
            <a:schemeClr val="dk1"/>
          </a:fontRef>
        </p:style>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 Energy Band in Solid&#10;The following are the important energy&#10;band in solids:&#10; Valence band&#10; Conduction band&#10; Forbidden..."/>
          <p:cNvPicPr>
            <a:picLocks noChangeAspect="1" noChangeArrowheads="1"/>
          </p:cNvPicPr>
          <p:nvPr/>
        </p:nvPicPr>
        <p:blipFill>
          <a:blip r:embed="rId2"/>
          <a:srcRect/>
          <a:stretch>
            <a:fillRect/>
          </a:stretch>
        </p:blipFill>
        <p:spPr bwMode="auto">
          <a:xfrm>
            <a:off x="533400" y="457200"/>
            <a:ext cx="7815032" cy="5867400"/>
          </a:xfrm>
          <a:prstGeom prst="rect">
            <a:avLst/>
          </a:prstGeom>
        </p:spPr>
        <p:style>
          <a:lnRef idx="2">
            <a:schemeClr val="dk1"/>
          </a:lnRef>
          <a:fillRef idx="1">
            <a:schemeClr val="lt1"/>
          </a:fillRef>
          <a:effectRef idx="0">
            <a:schemeClr val="dk1"/>
          </a:effectRef>
          <a:fontRef idx="minor">
            <a:schemeClr val="dk1"/>
          </a:fontRef>
        </p:style>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Valance band&#10;The band of energy occupied by the valance&#10;electrons is called valence band. The electrons in the&#10;outermost ..."/>
          <p:cNvPicPr>
            <a:picLocks noChangeAspect="1" noChangeArrowheads="1"/>
          </p:cNvPicPr>
          <p:nvPr/>
        </p:nvPicPr>
        <p:blipFill>
          <a:blip r:embed="rId2"/>
          <a:srcRect/>
          <a:stretch>
            <a:fillRect/>
          </a:stretch>
        </p:blipFill>
        <p:spPr bwMode="auto">
          <a:xfrm>
            <a:off x="685800" y="533400"/>
            <a:ext cx="7713538" cy="5791200"/>
          </a:xfrm>
          <a:prstGeom prst="rect">
            <a:avLst/>
          </a:prstGeom>
        </p:spPr>
        <p:style>
          <a:lnRef idx="2">
            <a:schemeClr val="accent2"/>
          </a:lnRef>
          <a:fillRef idx="1">
            <a:schemeClr val="lt1"/>
          </a:fillRef>
          <a:effectRef idx="0">
            <a:schemeClr val="accent2"/>
          </a:effectRef>
          <a:fontRef idx="minor">
            <a:schemeClr val="dk1"/>
          </a:fontRef>
        </p:style>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 Conduction band&#10;The band of energy occupied by the conduction&#10;electrons is called conduction band. This is the&#10;uppermost..."/>
          <p:cNvPicPr>
            <a:picLocks noChangeAspect="1" noChangeArrowheads="1"/>
          </p:cNvPicPr>
          <p:nvPr/>
        </p:nvPicPr>
        <p:blipFill>
          <a:blip r:embed="rId2"/>
          <a:srcRect/>
          <a:stretch>
            <a:fillRect/>
          </a:stretch>
        </p:blipFill>
        <p:spPr bwMode="auto">
          <a:xfrm>
            <a:off x="914400" y="838200"/>
            <a:ext cx="7003081" cy="5257800"/>
          </a:xfrm>
          <a:prstGeom prst="rect">
            <a:avLst/>
          </a:prstGeom>
        </p:spPr>
        <p:style>
          <a:lnRef idx="2">
            <a:schemeClr val="accent2"/>
          </a:lnRef>
          <a:fillRef idx="1">
            <a:schemeClr val="lt1"/>
          </a:fillRef>
          <a:effectRef idx="0">
            <a:schemeClr val="accent2"/>
          </a:effectRef>
          <a:fontRef idx="minor">
            <a:schemeClr val="dk1"/>
          </a:fontRef>
        </p:style>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5" name="Picture 1"/>
          <p:cNvPicPr>
            <a:picLocks noGrp="1" noChangeAspect="1" noChangeArrowheads="1"/>
          </p:cNvPicPr>
          <p:nvPr>
            <p:ph sz="quarter" idx="1"/>
          </p:nvPr>
        </p:nvPicPr>
        <p:blipFill>
          <a:blip r:embed="rId2"/>
          <a:srcRect/>
          <a:stretch>
            <a:fillRect/>
          </a:stretch>
        </p:blipFill>
        <p:spPr bwMode="auto">
          <a:xfrm>
            <a:off x="381000" y="304800"/>
            <a:ext cx="7916528" cy="5943600"/>
          </a:xfrm>
          <a:prstGeom prst="rect">
            <a:avLst/>
          </a:prstGeom>
          <a:ln>
            <a:headEnd/>
            <a:tailEnd/>
          </a:ln>
        </p:spPr>
        <p:style>
          <a:lnRef idx="2">
            <a:schemeClr val="accent2"/>
          </a:lnRef>
          <a:fillRef idx="1">
            <a:schemeClr val="lt1"/>
          </a:fillRef>
          <a:effectRef idx="0">
            <a:schemeClr val="accent2"/>
          </a:effectRef>
          <a:fontRef idx="minor">
            <a:schemeClr val="dk1"/>
          </a:fontRef>
        </p:style>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 Types of semiconductors&#10;Semiconductors&#10;Intrinsic Semiconductor Extrinsic Semiconductor&#10;p - type n - type&#10; "/>
          <p:cNvPicPr>
            <a:picLocks noChangeAspect="1" noChangeArrowheads="1"/>
          </p:cNvPicPr>
          <p:nvPr/>
        </p:nvPicPr>
        <p:blipFill>
          <a:blip r:embed="rId2"/>
          <a:srcRect/>
          <a:stretch>
            <a:fillRect/>
          </a:stretch>
        </p:blipFill>
        <p:spPr bwMode="auto">
          <a:xfrm>
            <a:off x="533400" y="533400"/>
            <a:ext cx="7409056" cy="5562600"/>
          </a:xfrm>
          <a:prstGeom prst="rect">
            <a:avLst/>
          </a:prstGeom>
        </p:spPr>
        <p:style>
          <a:lnRef idx="1">
            <a:schemeClr val="accent3"/>
          </a:lnRef>
          <a:fillRef idx="3">
            <a:schemeClr val="accent3"/>
          </a:fillRef>
          <a:effectRef idx="2">
            <a:schemeClr val="accent3"/>
          </a:effectRef>
          <a:fontRef idx="minor">
            <a:schemeClr val="lt1"/>
          </a:fontRef>
        </p:style>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 Intrinsic Semiconductor&#10; The intrinsic semiconductor are pure semiconductor materials.&#10; These semiconductors posses po..."/>
          <p:cNvPicPr>
            <a:picLocks noChangeAspect="1" noChangeArrowheads="1"/>
          </p:cNvPicPr>
          <p:nvPr/>
        </p:nvPicPr>
        <p:blipFill>
          <a:blip r:embed="rId2"/>
          <a:srcRect/>
          <a:stretch>
            <a:fillRect/>
          </a:stretch>
        </p:blipFill>
        <p:spPr bwMode="auto">
          <a:xfrm>
            <a:off x="457200" y="381000"/>
            <a:ext cx="7510550" cy="5638800"/>
          </a:xfrm>
          <a:prstGeom prst="rect">
            <a:avLst/>
          </a:prstGeom>
        </p:spPr>
        <p:style>
          <a:lnRef idx="2">
            <a:schemeClr val="accent2"/>
          </a:lnRef>
          <a:fillRef idx="1">
            <a:schemeClr val="lt1"/>
          </a:fillRef>
          <a:effectRef idx="0">
            <a:schemeClr val="accent2"/>
          </a:effectRef>
          <a:fontRef idx="minor">
            <a:schemeClr val="dk1"/>
          </a:fontRef>
        </p:style>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 Extrinsic Semiconductor&#10; Extrinsic semiconductor is an impure semiconductor&#10;formed from an intrinsic semiconductor by a..."/>
          <p:cNvPicPr>
            <a:picLocks noChangeAspect="1" noChangeArrowheads="1"/>
          </p:cNvPicPr>
          <p:nvPr/>
        </p:nvPicPr>
        <p:blipFill>
          <a:blip r:embed="rId2"/>
          <a:srcRect/>
          <a:stretch>
            <a:fillRect/>
          </a:stretch>
        </p:blipFill>
        <p:spPr bwMode="auto">
          <a:xfrm>
            <a:off x="304800" y="228600"/>
            <a:ext cx="8018020" cy="6019800"/>
          </a:xfrm>
          <a:prstGeom prst="rect">
            <a:avLst/>
          </a:prstGeom>
        </p:spPr>
        <p:style>
          <a:lnRef idx="2">
            <a:schemeClr val="accent2"/>
          </a:lnRef>
          <a:fillRef idx="1">
            <a:schemeClr val="lt1"/>
          </a:fillRef>
          <a:effectRef idx="0">
            <a:schemeClr val="accent2"/>
          </a:effectRef>
          <a:fontRef idx="minor">
            <a:schemeClr val="dk1"/>
          </a:fontRef>
        </p:style>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sz="quarter" idx="1"/>
            <p:extLst>
              <p:ext uri="{D42A27DB-BD31-4B8C-83A1-F6EECF244321}">
                <p14:modId xmlns:p14="http://schemas.microsoft.com/office/powerpoint/2010/main" val="2002686317"/>
              </p:ext>
            </p:extLst>
          </p:nvPr>
        </p:nvGraphicFramePr>
        <p:xfrm>
          <a:off x="228600" y="1600200"/>
          <a:ext cx="8686800" cy="4470400"/>
        </p:xfrm>
        <a:graphic>
          <a:graphicData uri="http://schemas.openxmlformats.org/drawingml/2006/table">
            <a:tbl>
              <a:tblPr firstRow="1" bandRow="1">
                <a:tableStyleId>{F5AB1C69-6EDB-4FF4-983F-18BD219EF322}</a:tableStyleId>
              </a:tblPr>
              <a:tblGrid>
                <a:gridCol w="4642854"/>
                <a:gridCol w="4043946"/>
              </a:tblGrid>
              <a:tr h="711200">
                <a:tc>
                  <a:txBody>
                    <a:bodyPr/>
                    <a:lstStyle/>
                    <a:p>
                      <a:r>
                        <a:rPr lang="en-US" dirty="0">
                          <a:solidFill>
                            <a:srgbClr val="92D050"/>
                          </a:solidFill>
                        </a:rPr>
                        <a:t>Intrinsic Semiconductor</a:t>
                      </a:r>
                    </a:p>
                  </a:txBody>
                  <a:tcPr anchor="ctr"/>
                </a:tc>
                <a:tc>
                  <a:txBody>
                    <a:bodyPr/>
                    <a:lstStyle/>
                    <a:p>
                      <a:r>
                        <a:rPr lang="en-US" dirty="0">
                          <a:solidFill>
                            <a:srgbClr val="92D050"/>
                          </a:solidFill>
                        </a:rPr>
                        <a:t>Extrinsic Semiconductor</a:t>
                      </a:r>
                    </a:p>
                  </a:txBody>
                  <a:tcPr anchor="ctr"/>
                </a:tc>
              </a:tr>
              <a:tr h="711200">
                <a:tc>
                  <a:txBody>
                    <a:bodyPr/>
                    <a:lstStyle/>
                    <a:p>
                      <a:pPr marL="285750" indent="-285750">
                        <a:buFont typeface="Wingdings" pitchFamily="2" charset="2"/>
                        <a:buChar char="q"/>
                      </a:pPr>
                      <a:r>
                        <a:rPr lang="en-US" b="1" dirty="0">
                          <a:solidFill>
                            <a:srgbClr val="3333FF"/>
                          </a:solidFill>
                        </a:rPr>
                        <a:t>Pure semiconductor</a:t>
                      </a:r>
                    </a:p>
                  </a:txBody>
                  <a:tcPr anchor="ctr"/>
                </a:tc>
                <a:tc>
                  <a:txBody>
                    <a:bodyPr/>
                    <a:lstStyle/>
                    <a:p>
                      <a:pPr marL="285750" indent="-285750">
                        <a:buFont typeface="Wingdings" pitchFamily="2" charset="2"/>
                        <a:buChar char="q"/>
                      </a:pPr>
                      <a:r>
                        <a:rPr lang="en-US" b="1" dirty="0">
                          <a:solidFill>
                            <a:srgbClr val="3333FF"/>
                          </a:solidFill>
                        </a:rPr>
                        <a:t>Impure semiconductor</a:t>
                      </a:r>
                    </a:p>
                  </a:txBody>
                  <a:tcPr anchor="ctr"/>
                </a:tc>
              </a:tr>
              <a:tr h="711200">
                <a:tc>
                  <a:txBody>
                    <a:bodyPr/>
                    <a:lstStyle/>
                    <a:p>
                      <a:pPr marL="285750" indent="-285750">
                        <a:buFont typeface="Wingdings" pitchFamily="2" charset="2"/>
                        <a:buChar char="q"/>
                      </a:pPr>
                      <a:r>
                        <a:rPr lang="en-US" b="1" dirty="0">
                          <a:solidFill>
                            <a:srgbClr val="3333FF"/>
                          </a:solidFill>
                        </a:rPr>
                        <a:t>Density of electrons is equal to the density of holes</a:t>
                      </a:r>
                    </a:p>
                  </a:txBody>
                  <a:tcPr anchor="ctr"/>
                </a:tc>
                <a:tc>
                  <a:txBody>
                    <a:bodyPr/>
                    <a:lstStyle/>
                    <a:p>
                      <a:pPr marL="285750" indent="-285750">
                        <a:buFont typeface="Wingdings" pitchFamily="2" charset="2"/>
                        <a:buChar char="q"/>
                      </a:pPr>
                      <a:r>
                        <a:rPr lang="en-US" b="1" dirty="0">
                          <a:solidFill>
                            <a:srgbClr val="3333FF"/>
                          </a:solidFill>
                        </a:rPr>
                        <a:t>Density of electrons is not equal to the density of holes</a:t>
                      </a:r>
                    </a:p>
                  </a:txBody>
                  <a:tcPr anchor="ctr"/>
                </a:tc>
              </a:tr>
              <a:tr h="711200">
                <a:tc>
                  <a:txBody>
                    <a:bodyPr/>
                    <a:lstStyle/>
                    <a:p>
                      <a:pPr marL="285750" indent="-285750">
                        <a:buFont typeface="Wingdings" pitchFamily="2" charset="2"/>
                        <a:buChar char="q"/>
                      </a:pPr>
                      <a:r>
                        <a:rPr lang="en-US" b="1" dirty="0">
                          <a:solidFill>
                            <a:srgbClr val="3333FF"/>
                          </a:solidFill>
                        </a:rPr>
                        <a:t>Electrical conductivity is low</a:t>
                      </a:r>
                    </a:p>
                  </a:txBody>
                  <a:tcPr anchor="ctr"/>
                </a:tc>
                <a:tc>
                  <a:txBody>
                    <a:bodyPr/>
                    <a:lstStyle/>
                    <a:p>
                      <a:pPr marL="285750" indent="-285750">
                        <a:buFont typeface="Wingdings" pitchFamily="2" charset="2"/>
                        <a:buChar char="q"/>
                      </a:pPr>
                      <a:r>
                        <a:rPr lang="en-US" b="1" dirty="0">
                          <a:solidFill>
                            <a:srgbClr val="3333FF"/>
                          </a:solidFill>
                        </a:rPr>
                        <a:t>Electrical conductivity is high</a:t>
                      </a:r>
                    </a:p>
                  </a:txBody>
                  <a:tcPr anchor="ctr"/>
                </a:tc>
              </a:tr>
              <a:tr h="711200">
                <a:tc>
                  <a:txBody>
                    <a:bodyPr/>
                    <a:lstStyle/>
                    <a:p>
                      <a:pPr marL="285750" indent="-285750">
                        <a:buFont typeface="Wingdings" pitchFamily="2" charset="2"/>
                        <a:buChar char="q"/>
                      </a:pPr>
                      <a:r>
                        <a:rPr lang="en-US" b="1" dirty="0">
                          <a:solidFill>
                            <a:srgbClr val="3333FF"/>
                          </a:solidFill>
                        </a:rPr>
                        <a:t>Dependence on temperature only</a:t>
                      </a:r>
                    </a:p>
                  </a:txBody>
                  <a:tcPr anchor="ctr"/>
                </a:tc>
                <a:tc>
                  <a:txBody>
                    <a:bodyPr/>
                    <a:lstStyle/>
                    <a:p>
                      <a:pPr marL="285750" indent="-285750">
                        <a:buFont typeface="Wingdings" pitchFamily="2" charset="2"/>
                        <a:buChar char="q"/>
                      </a:pPr>
                      <a:r>
                        <a:rPr lang="en-US" b="1" dirty="0">
                          <a:solidFill>
                            <a:srgbClr val="3333FF"/>
                          </a:solidFill>
                        </a:rPr>
                        <a:t>Dependence on temperature as well as on the amount of impurity</a:t>
                      </a:r>
                    </a:p>
                  </a:txBody>
                  <a:tcPr anchor="ctr"/>
                </a:tc>
              </a:tr>
              <a:tr h="711200">
                <a:tc>
                  <a:txBody>
                    <a:bodyPr/>
                    <a:lstStyle/>
                    <a:p>
                      <a:pPr marL="285750" indent="-285750">
                        <a:buFont typeface="Wingdings" pitchFamily="2" charset="2"/>
                        <a:buChar char="q"/>
                      </a:pPr>
                      <a:r>
                        <a:rPr lang="en-US" b="1" dirty="0">
                          <a:solidFill>
                            <a:srgbClr val="3333FF"/>
                          </a:solidFill>
                        </a:rPr>
                        <a:t>No impurities</a:t>
                      </a:r>
                    </a:p>
                  </a:txBody>
                  <a:tcPr anchor="ctr"/>
                </a:tc>
                <a:tc>
                  <a:txBody>
                    <a:bodyPr/>
                    <a:lstStyle/>
                    <a:p>
                      <a:pPr marL="285750" indent="-285750">
                        <a:buFont typeface="Wingdings" pitchFamily="2" charset="2"/>
                        <a:buChar char="q"/>
                      </a:pPr>
                      <a:r>
                        <a:rPr lang="en-US" b="1" dirty="0">
                          <a:solidFill>
                            <a:srgbClr val="3333FF"/>
                          </a:solidFill>
                        </a:rPr>
                        <a:t>Trivalent impurity, </a:t>
                      </a:r>
                      <a:r>
                        <a:rPr lang="en-US" b="1" dirty="0" err="1">
                          <a:solidFill>
                            <a:srgbClr val="3333FF"/>
                          </a:solidFill>
                        </a:rPr>
                        <a:t>pentavalent</a:t>
                      </a:r>
                      <a:r>
                        <a:rPr lang="en-US" b="1" dirty="0">
                          <a:solidFill>
                            <a:srgbClr val="3333FF"/>
                          </a:solidFill>
                        </a:rPr>
                        <a:t> impurity</a:t>
                      </a:r>
                    </a:p>
                  </a:txBody>
                  <a:tcPr anchor="ctr"/>
                </a:tc>
              </a:tr>
            </a:tbl>
          </a:graphicData>
        </a:graphic>
      </p:graphicFrame>
      <p:sp>
        <p:nvSpPr>
          <p:cNvPr id="153601" name="Rectangle 1"/>
          <p:cNvSpPr>
            <a:spLocks noChangeArrowheads="1"/>
          </p:cNvSpPr>
          <p:nvPr/>
        </p:nvSpPr>
        <p:spPr bwMode="auto">
          <a:xfrm>
            <a:off x="381000" y="228600"/>
            <a:ext cx="8305799" cy="954107"/>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smtClean="0">
                <a:ln>
                  <a:noFill/>
                </a:ln>
                <a:solidFill>
                  <a:srgbClr val="3333FF"/>
                </a:solidFill>
                <a:effectLst/>
                <a:latin typeface="Calibri" pitchFamily="34" charset="0"/>
                <a:ea typeface="Times New Roman" pitchFamily="18" charset="0"/>
                <a:cs typeface="Vrinda" pitchFamily="34" charset="0"/>
              </a:rPr>
              <a:t>Difference between Intrinsic and Extrinsic Semiconductors</a:t>
            </a:r>
            <a:endParaRPr kumimoji="0" lang="en-US" sz="2800" b="0" i="0" u="none" strike="noStrike" cap="none" normalizeH="0" baseline="0" dirty="0" smtClean="0">
              <a:ln>
                <a:noFill/>
              </a:ln>
              <a:solidFill>
                <a:srgbClr val="3333FF"/>
              </a:solidFill>
              <a:effectLst/>
              <a:latin typeface="Arial" pitchFamily="34" charset="0"/>
              <a:cs typeface="Arial"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0770" name="Picture 2"/>
          <p:cNvPicPr>
            <a:picLocks noChangeAspect="1" noChangeArrowheads="1"/>
          </p:cNvPicPr>
          <p:nvPr/>
        </p:nvPicPr>
        <p:blipFill>
          <a:blip r:embed="rId2"/>
          <a:srcRect/>
          <a:stretch>
            <a:fillRect/>
          </a:stretch>
        </p:blipFill>
        <p:spPr bwMode="auto">
          <a:xfrm>
            <a:off x="609600" y="914400"/>
            <a:ext cx="7142163" cy="5067300"/>
          </a:xfrm>
          <a:prstGeom prst="rect">
            <a:avLst/>
          </a:prstGeom>
          <a:ln>
            <a:headEnd/>
            <a:tailEnd/>
          </a:ln>
        </p:spPr>
        <p:style>
          <a:lnRef idx="2">
            <a:schemeClr val="accent2"/>
          </a:lnRef>
          <a:fillRef idx="1">
            <a:schemeClr val="lt1"/>
          </a:fillRef>
          <a:effectRef idx="0">
            <a:schemeClr val="accent2"/>
          </a:effectRef>
          <a:fontRef idx="minor">
            <a:schemeClr val="dk1"/>
          </a:fontRef>
        </p:style>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p – type semiconductor&#10;The addition of trivalent impurities such as boron,&#10;aluminum or gallium to an intrinsic semiconduct..."/>
          <p:cNvPicPr>
            <a:picLocks noChangeAspect="1" noChangeArrowheads="1"/>
          </p:cNvPicPr>
          <p:nvPr/>
        </p:nvPicPr>
        <p:blipFill>
          <a:blip r:embed="rId2"/>
          <a:srcRect/>
          <a:stretch>
            <a:fillRect/>
          </a:stretch>
        </p:blipFill>
        <p:spPr bwMode="auto">
          <a:xfrm>
            <a:off x="304800" y="304800"/>
            <a:ext cx="8018020" cy="6019800"/>
          </a:xfrm>
          <a:prstGeom prst="rect">
            <a:avLst/>
          </a:prstGeom>
        </p:spPr>
        <p:style>
          <a:lnRef idx="2">
            <a:schemeClr val="accent2"/>
          </a:lnRef>
          <a:fillRef idx="1">
            <a:schemeClr val="lt1"/>
          </a:fillRef>
          <a:effectRef idx="0">
            <a:schemeClr val="accent2"/>
          </a:effectRef>
          <a:fontRef idx="minor">
            <a:schemeClr val="dk1"/>
          </a:fontRef>
        </p:style>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n – type semiconductor&#10;The addition of pentavalent impurities such as&#10;antimony, arsenic or phosphorous contributes free&#10;el..."/>
          <p:cNvPicPr>
            <a:picLocks noChangeAspect="1" noChangeArrowheads="1"/>
          </p:cNvPicPr>
          <p:nvPr/>
        </p:nvPicPr>
        <p:blipFill>
          <a:blip r:embed="rId2"/>
          <a:srcRect/>
          <a:stretch>
            <a:fillRect/>
          </a:stretch>
        </p:blipFill>
        <p:spPr bwMode="auto">
          <a:xfrm>
            <a:off x="457200" y="228600"/>
            <a:ext cx="7497865" cy="5629276"/>
          </a:xfrm>
          <a:prstGeom prst="rect">
            <a:avLst/>
          </a:prstGeom>
        </p:spPr>
        <p:style>
          <a:lnRef idx="2">
            <a:schemeClr val="accent2"/>
          </a:lnRef>
          <a:fillRef idx="1">
            <a:schemeClr val="lt1"/>
          </a:fillRef>
          <a:effectRef idx="0">
            <a:schemeClr val="accent2"/>
          </a:effectRef>
          <a:fontRef idx="minor">
            <a:schemeClr val="dk1"/>
          </a:fontRef>
        </p:style>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spTree>
    <p:extLst>
      <p:ext uri="{BB962C8B-B14F-4D97-AF65-F5344CB8AC3E}">
        <p14:creationId xmlns:p14="http://schemas.microsoft.com/office/powerpoint/2010/main" val="1261746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The application of band theory to n-type and p-&#10;type semiconductors shows that extra levels have been added&#10;by the impurit..."/>
          <p:cNvPicPr>
            <a:picLocks noChangeAspect="1" noChangeArrowheads="1"/>
          </p:cNvPicPr>
          <p:nvPr/>
        </p:nvPicPr>
        <p:blipFill>
          <a:blip r:embed="rId2"/>
          <a:srcRect/>
          <a:stretch>
            <a:fillRect/>
          </a:stretch>
        </p:blipFill>
        <p:spPr bwMode="auto">
          <a:xfrm>
            <a:off x="304800" y="381000"/>
            <a:ext cx="7916526" cy="5943600"/>
          </a:xfrm>
          <a:prstGeom prst="rect">
            <a:avLst/>
          </a:prstGeom>
        </p:spPr>
        <p:style>
          <a:lnRef idx="2">
            <a:schemeClr val="accent2"/>
          </a:lnRef>
          <a:fillRef idx="1">
            <a:schemeClr val="lt1"/>
          </a:fillRef>
          <a:effectRef idx="0">
            <a:schemeClr val="accent2"/>
          </a:effectRef>
          <a:fontRef idx="minor">
            <a:schemeClr val="dk1"/>
          </a:fontRef>
        </p:style>
      </p:pic>
    </p:spTree>
    <p:extLst>
      <p:ext uri="{BB962C8B-B14F-4D97-AF65-F5344CB8AC3E}">
        <p14:creationId xmlns:p14="http://schemas.microsoft.com/office/powerpoint/2010/main" val="26034610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 Simple Diode (p n- junction Diode)&#10; The two terminals are called Anode and Cathode.&#10; At the instant the two materials ..."/>
          <p:cNvPicPr>
            <a:picLocks noChangeAspect="1" noChangeArrowheads="1"/>
          </p:cNvPicPr>
          <p:nvPr/>
        </p:nvPicPr>
        <p:blipFill>
          <a:blip r:embed="rId2"/>
          <a:srcRect/>
          <a:stretch>
            <a:fillRect/>
          </a:stretch>
        </p:blipFill>
        <p:spPr bwMode="auto">
          <a:xfrm>
            <a:off x="990600" y="838200"/>
            <a:ext cx="7409056" cy="5562600"/>
          </a:xfrm>
          <a:prstGeom prst="rect">
            <a:avLst/>
          </a:prstGeom>
        </p:spPr>
        <p:style>
          <a:lnRef idx="2">
            <a:schemeClr val="accent2"/>
          </a:lnRef>
          <a:fillRef idx="1">
            <a:schemeClr val="lt1"/>
          </a:fillRef>
          <a:effectRef idx="0">
            <a:schemeClr val="accent2"/>
          </a:effectRef>
          <a:fontRef idx="minor">
            <a:schemeClr val="dk1"/>
          </a:fontRef>
        </p:style>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868362"/>
          </a:xfrm>
        </p:spPr>
        <p:style>
          <a:lnRef idx="1">
            <a:schemeClr val="accent4"/>
          </a:lnRef>
          <a:fillRef idx="2">
            <a:schemeClr val="accent4"/>
          </a:fillRef>
          <a:effectRef idx="1">
            <a:schemeClr val="accent4"/>
          </a:effectRef>
          <a:fontRef idx="minor">
            <a:schemeClr val="dk1"/>
          </a:fontRef>
        </p:style>
        <p:txBody>
          <a:bodyPr>
            <a:normAutofit fontScale="90000"/>
          </a:bodyPr>
          <a:lstStyle/>
          <a:p>
            <a:pPr algn="ctr"/>
            <a:r>
              <a:rPr lang="en-US" b="1" dirty="0" smtClean="0">
                <a:solidFill>
                  <a:srgbClr val="3333FF"/>
                </a:solidFill>
              </a:rPr>
              <a:t>What is Fermi Energy?</a:t>
            </a:r>
            <a:br>
              <a:rPr lang="en-US" b="1" dirty="0" smtClean="0">
                <a:solidFill>
                  <a:srgbClr val="3333FF"/>
                </a:solidFill>
              </a:rPr>
            </a:br>
            <a:endParaRPr lang="en-US" dirty="0">
              <a:solidFill>
                <a:srgbClr val="3333FF"/>
              </a:solidFill>
            </a:endParaRPr>
          </a:p>
        </p:txBody>
      </p:sp>
      <p:sp>
        <p:nvSpPr>
          <p:cNvPr id="3" name="Content Placeholder 2"/>
          <p:cNvSpPr>
            <a:spLocks noGrp="1"/>
          </p:cNvSpPr>
          <p:nvPr>
            <p:ph sz="quarter" idx="1"/>
          </p:nvPr>
        </p:nvSpPr>
        <p:spPr/>
        <p:style>
          <a:lnRef idx="1">
            <a:schemeClr val="accent2"/>
          </a:lnRef>
          <a:fillRef idx="2">
            <a:schemeClr val="accent2"/>
          </a:fillRef>
          <a:effectRef idx="1">
            <a:schemeClr val="accent2"/>
          </a:effectRef>
          <a:fontRef idx="minor">
            <a:schemeClr val="dk1"/>
          </a:fontRef>
        </p:style>
        <p:txBody>
          <a:bodyPr>
            <a:normAutofit fontScale="92500" lnSpcReduction="10000"/>
          </a:bodyPr>
          <a:lstStyle/>
          <a:p>
            <a:r>
              <a:rPr lang="en-US" dirty="0" smtClean="0"/>
              <a:t>Named after the Physicist, </a:t>
            </a:r>
            <a:r>
              <a:rPr lang="en-US" dirty="0" err="1" smtClean="0">
                <a:solidFill>
                  <a:srgbClr val="FF0000"/>
                </a:solidFill>
              </a:rPr>
              <a:t>Enrico</a:t>
            </a:r>
            <a:r>
              <a:rPr lang="en-US" dirty="0" smtClean="0">
                <a:solidFill>
                  <a:srgbClr val="FF0000"/>
                </a:solidFill>
              </a:rPr>
              <a:t> Fermi, </a:t>
            </a:r>
            <a:r>
              <a:rPr lang="en-US" dirty="0" smtClean="0"/>
              <a:t>a Fermi level is the measure of the energy of least tightly held electrons within a solid. It is important in determining the thermal and electrical properties of solids. It can be defined as:</a:t>
            </a:r>
          </a:p>
          <a:p>
            <a:r>
              <a:rPr lang="en-US" dirty="0" smtClean="0">
                <a:solidFill>
                  <a:srgbClr val="3333FF"/>
                </a:solidFill>
              </a:rPr>
              <a:t>The Fermi energy is a concept in quantum mechanics usually referring to the energy difference between the highest and lowest occupied single-particle states in a quantum system of non-interacting fermions at </a:t>
            </a:r>
            <a:r>
              <a:rPr lang="en-US" b="1" dirty="0" smtClean="0">
                <a:solidFill>
                  <a:srgbClr val="3333FF"/>
                </a:solidFill>
              </a:rPr>
              <a:t>absolute zero temperature.</a:t>
            </a:r>
          </a:p>
          <a:p>
            <a:r>
              <a:rPr lang="en-US" b="1" dirty="0" smtClean="0">
                <a:solidFill>
                  <a:srgbClr val="CC00FF"/>
                </a:solidFill>
              </a:rPr>
              <a:t>The value of the Fermi level at absolute zero temperature (−273.15 °C) is known as the Fermi energy. </a:t>
            </a:r>
          </a:p>
          <a:p>
            <a:r>
              <a:rPr lang="en-US" dirty="0" smtClean="0">
                <a:solidFill>
                  <a:srgbClr val="FF0000"/>
                </a:solidFill>
              </a:rPr>
              <a:t>It is also the maximum kinetic energy an electron can attain at 0K. Fermi energy is constant for each solid.</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sz="quarter" idx="1"/>
          </p:nvPr>
        </p:nvPicPr>
        <p:blipFill>
          <a:blip r:embed="rId2"/>
          <a:srcRect/>
          <a:stretch>
            <a:fillRect/>
          </a:stretch>
        </p:blipFill>
        <p:spPr bwMode="auto">
          <a:xfrm>
            <a:off x="457200" y="1447800"/>
            <a:ext cx="7620000" cy="3810000"/>
          </a:xfrm>
          <a:prstGeom prst="rect">
            <a:avLst/>
          </a:prstGeom>
          <a:ln>
            <a:headEnd/>
            <a:tailEnd/>
          </a:ln>
        </p:spPr>
        <p:style>
          <a:lnRef idx="2">
            <a:schemeClr val="accent1"/>
          </a:lnRef>
          <a:fillRef idx="1">
            <a:schemeClr val="lt1"/>
          </a:fillRef>
          <a:effectRef idx="0">
            <a:schemeClr val="accent1"/>
          </a:effectRef>
          <a:fontRef idx="minor">
            <a:schemeClr val="dk1"/>
          </a:fontRef>
        </p:style>
      </p:pic>
      <p:sp>
        <p:nvSpPr>
          <p:cNvPr id="5" name="Rectangle 4"/>
          <p:cNvSpPr/>
          <p:nvPr/>
        </p:nvSpPr>
        <p:spPr>
          <a:xfrm>
            <a:off x="2133600" y="381000"/>
            <a:ext cx="5782352" cy="707886"/>
          </a:xfrm>
          <a:prstGeom prst="rect">
            <a:avLst/>
          </a:prstGeom>
        </p:spPr>
        <p:style>
          <a:lnRef idx="2">
            <a:schemeClr val="accent3"/>
          </a:lnRef>
          <a:fillRef idx="1">
            <a:schemeClr val="lt1"/>
          </a:fillRef>
          <a:effectRef idx="0">
            <a:schemeClr val="accent3"/>
          </a:effectRef>
          <a:fontRef idx="minor">
            <a:schemeClr val="dk1"/>
          </a:fontRef>
        </p:style>
        <p:txBody>
          <a:bodyPr wrap="none">
            <a:spAutoFit/>
          </a:bodyPr>
          <a:lstStyle/>
          <a:p>
            <a:r>
              <a:rPr lang="en-US" sz="4000" b="1" dirty="0" smtClean="0">
                <a:solidFill>
                  <a:srgbClr val="3333FF"/>
                </a:solidFill>
              </a:rPr>
              <a:t>What is Fermi Level?</a:t>
            </a:r>
            <a:endParaRPr lang="en-US" sz="4000" b="1" dirty="0">
              <a:solidFill>
                <a:srgbClr val="3333FF"/>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4"/>
          </a:lnRef>
          <a:fillRef idx="2">
            <a:schemeClr val="accent4"/>
          </a:fillRef>
          <a:effectRef idx="1">
            <a:schemeClr val="accent4"/>
          </a:effectRef>
          <a:fontRef idx="minor">
            <a:schemeClr val="dk1"/>
          </a:fontRef>
        </p:style>
        <p:txBody>
          <a:bodyPr/>
          <a:lstStyle/>
          <a:p>
            <a:r>
              <a:rPr lang="en-US" b="1" dirty="0" smtClean="0">
                <a:solidFill>
                  <a:srgbClr val="3333FF"/>
                </a:solidFill>
              </a:rPr>
              <a:t>What is Quasi-</a:t>
            </a:r>
            <a:r>
              <a:rPr lang="en-US" b="1" dirty="0" err="1" smtClean="0">
                <a:solidFill>
                  <a:srgbClr val="3333FF"/>
                </a:solidFill>
              </a:rPr>
              <a:t>fermi</a:t>
            </a:r>
            <a:r>
              <a:rPr lang="en-US" b="1" dirty="0" smtClean="0">
                <a:solidFill>
                  <a:srgbClr val="3333FF"/>
                </a:solidFill>
              </a:rPr>
              <a:t> energy level?</a:t>
            </a:r>
            <a:br>
              <a:rPr lang="en-US" b="1" dirty="0" smtClean="0">
                <a:solidFill>
                  <a:srgbClr val="3333FF"/>
                </a:solidFill>
              </a:rPr>
            </a:br>
            <a:endParaRPr lang="en-US" dirty="0">
              <a:solidFill>
                <a:srgbClr val="3333FF"/>
              </a:solidFill>
            </a:endParaRPr>
          </a:p>
        </p:txBody>
      </p:sp>
      <p:sp>
        <p:nvSpPr>
          <p:cNvPr id="3" name="Content Placeholder 2"/>
          <p:cNvSpPr>
            <a:spLocks noGrp="1"/>
          </p:cNvSpPr>
          <p:nvPr>
            <p:ph sz="quarter" idx="1"/>
          </p:nvPr>
        </p:nvSpPr>
        <p:spPr/>
        <p:style>
          <a:lnRef idx="1">
            <a:schemeClr val="accent4"/>
          </a:lnRef>
          <a:fillRef idx="2">
            <a:schemeClr val="accent4"/>
          </a:fillRef>
          <a:effectRef idx="1">
            <a:schemeClr val="accent4"/>
          </a:effectRef>
          <a:fontRef idx="minor">
            <a:schemeClr val="dk1"/>
          </a:fontRef>
        </p:style>
        <p:txBody>
          <a:bodyPr/>
          <a:lstStyle/>
          <a:p>
            <a:endParaRPr lang="en-US" dirty="0" smtClean="0">
              <a:solidFill>
                <a:srgbClr val="3333FF"/>
              </a:solidFill>
            </a:endParaRPr>
          </a:p>
          <a:p>
            <a:r>
              <a:rPr lang="en-US" dirty="0" smtClean="0">
                <a:solidFill>
                  <a:srgbClr val="3333FF"/>
                </a:solidFill>
              </a:rPr>
              <a:t>Quasi-</a:t>
            </a:r>
            <a:r>
              <a:rPr lang="en-US" dirty="0" err="1" smtClean="0">
                <a:solidFill>
                  <a:srgbClr val="3333FF"/>
                </a:solidFill>
              </a:rPr>
              <a:t>fermi</a:t>
            </a:r>
            <a:r>
              <a:rPr lang="en-US" dirty="0" smtClean="0">
                <a:solidFill>
                  <a:srgbClr val="3333FF"/>
                </a:solidFill>
              </a:rPr>
              <a:t> energy level is defined as the change in the level of Fermi level as the charge carriers are added excessively to the semiconductor.</a:t>
            </a:r>
          </a:p>
          <a:p>
            <a:endParaRPr lang="en-US" dirty="0" smtClean="0">
              <a:solidFill>
                <a:srgbClr val="3333FF"/>
              </a:solidFill>
            </a:endParaRP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extLst>
              <p:ext uri="{D42A27DB-BD31-4B8C-83A1-F6EECF244321}">
                <p14:modId xmlns:p14="http://schemas.microsoft.com/office/powerpoint/2010/main" val="1011473463"/>
              </p:ext>
            </p:extLst>
          </p:nvPr>
        </p:nvGraphicFramePr>
        <p:xfrm>
          <a:off x="685800" y="685800"/>
          <a:ext cx="7391400" cy="6048200"/>
        </p:xfrm>
        <a:graphic>
          <a:graphicData uri="http://schemas.openxmlformats.org/drawingml/2006/table">
            <a:tbl>
              <a:tblPr/>
              <a:tblGrid>
                <a:gridCol w="3695700"/>
                <a:gridCol w="3695700"/>
              </a:tblGrid>
              <a:tr h="296655">
                <a:tc>
                  <a:txBody>
                    <a:bodyPr/>
                    <a:lstStyle/>
                    <a:p>
                      <a:r>
                        <a:rPr lang="en-US" sz="1100" b="1" dirty="0">
                          <a:solidFill>
                            <a:srgbClr val="3333FF"/>
                          </a:solidFill>
                        </a:rPr>
                        <a:t>Element</a:t>
                      </a:r>
                      <a:endParaRPr lang="en-US" sz="1100" dirty="0">
                        <a:solidFill>
                          <a:srgbClr val="3333FF"/>
                        </a:solidFill>
                      </a:endParaRPr>
                    </a:p>
                  </a:txBody>
                  <a:tcPr marL="42379" marR="42379" marT="21190" marB="21190" anchor="ctr">
                    <a:lnL>
                      <a:noFill/>
                    </a:lnL>
                    <a:lnR>
                      <a:noFill/>
                    </a:lnR>
                    <a:lnT>
                      <a:noFill/>
                    </a:lnT>
                    <a:lnB>
                      <a:noFill/>
                    </a:lnB>
                  </a:tcPr>
                </a:tc>
                <a:tc>
                  <a:txBody>
                    <a:bodyPr/>
                    <a:lstStyle/>
                    <a:p>
                      <a:r>
                        <a:rPr lang="en-US" sz="1100" b="1">
                          <a:solidFill>
                            <a:srgbClr val="3333FF"/>
                          </a:solidFill>
                        </a:rPr>
                        <a:t>Fermi Energy</a:t>
                      </a:r>
                      <a:endParaRPr lang="en-US" sz="1100">
                        <a:solidFill>
                          <a:srgbClr val="3333FF"/>
                        </a:solidFill>
                      </a:endParaRPr>
                    </a:p>
                    <a:p>
                      <a:r>
                        <a:rPr lang="en-US" sz="1100" b="1">
                          <a:solidFill>
                            <a:srgbClr val="3333FF"/>
                          </a:solidFill>
                        </a:rPr>
                        <a:t>eV</a:t>
                      </a:r>
                      <a:endParaRPr lang="en-US" sz="1100">
                        <a:solidFill>
                          <a:srgbClr val="3333FF"/>
                        </a:solidFill>
                      </a:endParaRPr>
                    </a:p>
                  </a:txBody>
                  <a:tcPr marL="42379" marR="42379" marT="21190" marB="21190" anchor="ctr">
                    <a:lnL>
                      <a:noFill/>
                    </a:lnL>
                    <a:lnR>
                      <a:noFill/>
                    </a:lnR>
                    <a:lnT>
                      <a:noFill/>
                    </a:lnT>
                    <a:lnB>
                      <a:noFill/>
                    </a:lnB>
                  </a:tcPr>
                </a:tc>
              </a:tr>
              <a:tr h="169517">
                <a:tc>
                  <a:txBody>
                    <a:bodyPr/>
                    <a:lstStyle/>
                    <a:p>
                      <a:r>
                        <a:rPr lang="en-US" sz="1100">
                          <a:solidFill>
                            <a:srgbClr val="3333FF"/>
                          </a:solidFill>
                        </a:rPr>
                        <a:t>Li</a:t>
                      </a:r>
                    </a:p>
                  </a:txBody>
                  <a:tcPr marL="42379" marR="42379" marT="21190" marB="21190" anchor="ctr">
                    <a:lnL>
                      <a:noFill/>
                    </a:lnL>
                    <a:lnR>
                      <a:noFill/>
                    </a:lnR>
                    <a:lnT>
                      <a:noFill/>
                    </a:lnT>
                    <a:lnB>
                      <a:noFill/>
                    </a:lnB>
                  </a:tcPr>
                </a:tc>
                <a:tc>
                  <a:txBody>
                    <a:bodyPr/>
                    <a:lstStyle/>
                    <a:p>
                      <a:r>
                        <a:rPr lang="en-US" sz="1100">
                          <a:solidFill>
                            <a:srgbClr val="3333FF"/>
                          </a:solidFill>
                        </a:rPr>
                        <a:t>4.74</a:t>
                      </a:r>
                    </a:p>
                  </a:txBody>
                  <a:tcPr marL="42379" marR="42379" marT="21190" marB="21190" anchor="ctr">
                    <a:lnL>
                      <a:noFill/>
                    </a:lnL>
                    <a:lnR>
                      <a:noFill/>
                    </a:lnR>
                    <a:lnT>
                      <a:noFill/>
                    </a:lnT>
                    <a:lnB>
                      <a:noFill/>
                    </a:lnB>
                  </a:tcPr>
                </a:tc>
              </a:tr>
              <a:tr h="169517">
                <a:tc>
                  <a:txBody>
                    <a:bodyPr/>
                    <a:lstStyle/>
                    <a:p>
                      <a:r>
                        <a:rPr lang="en-US" sz="1100">
                          <a:solidFill>
                            <a:srgbClr val="3333FF"/>
                          </a:solidFill>
                        </a:rPr>
                        <a:t>K</a:t>
                      </a:r>
                    </a:p>
                  </a:txBody>
                  <a:tcPr marL="42379" marR="42379" marT="21190" marB="21190" anchor="ctr">
                    <a:lnL>
                      <a:noFill/>
                    </a:lnL>
                    <a:lnR>
                      <a:noFill/>
                    </a:lnR>
                    <a:lnT>
                      <a:noFill/>
                    </a:lnT>
                    <a:lnB>
                      <a:noFill/>
                    </a:lnB>
                  </a:tcPr>
                </a:tc>
                <a:tc>
                  <a:txBody>
                    <a:bodyPr/>
                    <a:lstStyle/>
                    <a:p>
                      <a:r>
                        <a:rPr lang="en-US" sz="1100">
                          <a:solidFill>
                            <a:srgbClr val="3333FF"/>
                          </a:solidFill>
                        </a:rPr>
                        <a:t>2.12</a:t>
                      </a:r>
                    </a:p>
                  </a:txBody>
                  <a:tcPr marL="42379" marR="42379" marT="21190" marB="21190" anchor="ctr">
                    <a:lnL>
                      <a:noFill/>
                    </a:lnL>
                    <a:lnR>
                      <a:noFill/>
                    </a:lnR>
                    <a:lnT>
                      <a:noFill/>
                    </a:lnT>
                    <a:lnB>
                      <a:noFill/>
                    </a:lnB>
                  </a:tcPr>
                </a:tc>
              </a:tr>
              <a:tr h="169517">
                <a:tc>
                  <a:txBody>
                    <a:bodyPr/>
                    <a:lstStyle/>
                    <a:p>
                      <a:r>
                        <a:rPr lang="en-US" sz="1100">
                          <a:solidFill>
                            <a:srgbClr val="3333FF"/>
                          </a:solidFill>
                        </a:rPr>
                        <a:t>Na</a:t>
                      </a:r>
                    </a:p>
                  </a:txBody>
                  <a:tcPr marL="42379" marR="42379" marT="21190" marB="21190" anchor="ctr">
                    <a:lnL>
                      <a:noFill/>
                    </a:lnL>
                    <a:lnR>
                      <a:noFill/>
                    </a:lnR>
                    <a:lnT>
                      <a:noFill/>
                    </a:lnT>
                    <a:lnB>
                      <a:noFill/>
                    </a:lnB>
                  </a:tcPr>
                </a:tc>
                <a:tc>
                  <a:txBody>
                    <a:bodyPr/>
                    <a:lstStyle/>
                    <a:p>
                      <a:r>
                        <a:rPr lang="en-US" sz="1100">
                          <a:solidFill>
                            <a:srgbClr val="3333FF"/>
                          </a:solidFill>
                        </a:rPr>
                        <a:t>3.24</a:t>
                      </a:r>
                    </a:p>
                  </a:txBody>
                  <a:tcPr marL="42379" marR="42379" marT="21190" marB="21190" anchor="ctr">
                    <a:lnL>
                      <a:noFill/>
                    </a:lnL>
                    <a:lnR>
                      <a:noFill/>
                    </a:lnR>
                    <a:lnT>
                      <a:noFill/>
                    </a:lnT>
                    <a:lnB>
                      <a:noFill/>
                    </a:lnB>
                  </a:tcPr>
                </a:tc>
              </a:tr>
              <a:tr h="169517">
                <a:tc>
                  <a:txBody>
                    <a:bodyPr/>
                    <a:lstStyle/>
                    <a:p>
                      <a:r>
                        <a:rPr lang="en-US" sz="1100">
                          <a:solidFill>
                            <a:srgbClr val="3333FF"/>
                          </a:solidFill>
                        </a:rPr>
                        <a:t>Cs</a:t>
                      </a:r>
                    </a:p>
                  </a:txBody>
                  <a:tcPr marL="42379" marR="42379" marT="21190" marB="21190" anchor="ctr">
                    <a:lnL>
                      <a:noFill/>
                    </a:lnL>
                    <a:lnR>
                      <a:noFill/>
                    </a:lnR>
                    <a:lnT>
                      <a:noFill/>
                    </a:lnT>
                    <a:lnB>
                      <a:noFill/>
                    </a:lnB>
                  </a:tcPr>
                </a:tc>
                <a:tc>
                  <a:txBody>
                    <a:bodyPr/>
                    <a:lstStyle/>
                    <a:p>
                      <a:r>
                        <a:rPr lang="en-US" sz="1100" dirty="0">
                          <a:solidFill>
                            <a:srgbClr val="3333FF"/>
                          </a:solidFill>
                        </a:rPr>
                        <a:t>1.59</a:t>
                      </a:r>
                    </a:p>
                  </a:txBody>
                  <a:tcPr marL="42379" marR="42379" marT="21190" marB="21190" anchor="ctr">
                    <a:lnL>
                      <a:noFill/>
                    </a:lnL>
                    <a:lnR>
                      <a:noFill/>
                    </a:lnR>
                    <a:lnT>
                      <a:noFill/>
                    </a:lnT>
                    <a:lnB>
                      <a:noFill/>
                    </a:lnB>
                  </a:tcPr>
                </a:tc>
              </a:tr>
              <a:tr h="169517">
                <a:tc>
                  <a:txBody>
                    <a:bodyPr/>
                    <a:lstStyle/>
                    <a:p>
                      <a:r>
                        <a:rPr lang="en-US" sz="1100" dirty="0" err="1">
                          <a:solidFill>
                            <a:srgbClr val="3333FF"/>
                          </a:solidFill>
                        </a:rPr>
                        <a:t>Rb</a:t>
                      </a:r>
                      <a:endParaRPr lang="en-US" sz="1100" dirty="0">
                        <a:solidFill>
                          <a:srgbClr val="3333FF"/>
                        </a:solidFill>
                      </a:endParaRPr>
                    </a:p>
                  </a:txBody>
                  <a:tcPr marL="42379" marR="42379" marT="21190" marB="21190" anchor="ctr">
                    <a:lnL>
                      <a:noFill/>
                    </a:lnL>
                    <a:lnR>
                      <a:noFill/>
                    </a:lnR>
                    <a:lnT>
                      <a:noFill/>
                    </a:lnT>
                    <a:lnB>
                      <a:noFill/>
                    </a:lnB>
                  </a:tcPr>
                </a:tc>
                <a:tc>
                  <a:txBody>
                    <a:bodyPr/>
                    <a:lstStyle/>
                    <a:p>
                      <a:r>
                        <a:rPr lang="en-US" sz="1100" dirty="0">
                          <a:solidFill>
                            <a:srgbClr val="3333FF"/>
                          </a:solidFill>
                        </a:rPr>
                        <a:t>1.85</a:t>
                      </a:r>
                    </a:p>
                  </a:txBody>
                  <a:tcPr marL="42379" marR="42379" marT="21190" marB="21190" anchor="ctr">
                    <a:lnL>
                      <a:noFill/>
                    </a:lnL>
                    <a:lnR>
                      <a:noFill/>
                    </a:lnR>
                    <a:lnT>
                      <a:noFill/>
                    </a:lnT>
                    <a:lnB>
                      <a:noFill/>
                    </a:lnB>
                  </a:tcPr>
                </a:tc>
              </a:tr>
              <a:tr h="74955">
                <a:tc>
                  <a:txBody>
                    <a:bodyPr/>
                    <a:lstStyle/>
                    <a:p>
                      <a:r>
                        <a:rPr lang="en-US" sz="1100">
                          <a:solidFill>
                            <a:srgbClr val="3333FF"/>
                          </a:solidFill>
                        </a:rPr>
                        <a:t>Ag</a:t>
                      </a:r>
                    </a:p>
                  </a:txBody>
                  <a:tcPr marL="42379" marR="42379" marT="21190" marB="21190" anchor="ctr">
                    <a:lnL>
                      <a:noFill/>
                    </a:lnL>
                    <a:lnR>
                      <a:noFill/>
                    </a:lnR>
                    <a:lnT>
                      <a:noFill/>
                    </a:lnT>
                    <a:lnB>
                      <a:noFill/>
                    </a:lnB>
                  </a:tcPr>
                </a:tc>
                <a:tc>
                  <a:txBody>
                    <a:bodyPr/>
                    <a:lstStyle/>
                    <a:p>
                      <a:r>
                        <a:rPr lang="en-US" sz="1100" dirty="0">
                          <a:solidFill>
                            <a:srgbClr val="3333FF"/>
                          </a:solidFill>
                        </a:rPr>
                        <a:t>5.49</a:t>
                      </a:r>
                    </a:p>
                  </a:txBody>
                  <a:tcPr marL="42379" marR="42379" marT="21190" marB="21190" anchor="ctr">
                    <a:lnL>
                      <a:noFill/>
                    </a:lnL>
                    <a:lnR>
                      <a:noFill/>
                    </a:lnR>
                    <a:lnT>
                      <a:noFill/>
                    </a:lnT>
                    <a:lnB>
                      <a:noFill/>
                    </a:lnB>
                  </a:tcPr>
                </a:tc>
              </a:tr>
              <a:tr h="169517">
                <a:tc>
                  <a:txBody>
                    <a:bodyPr/>
                    <a:lstStyle/>
                    <a:p>
                      <a:r>
                        <a:rPr lang="en-US" sz="1100">
                          <a:solidFill>
                            <a:srgbClr val="3333FF"/>
                          </a:solidFill>
                        </a:rPr>
                        <a:t>Cu</a:t>
                      </a:r>
                    </a:p>
                  </a:txBody>
                  <a:tcPr marL="42379" marR="42379" marT="21190" marB="21190" anchor="ctr">
                    <a:lnL>
                      <a:noFill/>
                    </a:lnL>
                    <a:lnR>
                      <a:noFill/>
                    </a:lnR>
                    <a:lnT>
                      <a:noFill/>
                    </a:lnT>
                    <a:lnB>
                      <a:noFill/>
                    </a:lnB>
                  </a:tcPr>
                </a:tc>
                <a:tc>
                  <a:txBody>
                    <a:bodyPr/>
                    <a:lstStyle/>
                    <a:p>
                      <a:r>
                        <a:rPr lang="en-US" sz="1100" dirty="0">
                          <a:solidFill>
                            <a:srgbClr val="3333FF"/>
                          </a:solidFill>
                        </a:rPr>
                        <a:t>7.00</a:t>
                      </a:r>
                    </a:p>
                  </a:txBody>
                  <a:tcPr marL="42379" marR="42379" marT="21190" marB="21190" anchor="ctr">
                    <a:lnL>
                      <a:noFill/>
                    </a:lnL>
                    <a:lnR>
                      <a:noFill/>
                    </a:lnR>
                    <a:lnT>
                      <a:noFill/>
                    </a:lnT>
                    <a:lnB>
                      <a:noFill/>
                    </a:lnB>
                  </a:tcPr>
                </a:tc>
              </a:tr>
              <a:tr h="169517">
                <a:tc>
                  <a:txBody>
                    <a:bodyPr/>
                    <a:lstStyle/>
                    <a:p>
                      <a:r>
                        <a:rPr lang="en-US" sz="1100">
                          <a:solidFill>
                            <a:srgbClr val="3333FF"/>
                          </a:solidFill>
                        </a:rPr>
                        <a:t>Be</a:t>
                      </a:r>
                    </a:p>
                  </a:txBody>
                  <a:tcPr marL="42379" marR="42379" marT="21190" marB="21190" anchor="ctr">
                    <a:lnL>
                      <a:noFill/>
                    </a:lnL>
                    <a:lnR>
                      <a:noFill/>
                    </a:lnR>
                    <a:lnT>
                      <a:noFill/>
                    </a:lnT>
                    <a:lnB>
                      <a:noFill/>
                    </a:lnB>
                  </a:tcPr>
                </a:tc>
                <a:tc>
                  <a:txBody>
                    <a:bodyPr/>
                    <a:lstStyle/>
                    <a:p>
                      <a:r>
                        <a:rPr lang="en-US" sz="1100">
                          <a:solidFill>
                            <a:srgbClr val="3333FF"/>
                          </a:solidFill>
                        </a:rPr>
                        <a:t>14.3</a:t>
                      </a:r>
                    </a:p>
                  </a:txBody>
                  <a:tcPr marL="42379" marR="42379" marT="21190" marB="21190" anchor="ctr">
                    <a:lnL>
                      <a:noFill/>
                    </a:lnL>
                    <a:lnR>
                      <a:noFill/>
                    </a:lnR>
                    <a:lnT>
                      <a:noFill/>
                    </a:lnT>
                    <a:lnB>
                      <a:noFill/>
                    </a:lnB>
                  </a:tcPr>
                </a:tc>
              </a:tr>
              <a:tr h="169517">
                <a:tc>
                  <a:txBody>
                    <a:bodyPr/>
                    <a:lstStyle/>
                    <a:p>
                      <a:r>
                        <a:rPr lang="en-US" sz="1100">
                          <a:solidFill>
                            <a:srgbClr val="3333FF"/>
                          </a:solidFill>
                        </a:rPr>
                        <a:t>Au</a:t>
                      </a:r>
                    </a:p>
                  </a:txBody>
                  <a:tcPr marL="42379" marR="42379" marT="21190" marB="21190" anchor="ctr">
                    <a:lnL>
                      <a:noFill/>
                    </a:lnL>
                    <a:lnR>
                      <a:noFill/>
                    </a:lnR>
                    <a:lnT>
                      <a:noFill/>
                    </a:lnT>
                    <a:lnB>
                      <a:noFill/>
                    </a:lnB>
                  </a:tcPr>
                </a:tc>
                <a:tc>
                  <a:txBody>
                    <a:bodyPr/>
                    <a:lstStyle/>
                    <a:p>
                      <a:r>
                        <a:rPr lang="en-US" sz="1100">
                          <a:solidFill>
                            <a:srgbClr val="3333FF"/>
                          </a:solidFill>
                        </a:rPr>
                        <a:t>5.53</a:t>
                      </a:r>
                    </a:p>
                  </a:txBody>
                  <a:tcPr marL="42379" marR="42379" marT="21190" marB="21190" anchor="ctr">
                    <a:lnL>
                      <a:noFill/>
                    </a:lnL>
                    <a:lnR>
                      <a:noFill/>
                    </a:lnR>
                    <a:lnT>
                      <a:noFill/>
                    </a:lnT>
                    <a:lnB>
                      <a:noFill/>
                    </a:lnB>
                  </a:tcPr>
                </a:tc>
              </a:tr>
              <a:tr h="169517">
                <a:tc>
                  <a:txBody>
                    <a:bodyPr/>
                    <a:lstStyle/>
                    <a:p>
                      <a:r>
                        <a:rPr lang="en-US" sz="1100">
                          <a:solidFill>
                            <a:srgbClr val="3333FF"/>
                          </a:solidFill>
                        </a:rPr>
                        <a:t>Ca</a:t>
                      </a:r>
                    </a:p>
                  </a:txBody>
                  <a:tcPr marL="42379" marR="42379" marT="21190" marB="21190" anchor="ctr">
                    <a:lnL>
                      <a:noFill/>
                    </a:lnL>
                    <a:lnR>
                      <a:noFill/>
                    </a:lnR>
                    <a:lnT>
                      <a:noFill/>
                    </a:lnT>
                    <a:lnB>
                      <a:noFill/>
                    </a:lnB>
                  </a:tcPr>
                </a:tc>
                <a:tc>
                  <a:txBody>
                    <a:bodyPr/>
                    <a:lstStyle/>
                    <a:p>
                      <a:r>
                        <a:rPr lang="en-US" sz="1100">
                          <a:solidFill>
                            <a:srgbClr val="3333FF"/>
                          </a:solidFill>
                        </a:rPr>
                        <a:t>4.69</a:t>
                      </a:r>
                    </a:p>
                  </a:txBody>
                  <a:tcPr marL="42379" marR="42379" marT="21190" marB="21190" anchor="ctr">
                    <a:lnL>
                      <a:noFill/>
                    </a:lnL>
                    <a:lnR>
                      <a:noFill/>
                    </a:lnR>
                    <a:lnT>
                      <a:noFill/>
                    </a:lnT>
                    <a:lnB>
                      <a:noFill/>
                    </a:lnB>
                  </a:tcPr>
                </a:tc>
              </a:tr>
              <a:tr h="169517">
                <a:tc>
                  <a:txBody>
                    <a:bodyPr/>
                    <a:lstStyle/>
                    <a:p>
                      <a:r>
                        <a:rPr lang="en-US" sz="1100">
                          <a:solidFill>
                            <a:srgbClr val="3333FF"/>
                          </a:solidFill>
                        </a:rPr>
                        <a:t>Mg</a:t>
                      </a:r>
                    </a:p>
                  </a:txBody>
                  <a:tcPr marL="42379" marR="42379" marT="21190" marB="21190" anchor="ctr">
                    <a:lnL>
                      <a:noFill/>
                    </a:lnL>
                    <a:lnR>
                      <a:noFill/>
                    </a:lnR>
                    <a:lnT>
                      <a:noFill/>
                    </a:lnT>
                    <a:lnB>
                      <a:noFill/>
                    </a:lnB>
                  </a:tcPr>
                </a:tc>
                <a:tc>
                  <a:txBody>
                    <a:bodyPr/>
                    <a:lstStyle/>
                    <a:p>
                      <a:r>
                        <a:rPr lang="en-US" sz="1100" dirty="0">
                          <a:solidFill>
                            <a:srgbClr val="3333FF"/>
                          </a:solidFill>
                        </a:rPr>
                        <a:t>7.08</a:t>
                      </a:r>
                    </a:p>
                  </a:txBody>
                  <a:tcPr marL="42379" marR="42379" marT="21190" marB="21190" anchor="ctr">
                    <a:lnL>
                      <a:noFill/>
                    </a:lnL>
                    <a:lnR>
                      <a:noFill/>
                    </a:lnR>
                    <a:lnT>
                      <a:noFill/>
                    </a:lnT>
                    <a:lnB>
                      <a:noFill/>
                    </a:lnB>
                  </a:tcPr>
                </a:tc>
              </a:tr>
              <a:tr h="169517">
                <a:tc>
                  <a:txBody>
                    <a:bodyPr/>
                    <a:lstStyle/>
                    <a:p>
                      <a:r>
                        <a:rPr lang="en-US" sz="1100">
                          <a:solidFill>
                            <a:srgbClr val="3333FF"/>
                          </a:solidFill>
                        </a:rPr>
                        <a:t>Ba</a:t>
                      </a:r>
                    </a:p>
                  </a:txBody>
                  <a:tcPr marL="42379" marR="42379" marT="21190" marB="21190" anchor="ctr">
                    <a:lnL>
                      <a:noFill/>
                    </a:lnL>
                    <a:lnR>
                      <a:noFill/>
                    </a:lnR>
                    <a:lnT>
                      <a:noFill/>
                    </a:lnT>
                    <a:lnB>
                      <a:noFill/>
                    </a:lnB>
                  </a:tcPr>
                </a:tc>
                <a:tc>
                  <a:txBody>
                    <a:bodyPr/>
                    <a:lstStyle/>
                    <a:p>
                      <a:r>
                        <a:rPr lang="en-US" sz="1100">
                          <a:solidFill>
                            <a:srgbClr val="3333FF"/>
                          </a:solidFill>
                        </a:rPr>
                        <a:t>3.64</a:t>
                      </a:r>
                    </a:p>
                  </a:txBody>
                  <a:tcPr marL="42379" marR="42379" marT="21190" marB="21190" anchor="ctr">
                    <a:lnL>
                      <a:noFill/>
                    </a:lnL>
                    <a:lnR>
                      <a:noFill/>
                    </a:lnR>
                    <a:lnT>
                      <a:noFill/>
                    </a:lnT>
                    <a:lnB>
                      <a:noFill/>
                    </a:lnB>
                  </a:tcPr>
                </a:tc>
              </a:tr>
              <a:tr h="169517">
                <a:tc>
                  <a:txBody>
                    <a:bodyPr/>
                    <a:lstStyle/>
                    <a:p>
                      <a:r>
                        <a:rPr lang="en-US" sz="1100">
                          <a:solidFill>
                            <a:srgbClr val="3333FF"/>
                          </a:solidFill>
                        </a:rPr>
                        <a:t>Sr</a:t>
                      </a:r>
                    </a:p>
                  </a:txBody>
                  <a:tcPr marL="42379" marR="42379" marT="21190" marB="21190" anchor="ctr">
                    <a:lnL>
                      <a:noFill/>
                    </a:lnL>
                    <a:lnR>
                      <a:noFill/>
                    </a:lnR>
                    <a:lnT>
                      <a:noFill/>
                    </a:lnT>
                    <a:lnB>
                      <a:noFill/>
                    </a:lnB>
                  </a:tcPr>
                </a:tc>
                <a:tc>
                  <a:txBody>
                    <a:bodyPr/>
                    <a:lstStyle/>
                    <a:p>
                      <a:r>
                        <a:rPr lang="en-US" sz="1100">
                          <a:solidFill>
                            <a:srgbClr val="3333FF"/>
                          </a:solidFill>
                        </a:rPr>
                        <a:t>3.93</a:t>
                      </a:r>
                    </a:p>
                  </a:txBody>
                  <a:tcPr marL="42379" marR="42379" marT="21190" marB="21190" anchor="ctr">
                    <a:lnL>
                      <a:noFill/>
                    </a:lnL>
                    <a:lnR>
                      <a:noFill/>
                    </a:lnR>
                    <a:lnT>
                      <a:noFill/>
                    </a:lnT>
                    <a:lnB>
                      <a:noFill/>
                    </a:lnB>
                  </a:tcPr>
                </a:tc>
              </a:tr>
              <a:tr h="169517">
                <a:tc>
                  <a:txBody>
                    <a:bodyPr/>
                    <a:lstStyle/>
                    <a:p>
                      <a:r>
                        <a:rPr lang="en-US" sz="1100">
                          <a:solidFill>
                            <a:srgbClr val="3333FF"/>
                          </a:solidFill>
                        </a:rPr>
                        <a:t>Fe</a:t>
                      </a:r>
                    </a:p>
                  </a:txBody>
                  <a:tcPr marL="42379" marR="42379" marT="21190" marB="21190" anchor="ctr">
                    <a:lnL>
                      <a:noFill/>
                    </a:lnL>
                    <a:lnR>
                      <a:noFill/>
                    </a:lnR>
                    <a:lnT>
                      <a:noFill/>
                    </a:lnT>
                    <a:lnB>
                      <a:noFill/>
                    </a:lnB>
                  </a:tcPr>
                </a:tc>
                <a:tc>
                  <a:txBody>
                    <a:bodyPr/>
                    <a:lstStyle/>
                    <a:p>
                      <a:r>
                        <a:rPr lang="en-US" sz="1100">
                          <a:solidFill>
                            <a:srgbClr val="3333FF"/>
                          </a:solidFill>
                        </a:rPr>
                        <a:t>11.1</a:t>
                      </a:r>
                    </a:p>
                  </a:txBody>
                  <a:tcPr marL="42379" marR="42379" marT="21190" marB="21190" anchor="ctr">
                    <a:lnL>
                      <a:noFill/>
                    </a:lnL>
                    <a:lnR>
                      <a:noFill/>
                    </a:lnR>
                    <a:lnT>
                      <a:noFill/>
                    </a:lnT>
                    <a:lnB>
                      <a:noFill/>
                    </a:lnB>
                  </a:tcPr>
                </a:tc>
              </a:tr>
              <a:tr h="169517">
                <a:tc>
                  <a:txBody>
                    <a:bodyPr/>
                    <a:lstStyle/>
                    <a:p>
                      <a:r>
                        <a:rPr lang="en-US" sz="1100">
                          <a:solidFill>
                            <a:srgbClr val="3333FF"/>
                          </a:solidFill>
                        </a:rPr>
                        <a:t>Nb</a:t>
                      </a:r>
                    </a:p>
                  </a:txBody>
                  <a:tcPr marL="42379" marR="42379" marT="21190" marB="21190" anchor="ctr">
                    <a:lnL>
                      <a:noFill/>
                    </a:lnL>
                    <a:lnR>
                      <a:noFill/>
                    </a:lnR>
                    <a:lnT>
                      <a:noFill/>
                    </a:lnT>
                    <a:lnB>
                      <a:noFill/>
                    </a:lnB>
                  </a:tcPr>
                </a:tc>
                <a:tc>
                  <a:txBody>
                    <a:bodyPr/>
                    <a:lstStyle/>
                    <a:p>
                      <a:r>
                        <a:rPr lang="en-US" sz="1100">
                          <a:solidFill>
                            <a:srgbClr val="3333FF"/>
                          </a:solidFill>
                        </a:rPr>
                        <a:t>5.32</a:t>
                      </a:r>
                    </a:p>
                  </a:txBody>
                  <a:tcPr marL="42379" marR="42379" marT="21190" marB="21190" anchor="ctr">
                    <a:lnL>
                      <a:noFill/>
                    </a:lnL>
                    <a:lnR>
                      <a:noFill/>
                    </a:lnR>
                    <a:lnT>
                      <a:noFill/>
                    </a:lnT>
                    <a:lnB>
                      <a:noFill/>
                    </a:lnB>
                  </a:tcPr>
                </a:tc>
              </a:tr>
              <a:tr h="169517">
                <a:tc>
                  <a:txBody>
                    <a:bodyPr/>
                    <a:lstStyle/>
                    <a:p>
                      <a:r>
                        <a:rPr lang="en-US" sz="1100">
                          <a:solidFill>
                            <a:srgbClr val="3333FF"/>
                          </a:solidFill>
                        </a:rPr>
                        <a:t>Zn</a:t>
                      </a:r>
                    </a:p>
                  </a:txBody>
                  <a:tcPr marL="42379" marR="42379" marT="21190" marB="21190" anchor="ctr">
                    <a:lnL>
                      <a:noFill/>
                    </a:lnL>
                    <a:lnR>
                      <a:noFill/>
                    </a:lnR>
                    <a:lnT>
                      <a:noFill/>
                    </a:lnT>
                    <a:lnB>
                      <a:noFill/>
                    </a:lnB>
                  </a:tcPr>
                </a:tc>
                <a:tc>
                  <a:txBody>
                    <a:bodyPr/>
                    <a:lstStyle/>
                    <a:p>
                      <a:r>
                        <a:rPr lang="en-US" sz="1100">
                          <a:solidFill>
                            <a:srgbClr val="3333FF"/>
                          </a:solidFill>
                        </a:rPr>
                        <a:t>9.47</a:t>
                      </a:r>
                    </a:p>
                  </a:txBody>
                  <a:tcPr marL="42379" marR="42379" marT="21190" marB="21190" anchor="ctr">
                    <a:lnL>
                      <a:noFill/>
                    </a:lnL>
                    <a:lnR>
                      <a:noFill/>
                    </a:lnR>
                    <a:lnT>
                      <a:noFill/>
                    </a:lnT>
                    <a:lnB>
                      <a:noFill/>
                    </a:lnB>
                  </a:tcPr>
                </a:tc>
              </a:tr>
              <a:tr h="169517">
                <a:tc>
                  <a:txBody>
                    <a:bodyPr/>
                    <a:lstStyle/>
                    <a:p>
                      <a:r>
                        <a:rPr lang="en-US" sz="1100">
                          <a:solidFill>
                            <a:srgbClr val="3333FF"/>
                          </a:solidFill>
                        </a:rPr>
                        <a:t>Mn</a:t>
                      </a:r>
                    </a:p>
                  </a:txBody>
                  <a:tcPr marL="42379" marR="42379" marT="21190" marB="21190" anchor="ctr">
                    <a:lnL>
                      <a:noFill/>
                    </a:lnL>
                    <a:lnR>
                      <a:noFill/>
                    </a:lnR>
                    <a:lnT>
                      <a:noFill/>
                    </a:lnT>
                    <a:lnB>
                      <a:noFill/>
                    </a:lnB>
                  </a:tcPr>
                </a:tc>
                <a:tc>
                  <a:txBody>
                    <a:bodyPr/>
                    <a:lstStyle/>
                    <a:p>
                      <a:r>
                        <a:rPr lang="en-US" sz="1100">
                          <a:solidFill>
                            <a:srgbClr val="3333FF"/>
                          </a:solidFill>
                        </a:rPr>
                        <a:t>10.9</a:t>
                      </a:r>
                    </a:p>
                  </a:txBody>
                  <a:tcPr marL="42379" marR="42379" marT="21190" marB="21190" anchor="ctr">
                    <a:lnL>
                      <a:noFill/>
                    </a:lnL>
                    <a:lnR>
                      <a:noFill/>
                    </a:lnR>
                    <a:lnT>
                      <a:noFill/>
                    </a:lnT>
                    <a:lnB>
                      <a:noFill/>
                    </a:lnB>
                  </a:tcPr>
                </a:tc>
              </a:tr>
              <a:tr h="169517">
                <a:tc>
                  <a:txBody>
                    <a:bodyPr/>
                    <a:lstStyle/>
                    <a:p>
                      <a:r>
                        <a:rPr lang="en-US" sz="1100">
                          <a:solidFill>
                            <a:srgbClr val="3333FF"/>
                          </a:solidFill>
                        </a:rPr>
                        <a:t>Hg</a:t>
                      </a:r>
                    </a:p>
                  </a:txBody>
                  <a:tcPr marL="42379" marR="42379" marT="21190" marB="21190" anchor="ctr">
                    <a:lnL>
                      <a:noFill/>
                    </a:lnL>
                    <a:lnR>
                      <a:noFill/>
                    </a:lnR>
                    <a:lnT>
                      <a:noFill/>
                    </a:lnT>
                    <a:lnB>
                      <a:noFill/>
                    </a:lnB>
                  </a:tcPr>
                </a:tc>
                <a:tc>
                  <a:txBody>
                    <a:bodyPr/>
                    <a:lstStyle/>
                    <a:p>
                      <a:r>
                        <a:rPr lang="en-US" sz="1100">
                          <a:solidFill>
                            <a:srgbClr val="3333FF"/>
                          </a:solidFill>
                        </a:rPr>
                        <a:t>7.13</a:t>
                      </a:r>
                    </a:p>
                  </a:txBody>
                  <a:tcPr marL="42379" marR="42379" marT="21190" marB="21190" anchor="ctr">
                    <a:lnL>
                      <a:noFill/>
                    </a:lnL>
                    <a:lnR>
                      <a:noFill/>
                    </a:lnR>
                    <a:lnT>
                      <a:noFill/>
                    </a:lnT>
                    <a:lnB>
                      <a:noFill/>
                    </a:lnB>
                  </a:tcPr>
                </a:tc>
              </a:tr>
              <a:tr h="169517">
                <a:tc>
                  <a:txBody>
                    <a:bodyPr/>
                    <a:lstStyle/>
                    <a:p>
                      <a:r>
                        <a:rPr lang="en-US" sz="1100">
                          <a:solidFill>
                            <a:srgbClr val="3333FF"/>
                          </a:solidFill>
                        </a:rPr>
                        <a:t>Cd</a:t>
                      </a:r>
                    </a:p>
                  </a:txBody>
                  <a:tcPr marL="42379" marR="42379" marT="21190" marB="21190" anchor="ctr">
                    <a:lnL>
                      <a:noFill/>
                    </a:lnL>
                    <a:lnR>
                      <a:noFill/>
                    </a:lnR>
                    <a:lnT>
                      <a:noFill/>
                    </a:lnT>
                    <a:lnB>
                      <a:noFill/>
                    </a:lnB>
                  </a:tcPr>
                </a:tc>
                <a:tc>
                  <a:txBody>
                    <a:bodyPr/>
                    <a:lstStyle/>
                    <a:p>
                      <a:r>
                        <a:rPr lang="en-US" sz="1100">
                          <a:solidFill>
                            <a:srgbClr val="3333FF"/>
                          </a:solidFill>
                        </a:rPr>
                        <a:t>7.47</a:t>
                      </a:r>
                    </a:p>
                  </a:txBody>
                  <a:tcPr marL="42379" marR="42379" marT="21190" marB="21190" anchor="ctr">
                    <a:lnL>
                      <a:noFill/>
                    </a:lnL>
                    <a:lnR>
                      <a:noFill/>
                    </a:lnR>
                    <a:lnT>
                      <a:noFill/>
                    </a:lnT>
                    <a:lnB>
                      <a:noFill/>
                    </a:lnB>
                  </a:tcPr>
                </a:tc>
              </a:tr>
              <a:tr h="169517">
                <a:tc>
                  <a:txBody>
                    <a:bodyPr/>
                    <a:lstStyle/>
                    <a:p>
                      <a:r>
                        <a:rPr lang="en-US" sz="1100">
                          <a:solidFill>
                            <a:srgbClr val="3333FF"/>
                          </a:solidFill>
                        </a:rPr>
                        <a:t>Al</a:t>
                      </a:r>
                    </a:p>
                  </a:txBody>
                  <a:tcPr marL="42379" marR="42379" marT="21190" marB="21190" anchor="ctr">
                    <a:lnL>
                      <a:noFill/>
                    </a:lnL>
                    <a:lnR>
                      <a:noFill/>
                    </a:lnR>
                    <a:lnT>
                      <a:noFill/>
                    </a:lnT>
                    <a:lnB>
                      <a:noFill/>
                    </a:lnB>
                  </a:tcPr>
                </a:tc>
                <a:tc>
                  <a:txBody>
                    <a:bodyPr/>
                    <a:lstStyle/>
                    <a:p>
                      <a:r>
                        <a:rPr lang="en-US" sz="1100">
                          <a:solidFill>
                            <a:srgbClr val="3333FF"/>
                          </a:solidFill>
                        </a:rPr>
                        <a:t>11.7</a:t>
                      </a:r>
                    </a:p>
                  </a:txBody>
                  <a:tcPr marL="42379" marR="42379" marT="21190" marB="21190" anchor="ctr">
                    <a:lnL>
                      <a:noFill/>
                    </a:lnL>
                    <a:lnR>
                      <a:noFill/>
                    </a:lnR>
                    <a:lnT>
                      <a:noFill/>
                    </a:lnT>
                    <a:lnB>
                      <a:noFill/>
                    </a:lnB>
                  </a:tcPr>
                </a:tc>
              </a:tr>
              <a:tr h="169517">
                <a:tc>
                  <a:txBody>
                    <a:bodyPr/>
                    <a:lstStyle/>
                    <a:p>
                      <a:r>
                        <a:rPr lang="en-US" sz="1100">
                          <a:solidFill>
                            <a:srgbClr val="3333FF"/>
                          </a:solidFill>
                        </a:rPr>
                        <a:t>Ga</a:t>
                      </a:r>
                    </a:p>
                  </a:txBody>
                  <a:tcPr marL="42379" marR="42379" marT="21190" marB="21190" anchor="ctr">
                    <a:lnL>
                      <a:noFill/>
                    </a:lnL>
                    <a:lnR>
                      <a:noFill/>
                    </a:lnR>
                    <a:lnT>
                      <a:noFill/>
                    </a:lnT>
                    <a:lnB>
                      <a:noFill/>
                    </a:lnB>
                  </a:tcPr>
                </a:tc>
                <a:tc>
                  <a:txBody>
                    <a:bodyPr/>
                    <a:lstStyle/>
                    <a:p>
                      <a:r>
                        <a:rPr lang="en-US" sz="1100">
                          <a:solidFill>
                            <a:srgbClr val="3333FF"/>
                          </a:solidFill>
                        </a:rPr>
                        <a:t>10.4</a:t>
                      </a:r>
                    </a:p>
                  </a:txBody>
                  <a:tcPr marL="42379" marR="42379" marT="21190" marB="21190" anchor="ctr">
                    <a:lnL>
                      <a:noFill/>
                    </a:lnL>
                    <a:lnR>
                      <a:noFill/>
                    </a:lnR>
                    <a:lnT>
                      <a:noFill/>
                    </a:lnT>
                    <a:lnB>
                      <a:noFill/>
                    </a:lnB>
                  </a:tcPr>
                </a:tc>
              </a:tr>
              <a:tr h="169517">
                <a:tc>
                  <a:txBody>
                    <a:bodyPr/>
                    <a:lstStyle/>
                    <a:p>
                      <a:r>
                        <a:rPr lang="en-US" sz="1100">
                          <a:solidFill>
                            <a:srgbClr val="3333FF"/>
                          </a:solidFill>
                        </a:rPr>
                        <a:t>In</a:t>
                      </a:r>
                    </a:p>
                  </a:txBody>
                  <a:tcPr marL="42379" marR="42379" marT="21190" marB="21190" anchor="ctr">
                    <a:lnL>
                      <a:noFill/>
                    </a:lnL>
                    <a:lnR>
                      <a:noFill/>
                    </a:lnR>
                    <a:lnT>
                      <a:noFill/>
                    </a:lnT>
                    <a:lnB>
                      <a:noFill/>
                    </a:lnB>
                  </a:tcPr>
                </a:tc>
                <a:tc>
                  <a:txBody>
                    <a:bodyPr/>
                    <a:lstStyle/>
                    <a:p>
                      <a:r>
                        <a:rPr lang="en-US" sz="1100">
                          <a:solidFill>
                            <a:srgbClr val="3333FF"/>
                          </a:solidFill>
                        </a:rPr>
                        <a:t>8.63</a:t>
                      </a:r>
                    </a:p>
                  </a:txBody>
                  <a:tcPr marL="42379" marR="42379" marT="21190" marB="21190" anchor="ctr">
                    <a:lnL>
                      <a:noFill/>
                    </a:lnL>
                    <a:lnR>
                      <a:noFill/>
                    </a:lnR>
                    <a:lnT>
                      <a:noFill/>
                    </a:lnT>
                    <a:lnB>
                      <a:noFill/>
                    </a:lnB>
                  </a:tcPr>
                </a:tc>
              </a:tr>
              <a:tr h="169517">
                <a:tc>
                  <a:txBody>
                    <a:bodyPr/>
                    <a:lstStyle/>
                    <a:p>
                      <a:r>
                        <a:rPr lang="en-US" sz="1100">
                          <a:solidFill>
                            <a:srgbClr val="3333FF"/>
                          </a:solidFill>
                        </a:rPr>
                        <a:t>Tl</a:t>
                      </a:r>
                    </a:p>
                  </a:txBody>
                  <a:tcPr marL="42379" marR="42379" marT="21190" marB="21190" anchor="ctr">
                    <a:lnL>
                      <a:noFill/>
                    </a:lnL>
                    <a:lnR>
                      <a:noFill/>
                    </a:lnR>
                    <a:lnT>
                      <a:noFill/>
                    </a:lnT>
                    <a:lnB>
                      <a:noFill/>
                    </a:lnB>
                  </a:tcPr>
                </a:tc>
                <a:tc>
                  <a:txBody>
                    <a:bodyPr/>
                    <a:lstStyle/>
                    <a:p>
                      <a:r>
                        <a:rPr lang="en-US" sz="1100">
                          <a:solidFill>
                            <a:srgbClr val="3333FF"/>
                          </a:solidFill>
                        </a:rPr>
                        <a:t>8.15</a:t>
                      </a:r>
                    </a:p>
                  </a:txBody>
                  <a:tcPr marL="42379" marR="42379" marT="21190" marB="21190" anchor="ctr">
                    <a:lnL>
                      <a:noFill/>
                    </a:lnL>
                    <a:lnR>
                      <a:noFill/>
                    </a:lnR>
                    <a:lnT>
                      <a:noFill/>
                    </a:lnT>
                    <a:lnB>
                      <a:noFill/>
                    </a:lnB>
                  </a:tcPr>
                </a:tc>
              </a:tr>
              <a:tr h="169517">
                <a:tc>
                  <a:txBody>
                    <a:bodyPr/>
                    <a:lstStyle/>
                    <a:p>
                      <a:r>
                        <a:rPr lang="en-US" sz="1100">
                          <a:solidFill>
                            <a:srgbClr val="3333FF"/>
                          </a:solidFill>
                        </a:rPr>
                        <a:t>Sn</a:t>
                      </a:r>
                    </a:p>
                  </a:txBody>
                  <a:tcPr marL="42379" marR="42379" marT="21190" marB="21190" anchor="ctr">
                    <a:lnL>
                      <a:noFill/>
                    </a:lnL>
                    <a:lnR>
                      <a:noFill/>
                    </a:lnR>
                    <a:lnT>
                      <a:noFill/>
                    </a:lnT>
                    <a:lnB>
                      <a:noFill/>
                    </a:lnB>
                  </a:tcPr>
                </a:tc>
                <a:tc>
                  <a:txBody>
                    <a:bodyPr/>
                    <a:lstStyle/>
                    <a:p>
                      <a:r>
                        <a:rPr lang="en-US" sz="1100">
                          <a:solidFill>
                            <a:srgbClr val="3333FF"/>
                          </a:solidFill>
                        </a:rPr>
                        <a:t>10.2</a:t>
                      </a:r>
                    </a:p>
                  </a:txBody>
                  <a:tcPr marL="42379" marR="42379" marT="21190" marB="21190" anchor="ctr">
                    <a:lnL>
                      <a:noFill/>
                    </a:lnL>
                    <a:lnR>
                      <a:noFill/>
                    </a:lnR>
                    <a:lnT>
                      <a:noFill/>
                    </a:lnT>
                    <a:lnB>
                      <a:noFill/>
                    </a:lnB>
                  </a:tcPr>
                </a:tc>
              </a:tr>
              <a:tr h="169517">
                <a:tc>
                  <a:txBody>
                    <a:bodyPr/>
                    <a:lstStyle/>
                    <a:p>
                      <a:r>
                        <a:rPr lang="en-US" sz="1100">
                          <a:solidFill>
                            <a:srgbClr val="3333FF"/>
                          </a:solidFill>
                        </a:rPr>
                        <a:t>Pb</a:t>
                      </a:r>
                    </a:p>
                  </a:txBody>
                  <a:tcPr marL="42379" marR="42379" marT="21190" marB="21190" anchor="ctr">
                    <a:lnL>
                      <a:noFill/>
                    </a:lnL>
                    <a:lnR>
                      <a:noFill/>
                    </a:lnR>
                    <a:lnT>
                      <a:noFill/>
                    </a:lnT>
                    <a:lnB>
                      <a:noFill/>
                    </a:lnB>
                  </a:tcPr>
                </a:tc>
                <a:tc>
                  <a:txBody>
                    <a:bodyPr/>
                    <a:lstStyle/>
                    <a:p>
                      <a:r>
                        <a:rPr lang="en-US" sz="1100">
                          <a:solidFill>
                            <a:srgbClr val="3333FF"/>
                          </a:solidFill>
                        </a:rPr>
                        <a:t>9.47</a:t>
                      </a:r>
                    </a:p>
                  </a:txBody>
                  <a:tcPr marL="42379" marR="42379" marT="21190" marB="21190" anchor="ctr">
                    <a:lnL>
                      <a:noFill/>
                    </a:lnL>
                    <a:lnR>
                      <a:noFill/>
                    </a:lnR>
                    <a:lnT>
                      <a:noFill/>
                    </a:lnT>
                    <a:lnB>
                      <a:noFill/>
                    </a:lnB>
                  </a:tcPr>
                </a:tc>
              </a:tr>
              <a:tr h="169517">
                <a:tc>
                  <a:txBody>
                    <a:bodyPr/>
                    <a:lstStyle/>
                    <a:p>
                      <a:r>
                        <a:rPr lang="en-US" sz="1100">
                          <a:solidFill>
                            <a:srgbClr val="3333FF"/>
                          </a:solidFill>
                        </a:rPr>
                        <a:t>Bi</a:t>
                      </a:r>
                    </a:p>
                  </a:txBody>
                  <a:tcPr marL="42379" marR="42379" marT="21190" marB="21190" anchor="ctr">
                    <a:lnL>
                      <a:noFill/>
                    </a:lnL>
                    <a:lnR>
                      <a:noFill/>
                    </a:lnR>
                    <a:lnT>
                      <a:noFill/>
                    </a:lnT>
                    <a:lnB>
                      <a:noFill/>
                    </a:lnB>
                  </a:tcPr>
                </a:tc>
                <a:tc>
                  <a:txBody>
                    <a:bodyPr/>
                    <a:lstStyle/>
                    <a:p>
                      <a:r>
                        <a:rPr lang="en-US" sz="1100">
                          <a:solidFill>
                            <a:srgbClr val="3333FF"/>
                          </a:solidFill>
                        </a:rPr>
                        <a:t>9.90</a:t>
                      </a:r>
                    </a:p>
                  </a:txBody>
                  <a:tcPr marL="42379" marR="42379" marT="21190" marB="21190" anchor="ctr">
                    <a:lnL>
                      <a:noFill/>
                    </a:lnL>
                    <a:lnR>
                      <a:noFill/>
                    </a:lnR>
                    <a:lnT>
                      <a:noFill/>
                    </a:lnT>
                    <a:lnB>
                      <a:noFill/>
                    </a:lnB>
                  </a:tcPr>
                </a:tc>
              </a:tr>
              <a:tr h="169517">
                <a:tc>
                  <a:txBody>
                    <a:bodyPr/>
                    <a:lstStyle/>
                    <a:p>
                      <a:r>
                        <a:rPr lang="en-US" sz="1100">
                          <a:solidFill>
                            <a:srgbClr val="3333FF"/>
                          </a:solidFill>
                        </a:rPr>
                        <a:t>Sb</a:t>
                      </a:r>
                    </a:p>
                  </a:txBody>
                  <a:tcPr marL="42379" marR="42379" marT="21190" marB="21190" anchor="ctr">
                    <a:lnL>
                      <a:noFill/>
                    </a:lnL>
                    <a:lnR>
                      <a:noFill/>
                    </a:lnR>
                    <a:lnT>
                      <a:noFill/>
                    </a:lnT>
                    <a:lnB>
                      <a:noFill/>
                    </a:lnB>
                  </a:tcPr>
                </a:tc>
                <a:tc>
                  <a:txBody>
                    <a:bodyPr/>
                    <a:lstStyle/>
                    <a:p>
                      <a:r>
                        <a:rPr lang="en-US" sz="1100" dirty="0">
                          <a:solidFill>
                            <a:srgbClr val="3333FF"/>
                          </a:solidFill>
                        </a:rPr>
                        <a:t>10.9</a:t>
                      </a:r>
                    </a:p>
                  </a:txBody>
                  <a:tcPr marL="42379" marR="42379" marT="21190" marB="21190" anchor="ctr">
                    <a:lnL>
                      <a:noFill/>
                    </a:lnL>
                    <a:lnR>
                      <a:noFill/>
                    </a:lnR>
                    <a:lnT>
                      <a:noFill/>
                    </a:lnT>
                    <a:lnB>
                      <a:noFill/>
                    </a:lnB>
                  </a:tcPr>
                </a:tc>
              </a:tr>
            </a:tbl>
          </a:graphicData>
        </a:graphic>
      </p:graphicFrame>
      <p:sp>
        <p:nvSpPr>
          <p:cNvPr id="15361" name="Rectangle 1"/>
          <p:cNvSpPr>
            <a:spLocks noChangeArrowheads="1"/>
          </p:cNvSpPr>
          <p:nvPr/>
        </p:nvSpPr>
        <p:spPr bwMode="auto">
          <a:xfrm>
            <a:off x="1981200" y="0"/>
            <a:ext cx="2757598" cy="92333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rgbClr val="FF0000"/>
                </a:solidFill>
                <a:effectLst/>
                <a:latin typeface="Berlin Sans FB Demi" pitchFamily="34" charset="0"/>
                <a:cs typeface="Arial" charset="0"/>
              </a:rPr>
              <a:t>Value of Fermi energy for different elements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66800" y="1143000"/>
            <a:ext cx="5943600" cy="480131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b="1" dirty="0" smtClean="0">
                <a:solidFill>
                  <a:srgbClr val="FF0000"/>
                </a:solidFill>
              </a:rPr>
              <a:t>Applications of Fermi Energy</a:t>
            </a:r>
          </a:p>
          <a:p>
            <a:pPr algn="just"/>
            <a:endParaRPr lang="en-US" b="1" dirty="0" smtClean="0">
              <a:solidFill>
                <a:srgbClr val="FF0000"/>
              </a:solidFill>
            </a:endParaRPr>
          </a:p>
          <a:p>
            <a:pPr algn="just"/>
            <a:r>
              <a:rPr lang="en-US" dirty="0" smtClean="0">
                <a:solidFill>
                  <a:srgbClr val="CC00FF"/>
                </a:solidFill>
              </a:rPr>
              <a:t>It is one of the important concepts in quantum mechanics and condensed matter physics. Some </a:t>
            </a:r>
            <a:r>
              <a:rPr lang="en-US" dirty="0" err="1" smtClean="0">
                <a:solidFill>
                  <a:srgbClr val="CC00FF"/>
                </a:solidFill>
              </a:rPr>
              <a:t>fermi</a:t>
            </a:r>
            <a:r>
              <a:rPr lang="en-US" dirty="0" smtClean="0">
                <a:solidFill>
                  <a:srgbClr val="CC00FF"/>
                </a:solidFill>
              </a:rPr>
              <a:t> energy applications are given in the points below.</a:t>
            </a:r>
          </a:p>
          <a:p>
            <a:pPr algn="just"/>
            <a:r>
              <a:rPr lang="en-US" dirty="0" smtClean="0">
                <a:solidFill>
                  <a:srgbClr val="CC00FF"/>
                </a:solidFill>
              </a:rPr>
              <a:t>It is used in semiconductors and insulators.</a:t>
            </a:r>
          </a:p>
          <a:p>
            <a:pPr algn="just"/>
            <a:endParaRPr lang="en-US" dirty="0" smtClean="0">
              <a:solidFill>
                <a:srgbClr val="CC00FF"/>
              </a:solidFill>
            </a:endParaRPr>
          </a:p>
          <a:p>
            <a:pPr algn="just"/>
            <a:r>
              <a:rPr lang="en-US" dirty="0" smtClean="0">
                <a:solidFill>
                  <a:srgbClr val="CC00FF"/>
                </a:solidFill>
              </a:rPr>
              <a:t>It is used to describe insulators, metals, and semiconductors.</a:t>
            </a:r>
          </a:p>
          <a:p>
            <a:pPr algn="just"/>
            <a:endParaRPr lang="en-US" dirty="0" smtClean="0">
              <a:solidFill>
                <a:srgbClr val="CC00FF"/>
              </a:solidFill>
            </a:endParaRPr>
          </a:p>
          <a:p>
            <a:pPr algn="just"/>
            <a:r>
              <a:rPr lang="en-US" dirty="0" smtClean="0">
                <a:solidFill>
                  <a:srgbClr val="CC00FF"/>
                </a:solidFill>
              </a:rPr>
              <a:t>Fermi energy is applied in determining the electrical and thermal characteristics of the solids.</a:t>
            </a:r>
          </a:p>
          <a:p>
            <a:pPr algn="just"/>
            <a:endParaRPr lang="en-US" dirty="0" smtClean="0">
              <a:solidFill>
                <a:srgbClr val="CC00FF"/>
              </a:solidFill>
            </a:endParaRPr>
          </a:p>
          <a:p>
            <a:pPr algn="just"/>
            <a:r>
              <a:rPr lang="en-US" dirty="0" smtClean="0">
                <a:solidFill>
                  <a:srgbClr val="CC00FF"/>
                </a:solidFill>
              </a:rPr>
              <a:t>It is also important in nuclear physics to understand the stability of white dwarfs. White dwarfs are stars that have a mass comparable to the Sun but have about a hundredth of its radius.</a:t>
            </a:r>
            <a:endParaRPr lang="en-US" dirty="0">
              <a:solidFill>
                <a:srgbClr val="CC00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85800" y="609600"/>
            <a:ext cx="7467600" cy="4873752"/>
          </a:xfrm>
        </p:spPr>
        <p:style>
          <a:lnRef idx="1">
            <a:schemeClr val="accent2"/>
          </a:lnRef>
          <a:fillRef idx="2">
            <a:schemeClr val="accent2"/>
          </a:fillRef>
          <a:effectRef idx="1">
            <a:schemeClr val="accent2"/>
          </a:effectRef>
          <a:fontRef idx="minor">
            <a:schemeClr val="dk1"/>
          </a:fontRef>
        </p:style>
        <p:txBody>
          <a:bodyPr>
            <a:normAutofit/>
          </a:bodyPr>
          <a:lstStyle/>
          <a:p>
            <a:pPr algn="ctr"/>
            <a:endParaRPr lang="en-US" sz="3200" dirty="0" smtClean="0">
              <a:solidFill>
                <a:srgbClr val="3333FF"/>
              </a:solidFill>
            </a:endParaRPr>
          </a:p>
          <a:p>
            <a:pPr algn="ctr"/>
            <a:r>
              <a:rPr lang="en-US" sz="3200" dirty="0" smtClean="0">
                <a:solidFill>
                  <a:srgbClr val="3333FF"/>
                </a:solidFill>
              </a:rPr>
              <a:t>Thanks a lot for patient hearing </a:t>
            </a:r>
            <a:endParaRPr lang="en-US" sz="3200" dirty="0">
              <a:solidFill>
                <a:srgbClr val="3333FF"/>
              </a:solidFill>
            </a:endParaRPr>
          </a:p>
          <a:p>
            <a:pPr algn="ctr"/>
            <a:endParaRPr lang="en-US" sz="3200" dirty="0" smtClean="0">
              <a:solidFill>
                <a:srgbClr val="3333FF"/>
              </a:solidFill>
            </a:endParaRPr>
          </a:p>
          <a:p>
            <a:pPr algn="ctr"/>
            <a:endParaRPr lang="en-US" sz="3200" dirty="0">
              <a:solidFill>
                <a:srgbClr val="3333FF"/>
              </a:solidFill>
            </a:endParaRPr>
          </a:p>
          <a:p>
            <a:pPr algn="ctr"/>
            <a:endParaRPr lang="en-US" sz="3200" dirty="0" smtClean="0">
              <a:solidFill>
                <a:srgbClr val="3333FF"/>
              </a:solidFill>
            </a:endParaRPr>
          </a:p>
          <a:p>
            <a:pPr algn="ctr"/>
            <a:endParaRPr lang="en-US" sz="3200" dirty="0">
              <a:solidFill>
                <a:srgbClr val="3333FF"/>
              </a:solidFill>
            </a:endParaRPr>
          </a:p>
          <a:p>
            <a:pPr algn="ctr"/>
            <a:r>
              <a:rPr lang="en-US" sz="3200" dirty="0" smtClean="0">
                <a:solidFill>
                  <a:srgbClr val="CC00FF"/>
                </a:solidFill>
              </a:rPr>
              <a:t> The end </a:t>
            </a:r>
            <a:endParaRPr lang="en-US" sz="3200" dirty="0">
              <a:solidFill>
                <a:srgbClr val="CC00FF"/>
              </a:solidFill>
            </a:endParaRPr>
          </a:p>
        </p:txBody>
      </p:sp>
    </p:spTree>
    <p:extLst>
      <p:ext uri="{BB962C8B-B14F-4D97-AF65-F5344CB8AC3E}">
        <p14:creationId xmlns:p14="http://schemas.microsoft.com/office/powerpoint/2010/main" val="13558304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images.slideplayer.com/10/2751300/slides/slide_1.jpg"/>
          <p:cNvPicPr>
            <a:picLocks noChangeAspect="1" noChangeArrowheads="1"/>
          </p:cNvPicPr>
          <p:nvPr/>
        </p:nvPicPr>
        <p:blipFill>
          <a:blip r:embed="rId2">
            <a:duotone>
              <a:prstClr val="black"/>
              <a:schemeClr val="accent2">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381000" y="366711"/>
            <a:ext cx="8162925" cy="6124575"/>
          </a:xfrm>
          <a:prstGeom prst="rect">
            <a:avLst/>
          </a:prstGeom>
        </p:spPr>
        <p:style>
          <a:lnRef idx="1">
            <a:schemeClr val="accent2"/>
          </a:lnRef>
          <a:fillRef idx="2">
            <a:schemeClr val="accent2"/>
          </a:fillRef>
          <a:effectRef idx="1">
            <a:schemeClr val="accent2"/>
          </a:effectRef>
          <a:fontRef idx="minor">
            <a:schemeClr val="dk1"/>
          </a:fontRef>
        </p:style>
      </p:pic>
    </p:spTree>
    <p:extLst>
      <p:ext uri="{BB962C8B-B14F-4D97-AF65-F5344CB8AC3E}">
        <p14:creationId xmlns:p14="http://schemas.microsoft.com/office/powerpoint/2010/main" val="25575873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4"/>
          </a:lnRef>
          <a:fillRef idx="2">
            <a:schemeClr val="accent4"/>
          </a:fillRef>
          <a:effectRef idx="1">
            <a:schemeClr val="accent4"/>
          </a:effectRef>
          <a:fontRef idx="minor">
            <a:schemeClr val="dk1"/>
          </a:fontRef>
        </p:style>
        <p:txBody>
          <a:bodyPr>
            <a:normAutofit fontScale="90000"/>
          </a:bodyPr>
          <a:lstStyle/>
          <a:p>
            <a:r>
              <a:rPr lang="en-US" dirty="0" smtClean="0">
                <a:solidFill>
                  <a:srgbClr val="3333FF"/>
                </a:solidFill>
              </a:rPr>
              <a:t/>
            </a:r>
            <a:br>
              <a:rPr lang="en-US" dirty="0" smtClean="0">
                <a:solidFill>
                  <a:srgbClr val="3333FF"/>
                </a:solidFill>
              </a:rPr>
            </a:br>
            <a:r>
              <a:rPr lang="en-US" dirty="0" smtClean="0">
                <a:solidFill>
                  <a:srgbClr val="3333FF"/>
                </a:solidFill>
              </a:rPr>
              <a:t>Difference </a:t>
            </a:r>
            <a:r>
              <a:rPr lang="en-US" dirty="0">
                <a:solidFill>
                  <a:srgbClr val="3333FF"/>
                </a:solidFill>
              </a:rPr>
              <a:t>Between Point Defect and Line Defect</a:t>
            </a:r>
            <a:br>
              <a:rPr lang="en-US" dirty="0">
                <a:solidFill>
                  <a:srgbClr val="3333FF"/>
                </a:solidFill>
              </a:rPr>
            </a:br>
            <a:endParaRPr lang="en-US" dirty="0">
              <a:solidFill>
                <a:srgbClr val="3333FF"/>
              </a:solidFill>
            </a:endParaRPr>
          </a:p>
        </p:txBody>
      </p:sp>
      <p:sp>
        <p:nvSpPr>
          <p:cNvPr id="3" name="Content Placeholder 2"/>
          <p:cNvSpPr>
            <a:spLocks noGrp="1"/>
          </p:cNvSpPr>
          <p:nvPr>
            <p:ph sz="quarter" idx="1"/>
          </p:nvPr>
        </p:nvSpPr>
        <p:spPr>
          <a:xfrm>
            <a:off x="457200" y="1752600"/>
            <a:ext cx="7467600" cy="4873752"/>
          </a:xfrm>
        </p:spPr>
        <p:style>
          <a:lnRef idx="1">
            <a:schemeClr val="accent2"/>
          </a:lnRef>
          <a:fillRef idx="2">
            <a:schemeClr val="accent2"/>
          </a:fillRef>
          <a:effectRef idx="1">
            <a:schemeClr val="accent2"/>
          </a:effectRef>
          <a:fontRef idx="minor">
            <a:schemeClr val="dk1"/>
          </a:fontRef>
        </p:style>
        <p:txBody>
          <a:bodyPr>
            <a:noAutofit/>
          </a:bodyPr>
          <a:lstStyle/>
          <a:p>
            <a:r>
              <a:rPr lang="en-US" sz="3200" dirty="0"/>
              <a:t>The </a:t>
            </a:r>
            <a:r>
              <a:rPr lang="en-US" sz="3200" b="1" dirty="0"/>
              <a:t>key difference</a:t>
            </a:r>
            <a:r>
              <a:rPr lang="en-US" sz="3200" dirty="0"/>
              <a:t> between point defect and line defect is that the </a:t>
            </a:r>
            <a:r>
              <a:rPr lang="en-US" sz="3200" b="1" dirty="0"/>
              <a:t>point defects occur only at or around a certain point of the </a:t>
            </a:r>
            <a:r>
              <a:rPr lang="en-US" sz="3200" b="1" dirty="0">
                <a:hlinkClick r:id="rId2"/>
              </a:rPr>
              <a:t>crystal lattice</a:t>
            </a:r>
            <a:r>
              <a:rPr lang="en-US" sz="3200" b="1" dirty="0"/>
              <a:t> whereas the line defects occur in a plane of </a:t>
            </a:r>
            <a:r>
              <a:rPr lang="en-US" sz="3200" b="1" dirty="0">
                <a:hlinkClick r:id="rId3"/>
              </a:rPr>
              <a:t>atoms</a:t>
            </a:r>
            <a:r>
              <a:rPr lang="en-US" sz="3200" b="1" dirty="0"/>
              <a:t> in the middle of the crystal lattice. </a:t>
            </a:r>
            <a:endParaRPr lang="en-US" sz="3200" dirty="0"/>
          </a:p>
        </p:txBody>
      </p:sp>
    </p:spTree>
    <p:extLst>
      <p:ext uri="{BB962C8B-B14F-4D97-AF65-F5344CB8AC3E}">
        <p14:creationId xmlns:p14="http://schemas.microsoft.com/office/powerpoint/2010/main" val="33086474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4"/>
          </a:lnRef>
          <a:fillRef idx="2">
            <a:schemeClr val="accent4"/>
          </a:fillRef>
          <a:effectRef idx="1">
            <a:schemeClr val="accent4"/>
          </a:effectRef>
          <a:fontRef idx="minor">
            <a:schemeClr val="dk1"/>
          </a:fontRef>
        </p:style>
        <p:txBody>
          <a:bodyPr/>
          <a:lstStyle/>
          <a:p>
            <a:r>
              <a:rPr lang="en-US" b="1" dirty="0"/>
              <a:t>What is Point Defect?</a:t>
            </a:r>
            <a:br>
              <a:rPr lang="en-US" b="1" dirty="0"/>
            </a:br>
            <a:endParaRPr lang="en-US" dirty="0"/>
          </a:p>
        </p:txBody>
      </p:sp>
      <p:sp>
        <p:nvSpPr>
          <p:cNvPr id="3" name="Content Placeholder 2"/>
          <p:cNvSpPr>
            <a:spLocks noGrp="1"/>
          </p:cNvSpPr>
          <p:nvPr>
            <p:ph sz="quarter" idx="1"/>
          </p:nvPr>
        </p:nvSpPr>
        <p:spPr/>
        <p:style>
          <a:lnRef idx="2">
            <a:schemeClr val="accent2"/>
          </a:lnRef>
          <a:fillRef idx="1">
            <a:schemeClr val="lt1"/>
          </a:fillRef>
          <a:effectRef idx="0">
            <a:schemeClr val="accent2"/>
          </a:effectRef>
          <a:fontRef idx="minor">
            <a:schemeClr val="dk1"/>
          </a:fontRef>
        </p:style>
        <p:txBody>
          <a:bodyPr/>
          <a:lstStyle/>
          <a:p>
            <a:pPr algn="just"/>
            <a:r>
              <a:rPr lang="en-US" dirty="0" smtClean="0">
                <a:solidFill>
                  <a:srgbClr val="3333FF"/>
                </a:solidFill>
              </a:rPr>
              <a:t>Point </a:t>
            </a:r>
            <a:r>
              <a:rPr lang="en-US" dirty="0">
                <a:solidFill>
                  <a:srgbClr val="3333FF"/>
                </a:solidFill>
              </a:rPr>
              <a:t>defects are irregularities that occur at or around a single point of the crystal lattice. Typically, this type of defect forms either due to the presence of extra atoms or due to the loss of atoms from the lattice. Therefore, these defects are considerably small. However, sometimes there are some larger defects as well. We call them dislocation loops.</a:t>
            </a:r>
          </a:p>
          <a:p>
            <a:endParaRPr lang="en-US" dirty="0"/>
          </a:p>
        </p:txBody>
      </p:sp>
    </p:spTree>
    <p:extLst>
      <p:ext uri="{BB962C8B-B14F-4D97-AF65-F5344CB8AC3E}">
        <p14:creationId xmlns:p14="http://schemas.microsoft.com/office/powerpoint/2010/main" val="25146026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descr="Difference Between Point Defect and Line Defect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457200"/>
            <a:ext cx="7966610" cy="5638800"/>
          </a:xfrm>
          <a:prstGeom prst="rect">
            <a:avLst/>
          </a:prstGeom>
        </p:spPr>
        <p:style>
          <a:lnRef idx="3">
            <a:schemeClr val="lt1"/>
          </a:lnRef>
          <a:fillRef idx="1">
            <a:schemeClr val="accent4"/>
          </a:fillRef>
          <a:effectRef idx="1">
            <a:schemeClr val="accent4"/>
          </a:effectRef>
          <a:fontRef idx="minor">
            <a:schemeClr val="lt1"/>
          </a:fontRef>
        </p:style>
      </p:pic>
    </p:spTree>
    <p:extLst>
      <p:ext uri="{BB962C8B-B14F-4D97-AF65-F5344CB8AC3E}">
        <p14:creationId xmlns:p14="http://schemas.microsoft.com/office/powerpoint/2010/main" val="31121617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style>
          <a:lnRef idx="1">
            <a:schemeClr val="accent4"/>
          </a:lnRef>
          <a:fillRef idx="2">
            <a:schemeClr val="accent4"/>
          </a:fillRef>
          <a:effectRef idx="1">
            <a:schemeClr val="accent4"/>
          </a:effectRef>
          <a:fontRef idx="minor">
            <a:schemeClr val="dk1"/>
          </a:fontRef>
        </p:style>
        <p:txBody>
          <a:bodyPr/>
          <a:lstStyle/>
          <a:p>
            <a:r>
              <a:rPr lang="en-US" dirty="0"/>
              <a:t>Several forms of point defects can occur in a crystal lattice.</a:t>
            </a:r>
          </a:p>
          <a:p>
            <a:r>
              <a:rPr lang="en-US" dirty="0">
                <a:solidFill>
                  <a:srgbClr val="3333FF"/>
                </a:solidFill>
              </a:rPr>
              <a:t>Vacancy defects</a:t>
            </a:r>
          </a:p>
          <a:p>
            <a:r>
              <a:rPr lang="en-US" dirty="0">
                <a:solidFill>
                  <a:srgbClr val="3333FF"/>
                </a:solidFill>
              </a:rPr>
              <a:t>Interstitial defects</a:t>
            </a:r>
          </a:p>
          <a:p>
            <a:r>
              <a:rPr lang="en-US" dirty="0" err="1">
                <a:solidFill>
                  <a:srgbClr val="3333FF"/>
                </a:solidFill>
              </a:rPr>
              <a:t>Frenkel</a:t>
            </a:r>
            <a:r>
              <a:rPr lang="en-US" dirty="0">
                <a:solidFill>
                  <a:srgbClr val="3333FF"/>
                </a:solidFill>
              </a:rPr>
              <a:t> defects</a:t>
            </a:r>
          </a:p>
          <a:p>
            <a:r>
              <a:rPr lang="en-US" dirty="0" err="1">
                <a:solidFill>
                  <a:srgbClr val="3333FF"/>
                </a:solidFill>
              </a:rPr>
              <a:t>Substitutional</a:t>
            </a:r>
            <a:r>
              <a:rPr lang="en-US" dirty="0">
                <a:solidFill>
                  <a:srgbClr val="3333FF"/>
                </a:solidFill>
              </a:rPr>
              <a:t> defects</a:t>
            </a:r>
          </a:p>
          <a:p>
            <a:r>
              <a:rPr lang="en-US" dirty="0" err="1">
                <a:solidFill>
                  <a:srgbClr val="3333FF"/>
                </a:solidFill>
              </a:rPr>
              <a:t>Schottky</a:t>
            </a:r>
            <a:r>
              <a:rPr lang="en-US" dirty="0">
                <a:solidFill>
                  <a:srgbClr val="3333FF"/>
                </a:solidFill>
              </a:rPr>
              <a:t> defect</a:t>
            </a:r>
          </a:p>
          <a:p>
            <a:endParaRPr lang="en-US" dirty="0"/>
          </a:p>
        </p:txBody>
      </p:sp>
    </p:spTree>
    <p:extLst>
      <p:ext uri="{BB962C8B-B14F-4D97-AF65-F5344CB8AC3E}">
        <p14:creationId xmlns:p14="http://schemas.microsoft.com/office/powerpoint/2010/main" val="36644253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4"/>
          </a:lnRef>
          <a:fillRef idx="2">
            <a:schemeClr val="accent4"/>
          </a:fillRef>
          <a:effectRef idx="1">
            <a:schemeClr val="accent4"/>
          </a:effectRef>
          <a:fontRef idx="minor">
            <a:schemeClr val="dk1"/>
          </a:fontRef>
        </p:style>
        <p:txBody>
          <a:bodyPr/>
          <a:lstStyle/>
          <a:p>
            <a:r>
              <a:rPr lang="en-US" b="1" dirty="0">
                <a:solidFill>
                  <a:srgbClr val="3333FF"/>
                </a:solidFill>
              </a:rPr>
              <a:t>What is Line Defect?</a:t>
            </a:r>
            <a:br>
              <a:rPr lang="en-US" b="1" dirty="0">
                <a:solidFill>
                  <a:srgbClr val="3333FF"/>
                </a:solidFill>
              </a:rPr>
            </a:br>
            <a:endParaRPr lang="en-US" dirty="0">
              <a:solidFill>
                <a:srgbClr val="3333FF"/>
              </a:solidFill>
            </a:endParaRPr>
          </a:p>
        </p:txBody>
      </p:sp>
      <p:sp>
        <p:nvSpPr>
          <p:cNvPr id="3" name="Content Placeholder 2"/>
          <p:cNvSpPr>
            <a:spLocks noGrp="1"/>
          </p:cNvSpPr>
          <p:nvPr>
            <p:ph sz="quarter" idx="1"/>
          </p:nvPr>
        </p:nvSpPr>
        <p:spPr/>
        <p:txBody>
          <a:bodyPr/>
          <a:lstStyle/>
          <a:p>
            <a:r>
              <a:rPr lang="en-US" dirty="0"/>
              <a:t>Line defects are a form of crystallographic defects in which the defects occur in a plane of atoms in the middle of the crystal lattice. Therefore, these are linear defects. There the atoms of the lattice are misaligned. The two major forms of these defects are;</a:t>
            </a:r>
          </a:p>
          <a:p>
            <a:r>
              <a:rPr lang="en-US" dirty="0"/>
              <a:t>Edge dislocation</a:t>
            </a:r>
          </a:p>
          <a:p>
            <a:r>
              <a:rPr lang="en-US" dirty="0"/>
              <a:t>Screw dislocation</a:t>
            </a:r>
          </a:p>
          <a:p>
            <a:endParaRPr lang="en-US" dirty="0"/>
          </a:p>
        </p:txBody>
      </p:sp>
    </p:spTree>
    <p:extLst>
      <p:ext uri="{BB962C8B-B14F-4D97-AF65-F5344CB8AC3E}">
        <p14:creationId xmlns:p14="http://schemas.microsoft.com/office/powerpoint/2010/main" val="35317947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descr="Key Difference Between Point Defect and Line Defe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0036" y="1066800"/>
            <a:ext cx="5238750" cy="384810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667000" y="5181600"/>
            <a:ext cx="2220480" cy="369332"/>
          </a:xfrm>
          <a:prstGeom prst="rect">
            <a:avLst/>
          </a:prstGeom>
        </p:spPr>
        <p:txBody>
          <a:bodyPr wrap="none">
            <a:spAutoFit/>
          </a:bodyPr>
          <a:lstStyle/>
          <a:p>
            <a:r>
              <a:rPr lang="en-US" b="1" dirty="0"/>
              <a:t>Edge Dislocation</a:t>
            </a:r>
            <a:endParaRPr lang="en-US" dirty="0"/>
          </a:p>
        </p:txBody>
      </p:sp>
    </p:spTree>
    <p:extLst>
      <p:ext uri="{BB962C8B-B14F-4D97-AF65-F5344CB8AC3E}">
        <p14:creationId xmlns:p14="http://schemas.microsoft.com/office/powerpoint/2010/main" val="7832559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ChangeArrowheads="1"/>
          </p:cNvSpPr>
          <p:nvPr/>
        </p:nvSpPr>
        <p:spPr bwMode="auto">
          <a:xfrm>
            <a:off x="512618" y="1011237"/>
            <a:ext cx="7543800" cy="5389563"/>
          </a:xfrm>
          <a:prstGeom prst="rect">
            <a:avLst/>
          </a:prstGeom>
          <a:ln/>
        </p:spPr>
        <p:style>
          <a:lnRef idx="1">
            <a:schemeClr val="accent5"/>
          </a:lnRef>
          <a:fillRef idx="2">
            <a:schemeClr val="accent5"/>
          </a:fillRef>
          <a:effectRef idx="1">
            <a:schemeClr val="accent5"/>
          </a:effectRef>
          <a:fontRef idx="minor">
            <a:schemeClr val="dk1"/>
          </a:fontRef>
        </p:style>
        <p:txBody>
          <a:bodyPr wrap="square" lIns="0" tIns="0" rIns="0" bIns="0">
            <a:spAutoFit/>
          </a:bodyPr>
          <a:lstStyle/>
          <a:p>
            <a:pPr marL="282575" indent="-282575" eaLnBrk="0" hangingPunct="0"/>
            <a:r>
              <a:rPr lang="en-US" dirty="0">
                <a:solidFill>
                  <a:srgbClr val="000000"/>
                </a:solidFill>
                <a:latin typeface="Arial Rounded MT Bold" pitchFamily="34" charset="0"/>
              </a:rPr>
              <a:t>•  </a:t>
            </a:r>
            <a:r>
              <a:rPr lang="en-US" sz="2200" dirty="0">
                <a:solidFill>
                  <a:srgbClr val="6600CC"/>
                </a:solidFill>
                <a:latin typeface="Arial Rounded MT Bold" pitchFamily="34" charset="0"/>
              </a:rPr>
              <a:t>What types of defects arise in solids?</a:t>
            </a:r>
          </a:p>
          <a:p>
            <a:pPr marL="282575" indent="-282575" eaLnBrk="0" hangingPunct="0"/>
            <a:endParaRPr lang="en-US" sz="2200" dirty="0">
              <a:solidFill>
                <a:srgbClr val="000000"/>
              </a:solidFill>
              <a:latin typeface="Arial Rounded MT Bold" pitchFamily="34" charset="0"/>
            </a:endParaRPr>
          </a:p>
          <a:p>
            <a:pPr marL="282575" indent="-282575" eaLnBrk="0" hangingPunct="0">
              <a:buFontTx/>
              <a:buChar char="•"/>
            </a:pPr>
            <a:r>
              <a:rPr lang="en-US" sz="2200" dirty="0">
                <a:solidFill>
                  <a:srgbClr val="000000"/>
                </a:solidFill>
                <a:latin typeface="Arial Rounded MT Bold" pitchFamily="34" charset="0"/>
              </a:rPr>
              <a:t>Can the number and type of defects be varied</a:t>
            </a:r>
          </a:p>
          <a:p>
            <a:pPr marL="282575" indent="-282575" eaLnBrk="0" hangingPunct="0"/>
            <a:r>
              <a:rPr lang="en-US" sz="2200" dirty="0">
                <a:solidFill>
                  <a:srgbClr val="000000"/>
                </a:solidFill>
                <a:latin typeface="Arial Rounded MT Bold" pitchFamily="34" charset="0"/>
              </a:rPr>
              <a:t>	and controlled?</a:t>
            </a:r>
          </a:p>
          <a:p>
            <a:pPr marL="282575" indent="-282575" eaLnBrk="0" hangingPunct="0"/>
            <a:endParaRPr lang="en-US" sz="2200" dirty="0">
              <a:solidFill>
                <a:srgbClr val="000000"/>
              </a:solidFill>
              <a:latin typeface="Arial Rounded MT Bold" pitchFamily="34" charset="0"/>
            </a:endParaRPr>
          </a:p>
          <a:p>
            <a:pPr marL="282575" indent="-282575" eaLnBrk="0" hangingPunct="0">
              <a:buFontTx/>
              <a:buChar char="•"/>
            </a:pPr>
            <a:r>
              <a:rPr lang="en-US" sz="2200" dirty="0">
                <a:solidFill>
                  <a:srgbClr val="000000"/>
                </a:solidFill>
                <a:latin typeface="Arial Rounded MT Bold" pitchFamily="34" charset="0"/>
              </a:rPr>
              <a:t>How do defects affect material properties?</a:t>
            </a:r>
          </a:p>
          <a:p>
            <a:pPr marL="282575" indent="-282575" eaLnBrk="0" hangingPunct="0"/>
            <a:endParaRPr lang="en-US" sz="2200" dirty="0">
              <a:solidFill>
                <a:srgbClr val="000000"/>
              </a:solidFill>
              <a:latin typeface="Arial Rounded MT Bold" pitchFamily="34" charset="0"/>
            </a:endParaRPr>
          </a:p>
          <a:p>
            <a:pPr marL="282575" indent="-282575" eaLnBrk="0" hangingPunct="0">
              <a:buFontTx/>
              <a:buChar char="•"/>
            </a:pPr>
            <a:r>
              <a:rPr lang="en-US" sz="2200" dirty="0">
                <a:solidFill>
                  <a:srgbClr val="000000"/>
                </a:solidFill>
                <a:latin typeface="Arial Rounded MT Bold" pitchFamily="34" charset="0"/>
              </a:rPr>
              <a:t>Are defects undesirable?</a:t>
            </a:r>
          </a:p>
          <a:p>
            <a:pPr marL="282575" indent="-282575" eaLnBrk="0" hangingPunct="0"/>
            <a:endParaRPr lang="en-US" sz="2200" dirty="0">
              <a:solidFill>
                <a:srgbClr val="000000"/>
              </a:solidFill>
              <a:latin typeface="Arial Rounded MT Bold" pitchFamily="34" charset="0"/>
            </a:endParaRPr>
          </a:p>
          <a:p>
            <a:pPr marL="282575" indent="-282575" eaLnBrk="0" hangingPunct="0">
              <a:buFontTx/>
              <a:buChar char="•"/>
            </a:pPr>
            <a:r>
              <a:rPr lang="en-US" sz="2200" dirty="0">
                <a:solidFill>
                  <a:srgbClr val="000000"/>
                </a:solidFill>
                <a:latin typeface="Arial Rounded MT Bold" pitchFamily="34" charset="0"/>
              </a:rPr>
              <a:t>How do point defects in ceramics differ from those</a:t>
            </a:r>
          </a:p>
          <a:p>
            <a:pPr marL="282575" indent="-282575" eaLnBrk="0" hangingPunct="0"/>
            <a:r>
              <a:rPr lang="en-US" sz="2200" dirty="0">
                <a:solidFill>
                  <a:srgbClr val="000000"/>
                </a:solidFill>
                <a:latin typeface="Arial Rounded MT Bold" pitchFamily="34" charset="0"/>
              </a:rPr>
              <a:t>	in metals?</a:t>
            </a:r>
          </a:p>
          <a:p>
            <a:pPr marL="282575" indent="-282575" eaLnBrk="0" hangingPunct="0"/>
            <a:endParaRPr lang="en-US" sz="2200" dirty="0">
              <a:solidFill>
                <a:srgbClr val="000000"/>
              </a:solidFill>
              <a:latin typeface="Arial Rounded MT Bold" pitchFamily="34" charset="0"/>
            </a:endParaRPr>
          </a:p>
          <a:p>
            <a:pPr marL="282575" indent="-282575" eaLnBrk="0" hangingPunct="0">
              <a:buFontTx/>
              <a:buChar char="•"/>
            </a:pPr>
            <a:r>
              <a:rPr lang="en-US" sz="2200" dirty="0">
                <a:solidFill>
                  <a:srgbClr val="000000"/>
                </a:solidFill>
                <a:latin typeface="Arial Rounded MT Bold" pitchFamily="34" charset="0"/>
              </a:rPr>
              <a:t>In ceramics, how are impurities accommodated</a:t>
            </a:r>
          </a:p>
          <a:p>
            <a:pPr marL="282575" indent="-282575" eaLnBrk="0" hangingPunct="0"/>
            <a:r>
              <a:rPr lang="en-US" sz="2200" dirty="0">
                <a:solidFill>
                  <a:srgbClr val="000000"/>
                </a:solidFill>
                <a:latin typeface="Arial Rounded MT Bold" pitchFamily="34" charset="0"/>
              </a:rPr>
              <a:t>	in the lattice and how do they affect properties?</a:t>
            </a:r>
          </a:p>
          <a:p>
            <a:pPr marL="282575" indent="-282575" eaLnBrk="0" hangingPunct="0"/>
            <a:endParaRPr lang="en-US" sz="2200" dirty="0">
              <a:solidFill>
                <a:srgbClr val="000000"/>
              </a:solidFill>
              <a:latin typeface="Arial Rounded MT Bold" pitchFamily="34" charset="0"/>
            </a:endParaRPr>
          </a:p>
          <a:p>
            <a:pPr marL="282575" indent="-282575" eaLnBrk="0" hangingPunct="0"/>
            <a:endParaRPr lang="en-US" sz="2200" dirty="0">
              <a:latin typeface="Arial Rounded MT Bold" pitchFamily="34" charset="0"/>
            </a:endParaRPr>
          </a:p>
        </p:txBody>
      </p:sp>
      <p:sp>
        <p:nvSpPr>
          <p:cNvPr id="3076" name="Rectangle 6"/>
          <p:cNvSpPr>
            <a:spLocks noChangeArrowheads="1"/>
          </p:cNvSpPr>
          <p:nvPr/>
        </p:nvSpPr>
        <p:spPr bwMode="auto">
          <a:xfrm>
            <a:off x="8077200" y="6400800"/>
            <a:ext cx="2746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1200">
                <a:solidFill>
                  <a:srgbClr val="000000"/>
                </a:solidFill>
                <a:latin typeface="Arial Rounded MT Bold" pitchFamily="34" charset="0"/>
              </a:rPr>
              <a:t>1</a:t>
            </a:r>
          </a:p>
        </p:txBody>
      </p:sp>
      <p:sp>
        <p:nvSpPr>
          <p:cNvPr id="3077" name="Rectangle 8"/>
          <p:cNvSpPr>
            <a:spLocks noGrp="1" noChangeArrowheads="1"/>
          </p:cNvSpPr>
          <p:nvPr>
            <p:ph type="title" idx="4294967295"/>
          </p:nvPr>
        </p:nvSpPr>
        <p:spPr>
          <a:xfrm>
            <a:off x="304800" y="152400"/>
            <a:ext cx="7467600" cy="579438"/>
          </a:xfrm>
        </p:spPr>
        <p:style>
          <a:lnRef idx="1">
            <a:schemeClr val="accent3"/>
          </a:lnRef>
          <a:fillRef idx="2">
            <a:schemeClr val="accent3"/>
          </a:fillRef>
          <a:effectRef idx="1">
            <a:schemeClr val="accent3"/>
          </a:effectRef>
          <a:fontRef idx="minor">
            <a:schemeClr val="dk1"/>
          </a:fontRef>
        </p:style>
        <p:txBody>
          <a:bodyPr/>
          <a:lstStyle/>
          <a:p>
            <a:pPr eaLnBrk="1" hangingPunct="1"/>
            <a:r>
              <a:rPr lang="en-US" dirty="0" smtClean="0"/>
              <a:t>           </a:t>
            </a:r>
            <a:r>
              <a:rPr lang="en-US" dirty="0" smtClean="0">
                <a:solidFill>
                  <a:srgbClr val="3333FF"/>
                </a:solidFill>
              </a:rPr>
              <a:t>IMPERFECTIONS </a:t>
            </a:r>
            <a:r>
              <a:rPr lang="en-US" dirty="0" smtClean="0">
                <a:solidFill>
                  <a:srgbClr val="3333FF"/>
                </a:solidFill>
              </a:rPr>
              <a:t>IN SOLIDS</a:t>
            </a:r>
          </a:p>
        </p:txBody>
      </p:sp>
    </p:spTree>
    <p:extLst>
      <p:ext uri="{BB962C8B-B14F-4D97-AF65-F5344CB8AC3E}">
        <p14:creationId xmlns:p14="http://schemas.microsoft.com/office/powerpoint/2010/main" val="32091593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8077200" y="6400800"/>
            <a:ext cx="2746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1200">
                <a:solidFill>
                  <a:srgbClr val="000000"/>
                </a:solidFill>
                <a:latin typeface="Arial Rounded MT Bold" pitchFamily="34" charset="0"/>
              </a:rPr>
              <a:t>2</a:t>
            </a:r>
          </a:p>
        </p:txBody>
      </p:sp>
      <p:sp>
        <p:nvSpPr>
          <p:cNvPr id="4099" name="Rectangle 3"/>
          <p:cNvSpPr>
            <a:spLocks noChangeArrowheads="1"/>
          </p:cNvSpPr>
          <p:nvPr/>
        </p:nvSpPr>
        <p:spPr bwMode="auto">
          <a:xfrm>
            <a:off x="703263" y="1524000"/>
            <a:ext cx="3835400" cy="1281113"/>
          </a:xfrm>
          <a:prstGeom prst="rect">
            <a:avLst/>
          </a:prstGeom>
          <a:ln/>
        </p:spPr>
        <p:style>
          <a:lnRef idx="1">
            <a:schemeClr val="accent4"/>
          </a:lnRef>
          <a:fillRef idx="2">
            <a:schemeClr val="accent4"/>
          </a:fillRef>
          <a:effectRef idx="1">
            <a:schemeClr val="accent4"/>
          </a:effectRef>
          <a:fontRef idx="minor">
            <a:schemeClr val="dk1"/>
          </a:fontRef>
        </p:style>
        <p:txBody>
          <a:bodyPr wrap="none" lIns="0" tIns="0" rIns="0" bIns="0">
            <a:spAutoFit/>
          </a:bodyPr>
          <a:lstStyle/>
          <a:p>
            <a:pPr eaLnBrk="0" hangingPunct="0"/>
            <a:r>
              <a:rPr lang="en-US" sz="2800" dirty="0">
                <a:solidFill>
                  <a:schemeClr val="tx2"/>
                </a:solidFill>
                <a:latin typeface="Arial Rounded MT Bold" pitchFamily="34" charset="0"/>
              </a:rPr>
              <a:t>•  Vacancy atoms</a:t>
            </a:r>
          </a:p>
          <a:p>
            <a:pPr eaLnBrk="0" hangingPunct="0"/>
            <a:r>
              <a:rPr lang="en-US" sz="2800" dirty="0">
                <a:solidFill>
                  <a:schemeClr val="tx2"/>
                </a:solidFill>
                <a:latin typeface="Arial Rounded MT Bold" pitchFamily="34" charset="0"/>
              </a:rPr>
              <a:t>•  Interstitial atoms</a:t>
            </a:r>
          </a:p>
          <a:p>
            <a:pPr eaLnBrk="0" hangingPunct="0"/>
            <a:r>
              <a:rPr lang="en-US" sz="2800" dirty="0">
                <a:solidFill>
                  <a:schemeClr val="tx2"/>
                </a:solidFill>
                <a:latin typeface="Arial Rounded MT Bold" pitchFamily="34" charset="0"/>
              </a:rPr>
              <a:t>•  </a:t>
            </a:r>
            <a:r>
              <a:rPr lang="en-US" sz="2800" dirty="0" err="1">
                <a:solidFill>
                  <a:schemeClr val="tx2"/>
                </a:solidFill>
                <a:latin typeface="Arial Rounded MT Bold" pitchFamily="34" charset="0"/>
              </a:rPr>
              <a:t>Substitutional</a:t>
            </a:r>
            <a:r>
              <a:rPr lang="en-US" sz="2800" dirty="0">
                <a:solidFill>
                  <a:schemeClr val="tx2"/>
                </a:solidFill>
                <a:latin typeface="Arial Rounded MT Bold" pitchFamily="34" charset="0"/>
              </a:rPr>
              <a:t> atoms</a:t>
            </a:r>
          </a:p>
        </p:txBody>
      </p:sp>
      <p:sp>
        <p:nvSpPr>
          <p:cNvPr id="4100" name="Rectangle 4"/>
          <p:cNvSpPr>
            <a:spLocks noChangeArrowheads="1"/>
          </p:cNvSpPr>
          <p:nvPr/>
        </p:nvSpPr>
        <p:spPr bwMode="auto">
          <a:xfrm>
            <a:off x="703263" y="3306763"/>
            <a:ext cx="243205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2800" dirty="0">
                <a:solidFill>
                  <a:srgbClr val="006600"/>
                </a:solidFill>
                <a:latin typeface="Arial Rounded MT Bold" pitchFamily="34" charset="0"/>
              </a:rPr>
              <a:t>•  Dislocations</a:t>
            </a:r>
          </a:p>
        </p:txBody>
      </p:sp>
      <p:sp>
        <p:nvSpPr>
          <p:cNvPr id="4101" name="Rectangle 5"/>
          <p:cNvSpPr>
            <a:spLocks noChangeArrowheads="1"/>
          </p:cNvSpPr>
          <p:nvPr/>
        </p:nvSpPr>
        <p:spPr bwMode="auto">
          <a:xfrm>
            <a:off x="709613" y="4144963"/>
            <a:ext cx="33385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2800" dirty="0">
                <a:solidFill>
                  <a:srgbClr val="0000FF"/>
                </a:solidFill>
                <a:latin typeface="Arial Rounded MT Bold" pitchFamily="34" charset="0"/>
              </a:rPr>
              <a:t>•  Grain Boundaries</a:t>
            </a:r>
          </a:p>
        </p:txBody>
      </p:sp>
      <p:sp>
        <p:nvSpPr>
          <p:cNvPr id="4102" name="Line 6"/>
          <p:cNvSpPr>
            <a:spLocks noChangeShapeType="1"/>
          </p:cNvSpPr>
          <p:nvPr/>
        </p:nvSpPr>
        <p:spPr bwMode="auto">
          <a:xfrm>
            <a:off x="5046663" y="1600200"/>
            <a:ext cx="0" cy="1219200"/>
          </a:xfrm>
          <a:prstGeom prst="line">
            <a:avLst/>
          </a:prstGeom>
          <a:noFill/>
          <a:ln w="571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03" name="Rectangle 7"/>
          <p:cNvSpPr>
            <a:spLocks noChangeArrowheads="1"/>
          </p:cNvSpPr>
          <p:nvPr/>
        </p:nvSpPr>
        <p:spPr bwMode="auto">
          <a:xfrm>
            <a:off x="5351463" y="1981200"/>
            <a:ext cx="2268537" cy="256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2800">
                <a:solidFill>
                  <a:schemeClr val="tx2"/>
                </a:solidFill>
                <a:latin typeface="Arial Rounded MT Bold" pitchFamily="34" charset="0"/>
              </a:rPr>
              <a:t>Point defects</a:t>
            </a:r>
          </a:p>
          <a:p>
            <a:pPr eaLnBrk="0" hangingPunct="0"/>
            <a:endParaRPr lang="en-US" sz="2800">
              <a:solidFill>
                <a:schemeClr val="tx2"/>
              </a:solidFill>
              <a:latin typeface="Arial Rounded MT Bold" pitchFamily="34" charset="0"/>
            </a:endParaRPr>
          </a:p>
          <a:p>
            <a:pPr eaLnBrk="0" hangingPunct="0"/>
            <a:endParaRPr lang="en-US" sz="2800">
              <a:solidFill>
                <a:schemeClr val="tx2"/>
              </a:solidFill>
              <a:latin typeface="Arial Rounded MT Bold" pitchFamily="34" charset="0"/>
            </a:endParaRPr>
          </a:p>
          <a:p>
            <a:pPr eaLnBrk="0" hangingPunct="0"/>
            <a:r>
              <a:rPr lang="en-US" sz="2800">
                <a:solidFill>
                  <a:srgbClr val="006600"/>
                </a:solidFill>
                <a:latin typeface="Arial Rounded MT Bold" pitchFamily="34" charset="0"/>
              </a:rPr>
              <a:t>Line defects</a:t>
            </a:r>
            <a:endParaRPr lang="en-US" sz="2800">
              <a:solidFill>
                <a:srgbClr val="0000FF"/>
              </a:solidFill>
              <a:latin typeface="Arial Rounded MT Bold" pitchFamily="34" charset="0"/>
            </a:endParaRPr>
          </a:p>
          <a:p>
            <a:pPr eaLnBrk="0" hangingPunct="0"/>
            <a:endParaRPr lang="en-US" sz="2800">
              <a:solidFill>
                <a:srgbClr val="0000FF"/>
              </a:solidFill>
              <a:latin typeface="Arial Rounded MT Bold" pitchFamily="34" charset="0"/>
            </a:endParaRPr>
          </a:p>
          <a:p>
            <a:pPr eaLnBrk="0" hangingPunct="0"/>
            <a:r>
              <a:rPr lang="en-US" sz="2800">
                <a:solidFill>
                  <a:srgbClr val="0000FF"/>
                </a:solidFill>
                <a:latin typeface="Arial Rounded MT Bold" pitchFamily="34" charset="0"/>
              </a:rPr>
              <a:t>Area defects</a:t>
            </a:r>
          </a:p>
        </p:txBody>
      </p:sp>
      <p:sp>
        <p:nvSpPr>
          <p:cNvPr id="4104" name="Rectangle 8"/>
          <p:cNvSpPr>
            <a:spLocks noGrp="1" noChangeArrowheads="1"/>
          </p:cNvSpPr>
          <p:nvPr>
            <p:ph type="title" idx="4294967295"/>
          </p:nvPr>
        </p:nvSpPr>
        <p:spPr>
          <a:xfrm>
            <a:off x="609600" y="304800"/>
            <a:ext cx="7467600" cy="579438"/>
          </a:xfrm>
        </p:spPr>
        <p:style>
          <a:lnRef idx="1">
            <a:schemeClr val="accent4"/>
          </a:lnRef>
          <a:fillRef idx="2">
            <a:schemeClr val="accent4"/>
          </a:fillRef>
          <a:effectRef idx="1">
            <a:schemeClr val="accent4"/>
          </a:effectRef>
          <a:fontRef idx="minor">
            <a:schemeClr val="dk1"/>
          </a:fontRef>
        </p:style>
        <p:txBody>
          <a:bodyPr/>
          <a:lstStyle/>
          <a:p>
            <a:pPr algn="ctr" eaLnBrk="1" hangingPunct="1"/>
            <a:r>
              <a:rPr lang="en-US" dirty="0" smtClean="0">
                <a:solidFill>
                  <a:srgbClr val="6600CC"/>
                </a:solidFill>
              </a:rPr>
              <a:t>TYPES OF IMPERFECTIONS</a:t>
            </a:r>
          </a:p>
        </p:txBody>
      </p:sp>
    </p:spTree>
    <p:extLst>
      <p:ext uri="{BB962C8B-B14F-4D97-AF65-F5344CB8AC3E}">
        <p14:creationId xmlns:p14="http://schemas.microsoft.com/office/powerpoint/2010/main" val="16341700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ChangeArrowheads="1"/>
          </p:cNvSpPr>
          <p:nvPr/>
        </p:nvSpPr>
        <p:spPr bwMode="auto">
          <a:xfrm>
            <a:off x="8077200" y="6400800"/>
            <a:ext cx="2746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1200">
                <a:solidFill>
                  <a:srgbClr val="000000"/>
                </a:solidFill>
                <a:latin typeface="Arial Rounded MT Bold" pitchFamily="34" charset="0"/>
              </a:rPr>
              <a:t>3</a:t>
            </a:r>
          </a:p>
        </p:txBody>
      </p:sp>
      <p:sp>
        <p:nvSpPr>
          <p:cNvPr id="5123" name="Rectangle 3"/>
          <p:cNvSpPr>
            <a:spLocks noChangeArrowheads="1"/>
          </p:cNvSpPr>
          <p:nvPr/>
        </p:nvSpPr>
        <p:spPr bwMode="auto">
          <a:xfrm>
            <a:off x="533400" y="914400"/>
            <a:ext cx="143282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dirty="0">
                <a:latin typeface="Arial Rounded MT Bold" pitchFamily="34" charset="0"/>
              </a:rPr>
              <a:t>•  </a:t>
            </a:r>
            <a:r>
              <a:rPr lang="en-US" b="1" dirty="0">
                <a:solidFill>
                  <a:srgbClr val="3333FF"/>
                </a:solidFill>
                <a:latin typeface="Arial Rounded MT Bold" pitchFamily="34" charset="0"/>
              </a:rPr>
              <a:t>Vacancies:</a:t>
            </a:r>
          </a:p>
        </p:txBody>
      </p:sp>
      <p:sp>
        <p:nvSpPr>
          <p:cNvPr id="5124" name="Rectangle 4"/>
          <p:cNvSpPr>
            <a:spLocks noChangeArrowheads="1"/>
          </p:cNvSpPr>
          <p:nvPr/>
        </p:nvSpPr>
        <p:spPr bwMode="auto">
          <a:xfrm>
            <a:off x="812800" y="1279525"/>
            <a:ext cx="4687888"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2200" dirty="0">
                <a:latin typeface="Arial Rounded MT Bold" pitchFamily="34" charset="0"/>
              </a:rPr>
              <a:t>-vacant atomic sites in a structure.</a:t>
            </a:r>
          </a:p>
        </p:txBody>
      </p:sp>
      <p:pic>
        <p:nvPicPr>
          <p:cNvPr id="512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3950" y="1550988"/>
            <a:ext cx="7410450" cy="205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Rectangle 6"/>
          <p:cNvSpPr>
            <a:spLocks noChangeArrowheads="1"/>
          </p:cNvSpPr>
          <p:nvPr/>
        </p:nvSpPr>
        <p:spPr bwMode="auto">
          <a:xfrm>
            <a:off x="533400" y="3505200"/>
            <a:ext cx="27019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atin typeface="Arial Rounded MT Bold" pitchFamily="34" charset="0"/>
              </a:rPr>
              <a:t>•  </a:t>
            </a:r>
            <a:r>
              <a:rPr lang="en-US">
                <a:solidFill>
                  <a:schemeClr val="accent2"/>
                </a:solidFill>
                <a:latin typeface="Arial Rounded MT Bold" pitchFamily="34" charset="0"/>
              </a:rPr>
              <a:t>Self-Interstitials</a:t>
            </a:r>
            <a:r>
              <a:rPr lang="en-US">
                <a:latin typeface="Arial Rounded MT Bold" pitchFamily="34" charset="0"/>
              </a:rPr>
              <a:t>:</a:t>
            </a:r>
          </a:p>
        </p:txBody>
      </p:sp>
      <p:sp>
        <p:nvSpPr>
          <p:cNvPr id="5127" name="Rectangle 7"/>
          <p:cNvSpPr>
            <a:spLocks noChangeArrowheads="1"/>
          </p:cNvSpPr>
          <p:nvPr/>
        </p:nvSpPr>
        <p:spPr bwMode="auto">
          <a:xfrm>
            <a:off x="850900" y="3856038"/>
            <a:ext cx="648652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2200">
                <a:latin typeface="Arial Rounded MT Bold" pitchFamily="34" charset="0"/>
              </a:rPr>
              <a:t>-"extra" atoms positioned between atomic sites.</a:t>
            </a:r>
          </a:p>
        </p:txBody>
      </p:sp>
      <p:pic>
        <p:nvPicPr>
          <p:cNvPr id="5128"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700" y="4137025"/>
            <a:ext cx="7886700" cy="233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9" name="Rectangle 9"/>
          <p:cNvSpPr>
            <a:spLocks noGrp="1" noChangeArrowheads="1"/>
          </p:cNvSpPr>
          <p:nvPr>
            <p:ph type="title" idx="4294967295"/>
          </p:nvPr>
        </p:nvSpPr>
        <p:spPr>
          <a:xfrm>
            <a:off x="850900" y="0"/>
            <a:ext cx="7854950" cy="685800"/>
          </a:xfrm>
        </p:spPr>
        <p:style>
          <a:lnRef idx="1">
            <a:schemeClr val="accent3"/>
          </a:lnRef>
          <a:fillRef idx="2">
            <a:schemeClr val="accent3"/>
          </a:fillRef>
          <a:effectRef idx="1">
            <a:schemeClr val="accent3"/>
          </a:effectRef>
          <a:fontRef idx="minor">
            <a:schemeClr val="dk1"/>
          </a:fontRef>
        </p:style>
        <p:txBody>
          <a:bodyPr/>
          <a:lstStyle/>
          <a:p>
            <a:pPr algn="ctr" eaLnBrk="1" hangingPunct="1"/>
            <a:r>
              <a:rPr lang="en-US" b="1" dirty="0" smtClean="0">
                <a:solidFill>
                  <a:srgbClr val="3333FF"/>
                </a:solidFill>
              </a:rPr>
              <a:t>POINT DEFECTS</a:t>
            </a:r>
          </a:p>
        </p:txBody>
      </p:sp>
    </p:spTree>
    <p:extLst>
      <p:ext uri="{BB962C8B-B14F-4D97-AF65-F5344CB8AC3E}">
        <p14:creationId xmlns:p14="http://schemas.microsoft.com/office/powerpoint/2010/main" val="23852397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spTree>
    <p:extLst>
      <p:ext uri="{BB962C8B-B14F-4D97-AF65-F5344CB8AC3E}">
        <p14:creationId xmlns:p14="http://schemas.microsoft.com/office/powerpoint/2010/main" val="18199522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 y="2146300"/>
            <a:ext cx="8001000" cy="440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Rectangle 3"/>
          <p:cNvSpPr>
            <a:spLocks noChangeArrowheads="1"/>
          </p:cNvSpPr>
          <p:nvPr/>
        </p:nvSpPr>
        <p:spPr bwMode="auto">
          <a:xfrm>
            <a:off x="8077200" y="6400800"/>
            <a:ext cx="2746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1200">
                <a:solidFill>
                  <a:srgbClr val="000000"/>
                </a:solidFill>
                <a:latin typeface="Arial Rounded MT Bold" pitchFamily="34" charset="0"/>
              </a:rPr>
              <a:t>4</a:t>
            </a:r>
          </a:p>
        </p:txBody>
      </p:sp>
      <p:sp>
        <p:nvSpPr>
          <p:cNvPr id="6148" name="Rectangle 4"/>
          <p:cNvSpPr>
            <a:spLocks noChangeArrowheads="1"/>
          </p:cNvSpPr>
          <p:nvPr/>
        </p:nvSpPr>
        <p:spPr bwMode="auto">
          <a:xfrm>
            <a:off x="812800" y="1539875"/>
            <a:ext cx="78105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atin typeface="Arial Rounded MT Bold" pitchFamily="34" charset="0"/>
              </a:rPr>
              <a:t>•  Equilibrium concentration varies with temperature!</a:t>
            </a:r>
          </a:p>
        </p:txBody>
      </p:sp>
      <p:sp>
        <p:nvSpPr>
          <p:cNvPr id="6149" name="Rectangle 5"/>
          <p:cNvSpPr>
            <a:spLocks noGrp="1" noChangeArrowheads="1"/>
          </p:cNvSpPr>
          <p:nvPr>
            <p:ph type="title" idx="4294967295"/>
          </p:nvPr>
        </p:nvSpPr>
        <p:spPr/>
        <p:txBody>
          <a:bodyPr/>
          <a:lstStyle/>
          <a:p>
            <a:pPr eaLnBrk="1" hangingPunct="1"/>
            <a:r>
              <a:rPr lang="en-US" smtClean="0"/>
              <a:t>EQUIL. CONCENTRATION:</a:t>
            </a:r>
            <a:br>
              <a:rPr lang="en-US" smtClean="0"/>
            </a:br>
            <a:r>
              <a:rPr lang="en-US" smtClean="0"/>
              <a:t>POINT DEFECTS</a:t>
            </a:r>
          </a:p>
        </p:txBody>
      </p:sp>
    </p:spTree>
    <p:extLst>
      <p:ext uri="{BB962C8B-B14F-4D97-AF65-F5344CB8AC3E}">
        <p14:creationId xmlns:p14="http://schemas.microsoft.com/office/powerpoint/2010/main" val="3326325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8077200" y="6400800"/>
            <a:ext cx="2746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1200">
                <a:solidFill>
                  <a:srgbClr val="000000"/>
                </a:solidFill>
                <a:latin typeface="Arial Rounded MT Bold" pitchFamily="34" charset="0"/>
              </a:rPr>
              <a:t>5</a:t>
            </a:r>
          </a:p>
        </p:txBody>
      </p:sp>
      <p:sp>
        <p:nvSpPr>
          <p:cNvPr id="7171" name="Rectangle 3"/>
          <p:cNvSpPr>
            <a:spLocks noChangeArrowheads="1"/>
          </p:cNvSpPr>
          <p:nvPr/>
        </p:nvSpPr>
        <p:spPr bwMode="auto">
          <a:xfrm>
            <a:off x="812800" y="1539875"/>
            <a:ext cx="306387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atin typeface="Arial Rounded MT Bold" pitchFamily="34" charset="0"/>
              </a:rPr>
              <a:t>•  We can get Q  from</a:t>
            </a:r>
          </a:p>
          <a:p>
            <a:pPr eaLnBrk="0" hangingPunct="0"/>
            <a:r>
              <a:rPr lang="en-US">
                <a:latin typeface="Arial Rounded MT Bold" pitchFamily="34" charset="0"/>
              </a:rPr>
              <a:t>     an experiment.</a:t>
            </a:r>
          </a:p>
        </p:txBody>
      </p:sp>
      <p:pic>
        <p:nvPicPr>
          <p:cNvPr id="71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1447800"/>
            <a:ext cx="26797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Rectangle 5"/>
          <p:cNvSpPr>
            <a:spLocks noChangeArrowheads="1"/>
          </p:cNvSpPr>
          <p:nvPr/>
        </p:nvSpPr>
        <p:spPr bwMode="auto">
          <a:xfrm>
            <a:off x="838200" y="2538413"/>
            <a:ext cx="24415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atin typeface="Arial Rounded MT Bold" pitchFamily="34" charset="0"/>
              </a:rPr>
              <a:t>•  Measure this...</a:t>
            </a:r>
          </a:p>
        </p:txBody>
      </p:sp>
      <p:sp>
        <p:nvSpPr>
          <p:cNvPr id="7174" name="Rectangle 6"/>
          <p:cNvSpPr>
            <a:spLocks noChangeArrowheads="1"/>
          </p:cNvSpPr>
          <p:nvPr/>
        </p:nvSpPr>
        <p:spPr bwMode="auto">
          <a:xfrm>
            <a:off x="4949825" y="2538413"/>
            <a:ext cx="1778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atin typeface="Arial Rounded MT Bold" pitchFamily="34" charset="0"/>
              </a:rPr>
              <a:t>•  Replot it...</a:t>
            </a:r>
          </a:p>
        </p:txBody>
      </p:sp>
      <p:pic>
        <p:nvPicPr>
          <p:cNvPr id="7175"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7700" y="3060700"/>
            <a:ext cx="4381500" cy="288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6"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500" y="3048000"/>
            <a:ext cx="4635500"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7" name="Rectangle 9"/>
          <p:cNvSpPr>
            <a:spLocks noGrp="1" noChangeArrowheads="1"/>
          </p:cNvSpPr>
          <p:nvPr>
            <p:ph type="title" idx="4294967295"/>
          </p:nvPr>
        </p:nvSpPr>
        <p:spPr/>
        <p:txBody>
          <a:bodyPr/>
          <a:lstStyle/>
          <a:p>
            <a:pPr eaLnBrk="1" hangingPunct="1"/>
            <a:r>
              <a:rPr lang="en-US" smtClean="0"/>
              <a:t>MEASURING ACTIVATION ENERGY</a:t>
            </a:r>
          </a:p>
        </p:txBody>
      </p:sp>
    </p:spTree>
    <p:extLst>
      <p:ext uri="{BB962C8B-B14F-4D97-AF65-F5344CB8AC3E}">
        <p14:creationId xmlns:p14="http://schemas.microsoft.com/office/powerpoint/2010/main" val="220959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8077200" y="6400800"/>
            <a:ext cx="2746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1200">
                <a:solidFill>
                  <a:srgbClr val="000000"/>
                </a:solidFill>
                <a:latin typeface="Arial Rounded MT Bold" pitchFamily="34" charset="0"/>
              </a:rPr>
              <a:t>7</a:t>
            </a:r>
          </a:p>
        </p:txBody>
      </p:sp>
      <p:sp>
        <p:nvSpPr>
          <p:cNvPr id="8195" name="Rectangle 3"/>
          <p:cNvSpPr>
            <a:spLocks noChangeArrowheads="1"/>
          </p:cNvSpPr>
          <p:nvPr/>
        </p:nvSpPr>
        <p:spPr bwMode="auto">
          <a:xfrm>
            <a:off x="609600" y="914400"/>
            <a:ext cx="3810000" cy="389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atin typeface="Arial Rounded MT Bold" pitchFamily="34" charset="0"/>
              </a:rPr>
              <a:t>•  Low energy electron</a:t>
            </a:r>
          </a:p>
          <a:p>
            <a:pPr eaLnBrk="0" hangingPunct="0"/>
            <a:r>
              <a:rPr lang="en-US">
                <a:latin typeface="Arial Rounded MT Bold" pitchFamily="34" charset="0"/>
              </a:rPr>
              <a:t>     microscope view of</a:t>
            </a:r>
          </a:p>
          <a:p>
            <a:pPr eaLnBrk="0" hangingPunct="0"/>
            <a:r>
              <a:rPr lang="en-US">
                <a:latin typeface="Arial Rounded MT Bold" pitchFamily="34" charset="0"/>
              </a:rPr>
              <a:t>     a (110) surface of NiAl.</a:t>
            </a:r>
          </a:p>
          <a:p>
            <a:pPr eaLnBrk="0" hangingPunct="0"/>
            <a:r>
              <a:rPr lang="en-US">
                <a:latin typeface="Arial Rounded MT Bold" pitchFamily="34" charset="0"/>
              </a:rPr>
              <a:t>•  Increasing T causes</a:t>
            </a:r>
          </a:p>
          <a:p>
            <a:pPr eaLnBrk="0" hangingPunct="0"/>
            <a:r>
              <a:rPr lang="en-US">
                <a:latin typeface="Arial Rounded MT Bold" pitchFamily="34" charset="0"/>
              </a:rPr>
              <a:t>     surface island of</a:t>
            </a:r>
          </a:p>
          <a:p>
            <a:pPr eaLnBrk="0" hangingPunct="0"/>
            <a:r>
              <a:rPr lang="en-US">
                <a:latin typeface="Arial Rounded MT Bold" pitchFamily="34" charset="0"/>
              </a:rPr>
              <a:t>     atoms to grow.</a:t>
            </a:r>
          </a:p>
          <a:p>
            <a:pPr eaLnBrk="0" hangingPunct="0"/>
            <a:r>
              <a:rPr lang="en-US">
                <a:latin typeface="Arial Rounded MT Bold" pitchFamily="34" charset="0"/>
              </a:rPr>
              <a:t>•  Why?</a:t>
            </a:r>
            <a:r>
              <a:rPr lang="en-US" sz="2200">
                <a:latin typeface="Arial Rounded MT Bold" pitchFamily="34" charset="0"/>
              </a:rPr>
              <a:t> The equil. vacancy</a:t>
            </a:r>
          </a:p>
          <a:p>
            <a:pPr eaLnBrk="0" hangingPunct="0"/>
            <a:r>
              <a:rPr lang="en-US" sz="2200">
                <a:latin typeface="Arial Rounded MT Bold" pitchFamily="34" charset="0"/>
              </a:rPr>
              <a:t>      conc. increases via atom</a:t>
            </a:r>
          </a:p>
          <a:p>
            <a:pPr eaLnBrk="0" hangingPunct="0"/>
            <a:r>
              <a:rPr lang="en-US" sz="2200">
                <a:latin typeface="Arial Rounded MT Bold" pitchFamily="34" charset="0"/>
              </a:rPr>
              <a:t>      motion from the crystal</a:t>
            </a:r>
          </a:p>
          <a:p>
            <a:pPr eaLnBrk="0" hangingPunct="0"/>
            <a:r>
              <a:rPr lang="en-US" sz="2200">
                <a:latin typeface="Arial Rounded MT Bold" pitchFamily="34" charset="0"/>
              </a:rPr>
              <a:t>      to the surface, where </a:t>
            </a:r>
          </a:p>
          <a:p>
            <a:pPr eaLnBrk="0" hangingPunct="0"/>
            <a:r>
              <a:rPr lang="en-US" sz="2200">
                <a:latin typeface="Arial Rounded MT Bold" pitchFamily="34" charset="0"/>
              </a:rPr>
              <a:t>     they join the island.</a:t>
            </a:r>
          </a:p>
        </p:txBody>
      </p:sp>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4724400"/>
            <a:ext cx="4241800" cy="157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Rectangle 6"/>
          <p:cNvSpPr>
            <a:spLocks noGrp="1" noChangeArrowheads="1"/>
          </p:cNvSpPr>
          <p:nvPr>
            <p:ph type="title" idx="4294967295"/>
          </p:nvPr>
        </p:nvSpPr>
        <p:spPr/>
        <p:txBody>
          <a:bodyPr/>
          <a:lstStyle/>
          <a:p>
            <a:pPr eaLnBrk="1" hangingPunct="1"/>
            <a:r>
              <a:rPr lang="en-US" sz="3200" smtClean="0"/>
              <a:t>OBSERVING EQUIL. VACANCY CONC.</a:t>
            </a:r>
          </a:p>
        </p:txBody>
      </p:sp>
      <p:pic>
        <p:nvPicPr>
          <p:cNvPr id="8200" name="4_7.avi">
            <a:hlinkClick r:id="" action="ppaction://media"/>
          </p:cNvPr>
          <p:cNvPicPr>
            <a:picLocks noRot="1" noChangeAspect="1" noChangeArrowheads="1"/>
          </p:cNvPicPr>
          <p:nvPr>
            <a:videoFile r:link="rId1"/>
          </p:nvPr>
        </p:nvPicPr>
        <p:blipFill>
          <a:blip r:embed="rId5">
            <a:extLst>
              <a:ext uri="{28A0092B-C50C-407E-A947-70E740481C1C}">
                <a14:useLocalDpi xmlns:a14="http://schemas.microsoft.com/office/drawing/2010/main" val="0"/>
              </a:ext>
            </a:extLst>
          </a:blip>
          <a:srcRect/>
          <a:stretch>
            <a:fillRect/>
          </a:stretch>
        </p:blipFill>
        <p:spPr bwMode="auto">
          <a:xfrm>
            <a:off x="4648200" y="1447800"/>
            <a:ext cx="3048000"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9" name="Text Box 9"/>
          <p:cNvSpPr txBox="1">
            <a:spLocks noChangeArrowheads="1"/>
          </p:cNvSpPr>
          <p:nvPr/>
        </p:nvSpPr>
        <p:spPr bwMode="auto">
          <a:xfrm>
            <a:off x="5257800" y="3886200"/>
            <a:ext cx="1941513" cy="2841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200">
                <a:latin typeface="Arial Rounded MT Bold" pitchFamily="34" charset="0"/>
              </a:rPr>
              <a:t>Click on image to animate</a:t>
            </a:r>
          </a:p>
        </p:txBody>
      </p:sp>
    </p:spTree>
    <p:extLst>
      <p:ext uri="{BB962C8B-B14F-4D97-AF65-F5344CB8AC3E}">
        <p14:creationId xmlns:p14="http://schemas.microsoft.com/office/powerpoint/2010/main" val="228038531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200"/>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8200"/>
                                        </p:tgtEl>
                                      </p:cBhvr>
                                    </p:cmd>
                                  </p:childTnLst>
                                </p:cTn>
                              </p:par>
                            </p:childTnLst>
                          </p:cTn>
                        </p:par>
                      </p:childTnLst>
                    </p:cTn>
                  </p:par>
                </p:childTnLst>
              </p:cTn>
              <p:nextCondLst>
                <p:cond evt="onClick" delay="0">
                  <p:tgtEl>
                    <p:spTgt spid="8200"/>
                  </p:tgtEl>
                </p:cond>
              </p:nextCondLst>
            </p:seq>
            <p:video>
              <p:cMediaNode>
                <p:cTn id="7" fill="hold" display="0">
                  <p:stCondLst>
                    <p:cond delay="indefinite"/>
                  </p:stCondLst>
                  <p:endCondLst>
                    <p:cond evt="onNext" delay="0">
                      <p:tgtEl>
                        <p:sldTgt/>
                      </p:tgtEl>
                    </p:cond>
                    <p:cond evt="onPrev" delay="0">
                      <p:tgtEl>
                        <p:sldTgt/>
                      </p:tgtEl>
                    </p:cond>
                  </p:endCondLst>
                </p:cTn>
                <p:tgtEl>
                  <p:spTgt spid="8200"/>
                </p:tgtEl>
              </p:cMediaNode>
            </p:video>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ChangeArrowheads="1"/>
          </p:cNvSpPr>
          <p:nvPr/>
        </p:nvSpPr>
        <p:spPr bwMode="auto">
          <a:xfrm>
            <a:off x="8077200" y="6400800"/>
            <a:ext cx="2682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1200">
                <a:solidFill>
                  <a:srgbClr val="000000"/>
                </a:solidFill>
                <a:latin typeface="Arial Rounded MT Bold" pitchFamily="34" charset="0"/>
              </a:rPr>
              <a:t>8</a:t>
            </a:r>
          </a:p>
        </p:txBody>
      </p:sp>
      <p:sp>
        <p:nvSpPr>
          <p:cNvPr id="1028" name="Rectangle 3"/>
          <p:cNvSpPr>
            <a:spLocks noChangeArrowheads="1"/>
          </p:cNvSpPr>
          <p:nvPr/>
        </p:nvSpPr>
        <p:spPr bwMode="auto">
          <a:xfrm>
            <a:off x="533400" y="1143000"/>
            <a:ext cx="3305175" cy="70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2200">
                <a:solidFill>
                  <a:srgbClr val="000000"/>
                </a:solidFill>
                <a:latin typeface="Arial Rounded MT Bold" pitchFamily="34" charset="0"/>
              </a:rPr>
              <a:t>•  </a:t>
            </a:r>
            <a:r>
              <a:rPr lang="en-US">
                <a:solidFill>
                  <a:schemeClr val="accent2"/>
                </a:solidFill>
                <a:latin typeface="Arial Rounded MT Bold" pitchFamily="34" charset="0"/>
              </a:rPr>
              <a:t>Frenkel Defect</a:t>
            </a:r>
            <a:endParaRPr lang="en-US">
              <a:solidFill>
                <a:schemeClr val="tx2"/>
              </a:solidFill>
              <a:latin typeface="Arial Rounded MT Bold" pitchFamily="34" charset="0"/>
            </a:endParaRPr>
          </a:p>
          <a:p>
            <a:pPr eaLnBrk="0" hangingPunct="0"/>
            <a:r>
              <a:rPr lang="en-US" sz="2200">
                <a:latin typeface="Arial Rounded MT Bold" pitchFamily="34" charset="0"/>
              </a:rPr>
              <a:t>    --</a:t>
            </a:r>
            <a:r>
              <a:rPr lang="en-US" sz="2000">
                <a:latin typeface="Arial Rounded MT Bold" pitchFamily="34" charset="0"/>
              </a:rPr>
              <a:t>a cation is out of place.</a:t>
            </a:r>
            <a:endParaRPr lang="en-US" sz="2200">
              <a:solidFill>
                <a:srgbClr val="000000"/>
              </a:solidFill>
              <a:latin typeface="Arial Rounded MT Bold" pitchFamily="34" charset="0"/>
            </a:endParaRPr>
          </a:p>
        </p:txBody>
      </p:sp>
      <p:sp>
        <p:nvSpPr>
          <p:cNvPr id="1029" name="Rectangle 4"/>
          <p:cNvSpPr>
            <a:spLocks noChangeArrowheads="1"/>
          </p:cNvSpPr>
          <p:nvPr/>
        </p:nvSpPr>
        <p:spPr bwMode="auto">
          <a:xfrm>
            <a:off x="533400" y="1890713"/>
            <a:ext cx="5722938" cy="70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2200">
                <a:solidFill>
                  <a:srgbClr val="000000"/>
                </a:solidFill>
                <a:latin typeface="Arial Rounded MT Bold" pitchFamily="34" charset="0"/>
              </a:rPr>
              <a:t>•  </a:t>
            </a:r>
            <a:r>
              <a:rPr lang="en-US">
                <a:solidFill>
                  <a:schemeClr val="accent2"/>
                </a:solidFill>
                <a:latin typeface="Arial Rounded MT Bold" pitchFamily="34" charset="0"/>
              </a:rPr>
              <a:t>Shottky Defect</a:t>
            </a:r>
            <a:endParaRPr lang="en-US">
              <a:solidFill>
                <a:schemeClr val="tx2"/>
              </a:solidFill>
              <a:latin typeface="Arial Rounded MT Bold" pitchFamily="34" charset="0"/>
            </a:endParaRPr>
          </a:p>
          <a:p>
            <a:pPr eaLnBrk="0" hangingPunct="0"/>
            <a:r>
              <a:rPr lang="en-US" sz="2200">
                <a:latin typeface="Arial Rounded MT Bold" pitchFamily="34" charset="0"/>
              </a:rPr>
              <a:t>    --</a:t>
            </a:r>
            <a:r>
              <a:rPr lang="en-US" sz="2000">
                <a:latin typeface="Arial Rounded MT Bold" pitchFamily="34" charset="0"/>
              </a:rPr>
              <a:t>a paired set of cation and anion vacancies.</a:t>
            </a:r>
            <a:endParaRPr lang="en-US" sz="2200">
              <a:solidFill>
                <a:srgbClr val="000000"/>
              </a:solidFill>
              <a:latin typeface="Arial Rounded MT Bold" pitchFamily="34" charset="0"/>
            </a:endParaRPr>
          </a:p>
        </p:txBody>
      </p:sp>
      <p:pic>
        <p:nvPicPr>
          <p:cNvPr id="103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3275" y="2532063"/>
            <a:ext cx="6130925" cy="281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 name="Rectangle 6"/>
          <p:cNvSpPr>
            <a:spLocks noChangeArrowheads="1"/>
          </p:cNvSpPr>
          <p:nvPr/>
        </p:nvSpPr>
        <p:spPr bwMode="auto">
          <a:xfrm>
            <a:off x="533400" y="5426075"/>
            <a:ext cx="5699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2200">
                <a:solidFill>
                  <a:srgbClr val="000000"/>
                </a:solidFill>
                <a:latin typeface="Arial Rounded MT Bold" pitchFamily="34" charset="0"/>
              </a:rPr>
              <a:t>•  </a:t>
            </a:r>
            <a:r>
              <a:rPr lang="en-US">
                <a:latin typeface="Arial Rounded MT Bold" pitchFamily="34" charset="0"/>
              </a:rPr>
              <a:t>Equilibrium concentration of defects </a:t>
            </a:r>
            <a:endParaRPr lang="en-US" sz="2200">
              <a:solidFill>
                <a:srgbClr val="000000"/>
              </a:solidFill>
              <a:latin typeface="Arial Rounded MT Bold" pitchFamily="34" charset="0"/>
            </a:endParaRPr>
          </a:p>
        </p:txBody>
      </p:sp>
      <p:graphicFrame>
        <p:nvGraphicFramePr>
          <p:cNvPr id="1026" name="Object 7"/>
          <p:cNvGraphicFramePr>
            <a:graphicFrameLocks noChangeAspect="1"/>
          </p:cNvGraphicFramePr>
          <p:nvPr/>
        </p:nvGraphicFramePr>
        <p:xfrm>
          <a:off x="6248400" y="5326063"/>
          <a:ext cx="1447800" cy="419100"/>
        </p:xfrm>
        <a:graphic>
          <a:graphicData uri="http://schemas.openxmlformats.org/presentationml/2006/ole">
            <mc:AlternateContent xmlns:mc="http://schemas.openxmlformats.org/markup-compatibility/2006">
              <mc:Choice xmlns:v="urn:schemas-microsoft-com:vml" Requires="v">
                <p:oleObj spid="_x0000_s1035" name="Equation" r:id="rId5" imgW="1447800" imgH="419100" progId="Equation.3">
                  <p:embed/>
                </p:oleObj>
              </mc:Choice>
              <mc:Fallback>
                <p:oleObj name="Equation" r:id="rId5" imgW="1447800" imgH="4191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8400" y="5326063"/>
                        <a:ext cx="14478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2" name="Rectangle 9"/>
          <p:cNvSpPr>
            <a:spLocks noGrp="1" noChangeArrowheads="1"/>
          </p:cNvSpPr>
          <p:nvPr>
            <p:ph type="title" idx="4294967295"/>
          </p:nvPr>
        </p:nvSpPr>
        <p:spPr/>
        <p:txBody>
          <a:bodyPr/>
          <a:lstStyle/>
          <a:p>
            <a:pPr eaLnBrk="1" hangingPunct="1"/>
            <a:r>
              <a:rPr lang="en-US" smtClean="0"/>
              <a:t>DEFECTS IN CERAMIC STRUCTURES</a:t>
            </a:r>
          </a:p>
        </p:txBody>
      </p:sp>
    </p:spTree>
    <p:extLst>
      <p:ext uri="{BB962C8B-B14F-4D97-AF65-F5344CB8AC3E}">
        <p14:creationId xmlns:p14="http://schemas.microsoft.com/office/powerpoint/2010/main" val="32885663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4953000"/>
            <a:ext cx="2768600" cy="119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Rectangle 3"/>
          <p:cNvSpPr>
            <a:spLocks noChangeArrowheads="1"/>
          </p:cNvSpPr>
          <p:nvPr/>
        </p:nvSpPr>
        <p:spPr bwMode="auto">
          <a:xfrm>
            <a:off x="8077200" y="6400800"/>
            <a:ext cx="2682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1200">
                <a:solidFill>
                  <a:srgbClr val="000000"/>
                </a:solidFill>
                <a:latin typeface="Arial Rounded MT Bold" pitchFamily="34" charset="0"/>
              </a:rPr>
              <a:t>9</a:t>
            </a:r>
          </a:p>
        </p:txBody>
      </p:sp>
      <p:sp>
        <p:nvSpPr>
          <p:cNvPr id="9220" name="Rectangle 4"/>
          <p:cNvSpPr>
            <a:spLocks noChangeArrowheads="1"/>
          </p:cNvSpPr>
          <p:nvPr/>
        </p:nvSpPr>
        <p:spPr bwMode="auto">
          <a:xfrm>
            <a:off x="533400" y="1066800"/>
            <a:ext cx="8077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atin typeface="Arial Rounded MT Bold" pitchFamily="34" charset="0"/>
              </a:rPr>
              <a:t>Two outcomes if impurity (B) added to host (A):</a:t>
            </a:r>
          </a:p>
        </p:txBody>
      </p:sp>
      <p:sp>
        <p:nvSpPr>
          <p:cNvPr id="9221" name="Rectangle 5"/>
          <p:cNvSpPr>
            <a:spLocks noChangeArrowheads="1"/>
          </p:cNvSpPr>
          <p:nvPr/>
        </p:nvSpPr>
        <p:spPr bwMode="auto">
          <a:xfrm>
            <a:off x="762000" y="1401763"/>
            <a:ext cx="79248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sz="2200">
                <a:latin typeface="Arial Rounded MT Bold" pitchFamily="34" charset="0"/>
              </a:rPr>
              <a:t>•  </a:t>
            </a:r>
            <a:r>
              <a:rPr lang="en-US" sz="2200">
                <a:solidFill>
                  <a:schemeClr val="accent2"/>
                </a:solidFill>
                <a:latin typeface="Arial Rounded MT Bold" pitchFamily="34" charset="0"/>
              </a:rPr>
              <a:t>Solid solution</a:t>
            </a:r>
            <a:r>
              <a:rPr lang="en-US" sz="2200">
                <a:latin typeface="Arial Rounded MT Bold" pitchFamily="34" charset="0"/>
              </a:rPr>
              <a:t> of </a:t>
            </a:r>
            <a:r>
              <a:rPr lang="en-US" sz="2200">
                <a:solidFill>
                  <a:srgbClr val="CC6600"/>
                </a:solidFill>
                <a:latin typeface="Arial Rounded MT Bold" pitchFamily="34" charset="0"/>
              </a:rPr>
              <a:t>B</a:t>
            </a:r>
            <a:r>
              <a:rPr lang="en-US" sz="2200">
                <a:latin typeface="Arial Rounded MT Bold" pitchFamily="34" charset="0"/>
              </a:rPr>
              <a:t> in </a:t>
            </a:r>
            <a:r>
              <a:rPr lang="en-US" sz="2200">
                <a:solidFill>
                  <a:srgbClr val="333333"/>
                </a:solidFill>
                <a:latin typeface="Arial Rounded MT Bold" pitchFamily="34" charset="0"/>
              </a:rPr>
              <a:t>A</a:t>
            </a:r>
            <a:r>
              <a:rPr lang="en-US" sz="2000">
                <a:latin typeface="Arial Rounded MT Bold" pitchFamily="34" charset="0"/>
              </a:rPr>
              <a:t> (i.e., random dist. of point defects)</a:t>
            </a:r>
          </a:p>
        </p:txBody>
      </p:sp>
      <p:sp>
        <p:nvSpPr>
          <p:cNvPr id="9222" name="Rectangle 6"/>
          <p:cNvSpPr>
            <a:spLocks noChangeArrowheads="1"/>
          </p:cNvSpPr>
          <p:nvPr/>
        </p:nvSpPr>
        <p:spPr bwMode="auto">
          <a:xfrm>
            <a:off x="762000" y="4146550"/>
            <a:ext cx="78486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sz="2200">
                <a:latin typeface="Arial Rounded MT Bold" pitchFamily="34" charset="0"/>
              </a:rPr>
              <a:t>•  Solid solution of </a:t>
            </a:r>
            <a:r>
              <a:rPr lang="en-US" sz="2200">
                <a:solidFill>
                  <a:srgbClr val="CC6600"/>
                </a:solidFill>
                <a:latin typeface="Arial Rounded MT Bold" pitchFamily="34" charset="0"/>
              </a:rPr>
              <a:t>B</a:t>
            </a:r>
            <a:r>
              <a:rPr lang="en-US" sz="2200">
                <a:latin typeface="Arial Rounded MT Bold" pitchFamily="34" charset="0"/>
              </a:rPr>
              <a:t> in </a:t>
            </a:r>
            <a:r>
              <a:rPr lang="en-US" sz="2200">
                <a:solidFill>
                  <a:srgbClr val="333333"/>
                </a:solidFill>
                <a:latin typeface="Arial Rounded MT Bold" pitchFamily="34" charset="0"/>
              </a:rPr>
              <a:t>A</a:t>
            </a:r>
            <a:r>
              <a:rPr lang="en-US" sz="2200">
                <a:latin typeface="Arial Rounded MT Bold" pitchFamily="34" charset="0"/>
              </a:rPr>
              <a:t> plus particles of a new</a:t>
            </a:r>
          </a:p>
          <a:p>
            <a:pPr eaLnBrk="0" hangingPunct="0"/>
            <a:r>
              <a:rPr lang="en-US" sz="2200">
                <a:latin typeface="Arial Rounded MT Bold" pitchFamily="34" charset="0"/>
              </a:rPr>
              <a:t>      phase (usually for a larger amount of B)</a:t>
            </a:r>
          </a:p>
        </p:txBody>
      </p:sp>
      <p:sp>
        <p:nvSpPr>
          <p:cNvPr id="9223" name="Rectangle 7"/>
          <p:cNvSpPr>
            <a:spLocks noChangeArrowheads="1"/>
          </p:cNvSpPr>
          <p:nvPr/>
        </p:nvSpPr>
        <p:spPr bwMode="auto">
          <a:xfrm>
            <a:off x="3886200" y="2438400"/>
            <a:ext cx="644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atin typeface="Arial Rounded MT Bold" pitchFamily="34" charset="0"/>
              </a:rPr>
              <a:t>OR</a:t>
            </a:r>
          </a:p>
        </p:txBody>
      </p:sp>
      <p:sp>
        <p:nvSpPr>
          <p:cNvPr id="9224" name="Line 8"/>
          <p:cNvSpPr>
            <a:spLocks noChangeShapeType="1"/>
          </p:cNvSpPr>
          <p:nvPr/>
        </p:nvSpPr>
        <p:spPr bwMode="auto">
          <a:xfrm flipH="1">
            <a:off x="2819400" y="5130800"/>
            <a:ext cx="1295400" cy="381000"/>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25" name="Rectangle 9"/>
          <p:cNvSpPr>
            <a:spLocks noChangeArrowheads="1"/>
          </p:cNvSpPr>
          <p:nvPr/>
        </p:nvSpPr>
        <p:spPr bwMode="auto">
          <a:xfrm>
            <a:off x="1066800" y="3352800"/>
            <a:ext cx="2743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sz="2000">
                <a:solidFill>
                  <a:schemeClr val="accent2"/>
                </a:solidFill>
                <a:latin typeface="Arial Rounded MT Bold" pitchFamily="34" charset="0"/>
              </a:rPr>
              <a:t>Substitutional</a:t>
            </a:r>
            <a:r>
              <a:rPr lang="en-US" sz="2000">
                <a:latin typeface="Arial Rounded MT Bold" pitchFamily="34" charset="0"/>
              </a:rPr>
              <a:t> alloy</a:t>
            </a:r>
          </a:p>
          <a:p>
            <a:pPr algn="ctr" eaLnBrk="0" hangingPunct="0"/>
            <a:r>
              <a:rPr lang="en-US" sz="2000">
                <a:latin typeface="Arial Rounded MT Bold" pitchFamily="34" charset="0"/>
              </a:rPr>
              <a:t>(e.g., </a:t>
            </a:r>
            <a:r>
              <a:rPr lang="en-US" sz="2000">
                <a:solidFill>
                  <a:srgbClr val="CC6600"/>
                </a:solidFill>
                <a:latin typeface="Arial Rounded MT Bold" pitchFamily="34" charset="0"/>
              </a:rPr>
              <a:t>Cu</a:t>
            </a:r>
            <a:r>
              <a:rPr lang="en-US" sz="2000">
                <a:latin typeface="Arial Rounded MT Bold" pitchFamily="34" charset="0"/>
              </a:rPr>
              <a:t> in </a:t>
            </a:r>
            <a:r>
              <a:rPr lang="en-US" sz="2000">
                <a:solidFill>
                  <a:srgbClr val="333333"/>
                </a:solidFill>
                <a:latin typeface="Arial Rounded MT Bold" pitchFamily="34" charset="0"/>
              </a:rPr>
              <a:t>Ni</a:t>
            </a:r>
            <a:r>
              <a:rPr lang="en-US" sz="2000">
                <a:latin typeface="Arial Rounded MT Bold" pitchFamily="34" charset="0"/>
              </a:rPr>
              <a:t>)</a:t>
            </a:r>
          </a:p>
        </p:txBody>
      </p:sp>
      <p:pic>
        <p:nvPicPr>
          <p:cNvPr id="9226"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1905000"/>
            <a:ext cx="2120900" cy="158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7"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6800" y="1905000"/>
            <a:ext cx="2120900" cy="158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8" name="Rectangle 12"/>
          <p:cNvSpPr>
            <a:spLocks noChangeArrowheads="1"/>
          </p:cNvSpPr>
          <p:nvPr/>
        </p:nvSpPr>
        <p:spPr bwMode="auto">
          <a:xfrm>
            <a:off x="4876800" y="3352800"/>
            <a:ext cx="2133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sz="2000">
                <a:solidFill>
                  <a:schemeClr val="accent2"/>
                </a:solidFill>
                <a:latin typeface="Arial Rounded MT Bold" pitchFamily="34" charset="0"/>
              </a:rPr>
              <a:t>Interstitial</a:t>
            </a:r>
            <a:r>
              <a:rPr lang="en-US" sz="2000">
                <a:latin typeface="Arial Rounded MT Bold" pitchFamily="34" charset="0"/>
              </a:rPr>
              <a:t> alloy</a:t>
            </a:r>
          </a:p>
          <a:p>
            <a:pPr algn="ctr" eaLnBrk="0" hangingPunct="0"/>
            <a:r>
              <a:rPr lang="en-US" sz="2000">
                <a:latin typeface="Arial Rounded MT Bold" pitchFamily="34" charset="0"/>
              </a:rPr>
              <a:t>(e.g., </a:t>
            </a:r>
            <a:r>
              <a:rPr lang="en-US" sz="2000">
                <a:solidFill>
                  <a:srgbClr val="CC6600"/>
                </a:solidFill>
                <a:latin typeface="Arial Rounded MT Bold" pitchFamily="34" charset="0"/>
              </a:rPr>
              <a:t>C</a:t>
            </a:r>
            <a:r>
              <a:rPr lang="en-US" sz="2000">
                <a:latin typeface="Arial Rounded MT Bold" pitchFamily="34" charset="0"/>
              </a:rPr>
              <a:t> in  </a:t>
            </a:r>
            <a:r>
              <a:rPr lang="en-US" sz="2000">
                <a:solidFill>
                  <a:srgbClr val="333333"/>
                </a:solidFill>
                <a:latin typeface="Arial Rounded MT Bold" pitchFamily="34" charset="0"/>
              </a:rPr>
              <a:t>Fe</a:t>
            </a:r>
            <a:r>
              <a:rPr lang="en-US" sz="2000">
                <a:latin typeface="Arial Rounded MT Bold" pitchFamily="34" charset="0"/>
              </a:rPr>
              <a:t>)</a:t>
            </a:r>
          </a:p>
        </p:txBody>
      </p:sp>
      <p:sp>
        <p:nvSpPr>
          <p:cNvPr id="9229" name="Rectangle 13"/>
          <p:cNvSpPr>
            <a:spLocks noChangeArrowheads="1"/>
          </p:cNvSpPr>
          <p:nvPr/>
        </p:nvSpPr>
        <p:spPr bwMode="auto">
          <a:xfrm>
            <a:off x="4191000" y="4927600"/>
            <a:ext cx="339566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2000">
                <a:latin typeface="Arial Rounded MT Bold" pitchFamily="34" charset="0"/>
              </a:rPr>
              <a:t>Second phase particle</a:t>
            </a:r>
          </a:p>
          <a:p>
            <a:pPr eaLnBrk="0" hangingPunct="0"/>
            <a:r>
              <a:rPr lang="en-US" sz="2000">
                <a:latin typeface="Arial Rounded MT Bold" pitchFamily="34" charset="0"/>
              </a:rPr>
              <a:t>--different </a:t>
            </a:r>
            <a:r>
              <a:rPr lang="en-US" sz="2000">
                <a:solidFill>
                  <a:schemeClr val="accent2"/>
                </a:solidFill>
                <a:latin typeface="Arial Rounded MT Bold" pitchFamily="34" charset="0"/>
              </a:rPr>
              <a:t>composition</a:t>
            </a:r>
            <a:endParaRPr lang="en-US" sz="2000">
              <a:latin typeface="Arial Rounded MT Bold" pitchFamily="34" charset="0"/>
            </a:endParaRPr>
          </a:p>
          <a:p>
            <a:pPr eaLnBrk="0" hangingPunct="0"/>
            <a:r>
              <a:rPr lang="en-US" sz="2000">
                <a:latin typeface="Arial Rounded MT Bold" pitchFamily="34" charset="0"/>
              </a:rPr>
              <a:t>--often different structure.</a:t>
            </a:r>
          </a:p>
        </p:txBody>
      </p:sp>
      <p:sp>
        <p:nvSpPr>
          <p:cNvPr id="9230" name="Rectangle 14"/>
          <p:cNvSpPr>
            <a:spLocks noGrp="1" noChangeArrowheads="1"/>
          </p:cNvSpPr>
          <p:nvPr>
            <p:ph type="title" idx="4294967295"/>
          </p:nvPr>
        </p:nvSpPr>
        <p:spPr/>
        <p:txBody>
          <a:bodyPr/>
          <a:lstStyle/>
          <a:p>
            <a:pPr eaLnBrk="1" hangingPunct="1"/>
            <a:r>
              <a:rPr lang="en-US" smtClean="0"/>
              <a:t>POINT DEFECTS IN ALLOYS</a:t>
            </a:r>
          </a:p>
        </p:txBody>
      </p:sp>
    </p:spTree>
    <p:extLst>
      <p:ext uri="{BB962C8B-B14F-4D97-AF65-F5344CB8AC3E}">
        <p14:creationId xmlns:p14="http://schemas.microsoft.com/office/powerpoint/2010/main" val="3604412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8077200" y="6400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1200">
                <a:solidFill>
                  <a:srgbClr val="000000"/>
                </a:solidFill>
                <a:latin typeface="Arial Rounded MT Bold" pitchFamily="34" charset="0"/>
              </a:rPr>
              <a:t>10</a:t>
            </a:r>
          </a:p>
        </p:txBody>
      </p:sp>
      <p:sp>
        <p:nvSpPr>
          <p:cNvPr id="10243" name="Rectangle 3"/>
          <p:cNvSpPr>
            <a:spLocks noChangeArrowheads="1"/>
          </p:cNvSpPr>
          <p:nvPr/>
        </p:nvSpPr>
        <p:spPr bwMode="auto">
          <a:xfrm>
            <a:off x="609600" y="1219200"/>
            <a:ext cx="3810000"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atin typeface="Arial Rounded MT Bold" pitchFamily="34" charset="0"/>
              </a:rPr>
              <a:t>•  Low energy electron</a:t>
            </a:r>
          </a:p>
          <a:p>
            <a:pPr eaLnBrk="0" hangingPunct="0"/>
            <a:r>
              <a:rPr lang="en-US">
                <a:latin typeface="Arial Rounded MT Bold" pitchFamily="34" charset="0"/>
              </a:rPr>
              <a:t>     microscope view of</a:t>
            </a:r>
          </a:p>
          <a:p>
            <a:pPr eaLnBrk="0" hangingPunct="0"/>
            <a:r>
              <a:rPr lang="en-US">
                <a:latin typeface="Arial Rounded MT Bold" pitchFamily="34" charset="0"/>
              </a:rPr>
              <a:t>     a (111) surface of Cu.</a:t>
            </a:r>
          </a:p>
          <a:p>
            <a:pPr eaLnBrk="0" hangingPunct="0"/>
            <a:r>
              <a:rPr lang="en-US">
                <a:latin typeface="Arial Rounded MT Bold" pitchFamily="34" charset="0"/>
              </a:rPr>
              <a:t>•  Sn islands move along</a:t>
            </a:r>
          </a:p>
          <a:p>
            <a:pPr eaLnBrk="0" hangingPunct="0"/>
            <a:r>
              <a:rPr lang="en-US">
                <a:latin typeface="Arial Rounded MT Bold" pitchFamily="34" charset="0"/>
              </a:rPr>
              <a:t>     the surface and "alloy"</a:t>
            </a:r>
          </a:p>
          <a:p>
            <a:pPr eaLnBrk="0" hangingPunct="0"/>
            <a:r>
              <a:rPr lang="en-US">
                <a:latin typeface="Arial Rounded MT Bold" pitchFamily="34" charset="0"/>
              </a:rPr>
              <a:t>     the Cu with Sn atoms,</a:t>
            </a:r>
          </a:p>
          <a:p>
            <a:pPr eaLnBrk="0" hangingPunct="0"/>
            <a:r>
              <a:rPr lang="en-US">
                <a:latin typeface="Arial Rounded MT Bold" pitchFamily="34" charset="0"/>
              </a:rPr>
              <a:t>     to make "bronze".</a:t>
            </a:r>
          </a:p>
          <a:p>
            <a:pPr eaLnBrk="0" hangingPunct="0"/>
            <a:r>
              <a:rPr lang="en-US">
                <a:latin typeface="Arial Rounded MT Bold" pitchFamily="34" charset="0"/>
              </a:rPr>
              <a:t>•  The islands continually</a:t>
            </a:r>
          </a:p>
          <a:p>
            <a:pPr eaLnBrk="0" hangingPunct="0"/>
            <a:r>
              <a:rPr lang="en-US">
                <a:latin typeface="Arial Rounded MT Bold" pitchFamily="34" charset="0"/>
              </a:rPr>
              <a:t>     move into "unalloyed"</a:t>
            </a:r>
          </a:p>
          <a:p>
            <a:pPr eaLnBrk="0" hangingPunct="0"/>
            <a:r>
              <a:rPr lang="en-US">
                <a:latin typeface="Arial Rounded MT Bold" pitchFamily="34" charset="0"/>
              </a:rPr>
              <a:t>     regions and leave tiny</a:t>
            </a:r>
          </a:p>
          <a:p>
            <a:pPr eaLnBrk="0" hangingPunct="0"/>
            <a:r>
              <a:rPr lang="en-US">
                <a:latin typeface="Arial Rounded MT Bold" pitchFamily="34" charset="0"/>
              </a:rPr>
              <a:t>     bronze particles in</a:t>
            </a:r>
          </a:p>
          <a:p>
            <a:pPr eaLnBrk="0" hangingPunct="0"/>
            <a:r>
              <a:rPr lang="en-US">
                <a:latin typeface="Arial Rounded MT Bold" pitchFamily="34" charset="0"/>
              </a:rPr>
              <a:t>     their wake.</a:t>
            </a:r>
          </a:p>
          <a:p>
            <a:pPr eaLnBrk="0" hangingPunct="0"/>
            <a:r>
              <a:rPr lang="en-US">
                <a:latin typeface="Arial Rounded MT Bold" pitchFamily="34" charset="0"/>
              </a:rPr>
              <a:t>•  Eventually, the islands</a:t>
            </a:r>
          </a:p>
          <a:p>
            <a:pPr eaLnBrk="0" hangingPunct="0"/>
            <a:r>
              <a:rPr lang="en-US">
                <a:latin typeface="Arial Rounded MT Bold" pitchFamily="34" charset="0"/>
              </a:rPr>
              <a:t>     disappear.</a:t>
            </a:r>
            <a:endParaRPr lang="en-US" sz="2200">
              <a:latin typeface="Arial Rounded MT Bold" pitchFamily="34" charset="0"/>
            </a:endParaRPr>
          </a:p>
        </p:txBody>
      </p:sp>
      <p:sp>
        <p:nvSpPr>
          <p:cNvPr id="10244" name="Rectangle 5"/>
          <p:cNvSpPr>
            <a:spLocks noGrp="1" noChangeArrowheads="1"/>
          </p:cNvSpPr>
          <p:nvPr>
            <p:ph type="title" idx="4294967295"/>
          </p:nvPr>
        </p:nvSpPr>
        <p:spPr/>
        <p:txBody>
          <a:bodyPr/>
          <a:lstStyle/>
          <a:p>
            <a:pPr eaLnBrk="1" hangingPunct="1"/>
            <a:r>
              <a:rPr lang="en-US" smtClean="0"/>
              <a:t>ALLOYING A SURFACE</a:t>
            </a:r>
          </a:p>
        </p:txBody>
      </p:sp>
      <p:pic>
        <p:nvPicPr>
          <p:cNvPr id="11270" name="4_9.avi">
            <a:hlinkClick r:id="" action="ppaction://media"/>
          </p:cNvPr>
          <p:cNvPicPr>
            <a:picLocks noRot="1" noChangeAspect="1" noChangeArrowheads="1"/>
          </p:cNvPicPr>
          <p:nvPr>
            <a:videoFile r:link="rId1"/>
          </p:nvPr>
        </p:nvPicPr>
        <p:blipFill>
          <a:blip r:embed="rId4">
            <a:extLst>
              <a:ext uri="{28A0092B-C50C-407E-A947-70E740481C1C}">
                <a14:useLocalDpi xmlns:a14="http://schemas.microsoft.com/office/drawing/2010/main" val="0"/>
              </a:ext>
            </a:extLst>
          </a:blip>
          <a:srcRect/>
          <a:stretch>
            <a:fillRect/>
          </a:stretch>
        </p:blipFill>
        <p:spPr bwMode="auto">
          <a:xfrm>
            <a:off x="5410200" y="2286000"/>
            <a:ext cx="22098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811137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270"/>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11270"/>
                                        </p:tgtEl>
                                      </p:cBhvr>
                                    </p:cmd>
                                  </p:childTnLst>
                                </p:cTn>
                              </p:par>
                            </p:childTnLst>
                          </p:cTn>
                        </p:par>
                      </p:childTnLst>
                    </p:cTn>
                  </p:par>
                </p:childTnLst>
              </p:cTn>
              <p:nextCondLst>
                <p:cond evt="onClick" delay="0">
                  <p:tgtEl>
                    <p:spTgt spid="11270"/>
                  </p:tgtEl>
                </p:cond>
              </p:nextCondLst>
            </p:seq>
            <p:video>
              <p:cMediaNode>
                <p:cTn id="7" fill="hold" display="0">
                  <p:stCondLst>
                    <p:cond delay="indefinite"/>
                  </p:stCondLst>
                  <p:endCondLst>
                    <p:cond evt="onNext" delay="0">
                      <p:tgtEl>
                        <p:sldTgt/>
                      </p:tgtEl>
                    </p:cond>
                    <p:cond evt="onPrev" delay="0">
                      <p:tgtEl>
                        <p:sldTgt/>
                      </p:tgtEl>
                    </p:cond>
                  </p:endCondLst>
                </p:cTn>
                <p:tgtEl>
                  <p:spTgt spid="11270"/>
                </p:tgtEl>
              </p:cMediaNode>
            </p:video>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8077200" y="6400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1200">
                <a:solidFill>
                  <a:srgbClr val="000000"/>
                </a:solidFill>
                <a:latin typeface="Arial Rounded MT Bold" pitchFamily="34" charset="0"/>
              </a:rPr>
              <a:t>11</a:t>
            </a:r>
          </a:p>
        </p:txBody>
      </p:sp>
      <p:sp>
        <p:nvSpPr>
          <p:cNvPr id="11267" name="Rectangle 3"/>
          <p:cNvSpPr>
            <a:spLocks noChangeArrowheads="1"/>
          </p:cNvSpPr>
          <p:nvPr/>
        </p:nvSpPr>
        <p:spPr bwMode="auto">
          <a:xfrm>
            <a:off x="533400" y="1143000"/>
            <a:ext cx="66516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2200">
                <a:latin typeface="Arial Rounded MT Bold" pitchFamily="34" charset="0"/>
              </a:rPr>
              <a:t>•  </a:t>
            </a:r>
            <a:r>
              <a:rPr lang="en-US">
                <a:latin typeface="Arial Rounded MT Bold" pitchFamily="34" charset="0"/>
              </a:rPr>
              <a:t>Impurities must also satisfy </a:t>
            </a:r>
            <a:r>
              <a:rPr lang="en-US">
                <a:solidFill>
                  <a:schemeClr val="accent2"/>
                </a:solidFill>
                <a:latin typeface="Arial Rounded MT Bold" pitchFamily="34" charset="0"/>
              </a:rPr>
              <a:t>charge balance</a:t>
            </a:r>
            <a:endParaRPr lang="en-US" sz="2200">
              <a:latin typeface="Arial Rounded MT Bold" pitchFamily="34" charset="0"/>
            </a:endParaRPr>
          </a:p>
        </p:txBody>
      </p:sp>
      <p:sp>
        <p:nvSpPr>
          <p:cNvPr id="11268" name="Rectangle 4"/>
          <p:cNvSpPr>
            <a:spLocks noChangeArrowheads="1"/>
          </p:cNvSpPr>
          <p:nvPr/>
        </p:nvSpPr>
        <p:spPr bwMode="auto">
          <a:xfrm>
            <a:off x="533400" y="1692275"/>
            <a:ext cx="1568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2200">
                <a:latin typeface="Arial Rounded MT Bold" pitchFamily="34" charset="0"/>
              </a:rPr>
              <a:t>•  </a:t>
            </a:r>
            <a:r>
              <a:rPr lang="en-US">
                <a:latin typeface="Arial Rounded MT Bold" pitchFamily="34" charset="0"/>
              </a:rPr>
              <a:t>Ex:  NaCl</a:t>
            </a:r>
            <a:endParaRPr lang="en-US" sz="2200">
              <a:latin typeface="Arial Rounded MT Bold" pitchFamily="34" charset="0"/>
            </a:endParaRPr>
          </a:p>
        </p:txBody>
      </p:sp>
      <p:pic>
        <p:nvPicPr>
          <p:cNvPr id="1126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1100" y="1549400"/>
            <a:ext cx="21971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0" name="Rectangle 6"/>
          <p:cNvSpPr>
            <a:spLocks noChangeArrowheads="1"/>
          </p:cNvSpPr>
          <p:nvPr/>
        </p:nvSpPr>
        <p:spPr bwMode="auto">
          <a:xfrm>
            <a:off x="533400" y="2246313"/>
            <a:ext cx="45751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2200">
                <a:latin typeface="Arial Rounded MT Bold" pitchFamily="34" charset="0"/>
              </a:rPr>
              <a:t>•  </a:t>
            </a:r>
            <a:r>
              <a:rPr lang="en-US">
                <a:latin typeface="Arial Rounded MT Bold" pitchFamily="34" charset="0"/>
              </a:rPr>
              <a:t>Substitutional cation impurity</a:t>
            </a:r>
            <a:endParaRPr lang="en-US" sz="2200">
              <a:latin typeface="Arial Rounded MT Bold" pitchFamily="34" charset="0"/>
            </a:endParaRPr>
          </a:p>
        </p:txBody>
      </p:sp>
      <p:sp>
        <p:nvSpPr>
          <p:cNvPr id="11271" name="Rectangle 7"/>
          <p:cNvSpPr>
            <a:spLocks noChangeArrowheads="1"/>
          </p:cNvSpPr>
          <p:nvPr/>
        </p:nvSpPr>
        <p:spPr bwMode="auto">
          <a:xfrm>
            <a:off x="533400" y="4422775"/>
            <a:ext cx="4470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sz="2200">
                <a:latin typeface="Arial Rounded MT Bold" pitchFamily="34" charset="0"/>
              </a:rPr>
              <a:t>•  </a:t>
            </a:r>
            <a:r>
              <a:rPr lang="en-US">
                <a:latin typeface="Arial Rounded MT Bold" pitchFamily="34" charset="0"/>
              </a:rPr>
              <a:t>Substitutional anion impurity</a:t>
            </a:r>
            <a:endParaRPr lang="en-US" sz="2200">
              <a:latin typeface="Arial Rounded MT Bold" pitchFamily="34" charset="0"/>
            </a:endParaRPr>
          </a:p>
        </p:txBody>
      </p:sp>
      <p:pic>
        <p:nvPicPr>
          <p:cNvPr id="11272"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2001838"/>
            <a:ext cx="6705600" cy="234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3"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775" y="4559300"/>
            <a:ext cx="6651625" cy="199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4" name="Rectangle 10"/>
          <p:cNvSpPr>
            <a:spLocks noGrp="1" noChangeArrowheads="1"/>
          </p:cNvSpPr>
          <p:nvPr>
            <p:ph type="title" idx="4294967295"/>
          </p:nvPr>
        </p:nvSpPr>
        <p:spPr/>
        <p:txBody>
          <a:bodyPr/>
          <a:lstStyle/>
          <a:p>
            <a:pPr eaLnBrk="1" hangingPunct="1"/>
            <a:r>
              <a:rPr lang="en-US" smtClean="0"/>
              <a:t>IMPURITIES</a:t>
            </a:r>
          </a:p>
        </p:txBody>
      </p:sp>
    </p:spTree>
    <p:extLst>
      <p:ext uri="{BB962C8B-B14F-4D97-AF65-F5344CB8AC3E}">
        <p14:creationId xmlns:p14="http://schemas.microsoft.com/office/powerpoint/2010/main" val="40459486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8077200" y="6400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1200">
                <a:solidFill>
                  <a:srgbClr val="000000"/>
                </a:solidFill>
                <a:latin typeface="Arial Rounded MT Bold" pitchFamily="34" charset="0"/>
              </a:rPr>
              <a:t>12</a:t>
            </a:r>
          </a:p>
        </p:txBody>
      </p:sp>
      <p:sp>
        <p:nvSpPr>
          <p:cNvPr id="12291" name="Rectangle 3"/>
          <p:cNvSpPr>
            <a:spLocks noChangeArrowheads="1"/>
          </p:cNvSpPr>
          <p:nvPr/>
        </p:nvSpPr>
        <p:spPr bwMode="auto">
          <a:xfrm>
            <a:off x="533400" y="990600"/>
            <a:ext cx="80772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atin typeface="Arial Rounded MT Bold" pitchFamily="34" charset="0"/>
              </a:rPr>
              <a:t>Definition:  Amount of impurity (B) and host (A)</a:t>
            </a:r>
          </a:p>
          <a:p>
            <a:pPr eaLnBrk="0" hangingPunct="0"/>
            <a:r>
              <a:rPr lang="en-US">
                <a:latin typeface="Arial Rounded MT Bold" pitchFamily="34" charset="0"/>
              </a:rPr>
              <a:t>                      in the </a:t>
            </a:r>
            <a:r>
              <a:rPr lang="en-US">
                <a:solidFill>
                  <a:schemeClr val="accent2"/>
                </a:solidFill>
                <a:latin typeface="Arial Rounded MT Bold" pitchFamily="34" charset="0"/>
              </a:rPr>
              <a:t>system</a:t>
            </a:r>
            <a:r>
              <a:rPr lang="en-US">
                <a:latin typeface="Arial Rounded MT Bold" pitchFamily="34" charset="0"/>
              </a:rPr>
              <a:t>.</a:t>
            </a:r>
          </a:p>
        </p:txBody>
      </p:sp>
      <p:sp>
        <p:nvSpPr>
          <p:cNvPr id="12292" name="Rectangle 4"/>
          <p:cNvSpPr>
            <a:spLocks noChangeArrowheads="1"/>
          </p:cNvSpPr>
          <p:nvPr/>
        </p:nvSpPr>
        <p:spPr bwMode="auto">
          <a:xfrm>
            <a:off x="609600" y="2286000"/>
            <a:ext cx="1905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sz="2200">
                <a:latin typeface="Arial Rounded MT Bold" pitchFamily="34" charset="0"/>
              </a:rPr>
              <a:t>•  Weight %</a:t>
            </a:r>
          </a:p>
        </p:txBody>
      </p:sp>
      <p:sp>
        <p:nvSpPr>
          <p:cNvPr id="12293" name="Rectangle 5"/>
          <p:cNvSpPr>
            <a:spLocks noChangeArrowheads="1"/>
          </p:cNvSpPr>
          <p:nvPr/>
        </p:nvSpPr>
        <p:spPr bwMode="auto">
          <a:xfrm>
            <a:off x="533400" y="1828800"/>
            <a:ext cx="3581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atin typeface="Arial Rounded MT Bold" pitchFamily="34" charset="0"/>
              </a:rPr>
              <a:t>Two descriptions:</a:t>
            </a:r>
          </a:p>
        </p:txBody>
      </p:sp>
      <p:sp>
        <p:nvSpPr>
          <p:cNvPr id="12294" name="Rectangle 6"/>
          <p:cNvSpPr>
            <a:spLocks noChangeArrowheads="1"/>
          </p:cNvSpPr>
          <p:nvPr/>
        </p:nvSpPr>
        <p:spPr bwMode="auto">
          <a:xfrm>
            <a:off x="5334000" y="2286000"/>
            <a:ext cx="1905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sz="2200">
                <a:latin typeface="Arial Rounded MT Bold" pitchFamily="34" charset="0"/>
              </a:rPr>
              <a:t>•  Atom %</a:t>
            </a:r>
          </a:p>
        </p:txBody>
      </p:sp>
      <p:pic>
        <p:nvPicPr>
          <p:cNvPr id="1229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743200"/>
            <a:ext cx="3086100"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6"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3800" y="2667000"/>
            <a:ext cx="345440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7" name="Rectangle 9"/>
          <p:cNvSpPr>
            <a:spLocks noChangeArrowheads="1"/>
          </p:cNvSpPr>
          <p:nvPr/>
        </p:nvSpPr>
        <p:spPr bwMode="auto">
          <a:xfrm>
            <a:off x="609600" y="3657600"/>
            <a:ext cx="79248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sz="2200">
                <a:latin typeface="Arial Rounded MT Bold" pitchFamily="34" charset="0"/>
              </a:rPr>
              <a:t>•  Conversion between wt % and at% in an A-B alloy:</a:t>
            </a:r>
          </a:p>
        </p:txBody>
      </p:sp>
      <p:pic>
        <p:nvPicPr>
          <p:cNvPr id="12298"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4098925"/>
            <a:ext cx="4102100"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9"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6800" y="4098925"/>
            <a:ext cx="32131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0" name="Rectangle 12"/>
          <p:cNvSpPr>
            <a:spLocks noChangeArrowheads="1"/>
          </p:cNvSpPr>
          <p:nvPr/>
        </p:nvSpPr>
        <p:spPr bwMode="auto">
          <a:xfrm>
            <a:off x="609600" y="5105400"/>
            <a:ext cx="35052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sz="2200">
                <a:latin typeface="Arial Rounded MT Bold" pitchFamily="34" charset="0"/>
              </a:rPr>
              <a:t>•  Basis for conversion:</a:t>
            </a:r>
          </a:p>
        </p:txBody>
      </p:sp>
      <p:pic>
        <p:nvPicPr>
          <p:cNvPr id="12301"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0" y="5029200"/>
            <a:ext cx="7556500" cy="162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2" name="Rectangle 14"/>
          <p:cNvSpPr>
            <a:spLocks noGrp="1" noChangeArrowheads="1"/>
          </p:cNvSpPr>
          <p:nvPr>
            <p:ph type="title" idx="4294967295"/>
          </p:nvPr>
        </p:nvSpPr>
        <p:spPr/>
        <p:txBody>
          <a:bodyPr/>
          <a:lstStyle/>
          <a:p>
            <a:pPr eaLnBrk="1" hangingPunct="1"/>
            <a:r>
              <a:rPr lang="en-US" smtClean="0"/>
              <a:t>COMPOSITION</a:t>
            </a:r>
          </a:p>
        </p:txBody>
      </p:sp>
    </p:spTree>
    <p:extLst>
      <p:ext uri="{BB962C8B-B14F-4D97-AF65-F5344CB8AC3E}">
        <p14:creationId xmlns:p14="http://schemas.microsoft.com/office/powerpoint/2010/main" val="41953020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8077200" y="6400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1200">
                <a:solidFill>
                  <a:srgbClr val="000000"/>
                </a:solidFill>
                <a:latin typeface="Arial Rounded MT Bold" pitchFamily="34" charset="0"/>
              </a:rPr>
              <a:t>13</a:t>
            </a:r>
          </a:p>
        </p:txBody>
      </p:sp>
      <p:sp>
        <p:nvSpPr>
          <p:cNvPr id="13315" name="Rectangle 3"/>
          <p:cNvSpPr>
            <a:spLocks noChangeArrowheads="1"/>
          </p:cNvSpPr>
          <p:nvPr/>
        </p:nvSpPr>
        <p:spPr bwMode="auto">
          <a:xfrm>
            <a:off x="762000" y="1371600"/>
            <a:ext cx="78486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sz="2200">
                <a:latin typeface="Arial Rounded MT Bold" pitchFamily="34" charset="0"/>
              </a:rPr>
              <a:t>•  are line defects,</a:t>
            </a:r>
          </a:p>
          <a:p>
            <a:pPr eaLnBrk="0" hangingPunct="0"/>
            <a:r>
              <a:rPr lang="en-US" sz="2200">
                <a:latin typeface="Arial Rounded MT Bold" pitchFamily="34" charset="0"/>
              </a:rPr>
              <a:t>•  cause slip between crystal plane when they move,</a:t>
            </a:r>
          </a:p>
          <a:p>
            <a:pPr eaLnBrk="0" hangingPunct="0"/>
            <a:r>
              <a:rPr lang="en-US" sz="2200">
                <a:latin typeface="Arial Rounded MT Bold" pitchFamily="34" charset="0"/>
              </a:rPr>
              <a:t>•  produce permanent (plastic) deformation.</a:t>
            </a:r>
          </a:p>
        </p:txBody>
      </p:sp>
      <p:sp>
        <p:nvSpPr>
          <p:cNvPr id="13316" name="Rectangle 4"/>
          <p:cNvSpPr>
            <a:spLocks noChangeArrowheads="1"/>
          </p:cNvSpPr>
          <p:nvPr/>
        </p:nvSpPr>
        <p:spPr bwMode="auto">
          <a:xfrm>
            <a:off x="533400" y="990600"/>
            <a:ext cx="3657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solidFill>
                  <a:schemeClr val="accent2"/>
                </a:solidFill>
                <a:latin typeface="Arial Rounded MT Bold" pitchFamily="34" charset="0"/>
              </a:rPr>
              <a:t>Dislocations</a:t>
            </a:r>
            <a:r>
              <a:rPr lang="en-US">
                <a:latin typeface="Arial Rounded MT Bold" pitchFamily="34" charset="0"/>
              </a:rPr>
              <a:t>:</a:t>
            </a:r>
          </a:p>
        </p:txBody>
      </p:sp>
      <p:sp>
        <p:nvSpPr>
          <p:cNvPr id="13317" name="Rectangle 5"/>
          <p:cNvSpPr>
            <a:spLocks noChangeArrowheads="1"/>
          </p:cNvSpPr>
          <p:nvPr/>
        </p:nvSpPr>
        <p:spPr bwMode="auto">
          <a:xfrm>
            <a:off x="533400" y="2773363"/>
            <a:ext cx="4648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atin typeface="Arial Rounded MT Bold" pitchFamily="34" charset="0"/>
              </a:rPr>
              <a:t>Schematic of a Zinc (HCP):</a:t>
            </a:r>
          </a:p>
        </p:txBody>
      </p:sp>
      <p:sp>
        <p:nvSpPr>
          <p:cNvPr id="13318" name="Rectangle 6"/>
          <p:cNvSpPr>
            <a:spLocks noChangeArrowheads="1"/>
          </p:cNvSpPr>
          <p:nvPr/>
        </p:nvSpPr>
        <p:spPr bwMode="auto">
          <a:xfrm>
            <a:off x="669925" y="3149600"/>
            <a:ext cx="30353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2200">
                <a:latin typeface="Arial Rounded MT Bold" pitchFamily="34" charset="0"/>
              </a:rPr>
              <a:t>•  before deformation</a:t>
            </a:r>
          </a:p>
        </p:txBody>
      </p:sp>
      <p:sp>
        <p:nvSpPr>
          <p:cNvPr id="13319" name="Rectangle 7"/>
          <p:cNvSpPr>
            <a:spLocks noChangeArrowheads="1"/>
          </p:cNvSpPr>
          <p:nvPr/>
        </p:nvSpPr>
        <p:spPr bwMode="auto">
          <a:xfrm>
            <a:off x="4556125" y="3149600"/>
            <a:ext cx="3544888"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2200">
                <a:latin typeface="Arial Rounded MT Bold" pitchFamily="34" charset="0"/>
              </a:rPr>
              <a:t>•  after tensile elongation</a:t>
            </a:r>
          </a:p>
        </p:txBody>
      </p:sp>
      <p:sp>
        <p:nvSpPr>
          <p:cNvPr id="13320" name="Line 8"/>
          <p:cNvSpPr>
            <a:spLocks noChangeShapeType="1"/>
          </p:cNvSpPr>
          <p:nvPr/>
        </p:nvSpPr>
        <p:spPr bwMode="auto">
          <a:xfrm flipH="1">
            <a:off x="6019800" y="4267200"/>
            <a:ext cx="4572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21" name="Rectangle 9"/>
          <p:cNvSpPr>
            <a:spLocks noChangeArrowheads="1"/>
          </p:cNvSpPr>
          <p:nvPr/>
        </p:nvSpPr>
        <p:spPr bwMode="auto">
          <a:xfrm>
            <a:off x="6553200" y="4038600"/>
            <a:ext cx="1590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atin typeface="Arial Rounded MT Bold" pitchFamily="34" charset="0"/>
              </a:rPr>
              <a:t>slip steps</a:t>
            </a:r>
          </a:p>
        </p:txBody>
      </p:sp>
      <p:sp>
        <p:nvSpPr>
          <p:cNvPr id="13322" name="Rectangle 10"/>
          <p:cNvSpPr>
            <a:spLocks noGrp="1" noChangeArrowheads="1"/>
          </p:cNvSpPr>
          <p:nvPr>
            <p:ph type="title" idx="4294967295"/>
          </p:nvPr>
        </p:nvSpPr>
        <p:spPr/>
        <p:txBody>
          <a:bodyPr/>
          <a:lstStyle/>
          <a:p>
            <a:pPr eaLnBrk="1" hangingPunct="1"/>
            <a:r>
              <a:rPr lang="en-US" smtClean="0"/>
              <a:t>LINE DEFECTS</a:t>
            </a:r>
          </a:p>
        </p:txBody>
      </p:sp>
      <p:pic>
        <p:nvPicPr>
          <p:cNvPr id="13323"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7200" y="3441700"/>
            <a:ext cx="787400" cy="288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4"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4114800"/>
            <a:ext cx="368300"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558285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4" descr="edge disloc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990600"/>
            <a:ext cx="6096000" cy="541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Text Box 5"/>
          <p:cNvSpPr txBox="1">
            <a:spLocks noChangeArrowheads="1"/>
          </p:cNvSpPr>
          <p:nvPr/>
        </p:nvSpPr>
        <p:spPr bwMode="auto">
          <a:xfrm>
            <a:off x="2667000" y="0"/>
            <a:ext cx="4038600" cy="650875"/>
          </a:xfrm>
          <a:prstGeom prst="rect">
            <a:avLst/>
          </a:prstGeom>
          <a:solidFill>
            <a:srgbClr val="FF9900"/>
          </a:solidFill>
          <a:ln w="9525">
            <a:solidFill>
              <a:schemeClr val="tx1"/>
            </a:solidFill>
            <a:miter lim="800000"/>
            <a:headEnd/>
            <a:tailEnd/>
          </a:ln>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lang="en-US" sz="3600"/>
              <a:t>Edge Dislocation</a:t>
            </a:r>
          </a:p>
        </p:txBody>
      </p:sp>
      <p:sp>
        <p:nvSpPr>
          <p:cNvPr id="14340" name="Text Box 6"/>
          <p:cNvSpPr txBox="1">
            <a:spLocks noChangeArrowheads="1"/>
          </p:cNvSpPr>
          <p:nvPr/>
        </p:nvSpPr>
        <p:spPr bwMode="auto">
          <a:xfrm>
            <a:off x="304800" y="990600"/>
            <a:ext cx="2667000" cy="5761038"/>
          </a:xfrm>
          <a:prstGeom prst="rect">
            <a:avLst/>
          </a:prstGeom>
          <a:solidFill>
            <a:srgbClr val="CCFFFF"/>
          </a:solidFill>
          <a:ln w="9525">
            <a:solidFill>
              <a:schemeClr val="tx1"/>
            </a:solidFill>
            <a:miter lim="800000"/>
            <a:headEnd/>
            <a:tailEnd/>
          </a:ln>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US"/>
              <a:t>An edge dislocation results from a mismatch in the rows of atoms, as if an extra plane of atoms was inserted.  </a:t>
            </a:r>
          </a:p>
          <a:p>
            <a:pPr eaLnBrk="1" hangingPunct="1">
              <a:spcBef>
                <a:spcPct val="50000"/>
              </a:spcBef>
            </a:pPr>
            <a:r>
              <a:rPr lang="en-US"/>
              <a:t>The burger’s vector, </a:t>
            </a:r>
            <a:r>
              <a:rPr lang="en-US" b="1"/>
              <a:t>b</a:t>
            </a:r>
            <a:r>
              <a:rPr lang="en-US"/>
              <a:t>, represents how far we would have to move an atom to bring it back into registry. The burgers vector is perpendicular to the dislocation line.</a:t>
            </a:r>
          </a:p>
        </p:txBody>
      </p:sp>
    </p:spTree>
    <p:extLst>
      <p:ext uri="{BB962C8B-B14F-4D97-AF65-F5344CB8AC3E}">
        <p14:creationId xmlns:p14="http://schemas.microsoft.com/office/powerpoint/2010/main" val="16658778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85800" y="152400"/>
            <a:ext cx="7772400" cy="762000"/>
          </a:xfrm>
          <a:solidFill>
            <a:srgbClr val="FF9900"/>
          </a:solidFill>
          <a:ln>
            <a:solidFill>
              <a:schemeClr val="tx1"/>
            </a:solidFill>
            <a:miter lim="800000"/>
            <a:headEnd/>
            <a:tailEnd/>
          </a:ln>
        </p:spPr>
        <p:txBody>
          <a:bodyPr/>
          <a:lstStyle/>
          <a:p>
            <a:pPr eaLnBrk="1" hangingPunct="1"/>
            <a:r>
              <a:rPr lang="en-US" smtClean="0"/>
              <a:t>Screw Dislocation</a:t>
            </a:r>
          </a:p>
        </p:txBody>
      </p:sp>
      <p:pic>
        <p:nvPicPr>
          <p:cNvPr id="15363" name="Picture 4" descr="screw"/>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33800" y="1152525"/>
            <a:ext cx="3722688" cy="5476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5364" name="Text Box 5"/>
          <p:cNvSpPr txBox="1">
            <a:spLocks noChangeArrowheads="1"/>
          </p:cNvSpPr>
          <p:nvPr/>
        </p:nvSpPr>
        <p:spPr bwMode="auto">
          <a:xfrm>
            <a:off x="457200" y="2209800"/>
            <a:ext cx="2286000" cy="3022600"/>
          </a:xfrm>
          <a:prstGeom prst="rect">
            <a:avLst/>
          </a:prstGeom>
          <a:solidFill>
            <a:srgbClr val="CCFFFF"/>
          </a:solidFill>
          <a:ln w="9525">
            <a:solidFill>
              <a:schemeClr val="tx1"/>
            </a:solidFill>
            <a:miter lim="800000"/>
            <a:headEnd/>
            <a:tailEnd/>
          </a:ln>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US"/>
              <a:t>Screw dislocations result from “shearing” in the crystal.  The burgers vector, </a:t>
            </a:r>
            <a:r>
              <a:rPr lang="en-US" b="1"/>
              <a:t>b</a:t>
            </a:r>
            <a:r>
              <a:rPr lang="en-US"/>
              <a:t>, is parallel to the slip plane</a:t>
            </a:r>
          </a:p>
        </p:txBody>
      </p:sp>
    </p:spTree>
    <p:extLst>
      <p:ext uri="{BB962C8B-B14F-4D97-AF65-F5344CB8AC3E}">
        <p14:creationId xmlns:p14="http://schemas.microsoft.com/office/powerpoint/2010/main" val="30962681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85800" y="152400"/>
            <a:ext cx="7772400" cy="914400"/>
          </a:xfrm>
          <a:solidFill>
            <a:srgbClr val="FF9900"/>
          </a:solidFill>
          <a:ln>
            <a:solidFill>
              <a:schemeClr val="tx1"/>
            </a:solidFill>
            <a:miter lim="800000"/>
            <a:headEnd/>
            <a:tailEnd/>
          </a:ln>
        </p:spPr>
        <p:txBody>
          <a:bodyPr/>
          <a:lstStyle/>
          <a:p>
            <a:pPr eaLnBrk="1" hangingPunct="1"/>
            <a:r>
              <a:rPr lang="en-US" smtClean="0"/>
              <a:t>Mixed Dislocation</a:t>
            </a:r>
          </a:p>
        </p:txBody>
      </p:sp>
      <p:sp>
        <p:nvSpPr>
          <p:cNvPr id="16387" name="Rectangle 3"/>
          <p:cNvSpPr>
            <a:spLocks noGrp="1" noChangeArrowheads="1"/>
          </p:cNvSpPr>
          <p:nvPr>
            <p:ph type="body" idx="1"/>
          </p:nvPr>
        </p:nvSpPr>
        <p:spPr>
          <a:xfrm>
            <a:off x="685800" y="1981200"/>
            <a:ext cx="3352800" cy="4114800"/>
          </a:xfrm>
          <a:solidFill>
            <a:srgbClr val="CCFFFF"/>
          </a:solidFill>
          <a:ln>
            <a:solidFill>
              <a:schemeClr val="tx1"/>
            </a:solidFill>
            <a:miter lim="800000"/>
            <a:headEnd/>
            <a:tailEnd/>
          </a:ln>
        </p:spPr>
        <p:txBody>
          <a:bodyPr/>
          <a:lstStyle/>
          <a:p>
            <a:pPr eaLnBrk="1" hangingPunct="1">
              <a:lnSpc>
                <a:spcPct val="90000"/>
              </a:lnSpc>
              <a:buFontTx/>
              <a:buNone/>
            </a:pPr>
            <a:r>
              <a:rPr lang="en-US" sz="2800" smtClean="0"/>
              <a:t>Dislocations virtually never are purely “edge” or “screw”  type.</a:t>
            </a:r>
          </a:p>
          <a:p>
            <a:pPr eaLnBrk="1" hangingPunct="1">
              <a:lnSpc>
                <a:spcPct val="90000"/>
              </a:lnSpc>
              <a:buFontTx/>
              <a:buNone/>
            </a:pPr>
            <a:endParaRPr lang="en-US" sz="2800" smtClean="0"/>
          </a:p>
          <a:p>
            <a:pPr eaLnBrk="1" hangingPunct="1">
              <a:lnSpc>
                <a:spcPct val="90000"/>
              </a:lnSpc>
              <a:buFontTx/>
              <a:buNone/>
            </a:pPr>
            <a:r>
              <a:rPr lang="en-US" sz="2800" smtClean="0"/>
              <a:t>They are usually combinations of the two, or “mixed”</a:t>
            </a:r>
          </a:p>
        </p:txBody>
      </p:sp>
      <p:pic>
        <p:nvPicPr>
          <p:cNvPr id="16388" name="Picture 4" descr="mixe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26013" y="1143000"/>
            <a:ext cx="3698875" cy="548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49053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8077200" y="6400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1200">
                <a:solidFill>
                  <a:srgbClr val="000000"/>
                </a:solidFill>
                <a:latin typeface="Arial Rounded MT Bold" pitchFamily="34" charset="0"/>
              </a:rPr>
              <a:t>15</a:t>
            </a:r>
          </a:p>
        </p:txBody>
      </p:sp>
      <p:sp>
        <p:nvSpPr>
          <p:cNvPr id="17411" name="Rectangle 3"/>
          <p:cNvSpPr>
            <a:spLocks noChangeArrowheads="1"/>
          </p:cNvSpPr>
          <p:nvPr/>
        </p:nvSpPr>
        <p:spPr bwMode="auto">
          <a:xfrm>
            <a:off x="533400" y="1054100"/>
            <a:ext cx="8153400"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atin typeface="Arial Rounded MT Bold" pitchFamily="34" charset="0"/>
              </a:rPr>
              <a:t>• Dislocation motion requires the successive bumping</a:t>
            </a:r>
          </a:p>
          <a:p>
            <a:pPr eaLnBrk="0" hangingPunct="0"/>
            <a:r>
              <a:rPr lang="en-US">
                <a:latin typeface="Arial Rounded MT Bold" pitchFamily="34" charset="0"/>
              </a:rPr>
              <a:t>    of a half plane of atoms (from left to right here).</a:t>
            </a:r>
            <a:endParaRPr lang="en-US" i="1">
              <a:latin typeface="Arial Rounded MT Bold" pitchFamily="34" charset="0"/>
            </a:endParaRPr>
          </a:p>
          <a:p>
            <a:pPr eaLnBrk="0" hangingPunct="0"/>
            <a:r>
              <a:rPr lang="en-US">
                <a:latin typeface="Arial Rounded MT Bold" pitchFamily="34" charset="0"/>
              </a:rPr>
              <a:t>• Bonds across the slipping planes are broken and</a:t>
            </a:r>
          </a:p>
          <a:p>
            <a:pPr eaLnBrk="0" hangingPunct="0"/>
            <a:r>
              <a:rPr lang="en-US">
                <a:latin typeface="Arial Rounded MT Bold" pitchFamily="34" charset="0"/>
              </a:rPr>
              <a:t>    remade in succession.</a:t>
            </a:r>
          </a:p>
        </p:txBody>
      </p:sp>
      <p:sp>
        <p:nvSpPr>
          <p:cNvPr id="17412" name="Rectangle 4"/>
          <p:cNvSpPr>
            <a:spLocks noChangeArrowheads="1"/>
          </p:cNvSpPr>
          <p:nvPr/>
        </p:nvSpPr>
        <p:spPr bwMode="auto">
          <a:xfrm>
            <a:off x="5105400" y="4138613"/>
            <a:ext cx="27940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1800">
                <a:latin typeface="Arial Rounded MT Bold" pitchFamily="34" charset="0"/>
              </a:rPr>
              <a:t>Atomic view of edge</a:t>
            </a:r>
          </a:p>
          <a:p>
            <a:pPr eaLnBrk="0" hangingPunct="0"/>
            <a:r>
              <a:rPr lang="en-US" sz="1800">
                <a:latin typeface="Arial Rounded MT Bold" pitchFamily="34" charset="0"/>
              </a:rPr>
              <a:t>dislocation motion from</a:t>
            </a:r>
          </a:p>
          <a:p>
            <a:pPr eaLnBrk="0" hangingPunct="0"/>
            <a:r>
              <a:rPr lang="en-US" sz="1800">
                <a:latin typeface="Arial Rounded MT Bold" pitchFamily="34" charset="0"/>
              </a:rPr>
              <a:t>left to right as a crystal</a:t>
            </a:r>
          </a:p>
          <a:p>
            <a:pPr eaLnBrk="0" hangingPunct="0"/>
            <a:r>
              <a:rPr lang="en-US" sz="1800">
                <a:latin typeface="Arial Rounded MT Bold" pitchFamily="34" charset="0"/>
              </a:rPr>
              <a:t>is sheared.</a:t>
            </a:r>
          </a:p>
        </p:txBody>
      </p:sp>
      <p:sp>
        <p:nvSpPr>
          <p:cNvPr id="17413" name="Rectangle 6"/>
          <p:cNvSpPr>
            <a:spLocks noGrp="1" noChangeArrowheads="1"/>
          </p:cNvSpPr>
          <p:nvPr>
            <p:ph type="title" idx="4294967295"/>
          </p:nvPr>
        </p:nvSpPr>
        <p:spPr/>
        <p:txBody>
          <a:bodyPr/>
          <a:lstStyle/>
          <a:p>
            <a:pPr eaLnBrk="1" hangingPunct="1"/>
            <a:r>
              <a:rPr lang="en-US" smtClean="0"/>
              <a:t>BOND BREAKING AND REMAKING</a:t>
            </a:r>
          </a:p>
        </p:txBody>
      </p:sp>
      <p:pic>
        <p:nvPicPr>
          <p:cNvPr id="16391" name="4_13.avi">
            <a:hlinkClick r:id="" action="ppaction://media"/>
          </p:cNvPr>
          <p:cNvPicPr>
            <a:picLocks noRot="1" noChangeAspect="1" noChangeArrowheads="1"/>
          </p:cNvPicPr>
          <p:nvPr>
            <a:videoFile r:link="rId1"/>
          </p:nvPr>
        </p:nvPicPr>
        <p:blipFill>
          <a:blip r:embed="rId4">
            <a:extLst>
              <a:ext uri="{28A0092B-C50C-407E-A947-70E740481C1C}">
                <a14:useLocalDpi xmlns:a14="http://schemas.microsoft.com/office/drawing/2010/main" val="0"/>
              </a:ext>
            </a:extLst>
          </a:blip>
          <a:srcRect/>
          <a:stretch>
            <a:fillRect/>
          </a:stretch>
        </p:blipFill>
        <p:spPr bwMode="auto">
          <a:xfrm>
            <a:off x="942975" y="3000375"/>
            <a:ext cx="3248025"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5" name="Text Box 8"/>
          <p:cNvSpPr txBox="1">
            <a:spLocks noChangeArrowheads="1"/>
          </p:cNvSpPr>
          <p:nvPr/>
        </p:nvSpPr>
        <p:spPr bwMode="auto">
          <a:xfrm>
            <a:off x="1676400" y="6172200"/>
            <a:ext cx="1941513" cy="2841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200">
                <a:latin typeface="Arial Rounded MT Bold" pitchFamily="34" charset="0"/>
              </a:rPr>
              <a:t>Click on image to animate</a:t>
            </a:r>
          </a:p>
        </p:txBody>
      </p:sp>
    </p:spTree>
    <p:extLst>
      <p:ext uri="{BB962C8B-B14F-4D97-AF65-F5344CB8AC3E}">
        <p14:creationId xmlns:p14="http://schemas.microsoft.com/office/powerpoint/2010/main" val="288394382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391"/>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16391"/>
                                        </p:tgtEl>
                                      </p:cBhvr>
                                    </p:cmd>
                                  </p:childTnLst>
                                </p:cTn>
                              </p:par>
                            </p:childTnLst>
                          </p:cTn>
                        </p:par>
                      </p:childTnLst>
                    </p:cTn>
                  </p:par>
                </p:childTnLst>
              </p:cTn>
              <p:nextCondLst>
                <p:cond evt="onClick" delay="0">
                  <p:tgtEl>
                    <p:spTgt spid="16391"/>
                  </p:tgtEl>
                </p:cond>
              </p:nextCondLst>
            </p:seq>
            <p:video>
              <p:cMediaNode>
                <p:cTn id="7" fill="hold" display="0">
                  <p:stCondLst>
                    <p:cond delay="indefinite"/>
                  </p:stCondLst>
                  <p:endCondLst>
                    <p:cond evt="onNext" delay="0">
                      <p:tgtEl>
                        <p:sldTgt/>
                      </p:tgtEl>
                    </p:cond>
                    <p:cond evt="onPrev" delay="0">
                      <p:tgtEl>
                        <p:sldTgt/>
                      </p:tgtEl>
                    </p:cond>
                  </p:endCondLst>
                </p:cTn>
                <p:tgtEl>
                  <p:spTgt spid="16391"/>
                </p:tgtEl>
              </p:cMediaNode>
            </p:video>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8077200" y="6400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1200">
                <a:solidFill>
                  <a:srgbClr val="000000"/>
                </a:solidFill>
                <a:latin typeface="Arial Rounded MT Bold" pitchFamily="34" charset="0"/>
              </a:rPr>
              <a:t>16</a:t>
            </a:r>
          </a:p>
        </p:txBody>
      </p:sp>
      <p:sp>
        <p:nvSpPr>
          <p:cNvPr id="18435" name="Rectangle 3"/>
          <p:cNvSpPr>
            <a:spLocks noChangeArrowheads="1"/>
          </p:cNvSpPr>
          <p:nvPr/>
        </p:nvSpPr>
        <p:spPr bwMode="auto">
          <a:xfrm>
            <a:off x="533400" y="990600"/>
            <a:ext cx="81534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solidFill>
                  <a:schemeClr val="accent2"/>
                </a:solidFill>
                <a:latin typeface="Arial Rounded MT Bold" pitchFamily="34" charset="0"/>
              </a:rPr>
              <a:t>Grain boundaries</a:t>
            </a:r>
            <a:r>
              <a:rPr lang="en-US">
                <a:latin typeface="Arial Rounded MT Bold" pitchFamily="34" charset="0"/>
              </a:rPr>
              <a:t>:</a:t>
            </a:r>
          </a:p>
          <a:p>
            <a:pPr eaLnBrk="0" hangingPunct="0"/>
            <a:r>
              <a:rPr lang="en-US" sz="2200">
                <a:latin typeface="Arial Rounded MT Bold" pitchFamily="34" charset="0"/>
              </a:rPr>
              <a:t>   •  are boundaries between crystals.</a:t>
            </a:r>
          </a:p>
          <a:p>
            <a:pPr eaLnBrk="0" hangingPunct="0"/>
            <a:r>
              <a:rPr lang="en-US" sz="2200">
                <a:latin typeface="Arial Rounded MT Bold" pitchFamily="34" charset="0"/>
              </a:rPr>
              <a:t>   •  are produced by the solidification process, for example.</a:t>
            </a:r>
          </a:p>
          <a:p>
            <a:pPr eaLnBrk="0" hangingPunct="0"/>
            <a:r>
              <a:rPr lang="en-US" sz="2200">
                <a:latin typeface="Arial Rounded MT Bold" pitchFamily="34" charset="0"/>
              </a:rPr>
              <a:t>   •  have a change in crystal orientation across them.</a:t>
            </a:r>
          </a:p>
          <a:p>
            <a:pPr eaLnBrk="0" hangingPunct="0"/>
            <a:r>
              <a:rPr lang="en-US" sz="2200">
                <a:latin typeface="Arial Rounded MT Bold" pitchFamily="34" charset="0"/>
              </a:rPr>
              <a:t>   •  impede dislocation motion.</a:t>
            </a:r>
            <a:endParaRPr lang="en-US" sz="2200" i="1">
              <a:latin typeface="Arial Rounded MT Bold" pitchFamily="34" charset="0"/>
            </a:endParaRPr>
          </a:p>
        </p:txBody>
      </p:sp>
      <p:pic>
        <p:nvPicPr>
          <p:cNvPr id="184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048000"/>
            <a:ext cx="45974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2806700"/>
            <a:ext cx="3581400" cy="344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8" name="Rectangle 6"/>
          <p:cNvSpPr>
            <a:spLocks noChangeArrowheads="1"/>
          </p:cNvSpPr>
          <p:nvPr/>
        </p:nvSpPr>
        <p:spPr bwMode="auto">
          <a:xfrm>
            <a:off x="533400" y="2679700"/>
            <a:ext cx="342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atin typeface="Arial Rounded MT Bold" pitchFamily="34" charset="0"/>
              </a:rPr>
              <a:t>Schematic</a:t>
            </a:r>
          </a:p>
        </p:txBody>
      </p:sp>
      <p:sp>
        <p:nvSpPr>
          <p:cNvPr id="18439" name="Rectangle 7"/>
          <p:cNvSpPr>
            <a:spLocks noChangeArrowheads="1"/>
          </p:cNvSpPr>
          <p:nvPr/>
        </p:nvSpPr>
        <p:spPr bwMode="auto">
          <a:xfrm>
            <a:off x="838200" y="5943600"/>
            <a:ext cx="3124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sz="1200">
                <a:solidFill>
                  <a:srgbClr val="000000"/>
                </a:solidFill>
                <a:latin typeface="Arial Rounded MT Bold" pitchFamily="34" charset="0"/>
              </a:rPr>
              <a:t>Adapted from Fig. 4.7, </a:t>
            </a:r>
            <a:r>
              <a:rPr lang="en-US" sz="1200" i="1">
                <a:solidFill>
                  <a:srgbClr val="000000"/>
                </a:solidFill>
                <a:latin typeface="Arial Rounded MT Bold" pitchFamily="34" charset="0"/>
              </a:rPr>
              <a:t>Callister 6e.</a:t>
            </a:r>
            <a:r>
              <a:rPr lang="en-US" sz="1200">
                <a:solidFill>
                  <a:srgbClr val="000000"/>
                </a:solidFill>
                <a:latin typeface="Arial Rounded MT Bold" pitchFamily="34" charset="0"/>
              </a:rPr>
              <a:t> </a:t>
            </a:r>
          </a:p>
        </p:txBody>
      </p:sp>
      <p:sp>
        <p:nvSpPr>
          <p:cNvPr id="18440" name="Line 9"/>
          <p:cNvSpPr>
            <a:spLocks noChangeShapeType="1"/>
          </p:cNvSpPr>
          <p:nvPr/>
        </p:nvSpPr>
        <p:spPr bwMode="auto">
          <a:xfrm>
            <a:off x="5410200" y="2882900"/>
            <a:ext cx="2590800" cy="0"/>
          </a:xfrm>
          <a:prstGeom prst="line">
            <a:avLst/>
          </a:prstGeom>
          <a:noFill/>
          <a:ln w="28575">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41" name="Rectangle 10"/>
          <p:cNvSpPr>
            <a:spLocks noChangeArrowheads="1"/>
          </p:cNvSpPr>
          <p:nvPr/>
        </p:nvSpPr>
        <p:spPr bwMode="auto">
          <a:xfrm>
            <a:off x="6248400" y="2692400"/>
            <a:ext cx="849313"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1800">
                <a:latin typeface="Arial Rounded MT Bold" pitchFamily="34" charset="0"/>
              </a:rPr>
              <a:t>~ 8cm</a:t>
            </a:r>
          </a:p>
        </p:txBody>
      </p:sp>
      <p:sp>
        <p:nvSpPr>
          <p:cNvPr id="18442" name="Rectangle 11"/>
          <p:cNvSpPr>
            <a:spLocks noChangeArrowheads="1"/>
          </p:cNvSpPr>
          <p:nvPr/>
        </p:nvSpPr>
        <p:spPr bwMode="auto">
          <a:xfrm>
            <a:off x="5486400" y="2362200"/>
            <a:ext cx="198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atin typeface="Arial Rounded MT Bold" pitchFamily="34" charset="0"/>
              </a:rPr>
              <a:t>Metal Ingot</a:t>
            </a:r>
          </a:p>
        </p:txBody>
      </p:sp>
      <p:sp>
        <p:nvSpPr>
          <p:cNvPr id="18443" name="Rectangle 12"/>
          <p:cNvSpPr>
            <a:spLocks noGrp="1" noChangeArrowheads="1"/>
          </p:cNvSpPr>
          <p:nvPr>
            <p:ph type="title" idx="4294967295"/>
          </p:nvPr>
        </p:nvSpPr>
        <p:spPr/>
        <p:txBody>
          <a:bodyPr/>
          <a:lstStyle/>
          <a:p>
            <a:pPr eaLnBrk="1" hangingPunct="1"/>
            <a:r>
              <a:rPr lang="en-US" sz="3200" smtClean="0"/>
              <a:t>AREA DEFECTS:  GRAIN BOUNDARIES</a:t>
            </a:r>
          </a:p>
        </p:txBody>
      </p:sp>
    </p:spTree>
    <p:extLst>
      <p:ext uri="{BB962C8B-B14F-4D97-AF65-F5344CB8AC3E}">
        <p14:creationId xmlns:p14="http://schemas.microsoft.com/office/powerpoint/2010/main" val="14588122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85800" y="304800"/>
            <a:ext cx="7772400" cy="1143000"/>
          </a:xfrm>
          <a:solidFill>
            <a:srgbClr val="FF9900"/>
          </a:solidFill>
          <a:ln>
            <a:solidFill>
              <a:schemeClr val="tx1"/>
            </a:solidFill>
            <a:miter lim="800000"/>
            <a:headEnd/>
            <a:tailEnd/>
          </a:ln>
        </p:spPr>
        <p:txBody>
          <a:bodyPr/>
          <a:lstStyle/>
          <a:p>
            <a:pPr eaLnBrk="1" hangingPunct="1"/>
            <a:r>
              <a:rPr lang="en-US" smtClean="0"/>
              <a:t>Low angle grain boundary</a:t>
            </a:r>
          </a:p>
        </p:txBody>
      </p:sp>
      <p:sp>
        <p:nvSpPr>
          <p:cNvPr id="19459" name="Rectangle 3"/>
          <p:cNvSpPr>
            <a:spLocks noGrp="1" noChangeArrowheads="1"/>
          </p:cNvSpPr>
          <p:nvPr>
            <p:ph type="body" idx="1"/>
          </p:nvPr>
        </p:nvSpPr>
        <p:spPr>
          <a:xfrm>
            <a:off x="685800" y="1981200"/>
            <a:ext cx="2667000" cy="4114800"/>
          </a:xfrm>
          <a:solidFill>
            <a:srgbClr val="CCFFFF"/>
          </a:solidFill>
          <a:ln>
            <a:solidFill>
              <a:schemeClr val="tx1"/>
            </a:solidFill>
            <a:miter lim="800000"/>
            <a:headEnd/>
            <a:tailEnd/>
          </a:ln>
        </p:spPr>
        <p:txBody>
          <a:bodyPr/>
          <a:lstStyle/>
          <a:p>
            <a:pPr eaLnBrk="1" hangingPunct="1">
              <a:lnSpc>
                <a:spcPct val="90000"/>
              </a:lnSpc>
              <a:buFontTx/>
              <a:buNone/>
            </a:pPr>
            <a:r>
              <a:rPr lang="en-US" sz="2800" smtClean="0"/>
              <a:t>Low angle grain boundaries are made up of equally spaced dislocation to accommodate the mismatch in lattices between two grains</a:t>
            </a:r>
          </a:p>
        </p:txBody>
      </p:sp>
      <p:pic>
        <p:nvPicPr>
          <p:cNvPr id="19460" name="Picture 4" descr="low angle g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1524000"/>
            <a:ext cx="2794000" cy="51689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52381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09600" y="152400"/>
            <a:ext cx="7772400" cy="1143000"/>
          </a:xfrm>
          <a:solidFill>
            <a:srgbClr val="FF9900"/>
          </a:solidFill>
          <a:ln>
            <a:solidFill>
              <a:schemeClr val="tx1"/>
            </a:solidFill>
            <a:miter lim="800000"/>
            <a:headEnd/>
            <a:tailEnd/>
          </a:ln>
        </p:spPr>
        <p:txBody>
          <a:bodyPr/>
          <a:lstStyle/>
          <a:p>
            <a:pPr eaLnBrk="1" hangingPunct="1"/>
            <a:r>
              <a:rPr lang="en-US" smtClean="0"/>
              <a:t>Volume Defects - twins</a:t>
            </a:r>
          </a:p>
        </p:txBody>
      </p:sp>
      <p:pic>
        <p:nvPicPr>
          <p:cNvPr id="20483" name="Picture 4" descr="twin"/>
          <p:cNvPicPr>
            <a:picLocks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5638800" y="1447800"/>
            <a:ext cx="2916238" cy="2482850"/>
          </a:xfrm>
          <a:noFill/>
          <a:ln>
            <a:solidFill>
              <a:schemeClr val="tx1"/>
            </a:solidFill>
            <a:miter lim="800000"/>
            <a:headEnd/>
            <a:tailEnd/>
          </a:ln>
        </p:spPr>
      </p:pic>
      <p:sp>
        <p:nvSpPr>
          <p:cNvPr id="20484" name="Text Box 5"/>
          <p:cNvSpPr txBox="1">
            <a:spLocks noChangeArrowheads="1"/>
          </p:cNvSpPr>
          <p:nvPr/>
        </p:nvSpPr>
        <p:spPr bwMode="auto">
          <a:xfrm>
            <a:off x="609600" y="1905000"/>
            <a:ext cx="3505200" cy="1196975"/>
          </a:xfrm>
          <a:prstGeom prst="rect">
            <a:avLst/>
          </a:prstGeom>
          <a:solidFill>
            <a:srgbClr val="CCFFFF"/>
          </a:solidFill>
          <a:ln w="9525">
            <a:solidFill>
              <a:schemeClr val="tx1"/>
            </a:solidFill>
            <a:miter lim="800000"/>
            <a:headEnd/>
            <a:tailEnd/>
          </a:ln>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US"/>
              <a:t>Twins occur when atoms jump from one site to a “mirror” site </a:t>
            </a:r>
          </a:p>
        </p:txBody>
      </p:sp>
      <p:grpSp>
        <p:nvGrpSpPr>
          <p:cNvPr id="20485" name="Group 45"/>
          <p:cNvGrpSpPr>
            <a:grpSpLocks/>
          </p:cNvGrpSpPr>
          <p:nvPr/>
        </p:nvGrpSpPr>
        <p:grpSpPr bwMode="auto">
          <a:xfrm>
            <a:off x="1981200" y="4191000"/>
            <a:ext cx="2895600" cy="2286000"/>
            <a:chOff x="3024" y="960"/>
            <a:chExt cx="1824" cy="1440"/>
          </a:xfrm>
        </p:grpSpPr>
        <p:grpSp>
          <p:nvGrpSpPr>
            <p:cNvPr id="20489" name="Group 20"/>
            <p:cNvGrpSpPr>
              <a:grpSpLocks/>
            </p:cNvGrpSpPr>
            <p:nvPr/>
          </p:nvGrpSpPr>
          <p:grpSpPr bwMode="auto">
            <a:xfrm>
              <a:off x="3024" y="960"/>
              <a:ext cx="1824" cy="480"/>
              <a:chOff x="3024" y="960"/>
              <a:chExt cx="1824" cy="480"/>
            </a:xfrm>
          </p:grpSpPr>
          <p:sp>
            <p:nvSpPr>
              <p:cNvPr id="20512" name="Rectangle 7"/>
              <p:cNvSpPr>
                <a:spLocks noChangeArrowheads="1"/>
              </p:cNvSpPr>
              <p:nvPr/>
            </p:nvSpPr>
            <p:spPr bwMode="auto">
              <a:xfrm>
                <a:off x="3024" y="960"/>
                <a:ext cx="1824" cy="4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513" name="Line 9"/>
              <p:cNvSpPr>
                <a:spLocks noChangeShapeType="1"/>
              </p:cNvSpPr>
              <p:nvPr/>
            </p:nvSpPr>
            <p:spPr bwMode="auto">
              <a:xfrm>
                <a:off x="3024"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4" name="Line 12"/>
              <p:cNvSpPr>
                <a:spLocks noChangeShapeType="1"/>
              </p:cNvSpPr>
              <p:nvPr/>
            </p:nvSpPr>
            <p:spPr bwMode="auto">
              <a:xfrm>
                <a:off x="3216"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5" name="Line 13"/>
              <p:cNvSpPr>
                <a:spLocks noChangeShapeType="1"/>
              </p:cNvSpPr>
              <p:nvPr/>
            </p:nvSpPr>
            <p:spPr bwMode="auto">
              <a:xfrm>
                <a:off x="3408"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6" name="Line 14"/>
              <p:cNvSpPr>
                <a:spLocks noChangeShapeType="1"/>
              </p:cNvSpPr>
              <p:nvPr/>
            </p:nvSpPr>
            <p:spPr bwMode="auto">
              <a:xfrm>
                <a:off x="3600"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7" name="Line 15"/>
              <p:cNvSpPr>
                <a:spLocks noChangeShapeType="1"/>
              </p:cNvSpPr>
              <p:nvPr/>
            </p:nvSpPr>
            <p:spPr bwMode="auto">
              <a:xfrm>
                <a:off x="3792"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8" name="Line 16"/>
              <p:cNvSpPr>
                <a:spLocks noChangeShapeType="1"/>
              </p:cNvSpPr>
              <p:nvPr/>
            </p:nvSpPr>
            <p:spPr bwMode="auto">
              <a:xfrm>
                <a:off x="3984"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9" name="Line 17"/>
              <p:cNvSpPr>
                <a:spLocks noChangeShapeType="1"/>
              </p:cNvSpPr>
              <p:nvPr/>
            </p:nvSpPr>
            <p:spPr bwMode="auto">
              <a:xfrm>
                <a:off x="4176"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0" name="Line 18"/>
              <p:cNvSpPr>
                <a:spLocks noChangeShapeType="1"/>
              </p:cNvSpPr>
              <p:nvPr/>
            </p:nvSpPr>
            <p:spPr bwMode="auto">
              <a:xfrm>
                <a:off x="4368"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1" name="Line 19"/>
              <p:cNvSpPr>
                <a:spLocks noChangeShapeType="1"/>
              </p:cNvSpPr>
              <p:nvPr/>
            </p:nvSpPr>
            <p:spPr bwMode="auto">
              <a:xfrm>
                <a:off x="4560"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0490" name="Group 21"/>
            <p:cNvGrpSpPr>
              <a:grpSpLocks/>
            </p:cNvGrpSpPr>
            <p:nvPr/>
          </p:nvGrpSpPr>
          <p:grpSpPr bwMode="auto">
            <a:xfrm flipV="1">
              <a:off x="3024" y="1440"/>
              <a:ext cx="1824" cy="480"/>
              <a:chOff x="3024" y="960"/>
              <a:chExt cx="1824" cy="480"/>
            </a:xfrm>
          </p:grpSpPr>
          <p:sp>
            <p:nvSpPr>
              <p:cNvPr id="20502" name="Rectangle 22"/>
              <p:cNvSpPr>
                <a:spLocks noChangeArrowheads="1"/>
              </p:cNvSpPr>
              <p:nvPr/>
            </p:nvSpPr>
            <p:spPr bwMode="auto">
              <a:xfrm>
                <a:off x="3024" y="960"/>
                <a:ext cx="1824" cy="4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503" name="Line 23"/>
              <p:cNvSpPr>
                <a:spLocks noChangeShapeType="1"/>
              </p:cNvSpPr>
              <p:nvPr/>
            </p:nvSpPr>
            <p:spPr bwMode="auto">
              <a:xfrm>
                <a:off x="3024"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4" name="Line 24"/>
              <p:cNvSpPr>
                <a:spLocks noChangeShapeType="1"/>
              </p:cNvSpPr>
              <p:nvPr/>
            </p:nvSpPr>
            <p:spPr bwMode="auto">
              <a:xfrm>
                <a:off x="3216"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5" name="Line 25"/>
              <p:cNvSpPr>
                <a:spLocks noChangeShapeType="1"/>
              </p:cNvSpPr>
              <p:nvPr/>
            </p:nvSpPr>
            <p:spPr bwMode="auto">
              <a:xfrm>
                <a:off x="3408"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6" name="Line 26"/>
              <p:cNvSpPr>
                <a:spLocks noChangeShapeType="1"/>
              </p:cNvSpPr>
              <p:nvPr/>
            </p:nvSpPr>
            <p:spPr bwMode="auto">
              <a:xfrm>
                <a:off x="3600"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7" name="Line 27"/>
              <p:cNvSpPr>
                <a:spLocks noChangeShapeType="1"/>
              </p:cNvSpPr>
              <p:nvPr/>
            </p:nvSpPr>
            <p:spPr bwMode="auto">
              <a:xfrm>
                <a:off x="3792"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8" name="Line 28"/>
              <p:cNvSpPr>
                <a:spLocks noChangeShapeType="1"/>
              </p:cNvSpPr>
              <p:nvPr/>
            </p:nvSpPr>
            <p:spPr bwMode="auto">
              <a:xfrm>
                <a:off x="3984"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9" name="Line 29"/>
              <p:cNvSpPr>
                <a:spLocks noChangeShapeType="1"/>
              </p:cNvSpPr>
              <p:nvPr/>
            </p:nvSpPr>
            <p:spPr bwMode="auto">
              <a:xfrm>
                <a:off x="4176"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0" name="Line 30"/>
              <p:cNvSpPr>
                <a:spLocks noChangeShapeType="1"/>
              </p:cNvSpPr>
              <p:nvPr/>
            </p:nvSpPr>
            <p:spPr bwMode="auto">
              <a:xfrm>
                <a:off x="4368"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1" name="Line 31"/>
              <p:cNvSpPr>
                <a:spLocks noChangeShapeType="1"/>
              </p:cNvSpPr>
              <p:nvPr/>
            </p:nvSpPr>
            <p:spPr bwMode="auto">
              <a:xfrm>
                <a:off x="4560"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0491" name="Group 32"/>
            <p:cNvGrpSpPr>
              <a:grpSpLocks/>
            </p:cNvGrpSpPr>
            <p:nvPr/>
          </p:nvGrpSpPr>
          <p:grpSpPr bwMode="auto">
            <a:xfrm>
              <a:off x="3024" y="1920"/>
              <a:ext cx="1824" cy="480"/>
              <a:chOff x="3024" y="960"/>
              <a:chExt cx="1824" cy="480"/>
            </a:xfrm>
          </p:grpSpPr>
          <p:sp>
            <p:nvSpPr>
              <p:cNvPr id="20492" name="Rectangle 33"/>
              <p:cNvSpPr>
                <a:spLocks noChangeArrowheads="1"/>
              </p:cNvSpPr>
              <p:nvPr/>
            </p:nvSpPr>
            <p:spPr bwMode="auto">
              <a:xfrm>
                <a:off x="3024" y="960"/>
                <a:ext cx="1824" cy="4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493" name="Line 34"/>
              <p:cNvSpPr>
                <a:spLocks noChangeShapeType="1"/>
              </p:cNvSpPr>
              <p:nvPr/>
            </p:nvSpPr>
            <p:spPr bwMode="auto">
              <a:xfrm>
                <a:off x="3024"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4" name="Line 35"/>
              <p:cNvSpPr>
                <a:spLocks noChangeShapeType="1"/>
              </p:cNvSpPr>
              <p:nvPr/>
            </p:nvSpPr>
            <p:spPr bwMode="auto">
              <a:xfrm>
                <a:off x="3216"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5" name="Line 36"/>
              <p:cNvSpPr>
                <a:spLocks noChangeShapeType="1"/>
              </p:cNvSpPr>
              <p:nvPr/>
            </p:nvSpPr>
            <p:spPr bwMode="auto">
              <a:xfrm>
                <a:off x="3408"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6" name="Line 37"/>
              <p:cNvSpPr>
                <a:spLocks noChangeShapeType="1"/>
              </p:cNvSpPr>
              <p:nvPr/>
            </p:nvSpPr>
            <p:spPr bwMode="auto">
              <a:xfrm>
                <a:off x="3600"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7" name="Line 38"/>
              <p:cNvSpPr>
                <a:spLocks noChangeShapeType="1"/>
              </p:cNvSpPr>
              <p:nvPr/>
            </p:nvSpPr>
            <p:spPr bwMode="auto">
              <a:xfrm>
                <a:off x="3792"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8" name="Line 39"/>
              <p:cNvSpPr>
                <a:spLocks noChangeShapeType="1"/>
              </p:cNvSpPr>
              <p:nvPr/>
            </p:nvSpPr>
            <p:spPr bwMode="auto">
              <a:xfrm>
                <a:off x="3984"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9" name="Line 40"/>
              <p:cNvSpPr>
                <a:spLocks noChangeShapeType="1"/>
              </p:cNvSpPr>
              <p:nvPr/>
            </p:nvSpPr>
            <p:spPr bwMode="auto">
              <a:xfrm>
                <a:off x="4176"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0" name="Line 41"/>
              <p:cNvSpPr>
                <a:spLocks noChangeShapeType="1"/>
              </p:cNvSpPr>
              <p:nvPr/>
            </p:nvSpPr>
            <p:spPr bwMode="auto">
              <a:xfrm>
                <a:off x="4368"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1" name="Line 42"/>
              <p:cNvSpPr>
                <a:spLocks noChangeShapeType="1"/>
              </p:cNvSpPr>
              <p:nvPr/>
            </p:nvSpPr>
            <p:spPr bwMode="auto">
              <a:xfrm>
                <a:off x="4560" y="960"/>
                <a:ext cx="2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20486" name="Text Box 43"/>
          <p:cNvSpPr txBox="1">
            <a:spLocks noChangeArrowheads="1"/>
          </p:cNvSpPr>
          <p:nvPr/>
        </p:nvSpPr>
        <p:spPr bwMode="auto">
          <a:xfrm>
            <a:off x="0" y="4953000"/>
            <a:ext cx="2133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US" sz="2000"/>
              <a:t>Plane jumps to mirror image</a:t>
            </a:r>
          </a:p>
        </p:txBody>
      </p:sp>
      <p:sp>
        <p:nvSpPr>
          <p:cNvPr id="20487" name="Text Box 44"/>
          <p:cNvSpPr txBox="1">
            <a:spLocks noChangeArrowheads="1"/>
          </p:cNvSpPr>
          <p:nvPr/>
        </p:nvSpPr>
        <p:spPr bwMode="auto">
          <a:xfrm>
            <a:off x="1524000" y="4724400"/>
            <a:ext cx="685800"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US" sz="6600"/>
              <a:t>{</a:t>
            </a:r>
          </a:p>
        </p:txBody>
      </p:sp>
      <p:sp>
        <p:nvSpPr>
          <p:cNvPr id="20488" name="Text Box 46"/>
          <p:cNvSpPr txBox="1">
            <a:spLocks noChangeArrowheads="1"/>
          </p:cNvSpPr>
          <p:nvPr/>
        </p:nvSpPr>
        <p:spPr bwMode="auto">
          <a:xfrm>
            <a:off x="5638800" y="4267200"/>
            <a:ext cx="3200400" cy="19272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US"/>
              <a:t>Twins can occur because of thermal treatment (annealing twins) or mechanical deformation</a:t>
            </a:r>
          </a:p>
        </p:txBody>
      </p:sp>
    </p:spTree>
    <p:extLst>
      <p:ext uri="{BB962C8B-B14F-4D97-AF65-F5344CB8AC3E}">
        <p14:creationId xmlns:p14="http://schemas.microsoft.com/office/powerpoint/2010/main" val="10924601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solidFill>
            <a:srgbClr val="FFCC00"/>
          </a:solidFill>
          <a:ln>
            <a:solidFill>
              <a:schemeClr val="tx1"/>
            </a:solidFill>
            <a:miter lim="800000"/>
            <a:headEnd/>
            <a:tailEnd/>
          </a:ln>
        </p:spPr>
        <p:txBody>
          <a:bodyPr/>
          <a:lstStyle/>
          <a:p>
            <a:pPr eaLnBrk="1" hangingPunct="1"/>
            <a:r>
              <a:rPr lang="en-US" sz="3200" smtClean="0"/>
              <a:t>Hume-Rothery rules for substitutional solids</a:t>
            </a:r>
          </a:p>
        </p:txBody>
      </p:sp>
      <p:sp>
        <p:nvSpPr>
          <p:cNvPr id="21507" name="Rectangle 3"/>
          <p:cNvSpPr>
            <a:spLocks noGrp="1" noChangeArrowheads="1"/>
          </p:cNvSpPr>
          <p:nvPr>
            <p:ph type="body" idx="1"/>
          </p:nvPr>
        </p:nvSpPr>
        <p:spPr>
          <a:xfrm>
            <a:off x="609600" y="1447800"/>
            <a:ext cx="4648200" cy="2209800"/>
          </a:xfrm>
        </p:spPr>
        <p:txBody>
          <a:bodyPr/>
          <a:lstStyle/>
          <a:p>
            <a:pPr marL="609600" indent="-609600" eaLnBrk="1" hangingPunct="1">
              <a:lnSpc>
                <a:spcPct val="80000"/>
              </a:lnSpc>
              <a:buFontTx/>
              <a:buAutoNum type="arabicPeriod"/>
            </a:pPr>
            <a:r>
              <a:rPr lang="en-US" sz="2800" smtClean="0"/>
              <a:t>Atomic sizes agree within 15%</a:t>
            </a:r>
          </a:p>
          <a:p>
            <a:pPr marL="609600" indent="-609600" eaLnBrk="1" hangingPunct="1">
              <a:lnSpc>
                <a:spcPct val="80000"/>
              </a:lnSpc>
              <a:buFontTx/>
              <a:buAutoNum type="arabicPeriod"/>
            </a:pPr>
            <a:r>
              <a:rPr lang="en-US" sz="2800" smtClean="0"/>
              <a:t>Same crystal structure</a:t>
            </a:r>
          </a:p>
          <a:p>
            <a:pPr marL="609600" indent="-609600" eaLnBrk="1" hangingPunct="1">
              <a:lnSpc>
                <a:spcPct val="80000"/>
              </a:lnSpc>
              <a:buFontTx/>
              <a:buAutoNum type="arabicPeriod"/>
            </a:pPr>
            <a:r>
              <a:rPr lang="en-US" sz="2800" smtClean="0"/>
              <a:t>Similar electronegativity</a:t>
            </a:r>
          </a:p>
          <a:p>
            <a:pPr marL="609600" indent="-609600" eaLnBrk="1" hangingPunct="1">
              <a:lnSpc>
                <a:spcPct val="80000"/>
              </a:lnSpc>
              <a:buFontTx/>
              <a:buAutoNum type="arabicPeriod"/>
            </a:pPr>
            <a:r>
              <a:rPr lang="en-US" sz="2800" smtClean="0"/>
              <a:t>Similar valence</a:t>
            </a:r>
          </a:p>
        </p:txBody>
      </p:sp>
      <p:pic>
        <p:nvPicPr>
          <p:cNvPr id="21508" name="Picture 4" descr="File0052"/>
          <p:cNvPicPr>
            <a:picLocks noChangeAspect="1" noChangeArrowheads="1"/>
          </p:cNvPicPr>
          <p:nvPr/>
        </p:nvPicPr>
        <p:blipFill>
          <a:blip r:embed="rId2">
            <a:lum contrast="18000"/>
            <a:extLst>
              <a:ext uri="{28A0092B-C50C-407E-A947-70E740481C1C}">
                <a14:useLocalDpi xmlns:a14="http://schemas.microsoft.com/office/drawing/2010/main" val="0"/>
              </a:ext>
            </a:extLst>
          </a:blip>
          <a:srcRect b="1184"/>
          <a:stretch>
            <a:fillRect/>
          </a:stretch>
        </p:blipFill>
        <p:spPr bwMode="auto">
          <a:xfrm>
            <a:off x="457200" y="3657600"/>
            <a:ext cx="5257800" cy="2895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1509" name="Text Box 5"/>
          <p:cNvSpPr txBox="1">
            <a:spLocks noChangeArrowheads="1"/>
          </p:cNvSpPr>
          <p:nvPr/>
        </p:nvSpPr>
        <p:spPr bwMode="auto">
          <a:xfrm>
            <a:off x="6019800" y="1219200"/>
            <a:ext cx="2895600" cy="5486400"/>
          </a:xfrm>
          <a:prstGeom prst="rect">
            <a:avLst/>
          </a:prstGeom>
          <a:solidFill>
            <a:srgbClr val="CCFFFF"/>
          </a:solidFill>
          <a:ln w="9525">
            <a:solidFill>
              <a:schemeClr val="tx1"/>
            </a:solidFill>
            <a:miter lim="800000"/>
            <a:headEnd/>
            <a:tailEnd/>
          </a:ln>
        </p:spPr>
        <p:txBody>
          <a:bodyPr lIns="0" tIns="0" rIns="0" bIns="0">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a:t>Consider Cu and Ni:</a:t>
            </a:r>
          </a:p>
          <a:p>
            <a:pPr eaLnBrk="1" hangingPunct="1"/>
            <a:r>
              <a:rPr lang="en-US"/>
              <a:t>   r</a:t>
            </a:r>
            <a:r>
              <a:rPr lang="en-US" baseline="-25000"/>
              <a:t>Cu</a:t>
            </a:r>
            <a:r>
              <a:rPr lang="en-US"/>
              <a:t>=0.128 nm</a:t>
            </a:r>
          </a:p>
          <a:p>
            <a:pPr eaLnBrk="1" hangingPunct="1"/>
            <a:r>
              <a:rPr lang="en-US"/>
              <a:t>   r</a:t>
            </a:r>
            <a:r>
              <a:rPr lang="en-US" baseline="-25000"/>
              <a:t>Ni</a:t>
            </a:r>
            <a:r>
              <a:rPr lang="en-US"/>
              <a:t>=0.125 nm </a:t>
            </a:r>
          </a:p>
          <a:p>
            <a:pPr eaLnBrk="1" hangingPunct="1">
              <a:spcBef>
                <a:spcPct val="50000"/>
              </a:spcBef>
            </a:pPr>
            <a:r>
              <a:rPr lang="en-US"/>
              <a:t>Size difference: 2.3%</a:t>
            </a:r>
          </a:p>
          <a:p>
            <a:pPr eaLnBrk="1" hangingPunct="1">
              <a:spcBef>
                <a:spcPct val="50000"/>
              </a:spcBef>
            </a:pPr>
            <a:r>
              <a:rPr lang="en-US"/>
              <a:t>Both FCC</a:t>
            </a:r>
          </a:p>
          <a:p>
            <a:pPr eaLnBrk="1" hangingPunct="1">
              <a:spcBef>
                <a:spcPct val="50000"/>
              </a:spcBef>
            </a:pPr>
            <a:r>
              <a:rPr lang="en-US"/>
              <a:t>Cu &amp; Ni electronegativity: 1.9 and 1.8, respectively</a:t>
            </a:r>
          </a:p>
          <a:p>
            <a:pPr eaLnBrk="1" hangingPunct="1"/>
            <a:endParaRPr lang="en-US"/>
          </a:p>
          <a:p>
            <a:pPr eaLnBrk="1" hangingPunct="1"/>
            <a:r>
              <a:rPr lang="en-US"/>
              <a:t>Valence: </a:t>
            </a:r>
          </a:p>
          <a:p>
            <a:pPr eaLnBrk="1" hangingPunct="1"/>
            <a:r>
              <a:rPr lang="en-US"/>
              <a:t>	Cu: 2</a:t>
            </a:r>
          </a:p>
          <a:p>
            <a:pPr eaLnBrk="1" hangingPunct="1"/>
            <a:r>
              <a:rPr lang="en-US"/>
              <a:t>	Ni: 2,3</a:t>
            </a:r>
          </a:p>
          <a:p>
            <a:pPr eaLnBrk="1" hangingPunct="1">
              <a:spcBef>
                <a:spcPct val="50000"/>
              </a:spcBef>
            </a:pPr>
            <a:endParaRPr lang="en-US"/>
          </a:p>
        </p:txBody>
      </p:sp>
    </p:spTree>
    <p:extLst>
      <p:ext uri="{BB962C8B-B14F-4D97-AF65-F5344CB8AC3E}">
        <p14:creationId xmlns:p14="http://schemas.microsoft.com/office/powerpoint/2010/main" val="14644952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8077200" y="6400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1200">
                <a:solidFill>
                  <a:srgbClr val="000000"/>
                </a:solidFill>
                <a:latin typeface="Arial Rounded MT Bold" pitchFamily="34" charset="0"/>
              </a:rPr>
              <a:t>17</a:t>
            </a:r>
          </a:p>
        </p:txBody>
      </p:sp>
      <p:sp>
        <p:nvSpPr>
          <p:cNvPr id="22531" name="Rectangle 3"/>
          <p:cNvSpPr>
            <a:spLocks noChangeArrowheads="1"/>
          </p:cNvSpPr>
          <p:nvPr/>
        </p:nvSpPr>
        <p:spPr bwMode="auto">
          <a:xfrm>
            <a:off x="533400" y="1066800"/>
            <a:ext cx="8077200"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atin typeface="Arial Rounded MT Bold" pitchFamily="34" charset="0"/>
              </a:rPr>
              <a:t>• Useful up to 2000X magnification.</a:t>
            </a:r>
          </a:p>
          <a:p>
            <a:pPr eaLnBrk="0" hangingPunct="0"/>
            <a:r>
              <a:rPr lang="en-US">
                <a:latin typeface="Arial Rounded MT Bold" pitchFamily="34" charset="0"/>
              </a:rPr>
              <a:t>•  Polishing removes surface features (e.g., scratches)</a:t>
            </a:r>
          </a:p>
          <a:p>
            <a:pPr eaLnBrk="0" hangingPunct="0"/>
            <a:r>
              <a:rPr lang="en-US">
                <a:latin typeface="Arial Rounded MT Bold" pitchFamily="34" charset="0"/>
              </a:rPr>
              <a:t>•  Etching changes reflectance, depending on crystal</a:t>
            </a:r>
          </a:p>
          <a:p>
            <a:pPr eaLnBrk="0" hangingPunct="0"/>
            <a:r>
              <a:rPr lang="en-US">
                <a:latin typeface="Arial Rounded MT Bold" pitchFamily="34" charset="0"/>
              </a:rPr>
              <a:t>      orientation.</a:t>
            </a:r>
            <a:endParaRPr lang="en-US" i="1">
              <a:latin typeface="Arial Rounded MT Bold" pitchFamily="34" charset="0"/>
            </a:endParaRPr>
          </a:p>
        </p:txBody>
      </p:sp>
      <p:pic>
        <p:nvPicPr>
          <p:cNvPr id="2253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2438400"/>
            <a:ext cx="2476500" cy="38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Rectangle 5"/>
          <p:cNvSpPr>
            <a:spLocks noChangeArrowheads="1"/>
          </p:cNvSpPr>
          <p:nvPr/>
        </p:nvSpPr>
        <p:spPr bwMode="auto">
          <a:xfrm>
            <a:off x="5715000" y="3556000"/>
            <a:ext cx="2730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2000">
                <a:solidFill>
                  <a:srgbClr val="0000FF"/>
                </a:solidFill>
                <a:latin typeface="Arial Rounded MT Bold" pitchFamily="34" charset="0"/>
              </a:rPr>
              <a:t>close-packed planes</a:t>
            </a:r>
          </a:p>
        </p:txBody>
      </p:sp>
      <p:sp>
        <p:nvSpPr>
          <p:cNvPr id="22534" name="Rectangle 6"/>
          <p:cNvSpPr>
            <a:spLocks noChangeArrowheads="1"/>
          </p:cNvSpPr>
          <p:nvPr/>
        </p:nvSpPr>
        <p:spPr bwMode="auto">
          <a:xfrm>
            <a:off x="5715000" y="4932363"/>
            <a:ext cx="23987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2000">
                <a:solidFill>
                  <a:srgbClr val="333333"/>
                </a:solidFill>
                <a:latin typeface="Arial Rounded MT Bold" pitchFamily="34" charset="0"/>
              </a:rPr>
              <a:t>micrograph of</a:t>
            </a:r>
          </a:p>
          <a:p>
            <a:pPr eaLnBrk="0" hangingPunct="0"/>
            <a:r>
              <a:rPr lang="en-US" sz="2000">
                <a:solidFill>
                  <a:srgbClr val="333333"/>
                </a:solidFill>
                <a:latin typeface="Arial Rounded MT Bold" pitchFamily="34" charset="0"/>
              </a:rPr>
              <a:t>Brass (Cu and Zn)</a:t>
            </a:r>
          </a:p>
        </p:txBody>
      </p:sp>
      <p:sp>
        <p:nvSpPr>
          <p:cNvPr id="22535" name="Rectangle 7"/>
          <p:cNvSpPr>
            <a:spLocks noChangeArrowheads="1"/>
          </p:cNvSpPr>
          <p:nvPr/>
        </p:nvSpPr>
        <p:spPr bwMode="auto">
          <a:xfrm>
            <a:off x="533400" y="3886200"/>
            <a:ext cx="31242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sz="1200">
                <a:solidFill>
                  <a:srgbClr val="000000"/>
                </a:solidFill>
                <a:latin typeface="Arial Rounded MT Bold" pitchFamily="34" charset="0"/>
              </a:rPr>
              <a:t>Adapted from Fig. 4.11(b) and (c), </a:t>
            </a:r>
            <a:r>
              <a:rPr lang="en-US" sz="1200" i="1">
                <a:solidFill>
                  <a:srgbClr val="000000"/>
                </a:solidFill>
                <a:latin typeface="Arial Rounded MT Bold" pitchFamily="34" charset="0"/>
              </a:rPr>
              <a:t>Callister 6e.</a:t>
            </a:r>
            <a:r>
              <a:rPr lang="en-US" sz="1200">
                <a:solidFill>
                  <a:srgbClr val="000000"/>
                </a:solidFill>
                <a:latin typeface="Arial Rounded MT Bold" pitchFamily="34" charset="0"/>
              </a:rPr>
              <a:t>   (Fig. 4.11(c) is courtesy</a:t>
            </a:r>
          </a:p>
          <a:p>
            <a:pPr eaLnBrk="0" hangingPunct="0"/>
            <a:r>
              <a:rPr lang="en-US" sz="1200">
                <a:solidFill>
                  <a:srgbClr val="000000"/>
                </a:solidFill>
                <a:latin typeface="Arial Rounded MT Bold" pitchFamily="34" charset="0"/>
              </a:rPr>
              <a:t>of J.E. Burke, General Electric Co.</a:t>
            </a:r>
          </a:p>
        </p:txBody>
      </p:sp>
      <p:sp>
        <p:nvSpPr>
          <p:cNvPr id="22536" name="Line 8"/>
          <p:cNvSpPr>
            <a:spLocks noChangeShapeType="1"/>
          </p:cNvSpPr>
          <p:nvPr/>
        </p:nvSpPr>
        <p:spPr bwMode="auto">
          <a:xfrm>
            <a:off x="3733800" y="6324600"/>
            <a:ext cx="1600200"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537" name="Rectangle 9"/>
          <p:cNvSpPr>
            <a:spLocks noChangeArrowheads="1"/>
          </p:cNvSpPr>
          <p:nvPr/>
        </p:nvSpPr>
        <p:spPr bwMode="auto">
          <a:xfrm>
            <a:off x="4060825" y="6140450"/>
            <a:ext cx="968375" cy="33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1600">
                <a:latin typeface="Arial Rounded MT Bold" pitchFamily="34" charset="0"/>
              </a:rPr>
              <a:t>0.75mm</a:t>
            </a:r>
          </a:p>
        </p:txBody>
      </p:sp>
      <p:sp>
        <p:nvSpPr>
          <p:cNvPr id="22538" name="Rectangle 10"/>
          <p:cNvSpPr>
            <a:spLocks noGrp="1" noChangeArrowheads="1"/>
          </p:cNvSpPr>
          <p:nvPr>
            <p:ph type="title" idx="4294967295"/>
          </p:nvPr>
        </p:nvSpPr>
        <p:spPr/>
        <p:txBody>
          <a:bodyPr/>
          <a:lstStyle/>
          <a:p>
            <a:pPr eaLnBrk="1" hangingPunct="1"/>
            <a:r>
              <a:rPr lang="en-US" smtClean="0"/>
              <a:t>OPTICAL MICROSCOPY (1)</a:t>
            </a:r>
          </a:p>
        </p:txBody>
      </p:sp>
    </p:spTree>
    <p:extLst>
      <p:ext uri="{BB962C8B-B14F-4D97-AF65-F5344CB8AC3E}">
        <p14:creationId xmlns:p14="http://schemas.microsoft.com/office/powerpoint/2010/main" val="231962215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1752600"/>
            <a:ext cx="3695700" cy="459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Rectangle 3"/>
          <p:cNvSpPr>
            <a:spLocks noChangeArrowheads="1"/>
          </p:cNvSpPr>
          <p:nvPr/>
        </p:nvSpPr>
        <p:spPr bwMode="auto">
          <a:xfrm>
            <a:off x="8077200" y="6400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1200">
                <a:solidFill>
                  <a:srgbClr val="000000"/>
                </a:solidFill>
                <a:latin typeface="Arial Rounded MT Bold" pitchFamily="34" charset="0"/>
              </a:rPr>
              <a:t>18</a:t>
            </a:r>
          </a:p>
        </p:txBody>
      </p:sp>
      <p:sp>
        <p:nvSpPr>
          <p:cNvPr id="23556" name="Rectangle 4"/>
          <p:cNvSpPr>
            <a:spLocks noChangeArrowheads="1"/>
          </p:cNvSpPr>
          <p:nvPr/>
        </p:nvSpPr>
        <p:spPr bwMode="auto">
          <a:xfrm>
            <a:off x="457200" y="1235075"/>
            <a:ext cx="3581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atin typeface="Arial Rounded MT Bold" pitchFamily="34" charset="0"/>
              </a:rPr>
              <a:t>Grain boundaries...</a:t>
            </a:r>
            <a:endParaRPr lang="en-US" i="1">
              <a:latin typeface="Arial Rounded MT Bold" pitchFamily="34" charset="0"/>
            </a:endParaRPr>
          </a:p>
        </p:txBody>
      </p:sp>
      <p:sp>
        <p:nvSpPr>
          <p:cNvPr id="23557" name="Rectangle 5"/>
          <p:cNvSpPr>
            <a:spLocks noChangeArrowheads="1"/>
          </p:cNvSpPr>
          <p:nvPr/>
        </p:nvSpPr>
        <p:spPr bwMode="auto">
          <a:xfrm>
            <a:off x="609600" y="1625600"/>
            <a:ext cx="3292475" cy="2436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2200">
                <a:latin typeface="Arial Rounded MT Bold" pitchFamily="34" charset="0"/>
              </a:rPr>
              <a:t>•  are imperfections,</a:t>
            </a:r>
          </a:p>
          <a:p>
            <a:pPr eaLnBrk="0" hangingPunct="0"/>
            <a:r>
              <a:rPr lang="en-US" sz="2200">
                <a:latin typeface="Arial Rounded MT Bold" pitchFamily="34" charset="0"/>
              </a:rPr>
              <a:t>•  are more susceptible</a:t>
            </a:r>
          </a:p>
          <a:p>
            <a:pPr eaLnBrk="0" hangingPunct="0"/>
            <a:r>
              <a:rPr lang="en-US" sz="2200">
                <a:latin typeface="Arial Rounded MT Bold" pitchFamily="34" charset="0"/>
              </a:rPr>
              <a:t>      to etching,</a:t>
            </a:r>
          </a:p>
          <a:p>
            <a:pPr eaLnBrk="0" hangingPunct="0"/>
            <a:r>
              <a:rPr lang="en-US" sz="2200">
                <a:latin typeface="Arial Rounded MT Bold" pitchFamily="34" charset="0"/>
              </a:rPr>
              <a:t>•  may be revealed as</a:t>
            </a:r>
          </a:p>
          <a:p>
            <a:pPr eaLnBrk="0" hangingPunct="0"/>
            <a:r>
              <a:rPr lang="en-US" sz="2200">
                <a:latin typeface="Arial Rounded MT Bold" pitchFamily="34" charset="0"/>
              </a:rPr>
              <a:t>      dark lines,</a:t>
            </a:r>
          </a:p>
          <a:p>
            <a:pPr eaLnBrk="0" hangingPunct="0"/>
            <a:r>
              <a:rPr lang="en-US" sz="2200">
                <a:latin typeface="Arial Rounded MT Bold" pitchFamily="34" charset="0"/>
              </a:rPr>
              <a:t>•  change direction in a</a:t>
            </a:r>
          </a:p>
          <a:p>
            <a:pPr eaLnBrk="0" hangingPunct="0"/>
            <a:r>
              <a:rPr lang="en-US" sz="2200">
                <a:latin typeface="Arial Rounded MT Bold" pitchFamily="34" charset="0"/>
              </a:rPr>
              <a:t>      polycrystal.</a:t>
            </a:r>
          </a:p>
        </p:txBody>
      </p:sp>
      <p:pic>
        <p:nvPicPr>
          <p:cNvPr id="23558"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3898900"/>
            <a:ext cx="2032000"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9" name="Rectangle 8"/>
          <p:cNvSpPr>
            <a:spLocks noGrp="1" noChangeArrowheads="1"/>
          </p:cNvSpPr>
          <p:nvPr>
            <p:ph type="title" idx="4294967295"/>
          </p:nvPr>
        </p:nvSpPr>
        <p:spPr/>
        <p:txBody>
          <a:bodyPr/>
          <a:lstStyle/>
          <a:p>
            <a:pPr eaLnBrk="1" hangingPunct="1"/>
            <a:r>
              <a:rPr lang="en-US" smtClean="0"/>
              <a:t>OPTICAL MICROSCOPY (2)</a:t>
            </a:r>
          </a:p>
        </p:txBody>
      </p:sp>
    </p:spTree>
    <p:extLst>
      <p:ext uri="{BB962C8B-B14F-4D97-AF65-F5344CB8AC3E}">
        <p14:creationId xmlns:p14="http://schemas.microsoft.com/office/powerpoint/2010/main" val="20559771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8091488" y="6400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1200">
                <a:solidFill>
                  <a:srgbClr val="000000"/>
                </a:solidFill>
                <a:latin typeface="Arial Rounded MT Bold" pitchFamily="34" charset="0"/>
              </a:rPr>
              <a:t>19</a:t>
            </a:r>
          </a:p>
        </p:txBody>
      </p:sp>
      <p:sp>
        <p:nvSpPr>
          <p:cNvPr id="24579" name="Rectangle 3"/>
          <p:cNvSpPr>
            <a:spLocks noChangeArrowheads="1"/>
          </p:cNvSpPr>
          <p:nvPr/>
        </p:nvSpPr>
        <p:spPr bwMode="auto">
          <a:xfrm>
            <a:off x="581025" y="1538288"/>
            <a:ext cx="563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atin typeface="Arial Rounded MT Bold" pitchFamily="34" charset="0"/>
              </a:rPr>
              <a:t>•  Atoms can be arranged and imaged!</a:t>
            </a:r>
          </a:p>
        </p:txBody>
      </p:sp>
      <p:sp>
        <p:nvSpPr>
          <p:cNvPr id="24580" name="Rectangle 4"/>
          <p:cNvSpPr>
            <a:spLocks noChangeArrowheads="1"/>
          </p:cNvSpPr>
          <p:nvPr/>
        </p:nvSpPr>
        <p:spPr bwMode="auto">
          <a:xfrm>
            <a:off x="838200" y="3886200"/>
            <a:ext cx="26670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sz="2000">
                <a:latin typeface="Arial Rounded MT Bold" pitchFamily="34" charset="0"/>
              </a:rPr>
              <a:t>Carbon monoxide molecules arranged on a platinum (111) surface.</a:t>
            </a:r>
          </a:p>
        </p:txBody>
      </p:sp>
      <p:pic>
        <p:nvPicPr>
          <p:cNvPr id="24581"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1600" y="1981200"/>
            <a:ext cx="1219200"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2"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18088" y="2057400"/>
            <a:ext cx="1230312"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3" name="Rectangle 8"/>
          <p:cNvSpPr>
            <a:spLocks noChangeArrowheads="1"/>
          </p:cNvSpPr>
          <p:nvPr/>
        </p:nvSpPr>
        <p:spPr bwMode="auto">
          <a:xfrm>
            <a:off x="4267200" y="3886200"/>
            <a:ext cx="2667000"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sz="2000">
                <a:latin typeface="Arial Rounded MT Bold" pitchFamily="34" charset="0"/>
              </a:rPr>
              <a:t>Iron atoms arranged on a copper (111) surface.  These Kanji characters represent the word “atom”.</a:t>
            </a:r>
          </a:p>
        </p:txBody>
      </p:sp>
      <p:sp>
        <p:nvSpPr>
          <p:cNvPr id="24584" name="Rectangle 9"/>
          <p:cNvSpPr>
            <a:spLocks noGrp="1" noChangeArrowheads="1"/>
          </p:cNvSpPr>
          <p:nvPr>
            <p:ph type="title" idx="4294967295"/>
          </p:nvPr>
        </p:nvSpPr>
        <p:spPr/>
        <p:txBody>
          <a:bodyPr/>
          <a:lstStyle/>
          <a:p>
            <a:pPr eaLnBrk="1" hangingPunct="1"/>
            <a:r>
              <a:rPr lang="en-US" smtClean="0"/>
              <a:t>SCANNING TUNNELING MICROSCOPY</a:t>
            </a:r>
          </a:p>
        </p:txBody>
      </p:sp>
    </p:spTree>
    <p:extLst>
      <p:ext uri="{BB962C8B-B14F-4D97-AF65-F5344CB8AC3E}">
        <p14:creationId xmlns:p14="http://schemas.microsoft.com/office/powerpoint/2010/main" val="28264440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8077200" y="6400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1200">
                <a:solidFill>
                  <a:srgbClr val="000000"/>
                </a:solidFill>
                <a:latin typeface="Arial Rounded MT Bold" pitchFamily="34" charset="0"/>
              </a:rPr>
              <a:t>20</a:t>
            </a:r>
          </a:p>
        </p:txBody>
      </p:sp>
      <p:sp>
        <p:nvSpPr>
          <p:cNvPr id="25603" name="Rectangle 3"/>
          <p:cNvSpPr>
            <a:spLocks noChangeArrowheads="1"/>
          </p:cNvSpPr>
          <p:nvPr/>
        </p:nvSpPr>
        <p:spPr bwMode="auto">
          <a:xfrm>
            <a:off x="838200" y="1295400"/>
            <a:ext cx="6731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solidFill>
                  <a:srgbClr val="000000"/>
                </a:solidFill>
                <a:latin typeface="Arial Rounded MT Bold" pitchFamily="34" charset="0"/>
              </a:rPr>
              <a:t>•  </a:t>
            </a:r>
            <a:r>
              <a:rPr lang="en-US">
                <a:solidFill>
                  <a:schemeClr val="accent2"/>
                </a:solidFill>
                <a:latin typeface="Arial Rounded MT Bold" pitchFamily="34" charset="0"/>
              </a:rPr>
              <a:t>Point</a:t>
            </a:r>
            <a:r>
              <a:rPr lang="en-US">
                <a:solidFill>
                  <a:srgbClr val="000000"/>
                </a:solidFill>
                <a:latin typeface="Arial Rounded MT Bold" pitchFamily="34" charset="0"/>
              </a:rPr>
              <a:t>, </a:t>
            </a:r>
            <a:r>
              <a:rPr lang="en-US">
                <a:solidFill>
                  <a:schemeClr val="accent2"/>
                </a:solidFill>
                <a:latin typeface="Arial Rounded MT Bold" pitchFamily="34" charset="0"/>
              </a:rPr>
              <a:t>Line</a:t>
            </a:r>
            <a:r>
              <a:rPr lang="en-US">
                <a:solidFill>
                  <a:srgbClr val="000000"/>
                </a:solidFill>
                <a:latin typeface="Arial Rounded MT Bold" pitchFamily="34" charset="0"/>
              </a:rPr>
              <a:t>, and </a:t>
            </a:r>
            <a:r>
              <a:rPr lang="en-US">
                <a:solidFill>
                  <a:schemeClr val="accent2"/>
                </a:solidFill>
                <a:latin typeface="Arial Rounded MT Bold" pitchFamily="34" charset="0"/>
              </a:rPr>
              <a:t>Area</a:t>
            </a:r>
            <a:r>
              <a:rPr lang="en-US">
                <a:solidFill>
                  <a:srgbClr val="000000"/>
                </a:solidFill>
                <a:latin typeface="Arial Rounded MT Bold" pitchFamily="34" charset="0"/>
              </a:rPr>
              <a:t> defects arise in solids.</a:t>
            </a:r>
            <a:endParaRPr lang="en-US">
              <a:latin typeface="Arial Rounded MT Bold" pitchFamily="34" charset="0"/>
            </a:endParaRPr>
          </a:p>
        </p:txBody>
      </p:sp>
      <p:sp>
        <p:nvSpPr>
          <p:cNvPr id="25604" name="Rectangle 4"/>
          <p:cNvSpPr>
            <a:spLocks noChangeArrowheads="1"/>
          </p:cNvSpPr>
          <p:nvPr/>
        </p:nvSpPr>
        <p:spPr bwMode="auto">
          <a:xfrm>
            <a:off x="838200" y="1981200"/>
            <a:ext cx="733107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solidFill>
                  <a:srgbClr val="000000"/>
                </a:solidFill>
                <a:latin typeface="Arial Rounded MT Bold" pitchFamily="34" charset="0"/>
              </a:rPr>
              <a:t>•  The number and type of defects can be varied</a:t>
            </a:r>
          </a:p>
          <a:p>
            <a:pPr eaLnBrk="0" hangingPunct="0"/>
            <a:r>
              <a:rPr lang="en-US">
                <a:solidFill>
                  <a:srgbClr val="000000"/>
                </a:solidFill>
                <a:latin typeface="Arial Rounded MT Bold" pitchFamily="34" charset="0"/>
              </a:rPr>
              <a:t>      and controlled (e.g., T controls vacancy conc.)</a:t>
            </a:r>
            <a:endParaRPr lang="en-US">
              <a:latin typeface="Arial Rounded MT Bold" pitchFamily="34" charset="0"/>
            </a:endParaRPr>
          </a:p>
        </p:txBody>
      </p:sp>
      <p:sp>
        <p:nvSpPr>
          <p:cNvPr id="25605" name="Rectangle 5"/>
          <p:cNvSpPr>
            <a:spLocks noChangeArrowheads="1"/>
          </p:cNvSpPr>
          <p:nvPr/>
        </p:nvSpPr>
        <p:spPr bwMode="auto">
          <a:xfrm>
            <a:off x="838200" y="2971800"/>
            <a:ext cx="694372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solidFill>
                  <a:srgbClr val="000000"/>
                </a:solidFill>
                <a:latin typeface="Arial Rounded MT Bold" pitchFamily="34" charset="0"/>
              </a:rPr>
              <a:t>•  Defects affect material properties (e.g., grain</a:t>
            </a:r>
          </a:p>
          <a:p>
            <a:pPr eaLnBrk="0" hangingPunct="0"/>
            <a:r>
              <a:rPr lang="en-US">
                <a:solidFill>
                  <a:srgbClr val="000000"/>
                </a:solidFill>
                <a:latin typeface="Arial Rounded MT Bold" pitchFamily="34" charset="0"/>
              </a:rPr>
              <a:t>      boundaries control crystal slip).</a:t>
            </a:r>
            <a:endParaRPr lang="en-US">
              <a:latin typeface="Arial Rounded MT Bold" pitchFamily="34" charset="0"/>
            </a:endParaRPr>
          </a:p>
        </p:txBody>
      </p:sp>
      <p:sp>
        <p:nvSpPr>
          <p:cNvPr id="25606" name="Rectangle 6"/>
          <p:cNvSpPr>
            <a:spLocks noChangeArrowheads="1"/>
          </p:cNvSpPr>
          <p:nvPr/>
        </p:nvSpPr>
        <p:spPr bwMode="auto">
          <a:xfrm>
            <a:off x="838200" y="3902075"/>
            <a:ext cx="7335838"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solidFill>
                  <a:srgbClr val="000000"/>
                </a:solidFill>
                <a:latin typeface="Arial Rounded MT Bold" pitchFamily="34" charset="0"/>
              </a:rPr>
              <a:t>•  Defects may be desirable or undesirable</a:t>
            </a:r>
          </a:p>
          <a:p>
            <a:pPr eaLnBrk="0" hangingPunct="0"/>
            <a:r>
              <a:rPr lang="en-US" sz="2200">
                <a:solidFill>
                  <a:srgbClr val="000000"/>
                </a:solidFill>
                <a:latin typeface="Arial Rounded MT Bold" pitchFamily="34" charset="0"/>
              </a:rPr>
              <a:t>      (e.g., dislocations may be good or bad, depending</a:t>
            </a:r>
          </a:p>
          <a:p>
            <a:pPr eaLnBrk="0" hangingPunct="0"/>
            <a:r>
              <a:rPr lang="en-US" sz="2200">
                <a:solidFill>
                  <a:srgbClr val="000000"/>
                </a:solidFill>
                <a:latin typeface="Arial Rounded MT Bold" pitchFamily="34" charset="0"/>
              </a:rPr>
              <a:t>      on whether plastic deformation is desirable or not.)</a:t>
            </a:r>
            <a:endParaRPr lang="en-US">
              <a:latin typeface="Arial Rounded MT Bold" pitchFamily="34" charset="0"/>
            </a:endParaRPr>
          </a:p>
        </p:txBody>
      </p:sp>
      <p:sp>
        <p:nvSpPr>
          <p:cNvPr id="25607" name="Rectangle 7"/>
          <p:cNvSpPr>
            <a:spLocks noGrp="1" noChangeArrowheads="1"/>
          </p:cNvSpPr>
          <p:nvPr>
            <p:ph type="title" idx="4294967295"/>
          </p:nvPr>
        </p:nvSpPr>
        <p:spPr/>
        <p:txBody>
          <a:bodyPr/>
          <a:lstStyle/>
          <a:p>
            <a:pPr eaLnBrk="1" hangingPunct="1"/>
            <a:r>
              <a:rPr lang="en-US" smtClean="0"/>
              <a:t>SUMMARY</a:t>
            </a:r>
          </a:p>
        </p:txBody>
      </p:sp>
    </p:spTree>
    <p:extLst>
      <p:ext uri="{BB962C8B-B14F-4D97-AF65-F5344CB8AC3E}">
        <p14:creationId xmlns:p14="http://schemas.microsoft.com/office/powerpoint/2010/main" val="23062245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spTree>
    <p:extLst>
      <p:ext uri="{BB962C8B-B14F-4D97-AF65-F5344CB8AC3E}">
        <p14:creationId xmlns:p14="http://schemas.microsoft.com/office/powerpoint/2010/main" val="16316298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spTree>
    <p:extLst>
      <p:ext uri="{BB962C8B-B14F-4D97-AF65-F5344CB8AC3E}">
        <p14:creationId xmlns:p14="http://schemas.microsoft.com/office/powerpoint/2010/main" val="30992140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246</TotalTime>
  <Words>2520</Words>
  <Application>Microsoft Office PowerPoint</Application>
  <PresentationFormat>On-screen Show (4:3)</PresentationFormat>
  <Paragraphs>380</Paragraphs>
  <Slides>71</Slides>
  <Notes>23</Notes>
  <HiddenSlides>0</HiddenSlides>
  <MMClips>3</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71</vt:i4>
      </vt:variant>
    </vt:vector>
  </HeadingPairs>
  <TitlesOfParts>
    <vt:vector size="73" baseType="lpstr">
      <vt:lpstr>Oriel</vt:lpstr>
      <vt:lpstr>Microsoft Equation 3.0</vt:lpstr>
      <vt:lpstr>PowerPoint Presentation</vt:lpstr>
      <vt:lpstr>     What is Band Theory of Solids? </vt:lpstr>
      <vt:lpstr>  Energy Bands In Inside an atom </vt:lpstr>
      <vt:lpstr>PowerPoint Presentation</vt:lpstr>
      <vt:lpstr>PowerPoint Presentation</vt:lpstr>
      <vt:lpstr>Energy levels inside a molecule made up of three atoms </vt:lpstr>
      <vt:lpstr>PowerPoint Presentation</vt:lpstr>
      <vt:lpstr>Energy levels inside a solid made up of Avogadro number of atoms </vt:lpstr>
      <vt:lpstr>PowerPoint Presentation</vt:lpstr>
      <vt:lpstr>         Energy levels inside a solid made up of n-number of atoms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Fermi Energy? </vt:lpstr>
      <vt:lpstr>PowerPoint Presentation</vt:lpstr>
      <vt:lpstr>What is Quasi-fermi energy level? </vt:lpstr>
      <vt:lpstr>PowerPoint Presentation</vt:lpstr>
      <vt:lpstr>PowerPoint Presentation</vt:lpstr>
      <vt:lpstr>PowerPoint Presentation</vt:lpstr>
      <vt:lpstr>PowerPoint Presentation</vt:lpstr>
      <vt:lpstr> Difference Between Point Defect and Line Defect </vt:lpstr>
      <vt:lpstr>What is Point Defect? </vt:lpstr>
      <vt:lpstr>PowerPoint Presentation</vt:lpstr>
      <vt:lpstr>PowerPoint Presentation</vt:lpstr>
      <vt:lpstr>What is Line Defect? </vt:lpstr>
      <vt:lpstr>PowerPoint Presentation</vt:lpstr>
      <vt:lpstr>           IMPERFECTIONS IN SOLIDS</vt:lpstr>
      <vt:lpstr>TYPES OF IMPERFECTIONS</vt:lpstr>
      <vt:lpstr>POINT DEFECTS</vt:lpstr>
      <vt:lpstr>PowerPoint Presentation</vt:lpstr>
      <vt:lpstr>EQUIL. CONCENTRATION: POINT DEFECTS</vt:lpstr>
      <vt:lpstr>MEASURING ACTIVATION ENERGY</vt:lpstr>
      <vt:lpstr>OBSERVING EQUIL. VACANCY CONC.</vt:lpstr>
      <vt:lpstr>DEFECTS IN CERAMIC STRUCTURES</vt:lpstr>
      <vt:lpstr>POINT DEFECTS IN ALLOYS</vt:lpstr>
      <vt:lpstr>ALLOYING A SURFACE</vt:lpstr>
      <vt:lpstr>IMPURITIES</vt:lpstr>
      <vt:lpstr>COMPOSITION</vt:lpstr>
      <vt:lpstr>LINE DEFECTS</vt:lpstr>
      <vt:lpstr>PowerPoint Presentation</vt:lpstr>
      <vt:lpstr>Screw Dislocation</vt:lpstr>
      <vt:lpstr>Mixed Dislocation</vt:lpstr>
      <vt:lpstr>BOND BREAKING AND REMAKING</vt:lpstr>
      <vt:lpstr>AREA DEFECTS:  GRAIN BOUNDARIES</vt:lpstr>
      <vt:lpstr>Low angle grain boundary</vt:lpstr>
      <vt:lpstr>Volume Defects - twins</vt:lpstr>
      <vt:lpstr>Hume-Rothery rules for substitutional solids</vt:lpstr>
      <vt:lpstr>OPTICAL MICROSCOPY (1)</vt:lpstr>
      <vt:lpstr>OPTICAL MICROSCOPY (2)</vt:lpstr>
      <vt:lpstr>SCANNING TUNNELING MICROSCOPY</vt:lpstr>
      <vt:lpstr>SUMMARY</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Pc Mela</dc:creator>
  <cp:lastModifiedBy>PC-12</cp:lastModifiedBy>
  <cp:revision>91</cp:revision>
  <dcterms:created xsi:type="dcterms:W3CDTF">2020-07-13T05:34:30Z</dcterms:created>
  <dcterms:modified xsi:type="dcterms:W3CDTF">2023-03-14T03:24:37Z</dcterms:modified>
</cp:coreProperties>
</file>