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77" r:id="rId11"/>
    <p:sldId id="278" r:id="rId12"/>
    <p:sldId id="279" r:id="rId13"/>
    <p:sldId id="269" r:id="rId14"/>
    <p:sldId id="270" r:id="rId15"/>
    <p:sldId id="276" r:id="rId16"/>
    <p:sldId id="264" r:id="rId17"/>
    <p:sldId id="265" r:id="rId18"/>
    <p:sldId id="282" r:id="rId19"/>
    <p:sldId id="280" r:id="rId20"/>
    <p:sldId id="272" r:id="rId21"/>
    <p:sldId id="288" r:id="rId22"/>
    <p:sldId id="291" r:id="rId23"/>
    <p:sldId id="289" r:id="rId24"/>
    <p:sldId id="283" r:id="rId25"/>
    <p:sldId id="273" r:id="rId26"/>
    <p:sldId id="274" r:id="rId27"/>
    <p:sldId id="275" r:id="rId28"/>
    <p:sldId id="285" r:id="rId29"/>
    <p:sldId id="286" r:id="rId30"/>
    <p:sldId id="287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  <a:srgbClr val="9933FF"/>
    <a:srgbClr val="3333FF"/>
    <a:srgbClr val="FF3300"/>
    <a:srgbClr val="666633"/>
    <a:srgbClr val="669900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15C-8D7B-4614-A3F0-1420934E758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40340-D911-4446-9110-93157793D01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15C-8D7B-4614-A3F0-1420934E758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40340-D911-4446-9110-93157793D01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15C-8D7B-4614-A3F0-1420934E758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40340-D911-4446-9110-93157793D01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15C-8D7B-4614-A3F0-1420934E758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40340-D911-4446-9110-93157793D01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15C-8D7B-4614-A3F0-1420934E7582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40340-D911-4446-9110-93157793D01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15C-8D7B-4614-A3F0-1420934E758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40340-D911-4446-9110-93157793D01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15C-8D7B-4614-A3F0-1420934E758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40340-D911-4446-9110-93157793D01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15C-8D7B-4614-A3F0-1420934E758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40340-D911-4446-9110-93157793D01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15C-8D7B-4614-A3F0-1420934E758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40340-D911-4446-9110-93157793D01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15C-8D7B-4614-A3F0-1420934E758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40340-D911-4446-9110-93157793D01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15C-8D7B-4614-A3F0-1420934E758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40340-D911-4446-9110-93157793D01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A3CA215C-8D7B-4614-A3F0-1420934E7582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E7C40340-D911-4446-9110-93157793D01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en.wikipedia.org/wiki/Stoichiometric" TargetMode="External"/><Relationship Id="rId1" Type="http://schemas.openxmlformats.org/officeDocument/2006/relationships/hyperlink" Target="http://en.wikipedia.org/wiki/W%C3%BCstit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hyperlink" Target="http://en.wikipedia.org/wiki/File:Defecttypes.png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wmf"/><Relationship Id="rId1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emf"/><Relationship Id="rId1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GIF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GIF"/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21.png"/><Relationship Id="rId1" Type="http://schemas.openxmlformats.org/officeDocument/2006/relationships/image" Target="../media/image20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GIF"/><Relationship Id="rId1" Type="http://schemas.openxmlformats.org/officeDocument/2006/relationships/image" Target="../media/image22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25.GIF"/><Relationship Id="rId1" Type="http://schemas.openxmlformats.org/officeDocument/2006/relationships/image" Target="../media/image24.GI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28.wmf"/><Relationship Id="rId1" Type="http://schemas.openxmlformats.org/officeDocument/2006/relationships/oleObject" Target="../embeddings/oleObject7.bin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30.wmf"/><Relationship Id="rId1" Type="http://schemas.openxmlformats.org/officeDocument/2006/relationships/oleObject" Target="../embeddings/oleObject9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609600"/>
            <a:ext cx="7772400" cy="4572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br>
              <a:rPr lang="en-US" dirty="0" smtClean="0"/>
            </a:br>
            <a:br>
              <a:rPr lang="en-US" dirty="0" smtClean="0"/>
            </a:br>
            <a:br>
              <a:rPr lang="en-US" dirty="0" smtClean="0"/>
            </a:br>
            <a:br>
              <a:rPr lang="en-US" dirty="0" smtClean="0"/>
            </a:br>
            <a:br>
              <a:rPr lang="en-US" dirty="0" smtClean="0"/>
            </a:br>
            <a:br>
              <a:rPr lang="en-US" dirty="0" smtClean="0"/>
            </a:br>
            <a:br>
              <a:rPr lang="en-US" dirty="0" smtClean="0"/>
            </a:br>
            <a:br>
              <a:rPr lang="en-US" dirty="0" smtClean="0"/>
            </a:br>
            <a:br>
              <a:rPr lang="en-US" dirty="0" smtClean="0"/>
            </a:br>
            <a:br>
              <a:rPr lang="en-US" dirty="0" smtClean="0"/>
            </a:br>
            <a:br>
              <a:rPr lang="en-US" dirty="0" smtClean="0"/>
            </a:br>
            <a:br>
              <a:rPr lang="en-US" dirty="0" smtClean="0"/>
            </a:br>
            <a:r>
              <a:rPr lang="en-US" sz="3600" b="0" dirty="0" smtClean="0">
                <a:solidFill>
                  <a:srgbClr val="002060"/>
                </a:solidFill>
              </a:rPr>
              <a:t>Electron Deficient Compound</a:t>
            </a:r>
            <a:endParaRPr lang="en-US" sz="3600" b="0" dirty="0">
              <a:solidFill>
                <a:srgbClr val="002060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457200" y="1295400"/>
            <a:ext cx="8077200" cy="17526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algn="just"/>
            <a:endParaRPr lang="en-US" sz="3200" b="1" cap="none" dirty="0" smtClean="0">
              <a:solidFill>
                <a:srgbClr val="00B050"/>
              </a:solidFill>
              <a:latin typeface="Arial Black" panose="020B0A04020102020204" pitchFamily="34" charset="0"/>
              <a:ea typeface="Calibri" panose="020F0502020204030204"/>
            </a:endParaRPr>
          </a:p>
          <a:p>
            <a:pPr algn="just"/>
            <a:r>
              <a:rPr lang="en-US" sz="3200" b="1" cap="none" dirty="0" smtClean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/>
              </a:rPr>
              <a:t>Electron-deficient compounds are compounds in which an element has an incomplete octet.</a:t>
            </a:r>
            <a:endParaRPr lang="en-US" sz="3200" b="1" cap="none" dirty="0" smtClean="0">
              <a:solidFill>
                <a:srgbClr val="FF0000"/>
              </a:solidFill>
              <a:latin typeface="Arial Black" panose="020B0A04020102020204" pitchFamily="34" charset="0"/>
              <a:ea typeface="Calibri" panose="020F0502020204030204"/>
            </a:endParaRPr>
          </a:p>
          <a:p>
            <a:pPr algn="just"/>
            <a:r>
              <a:rPr lang="en-US" sz="3200" b="1" cap="none" dirty="0" smtClean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/>
              </a:rPr>
              <a:t>H, Be, and B, often have fewer than eight electrons in Lewis structures.  </a:t>
            </a:r>
            <a:endParaRPr lang="en-US" sz="3200" b="1" cap="none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3429000"/>
            <a:ext cx="457200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For example, BF</a:t>
            </a:r>
            <a:r>
              <a:rPr lang="en-US" b="1" baseline="-25000" dirty="0" smtClean="0">
                <a:solidFill>
                  <a:srgbClr val="00B050"/>
                </a:solidFill>
              </a:rPr>
              <a:t>3</a:t>
            </a:r>
            <a:r>
              <a:rPr lang="en-US" b="1" dirty="0" smtClean="0">
                <a:solidFill>
                  <a:srgbClr val="00B050"/>
                </a:solidFill>
              </a:rPr>
              <a:t> is an electron-deficient compound.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6" name="Picture 5" descr="http://s-owl.cengage.com/ebooks/vining_owlbook_prototype/ebook/images/book_content/08-26.jpg"/>
          <p:cNvPicPr/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562600" y="3352800"/>
            <a:ext cx="1524000" cy="8382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pic>
        <p:nvPicPr>
          <p:cNvPr id="7" name="Picture 6" descr="http://s-owl.cengage.com/ebooks/vining_owlbook_prototype/ebook/images/book_content/08-27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4572000"/>
            <a:ext cx="4038600" cy="1447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389120"/>
          </a:xfrm>
        </p:spPr>
        <p:txBody>
          <a:bodyPr/>
          <a:lstStyle/>
          <a:p>
            <a:pPr algn="just"/>
            <a:r>
              <a:rPr lang="en-US" sz="28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Non-</a:t>
            </a:r>
            <a:r>
              <a:rPr lang="en-US" sz="2800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stoichiometric</a:t>
            </a:r>
            <a:r>
              <a:rPr lang="en-US" sz="28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compounds are chemical compounds with an elemental composition that cannot be represented by a ratio of </a:t>
            </a:r>
            <a:r>
              <a:rPr lang="en-US" sz="2800" i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well-defined natural numbers</a:t>
            </a:r>
            <a:r>
              <a:rPr lang="en-US" sz="28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, and therefore violate the </a:t>
            </a:r>
            <a:r>
              <a:rPr lang="en-US" sz="2800" i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law of definite proportions. </a:t>
            </a:r>
            <a:endParaRPr lang="en-US" sz="2800" i="1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>
              <a:buNone/>
            </a:pPr>
            <a:endParaRPr lang="en-US" sz="2800" dirty="0" smtClean="0"/>
          </a:p>
          <a:p>
            <a:r>
              <a:rPr lang="en-US" sz="28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Non-</a:t>
            </a:r>
            <a:r>
              <a:rPr lang="en-US" sz="2800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stoichiometric</a:t>
            </a:r>
            <a:r>
              <a:rPr lang="en-US" sz="28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compounds are also known as </a:t>
            </a:r>
            <a:r>
              <a:rPr lang="en-US" sz="2800" i="1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berthollides</a:t>
            </a:r>
            <a:r>
              <a:rPr lang="en-US" sz="28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(as opposed to the </a:t>
            </a:r>
            <a:r>
              <a:rPr lang="en-US" sz="2800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stoichiometric</a:t>
            </a:r>
            <a:r>
              <a:rPr lang="en-US" sz="28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compounds or </a:t>
            </a:r>
            <a:r>
              <a:rPr lang="en-US" sz="2800" i="1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daltonides</a:t>
            </a:r>
            <a:r>
              <a:rPr lang="en-US" sz="28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). </a:t>
            </a:r>
            <a:endParaRPr lang="en-US" sz="2800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95400" y="838200"/>
            <a:ext cx="5917197" cy="5847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7030A0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Non-</a:t>
            </a:r>
            <a:r>
              <a:rPr lang="en-US" sz="320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7030A0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stoichiometric</a:t>
            </a:r>
            <a: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7030A0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Compounds</a:t>
            </a:r>
            <a:endParaRPr lang="en-US" sz="320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7030A0"/>
              </a:solidFill>
              <a:effectLst>
                <a:glow rad="139700">
                  <a:schemeClr val="accent6">
                    <a:satMod val="175000"/>
                    <a:alpha val="40000"/>
                  </a:schemeClr>
                </a:glow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686800" cy="5715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3600" b="1" dirty="0" smtClean="0">
                <a:latin typeface="Arial Black" panose="020B0A04020102020204" pitchFamily="34" charset="0"/>
              </a:rPr>
              <a:t>Example </a:t>
            </a:r>
            <a:endParaRPr lang="en-US" sz="3600" b="1" dirty="0" smtClean="0">
              <a:latin typeface="Arial Black" panose="020B0A04020102020204" pitchFamily="34" charset="0"/>
            </a:endParaRPr>
          </a:p>
          <a:p>
            <a:endParaRPr lang="en-US" sz="2000" b="1" dirty="0" smtClean="0">
              <a:latin typeface="Arial Black" panose="020B0A04020102020204" pitchFamily="34" charset="0"/>
            </a:endParaRPr>
          </a:p>
          <a:p>
            <a:r>
              <a:rPr lang="en-US" sz="20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Although </a:t>
            </a:r>
            <a:r>
              <a:rPr lang="en-US" sz="2000" b="1" dirty="0" err="1" smtClean="0">
                <a:solidFill>
                  <a:srgbClr val="3333FF"/>
                </a:solidFill>
                <a:latin typeface="Arial Black" panose="020B0A04020102020204" pitchFamily="34" charset="0"/>
                <a:hlinkClick r:id="rId1" tooltip="Wüstite"/>
              </a:rPr>
              <a:t>wüstite</a:t>
            </a:r>
            <a:r>
              <a:rPr lang="en-US" sz="2000" b="1" dirty="0" smtClean="0">
                <a:solidFill>
                  <a:srgbClr val="3333FF"/>
                </a:solidFill>
                <a:latin typeface="Arial Black" panose="020B0A04020102020204" pitchFamily="34" charset="0"/>
              </a:rPr>
              <a:t> </a:t>
            </a:r>
            <a:r>
              <a:rPr lang="en-US" sz="2000" b="1" dirty="0" smtClean="0">
                <a:latin typeface="Arial Black" panose="020B0A04020102020204" pitchFamily="34" charset="0"/>
              </a:rPr>
              <a:t>(ferrous oxide) has an ideal (</a:t>
            </a:r>
            <a:r>
              <a:rPr lang="en-US" sz="2000" b="1" dirty="0" err="1" smtClean="0">
                <a:latin typeface="Arial Black" panose="020B0A04020102020204" pitchFamily="34" charset="0"/>
                <a:hlinkClick r:id="rId2" tooltip="Stoichiometric"/>
              </a:rPr>
              <a:t>stoichiometric</a:t>
            </a:r>
            <a:r>
              <a:rPr lang="en-US" sz="2000" b="1" dirty="0" smtClean="0">
                <a:latin typeface="Arial Black" panose="020B0A04020102020204" pitchFamily="34" charset="0"/>
              </a:rPr>
              <a:t>) formula </a:t>
            </a:r>
            <a:r>
              <a:rPr lang="en-US" sz="2000" b="1" dirty="0" err="1" smtClean="0">
                <a:latin typeface="Arial Black" panose="020B0A04020102020204" pitchFamily="34" charset="0"/>
              </a:rPr>
              <a:t>FeO</a:t>
            </a:r>
            <a:r>
              <a:rPr lang="en-US" sz="2000" b="1" dirty="0" smtClean="0">
                <a:latin typeface="Arial Black" panose="020B0A04020102020204" pitchFamily="34" charset="0"/>
              </a:rPr>
              <a:t>, the actual </a:t>
            </a:r>
            <a:r>
              <a:rPr lang="en-US" sz="2000" b="1" dirty="0" err="1" smtClean="0">
                <a:latin typeface="Arial Black" panose="020B0A04020102020204" pitchFamily="34" charset="0"/>
              </a:rPr>
              <a:t>stoichiometry</a:t>
            </a:r>
            <a:r>
              <a:rPr lang="en-US" sz="2000" b="1" dirty="0" smtClean="0">
                <a:latin typeface="Arial Black" panose="020B0A04020102020204" pitchFamily="34" charset="0"/>
              </a:rPr>
              <a:t> is closer to Fe</a:t>
            </a:r>
            <a:r>
              <a:rPr lang="en-US" sz="2000" b="1" baseline="-25000" dirty="0" smtClean="0">
                <a:latin typeface="Arial Black" panose="020B0A04020102020204" pitchFamily="34" charset="0"/>
              </a:rPr>
              <a:t>0.95</a:t>
            </a:r>
            <a:r>
              <a:rPr lang="en-US" sz="2000" b="1" dirty="0" smtClean="0">
                <a:latin typeface="Arial Black" panose="020B0A04020102020204" pitchFamily="34" charset="0"/>
              </a:rPr>
              <a:t>O. </a:t>
            </a:r>
            <a:endParaRPr lang="en-US" sz="2000" b="1" dirty="0" smtClean="0">
              <a:latin typeface="Arial Black" panose="020B0A04020102020204" pitchFamily="34" charset="0"/>
            </a:endParaRPr>
          </a:p>
          <a:p>
            <a:endParaRPr lang="en-US" sz="2000" b="1" dirty="0" smtClean="0">
              <a:latin typeface="Arial Black" panose="020B0A04020102020204" pitchFamily="34" charset="0"/>
            </a:endParaRPr>
          </a:p>
          <a:p>
            <a:r>
              <a:rPr lang="en-US" sz="2000" b="1" dirty="0" smtClean="0">
                <a:latin typeface="Arial Black" panose="020B0A04020102020204" pitchFamily="34" charset="0"/>
              </a:rPr>
              <a:t>The non-</a:t>
            </a:r>
            <a:r>
              <a:rPr lang="en-US" sz="2000" b="1" dirty="0" err="1" smtClean="0">
                <a:latin typeface="Arial Black" panose="020B0A04020102020204" pitchFamily="34" charset="0"/>
              </a:rPr>
              <a:t>stoichiometry</a:t>
            </a:r>
            <a:r>
              <a:rPr lang="en-US" sz="2000" b="1" dirty="0" smtClean="0">
                <a:latin typeface="Arial Black" panose="020B0A04020102020204" pitchFamily="34" charset="0"/>
              </a:rPr>
              <a:t> occurs because of the ease of oxidation of </a:t>
            </a:r>
            <a:r>
              <a:rPr lang="en-US" sz="2000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Fe</a:t>
            </a:r>
            <a:r>
              <a:rPr lang="en-US" sz="2000" b="1" baseline="30000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2+</a:t>
            </a:r>
            <a:r>
              <a:rPr lang="en-US" sz="2000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to Fe</a:t>
            </a:r>
            <a:r>
              <a:rPr lang="en-US" sz="2000" b="1" baseline="30000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3+</a:t>
            </a:r>
            <a:endParaRPr lang="en-US" sz="2000" b="1" dirty="0" smtClean="0">
              <a:solidFill>
                <a:srgbClr val="7030A0"/>
              </a:solidFill>
              <a:latin typeface="Arial Black" panose="020B0A04020102020204" pitchFamily="34" charset="0"/>
            </a:endParaRPr>
          </a:p>
          <a:p>
            <a:endParaRPr lang="en-US" sz="2000" b="1" dirty="0" smtClean="0">
              <a:latin typeface="Arial Black" panose="020B0A04020102020204" pitchFamily="34" charset="0"/>
            </a:endParaRPr>
          </a:p>
          <a:p>
            <a:r>
              <a:rPr lang="en-US" sz="2000" b="1" dirty="0" smtClean="0">
                <a:latin typeface="Arial Black" panose="020B0A04020102020204" pitchFamily="34" charset="0"/>
              </a:rPr>
              <a:t>Thus for </a:t>
            </a:r>
            <a:r>
              <a:rPr lang="en-US" sz="2000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every three "missing" Fe</a:t>
            </a:r>
            <a:r>
              <a:rPr lang="en-US" sz="2000" b="1" baseline="30000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2+</a:t>
            </a:r>
            <a:r>
              <a:rPr lang="en-US" sz="2000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ions</a:t>
            </a:r>
            <a:r>
              <a:rPr lang="en-US" sz="2000" b="1" dirty="0" smtClean="0">
                <a:latin typeface="Arial Black" panose="020B0A04020102020204" pitchFamily="34" charset="0"/>
              </a:rPr>
              <a:t>, the crystal contains </a:t>
            </a:r>
            <a:r>
              <a:rPr lang="en-US" sz="2000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two Fe</a:t>
            </a:r>
            <a:r>
              <a:rPr lang="en-US" sz="2000" b="1" baseline="30000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3+</a:t>
            </a:r>
            <a:r>
              <a:rPr lang="en-US" sz="2000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sz="2000" b="1" dirty="0" smtClean="0">
                <a:latin typeface="Arial Black" panose="020B0A04020102020204" pitchFamily="34" charset="0"/>
              </a:rPr>
              <a:t>ions to balance the charge. </a:t>
            </a:r>
            <a:endParaRPr lang="en-US" sz="2000" b="1" dirty="0" smtClean="0">
              <a:latin typeface="Arial Black" panose="020B0A04020102020204" pitchFamily="34" charset="0"/>
            </a:endParaRPr>
          </a:p>
          <a:p>
            <a:endParaRPr lang="en-US" sz="2000" b="1" dirty="0" smtClean="0">
              <a:latin typeface="Arial Black" panose="020B0A04020102020204" pitchFamily="34" charset="0"/>
            </a:endParaRPr>
          </a:p>
          <a:p>
            <a:r>
              <a:rPr lang="en-US" sz="2000" b="1" dirty="0" smtClean="0">
                <a:latin typeface="Arial Black" panose="020B0A04020102020204" pitchFamily="34" charset="0"/>
              </a:rPr>
              <a:t>Thus, the formula for </a:t>
            </a:r>
            <a:r>
              <a:rPr lang="en-US" sz="2000" b="1" dirty="0" err="1" smtClean="0">
                <a:latin typeface="Arial Black" panose="020B0A04020102020204" pitchFamily="34" charset="0"/>
              </a:rPr>
              <a:t>wüstite</a:t>
            </a:r>
            <a:r>
              <a:rPr lang="en-US" sz="2000" b="1" dirty="0" smtClean="0">
                <a:latin typeface="Arial Black" panose="020B0A04020102020204" pitchFamily="34" charset="0"/>
              </a:rPr>
              <a:t> is written as </a:t>
            </a:r>
            <a:r>
              <a:rPr lang="en-US" sz="2000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Fe</a:t>
            </a:r>
            <a:r>
              <a:rPr lang="en-US" sz="2000" b="1" baseline="-25000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1-x</a:t>
            </a:r>
            <a:r>
              <a:rPr lang="en-US" sz="2000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O,</a:t>
            </a:r>
            <a:r>
              <a:rPr lang="en-US" sz="2000" b="1" dirty="0" smtClean="0">
                <a:latin typeface="Arial Black" panose="020B0A04020102020204" pitchFamily="34" charset="0"/>
              </a:rPr>
              <a:t>  where </a:t>
            </a:r>
            <a:r>
              <a:rPr lang="en-US" sz="2000" b="1" i="1" dirty="0" smtClean="0">
                <a:latin typeface="Arial Black" panose="020B0A04020102020204" pitchFamily="34" charset="0"/>
              </a:rPr>
              <a:t>x</a:t>
            </a:r>
            <a:r>
              <a:rPr lang="en-US" sz="2000" b="1" dirty="0" smtClean="0">
                <a:latin typeface="Arial Black" panose="020B0A04020102020204" pitchFamily="34" charset="0"/>
              </a:rPr>
              <a:t> is a small number (0.05 in the previous example) representing the deviation </a:t>
            </a:r>
            <a:r>
              <a:rPr lang="en-US" sz="2000" b="1" dirty="0" smtClean="0">
                <a:latin typeface="Arial Narrow" panose="020B0606020202030204" pitchFamily="34" charset="0"/>
              </a:rPr>
              <a:t>from the </a:t>
            </a:r>
            <a:r>
              <a:rPr lang="en-US" sz="2000" b="1" dirty="0" smtClean="0">
                <a:solidFill>
                  <a:srgbClr val="7030A0"/>
                </a:solidFill>
                <a:latin typeface="Arial Narrow" panose="020B0606020202030204" pitchFamily="34" charset="0"/>
              </a:rPr>
              <a:t>"ideal" formula. </a:t>
            </a:r>
            <a:endParaRPr lang="en-US" sz="2000" b="1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://upload.wikimedia.org/wikipedia/commons/thumb/f/fe/Defecttypes.png/350px-Defecttypes.png">
            <a:hlinkClick r:id="rId1"/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57200"/>
            <a:ext cx="6553200" cy="5029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pic>
      <p:sp>
        <p:nvSpPr>
          <p:cNvPr id="69633" name="Rectangle 1"/>
          <p:cNvSpPr>
            <a:spLocks noChangeArrowheads="1"/>
          </p:cNvSpPr>
          <p:nvPr/>
        </p:nvSpPr>
        <p:spPr bwMode="auto">
          <a:xfrm>
            <a:off x="304800" y="5943600"/>
            <a:ext cx="8356839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400" b="0" i="0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Crystallographic defects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 cause solids to be non-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stoichiometric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295400"/>
            <a:ext cx="8382000" cy="457200"/>
          </a:xfrm>
        </p:spPr>
        <p:txBody>
          <a:bodyPr>
            <a:noAutofit/>
          </a:bodyPr>
          <a:lstStyle/>
          <a:p>
            <a:pPr algn="ctr"/>
            <a:r>
              <a:rPr lang="en-US" sz="2800" dirty="0" smtClean="0">
                <a:solidFill>
                  <a:srgbClr val="7030A0"/>
                </a:solidFill>
              </a:rPr>
              <a:t>Alfred Stock established </a:t>
            </a:r>
            <a:r>
              <a:rPr lang="en-US" sz="2800" dirty="0" err="1" smtClean="0">
                <a:solidFill>
                  <a:srgbClr val="7030A0"/>
                </a:solidFill>
              </a:rPr>
              <a:t>borane</a:t>
            </a:r>
            <a:r>
              <a:rPr lang="en-US" sz="2800" dirty="0" smtClean="0">
                <a:solidFill>
                  <a:srgbClr val="7030A0"/>
                </a:solidFill>
              </a:rPr>
              <a:t> Chemistry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19200" y="381000"/>
            <a:ext cx="7084247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3333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rPr>
              <a:t>Boron Hydride or </a:t>
            </a:r>
            <a:r>
              <a:rPr lang="en-US" sz="4000" b="1" dirty="0" err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3333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rPr>
              <a:t>Borane</a:t>
            </a:r>
            <a:endParaRPr lang="en-US" sz="4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3333FF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" y="1905000"/>
            <a:ext cx="856356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3333FF"/>
                </a:solidFill>
              </a:rPr>
              <a:t>The compounds of Boron with Hydrogen is called </a:t>
            </a:r>
            <a:endParaRPr lang="en-US" sz="2800" b="1" dirty="0" smtClean="0">
              <a:solidFill>
                <a:srgbClr val="3333FF"/>
              </a:solidFill>
            </a:endParaRPr>
          </a:p>
          <a:p>
            <a:r>
              <a:rPr lang="en-US" sz="2800" b="1" dirty="0" smtClean="0">
                <a:solidFill>
                  <a:srgbClr val="3333FF"/>
                </a:solidFill>
              </a:rPr>
              <a:t>Boron hydride or </a:t>
            </a:r>
            <a:r>
              <a:rPr lang="en-US" sz="2800" b="1" dirty="0" err="1" smtClean="0">
                <a:solidFill>
                  <a:srgbClr val="3333FF"/>
                </a:solidFill>
              </a:rPr>
              <a:t>Borane</a:t>
            </a:r>
            <a:r>
              <a:rPr lang="en-US" sz="2800" b="1" dirty="0" smtClean="0">
                <a:solidFill>
                  <a:srgbClr val="3333FF"/>
                </a:solidFill>
              </a:rPr>
              <a:t>.</a:t>
            </a:r>
            <a:endParaRPr lang="en-US" sz="2800" b="1" dirty="0" smtClean="0">
              <a:solidFill>
                <a:srgbClr val="3333FF"/>
              </a:solidFill>
            </a:endParaRPr>
          </a:p>
          <a:p>
            <a:endParaRPr lang="en-US" sz="2800" b="1" dirty="0" smtClean="0">
              <a:solidFill>
                <a:srgbClr val="3333FF"/>
              </a:solidFill>
            </a:endParaRPr>
          </a:p>
          <a:p>
            <a:pPr algn="ctr"/>
            <a:r>
              <a:rPr lang="en-US" sz="2800" b="1" dirty="0" smtClean="0">
                <a:solidFill>
                  <a:srgbClr val="3333FF"/>
                </a:solidFill>
              </a:rPr>
              <a:t>B + H = </a:t>
            </a:r>
            <a:r>
              <a:rPr lang="en-US" sz="2800" b="1" dirty="0" err="1" smtClean="0">
                <a:solidFill>
                  <a:srgbClr val="3333FF"/>
                </a:solidFill>
              </a:rPr>
              <a:t>Borane</a:t>
            </a:r>
            <a:endParaRPr lang="en-US" sz="2800" b="1" dirty="0" smtClean="0">
              <a:solidFill>
                <a:srgbClr val="3333FF"/>
              </a:solidFill>
            </a:endParaRPr>
          </a:p>
          <a:p>
            <a:r>
              <a:rPr lang="en-US" sz="2800" b="1" dirty="0" smtClean="0">
                <a:solidFill>
                  <a:srgbClr val="3333FF"/>
                </a:solidFill>
              </a:rPr>
              <a:t>Two Classes: </a:t>
            </a:r>
            <a:endParaRPr lang="en-US" sz="2800" b="1" dirty="0" smtClean="0">
              <a:solidFill>
                <a:srgbClr val="3333FF"/>
              </a:solidFill>
            </a:endParaRPr>
          </a:p>
          <a:p>
            <a:endParaRPr lang="en-US" sz="2800" b="1" dirty="0" smtClean="0">
              <a:solidFill>
                <a:srgbClr val="3333FF"/>
              </a:solidFill>
            </a:endParaRPr>
          </a:p>
          <a:p>
            <a:pPr marL="514350" indent="-514350">
              <a:buAutoNum type="arabicPeriod"/>
            </a:pPr>
            <a:r>
              <a:rPr lang="en-US" sz="2800" b="1" dirty="0" err="1" smtClean="0">
                <a:solidFill>
                  <a:srgbClr val="3333FF"/>
                </a:solidFill>
              </a:rPr>
              <a:t>B</a:t>
            </a:r>
            <a:r>
              <a:rPr lang="en-US" sz="2800" b="1" baseline="-25000" dirty="0" err="1" smtClean="0">
                <a:solidFill>
                  <a:srgbClr val="3333FF"/>
                </a:solidFill>
              </a:rPr>
              <a:t>n</a:t>
            </a:r>
            <a:r>
              <a:rPr lang="en-US" sz="2800" b="1" dirty="0" err="1" smtClean="0">
                <a:solidFill>
                  <a:srgbClr val="3333FF"/>
                </a:solidFill>
              </a:rPr>
              <a:t>H</a:t>
            </a:r>
            <a:r>
              <a:rPr lang="en-US" sz="2800" b="1" baseline="-25000" dirty="0" smtClean="0">
                <a:solidFill>
                  <a:srgbClr val="3333FF"/>
                </a:solidFill>
              </a:rPr>
              <a:t>(n+4)- </a:t>
            </a:r>
            <a:r>
              <a:rPr lang="en-US" sz="2800" b="1" dirty="0" err="1" smtClean="0">
                <a:solidFill>
                  <a:srgbClr val="3333FF"/>
                </a:solidFill>
              </a:rPr>
              <a:t>Nido</a:t>
            </a:r>
            <a:r>
              <a:rPr lang="en-US" sz="2800" b="1" dirty="0" smtClean="0">
                <a:solidFill>
                  <a:srgbClr val="3333FF"/>
                </a:solidFill>
              </a:rPr>
              <a:t> - </a:t>
            </a:r>
            <a:r>
              <a:rPr lang="en-US" sz="2800" b="1" dirty="0" err="1" smtClean="0">
                <a:solidFill>
                  <a:srgbClr val="3333FF"/>
                </a:solidFill>
              </a:rPr>
              <a:t>borane</a:t>
            </a:r>
            <a:endParaRPr lang="en-US" sz="2800" b="1" dirty="0" smtClean="0">
              <a:solidFill>
                <a:srgbClr val="3333FF"/>
              </a:solidFill>
            </a:endParaRPr>
          </a:p>
          <a:p>
            <a:pPr marL="514350" indent="-514350">
              <a:buAutoNum type="arabicPeriod"/>
            </a:pPr>
            <a:r>
              <a:rPr lang="en-US" sz="2800" b="1" dirty="0" err="1" smtClean="0">
                <a:solidFill>
                  <a:srgbClr val="3333FF"/>
                </a:solidFill>
              </a:rPr>
              <a:t>B</a:t>
            </a:r>
            <a:r>
              <a:rPr lang="en-US" sz="2800" b="1" baseline="-25000" dirty="0" err="1" smtClean="0">
                <a:solidFill>
                  <a:srgbClr val="3333FF"/>
                </a:solidFill>
              </a:rPr>
              <a:t>n</a:t>
            </a:r>
            <a:r>
              <a:rPr lang="en-US" sz="2800" b="1" dirty="0" err="1" smtClean="0">
                <a:solidFill>
                  <a:srgbClr val="3333FF"/>
                </a:solidFill>
              </a:rPr>
              <a:t>H</a:t>
            </a:r>
            <a:r>
              <a:rPr lang="en-US" sz="2800" b="1" baseline="-25000" dirty="0" smtClean="0">
                <a:solidFill>
                  <a:srgbClr val="3333FF"/>
                </a:solidFill>
              </a:rPr>
              <a:t>(n+6)- </a:t>
            </a:r>
            <a:r>
              <a:rPr lang="en-US" sz="2800" b="1" dirty="0" err="1" smtClean="0">
                <a:solidFill>
                  <a:srgbClr val="3333FF"/>
                </a:solidFill>
              </a:rPr>
              <a:t>Arachno</a:t>
            </a:r>
            <a:r>
              <a:rPr lang="en-US" sz="2800" b="1" dirty="0" smtClean="0">
                <a:solidFill>
                  <a:srgbClr val="3333FF"/>
                </a:solidFill>
              </a:rPr>
              <a:t> -</a:t>
            </a:r>
            <a:r>
              <a:rPr lang="en-US" sz="2800" b="1" dirty="0" err="1" smtClean="0">
                <a:solidFill>
                  <a:srgbClr val="3333FF"/>
                </a:solidFill>
              </a:rPr>
              <a:t>borane</a:t>
            </a:r>
            <a:r>
              <a:rPr lang="en-US" sz="2800" b="1" dirty="0" smtClean="0">
                <a:solidFill>
                  <a:srgbClr val="3333FF"/>
                </a:solidFill>
              </a:rPr>
              <a:t> </a:t>
            </a:r>
            <a:endParaRPr lang="en-US" sz="2800" b="1" dirty="0">
              <a:solidFill>
                <a:srgbClr val="3333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381000"/>
            <a:ext cx="7239000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C00000"/>
                </a:solidFill>
              </a:rPr>
              <a:t>Examples</a:t>
            </a:r>
            <a:endParaRPr lang="en-US" sz="4800" b="1" dirty="0" smtClean="0">
              <a:solidFill>
                <a:srgbClr val="C00000"/>
              </a:solidFill>
            </a:endParaRPr>
          </a:p>
          <a:p>
            <a:r>
              <a:rPr lang="en-US" sz="3200" u="sng" dirty="0" err="1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Nido</a:t>
            </a:r>
            <a:endParaRPr lang="en-US" sz="3200" u="sng" dirty="0" smtClean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endParaRPr lang="en-US" sz="1600" dirty="0" smtClean="0">
              <a:latin typeface="Arial Black" panose="020B0A04020102020204" pitchFamily="34" charset="0"/>
            </a:endParaRPr>
          </a:p>
          <a:p>
            <a:r>
              <a:rPr lang="en-US" dirty="0" smtClean="0">
                <a:latin typeface="Arial Black" panose="020B0A04020102020204" pitchFamily="34" charset="0"/>
              </a:rPr>
              <a:t>B</a:t>
            </a:r>
            <a:r>
              <a:rPr lang="en-US" sz="2800" baseline="-25000" dirty="0" smtClean="0">
                <a:latin typeface="Arial Black" panose="020B0A04020102020204" pitchFamily="34" charset="0"/>
              </a:rPr>
              <a:t>2</a:t>
            </a:r>
            <a:r>
              <a:rPr lang="en-US" dirty="0" smtClean="0">
                <a:latin typeface="Arial Black" panose="020B0A04020102020204" pitchFamily="34" charset="0"/>
              </a:rPr>
              <a:t>H</a:t>
            </a:r>
            <a:r>
              <a:rPr lang="en-US" sz="2000" baseline="-25000" dirty="0" smtClean="0">
                <a:latin typeface="Arial Black" panose="020B0A04020102020204" pitchFamily="34" charset="0"/>
              </a:rPr>
              <a:t>6  </a:t>
            </a:r>
            <a:r>
              <a:rPr lang="en-US" sz="2000" dirty="0" smtClean="0">
                <a:latin typeface="Arial Black" panose="020B0A04020102020204" pitchFamily="34" charset="0"/>
              </a:rPr>
              <a:t>- </a:t>
            </a:r>
            <a:r>
              <a:rPr lang="en-US" sz="2000" dirty="0" err="1" smtClean="0">
                <a:latin typeface="Arial Black" panose="020B0A04020102020204" pitchFamily="34" charset="0"/>
              </a:rPr>
              <a:t>Diborane</a:t>
            </a:r>
            <a:endParaRPr lang="en-US" dirty="0" smtClean="0">
              <a:latin typeface="Arial Black" panose="020B0A04020102020204" pitchFamily="34" charset="0"/>
            </a:endParaRPr>
          </a:p>
          <a:p>
            <a:r>
              <a:rPr lang="en-US" dirty="0" smtClean="0">
                <a:latin typeface="Arial Black" panose="020B0A04020102020204" pitchFamily="34" charset="0"/>
              </a:rPr>
              <a:t>B</a:t>
            </a:r>
            <a:r>
              <a:rPr lang="en-US" sz="1400" dirty="0" smtClean="0">
                <a:latin typeface="Arial Black" panose="020B0A04020102020204" pitchFamily="34" charset="0"/>
              </a:rPr>
              <a:t>5</a:t>
            </a:r>
            <a:r>
              <a:rPr lang="en-US" dirty="0" smtClean="0">
                <a:latin typeface="Arial Black" panose="020B0A04020102020204" pitchFamily="34" charset="0"/>
              </a:rPr>
              <a:t>H</a:t>
            </a:r>
            <a:r>
              <a:rPr lang="en-US" sz="1400" dirty="0" smtClean="0">
                <a:latin typeface="Arial Black" panose="020B0A04020102020204" pitchFamily="34" charset="0"/>
              </a:rPr>
              <a:t>9    </a:t>
            </a:r>
            <a:r>
              <a:rPr lang="en-US" sz="2000" dirty="0" smtClean="0">
                <a:latin typeface="Arial Black" panose="020B0A04020102020204" pitchFamily="34" charset="0"/>
              </a:rPr>
              <a:t>- </a:t>
            </a:r>
            <a:r>
              <a:rPr lang="en-US" sz="2000" dirty="0" err="1" smtClean="0">
                <a:latin typeface="Arial Black" panose="020B0A04020102020204" pitchFamily="34" charset="0"/>
              </a:rPr>
              <a:t>Pentaborane</a:t>
            </a:r>
            <a:r>
              <a:rPr lang="en-US" sz="2000" dirty="0" smtClean="0">
                <a:latin typeface="Arial Black" panose="020B0A04020102020204" pitchFamily="34" charset="0"/>
              </a:rPr>
              <a:t> -9</a:t>
            </a:r>
            <a:endParaRPr lang="en-US" dirty="0" smtClean="0">
              <a:latin typeface="Arial Black" panose="020B0A04020102020204" pitchFamily="34" charset="0"/>
            </a:endParaRPr>
          </a:p>
          <a:p>
            <a:r>
              <a:rPr lang="en-US" dirty="0" smtClean="0">
                <a:latin typeface="Arial Black" panose="020B0A04020102020204" pitchFamily="34" charset="0"/>
              </a:rPr>
              <a:t>B</a:t>
            </a:r>
            <a:r>
              <a:rPr lang="en-US" sz="2000" baseline="-25000" dirty="0" smtClean="0">
                <a:latin typeface="Arial Black" panose="020B0A04020102020204" pitchFamily="34" charset="0"/>
              </a:rPr>
              <a:t>6</a:t>
            </a:r>
            <a:r>
              <a:rPr lang="en-US" dirty="0" smtClean="0">
                <a:latin typeface="Arial Black" panose="020B0A04020102020204" pitchFamily="34" charset="0"/>
              </a:rPr>
              <a:t>H</a:t>
            </a:r>
            <a:r>
              <a:rPr lang="en-US" sz="2400" baseline="-25000" dirty="0" smtClean="0">
                <a:latin typeface="Arial Black" panose="020B0A04020102020204" pitchFamily="34" charset="0"/>
              </a:rPr>
              <a:t>10   - </a:t>
            </a:r>
            <a:r>
              <a:rPr lang="en-US" sz="2000" dirty="0" smtClean="0">
                <a:latin typeface="Arial Black" panose="020B0A04020102020204" pitchFamily="34" charset="0"/>
              </a:rPr>
              <a:t>Hexaborane-10</a:t>
            </a:r>
            <a:endParaRPr lang="en-US" sz="2400" dirty="0" smtClean="0">
              <a:latin typeface="Arial Black" panose="020B0A04020102020204" pitchFamily="34" charset="0"/>
            </a:endParaRPr>
          </a:p>
          <a:p>
            <a:r>
              <a:rPr lang="en-US" sz="2400" dirty="0" smtClean="0">
                <a:latin typeface="Arial Black" panose="020B0A04020102020204" pitchFamily="34" charset="0"/>
              </a:rPr>
              <a:t>B</a:t>
            </a:r>
            <a:r>
              <a:rPr lang="en-US" sz="2400" baseline="-25000" dirty="0" smtClean="0">
                <a:latin typeface="Arial Black" panose="020B0A04020102020204" pitchFamily="34" charset="0"/>
              </a:rPr>
              <a:t>8</a:t>
            </a:r>
            <a:r>
              <a:rPr lang="en-US" sz="2400" dirty="0" smtClean="0">
                <a:latin typeface="Arial Black" panose="020B0A04020102020204" pitchFamily="34" charset="0"/>
              </a:rPr>
              <a:t>H</a:t>
            </a:r>
            <a:r>
              <a:rPr lang="en-US" sz="2400" baseline="-25000" dirty="0" smtClean="0">
                <a:latin typeface="Arial Black" panose="020B0A04020102020204" pitchFamily="34" charset="0"/>
              </a:rPr>
              <a:t>12  - </a:t>
            </a:r>
            <a:r>
              <a:rPr lang="en-US" sz="2000" dirty="0" err="1" smtClean="0">
                <a:latin typeface="Arial Black" panose="020B0A04020102020204" pitchFamily="34" charset="0"/>
              </a:rPr>
              <a:t>Octaborane</a:t>
            </a:r>
            <a:r>
              <a:rPr lang="en-US" sz="2000" dirty="0" smtClean="0">
                <a:latin typeface="Arial Black" panose="020B0A04020102020204" pitchFamily="34" charset="0"/>
              </a:rPr>
              <a:t>- 12 </a:t>
            </a:r>
            <a:endParaRPr lang="en-US" sz="2400" dirty="0" smtClean="0">
              <a:latin typeface="Arial Black" panose="020B0A04020102020204" pitchFamily="34" charset="0"/>
            </a:endParaRPr>
          </a:p>
          <a:p>
            <a:r>
              <a:rPr lang="en-US" dirty="0" smtClean="0">
                <a:latin typeface="Arial Black" panose="020B0A04020102020204" pitchFamily="34" charset="0"/>
              </a:rPr>
              <a:t>B</a:t>
            </a:r>
            <a:r>
              <a:rPr lang="en-US" sz="2400" baseline="-25000" dirty="0" smtClean="0">
                <a:latin typeface="Arial Black" panose="020B0A04020102020204" pitchFamily="34" charset="0"/>
              </a:rPr>
              <a:t>10</a:t>
            </a:r>
            <a:r>
              <a:rPr lang="en-US" dirty="0" smtClean="0">
                <a:latin typeface="Arial Black" panose="020B0A04020102020204" pitchFamily="34" charset="0"/>
              </a:rPr>
              <a:t>H</a:t>
            </a:r>
            <a:r>
              <a:rPr lang="en-US" sz="2400" baseline="-25000" dirty="0" smtClean="0">
                <a:latin typeface="Arial Black" panose="020B0A04020102020204" pitchFamily="34" charset="0"/>
              </a:rPr>
              <a:t>14 </a:t>
            </a:r>
            <a:r>
              <a:rPr lang="en-US" sz="2400" dirty="0" smtClean="0">
                <a:latin typeface="Arial Black" panose="020B0A04020102020204" pitchFamily="34" charset="0"/>
              </a:rPr>
              <a:t> - </a:t>
            </a:r>
            <a:r>
              <a:rPr lang="en-US" sz="2000" dirty="0" err="1" smtClean="0">
                <a:latin typeface="Arial Black" panose="020B0A04020102020204" pitchFamily="34" charset="0"/>
              </a:rPr>
              <a:t>Decaborane</a:t>
            </a:r>
            <a:r>
              <a:rPr lang="en-US" sz="2000" dirty="0" smtClean="0">
                <a:latin typeface="Arial Black" panose="020B0A04020102020204" pitchFamily="34" charset="0"/>
              </a:rPr>
              <a:t> </a:t>
            </a:r>
            <a:endParaRPr lang="en-US" baseline="-25000" dirty="0" smtClean="0">
              <a:latin typeface="Arial Black" panose="020B0A04020102020204" pitchFamily="34" charset="0"/>
            </a:endParaRPr>
          </a:p>
          <a:p>
            <a:endParaRPr lang="en-US" sz="1600" dirty="0" smtClean="0">
              <a:latin typeface="Arial Black" panose="020B0A04020102020204" pitchFamily="34" charset="0"/>
            </a:endParaRPr>
          </a:p>
          <a:p>
            <a:r>
              <a:rPr lang="en-US" sz="3200" u="sng" dirty="0" err="1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Arachno</a:t>
            </a:r>
            <a:endParaRPr lang="en-US" sz="3200" u="sng" dirty="0" smtClean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endParaRPr lang="en-US" sz="1600" u="sng" dirty="0" smtClean="0">
              <a:latin typeface="Arial Black" panose="020B0A04020102020204" pitchFamily="34" charset="0"/>
            </a:endParaRPr>
          </a:p>
          <a:p>
            <a:r>
              <a:rPr lang="en-US" dirty="0" smtClean="0">
                <a:latin typeface="Arial Black" panose="020B0A04020102020204" pitchFamily="34" charset="0"/>
              </a:rPr>
              <a:t>B</a:t>
            </a:r>
            <a:r>
              <a:rPr lang="en-US" sz="2400" baseline="-25000" dirty="0" smtClean="0">
                <a:latin typeface="Arial Black" panose="020B0A04020102020204" pitchFamily="34" charset="0"/>
              </a:rPr>
              <a:t>4</a:t>
            </a:r>
            <a:r>
              <a:rPr lang="en-US" dirty="0" smtClean="0">
                <a:latin typeface="Arial Black" panose="020B0A04020102020204" pitchFamily="34" charset="0"/>
              </a:rPr>
              <a:t>H</a:t>
            </a:r>
            <a:r>
              <a:rPr lang="en-US" sz="2400" baseline="-25000" dirty="0" smtClean="0">
                <a:latin typeface="Arial Black" panose="020B0A04020102020204" pitchFamily="34" charset="0"/>
              </a:rPr>
              <a:t>10</a:t>
            </a:r>
            <a:r>
              <a:rPr lang="en-US" sz="2400" dirty="0" smtClean="0">
                <a:latin typeface="Arial Black" panose="020B0A04020102020204" pitchFamily="34" charset="0"/>
              </a:rPr>
              <a:t> - </a:t>
            </a:r>
            <a:r>
              <a:rPr lang="en-US" sz="2000" dirty="0" err="1" smtClean="0">
                <a:latin typeface="Arial Black" panose="020B0A04020102020204" pitchFamily="34" charset="0"/>
              </a:rPr>
              <a:t>Tetraborane</a:t>
            </a:r>
            <a:endParaRPr lang="en-US" baseline="-25000" dirty="0" smtClean="0">
              <a:latin typeface="Arial Black" panose="020B0A04020102020204" pitchFamily="34" charset="0"/>
            </a:endParaRPr>
          </a:p>
          <a:p>
            <a:r>
              <a:rPr lang="en-US" dirty="0" smtClean="0">
                <a:latin typeface="Arial Black" panose="020B0A04020102020204" pitchFamily="34" charset="0"/>
              </a:rPr>
              <a:t>B</a:t>
            </a:r>
            <a:r>
              <a:rPr lang="en-US" sz="2400" baseline="-25000" dirty="0" smtClean="0">
                <a:latin typeface="Arial Black" panose="020B0A04020102020204" pitchFamily="34" charset="0"/>
              </a:rPr>
              <a:t>5</a:t>
            </a:r>
            <a:r>
              <a:rPr lang="en-US" dirty="0" smtClean="0">
                <a:latin typeface="Arial Black" panose="020B0A04020102020204" pitchFamily="34" charset="0"/>
              </a:rPr>
              <a:t>H</a:t>
            </a:r>
            <a:r>
              <a:rPr lang="en-US" sz="2400" baseline="-25000" dirty="0" smtClean="0">
                <a:latin typeface="Arial Black" panose="020B0A04020102020204" pitchFamily="34" charset="0"/>
              </a:rPr>
              <a:t>11</a:t>
            </a:r>
            <a:r>
              <a:rPr lang="en-US" sz="2400" dirty="0" smtClean="0">
                <a:latin typeface="Arial Black" panose="020B0A04020102020204" pitchFamily="34" charset="0"/>
              </a:rPr>
              <a:t> – </a:t>
            </a:r>
            <a:r>
              <a:rPr lang="en-US" sz="2000" dirty="0" err="1" smtClean="0">
                <a:latin typeface="Arial Black" panose="020B0A04020102020204" pitchFamily="34" charset="0"/>
              </a:rPr>
              <a:t>Pentaborane</a:t>
            </a:r>
            <a:r>
              <a:rPr lang="en-US" sz="2000" dirty="0" smtClean="0">
                <a:latin typeface="Arial Black" panose="020B0A04020102020204" pitchFamily="34" charset="0"/>
              </a:rPr>
              <a:t> -11</a:t>
            </a:r>
            <a:endParaRPr lang="en-US" baseline="-25000" dirty="0" smtClean="0">
              <a:latin typeface="Arial Black" panose="020B0A04020102020204" pitchFamily="34" charset="0"/>
            </a:endParaRPr>
          </a:p>
          <a:p>
            <a:r>
              <a:rPr lang="en-US" dirty="0" smtClean="0">
                <a:latin typeface="Arial Black" panose="020B0A04020102020204" pitchFamily="34" charset="0"/>
              </a:rPr>
              <a:t>B</a:t>
            </a:r>
            <a:r>
              <a:rPr lang="en-US" sz="2400" baseline="-25000" dirty="0" smtClean="0">
                <a:latin typeface="Arial Black" panose="020B0A04020102020204" pitchFamily="34" charset="0"/>
              </a:rPr>
              <a:t>6</a:t>
            </a:r>
            <a:r>
              <a:rPr lang="en-US" dirty="0" smtClean="0">
                <a:latin typeface="Arial Black" panose="020B0A04020102020204" pitchFamily="34" charset="0"/>
              </a:rPr>
              <a:t>H</a:t>
            </a:r>
            <a:r>
              <a:rPr lang="en-US" sz="2400" baseline="-25000" dirty="0" smtClean="0">
                <a:latin typeface="Arial Black" panose="020B0A04020102020204" pitchFamily="34" charset="0"/>
              </a:rPr>
              <a:t>12</a:t>
            </a:r>
            <a:r>
              <a:rPr lang="en-US" sz="2400" dirty="0" smtClean="0">
                <a:latin typeface="Arial Black" panose="020B0A04020102020204" pitchFamily="34" charset="0"/>
              </a:rPr>
              <a:t>- </a:t>
            </a:r>
            <a:r>
              <a:rPr lang="en-US" sz="2000" dirty="0" smtClean="0">
                <a:latin typeface="Arial Black" panose="020B0A04020102020204" pitchFamily="34" charset="0"/>
              </a:rPr>
              <a:t>Hexaborane-12</a:t>
            </a:r>
            <a:endParaRPr lang="en-US" baseline="-25000" dirty="0" smtClean="0">
              <a:latin typeface="Arial Black" panose="020B0A04020102020204" pitchFamily="34" charset="0"/>
            </a:endParaRPr>
          </a:p>
          <a:p>
            <a:r>
              <a:rPr lang="en-US" dirty="0" smtClean="0">
                <a:latin typeface="Arial Black" panose="020B0A04020102020204" pitchFamily="34" charset="0"/>
              </a:rPr>
              <a:t>B</a:t>
            </a:r>
            <a:r>
              <a:rPr lang="en-US" sz="2400" baseline="-25000" dirty="0" smtClean="0">
                <a:latin typeface="Arial Black" panose="020B0A04020102020204" pitchFamily="34" charset="0"/>
              </a:rPr>
              <a:t>8</a:t>
            </a:r>
            <a:r>
              <a:rPr lang="en-US" dirty="0" smtClean="0">
                <a:latin typeface="Arial Black" panose="020B0A04020102020204" pitchFamily="34" charset="0"/>
              </a:rPr>
              <a:t>H</a:t>
            </a:r>
            <a:r>
              <a:rPr lang="en-US" sz="2400" baseline="-25000" dirty="0" smtClean="0">
                <a:latin typeface="Arial Black" panose="020B0A04020102020204" pitchFamily="34" charset="0"/>
              </a:rPr>
              <a:t>14</a:t>
            </a:r>
            <a:r>
              <a:rPr lang="en-US" sz="2400" dirty="0" smtClean="0">
                <a:latin typeface="Arial Black" panose="020B0A04020102020204" pitchFamily="34" charset="0"/>
              </a:rPr>
              <a:t> –</a:t>
            </a:r>
            <a:r>
              <a:rPr lang="en-US" sz="2000" dirty="0" smtClean="0">
                <a:latin typeface="Arial Black" panose="020B0A04020102020204" pitchFamily="34" charset="0"/>
              </a:rPr>
              <a:t>Octaborane-14</a:t>
            </a:r>
            <a:endParaRPr lang="en-US" baseline="-25000" dirty="0" smtClean="0">
              <a:latin typeface="Arial Black" panose="020B0A04020102020204" pitchFamily="34" charset="0"/>
            </a:endParaRPr>
          </a:p>
          <a:p>
            <a:r>
              <a:rPr lang="en-US" dirty="0" smtClean="0">
                <a:latin typeface="Arial Black" panose="020B0A04020102020204" pitchFamily="34" charset="0"/>
              </a:rPr>
              <a:t>B</a:t>
            </a:r>
            <a:r>
              <a:rPr lang="en-US" sz="2400" baseline="-25000" dirty="0" smtClean="0">
                <a:latin typeface="Arial Black" panose="020B0A04020102020204" pitchFamily="34" charset="0"/>
              </a:rPr>
              <a:t>9</a:t>
            </a:r>
            <a:r>
              <a:rPr lang="en-US" dirty="0" smtClean="0">
                <a:latin typeface="Arial Black" panose="020B0A04020102020204" pitchFamily="34" charset="0"/>
              </a:rPr>
              <a:t>H</a:t>
            </a:r>
            <a:r>
              <a:rPr lang="en-US" sz="2400" baseline="-25000" dirty="0" smtClean="0">
                <a:latin typeface="Arial Black" panose="020B0A04020102020204" pitchFamily="34" charset="0"/>
              </a:rPr>
              <a:t>15</a:t>
            </a:r>
            <a:r>
              <a:rPr lang="en-US" sz="2400" dirty="0" smtClean="0">
                <a:latin typeface="Arial Black" panose="020B0A04020102020204" pitchFamily="34" charset="0"/>
              </a:rPr>
              <a:t>- </a:t>
            </a:r>
            <a:r>
              <a:rPr lang="en-US" sz="2000" dirty="0" err="1" smtClean="0">
                <a:latin typeface="Arial Black" panose="020B0A04020102020204" pitchFamily="34" charset="0"/>
              </a:rPr>
              <a:t>Nonaborane</a:t>
            </a:r>
            <a:endParaRPr lang="en-US" baseline="-25000" dirty="0" smtClean="0">
              <a:latin typeface="Arial Black" panose="020B0A04020102020204" pitchFamily="34" charset="0"/>
            </a:endParaRPr>
          </a:p>
          <a:p>
            <a:endParaRPr lang="en-US" sz="1600" u="sng" dirty="0">
              <a:latin typeface="Arial Black" panose="020B0A04020102020204" pitchFamily="34" charset="0"/>
            </a:endParaRPr>
          </a:p>
        </p:txBody>
      </p:sp>
      <p:sp>
        <p:nvSpPr>
          <p:cNvPr id="25601" name="Rectangle 1"/>
          <p:cNvSpPr>
            <a:spLocks noChangeArrowheads="1"/>
          </p:cNvSpPr>
          <p:nvPr/>
        </p:nvSpPr>
        <p:spPr bwMode="auto">
          <a:xfrm>
            <a:off x="3962400" y="1219200"/>
            <a:ext cx="4876800" cy="23083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B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2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H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6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 ⇌ 2BH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3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rgbClr val="3333FF"/>
              </a:solidFill>
              <a:effectLst/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BH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3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 +B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2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H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6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 → B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3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H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7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 +H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2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 (rate determining step)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rgbClr val="3333FF"/>
              </a:solidFill>
              <a:effectLst/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BH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3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 + B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3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H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7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 ⇌ B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4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H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10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rgbClr val="3333FF"/>
              </a:solidFill>
              <a:effectLst/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B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2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H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6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 + B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3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H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7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 → BH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3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 + B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4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H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10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rgbClr val="3333FF"/>
              </a:solidFill>
              <a:effectLst/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⇌ B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5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H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11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 + H</a:t>
            </a:r>
            <a:r>
              <a:rPr kumimoji="0" lang="en-US" sz="18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2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rgbClr val="3333FF"/>
              </a:solidFill>
              <a:effectLst/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AutoShape 1"/>
          <p:cNvSpPr>
            <a:spLocks noChangeShapeType="1"/>
          </p:cNvSpPr>
          <p:nvPr/>
        </p:nvSpPr>
        <p:spPr bwMode="auto">
          <a:xfrm>
            <a:off x="6172200" y="5867400"/>
            <a:ext cx="40005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5602" name="AutoShape 2"/>
          <p:cNvSpPr>
            <a:spLocks noChangeShapeType="1"/>
          </p:cNvSpPr>
          <p:nvPr/>
        </p:nvSpPr>
        <p:spPr bwMode="auto">
          <a:xfrm flipH="1">
            <a:off x="6248400" y="5943600"/>
            <a:ext cx="35242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7696200" y="5082540"/>
            <a:ext cx="5029200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5029200" y="5638800"/>
            <a:ext cx="3200400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2BH</a:t>
            </a:r>
            <a:r>
              <a:rPr kumimoji="0" lang="en-US" sz="20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B</a:t>
            </a:r>
            <a:r>
              <a:rPr kumimoji="0" lang="en-US" sz="20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kumimoji="0" lang="en-US" sz="20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rgbClr val="3333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4267200" y="3810000"/>
            <a:ext cx="4648200" cy="15696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kumimoji="0" lang="en-US" sz="24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kumimoji="0" lang="en-US" sz="24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is a colorless gas at room temperature. It is believed to be in equilibrium with 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rgbClr val="3333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borane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BH</a:t>
            </a:r>
            <a:r>
              <a:rPr kumimoji="0" lang="en-US" sz="2400" b="1" i="0" u="none" strike="noStrike" cap="none" normalizeH="0" baseline="-30000" dirty="0" smtClean="0">
                <a:ln>
                  <a:noFill/>
                </a:ln>
                <a:solidFill>
                  <a:srgbClr val="3333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according to the equation, </a:t>
            </a:r>
            <a:endParaRPr kumimoji="0" lang="en-US" sz="3600" b="1" i="0" u="none" strike="noStrike" cap="none" normalizeH="0" baseline="0" dirty="0" smtClean="0">
              <a:ln>
                <a:noFill/>
              </a:ln>
              <a:solidFill>
                <a:srgbClr val="3333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36271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 smtClean="0">
                <a:solidFill>
                  <a:srgbClr val="3333FF"/>
                </a:solidFill>
                <a:latin typeface="Arial Black" panose="020B0A04020102020204" pitchFamily="34" charset="0"/>
              </a:rPr>
              <a:t>The Hydride of Boron/ </a:t>
            </a:r>
            <a:r>
              <a:rPr lang="en-US" sz="3200" b="1" dirty="0" err="1" smtClean="0">
                <a:solidFill>
                  <a:srgbClr val="3333FF"/>
                </a:solidFill>
                <a:latin typeface="Arial Black" panose="020B0A04020102020204" pitchFamily="34" charset="0"/>
              </a:rPr>
              <a:t>Diborane</a:t>
            </a:r>
            <a:r>
              <a:rPr lang="en-US" sz="3200" b="1" dirty="0" smtClean="0">
                <a:solidFill>
                  <a:srgbClr val="3333FF"/>
                </a:solidFill>
                <a:latin typeface="Arial Black" panose="020B0A04020102020204" pitchFamily="34" charset="0"/>
              </a:rPr>
              <a:t> ( B</a:t>
            </a:r>
            <a:r>
              <a:rPr lang="en-US" sz="3200" b="1" baseline="-25000" dirty="0" smtClean="0">
                <a:solidFill>
                  <a:srgbClr val="3333FF"/>
                </a:solidFill>
                <a:latin typeface="Arial Black" panose="020B0A04020102020204" pitchFamily="34" charset="0"/>
              </a:rPr>
              <a:t>2</a:t>
            </a:r>
            <a:r>
              <a:rPr lang="en-US" sz="3200" b="1" dirty="0" smtClean="0">
                <a:solidFill>
                  <a:srgbClr val="3333FF"/>
                </a:solidFill>
                <a:latin typeface="Arial Black" panose="020B0A04020102020204" pitchFamily="34" charset="0"/>
              </a:rPr>
              <a:t>H</a:t>
            </a:r>
            <a:r>
              <a:rPr lang="en-US" sz="3200" b="1" baseline="-25000" dirty="0" smtClean="0">
                <a:solidFill>
                  <a:srgbClr val="3333FF"/>
                </a:solidFill>
                <a:latin typeface="Arial Black" panose="020B0A04020102020204" pitchFamily="34" charset="0"/>
              </a:rPr>
              <a:t>6</a:t>
            </a:r>
            <a:r>
              <a:rPr lang="en-US" sz="3200" b="1" dirty="0" smtClean="0">
                <a:solidFill>
                  <a:srgbClr val="3333FF"/>
                </a:solidFill>
                <a:latin typeface="Arial Black" panose="020B0A04020102020204" pitchFamily="34" charset="0"/>
              </a:rPr>
              <a:t>) </a:t>
            </a:r>
            <a:endParaRPr lang="en-US" sz="3200" dirty="0">
              <a:solidFill>
                <a:srgbClr val="3333FF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438912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FF0000"/>
                </a:solidFill>
              </a:rPr>
              <a:t>Synthesis:</a:t>
            </a:r>
            <a:endParaRPr lang="en-US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 Black" panose="020B0A04020102020204" pitchFamily="34" charset="0"/>
              </a:rPr>
              <a:t>4BCl</a:t>
            </a:r>
            <a:r>
              <a:rPr lang="en-US" sz="2400" b="1" baseline="-25000" dirty="0" smtClean="0">
                <a:latin typeface="Arial Black" panose="020B0A04020102020204" pitchFamily="34" charset="0"/>
              </a:rPr>
              <a:t>3</a:t>
            </a:r>
            <a:r>
              <a:rPr lang="en-US" sz="2400" b="1" dirty="0" smtClean="0">
                <a:latin typeface="Arial Black" panose="020B0A04020102020204" pitchFamily="34" charset="0"/>
              </a:rPr>
              <a:t> + 3LiAlH</a:t>
            </a:r>
            <a:r>
              <a:rPr lang="en-US" sz="2400" b="1" baseline="-25000" dirty="0" smtClean="0">
                <a:latin typeface="Arial Black" panose="020B0A04020102020204" pitchFamily="34" charset="0"/>
              </a:rPr>
              <a:t>4</a:t>
            </a:r>
            <a:r>
              <a:rPr lang="en-US" sz="2400" b="1" dirty="0" smtClean="0">
                <a:latin typeface="Arial Black" panose="020B0A04020102020204" pitchFamily="34" charset="0"/>
              </a:rPr>
              <a:t> → 2B</a:t>
            </a:r>
            <a:r>
              <a:rPr lang="en-US" sz="2400" b="1" baseline="-25000" dirty="0" smtClean="0">
                <a:latin typeface="Arial Black" panose="020B0A04020102020204" pitchFamily="34" charset="0"/>
              </a:rPr>
              <a:t>2</a:t>
            </a:r>
            <a:r>
              <a:rPr lang="en-US" sz="2400" b="1" dirty="0" smtClean="0">
                <a:latin typeface="Arial Black" panose="020B0A04020102020204" pitchFamily="34" charset="0"/>
              </a:rPr>
              <a:t>H</a:t>
            </a:r>
            <a:r>
              <a:rPr lang="en-US" sz="2400" b="1" baseline="-25000" dirty="0" smtClean="0">
                <a:latin typeface="Arial Black" panose="020B0A04020102020204" pitchFamily="34" charset="0"/>
              </a:rPr>
              <a:t>6</a:t>
            </a:r>
            <a:r>
              <a:rPr lang="en-US" sz="2400" b="1" dirty="0" smtClean="0">
                <a:latin typeface="Arial Black" panose="020B0A04020102020204" pitchFamily="34" charset="0"/>
              </a:rPr>
              <a:t> + 3LiAlCl</a:t>
            </a:r>
            <a:r>
              <a:rPr lang="en-US" sz="2400" b="1" baseline="-25000" dirty="0" smtClean="0">
                <a:latin typeface="Arial Black" panose="020B0A04020102020204" pitchFamily="34" charset="0"/>
              </a:rPr>
              <a:t>4</a:t>
            </a:r>
            <a:endParaRPr lang="en-US" sz="2400" b="1" dirty="0" smtClean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 smtClean="0">
                <a:latin typeface="Arial Black" panose="020B0A04020102020204" pitchFamily="34" charset="0"/>
              </a:rPr>
              <a:t>4</a:t>
            </a:r>
            <a:r>
              <a:rPr lang="en-US" sz="2400" b="1" dirty="0" smtClean="0">
                <a:latin typeface="Arial Black" panose="020B0A04020102020204" pitchFamily="34" charset="0"/>
              </a:rPr>
              <a:t>BF3 + 3NaBH</a:t>
            </a:r>
            <a:r>
              <a:rPr lang="en-US" sz="2400" b="1" baseline="-25000" dirty="0" smtClean="0">
                <a:latin typeface="Arial Black" panose="020B0A04020102020204" pitchFamily="34" charset="0"/>
              </a:rPr>
              <a:t>4</a:t>
            </a:r>
            <a:r>
              <a:rPr lang="en-US" sz="2400" b="1" dirty="0" smtClean="0">
                <a:latin typeface="Arial Black" panose="020B0A04020102020204" pitchFamily="34" charset="0"/>
              </a:rPr>
              <a:t> → 2 B</a:t>
            </a:r>
            <a:r>
              <a:rPr lang="en-US" sz="2400" b="1" baseline="-25000" dirty="0" smtClean="0">
                <a:latin typeface="Arial Black" panose="020B0A04020102020204" pitchFamily="34" charset="0"/>
              </a:rPr>
              <a:t>2</a:t>
            </a:r>
            <a:r>
              <a:rPr lang="en-US" sz="2400" b="1" dirty="0" smtClean="0">
                <a:latin typeface="Arial Black" panose="020B0A04020102020204" pitchFamily="34" charset="0"/>
              </a:rPr>
              <a:t>H</a:t>
            </a:r>
            <a:r>
              <a:rPr lang="en-US" sz="2400" b="1" baseline="-25000" dirty="0" smtClean="0">
                <a:latin typeface="Arial Black" panose="020B0A04020102020204" pitchFamily="34" charset="0"/>
              </a:rPr>
              <a:t>6</a:t>
            </a:r>
            <a:r>
              <a:rPr lang="en-US" sz="2400" b="1" dirty="0" smtClean="0">
                <a:latin typeface="Arial Black" panose="020B0A04020102020204" pitchFamily="34" charset="0"/>
              </a:rPr>
              <a:t> + 3NaBF</a:t>
            </a:r>
            <a:r>
              <a:rPr lang="en-US" sz="2400" b="1" baseline="-25000" dirty="0" smtClean="0">
                <a:latin typeface="Arial Black" panose="020B0A04020102020204" pitchFamily="34" charset="0"/>
              </a:rPr>
              <a:t>4</a:t>
            </a:r>
            <a:endParaRPr lang="en-US" sz="2400" b="1" dirty="0" smtClean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200" b="1" dirty="0" smtClean="0">
                <a:latin typeface="Arial Black" panose="020B0A04020102020204" pitchFamily="34" charset="0"/>
              </a:rPr>
              <a:t>2</a:t>
            </a:r>
            <a:r>
              <a:rPr lang="en-US" sz="2400" b="1" dirty="0" smtClean="0">
                <a:latin typeface="Arial Black" panose="020B0A04020102020204" pitchFamily="34" charset="0"/>
              </a:rPr>
              <a:t>NaBH</a:t>
            </a:r>
            <a:r>
              <a:rPr lang="en-US" sz="2400" b="1" baseline="-25000" dirty="0" smtClean="0">
                <a:latin typeface="Arial Black" panose="020B0A04020102020204" pitchFamily="34" charset="0"/>
              </a:rPr>
              <a:t>4</a:t>
            </a:r>
            <a:r>
              <a:rPr lang="en-US" sz="2400" b="1" dirty="0" smtClean="0">
                <a:latin typeface="Arial Black" panose="020B0A04020102020204" pitchFamily="34" charset="0"/>
              </a:rPr>
              <a:t> + I</a:t>
            </a:r>
            <a:r>
              <a:rPr lang="en-US" sz="2400" b="1" baseline="-25000" dirty="0" smtClean="0">
                <a:latin typeface="Arial Black" panose="020B0A04020102020204" pitchFamily="34" charset="0"/>
              </a:rPr>
              <a:t>2</a:t>
            </a:r>
            <a:r>
              <a:rPr lang="en-US" sz="2400" b="1" dirty="0" smtClean="0">
                <a:latin typeface="Arial Black" panose="020B0A04020102020204" pitchFamily="34" charset="0"/>
              </a:rPr>
              <a:t> → 2NaI + B</a:t>
            </a:r>
            <a:r>
              <a:rPr lang="en-US" sz="2400" b="1" baseline="-25000" dirty="0" smtClean="0">
                <a:latin typeface="Arial Black" panose="020B0A04020102020204" pitchFamily="34" charset="0"/>
              </a:rPr>
              <a:t>2</a:t>
            </a:r>
            <a:r>
              <a:rPr lang="en-US" sz="2400" b="1" dirty="0" smtClean="0">
                <a:latin typeface="Arial Black" panose="020B0A04020102020204" pitchFamily="34" charset="0"/>
              </a:rPr>
              <a:t>H</a:t>
            </a:r>
            <a:r>
              <a:rPr lang="en-US" sz="2400" b="1" baseline="-25000" dirty="0" smtClean="0">
                <a:latin typeface="Arial Black" panose="020B0A04020102020204" pitchFamily="34" charset="0"/>
              </a:rPr>
              <a:t>6</a:t>
            </a:r>
            <a:r>
              <a:rPr lang="en-US" sz="2400" b="1" dirty="0" smtClean="0">
                <a:latin typeface="Arial Black" panose="020B0A04020102020204" pitchFamily="34" charset="0"/>
              </a:rPr>
              <a:t> + H</a:t>
            </a:r>
            <a:r>
              <a:rPr lang="en-US" sz="2400" b="1" baseline="-25000" dirty="0" smtClean="0">
                <a:latin typeface="Arial Black" panose="020B0A04020102020204" pitchFamily="34" charset="0"/>
              </a:rPr>
              <a:t>2</a:t>
            </a:r>
            <a:endParaRPr lang="en-US" sz="2400" b="1" baseline="-25000" dirty="0" smtClean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 Black" panose="020B0A04020102020204" pitchFamily="34" charset="0"/>
              </a:rPr>
              <a:t>8 BF</a:t>
            </a:r>
            <a:r>
              <a:rPr lang="en-US" sz="2400" b="1" baseline="-25000" dirty="0" smtClean="0">
                <a:latin typeface="Arial Black" panose="020B0A04020102020204" pitchFamily="34" charset="0"/>
              </a:rPr>
              <a:t>3</a:t>
            </a:r>
            <a:r>
              <a:rPr lang="en-US" sz="2400" b="1" dirty="0" smtClean="0">
                <a:latin typeface="Arial Black" panose="020B0A04020102020204" pitchFamily="34" charset="0"/>
              </a:rPr>
              <a:t> + </a:t>
            </a:r>
            <a:r>
              <a:rPr lang="en-US" sz="2000" b="1" dirty="0" smtClean="0">
                <a:latin typeface="Arial Black" panose="020B0A04020102020204" pitchFamily="34" charset="0"/>
              </a:rPr>
              <a:t>6</a:t>
            </a:r>
            <a:r>
              <a:rPr lang="en-US" sz="2400" b="1" dirty="0" smtClean="0">
                <a:latin typeface="Arial Black" panose="020B0A04020102020204" pitchFamily="34" charset="0"/>
              </a:rPr>
              <a:t>LiH → B</a:t>
            </a:r>
            <a:r>
              <a:rPr lang="en-US" sz="2400" b="1" baseline="-25000" dirty="0" smtClean="0">
                <a:latin typeface="Arial Black" panose="020B0A04020102020204" pitchFamily="34" charset="0"/>
              </a:rPr>
              <a:t>2</a:t>
            </a:r>
            <a:r>
              <a:rPr lang="en-US" sz="2400" b="1" dirty="0" smtClean="0">
                <a:latin typeface="Arial Black" panose="020B0A04020102020204" pitchFamily="34" charset="0"/>
              </a:rPr>
              <a:t>H</a:t>
            </a:r>
            <a:r>
              <a:rPr lang="en-US" sz="2400" b="1" baseline="-25000" dirty="0" smtClean="0">
                <a:latin typeface="Arial Black" panose="020B0A04020102020204" pitchFamily="34" charset="0"/>
              </a:rPr>
              <a:t>6</a:t>
            </a:r>
            <a:r>
              <a:rPr lang="en-US" sz="2400" b="1" dirty="0" smtClean="0">
                <a:latin typeface="Arial Black" panose="020B0A04020102020204" pitchFamily="34" charset="0"/>
              </a:rPr>
              <a:t> + </a:t>
            </a:r>
            <a:r>
              <a:rPr lang="en-US" sz="2000" b="1" dirty="0" smtClean="0">
                <a:latin typeface="Arial Black" panose="020B0A04020102020204" pitchFamily="34" charset="0"/>
              </a:rPr>
              <a:t>6</a:t>
            </a:r>
            <a:r>
              <a:rPr lang="en-US" sz="2400" b="1" dirty="0" smtClean="0">
                <a:latin typeface="Arial Black" panose="020B0A04020102020204" pitchFamily="34" charset="0"/>
              </a:rPr>
              <a:t>LiBF</a:t>
            </a:r>
            <a:r>
              <a:rPr lang="en-US" sz="2400" b="1" baseline="-25000" dirty="0" smtClean="0">
                <a:latin typeface="Arial Black" panose="020B0A04020102020204" pitchFamily="34" charset="0"/>
              </a:rPr>
              <a:t>4</a:t>
            </a:r>
            <a:endParaRPr lang="en-US" sz="2400" b="1" dirty="0" smtClean="0">
              <a:latin typeface="Arial Black" panose="020B0A04020102020204" pitchFamily="34" charset="0"/>
            </a:endParaRPr>
          </a:p>
          <a:p>
            <a:endParaRPr lang="en-US" sz="2400" dirty="0" smtClean="0"/>
          </a:p>
          <a:p>
            <a:r>
              <a:rPr lang="en-US" b="1" cap="small" dirty="0" smtClean="0">
                <a:solidFill>
                  <a:srgbClr val="3333FF"/>
                </a:solidFill>
              </a:rPr>
              <a:t>BF</a:t>
            </a:r>
            <a:r>
              <a:rPr lang="en-US" b="1" cap="small" baseline="-25000" dirty="0" smtClean="0">
                <a:solidFill>
                  <a:srgbClr val="3333FF"/>
                </a:solidFill>
              </a:rPr>
              <a:t>3</a:t>
            </a:r>
            <a:r>
              <a:rPr lang="en-US" b="1" cap="small" dirty="0" smtClean="0">
                <a:solidFill>
                  <a:srgbClr val="3333FF"/>
                </a:solidFill>
              </a:rPr>
              <a:t>   +   6NaH       B</a:t>
            </a:r>
            <a:r>
              <a:rPr lang="en-US" b="1" cap="small" baseline="-25000" dirty="0" smtClean="0">
                <a:solidFill>
                  <a:srgbClr val="3333FF"/>
                </a:solidFill>
              </a:rPr>
              <a:t>2</a:t>
            </a:r>
            <a:r>
              <a:rPr lang="en-US" b="1" cap="small" dirty="0" smtClean="0">
                <a:solidFill>
                  <a:srgbClr val="3333FF"/>
                </a:solidFill>
              </a:rPr>
              <a:t>H</a:t>
            </a:r>
            <a:r>
              <a:rPr lang="en-US" b="1" cap="small" baseline="-25000" dirty="0" smtClean="0">
                <a:solidFill>
                  <a:srgbClr val="3333FF"/>
                </a:solidFill>
              </a:rPr>
              <a:t>6</a:t>
            </a:r>
            <a:r>
              <a:rPr lang="en-US" b="1" cap="small" dirty="0" smtClean="0">
                <a:solidFill>
                  <a:srgbClr val="3333FF"/>
                </a:solidFill>
              </a:rPr>
              <a:t>   +   6NaF </a:t>
            </a:r>
            <a:endParaRPr lang="en-US" b="1" cap="small" dirty="0" smtClean="0">
              <a:solidFill>
                <a:srgbClr val="3333FF"/>
              </a:solidFill>
            </a:endParaRPr>
          </a:p>
          <a:p>
            <a:pPr>
              <a:buNone/>
            </a:pPr>
            <a:r>
              <a:rPr lang="en-US" sz="1500" b="1" cap="small" dirty="0" smtClean="0">
                <a:solidFill>
                  <a:srgbClr val="3333FF"/>
                </a:solidFill>
              </a:rPr>
              <a:t>                                                                    (Industrial Method) </a:t>
            </a:r>
            <a:endParaRPr lang="en-US" b="1" cap="small" dirty="0" smtClean="0">
              <a:solidFill>
                <a:srgbClr val="3333FF"/>
              </a:solidFill>
            </a:endParaRPr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819400" y="5029200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66751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Reaction of B</a:t>
            </a:r>
            <a:r>
              <a:rPr lang="en-US" b="1" baseline="-250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2</a:t>
            </a: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H</a:t>
            </a:r>
            <a:r>
              <a:rPr lang="en-US" b="1" baseline="-250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6</a:t>
            </a:r>
            <a:endParaRPr lang="en-US" b="1" baseline="-25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4123" name="Picture 27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71600" y="685800"/>
            <a:ext cx="5638800" cy="59912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1143000" y="609600"/>
          <a:ext cx="7010400" cy="6149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CS ChemDraw Drawing" r:id="rId1" imgW="33213675" imgH="29127450" progId="ChemDraw.Document.6.0">
                  <p:embed/>
                </p:oleObj>
              </mc:Choice>
              <mc:Fallback>
                <p:oleObj name="CS ChemDraw Drawing" r:id="rId1" imgW="33213675" imgH="29127450" progId="ChemDraw.Document.6.0">
                  <p:embed/>
                  <p:pic>
                    <p:nvPicPr>
                      <p:cNvPr id="0" name="Picture 102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143000" y="609600"/>
                        <a:ext cx="7010400" cy="61492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>
            <a:graphicFrameLocks noChangeAspect="1"/>
          </p:cNvGraphicFramePr>
          <p:nvPr/>
        </p:nvGraphicFramePr>
        <p:xfrm>
          <a:off x="762000" y="914400"/>
          <a:ext cx="6858000" cy="4852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CS ChemDraw Drawing" r:id="rId1" imgW="21974175" imgH="15535275" progId="ChemDraw.Document.6.0">
                  <p:embed/>
                </p:oleObj>
              </mc:Choice>
              <mc:Fallback>
                <p:oleObj name="CS ChemDraw Drawing" r:id="rId1" imgW="21974175" imgH="15535275" progId="ChemDraw.Document.6.0">
                  <p:embed/>
                  <p:pic>
                    <p:nvPicPr>
                      <p:cNvPr id="0" name="Picture 204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62000" y="914400"/>
                        <a:ext cx="6858000" cy="485297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83" name="Object 7"/>
          <p:cNvGraphicFramePr>
            <a:graphicFrameLocks noChangeAspect="1"/>
          </p:cNvGraphicFramePr>
          <p:nvPr/>
        </p:nvGraphicFramePr>
        <p:xfrm>
          <a:off x="228600" y="1066800"/>
          <a:ext cx="8610600" cy="502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CS ChemDraw Drawing" r:id="rId1" imgW="29746575" imgH="19983450" progId="ChemDraw.Document.6.0">
                  <p:embed/>
                </p:oleObj>
              </mc:Choice>
              <mc:Fallback>
                <p:oleObj name="CS ChemDraw Drawing" r:id="rId1" imgW="29746575" imgH="19983450" progId="ChemDraw.Document.6.0">
                  <p:embed/>
                  <p:pic>
                    <p:nvPicPr>
                      <p:cNvPr id="0" name="Picture 307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8600" y="1066800"/>
                        <a:ext cx="8610600" cy="5022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irc_mi" descr="http://upload.wikimedia.org/wikipedia/commons/b/b6/Borazine-dimensions-2D.pn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2667000"/>
            <a:ext cx="3048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http://upload.wikimedia.org/wikipedia/commons/2/26/Borazine-2D.pn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2590800"/>
            <a:ext cx="2362200" cy="25908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style>
          <a:lnRef idx="0">
            <a:scrgbClr r="0" g="0" b="0"/>
          </a:lnRef>
          <a:fillRef idx="1002">
            <a:schemeClr val="lt2"/>
          </a:fillRef>
          <a:effectRef idx="0">
            <a:scrgbClr r="0" g="0" b="0"/>
          </a:effectRef>
          <a:fontRef idx="major"/>
        </p:style>
      </p:pic>
      <p:sp>
        <p:nvSpPr>
          <p:cNvPr id="17" name="TextBox 16"/>
          <p:cNvSpPr txBox="1"/>
          <p:nvPr/>
        </p:nvSpPr>
        <p:spPr>
          <a:xfrm rot="10800000" flipV="1">
            <a:off x="5410200" y="5029200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 smtClean="0"/>
              <a:t>Borazine</a:t>
            </a:r>
            <a:r>
              <a:rPr lang="en-US" sz="3600" b="1" dirty="0" smtClean="0"/>
              <a:t> </a:t>
            </a:r>
            <a:endParaRPr lang="en-US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6096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4400" b="1" dirty="0" smtClean="0">
                <a:solidFill>
                  <a:srgbClr val="FF0000"/>
                </a:solidFill>
              </a:rPr>
              <a:t>Bonding in </a:t>
            </a:r>
            <a:r>
              <a:rPr lang="en-US" sz="4400" b="1" dirty="0" err="1" smtClean="0">
                <a:solidFill>
                  <a:srgbClr val="FF0000"/>
                </a:solidFill>
              </a:rPr>
              <a:t>Diborane</a:t>
            </a:r>
            <a:r>
              <a:rPr lang="en-US" sz="4400" b="1" dirty="0" smtClean="0">
                <a:solidFill>
                  <a:srgbClr val="FF0000"/>
                </a:solidFill>
              </a:rPr>
              <a:t>, B</a:t>
            </a:r>
            <a:r>
              <a:rPr lang="en-US" sz="4400" b="1" baseline="-25000" dirty="0" smtClean="0">
                <a:solidFill>
                  <a:srgbClr val="FF0000"/>
                </a:solidFill>
              </a:rPr>
              <a:t>2</a:t>
            </a:r>
            <a:r>
              <a:rPr lang="en-US" sz="4400" b="1" dirty="0" smtClean="0">
                <a:solidFill>
                  <a:srgbClr val="FF0000"/>
                </a:solidFill>
              </a:rPr>
              <a:t>H</a:t>
            </a:r>
            <a:r>
              <a:rPr lang="en-US" sz="4400" b="1" baseline="-25000" dirty="0" smtClean="0">
                <a:solidFill>
                  <a:srgbClr val="FF0000"/>
                </a:solidFill>
              </a:rPr>
              <a:t>6</a:t>
            </a:r>
            <a:endParaRPr lang="en-US" sz="4400" b="1" baseline="-25000" dirty="0">
              <a:solidFill>
                <a:srgbClr val="FF0000"/>
              </a:solidFill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609600" y="4572000"/>
            <a:ext cx="8382000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haroni" pitchFamily="2" charset="-79"/>
                <a:cs typeface="Aharoni" pitchFamily="2" charset="-79"/>
              </a:rPr>
              <a:t>The </a:t>
            </a:r>
            <a:r>
              <a:rPr lang="en-US" sz="2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haroni" pitchFamily="2" charset="-79"/>
                <a:cs typeface="Aharoni" pitchFamily="2" charset="-79"/>
              </a:rPr>
              <a:t>hybridization</a:t>
            </a: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haroni" pitchFamily="2" charset="-79"/>
                <a:cs typeface="Aharoni" pitchFamily="2" charset="-79"/>
              </a:rPr>
              <a:t> B(5)  is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3200" i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sp</a:t>
            </a:r>
            <a:r>
              <a:rPr lang="en-US" sz="4000" baseline="30000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3</a:t>
            </a:r>
            <a:r>
              <a:rPr lang="en-US" sz="3200" baseline="30000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  </a:t>
            </a:r>
            <a:endParaRPr lang="en-US" sz="3200" baseline="30000" dirty="0" smtClean="0">
              <a:solidFill>
                <a:srgbClr val="FF0000"/>
              </a:solidFill>
              <a:latin typeface="Aharoni" pitchFamily="2" charset="-79"/>
              <a:cs typeface="Aharoni" pitchFamily="2" charset="-79"/>
            </a:endParaRPr>
          </a:p>
        </p:txBody>
      </p:sp>
      <p:graphicFrame>
        <p:nvGraphicFramePr>
          <p:cNvPr id="1028" name="Object 4"/>
          <p:cNvGraphicFramePr>
            <a:graphicFrameLocks noChangeAspect="1"/>
          </p:cNvGraphicFramePr>
          <p:nvPr>
            <p:ph idx="1"/>
          </p:nvPr>
        </p:nvGraphicFramePr>
        <p:xfrm>
          <a:off x="609600" y="2362200"/>
          <a:ext cx="7996356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CS ChemDraw Drawing" r:id="rId1" imgW="34156650" imgH="8134350" progId="ChemDraw.Document.6.0">
                  <p:embed/>
                </p:oleObj>
              </mc:Choice>
              <mc:Fallback>
                <p:oleObj name="CS ChemDraw Drawing" r:id="rId1" imgW="34156650" imgH="8134350" progId="ChemDraw.Document.6.0">
                  <p:embed/>
                  <p:pic>
                    <p:nvPicPr>
                      <p:cNvPr id="0" name="Picture 409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09600" y="2362200"/>
                        <a:ext cx="7996356" cy="190500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04800" y="990600"/>
            <a:ext cx="3631028" cy="1752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pic>
        <p:nvPicPr>
          <p:cNvPr id="5" name="Pictur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400" y="685800"/>
            <a:ext cx="4314825" cy="3124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334000" y="228600"/>
            <a:ext cx="2666243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According to MOT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200" y="304800"/>
            <a:ext cx="2669577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3333FF"/>
                </a:solidFill>
              </a:rPr>
              <a:t>According to VBT</a:t>
            </a:r>
            <a:endParaRPr lang="en-US" sz="2400" b="1" dirty="0">
              <a:solidFill>
                <a:srgbClr val="3333FF"/>
              </a:solidFill>
            </a:endParaRPr>
          </a:p>
        </p:txBody>
      </p:sp>
      <p:sp>
        <p:nvSpPr>
          <p:cNvPr id="25601" name="Rectangle 1"/>
          <p:cNvSpPr>
            <a:spLocks noChangeArrowheads="1"/>
          </p:cNvSpPr>
          <p:nvPr/>
        </p:nvSpPr>
        <p:spPr bwMode="auto">
          <a:xfrm>
            <a:off x="228600" y="3903345"/>
            <a:ext cx="8534400" cy="29546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NewRomanPS-BoldItalicMT"/>
              </a:rPr>
              <a:t>The MO scheme for one of the</a:t>
            </a:r>
            <a:r>
              <a:rPr lang="en-US" sz="2400" dirty="0" smtClean="0"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kumimoji="0" lang="en-US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NewRomanPS-BoldItalicMT"/>
              </a:rPr>
              <a:t>B–H–B bridging three center two electron</a:t>
            </a:r>
            <a:r>
              <a:rPr lang="en-US" sz="2400" dirty="0" smtClean="0"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kumimoji="0" lang="en-US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NewRomanPS-BoldItalicMT"/>
              </a:rPr>
              <a:t>bonds. *This picture is still a simplification</a:t>
            </a:r>
            <a:r>
              <a:rPr lang="en-US" sz="2400" dirty="0" smtClean="0"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kumimoji="0" lang="en-US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NewRomanPS-BoldItalicMT"/>
              </a:rPr>
              <a:t>of the actual MO scheme. The non-bonding</a:t>
            </a:r>
            <a:r>
              <a:rPr lang="en-US" sz="2400" dirty="0" smtClean="0"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kumimoji="0" lang="en-US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NewRomanPS-BoldItalicMT"/>
              </a:rPr>
              <a:t>orbital is actually of slightly lower energy</a:t>
            </a:r>
            <a:r>
              <a:rPr lang="en-US" sz="2400" dirty="0" smtClean="0"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kumimoji="0" lang="en-US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NewRomanPS-BoldItalicMT"/>
              </a:rPr>
              <a:t>than shown and so has slight bonding</a:t>
            </a:r>
            <a:r>
              <a:rPr lang="en-US" sz="2400" dirty="0" smtClean="0"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kumimoji="0" lang="en-US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NewRomanPS-BoldItalicMT"/>
              </a:rPr>
              <a:t>character. This arises from the fact that the</a:t>
            </a:r>
            <a:r>
              <a:rPr lang="en-US" sz="2400" dirty="0" smtClean="0"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kumimoji="0" lang="en-US" u="none" strike="noStrike" cap="none" normalizeH="0" baseline="0" dirty="0" err="1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NewRomanPS-BoldItalicMT"/>
              </a:rPr>
              <a:t>orbitals</a:t>
            </a:r>
            <a:r>
              <a:rPr kumimoji="0" lang="en-US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NewRomanPS-BoldItalicMT"/>
              </a:rPr>
              <a:t> involved in the terminal B–H</a:t>
            </a:r>
            <a:r>
              <a:rPr lang="en-US" sz="2400" dirty="0" smtClean="0"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kumimoji="0" lang="en-US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NewRomanPS-BoldItalicMT"/>
              </a:rPr>
              <a:t>bonding have the correct symmetry to</a:t>
            </a:r>
            <a:r>
              <a:rPr lang="en-US" sz="2400" dirty="0" smtClean="0"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kumimoji="0" lang="en-US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NewRomanPS-BoldItalicMT"/>
              </a:rPr>
              <a:t>overlap with the bridging bond </a:t>
            </a:r>
            <a:r>
              <a:rPr kumimoji="0" lang="en-US" u="none" strike="noStrike" cap="none" normalizeH="0" baseline="0" dirty="0" err="1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NewRomanPS-BoldItalicMT"/>
              </a:rPr>
              <a:t>orbitals</a:t>
            </a:r>
            <a:r>
              <a:rPr kumimoji="0" lang="en-US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NewRomanPS-BoldItalicMT"/>
              </a:rPr>
              <a:t>,</a:t>
            </a:r>
            <a:r>
              <a:rPr lang="en-US" sz="2400" dirty="0" smtClean="0"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kumimoji="0" lang="en-US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NewRomanPS-BoldItalicMT"/>
              </a:rPr>
              <a:t>resulting in a stabilization of the ‘nonbonding’</a:t>
            </a:r>
            <a:r>
              <a:rPr lang="en-US" sz="2400" dirty="0" smtClean="0"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kumimoji="0" lang="en-US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NewRomanPS-BoldItalicMT"/>
              </a:rPr>
              <a:t>orbital.</a:t>
            </a:r>
            <a:endParaRPr kumimoji="0" lang="en-US" sz="4000" u="none" strike="noStrike" cap="none" normalizeH="0" baseline="0" dirty="0" smtClean="0">
              <a:ln>
                <a:noFill/>
              </a:ln>
              <a:solidFill>
                <a:srgbClr val="3333FF"/>
              </a:solidFill>
              <a:effectLst/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71600" y="1066800"/>
            <a:ext cx="6042702" cy="4389437"/>
          </a:xfrm>
          <a:prstGeom prst="rect">
            <a:avLst/>
          </a:prstGeom>
          <a:ln w="9525">
            <a:solidFill>
              <a:schemeClr val="accent1"/>
            </a:solidFill>
            <a:miter lim="800000"/>
            <a:headEnd/>
            <a:tailEnd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ajor"/>
        </p:style>
      </p:pic>
      <p:sp>
        <p:nvSpPr>
          <p:cNvPr id="5" name="Rectangle 4"/>
          <p:cNvSpPr/>
          <p:nvPr/>
        </p:nvSpPr>
        <p:spPr>
          <a:xfrm>
            <a:off x="3657600" y="5791200"/>
            <a:ext cx="2439514" cy="5232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3333FF"/>
                </a:solidFill>
              </a:rPr>
              <a:t>Banana Bond</a:t>
            </a:r>
            <a:endParaRPr lang="en-US" sz="2800" b="1" dirty="0">
              <a:solidFill>
                <a:srgbClr val="3333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85800"/>
            <a:ext cx="8229600" cy="515112"/>
          </a:xfr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>
            <a:no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Five Bonding Elements in Higher </a:t>
            </a:r>
            <a:r>
              <a:rPr lang="en-US" sz="3600" b="1" dirty="0" err="1" smtClean="0">
                <a:solidFill>
                  <a:srgbClr val="FF0000"/>
                </a:solidFill>
              </a:rPr>
              <a:t>Borane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4" name="Content Placeholder 3" descr="http://faculty.concordia.ca/bird/c242/images/three-centre.gif"/>
          <p:cNvPicPr>
            <a:picLocks noGrp="1"/>
          </p:cNvPicPr>
          <p:nvPr>
            <p:ph idx="1"/>
          </p:nvPr>
        </p:nvPicPr>
        <p:blipFill>
          <a:blip r:embed="rId1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304800" y="1219200"/>
            <a:ext cx="8686800" cy="1447800"/>
          </a:xfrm>
          <a:prstGeom prst="rect">
            <a:avLst/>
          </a:prstGeom>
          <a:ln w="9525">
            <a:solidFill>
              <a:schemeClr val="accent1">
                <a:alpha val="84000"/>
              </a:schemeClr>
            </a:solidFill>
            <a:miter lim="800000"/>
            <a:headEnd/>
            <a:tailEnd/>
          </a:ln>
        </p:spPr>
        <p:style>
          <a:lnRef idx="0">
            <a:scrgbClr r="0" g="0" b="0"/>
          </a:lnRef>
          <a:fillRef idx="1002">
            <a:schemeClr val="lt2"/>
          </a:fillRef>
          <a:effectRef idx="0">
            <a:scrgbClr r="0" g="0" b="0"/>
          </a:effectRef>
          <a:fontRef idx="major"/>
        </p:style>
      </p:pic>
      <p:sp>
        <p:nvSpPr>
          <p:cNvPr id="5" name="TextBox 4"/>
          <p:cNvSpPr txBox="1"/>
          <p:nvPr/>
        </p:nvSpPr>
        <p:spPr>
          <a:xfrm>
            <a:off x="304800" y="3124200"/>
            <a:ext cx="8610600" cy="33239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3333FF"/>
                </a:solidFill>
              </a:rPr>
              <a:t>(a) Terminal 2c-2e Boron-Hydrogen bond</a:t>
            </a:r>
            <a:endParaRPr lang="en-US" sz="2800" b="1" dirty="0" smtClean="0">
              <a:solidFill>
                <a:srgbClr val="3333FF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3333FF"/>
                </a:solidFill>
              </a:rPr>
              <a:t>(b) 2c-2e boron-born bond</a:t>
            </a:r>
            <a:endParaRPr lang="en-US" sz="2800" b="1" dirty="0" smtClean="0">
              <a:solidFill>
                <a:srgbClr val="3333FF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3333FF"/>
                </a:solidFill>
              </a:rPr>
              <a:t>(c) 3c-2e boron-hydrogen-boron bridge bond</a:t>
            </a:r>
            <a:endParaRPr lang="en-US" sz="2800" b="1" dirty="0" smtClean="0">
              <a:solidFill>
                <a:srgbClr val="3333FF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3333FF"/>
                </a:solidFill>
              </a:rPr>
              <a:t>(d) Closed 3c-2e boron-boron-boron bond </a:t>
            </a:r>
            <a:endParaRPr lang="en-US" sz="2800" b="1" dirty="0" smtClean="0">
              <a:solidFill>
                <a:srgbClr val="3333FF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3333FF"/>
                </a:solidFill>
              </a:rPr>
              <a:t>(e) Open 3c-2e boron-boron-boron bond </a:t>
            </a:r>
            <a:endParaRPr lang="en-US" sz="2800" b="1" dirty="0">
              <a:solidFill>
                <a:srgbClr val="3333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2362200"/>
            <a:ext cx="815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a                            b                                 c                          d                           e </a:t>
            </a:r>
            <a:endParaRPr lang="en-US" sz="1400" b="1" dirty="0">
              <a:solidFill>
                <a:schemeClr val="tx2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09600" y="609600"/>
            <a:ext cx="2133600" cy="2209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5" name="Pictur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810000"/>
            <a:ext cx="2286000" cy="21336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6" name="Picture 5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9000" y="533400"/>
            <a:ext cx="2362200" cy="2286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447800" y="3048000"/>
            <a:ext cx="8242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B4H10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143000" y="6248400"/>
            <a:ext cx="75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B5H11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191000" y="2895600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B</a:t>
            </a:r>
            <a:r>
              <a:rPr lang="en-US" baseline="-25000" dirty="0" smtClean="0"/>
              <a:t>6</a:t>
            </a:r>
            <a:r>
              <a:rPr lang="en-US" dirty="0" smtClean="0"/>
              <a:t>H10</a:t>
            </a:r>
            <a:endParaRPr lang="en-US" dirty="0"/>
          </a:p>
        </p:txBody>
      </p:sp>
      <p:pic>
        <p:nvPicPr>
          <p:cNvPr id="10" name="Picture 9" descr="http://faculty.concordia.ca/bird/c242/images/b10h14.gif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91000" y="3276600"/>
            <a:ext cx="2514600" cy="3048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4953000" y="6488668"/>
            <a:ext cx="766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B</a:t>
            </a:r>
            <a:r>
              <a:rPr lang="en-US" baseline="-25000" dirty="0" smtClean="0"/>
              <a:t>10</a:t>
            </a:r>
            <a:r>
              <a:rPr lang="en-US" dirty="0" smtClean="0"/>
              <a:t>H</a:t>
            </a:r>
            <a:r>
              <a:rPr lang="en-US" baseline="-25000" dirty="0" smtClean="0"/>
              <a:t>14</a:t>
            </a:r>
            <a:endParaRPr lang="en-US" dirty="0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48400" y="457200"/>
            <a:ext cx="2402889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6934200" y="2819400"/>
            <a:ext cx="75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B5H9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ttp://faculty.concordia.ca/bird/c242/images/aminoborane.gif"/>
          <p:cNvPicPr/>
          <p:nvPr/>
        </p:nvPicPr>
        <p:blipFill>
          <a:blip r:embed="rId1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3733800" y="1371600"/>
            <a:ext cx="40386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914400" y="5181600"/>
            <a:ext cx="6096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>
                <a:solidFill>
                  <a:srgbClr val="3333FF"/>
                </a:solidFill>
              </a:rPr>
              <a:t>The molecules are flat, and rotation about the B—N bond is restricted, therefore the left-hand structure must be is a significant contributor. It is perhaps not correct to represent them as </a:t>
            </a:r>
            <a:r>
              <a:rPr lang="en-US" b="1" i="1" dirty="0" smtClean="0">
                <a:solidFill>
                  <a:srgbClr val="3333FF"/>
                </a:solidFill>
              </a:rPr>
              <a:t>canonical</a:t>
            </a:r>
            <a:r>
              <a:rPr lang="en-US" b="1" dirty="0" smtClean="0">
                <a:solidFill>
                  <a:srgbClr val="3333FF"/>
                </a:solidFill>
              </a:rPr>
              <a:t> structures since the geometries would be so different. </a:t>
            </a:r>
            <a:endParaRPr lang="en-US" b="1" dirty="0">
              <a:solidFill>
                <a:srgbClr val="3333FF"/>
              </a:solidFill>
            </a:endParaRPr>
          </a:p>
        </p:txBody>
      </p:sp>
      <p:pic>
        <p:nvPicPr>
          <p:cNvPr id="4" name="irc_mi" descr="http://upload.wikimedia.org/wikipedia/commons/e/eb/Borazine-2D-aromatic.png"/>
          <p:cNvPicPr>
            <a:picLocks noGrp="1"/>
          </p:cNvPicPr>
          <p:nvPr>
            <p:ph idx="1"/>
          </p:nvPr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2819400" y="3505200"/>
            <a:ext cx="1392449" cy="1604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http://upload.wikimedia.org/wikipedia/commons/2/26/Borazine-2D.png"/>
          <p:cNvPicPr/>
          <p:nvPr/>
        </p:nvPicPr>
        <p:blipFill>
          <a:blip r:embed="rId3" cstate="print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143000" y="1295400"/>
            <a:ext cx="1652602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200400" y="457200"/>
            <a:ext cx="2461571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4400" dirty="0" err="1" smtClean="0">
                <a:solidFill>
                  <a:srgbClr val="FF0000"/>
                </a:solidFill>
              </a:rPr>
              <a:t>Borazine</a:t>
            </a:r>
            <a:r>
              <a:rPr lang="en-US" sz="4400" dirty="0" smtClean="0">
                <a:solidFill>
                  <a:srgbClr val="FF0000"/>
                </a:solidFill>
              </a:rPr>
              <a:t> </a:t>
            </a:r>
            <a:endParaRPr lang="en-US" sz="4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533400" y="533400"/>
            <a:ext cx="7441883" cy="238521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6" name="Picture 5" descr="http://faculty.concordia.ca/bird/c242/images/borazin2.gif"/>
          <p:cNvPicPr/>
          <p:nvPr/>
        </p:nvPicPr>
        <p:blipFill>
          <a:blip r:embed="rId2" cstate="print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609600" y="3200400"/>
            <a:ext cx="7391400" cy="32766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://faculty.concordia.ca/bird/c242/images/borazin3.gif"/>
          <p:cNvPicPr/>
          <p:nvPr/>
        </p:nvPicPr>
        <p:blipFill>
          <a:blip r:embed="rId1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685800" y="1447800"/>
            <a:ext cx="4038600" cy="1981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7" name="Picture 6" descr="http://faculty.concordia.ca/bird/c242/images/p-stools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4419600"/>
            <a:ext cx="3429000" cy="1524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51201" name="Rectangle 1"/>
          <p:cNvSpPr>
            <a:spLocks noChangeArrowheads="1"/>
          </p:cNvSpPr>
          <p:nvPr/>
        </p:nvSpPr>
        <p:spPr bwMode="auto">
          <a:xfrm>
            <a:off x="457200" y="3657600"/>
            <a:ext cx="8077200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Like benzene,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borazine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can form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-complexes with transition metals: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1295400" y="776645"/>
            <a:ext cx="7315200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Unlike benzene,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borazine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undergoes addition reactions: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9153" name="Object 1"/>
          <p:cNvGraphicFramePr>
            <a:graphicFrameLocks noChangeAspect="1"/>
          </p:cNvGraphicFramePr>
          <p:nvPr/>
        </p:nvGraphicFramePr>
        <p:xfrm>
          <a:off x="4826637" y="2133600"/>
          <a:ext cx="43173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CS ChemDraw Drawing" r:id="rId3" imgW="14811375" imgH="2362200" progId="ChemDraw.Document.6.0">
                  <p:embed/>
                </p:oleObj>
              </mc:Choice>
              <mc:Fallback>
                <p:oleObj name="CS ChemDraw Drawing" r:id="rId3" imgW="14811375" imgH="2362200" progId="ChemDraw.Document.6.0">
                  <p:embed/>
                  <p:pic>
                    <p:nvPicPr>
                      <p:cNvPr id="0" name="Picture 512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26637" y="2133600"/>
                        <a:ext cx="4317363" cy="685800"/>
                      </a:xfrm>
                      <a:prstGeom prst="rect">
                        <a:avLst/>
                      </a:prstGeom>
                      <a:solidFill>
                        <a:srgbClr val="009DD9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4" name="Object 2"/>
          <p:cNvGraphicFramePr>
            <a:graphicFrameLocks noChangeAspect="1"/>
          </p:cNvGraphicFramePr>
          <p:nvPr/>
        </p:nvGraphicFramePr>
        <p:xfrm>
          <a:off x="3810000" y="4343400"/>
          <a:ext cx="5114872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CS ChemDraw Drawing" r:id="rId5" imgW="21926550" imgH="7181850" progId="ChemDraw.Document.6.0">
                  <p:embed/>
                </p:oleObj>
              </mc:Choice>
              <mc:Fallback>
                <p:oleObj name="CS ChemDraw Drawing" r:id="rId5" imgW="21926550" imgH="7181850" progId="ChemDraw.Document.6.0">
                  <p:embed/>
                  <p:pic>
                    <p:nvPicPr>
                      <p:cNvPr id="0" name="Picture 512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10000" y="4343400"/>
                        <a:ext cx="5114872" cy="167640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66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4724400"/>
          </a:xfrm>
        </p:spPr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What are the Similarities Between </a:t>
            </a:r>
            <a:r>
              <a:rPr lang="en-US" b="1" dirty="0" err="1" smtClean="0">
                <a:solidFill>
                  <a:srgbClr val="FF0000"/>
                </a:solidFill>
              </a:rPr>
              <a:t>Borazine</a:t>
            </a:r>
            <a:r>
              <a:rPr lang="en-US" b="1" dirty="0" smtClean="0">
                <a:solidFill>
                  <a:srgbClr val="FF0000"/>
                </a:solidFill>
              </a:rPr>
              <a:t> and Benzene</a:t>
            </a:r>
            <a:r>
              <a:rPr lang="en-US" b="1" dirty="0" smtClean="0">
                <a:solidFill>
                  <a:srgbClr val="FF0000"/>
                </a:solidFill>
              </a:rPr>
              <a:t>?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7030A0"/>
                </a:solidFill>
              </a:rPr>
              <a:t>Both are cyclic structures.</a:t>
            </a:r>
            <a:endParaRPr lang="en-US" b="1" dirty="0" smtClean="0">
              <a:solidFill>
                <a:srgbClr val="7030A0"/>
              </a:solidFill>
            </a:endParaRPr>
          </a:p>
          <a:p>
            <a:r>
              <a:rPr lang="en-US" b="1" dirty="0" smtClean="0">
                <a:solidFill>
                  <a:srgbClr val="7030A0"/>
                </a:solidFill>
              </a:rPr>
              <a:t>Also, both, </a:t>
            </a:r>
            <a:r>
              <a:rPr lang="en-US" b="1" dirty="0" err="1" smtClean="0">
                <a:solidFill>
                  <a:srgbClr val="7030A0"/>
                </a:solidFill>
              </a:rPr>
              <a:t>borazine</a:t>
            </a:r>
            <a:r>
              <a:rPr lang="en-US" b="1" dirty="0" smtClean="0">
                <a:solidFill>
                  <a:srgbClr val="7030A0"/>
                </a:solidFill>
              </a:rPr>
              <a:t> and benzene, have a six-</a:t>
            </a:r>
            <a:r>
              <a:rPr lang="en-US" b="1" dirty="0" err="1" smtClean="0">
                <a:solidFill>
                  <a:srgbClr val="7030A0"/>
                </a:solidFill>
              </a:rPr>
              <a:t>membered</a:t>
            </a:r>
            <a:r>
              <a:rPr lang="en-US" b="1" dirty="0" smtClean="0">
                <a:solidFill>
                  <a:srgbClr val="7030A0"/>
                </a:solidFill>
              </a:rPr>
              <a:t> ring.</a:t>
            </a:r>
            <a:endParaRPr lang="en-US" b="1" dirty="0" smtClean="0">
              <a:solidFill>
                <a:srgbClr val="7030A0"/>
              </a:solidFill>
            </a:endParaRPr>
          </a:p>
          <a:p>
            <a:r>
              <a:rPr lang="en-US" b="1" dirty="0" smtClean="0">
                <a:solidFill>
                  <a:srgbClr val="7030A0"/>
                </a:solidFill>
              </a:rPr>
              <a:t>Moreover, both have equal bond lengths between the atoms of the ring.</a:t>
            </a:r>
            <a:endParaRPr lang="en-US" b="1" dirty="0" smtClean="0">
              <a:solidFill>
                <a:srgbClr val="7030A0"/>
              </a:solidFill>
            </a:endParaRPr>
          </a:p>
          <a:p>
            <a:r>
              <a:rPr lang="en-US" b="1" dirty="0" smtClean="0">
                <a:solidFill>
                  <a:srgbClr val="7030A0"/>
                </a:solidFill>
              </a:rPr>
              <a:t>Furthermore, both are </a:t>
            </a:r>
            <a:r>
              <a:rPr lang="en-US" b="1" dirty="0" err="1" smtClean="0">
                <a:solidFill>
                  <a:srgbClr val="7030A0"/>
                </a:solidFill>
              </a:rPr>
              <a:t>colourless</a:t>
            </a:r>
            <a:r>
              <a:rPr lang="en-US" b="1" dirty="0" smtClean="0">
                <a:solidFill>
                  <a:srgbClr val="7030A0"/>
                </a:solidFill>
              </a:rPr>
              <a:t> liquids at room temperature.</a:t>
            </a:r>
            <a:endParaRPr lang="en-US" b="1" dirty="0" smtClean="0">
              <a:solidFill>
                <a:srgbClr val="7030A0"/>
              </a:solidFill>
            </a:endParaRPr>
          </a:p>
          <a:p>
            <a:r>
              <a:rPr lang="en-US" b="1" dirty="0" smtClean="0">
                <a:solidFill>
                  <a:srgbClr val="7030A0"/>
                </a:solidFill>
              </a:rPr>
              <a:t>Both are </a:t>
            </a:r>
            <a:r>
              <a:rPr lang="en-US" b="1" dirty="0" err="1" smtClean="0">
                <a:solidFill>
                  <a:srgbClr val="7030A0"/>
                </a:solidFill>
              </a:rPr>
              <a:t>isoelectronic</a:t>
            </a:r>
            <a:r>
              <a:rPr lang="en-US" b="1" dirty="0" smtClean="0">
                <a:solidFill>
                  <a:srgbClr val="7030A0"/>
                </a:solidFill>
              </a:rPr>
              <a:t> as well.</a:t>
            </a:r>
            <a:endParaRPr lang="en-US" b="1" dirty="0" smtClean="0">
              <a:solidFill>
                <a:srgbClr val="7030A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3200" b="1" dirty="0" smtClean="0"/>
              <a:t> </a:t>
            </a:r>
            <a:r>
              <a:rPr lang="en-US" sz="3200" b="1" dirty="0" smtClean="0">
                <a:solidFill>
                  <a:srgbClr val="7030A0"/>
                </a:solidFill>
              </a:rPr>
              <a:t>What is the Difference Between </a:t>
            </a:r>
            <a:r>
              <a:rPr lang="en-US" sz="3200" b="1" dirty="0" err="1" smtClean="0">
                <a:solidFill>
                  <a:srgbClr val="7030A0"/>
                </a:solidFill>
              </a:rPr>
              <a:t>Borazine</a:t>
            </a:r>
            <a:r>
              <a:rPr lang="en-US" sz="3200" b="1" dirty="0" smtClean="0">
                <a:solidFill>
                  <a:srgbClr val="7030A0"/>
                </a:solidFill>
              </a:rPr>
              <a:t> and Benzene?</a:t>
            </a:r>
            <a:endParaRPr lang="en-US" sz="3200" b="1" dirty="0" smtClean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/>
          <a:lstStyle/>
          <a:p>
            <a:pPr algn="just"/>
            <a:r>
              <a:rPr lang="en-US" sz="2000" b="1" dirty="0" err="1" smtClean="0">
                <a:solidFill>
                  <a:srgbClr val="002060"/>
                </a:solidFill>
              </a:rPr>
              <a:t>Borazine</a:t>
            </a:r>
            <a:r>
              <a:rPr lang="en-US" sz="2000" b="1" dirty="0" smtClean="0">
                <a:solidFill>
                  <a:srgbClr val="002060"/>
                </a:solidFill>
              </a:rPr>
              <a:t> is an inorganic compound having the chemical formula B</a:t>
            </a:r>
            <a:r>
              <a:rPr lang="en-US" sz="2000" b="1" baseline="-25000" dirty="0" smtClean="0">
                <a:solidFill>
                  <a:srgbClr val="002060"/>
                </a:solidFill>
              </a:rPr>
              <a:t>3</a:t>
            </a:r>
            <a:r>
              <a:rPr lang="en-US" sz="2000" b="1" dirty="0" smtClean="0">
                <a:solidFill>
                  <a:srgbClr val="002060"/>
                </a:solidFill>
              </a:rPr>
              <a:t>H</a:t>
            </a:r>
            <a:r>
              <a:rPr lang="en-US" sz="2000" b="1" baseline="-25000" dirty="0" smtClean="0">
                <a:solidFill>
                  <a:srgbClr val="002060"/>
                </a:solidFill>
              </a:rPr>
              <a:t>6</a:t>
            </a:r>
            <a:r>
              <a:rPr lang="en-US" sz="2000" b="1" dirty="0" smtClean="0">
                <a:solidFill>
                  <a:srgbClr val="002060"/>
                </a:solidFill>
              </a:rPr>
              <a:t>N</a:t>
            </a:r>
            <a:r>
              <a:rPr lang="en-US" sz="2000" b="1" baseline="-25000" dirty="0" smtClean="0">
                <a:solidFill>
                  <a:srgbClr val="002060"/>
                </a:solidFill>
              </a:rPr>
              <a:t>3</a:t>
            </a:r>
            <a:r>
              <a:rPr lang="en-US" sz="2000" b="1" dirty="0" smtClean="0">
                <a:solidFill>
                  <a:srgbClr val="002060"/>
                </a:solidFill>
              </a:rPr>
              <a:t> whereas Benzene is an organic compound having the chemical formula C</a:t>
            </a:r>
            <a:r>
              <a:rPr lang="en-US" sz="2000" b="1" baseline="-25000" dirty="0" smtClean="0">
                <a:solidFill>
                  <a:srgbClr val="002060"/>
                </a:solidFill>
              </a:rPr>
              <a:t>6</a:t>
            </a:r>
            <a:r>
              <a:rPr lang="en-US" sz="2000" b="1" dirty="0" smtClean="0">
                <a:solidFill>
                  <a:srgbClr val="002060"/>
                </a:solidFill>
              </a:rPr>
              <a:t>H</a:t>
            </a:r>
            <a:r>
              <a:rPr lang="en-US" sz="2000" b="1" baseline="-25000" dirty="0" smtClean="0">
                <a:solidFill>
                  <a:srgbClr val="002060"/>
                </a:solidFill>
              </a:rPr>
              <a:t>6</a:t>
            </a:r>
            <a:r>
              <a:rPr lang="en-US" sz="2000" b="1" dirty="0" smtClean="0">
                <a:solidFill>
                  <a:srgbClr val="002060"/>
                </a:solidFill>
              </a:rPr>
              <a:t>. Therefore, the key difference between </a:t>
            </a:r>
            <a:r>
              <a:rPr lang="en-US" sz="2000" b="1" dirty="0" err="1" smtClean="0">
                <a:solidFill>
                  <a:srgbClr val="002060"/>
                </a:solidFill>
              </a:rPr>
              <a:t>borazine</a:t>
            </a:r>
            <a:r>
              <a:rPr lang="en-US" sz="2000" b="1" dirty="0" smtClean="0">
                <a:solidFill>
                  <a:srgbClr val="002060"/>
                </a:solidFill>
              </a:rPr>
              <a:t> and benzene is that the </a:t>
            </a:r>
            <a:r>
              <a:rPr lang="en-US" sz="2000" b="1" dirty="0" err="1" smtClean="0">
                <a:solidFill>
                  <a:srgbClr val="002060"/>
                </a:solidFill>
              </a:rPr>
              <a:t>borazine</a:t>
            </a:r>
            <a:r>
              <a:rPr lang="en-US" sz="2000" b="1" dirty="0" smtClean="0">
                <a:solidFill>
                  <a:srgbClr val="002060"/>
                </a:solidFill>
              </a:rPr>
              <a:t> contains three boron atoms and three nitrogen atoms in the ring structure whereas benzene contains six carbon atoms in the ring structure. In </a:t>
            </a:r>
            <a:r>
              <a:rPr lang="en-US" sz="2000" b="1" dirty="0" err="1" smtClean="0">
                <a:solidFill>
                  <a:srgbClr val="002060"/>
                </a:solidFill>
              </a:rPr>
              <a:t>borazine</a:t>
            </a:r>
            <a:r>
              <a:rPr lang="en-US" sz="2000" b="1" dirty="0" smtClean="0">
                <a:solidFill>
                  <a:srgbClr val="002060"/>
                </a:solidFill>
              </a:rPr>
              <a:t>, the boron and nitrogen atoms are in an alternating pattern. As a result, the </a:t>
            </a:r>
            <a:r>
              <a:rPr lang="en-US" sz="2000" b="1" dirty="0" err="1" smtClean="0">
                <a:solidFill>
                  <a:srgbClr val="002060"/>
                </a:solidFill>
              </a:rPr>
              <a:t>borazine</a:t>
            </a:r>
            <a:r>
              <a:rPr lang="en-US" sz="2000" b="1" dirty="0" smtClean="0">
                <a:solidFill>
                  <a:srgbClr val="002060"/>
                </a:solidFill>
              </a:rPr>
              <a:t> molecule is not a perfect hexagon, but benzene has only carbon atoms in the ring. Thus, it can form a perfect hexagon. Hence, we can consider this as another difference between </a:t>
            </a:r>
            <a:r>
              <a:rPr lang="en-US" sz="2000" b="1" dirty="0" err="1" smtClean="0">
                <a:solidFill>
                  <a:srgbClr val="002060"/>
                </a:solidFill>
              </a:rPr>
              <a:t>borazine</a:t>
            </a:r>
            <a:r>
              <a:rPr lang="en-US" sz="2000" b="1" dirty="0" smtClean="0">
                <a:solidFill>
                  <a:srgbClr val="002060"/>
                </a:solidFill>
              </a:rPr>
              <a:t> and benzene.</a:t>
            </a:r>
            <a:endParaRPr lang="en-US" sz="2000" b="1" dirty="0" smtClean="0">
              <a:solidFill>
                <a:srgbClr val="002060"/>
              </a:solidFill>
            </a:endParaRPr>
          </a:p>
          <a:p>
            <a:pPr algn="just"/>
            <a:r>
              <a:rPr lang="en-US" sz="2000" b="1" dirty="0" smtClean="0">
                <a:solidFill>
                  <a:srgbClr val="002060"/>
                </a:solidFill>
              </a:rPr>
              <a:t>Above all, a significant difference between </a:t>
            </a:r>
            <a:r>
              <a:rPr lang="en-US" sz="2000" b="1" dirty="0" err="1" smtClean="0">
                <a:solidFill>
                  <a:srgbClr val="002060"/>
                </a:solidFill>
              </a:rPr>
              <a:t>borazine</a:t>
            </a:r>
            <a:r>
              <a:rPr lang="en-US" sz="2000" b="1" dirty="0" smtClean="0">
                <a:solidFill>
                  <a:srgbClr val="002060"/>
                </a:solidFill>
              </a:rPr>
              <a:t> and benzene is that the </a:t>
            </a:r>
            <a:r>
              <a:rPr lang="en-US" sz="2000" b="1" dirty="0" err="1" smtClean="0">
                <a:solidFill>
                  <a:srgbClr val="002060"/>
                </a:solidFill>
              </a:rPr>
              <a:t>borazine</a:t>
            </a:r>
            <a:r>
              <a:rPr lang="en-US" sz="2000" b="1" dirty="0" smtClean="0">
                <a:solidFill>
                  <a:srgbClr val="002060"/>
                </a:solidFill>
              </a:rPr>
              <a:t> is a synthetic compound whereas the benzene naturally occurs in crude oil as a major constituent. Also, we can identify a difference between </a:t>
            </a:r>
            <a:r>
              <a:rPr lang="en-US" sz="2000" b="1" dirty="0" err="1" smtClean="0">
                <a:solidFill>
                  <a:srgbClr val="002060"/>
                </a:solidFill>
              </a:rPr>
              <a:t>borazine</a:t>
            </a:r>
            <a:r>
              <a:rPr lang="en-US" sz="2000" b="1" dirty="0" smtClean="0">
                <a:solidFill>
                  <a:srgbClr val="002060"/>
                </a:solidFill>
              </a:rPr>
              <a:t> and benzene based on their reactivity as well. Comparatively, </a:t>
            </a:r>
            <a:r>
              <a:rPr lang="en-US" sz="2000" b="1" dirty="0" err="1" smtClean="0">
                <a:solidFill>
                  <a:srgbClr val="002060"/>
                </a:solidFill>
              </a:rPr>
              <a:t>borazine</a:t>
            </a:r>
            <a:r>
              <a:rPr lang="en-US" sz="2000" b="1" dirty="0" smtClean="0">
                <a:solidFill>
                  <a:srgbClr val="002060"/>
                </a:solidFill>
              </a:rPr>
              <a:t> is more reactive than benzene.</a:t>
            </a:r>
            <a:endParaRPr lang="en-US" sz="2000" b="1" dirty="0" smtClean="0">
              <a:solidFill>
                <a:srgbClr val="002060"/>
              </a:solidFill>
            </a:endParaRPr>
          </a:p>
          <a:p>
            <a:endParaRPr lang="en-US" sz="2000" b="1" dirty="0" smtClean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6858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2800" b="1" dirty="0" err="1" smtClean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Comparsion</a:t>
            </a:r>
            <a:r>
              <a:rPr lang="en-US" sz="2800" b="1" dirty="0" smtClean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2800" b="1" dirty="0" err="1" smtClean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Borazine</a:t>
            </a:r>
            <a:r>
              <a:rPr lang="en-US" sz="2800" b="1" dirty="0" smtClean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Benzene</a:t>
            </a:r>
            <a:endParaRPr lang="en-US" sz="2800" b="1" dirty="0">
              <a:solidFill>
                <a:srgbClr val="3333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81000" y="838200"/>
          <a:ext cx="8229600" cy="5586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solidFill>
                            <a:srgbClr val="006666"/>
                          </a:solidFill>
                          <a:latin typeface="Arial Black" panose="020B0A04020102020204" pitchFamily="34" charset="0"/>
                        </a:rPr>
                        <a:t>Definition</a:t>
                      </a:r>
                      <a:endParaRPr lang="en-US" sz="1600" dirty="0">
                        <a:solidFill>
                          <a:srgbClr val="006666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 smtClean="0">
                          <a:solidFill>
                            <a:srgbClr val="006666"/>
                          </a:solidFill>
                          <a:latin typeface="Arial Black" panose="020B0A04020102020204" pitchFamily="34" charset="0"/>
                        </a:rPr>
                        <a:t>Borazine</a:t>
                      </a:r>
                      <a:r>
                        <a:rPr lang="en-US" sz="1600" b="1" dirty="0" smtClean="0">
                          <a:solidFill>
                            <a:srgbClr val="006666"/>
                          </a:solidFill>
                          <a:latin typeface="Arial Black" panose="020B0A04020102020204" pitchFamily="34" charset="0"/>
                        </a:rPr>
                        <a:t> is an inorganic compound having the chemical formula B</a:t>
                      </a:r>
                      <a:r>
                        <a:rPr lang="en-US" sz="1600" b="1" baseline="-25000" dirty="0" smtClean="0">
                          <a:solidFill>
                            <a:srgbClr val="006666"/>
                          </a:solidFill>
                          <a:latin typeface="Arial Black" panose="020B0A04020102020204" pitchFamily="34" charset="0"/>
                        </a:rPr>
                        <a:t>3</a:t>
                      </a:r>
                      <a:r>
                        <a:rPr lang="en-US" sz="1600" b="1" dirty="0" smtClean="0">
                          <a:solidFill>
                            <a:srgbClr val="006666"/>
                          </a:solidFill>
                          <a:latin typeface="Arial Black" panose="020B0A04020102020204" pitchFamily="34" charset="0"/>
                        </a:rPr>
                        <a:t>H</a:t>
                      </a:r>
                      <a:r>
                        <a:rPr lang="en-US" sz="1600" b="1" baseline="-25000" dirty="0" smtClean="0">
                          <a:solidFill>
                            <a:srgbClr val="006666"/>
                          </a:solidFill>
                          <a:latin typeface="Arial Black" panose="020B0A04020102020204" pitchFamily="34" charset="0"/>
                        </a:rPr>
                        <a:t>6</a:t>
                      </a:r>
                      <a:r>
                        <a:rPr lang="en-US" sz="1600" b="1" dirty="0" smtClean="0">
                          <a:solidFill>
                            <a:srgbClr val="006666"/>
                          </a:solidFill>
                          <a:latin typeface="Arial Black" panose="020B0A04020102020204" pitchFamily="34" charset="0"/>
                        </a:rPr>
                        <a:t>N</a:t>
                      </a:r>
                      <a:r>
                        <a:rPr lang="en-US" sz="1600" b="1" baseline="-25000" dirty="0" smtClean="0">
                          <a:solidFill>
                            <a:srgbClr val="006666"/>
                          </a:solidFill>
                          <a:latin typeface="Arial Black" panose="020B0A04020102020204" pitchFamily="34" charset="0"/>
                        </a:rPr>
                        <a:t>3</a:t>
                      </a:r>
                      <a:endParaRPr lang="en-US" sz="1600" dirty="0">
                        <a:solidFill>
                          <a:srgbClr val="006666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smtClean="0">
                          <a:solidFill>
                            <a:srgbClr val="006666"/>
                          </a:solidFill>
                          <a:latin typeface="Arial Black" panose="020B0A04020102020204" pitchFamily="34" charset="0"/>
                        </a:rPr>
                        <a:t>Benzene is an organic compound having the chemical formula C</a:t>
                      </a:r>
                      <a:r>
                        <a:rPr lang="en-US" sz="1600" b="1" baseline="-25000" dirty="0" smtClean="0">
                          <a:solidFill>
                            <a:srgbClr val="006666"/>
                          </a:solidFill>
                          <a:latin typeface="Arial Black" panose="020B0A04020102020204" pitchFamily="34" charset="0"/>
                        </a:rPr>
                        <a:t>6</a:t>
                      </a:r>
                      <a:r>
                        <a:rPr lang="en-US" sz="1600" b="1" dirty="0" smtClean="0">
                          <a:solidFill>
                            <a:srgbClr val="006666"/>
                          </a:solidFill>
                          <a:latin typeface="Arial Black" panose="020B0A04020102020204" pitchFamily="34" charset="0"/>
                        </a:rPr>
                        <a:t>H</a:t>
                      </a:r>
                      <a:r>
                        <a:rPr lang="en-US" sz="1600" b="1" baseline="-25000" dirty="0" smtClean="0">
                          <a:solidFill>
                            <a:srgbClr val="006666"/>
                          </a:solidFill>
                          <a:latin typeface="Arial Black" panose="020B0A04020102020204" pitchFamily="34" charset="0"/>
                        </a:rPr>
                        <a:t>6</a:t>
                      </a:r>
                      <a:endParaRPr lang="en-US" sz="1600" dirty="0">
                        <a:solidFill>
                          <a:srgbClr val="006666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noFill/>
                  </a:tcPr>
                </a:tc>
              </a:tr>
              <a:tr h="903869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Chemical Nature 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Arial Black" panose="020B0A04020102020204" pitchFamily="34" charset="0"/>
                        </a:rPr>
                        <a:t>Inorganic 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Arial Black" panose="020B0A04020102020204" pitchFamily="34" charset="0"/>
                        </a:rPr>
                        <a:t>Organic</a:t>
                      </a:r>
                      <a:r>
                        <a:rPr lang="en-US" sz="1600" b="1" baseline="0" dirty="0" smtClean="0">
                          <a:latin typeface="Arial Black" panose="020B0A04020102020204" pitchFamily="34" charset="0"/>
                        </a:rPr>
                        <a:t> 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</a:tr>
              <a:tr h="903869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3333FF"/>
                          </a:solidFill>
                          <a:latin typeface="Arial Black" panose="020B0A04020102020204" pitchFamily="34" charset="0"/>
                        </a:rPr>
                        <a:t>Ring Structure </a:t>
                      </a:r>
                      <a:endParaRPr lang="en-US" sz="1600" b="1" dirty="0">
                        <a:solidFill>
                          <a:srgbClr val="3333FF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3333FF"/>
                          </a:solidFill>
                          <a:latin typeface="Arial Black" panose="020B0A04020102020204" pitchFamily="34" charset="0"/>
                        </a:rPr>
                        <a:t>Alternating Boron and Nitrogen atoms</a:t>
                      </a:r>
                      <a:r>
                        <a:rPr lang="en-US" sz="1600" b="1" baseline="0" dirty="0" smtClean="0">
                          <a:solidFill>
                            <a:srgbClr val="3333FF"/>
                          </a:solidFill>
                          <a:latin typeface="Arial Black" panose="020B0A04020102020204" pitchFamily="34" charset="0"/>
                        </a:rPr>
                        <a:t> </a:t>
                      </a:r>
                      <a:r>
                        <a:rPr lang="en-US" sz="1600" b="1" dirty="0" smtClean="0">
                          <a:solidFill>
                            <a:srgbClr val="3333FF"/>
                          </a:solidFill>
                          <a:latin typeface="Arial Black" panose="020B0A04020102020204" pitchFamily="34" charset="0"/>
                        </a:rPr>
                        <a:t> </a:t>
                      </a:r>
                      <a:endParaRPr lang="en-US" sz="1600" b="1" dirty="0">
                        <a:solidFill>
                          <a:srgbClr val="3333FF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3333FF"/>
                          </a:solidFill>
                          <a:latin typeface="Arial Black" panose="020B0A04020102020204" pitchFamily="34" charset="0"/>
                        </a:rPr>
                        <a:t>Only carbon atoms</a:t>
                      </a:r>
                      <a:endParaRPr lang="en-US" sz="1600" b="1" dirty="0">
                        <a:solidFill>
                          <a:srgbClr val="3333FF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</a:tr>
              <a:tr h="903869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C00FF"/>
                          </a:solidFill>
                          <a:latin typeface="Arial Black" panose="020B0A04020102020204" pitchFamily="34" charset="0"/>
                        </a:rPr>
                        <a:t>Reactivity </a:t>
                      </a:r>
                      <a:endParaRPr lang="en-US" sz="1600" b="1" dirty="0">
                        <a:solidFill>
                          <a:srgbClr val="CC00FF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CC00FF"/>
                          </a:solidFill>
                          <a:latin typeface="Arial Black" panose="020B0A04020102020204" pitchFamily="34" charset="0"/>
                        </a:rPr>
                        <a:t>Comparatively more reactive </a:t>
                      </a:r>
                      <a:endParaRPr lang="en-US" sz="1600" b="1" dirty="0">
                        <a:solidFill>
                          <a:srgbClr val="CC00FF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dirty="0" smtClean="0">
                          <a:solidFill>
                            <a:srgbClr val="CC00FF"/>
                          </a:solidFill>
                          <a:latin typeface="Arial Black" panose="020B0A04020102020204" pitchFamily="34" charset="0"/>
                        </a:rPr>
                        <a:t>Comparatively less  reactive </a:t>
                      </a:r>
                      <a:endParaRPr lang="en-US" sz="1600" b="1" dirty="0" smtClean="0">
                        <a:solidFill>
                          <a:srgbClr val="CC00FF"/>
                        </a:solidFill>
                        <a:latin typeface="Arial Black" panose="020B0A04020102020204" pitchFamily="34" charset="0"/>
                      </a:endParaRPr>
                    </a:p>
                    <a:p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</a:tr>
              <a:tr h="903869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666633"/>
                          </a:solidFill>
                          <a:latin typeface="Arial Black" panose="020B0A04020102020204" pitchFamily="34" charset="0"/>
                        </a:rPr>
                        <a:t>Hexagonal Structure </a:t>
                      </a:r>
                      <a:endParaRPr lang="en-US" sz="1600" b="1" dirty="0">
                        <a:solidFill>
                          <a:srgbClr val="666633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666633"/>
                          </a:solidFill>
                          <a:latin typeface="Arial Black" panose="020B0A04020102020204" pitchFamily="34" charset="0"/>
                        </a:rPr>
                        <a:t>Not a perfect hexagon</a:t>
                      </a:r>
                      <a:endParaRPr lang="en-US" sz="1600" b="1" dirty="0">
                        <a:solidFill>
                          <a:srgbClr val="666633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666633"/>
                          </a:solidFill>
                          <a:latin typeface="Arial Black" panose="020B0A04020102020204" pitchFamily="34" charset="0"/>
                        </a:rPr>
                        <a:t>A perfect hexagon</a:t>
                      </a:r>
                      <a:endParaRPr lang="en-US" sz="1600" b="1" dirty="0">
                        <a:solidFill>
                          <a:srgbClr val="666633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</a:tr>
              <a:tr h="903869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3300"/>
                          </a:solidFill>
                          <a:latin typeface="Arial Black" panose="020B0A04020102020204" pitchFamily="34" charset="0"/>
                        </a:rPr>
                        <a:t>Occurrence</a:t>
                      </a:r>
                      <a:endParaRPr lang="en-US" sz="1600" b="1" dirty="0">
                        <a:solidFill>
                          <a:srgbClr val="FF33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3300"/>
                          </a:solidFill>
                          <a:latin typeface="Arial Black" panose="020B0A04020102020204" pitchFamily="34" charset="0"/>
                        </a:rPr>
                        <a:t>Synthetic</a:t>
                      </a:r>
                      <a:endParaRPr lang="en-US" sz="1600" b="1" dirty="0">
                        <a:solidFill>
                          <a:srgbClr val="FF33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3300"/>
                          </a:solidFill>
                          <a:latin typeface="Arial Black" panose="020B0A04020102020204" pitchFamily="34" charset="0"/>
                        </a:rPr>
                        <a:t>Naturally Occurs in Crude oil</a:t>
                      </a:r>
                      <a:endParaRPr lang="en-US" sz="1600" b="1" dirty="0">
                        <a:solidFill>
                          <a:srgbClr val="FF33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143000" y="228600"/>
            <a:ext cx="6400800" cy="1219200"/>
          </a:xfrm>
        </p:spPr>
        <p:txBody>
          <a:bodyPr>
            <a:normAutofit fontScale="90000"/>
          </a:bodyPr>
          <a:lstStyle/>
          <a:p>
            <a:br>
              <a:rPr lang="en-US" b="1" cap="small" dirty="0" smtClean="0"/>
            </a:br>
            <a:br>
              <a:rPr lang="en-US" b="1" cap="small" dirty="0" smtClean="0"/>
            </a:br>
            <a:br>
              <a:rPr lang="en-US" b="1" cap="small" dirty="0" smtClean="0"/>
            </a:br>
            <a:br>
              <a:rPr lang="en-US" b="1" cap="small" dirty="0" smtClean="0"/>
            </a:br>
            <a:br>
              <a:rPr lang="en-US" b="1" cap="small" dirty="0" smtClean="0"/>
            </a:br>
            <a:br>
              <a:rPr lang="en-US" b="1" cap="small" dirty="0" smtClean="0"/>
            </a:br>
            <a:br>
              <a:rPr lang="en-US" b="1" cap="small" dirty="0" smtClean="0"/>
            </a:br>
            <a:br>
              <a:rPr lang="en-US" b="1" cap="small" dirty="0" smtClean="0"/>
            </a:br>
            <a:br>
              <a:rPr lang="en-US" b="1" cap="small" dirty="0" smtClean="0"/>
            </a:br>
            <a:br>
              <a:rPr lang="en-US" b="1" cap="small" dirty="0" smtClean="0"/>
            </a:br>
            <a:br>
              <a:rPr lang="en-US" b="1" cap="small" dirty="0" smtClean="0"/>
            </a:br>
            <a:br>
              <a:rPr lang="en-US" b="1" cap="small" dirty="0" smtClean="0"/>
            </a:br>
            <a:br>
              <a:rPr lang="en-US" b="1" cap="small" dirty="0" smtClean="0"/>
            </a:br>
            <a:br>
              <a:rPr lang="en-US" b="1" cap="small" dirty="0" smtClean="0"/>
            </a:br>
            <a:r>
              <a:rPr lang="en-US" sz="3600" b="1" cap="small" dirty="0" smtClean="0">
                <a:solidFill>
                  <a:srgbClr val="FF0000"/>
                </a:solidFill>
              </a:rPr>
              <a:t>The </a:t>
            </a:r>
            <a:r>
              <a:rPr lang="en-US" sz="3600" b="1" cap="small" dirty="0" err="1" smtClean="0">
                <a:solidFill>
                  <a:srgbClr val="FF0000"/>
                </a:solidFill>
              </a:rPr>
              <a:t>Tetrahydroborate</a:t>
            </a:r>
            <a:r>
              <a:rPr lang="en-US" sz="3600" b="1" cap="small" dirty="0" smtClean="0">
                <a:solidFill>
                  <a:srgbClr val="FF0000"/>
                </a:solidFill>
              </a:rPr>
              <a:t> Ion (BH</a:t>
            </a:r>
            <a:r>
              <a:rPr lang="en-US" sz="3600" b="1" cap="small" baseline="-25000" dirty="0" smtClean="0">
                <a:solidFill>
                  <a:srgbClr val="FF0000"/>
                </a:solidFill>
              </a:rPr>
              <a:t>4</a:t>
            </a:r>
            <a:r>
              <a:rPr lang="en-US" sz="3600" b="1" cap="small" baseline="30000" dirty="0" smtClean="0">
                <a:solidFill>
                  <a:srgbClr val="FF0000"/>
                </a:solidFill>
              </a:rPr>
              <a:t>-</a:t>
            </a:r>
            <a:r>
              <a:rPr lang="en-US" sz="3600" b="1" cap="small" dirty="0" smtClean="0">
                <a:solidFill>
                  <a:srgbClr val="FF0000"/>
                </a:solidFill>
              </a:rPr>
              <a:t>)</a:t>
            </a:r>
            <a:br>
              <a:rPr lang="en-US" cap="small" dirty="0" smtClean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6321" name="Rectangle 1"/>
          <p:cNvSpPr>
            <a:spLocks noChangeArrowheads="1"/>
          </p:cNvSpPr>
          <p:nvPr/>
        </p:nvSpPr>
        <p:spPr bwMode="auto">
          <a:xfrm>
            <a:off x="685800" y="1046203"/>
            <a:ext cx="6400800" cy="563231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NaBH</a:t>
            </a:r>
            <a:r>
              <a:rPr kumimoji="0" lang="en-US" sz="2400" b="0" i="0" u="none" strike="noStrike" cap="none" normalizeH="0" baseline="-3000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stable in dry air and alkaline aqueous solution. (It will react with water initially but the reaction stops as the concentration of the hydrolysis product, sodium borate, builds up.)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LiBH</a:t>
            </a:r>
            <a:r>
              <a:rPr kumimoji="0" lang="en-US" sz="2400" b="0" i="0" u="none" strike="noStrike" cap="none" normalizeH="0" baseline="-3000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similar to NaBH</a:t>
            </a:r>
            <a:r>
              <a:rPr kumimoji="0" lang="en-US" sz="24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but more sensitive to water.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Al(BH</a:t>
            </a:r>
            <a:r>
              <a:rPr kumimoji="0" lang="en-US" sz="2400" b="0" i="0" u="none" strike="noStrike" cap="none" normalizeH="0" baseline="-3000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sz="2400" b="0" i="0" u="none" strike="noStrike" cap="none" normalizeH="0" baseline="-3000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liquid which explodes with air or water. It probably has pairs of hydrogen bridges like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diborane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(BH</a:t>
            </a:r>
            <a:r>
              <a:rPr kumimoji="0" lang="en-US" sz="2400" b="0" i="0" u="none" strike="noStrike" cap="none" normalizeH="0" baseline="-3000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sz="2400" b="0" i="0" u="none" strike="noStrike" cap="none" normalizeH="0" baseline="-3000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a molecular solid with three bridging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hydrogens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connecting each boron to the zirconium.</a:t>
            </a:r>
            <a:endParaRPr kumimoji="0" 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304800"/>
            <a:ext cx="3048000" cy="438912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Carbide</a:t>
            </a:r>
            <a:r>
              <a:rPr lang="en-US" sz="4000" dirty="0" smtClean="0">
                <a:solidFill>
                  <a:srgbClr val="3333FF"/>
                </a:solidFill>
              </a:rPr>
              <a:t> </a:t>
            </a:r>
            <a:endParaRPr lang="en-US" sz="4000" dirty="0">
              <a:solidFill>
                <a:srgbClr val="3333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00200" y="990600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The binary compound of C with M is called carbide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19400" y="1371600"/>
            <a:ext cx="2506327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Example :  Al4C3, CaC2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902797"/>
            <a:ext cx="8077200" cy="501675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000" b="1" dirty="0" smtClean="0">
                <a:solidFill>
                  <a:srgbClr val="3333FF"/>
                </a:solidFill>
              </a:rPr>
              <a:t>      Types of Carbide : </a:t>
            </a:r>
            <a:endParaRPr lang="en-US" sz="2000" b="1" dirty="0" smtClean="0">
              <a:solidFill>
                <a:srgbClr val="3333FF"/>
              </a:solidFill>
            </a:endParaRPr>
          </a:p>
          <a:p>
            <a:pPr algn="just"/>
            <a:endParaRPr lang="en-US" b="1" dirty="0" smtClean="0">
              <a:solidFill>
                <a:srgbClr val="C00000"/>
              </a:solidFill>
            </a:endParaRPr>
          </a:p>
          <a:p>
            <a:pPr marL="342900" indent="-342900" algn="just">
              <a:buAutoNum type="arabicPeriod"/>
            </a:pPr>
            <a:r>
              <a:rPr lang="en-US" b="1" dirty="0" smtClean="0">
                <a:solidFill>
                  <a:srgbClr val="C00000"/>
                </a:solidFill>
              </a:rPr>
              <a:t>Ionic or Salt-like carbide  :       C</a:t>
            </a:r>
            <a:r>
              <a:rPr lang="en-US" b="1" baseline="30000" dirty="0" smtClean="0">
                <a:solidFill>
                  <a:srgbClr val="C00000"/>
                </a:solidFill>
              </a:rPr>
              <a:t>4-</a:t>
            </a:r>
            <a:r>
              <a:rPr lang="en-US" b="1" dirty="0" smtClean="0">
                <a:solidFill>
                  <a:srgbClr val="C00000"/>
                </a:solidFill>
              </a:rPr>
              <a:t>,</a:t>
            </a:r>
            <a:r>
              <a:rPr lang="en-US" b="1" baseline="30000" dirty="0" smtClean="0">
                <a:solidFill>
                  <a:srgbClr val="C00000"/>
                </a:solidFill>
              </a:rPr>
              <a:t>  C</a:t>
            </a:r>
            <a:r>
              <a:rPr lang="en-US" b="1" baseline="-25000" dirty="0" smtClean="0">
                <a:solidFill>
                  <a:srgbClr val="C00000"/>
                </a:solidFill>
              </a:rPr>
              <a:t>2 </a:t>
            </a:r>
            <a:r>
              <a:rPr lang="en-US" b="1" baseline="30000" dirty="0" smtClean="0">
                <a:solidFill>
                  <a:srgbClr val="C00000"/>
                </a:solidFill>
              </a:rPr>
              <a:t>2-</a:t>
            </a:r>
            <a:endParaRPr lang="en-US" b="1" baseline="30000" dirty="0" smtClean="0">
              <a:solidFill>
                <a:srgbClr val="C00000"/>
              </a:solidFill>
            </a:endParaRPr>
          </a:p>
          <a:p>
            <a:pPr marL="342900" indent="-342900" algn="just"/>
            <a:endParaRPr lang="en-US" b="1" baseline="30000" dirty="0" smtClean="0">
              <a:solidFill>
                <a:srgbClr val="C00000"/>
              </a:solidFill>
            </a:endParaRPr>
          </a:p>
          <a:p>
            <a:pPr marL="342900" indent="-342900" algn="just"/>
            <a:endParaRPr lang="en-US" b="1" baseline="30000" dirty="0" smtClean="0">
              <a:solidFill>
                <a:srgbClr val="C00000"/>
              </a:solidFill>
            </a:endParaRPr>
          </a:p>
          <a:p>
            <a:pPr marL="342900" indent="-342900" algn="just"/>
            <a:r>
              <a:rPr lang="en-US" b="1" baseline="30000" dirty="0" smtClean="0">
                <a:solidFill>
                  <a:srgbClr val="C00000"/>
                </a:solidFill>
              </a:rPr>
              <a:t>  </a:t>
            </a:r>
            <a:endParaRPr lang="en-US" b="1" baseline="30000" dirty="0" smtClean="0">
              <a:solidFill>
                <a:srgbClr val="C00000"/>
              </a:solidFill>
            </a:endParaRPr>
          </a:p>
          <a:p>
            <a:pPr marL="342900" indent="-342900" algn="just"/>
            <a:endParaRPr lang="en-US" b="1" baseline="30000" dirty="0" smtClean="0">
              <a:solidFill>
                <a:srgbClr val="C00000"/>
              </a:solidFill>
            </a:endParaRPr>
          </a:p>
          <a:p>
            <a:pPr marL="342900" indent="-342900" algn="just"/>
            <a:endParaRPr lang="en-US" b="1" baseline="30000" dirty="0" smtClean="0">
              <a:solidFill>
                <a:srgbClr val="C00000"/>
              </a:solidFill>
            </a:endParaRPr>
          </a:p>
          <a:p>
            <a:pPr marL="342900" indent="-342900" algn="just"/>
            <a:endParaRPr lang="en-US" b="1" baseline="30000" dirty="0" smtClean="0">
              <a:solidFill>
                <a:srgbClr val="C00000"/>
              </a:solidFill>
            </a:endParaRPr>
          </a:p>
          <a:p>
            <a:pPr marL="342900" indent="-342900" algn="just"/>
            <a:endParaRPr lang="en-US" b="1" baseline="30000" dirty="0" smtClean="0">
              <a:solidFill>
                <a:srgbClr val="C00000"/>
              </a:solidFill>
            </a:endParaRPr>
          </a:p>
          <a:p>
            <a:pPr marL="342900" indent="-342900" algn="just"/>
            <a:endParaRPr lang="en-US" b="1" dirty="0" smtClean="0">
              <a:solidFill>
                <a:srgbClr val="C00000"/>
              </a:solidFill>
            </a:endParaRPr>
          </a:p>
          <a:p>
            <a:pPr marL="342900" indent="-342900" algn="just">
              <a:buAutoNum type="arabicPeriod" startAt="2"/>
            </a:pPr>
            <a:r>
              <a:rPr lang="en-US" sz="2000" b="1" dirty="0" smtClean="0">
                <a:solidFill>
                  <a:srgbClr val="C00000"/>
                </a:solidFill>
              </a:rPr>
              <a:t>Interstitial Carbide:  Transition metal forms this carbide </a:t>
            </a:r>
            <a:endParaRPr lang="en-US" sz="2000" b="1" dirty="0" smtClean="0">
              <a:solidFill>
                <a:srgbClr val="C00000"/>
              </a:solidFill>
            </a:endParaRPr>
          </a:p>
          <a:p>
            <a:pPr marL="342900" indent="-342900" algn="just"/>
            <a:r>
              <a:rPr lang="en-US" sz="2000" b="1" dirty="0" smtClean="0">
                <a:solidFill>
                  <a:srgbClr val="C00000"/>
                </a:solidFill>
              </a:rPr>
              <a:t>Structure: Closed-packed, Hard, Electric Conductor, High  </a:t>
            </a:r>
            <a:r>
              <a:rPr lang="en-US" sz="2000" b="1" dirty="0" err="1" smtClean="0">
                <a:solidFill>
                  <a:srgbClr val="C00000"/>
                </a:solidFill>
              </a:rPr>
              <a:t>m.p</a:t>
            </a:r>
            <a:r>
              <a:rPr lang="en-US" sz="2000" b="1" dirty="0" smtClean="0">
                <a:solidFill>
                  <a:srgbClr val="C00000"/>
                </a:solidFill>
              </a:rPr>
              <a:t>. </a:t>
            </a:r>
            <a:endParaRPr lang="en-US" sz="2000" b="1" dirty="0" smtClean="0">
              <a:solidFill>
                <a:srgbClr val="C00000"/>
              </a:solidFill>
            </a:endParaRPr>
          </a:p>
          <a:p>
            <a:pPr marL="342900" indent="-342900" algn="just"/>
            <a:endParaRPr lang="en-US" b="1" dirty="0" smtClean="0">
              <a:solidFill>
                <a:srgbClr val="C00000"/>
              </a:solidFill>
            </a:endParaRPr>
          </a:p>
          <a:p>
            <a:pPr marL="342900" indent="-342900" algn="just"/>
            <a:r>
              <a:rPr lang="en-US" sz="2000" b="1" dirty="0" smtClean="0">
                <a:solidFill>
                  <a:srgbClr val="C00000"/>
                </a:solidFill>
              </a:rPr>
              <a:t>WC, Fe3C, Mn3C, Ni3C- They are </a:t>
            </a:r>
            <a:r>
              <a:rPr lang="en-US" sz="2000" b="1" dirty="0" err="1" smtClean="0">
                <a:solidFill>
                  <a:srgbClr val="C00000"/>
                </a:solidFill>
              </a:rPr>
              <a:t>hydrolysed</a:t>
            </a:r>
            <a:r>
              <a:rPr lang="en-US" sz="2000" b="1" dirty="0" smtClean="0">
                <a:solidFill>
                  <a:srgbClr val="C00000"/>
                </a:solidFill>
              </a:rPr>
              <a:t> by Acids.</a:t>
            </a:r>
            <a:endParaRPr lang="en-US" sz="2000" b="1" dirty="0" smtClean="0">
              <a:solidFill>
                <a:srgbClr val="C00000"/>
              </a:solidFill>
            </a:endParaRPr>
          </a:p>
          <a:p>
            <a:pPr marL="342900" indent="-342900" algn="just"/>
            <a:endParaRPr lang="en-US" b="1" dirty="0" smtClean="0">
              <a:solidFill>
                <a:srgbClr val="C00000"/>
              </a:solidFill>
            </a:endParaRPr>
          </a:p>
          <a:p>
            <a:pPr marL="342900" indent="-342900" algn="just">
              <a:buAutoNum type="arabicPeriod" startAt="3"/>
            </a:pPr>
            <a:r>
              <a:rPr lang="en-US" b="1" dirty="0" smtClean="0">
                <a:solidFill>
                  <a:srgbClr val="C00000"/>
                </a:solidFill>
              </a:rPr>
              <a:t>Covalent Carbide:  </a:t>
            </a:r>
            <a:r>
              <a:rPr lang="en-US" b="1" dirty="0" err="1" smtClean="0">
                <a:solidFill>
                  <a:srgbClr val="C00000"/>
                </a:solidFill>
              </a:rPr>
              <a:t>SiC</a:t>
            </a:r>
            <a:r>
              <a:rPr lang="en-US" b="1" dirty="0" smtClean="0">
                <a:solidFill>
                  <a:srgbClr val="C00000"/>
                </a:solidFill>
              </a:rPr>
              <a:t>, B4C – Very  Complex Structure,  Very Hard, </a:t>
            </a:r>
            <a:endParaRPr lang="en-US" b="1" dirty="0" smtClean="0">
              <a:solidFill>
                <a:srgbClr val="C00000"/>
              </a:solidFill>
            </a:endParaRPr>
          </a:p>
          <a:p>
            <a:pPr marL="342900" indent="-342900" algn="just">
              <a:buAutoNum type="arabicPeriod" startAt="3"/>
            </a:pPr>
            <a:endParaRPr lang="en-US" b="1" baseline="30000" dirty="0" smtClean="0">
              <a:solidFill>
                <a:srgbClr val="C00000"/>
              </a:solidFill>
            </a:endParaRPr>
          </a:p>
          <a:p>
            <a:pPr marL="342900" indent="-342900" algn="just">
              <a:buAutoNum type="arabicPeriod" startAt="3"/>
            </a:pPr>
            <a:endParaRPr lang="en-US" b="1" baseline="30000" dirty="0" smtClean="0">
              <a:solidFill>
                <a:srgbClr val="C00000"/>
              </a:solidFill>
            </a:endParaRPr>
          </a:p>
          <a:p>
            <a:pPr marL="342900" indent="-342900" algn="just">
              <a:buAutoNum type="arabicPeriod" startAt="3"/>
            </a:pPr>
            <a:endParaRPr lang="en-US" b="1" baseline="30000" dirty="0" smtClean="0">
              <a:solidFill>
                <a:srgbClr val="C00000"/>
              </a:solidFill>
            </a:endParaRPr>
          </a:p>
          <a:p>
            <a:pPr marL="342900" indent="-342900" algn="just">
              <a:buAutoNum type="arabicPeriod" startAt="3"/>
            </a:pPr>
            <a:endParaRPr lang="en-US" b="1" baseline="30000" dirty="0">
              <a:solidFill>
                <a:srgbClr val="C00000"/>
              </a:solidFill>
            </a:endParaRPr>
          </a:p>
        </p:txBody>
      </p:sp>
      <p:graphicFrame>
        <p:nvGraphicFramePr>
          <p:cNvPr id="48129" name="Object 1"/>
          <p:cNvGraphicFramePr>
            <a:graphicFrameLocks noChangeAspect="1"/>
          </p:cNvGraphicFramePr>
          <p:nvPr/>
        </p:nvGraphicFramePr>
        <p:xfrm>
          <a:off x="2438400" y="2819400"/>
          <a:ext cx="4114800" cy="1157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CS ChemDraw Drawing" r:id="rId1" imgW="22688550" imgH="6381750" progId="ChemDraw.Document.6.0">
                  <p:embed/>
                </p:oleObj>
              </mc:Choice>
              <mc:Fallback>
                <p:oleObj name="CS ChemDraw Drawing" r:id="rId1" imgW="22688550" imgH="6381750" progId="ChemDraw.Document.6.0">
                  <p:embed/>
                  <p:pic>
                    <p:nvPicPr>
                      <p:cNvPr id="0" name="Picture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38400" y="2819400"/>
                        <a:ext cx="4114800" cy="1157401"/>
                      </a:xfrm>
                      <a:prstGeom prst="rect">
                        <a:avLst/>
                      </a:prstGeom>
                      <a:solidFill>
                        <a:srgbClr val="009DD9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1" name="Object 3"/>
          <p:cNvGraphicFramePr>
            <a:graphicFrameLocks noChangeAspect="1"/>
          </p:cNvGraphicFramePr>
          <p:nvPr/>
        </p:nvGraphicFramePr>
        <p:xfrm>
          <a:off x="2743200" y="6083905"/>
          <a:ext cx="3276600" cy="774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CS ChemDraw Drawing" r:id="rId3" imgW="18945225" imgH="4476750" progId="ChemDraw.Document.6.0">
                  <p:embed/>
                </p:oleObj>
              </mc:Choice>
              <mc:Fallback>
                <p:oleObj name="CS ChemDraw Drawing" r:id="rId3" imgW="18945225" imgH="4476750" progId="ChemDraw.Document.6.0">
                  <p:embed/>
                  <p:pic>
                    <p:nvPicPr>
                      <p:cNvPr id="0" name="Picture 614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43200" y="6083905"/>
                        <a:ext cx="3276600" cy="774095"/>
                      </a:xfrm>
                      <a:prstGeom prst="rect">
                        <a:avLst/>
                      </a:prstGeom>
                      <a:solidFill>
                        <a:srgbClr val="009DD9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591312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3333FF"/>
                </a:solidFill>
              </a:rPr>
              <a:t>Diamond Vs Graphite</a:t>
            </a:r>
            <a:endParaRPr lang="en-US" b="1" dirty="0">
              <a:solidFill>
                <a:srgbClr val="3333FF"/>
              </a:solidFill>
            </a:endParaRPr>
          </a:p>
        </p:txBody>
      </p:sp>
      <p:graphicFrame>
        <p:nvGraphicFramePr>
          <p:cNvPr id="47105" name="Object 1"/>
          <p:cNvGraphicFramePr>
            <a:graphicFrameLocks noChangeAspect="1"/>
          </p:cNvGraphicFramePr>
          <p:nvPr/>
        </p:nvGraphicFramePr>
        <p:xfrm>
          <a:off x="762000" y="5029200"/>
          <a:ext cx="6225539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CS ChemDraw Drawing" r:id="rId1" imgW="14944725" imgH="3476625" progId="ChemDraw.Document.6.0">
                  <p:embed/>
                </p:oleObj>
              </mc:Choice>
              <mc:Fallback>
                <p:oleObj name="CS ChemDraw Drawing" r:id="rId1" imgW="14944725" imgH="3476625" progId="ChemDraw.Document.6.0">
                  <p:embed/>
                  <p:pic>
                    <p:nvPicPr>
                      <p:cNvPr id="0" name="Picture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2000" y="5029200"/>
                        <a:ext cx="6225539" cy="1447800"/>
                      </a:xfrm>
                      <a:prstGeom prst="rect">
                        <a:avLst/>
                      </a:prstGeom>
                      <a:solidFill>
                        <a:srgbClr val="0F6FC6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1000" y="1447800"/>
            <a:ext cx="71627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</a:rPr>
              <a:t>Two crystal form of Carbon, Diamond and Graphite, </a:t>
            </a:r>
            <a:endParaRPr lang="en-US" sz="2400" dirty="0" smtClean="0">
              <a:solidFill>
                <a:srgbClr val="C00000"/>
              </a:solidFill>
            </a:endParaRPr>
          </a:p>
          <a:p>
            <a:r>
              <a:rPr lang="en-US" sz="2400" dirty="0" smtClean="0">
                <a:solidFill>
                  <a:srgbClr val="C00000"/>
                </a:solidFill>
              </a:rPr>
              <a:t>The another form of Carbon- Fullerene- C</a:t>
            </a:r>
            <a:r>
              <a:rPr lang="en-US" sz="2400" baseline="-25000" dirty="0" smtClean="0">
                <a:solidFill>
                  <a:srgbClr val="C00000"/>
                </a:solidFill>
              </a:rPr>
              <a:t>6o</a:t>
            </a:r>
            <a:r>
              <a:rPr lang="en-US" sz="2400" dirty="0" smtClean="0">
                <a:solidFill>
                  <a:srgbClr val="C00000"/>
                </a:solidFill>
              </a:rPr>
              <a:t>  </a:t>
            </a:r>
            <a:endParaRPr lang="en-US" sz="2400" dirty="0">
              <a:solidFill>
                <a:srgbClr val="C00000"/>
              </a:solidFill>
            </a:endParaRPr>
          </a:p>
        </p:txBody>
      </p:sp>
      <p:graphicFrame>
        <p:nvGraphicFramePr>
          <p:cNvPr id="47106" name="Object 2"/>
          <p:cNvGraphicFramePr>
            <a:graphicFrameLocks noChangeAspect="1"/>
          </p:cNvGraphicFramePr>
          <p:nvPr/>
        </p:nvGraphicFramePr>
        <p:xfrm>
          <a:off x="2438400" y="2286000"/>
          <a:ext cx="2607461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CS ChemDraw Drawing" r:id="rId3" imgW="6229350" imgH="6181725" progId="ChemDraw.Document.6.0">
                  <p:embed/>
                </p:oleObj>
              </mc:Choice>
              <mc:Fallback>
                <p:oleObj name="CS ChemDraw Drawing" r:id="rId3" imgW="6229350" imgH="6181725" progId="ChemDraw.Document.6.0">
                  <p:embed/>
                  <p:pic>
                    <p:nvPicPr>
                      <p:cNvPr id="0" name="Picture 7169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38400" y="2286000"/>
                        <a:ext cx="2607461" cy="259080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3366FF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229600" cy="5334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Comparison Between Diamond and Graphite 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2000" y="1447800"/>
          <a:ext cx="7772400" cy="4752530"/>
        </p:xfrm>
        <a:graphic>
          <a:graphicData uri="http://schemas.openxmlformats.org/drawingml/2006/table">
            <a:tbl>
              <a:tblPr>
                <a:effectLst>
                  <a:outerShdw blurRad="50800" dist="50800" dir="5400000" algn="ctr" rotWithShape="0">
                    <a:schemeClr val="bg2">
                      <a:lumMod val="90000"/>
                    </a:schemeClr>
                  </a:outerShdw>
                </a:effectLst>
              </a:tblPr>
              <a:tblGrid>
                <a:gridCol w="3587002"/>
                <a:gridCol w="4185398"/>
              </a:tblGrid>
              <a:tr h="609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Diamond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Graphite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48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1. Tetrahedral Arrangement of C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 panose="02020603050405020304"/>
                        <a:ea typeface="Calibri" panose="020F0502020204030204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Angle 109</a:t>
                      </a:r>
                      <a:r>
                        <a:rPr lang="en-US" sz="2000" b="1" baseline="30000" dirty="0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o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1. Square Planer arrangement of C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 panose="02020603050405020304"/>
                        <a:ea typeface="Calibri" panose="020F0502020204030204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Angle- 120</a:t>
                      </a:r>
                      <a:r>
                        <a:rPr lang="en-US" sz="2000" b="1" baseline="30000" dirty="0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o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431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2. Three dimensional network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2. Layered structure (3.4 Ǻ) separation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67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3. Sp</a:t>
                      </a:r>
                      <a:r>
                        <a:rPr lang="en-US" sz="2000" b="1" baseline="30000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3</a:t>
                      </a:r>
                      <a:r>
                        <a:rPr lang="en-US" sz="2000" b="1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 hybridization</a:t>
                      </a:r>
                      <a:endParaRPr lang="en-US" sz="1800" b="1">
                        <a:solidFill>
                          <a:srgbClr val="3333FF"/>
                        </a:solidFill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3. Sp</a:t>
                      </a:r>
                      <a:r>
                        <a:rPr lang="en-US" sz="2000" b="1" baseline="30000" dirty="0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2</a:t>
                      </a: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 hybridization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67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4.Non-conductor of electricity</a:t>
                      </a:r>
                      <a:endParaRPr lang="en-US" sz="1800" b="1">
                        <a:solidFill>
                          <a:srgbClr val="3333FF"/>
                        </a:solidFill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4.Good  conductor of electricity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431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5. No free electron</a:t>
                      </a:r>
                      <a:endParaRPr lang="en-US" sz="1800" b="1">
                        <a:solidFill>
                          <a:srgbClr val="3333FF"/>
                        </a:solidFill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5. Free electron moves to a particular layer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67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6. Very hard</a:t>
                      </a:r>
                      <a:endParaRPr lang="en-US" sz="1800" b="1">
                        <a:solidFill>
                          <a:srgbClr val="3333FF"/>
                        </a:solidFill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6. Soft and malleable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905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7. Density – 3.51 g/cm</a:t>
                      </a:r>
                      <a:r>
                        <a:rPr lang="en-US" sz="2000" b="1" baseline="30000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3</a:t>
                      </a:r>
                      <a:endParaRPr lang="en-US" sz="1800" b="1">
                        <a:solidFill>
                          <a:srgbClr val="3333FF"/>
                        </a:solidFill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7. Density – 2.22 g/cm</a:t>
                      </a:r>
                      <a:r>
                        <a:rPr lang="en-US" sz="2000" b="1" baseline="30000" dirty="0">
                          <a:solidFill>
                            <a:srgbClr val="3333FF"/>
                          </a:solidFill>
                          <a:latin typeface="Times New Roman" panose="02020603050405020304"/>
                          <a:ea typeface="Calibri" panose="020F0502020204030204"/>
                        </a:rPr>
                        <a:t>3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838200" y="685800"/>
            <a:ext cx="6493266" cy="5562600"/>
          </a:xfrm>
          <a:prstGeom prst="rect">
            <a:avLst/>
          </a:prstGeom>
        </p:spPr>
        <p:style>
          <a:lnRef idx="1">
            <a:schemeClr val="accent3"/>
          </a:lnRef>
          <a:fillRef idx="1001">
            <a:schemeClr val="lt2"/>
          </a:fillRef>
          <a:effectRef idx="1">
            <a:schemeClr val="accent3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1">
            <a:duotone>
              <a:prstClr val="black"/>
              <a:schemeClr val="accent3">
                <a:tint val="45000"/>
                <a:satMod val="400000"/>
              </a:schemeClr>
            </a:duotone>
            <a:lum bright="-20000" contrast="57000"/>
          </a:blip>
          <a:srcRect/>
          <a:stretch>
            <a:fillRect/>
          </a:stretch>
        </p:blipFill>
        <p:spPr bwMode="auto">
          <a:xfrm>
            <a:off x="304800" y="1143000"/>
            <a:ext cx="8657740" cy="4800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1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609600" y="685800"/>
            <a:ext cx="8094663" cy="46958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0</TotalTime>
  <Words>6737</Words>
  <Application>WPS Presentation</Application>
  <PresentationFormat>On-screen Show (4:3)</PresentationFormat>
  <Paragraphs>256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10</vt:i4>
      </vt:variant>
      <vt:variant>
        <vt:lpstr>幻灯片标题</vt:lpstr>
      </vt:variant>
      <vt:variant>
        <vt:i4>29</vt:i4>
      </vt:variant>
    </vt:vector>
  </HeadingPairs>
  <TitlesOfParts>
    <vt:vector size="57" baseType="lpstr">
      <vt:lpstr>Arial</vt:lpstr>
      <vt:lpstr>SimSun</vt:lpstr>
      <vt:lpstr>Wingdings</vt:lpstr>
      <vt:lpstr>Wingdings 2</vt:lpstr>
      <vt:lpstr>Arial Black</vt:lpstr>
      <vt:lpstr>Calibri</vt:lpstr>
      <vt:lpstr>Arial Narrow</vt:lpstr>
      <vt:lpstr>Calibri</vt:lpstr>
      <vt:lpstr>Times New Roman</vt:lpstr>
      <vt:lpstr>Constantia</vt:lpstr>
      <vt:lpstr>Microsoft YaHei</vt:lpstr>
      <vt:lpstr>Arial Unicode MS</vt:lpstr>
      <vt:lpstr>Aharoni</vt:lpstr>
      <vt:lpstr>Siyam Rupali</vt:lpstr>
      <vt:lpstr>TimesNewRomanPS-BoldItalicMT</vt:lpstr>
      <vt:lpstr>Symbol</vt:lpstr>
      <vt:lpstr>Times New Roman</vt:lpstr>
      <vt:lpstr>Default Design</vt:lpstr>
      <vt:lpstr>ChemDraw.Document.6.0</vt:lpstr>
      <vt:lpstr>ChemDraw.Document.6.0</vt:lpstr>
      <vt:lpstr>ChemDraw.Document.6.0</vt:lpstr>
      <vt:lpstr>ChemDraw.Document.6.0</vt:lpstr>
      <vt:lpstr>ChemDraw.Document.6.0</vt:lpstr>
      <vt:lpstr>ChemDraw.Document.6.0</vt:lpstr>
      <vt:lpstr>ChemDraw.Document.6.0</vt:lpstr>
      <vt:lpstr>ChemDraw.Document.6.0</vt:lpstr>
      <vt:lpstr>ChemDraw.Document.6.0</vt:lpstr>
      <vt:lpstr>ChemDraw.Document.6.0</vt:lpstr>
      <vt:lpstr>            Electron Deficient Compound</vt:lpstr>
      <vt:lpstr>PowerPoint 演示文稿</vt:lpstr>
      <vt:lpstr>PowerPoint 演示文稿</vt:lpstr>
      <vt:lpstr>PowerPoint 演示文稿</vt:lpstr>
      <vt:lpstr>Alfred Stock established borane Chemistry</vt:lpstr>
      <vt:lpstr>PowerPoint 演示文稿</vt:lpstr>
      <vt:lpstr>The Hydride of Boron/ Diborane ( B2H6) </vt:lpstr>
      <vt:lpstr>Reaction of B2H6</vt:lpstr>
      <vt:lpstr>PowerPoint 演示文稿</vt:lpstr>
      <vt:lpstr>PowerPoint 演示文稿</vt:lpstr>
      <vt:lpstr>PowerPoint 演示文稿</vt:lpstr>
      <vt:lpstr>Bonding in Diborane, B2H6</vt:lpstr>
      <vt:lpstr>PowerPoint 演示文稿</vt:lpstr>
      <vt:lpstr>PowerPoint 演示文稿</vt:lpstr>
      <vt:lpstr>Five Bonding Elements in Higher Borane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What is the Difference Between Borazine and Benzene?</vt:lpstr>
      <vt:lpstr>Comparsion of Borazine and Benzene</vt:lpstr>
      <vt:lpstr>              The Tetrahydroborate Ion (BH4-) </vt:lpstr>
      <vt:lpstr>Carbide </vt:lpstr>
      <vt:lpstr>Diamond Vs Graphite</vt:lpstr>
      <vt:lpstr>Comparison Between Diamond and Graphite 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Arzu</dc:creator>
  <cp:lastModifiedBy>A To Z Computer</cp:lastModifiedBy>
  <cp:revision>166</cp:revision>
  <dcterms:created xsi:type="dcterms:W3CDTF">2014-04-20T10:14:00Z</dcterms:created>
  <dcterms:modified xsi:type="dcterms:W3CDTF">2022-08-12T15:08:37Z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BF35A4D543FB40F9BC4EB2C00A7B421B</vt:lpwstr>
  </property>
  <property fmtid="{D5CDD505-2E9C-101B-9397-08002B2CF9AE}" pid="3" name="KSOProductBuildVer">
    <vt:lpwstr>1033-11.2.0.11254</vt:lpwstr>
  </property>
</Properties>
</file>