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notesMasterIdLst>
    <p:notesMasterId r:id="rId51"/>
  </p:notesMasterIdLst>
  <p:sldIdLst>
    <p:sldId id="306" r:id="rId2"/>
    <p:sldId id="304" r:id="rId3"/>
    <p:sldId id="256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77" r:id="rId12"/>
    <p:sldId id="278" r:id="rId13"/>
    <p:sldId id="279" r:id="rId14"/>
    <p:sldId id="269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270" r:id="rId25"/>
    <p:sldId id="292" r:id="rId26"/>
    <p:sldId id="293" r:id="rId27"/>
    <p:sldId id="276" r:id="rId28"/>
    <p:sldId id="323" r:id="rId29"/>
    <p:sldId id="324" r:id="rId30"/>
    <p:sldId id="325" r:id="rId31"/>
    <p:sldId id="326" r:id="rId32"/>
    <p:sldId id="318" r:id="rId33"/>
    <p:sldId id="264" r:id="rId34"/>
    <p:sldId id="307" r:id="rId35"/>
    <p:sldId id="265" r:id="rId36"/>
    <p:sldId id="282" r:id="rId37"/>
    <p:sldId id="280" r:id="rId38"/>
    <p:sldId id="272" r:id="rId39"/>
    <p:sldId id="288" r:id="rId40"/>
    <p:sldId id="291" r:id="rId41"/>
    <p:sldId id="289" r:id="rId42"/>
    <p:sldId id="283" r:id="rId43"/>
    <p:sldId id="273" r:id="rId44"/>
    <p:sldId id="274" r:id="rId45"/>
    <p:sldId id="275" r:id="rId46"/>
    <p:sldId id="285" r:id="rId47"/>
    <p:sldId id="286" r:id="rId48"/>
    <p:sldId id="287" r:id="rId49"/>
    <p:sldId id="284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FF3300"/>
    <a:srgbClr val="3333FF"/>
    <a:srgbClr val="CC00FF"/>
    <a:srgbClr val="333399"/>
    <a:srgbClr val="006666"/>
    <a:srgbClr val="6666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442C5-95FF-4254-853B-99D230EF2EEF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390C04-1F33-4E1E-AD7C-DF8A94160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72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9B3422-B303-47DD-9CEF-72CAD5E40D8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2012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390C04-1F33-4E1E-AD7C-DF8A94160D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14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3CA215C-8D7B-4614-A3F0-1420934E758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7C40340-D911-4446-9110-93157793D01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miah@juniv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toichiometric" TargetMode="External"/><Relationship Id="rId2" Type="http://schemas.openxmlformats.org/officeDocument/2006/relationships/hyperlink" Target="http://en.wikipedia.org/wiki/W%C3%BCstit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en.wikipedia.org/wiki/File:Defecttypes.png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microsoft.com/office/2007/relationships/hdphoto" Target="../media/hdphoto5.wdp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4.wdp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mentalchemistry.in/2022/12/boron.html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ementalchemistry.in/2020/08/about-hydrogen_20.html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hdphoto" Target="../media/hdphoto14.wdp"/><Relationship Id="rId3" Type="http://schemas.openxmlformats.org/officeDocument/2006/relationships/image" Target="../media/image32.emf"/><Relationship Id="rId7" Type="http://schemas.openxmlformats.org/officeDocument/2006/relationships/image" Target="../media/image35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6" Type="http://schemas.microsoft.com/office/2007/relationships/hdphoto" Target="../media/hdphoto13.wdp"/><Relationship Id="rId5" Type="http://schemas.openxmlformats.org/officeDocument/2006/relationships/image" Target="../media/image34.png"/><Relationship Id="rId4" Type="http://schemas.openxmlformats.org/officeDocument/2006/relationships/image" Target="../media/image3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42.png"/><Relationship Id="rId7" Type="http://schemas.openxmlformats.org/officeDocument/2006/relationships/oleObject" Target="../embeddings/oleObject6.bin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5.bin"/><Relationship Id="rId4" Type="http://schemas.microsoft.com/office/2007/relationships/hdphoto" Target="../media/hdphoto15.wdp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8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0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41720" y="556103"/>
            <a:ext cx="2711896" cy="533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b="1" dirty="0" err="1">
                <a:solidFill>
                  <a:srgbClr val="FF0000"/>
                </a:solidFill>
                <a:latin typeface="Centaur" panose="02030504050205020304" pitchFamily="18" charset="0"/>
                <a:ea typeface="+mn-ea"/>
                <a:cs typeface="+mn-cs"/>
              </a:rPr>
              <a:t>Chem</a:t>
            </a:r>
            <a:r>
              <a:rPr lang="en-US" b="1" dirty="0">
                <a:solidFill>
                  <a:srgbClr val="FF0000"/>
                </a:solidFill>
                <a:latin typeface="Centaur" panose="02030504050205020304" pitchFamily="18" charset="0"/>
                <a:ea typeface="+mn-ea"/>
                <a:cs typeface="+mn-cs"/>
              </a:rPr>
              <a:t> 322</a:t>
            </a:r>
            <a:endParaRPr lang="en-CA" b="1" dirty="0">
              <a:solidFill>
                <a:srgbClr val="FF0000"/>
              </a:solidFill>
              <a:latin typeface="Centaur" panose="02030504050205020304" pitchFamily="18" charset="0"/>
              <a:ea typeface="+mn-ea"/>
              <a:cs typeface="+mn-cs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60375" y="3352800"/>
            <a:ext cx="7972985" cy="270596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en-US" sz="8000" b="1" dirty="0">
              <a:solidFill>
                <a:srgbClr val="00B050"/>
              </a:solidFill>
              <a:latin typeface="Corbel" panose="020B0503020204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11200" dirty="0">
              <a:solidFill>
                <a:srgbClr val="7030A0"/>
              </a:solidFill>
              <a:latin typeface="Calisto MT" panose="02040603050505030304" pitchFamily="18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11200" b="1" dirty="0">
                <a:solidFill>
                  <a:srgbClr val="6600FF"/>
                </a:solidFill>
                <a:latin typeface="Arial Black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Dr. Md. </a:t>
            </a:r>
            <a:r>
              <a:rPr lang="en-US" sz="11200" b="1" dirty="0" err="1">
                <a:solidFill>
                  <a:srgbClr val="6600FF"/>
                </a:solidFill>
                <a:latin typeface="Arial Black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Arzu</a:t>
            </a:r>
            <a:r>
              <a:rPr lang="en-US" sz="11200" b="1" dirty="0">
                <a:solidFill>
                  <a:srgbClr val="6600FF"/>
                </a:solidFill>
                <a:latin typeface="Arial Black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sz="11200" b="1" dirty="0" err="1">
                <a:solidFill>
                  <a:srgbClr val="6600FF"/>
                </a:solidFill>
                <a:latin typeface="Arial Black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Miah</a:t>
            </a:r>
            <a:r>
              <a:rPr lang="en-US" sz="11200" b="1" dirty="0">
                <a:solidFill>
                  <a:srgbClr val="6600FF"/>
                </a:solidFill>
                <a:latin typeface="Arial Black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endParaRPr lang="en-US" sz="8000" b="1" dirty="0">
              <a:solidFill>
                <a:srgbClr val="6600FF"/>
              </a:solidFill>
              <a:latin typeface="Arial Black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5600" b="1" dirty="0">
                <a:solidFill>
                  <a:srgbClr val="003399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Post Doc. ( KAIST, S. Korea), PhD (</a:t>
            </a:r>
            <a:r>
              <a:rPr lang="en-US" sz="5600" b="1" dirty="0" err="1">
                <a:solidFill>
                  <a:srgbClr val="003399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Veinna</a:t>
            </a:r>
            <a:r>
              <a:rPr lang="en-US" sz="5600" b="1" dirty="0">
                <a:solidFill>
                  <a:srgbClr val="003399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, Austria), </a:t>
            </a:r>
            <a:r>
              <a:rPr lang="en-US" sz="5600" b="1" dirty="0" err="1">
                <a:solidFill>
                  <a:srgbClr val="003399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M.Sc</a:t>
            </a:r>
            <a:r>
              <a:rPr lang="en-US" sz="5600" b="1" dirty="0">
                <a:solidFill>
                  <a:srgbClr val="003399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 &amp; </a:t>
            </a:r>
            <a:r>
              <a:rPr lang="en-US" sz="5600" b="1" dirty="0" err="1">
                <a:solidFill>
                  <a:srgbClr val="003399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B.Sc</a:t>
            </a:r>
            <a:r>
              <a:rPr lang="en-US" sz="5600" b="1" dirty="0">
                <a:solidFill>
                  <a:srgbClr val="003399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 in Chemistry  (JU) </a:t>
            </a:r>
          </a:p>
          <a:p>
            <a:pPr algn="just">
              <a:lnSpc>
                <a:spcPct val="120000"/>
              </a:lnSpc>
            </a:pPr>
            <a:r>
              <a:rPr lang="en-US" sz="7200" b="1" dirty="0">
                <a:solidFill>
                  <a:srgbClr val="C00000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Professor</a:t>
            </a:r>
          </a:p>
          <a:p>
            <a:pPr algn="just">
              <a:lnSpc>
                <a:spcPct val="120000"/>
              </a:lnSpc>
            </a:pPr>
            <a:r>
              <a:rPr lang="en-US" sz="7200" b="1" dirty="0">
                <a:solidFill>
                  <a:srgbClr val="C00000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Department of Chemistry</a:t>
            </a:r>
          </a:p>
          <a:p>
            <a:pPr algn="just">
              <a:lnSpc>
                <a:spcPct val="120000"/>
              </a:lnSpc>
            </a:pPr>
            <a:r>
              <a:rPr lang="en-US" sz="7200" b="1" dirty="0" err="1">
                <a:solidFill>
                  <a:srgbClr val="C00000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Jahangirnagar</a:t>
            </a:r>
            <a:r>
              <a:rPr lang="en-US" sz="7200" b="1" dirty="0">
                <a:solidFill>
                  <a:srgbClr val="C00000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 University</a:t>
            </a:r>
          </a:p>
          <a:p>
            <a:pPr algn="just">
              <a:lnSpc>
                <a:spcPct val="120000"/>
              </a:lnSpc>
            </a:pPr>
            <a:r>
              <a:rPr lang="en-US" sz="7200" b="1" dirty="0" err="1">
                <a:solidFill>
                  <a:srgbClr val="0000FF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Savar</a:t>
            </a:r>
            <a:r>
              <a:rPr lang="en-US" sz="7200" b="1" dirty="0">
                <a:solidFill>
                  <a:srgbClr val="0000FF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, Dhaka-1342</a:t>
            </a:r>
          </a:p>
          <a:p>
            <a:pPr algn="just">
              <a:lnSpc>
                <a:spcPct val="120000"/>
              </a:lnSpc>
            </a:pPr>
            <a:r>
              <a:rPr lang="en-US" sz="7200" b="1" dirty="0">
                <a:solidFill>
                  <a:srgbClr val="9900FF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</a:rPr>
              <a:t>Cell: 01732150725</a:t>
            </a:r>
          </a:p>
          <a:p>
            <a:pPr algn="just">
              <a:lnSpc>
                <a:spcPct val="120000"/>
              </a:lnSpc>
            </a:pPr>
            <a:r>
              <a:rPr lang="en-US" sz="7200" dirty="0">
                <a:solidFill>
                  <a:srgbClr val="00B0F0"/>
                </a:solidFill>
                <a:latin typeface="Calisto MT" panose="02040603050505030304" pitchFamily="18" charset="0"/>
                <a:ea typeface="Microsoft YaHei" panose="020B0503020204020204" pitchFamily="34" charset="-122"/>
                <a:cs typeface="Arial" panose="020B0604020202020204" pitchFamily="34" charset="0"/>
                <a:hlinkClick r:id="rId3"/>
              </a:rPr>
              <a:t>mamiah</a:t>
            </a:r>
            <a:r>
              <a:rPr lang="en-US" sz="7200" dirty="0">
                <a:latin typeface="Calisto MT" panose="02040603050505030304" pitchFamily="18" charset="0"/>
                <a:cs typeface="Calibri Light"/>
                <a:hlinkClick r:id="rId3"/>
              </a:rPr>
              <a:t>@juniv.edu</a:t>
            </a:r>
            <a:endParaRPr lang="en-US" sz="7200" dirty="0">
              <a:latin typeface="Calisto MT" panose="02040603050505030304" pitchFamily="18" charset="0"/>
              <a:cs typeface="Calibri Light"/>
            </a:endParaRPr>
          </a:p>
          <a:p>
            <a:pPr algn="just">
              <a:lnSpc>
                <a:spcPct val="120000"/>
              </a:lnSpc>
            </a:pPr>
            <a:endParaRPr lang="en-US" sz="7200" dirty="0">
              <a:latin typeface="Calisto MT" panose="02040603050505030304" pitchFamily="18" charset="0"/>
              <a:cs typeface="Calibri Light"/>
            </a:endParaRPr>
          </a:p>
          <a:p>
            <a:pPr algn="just"/>
            <a:endParaRPr lang="en-US" sz="8800" b="1" dirty="0">
              <a:latin typeface="Corbel" panose="020B0503020204020204" pitchFamily="34" charset="0"/>
              <a:cs typeface="Calibri Light"/>
            </a:endParaRPr>
          </a:p>
          <a:p>
            <a:pPr algn="l"/>
            <a:endParaRPr lang="en-CA" sz="3200" dirty="0">
              <a:cs typeface="Calibri Light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14400" y="1976075"/>
            <a:ext cx="6667500" cy="107939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3200" b="1" dirty="0">
                <a:solidFill>
                  <a:srgbClr val="0000FF"/>
                </a:solidFill>
                <a:latin typeface="Calisto MT" panose="02040603050505030304" pitchFamily="18" charset="0"/>
              </a:rPr>
              <a:t>Selected Topic of Inorganic  Chemistry</a:t>
            </a:r>
          </a:p>
        </p:txBody>
      </p:sp>
      <p:sp>
        <p:nvSpPr>
          <p:cNvPr id="2" name="AutoShape 2" descr="Jahangirnagar University School &amp; College Dhaka, other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752" y="381000"/>
            <a:ext cx="999248" cy="1112207"/>
          </a:xfrm>
          <a:prstGeom prst="rect">
            <a:avLst/>
          </a:prstGeom>
          <a:noFill/>
          <a:ln w="9525">
            <a:solidFill>
              <a:srgbClr val="7030A0">
                <a:alpha val="97000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90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33400"/>
            <a:ext cx="7851648" cy="990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3333FF"/>
                </a:solidFill>
              </a:rPr>
              <a:t>Chapter-3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7854696" cy="175260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CC00FF"/>
                </a:solidFill>
              </a:rPr>
              <a:t>Bonding in Electron Deficient and</a:t>
            </a:r>
          </a:p>
          <a:p>
            <a:pPr algn="ctr"/>
            <a:r>
              <a:rPr lang="en-US" sz="36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9933FF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Non-stoichiometric Compounds</a:t>
            </a:r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8816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457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3600" dirty="0">
                <a:solidFill>
                  <a:srgbClr val="3333FF"/>
                </a:solidFill>
              </a:rPr>
              <a:t>Electron Deficient Compound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1295400"/>
            <a:ext cx="8077200" cy="1752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algn="just"/>
            <a:endParaRPr lang="en-US" sz="3200" b="1" cap="none" dirty="0">
              <a:solidFill>
                <a:srgbClr val="00B050"/>
              </a:solidFill>
              <a:latin typeface="Arial Black" pitchFamily="34" charset="0"/>
              <a:ea typeface="Calibri"/>
            </a:endParaRPr>
          </a:p>
          <a:p>
            <a:pPr algn="just"/>
            <a:r>
              <a:rPr lang="en-US" sz="3200" b="1" cap="none" dirty="0">
                <a:solidFill>
                  <a:srgbClr val="FF0000"/>
                </a:solidFill>
                <a:latin typeface="Arial Black" pitchFamily="34" charset="0"/>
                <a:ea typeface="Calibri"/>
              </a:rPr>
              <a:t>Electron-deficient compounds are compounds in which an element has an incomplete octet.</a:t>
            </a:r>
          </a:p>
          <a:p>
            <a:pPr algn="just"/>
            <a:r>
              <a:rPr lang="en-US" sz="3200" b="1" cap="none" dirty="0">
                <a:solidFill>
                  <a:srgbClr val="FF0000"/>
                </a:solidFill>
                <a:latin typeface="Arial Black" pitchFamily="34" charset="0"/>
                <a:ea typeface="Calibri"/>
              </a:rPr>
              <a:t>H, Be, and B, often have fewer than eight electrons in Lewis structures.  </a:t>
            </a:r>
            <a:endParaRPr lang="en-US" sz="3200" b="1" cap="none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45720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For example, BF</a:t>
            </a:r>
            <a:r>
              <a:rPr lang="en-US" b="1" baseline="-25000" dirty="0">
                <a:solidFill>
                  <a:srgbClr val="00B050"/>
                </a:solidFill>
              </a:rPr>
              <a:t>3</a:t>
            </a:r>
            <a:r>
              <a:rPr lang="en-US" b="1" dirty="0">
                <a:solidFill>
                  <a:srgbClr val="00B050"/>
                </a:solidFill>
              </a:rPr>
              <a:t> is an electron-deficient compound.</a:t>
            </a:r>
          </a:p>
        </p:txBody>
      </p:sp>
      <p:pic>
        <p:nvPicPr>
          <p:cNvPr id="6" name="Picture 5" descr="http://s-owl.cengage.com/ebooks/vining_owlbook_prototype/ebook/images/book_content/08-26.jpg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562600" y="3352800"/>
            <a:ext cx="15240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7" name="Picture 6" descr="http://s-owl.cengage.com/ebooks/vining_owlbook_prototype/ebook/images/book_content/08-27.jpg"/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057400" y="4572000"/>
            <a:ext cx="4038600" cy="1447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8912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rgbClr val="CC00FF"/>
                </a:solidFill>
                <a:latin typeface="Arial Black" pitchFamily="34" charset="0"/>
              </a:rPr>
              <a:t>Non-stoichiometric compounds are chemical compounds with an elemental composition that cannot be represented by a </a:t>
            </a:r>
            <a:r>
              <a:rPr lang="en-US" sz="2400" dirty="0">
                <a:solidFill>
                  <a:srgbClr val="3333FF"/>
                </a:solidFill>
                <a:latin typeface="Arial Black" pitchFamily="34" charset="0"/>
              </a:rPr>
              <a:t>ratio of </a:t>
            </a:r>
            <a:r>
              <a:rPr lang="en-US" sz="2400" i="1" dirty="0">
                <a:solidFill>
                  <a:srgbClr val="3333FF"/>
                </a:solidFill>
                <a:latin typeface="Arial Black" pitchFamily="34" charset="0"/>
              </a:rPr>
              <a:t>well-defined natural numbers</a:t>
            </a:r>
            <a:r>
              <a:rPr lang="en-US" sz="2400" dirty="0">
                <a:solidFill>
                  <a:srgbClr val="3333FF"/>
                </a:solidFill>
                <a:latin typeface="Arial Black" pitchFamily="34" charset="0"/>
              </a:rPr>
              <a:t>, </a:t>
            </a:r>
            <a:r>
              <a:rPr lang="en-US" sz="2400" dirty="0">
                <a:solidFill>
                  <a:srgbClr val="CC00FF"/>
                </a:solidFill>
                <a:latin typeface="Arial Black" pitchFamily="34" charset="0"/>
              </a:rPr>
              <a:t>and therefore violate the </a:t>
            </a:r>
            <a:r>
              <a:rPr lang="en-US" sz="2400" i="1" dirty="0">
                <a:solidFill>
                  <a:srgbClr val="CC00FF"/>
                </a:solidFill>
                <a:latin typeface="Arial Black" pitchFamily="34" charset="0"/>
              </a:rPr>
              <a:t>law of definite proportions. </a:t>
            </a:r>
          </a:p>
          <a:p>
            <a:pPr>
              <a:buNone/>
            </a:pPr>
            <a:endParaRPr lang="en-US" sz="2400" dirty="0">
              <a:solidFill>
                <a:srgbClr val="CC00FF"/>
              </a:solidFill>
            </a:endParaRPr>
          </a:p>
          <a:p>
            <a:r>
              <a:rPr lang="en-US" sz="2400" dirty="0">
                <a:solidFill>
                  <a:srgbClr val="CC00FF"/>
                </a:solidFill>
                <a:latin typeface="Arial Black" pitchFamily="34" charset="0"/>
              </a:rPr>
              <a:t>Non-stoichiometric compounds are also </a:t>
            </a:r>
            <a:r>
              <a:rPr lang="en-US" sz="2400" dirty="0">
                <a:solidFill>
                  <a:srgbClr val="3333FF"/>
                </a:solidFill>
                <a:latin typeface="Arial Black" pitchFamily="34" charset="0"/>
              </a:rPr>
              <a:t>known as </a:t>
            </a:r>
            <a:r>
              <a:rPr lang="en-US" sz="2400" i="1" dirty="0" err="1">
                <a:solidFill>
                  <a:srgbClr val="3333FF"/>
                </a:solidFill>
                <a:latin typeface="Arial Black" pitchFamily="34" charset="0"/>
              </a:rPr>
              <a:t>berthollides</a:t>
            </a:r>
            <a:r>
              <a:rPr lang="en-US" sz="2400" dirty="0">
                <a:solidFill>
                  <a:srgbClr val="3333FF"/>
                </a:solidFill>
                <a:latin typeface="Arial Black" pitchFamily="34" charset="0"/>
              </a:rPr>
              <a:t> </a:t>
            </a:r>
            <a:r>
              <a:rPr lang="en-US" sz="2400" dirty="0">
                <a:solidFill>
                  <a:srgbClr val="CC00FF"/>
                </a:solidFill>
                <a:latin typeface="Arial Black" pitchFamily="34" charset="0"/>
              </a:rPr>
              <a:t>(as opposed to the </a:t>
            </a:r>
            <a:r>
              <a:rPr lang="en-US" sz="2400" dirty="0" err="1">
                <a:solidFill>
                  <a:srgbClr val="FF0000"/>
                </a:solidFill>
                <a:latin typeface="Arial Black" pitchFamily="34" charset="0"/>
              </a:rPr>
              <a:t>stoichiometric</a:t>
            </a:r>
            <a:r>
              <a:rPr lang="en-US" sz="2400" dirty="0">
                <a:solidFill>
                  <a:srgbClr val="FF0000"/>
                </a:solidFill>
                <a:latin typeface="Arial Black" pitchFamily="34" charset="0"/>
              </a:rPr>
              <a:t> compounds or </a:t>
            </a:r>
            <a:r>
              <a:rPr lang="en-US" sz="2400" i="1" dirty="0" err="1">
                <a:solidFill>
                  <a:srgbClr val="FF0000"/>
                </a:solidFill>
                <a:latin typeface="Arial Black" pitchFamily="34" charset="0"/>
              </a:rPr>
              <a:t>daltonides</a:t>
            </a:r>
            <a:r>
              <a:rPr lang="en-US" sz="2400" dirty="0">
                <a:solidFill>
                  <a:srgbClr val="FF0000"/>
                </a:solidFill>
                <a:latin typeface="Arial Black" pitchFamily="34" charset="0"/>
              </a:rPr>
              <a:t>).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484257"/>
            <a:ext cx="7992509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4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Non-</a:t>
            </a:r>
            <a:r>
              <a:rPr lang="en-US" sz="4000" b="1" dirty="0" err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stoichiometric</a:t>
            </a:r>
            <a:r>
              <a:rPr lang="en-US" sz="4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Compounds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686800" cy="5715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3600" b="1" dirty="0">
                <a:latin typeface="Arial Black" pitchFamily="34" charset="0"/>
              </a:rPr>
              <a:t>Example </a:t>
            </a:r>
          </a:p>
          <a:p>
            <a:endParaRPr lang="en-US" sz="2000" b="1" dirty="0">
              <a:latin typeface="Arial Black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Arial Black" pitchFamily="34" charset="0"/>
              </a:rPr>
              <a:t>Although 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Arial Black" pitchFamily="34" charset="0"/>
                <a:hlinkClick r:id="rId2" tooltip="Wüstite"/>
              </a:rPr>
              <a:t>wüstite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Black" pitchFamily="34" charset="0"/>
              </a:rPr>
              <a:t> </a:t>
            </a:r>
            <a:r>
              <a:rPr lang="en-US" sz="2000" b="1" dirty="0">
                <a:latin typeface="Arial Black" pitchFamily="34" charset="0"/>
              </a:rPr>
              <a:t>(ferrous oxide) has an ideal 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Black" pitchFamily="34" charset="0"/>
              </a:rPr>
              <a:t>(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Black" pitchFamily="34" charset="0"/>
                <a:hlinkClick r:id="rId3" tooltip="Stoichiometric"/>
              </a:rPr>
              <a:t>stoichiometric</a:t>
            </a:r>
            <a:r>
              <a:rPr lang="en-US" sz="2000" b="1" dirty="0">
                <a:latin typeface="Arial Black" pitchFamily="34" charset="0"/>
              </a:rPr>
              <a:t>) formula </a:t>
            </a:r>
            <a:r>
              <a:rPr lang="en-US" sz="2000" b="1" dirty="0" err="1">
                <a:latin typeface="Arial Black" pitchFamily="34" charset="0"/>
              </a:rPr>
              <a:t>FeO</a:t>
            </a:r>
            <a:r>
              <a:rPr lang="en-US" sz="2000" b="1" dirty="0">
                <a:latin typeface="Arial Black" pitchFamily="34" charset="0"/>
              </a:rPr>
              <a:t>, the actual stoichiometry is closer to Fe</a:t>
            </a:r>
            <a:r>
              <a:rPr lang="en-US" sz="2000" b="1" baseline="-25000" dirty="0">
                <a:latin typeface="Arial Black" pitchFamily="34" charset="0"/>
              </a:rPr>
              <a:t>0.95</a:t>
            </a:r>
            <a:r>
              <a:rPr lang="en-US" sz="2000" b="1" dirty="0">
                <a:latin typeface="Arial Black" pitchFamily="34" charset="0"/>
              </a:rPr>
              <a:t>O. </a:t>
            </a:r>
          </a:p>
          <a:p>
            <a:endParaRPr lang="en-US" sz="2000" b="1" dirty="0">
              <a:latin typeface="Arial Black" pitchFamily="34" charset="0"/>
            </a:endParaRPr>
          </a:p>
          <a:p>
            <a:r>
              <a:rPr lang="en-US" sz="2000" b="1" dirty="0">
                <a:latin typeface="Arial Black" pitchFamily="34" charset="0"/>
              </a:rPr>
              <a:t>The non-</a:t>
            </a:r>
            <a:r>
              <a:rPr lang="en-US" sz="2000" b="1" dirty="0" err="1">
                <a:latin typeface="Arial Black" pitchFamily="34" charset="0"/>
              </a:rPr>
              <a:t>stoichiometry</a:t>
            </a:r>
            <a:r>
              <a:rPr lang="en-US" sz="2000" b="1" dirty="0">
                <a:latin typeface="Arial Black" pitchFamily="34" charset="0"/>
              </a:rPr>
              <a:t> occurs because of the ease of oxidation of </a:t>
            </a:r>
            <a:r>
              <a:rPr lang="en-US" sz="2000" b="1" dirty="0">
                <a:solidFill>
                  <a:srgbClr val="7030A0"/>
                </a:solidFill>
                <a:latin typeface="Arial Black" pitchFamily="34" charset="0"/>
              </a:rPr>
              <a:t>Fe</a:t>
            </a:r>
            <a:r>
              <a:rPr lang="en-US" sz="2000" b="1" baseline="30000" dirty="0">
                <a:solidFill>
                  <a:srgbClr val="7030A0"/>
                </a:solidFill>
                <a:latin typeface="Arial Black" pitchFamily="34" charset="0"/>
              </a:rPr>
              <a:t>2+</a:t>
            </a:r>
            <a:r>
              <a:rPr lang="en-US" sz="2000" b="1" dirty="0">
                <a:solidFill>
                  <a:srgbClr val="7030A0"/>
                </a:solidFill>
                <a:latin typeface="Arial Black" pitchFamily="34" charset="0"/>
              </a:rPr>
              <a:t> to Fe</a:t>
            </a:r>
            <a:r>
              <a:rPr lang="en-US" sz="2000" b="1" baseline="30000" dirty="0">
                <a:solidFill>
                  <a:srgbClr val="7030A0"/>
                </a:solidFill>
                <a:latin typeface="Arial Black" pitchFamily="34" charset="0"/>
              </a:rPr>
              <a:t>3+</a:t>
            </a:r>
            <a:endParaRPr lang="en-US" sz="2000" b="1" dirty="0">
              <a:solidFill>
                <a:srgbClr val="7030A0"/>
              </a:solidFill>
              <a:latin typeface="Arial Black" pitchFamily="34" charset="0"/>
            </a:endParaRPr>
          </a:p>
          <a:p>
            <a:endParaRPr lang="en-US" sz="2000" b="1" dirty="0">
              <a:latin typeface="Arial Black" pitchFamily="34" charset="0"/>
            </a:endParaRPr>
          </a:p>
          <a:p>
            <a:r>
              <a:rPr lang="en-US" sz="2000" b="1" dirty="0">
                <a:latin typeface="Arial Black" pitchFamily="34" charset="0"/>
              </a:rPr>
              <a:t>Thus for </a:t>
            </a:r>
            <a:r>
              <a:rPr lang="en-US" sz="2000" b="1" dirty="0">
                <a:solidFill>
                  <a:srgbClr val="7030A0"/>
                </a:solidFill>
                <a:latin typeface="Arial Black" pitchFamily="34" charset="0"/>
              </a:rPr>
              <a:t>every three "missing" Fe</a:t>
            </a:r>
            <a:r>
              <a:rPr lang="en-US" sz="2000" b="1" baseline="30000" dirty="0">
                <a:solidFill>
                  <a:srgbClr val="7030A0"/>
                </a:solidFill>
                <a:latin typeface="Arial Black" pitchFamily="34" charset="0"/>
              </a:rPr>
              <a:t>2+</a:t>
            </a:r>
            <a:r>
              <a:rPr lang="en-US" sz="2000" b="1" dirty="0">
                <a:solidFill>
                  <a:srgbClr val="7030A0"/>
                </a:solidFill>
                <a:latin typeface="Arial Black" pitchFamily="34" charset="0"/>
              </a:rPr>
              <a:t> ions</a:t>
            </a:r>
            <a:r>
              <a:rPr lang="en-US" sz="2000" b="1" dirty="0">
                <a:latin typeface="Arial Black" pitchFamily="34" charset="0"/>
              </a:rPr>
              <a:t>, the crystal contains </a:t>
            </a:r>
            <a:r>
              <a:rPr lang="en-US" sz="2000" b="1" dirty="0">
                <a:solidFill>
                  <a:srgbClr val="7030A0"/>
                </a:solidFill>
                <a:latin typeface="Arial Black" pitchFamily="34" charset="0"/>
              </a:rPr>
              <a:t>two Fe</a:t>
            </a:r>
            <a:r>
              <a:rPr lang="en-US" sz="2000" b="1" baseline="30000" dirty="0">
                <a:solidFill>
                  <a:srgbClr val="7030A0"/>
                </a:solidFill>
                <a:latin typeface="Arial Black" pitchFamily="34" charset="0"/>
              </a:rPr>
              <a:t>3+</a:t>
            </a:r>
            <a:r>
              <a:rPr lang="en-US" sz="2000" b="1" dirty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2000" b="1" dirty="0">
                <a:latin typeface="Arial Black" pitchFamily="34" charset="0"/>
              </a:rPr>
              <a:t>ions to balance the charge. </a:t>
            </a:r>
          </a:p>
          <a:p>
            <a:endParaRPr lang="en-US" sz="2000" b="1" dirty="0">
              <a:latin typeface="Arial Black" pitchFamily="34" charset="0"/>
            </a:endParaRPr>
          </a:p>
          <a:p>
            <a:r>
              <a:rPr lang="en-US" sz="2000" b="1" dirty="0">
                <a:latin typeface="Arial Black" pitchFamily="34" charset="0"/>
              </a:rPr>
              <a:t>Thus, the formula for </a:t>
            </a:r>
            <a:r>
              <a:rPr lang="en-US" sz="2000" b="1" dirty="0" err="1">
                <a:latin typeface="Arial Black" pitchFamily="34" charset="0"/>
              </a:rPr>
              <a:t>wüstite</a:t>
            </a:r>
            <a:r>
              <a:rPr lang="en-US" sz="2000" b="1" dirty="0">
                <a:latin typeface="Arial Black" pitchFamily="34" charset="0"/>
              </a:rPr>
              <a:t> is written as </a:t>
            </a:r>
            <a:r>
              <a:rPr lang="en-US" sz="2000" b="1" dirty="0">
                <a:solidFill>
                  <a:srgbClr val="7030A0"/>
                </a:solidFill>
                <a:latin typeface="Arial Black" pitchFamily="34" charset="0"/>
              </a:rPr>
              <a:t>Fe</a:t>
            </a:r>
            <a:r>
              <a:rPr lang="en-US" sz="2000" b="1" baseline="-25000" dirty="0">
                <a:solidFill>
                  <a:srgbClr val="7030A0"/>
                </a:solidFill>
                <a:latin typeface="Arial Black" pitchFamily="34" charset="0"/>
              </a:rPr>
              <a:t>1-x</a:t>
            </a:r>
            <a:r>
              <a:rPr lang="en-US" sz="2000" b="1" dirty="0">
                <a:solidFill>
                  <a:srgbClr val="7030A0"/>
                </a:solidFill>
                <a:latin typeface="Arial Black" pitchFamily="34" charset="0"/>
              </a:rPr>
              <a:t>O,</a:t>
            </a:r>
            <a:r>
              <a:rPr lang="en-US" sz="2000" b="1" dirty="0">
                <a:latin typeface="Arial Black" pitchFamily="34" charset="0"/>
              </a:rPr>
              <a:t>  where </a:t>
            </a:r>
            <a:r>
              <a:rPr lang="en-US" sz="2000" b="1" i="1" dirty="0">
                <a:latin typeface="Arial Black" pitchFamily="34" charset="0"/>
              </a:rPr>
              <a:t>x</a:t>
            </a:r>
            <a:r>
              <a:rPr lang="en-US" sz="2000" b="1" dirty="0">
                <a:latin typeface="Arial Black" pitchFamily="34" charset="0"/>
              </a:rPr>
              <a:t> is a small number (0.05 in the previous example) representing the deviation </a:t>
            </a:r>
            <a:r>
              <a:rPr lang="en-US" sz="2000" b="1" dirty="0">
                <a:latin typeface="Arial Narrow" pitchFamily="34" charset="0"/>
              </a:rPr>
              <a:t>from the </a:t>
            </a:r>
            <a:r>
              <a:rPr lang="en-US" sz="2000" b="1" dirty="0">
                <a:solidFill>
                  <a:srgbClr val="7030A0"/>
                </a:solidFill>
                <a:latin typeface="Arial Narrow" pitchFamily="34" charset="0"/>
              </a:rPr>
              <a:t>"ideal" formula.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upload.wikimedia.org/wikipedia/commons/thumb/f/fe/Defecttypes.png/350px-Defecttypes.png">
            <a:hlinkClick r:id="rId2"/>
          </p:cNvPr>
          <p:cNvPicPr/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868471" y="304800"/>
            <a:ext cx="6553200" cy="5029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69633" name="Rectangle 1"/>
          <p:cNvSpPr>
            <a:spLocks noChangeArrowheads="1"/>
          </p:cNvSpPr>
          <p:nvPr/>
        </p:nvSpPr>
        <p:spPr bwMode="auto">
          <a:xfrm>
            <a:off x="304800" y="5712767"/>
            <a:ext cx="8356839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Crystallographic defects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can cause solids to be non-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3333FF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stoichiometric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295400"/>
            <a:ext cx="8382000" cy="4572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7030A0"/>
                </a:solidFill>
              </a:rPr>
              <a:t>Alfred Stock established </a:t>
            </a:r>
            <a:r>
              <a:rPr lang="en-US" sz="2800" dirty="0" err="1">
                <a:solidFill>
                  <a:srgbClr val="7030A0"/>
                </a:solidFill>
              </a:rPr>
              <a:t>borane</a:t>
            </a:r>
            <a:r>
              <a:rPr lang="en-US" sz="2800" dirty="0">
                <a:solidFill>
                  <a:srgbClr val="7030A0"/>
                </a:solidFill>
              </a:rPr>
              <a:t> 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381000"/>
            <a:ext cx="7084247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itchFamily="34" charset="0"/>
              </a:rPr>
              <a:t>Boron Hydride or </a:t>
            </a:r>
            <a:r>
              <a:rPr lang="en-US" sz="40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itchFamily="34" charset="0"/>
              </a:rPr>
              <a:t>Borane</a:t>
            </a:r>
            <a:endParaRPr lang="en-US" sz="4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3333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 Black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905000"/>
            <a:ext cx="8563563" cy="35394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3333FF"/>
                </a:solidFill>
              </a:rPr>
              <a:t>The compounds of Boron with Hydrogen is called </a:t>
            </a:r>
          </a:p>
          <a:p>
            <a:r>
              <a:rPr lang="en-US" sz="2800" b="1" dirty="0">
                <a:solidFill>
                  <a:srgbClr val="3333FF"/>
                </a:solidFill>
              </a:rPr>
              <a:t>Boron hydride or </a:t>
            </a:r>
            <a:r>
              <a:rPr lang="en-US" sz="2800" b="1" dirty="0" err="1">
                <a:solidFill>
                  <a:srgbClr val="3333FF"/>
                </a:solidFill>
              </a:rPr>
              <a:t>Borane</a:t>
            </a:r>
            <a:r>
              <a:rPr lang="en-US" sz="2800" b="1" dirty="0">
                <a:solidFill>
                  <a:srgbClr val="3333FF"/>
                </a:solidFill>
              </a:rPr>
              <a:t>.</a:t>
            </a:r>
          </a:p>
          <a:p>
            <a:endParaRPr lang="en-US" sz="2800" b="1" dirty="0">
              <a:solidFill>
                <a:srgbClr val="3333FF"/>
              </a:solidFill>
            </a:endParaRPr>
          </a:p>
          <a:p>
            <a:pPr algn="ctr"/>
            <a:r>
              <a:rPr lang="en-US" sz="2800" b="1" dirty="0">
                <a:solidFill>
                  <a:srgbClr val="3333FF"/>
                </a:solidFill>
              </a:rPr>
              <a:t>B + H = </a:t>
            </a:r>
            <a:r>
              <a:rPr lang="en-US" sz="2800" b="1" dirty="0" err="1">
                <a:solidFill>
                  <a:srgbClr val="3333FF"/>
                </a:solidFill>
              </a:rPr>
              <a:t>Borane</a:t>
            </a:r>
            <a:endParaRPr lang="en-US" sz="2800" b="1" dirty="0">
              <a:solidFill>
                <a:srgbClr val="3333FF"/>
              </a:solidFill>
            </a:endParaRPr>
          </a:p>
          <a:p>
            <a:r>
              <a:rPr lang="en-US" sz="2800" b="1" dirty="0">
                <a:solidFill>
                  <a:srgbClr val="3333FF"/>
                </a:solidFill>
              </a:rPr>
              <a:t>Two Classes: </a:t>
            </a:r>
          </a:p>
          <a:p>
            <a:endParaRPr lang="en-US" sz="2800" b="1" dirty="0">
              <a:solidFill>
                <a:srgbClr val="3333FF"/>
              </a:solidFill>
            </a:endParaRPr>
          </a:p>
          <a:p>
            <a:pPr marL="514350" indent="-514350">
              <a:buAutoNum type="arabicPeriod"/>
            </a:pPr>
            <a:r>
              <a:rPr lang="en-US" sz="2800" b="1" dirty="0" err="1">
                <a:solidFill>
                  <a:srgbClr val="3333FF"/>
                </a:solidFill>
              </a:rPr>
              <a:t>B</a:t>
            </a:r>
            <a:r>
              <a:rPr lang="en-US" sz="2800" b="1" baseline="-25000" dirty="0" err="1">
                <a:solidFill>
                  <a:srgbClr val="3333FF"/>
                </a:solidFill>
              </a:rPr>
              <a:t>n</a:t>
            </a:r>
            <a:r>
              <a:rPr lang="en-US" sz="2800" b="1" dirty="0" err="1">
                <a:solidFill>
                  <a:srgbClr val="3333FF"/>
                </a:solidFill>
              </a:rPr>
              <a:t>H</a:t>
            </a:r>
            <a:r>
              <a:rPr lang="en-US" sz="2800" b="1" baseline="-25000" dirty="0">
                <a:solidFill>
                  <a:srgbClr val="3333FF"/>
                </a:solidFill>
              </a:rPr>
              <a:t>(n+4)- </a:t>
            </a:r>
            <a:r>
              <a:rPr lang="en-US" sz="2800" b="1" dirty="0" err="1">
                <a:solidFill>
                  <a:srgbClr val="3333FF"/>
                </a:solidFill>
              </a:rPr>
              <a:t>Nido</a:t>
            </a:r>
            <a:r>
              <a:rPr lang="en-US" sz="2800" b="1" dirty="0">
                <a:solidFill>
                  <a:srgbClr val="3333FF"/>
                </a:solidFill>
              </a:rPr>
              <a:t> - </a:t>
            </a:r>
            <a:r>
              <a:rPr lang="en-US" sz="2800" b="1" dirty="0" err="1">
                <a:solidFill>
                  <a:srgbClr val="3333FF"/>
                </a:solidFill>
              </a:rPr>
              <a:t>borane</a:t>
            </a:r>
            <a:endParaRPr lang="en-US" sz="2800" b="1" dirty="0">
              <a:solidFill>
                <a:srgbClr val="3333FF"/>
              </a:solidFill>
            </a:endParaRPr>
          </a:p>
          <a:p>
            <a:pPr marL="514350" indent="-514350">
              <a:buAutoNum type="arabicPeriod"/>
            </a:pPr>
            <a:r>
              <a:rPr lang="en-US" sz="2800" b="1" dirty="0" err="1">
                <a:solidFill>
                  <a:srgbClr val="3333FF"/>
                </a:solidFill>
              </a:rPr>
              <a:t>B</a:t>
            </a:r>
            <a:r>
              <a:rPr lang="en-US" sz="2800" b="1" baseline="-25000" dirty="0" err="1">
                <a:solidFill>
                  <a:srgbClr val="3333FF"/>
                </a:solidFill>
              </a:rPr>
              <a:t>n</a:t>
            </a:r>
            <a:r>
              <a:rPr lang="en-US" sz="2800" b="1" dirty="0" err="1">
                <a:solidFill>
                  <a:srgbClr val="3333FF"/>
                </a:solidFill>
              </a:rPr>
              <a:t>H</a:t>
            </a:r>
            <a:r>
              <a:rPr lang="en-US" sz="2800" b="1" baseline="-25000" dirty="0">
                <a:solidFill>
                  <a:srgbClr val="3333FF"/>
                </a:solidFill>
              </a:rPr>
              <a:t>(n+6)- </a:t>
            </a:r>
            <a:r>
              <a:rPr lang="en-US" sz="2800" b="1" dirty="0" err="1">
                <a:solidFill>
                  <a:srgbClr val="3333FF"/>
                </a:solidFill>
              </a:rPr>
              <a:t>Arachno</a:t>
            </a:r>
            <a:r>
              <a:rPr lang="en-US" sz="2800" b="1" dirty="0">
                <a:solidFill>
                  <a:srgbClr val="3333FF"/>
                </a:solidFill>
              </a:rPr>
              <a:t> -</a:t>
            </a:r>
            <a:r>
              <a:rPr lang="en-US" sz="2800" b="1" dirty="0" err="1">
                <a:solidFill>
                  <a:srgbClr val="3333FF"/>
                </a:solidFill>
              </a:rPr>
              <a:t>borane</a:t>
            </a:r>
            <a:r>
              <a:rPr lang="en-US" sz="2800" b="1" dirty="0">
                <a:solidFill>
                  <a:srgbClr val="3333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81000"/>
            <a:ext cx="723900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Examples</a:t>
            </a:r>
          </a:p>
          <a:p>
            <a:r>
              <a:rPr lang="en-US" sz="3200" u="sng" dirty="0" err="1">
                <a:solidFill>
                  <a:schemeClr val="accent2">
                    <a:lumMod val="50000"/>
                  </a:schemeClr>
                </a:solidFill>
                <a:latin typeface="Arial Black" pitchFamily="34" charset="0"/>
              </a:rPr>
              <a:t>Nido</a:t>
            </a:r>
            <a:endParaRPr lang="en-US" sz="3200" u="sng" dirty="0">
              <a:solidFill>
                <a:schemeClr val="accent2">
                  <a:lumMod val="50000"/>
                </a:schemeClr>
              </a:solidFill>
              <a:latin typeface="Arial Black" pitchFamily="34" charset="0"/>
            </a:endParaRPr>
          </a:p>
          <a:p>
            <a:endParaRPr lang="en-US" sz="1600" dirty="0">
              <a:latin typeface="Arial Black" pitchFamily="34" charset="0"/>
            </a:endParaRPr>
          </a:p>
          <a:p>
            <a:r>
              <a:rPr lang="en-US" dirty="0">
                <a:latin typeface="Arial Black" pitchFamily="34" charset="0"/>
              </a:rPr>
              <a:t>B</a:t>
            </a:r>
            <a:r>
              <a:rPr lang="en-US" sz="2800" baseline="-25000" dirty="0">
                <a:latin typeface="Arial Black" pitchFamily="34" charset="0"/>
              </a:rPr>
              <a:t>2</a:t>
            </a:r>
            <a:r>
              <a:rPr lang="en-US" dirty="0">
                <a:latin typeface="Arial Black" pitchFamily="34" charset="0"/>
              </a:rPr>
              <a:t>H</a:t>
            </a:r>
            <a:r>
              <a:rPr lang="en-US" sz="2000" baseline="-25000" dirty="0">
                <a:latin typeface="Arial Black" pitchFamily="34" charset="0"/>
              </a:rPr>
              <a:t>6  </a:t>
            </a:r>
            <a:r>
              <a:rPr lang="en-US" sz="2000" dirty="0">
                <a:latin typeface="Arial Black" pitchFamily="34" charset="0"/>
              </a:rPr>
              <a:t>- </a:t>
            </a:r>
            <a:r>
              <a:rPr lang="en-US" sz="2000" dirty="0" err="1">
                <a:latin typeface="Arial Black" pitchFamily="34" charset="0"/>
              </a:rPr>
              <a:t>Diborane</a:t>
            </a:r>
            <a:endParaRPr lang="en-US" dirty="0">
              <a:latin typeface="Arial Black" pitchFamily="34" charset="0"/>
            </a:endParaRPr>
          </a:p>
          <a:p>
            <a:r>
              <a:rPr lang="en-US" dirty="0">
                <a:latin typeface="Arial Black" pitchFamily="34" charset="0"/>
              </a:rPr>
              <a:t>B</a:t>
            </a:r>
            <a:r>
              <a:rPr lang="en-US" sz="1400" dirty="0">
                <a:latin typeface="Arial Black" pitchFamily="34" charset="0"/>
              </a:rPr>
              <a:t>5</a:t>
            </a:r>
            <a:r>
              <a:rPr lang="en-US" dirty="0">
                <a:latin typeface="Arial Black" pitchFamily="34" charset="0"/>
              </a:rPr>
              <a:t>H</a:t>
            </a:r>
            <a:r>
              <a:rPr lang="en-US" sz="1400" dirty="0">
                <a:latin typeface="Arial Black" pitchFamily="34" charset="0"/>
              </a:rPr>
              <a:t>9    </a:t>
            </a:r>
            <a:r>
              <a:rPr lang="en-US" sz="2000" dirty="0">
                <a:latin typeface="Arial Black" pitchFamily="34" charset="0"/>
              </a:rPr>
              <a:t>- </a:t>
            </a:r>
            <a:r>
              <a:rPr lang="en-US" sz="2000" dirty="0" err="1">
                <a:latin typeface="Arial Black" pitchFamily="34" charset="0"/>
              </a:rPr>
              <a:t>Pentaborane</a:t>
            </a:r>
            <a:r>
              <a:rPr lang="en-US" sz="2000" dirty="0">
                <a:latin typeface="Arial Black" pitchFamily="34" charset="0"/>
              </a:rPr>
              <a:t> -9</a:t>
            </a:r>
            <a:endParaRPr lang="en-US" dirty="0">
              <a:latin typeface="Arial Black" pitchFamily="34" charset="0"/>
            </a:endParaRPr>
          </a:p>
          <a:p>
            <a:r>
              <a:rPr lang="en-US" dirty="0">
                <a:latin typeface="Arial Black" pitchFamily="34" charset="0"/>
              </a:rPr>
              <a:t>B</a:t>
            </a:r>
            <a:r>
              <a:rPr lang="en-US" sz="2000" baseline="-25000" dirty="0">
                <a:latin typeface="Arial Black" pitchFamily="34" charset="0"/>
              </a:rPr>
              <a:t>6</a:t>
            </a:r>
            <a:r>
              <a:rPr lang="en-US" dirty="0">
                <a:latin typeface="Arial Black" pitchFamily="34" charset="0"/>
              </a:rPr>
              <a:t>H</a:t>
            </a:r>
            <a:r>
              <a:rPr lang="en-US" sz="2400" baseline="-25000" dirty="0">
                <a:latin typeface="Arial Black" pitchFamily="34" charset="0"/>
              </a:rPr>
              <a:t>10   - </a:t>
            </a:r>
            <a:r>
              <a:rPr lang="en-US" sz="2000" dirty="0">
                <a:latin typeface="Arial Black" pitchFamily="34" charset="0"/>
              </a:rPr>
              <a:t>Hexaborane-10</a:t>
            </a:r>
            <a:endParaRPr lang="en-US" sz="2400" dirty="0">
              <a:latin typeface="Arial Black" pitchFamily="34" charset="0"/>
            </a:endParaRPr>
          </a:p>
          <a:p>
            <a:r>
              <a:rPr lang="en-US" sz="2400" dirty="0">
                <a:latin typeface="Arial Black" pitchFamily="34" charset="0"/>
              </a:rPr>
              <a:t>B</a:t>
            </a:r>
            <a:r>
              <a:rPr lang="en-US" sz="2400" baseline="-25000" dirty="0">
                <a:latin typeface="Arial Black" pitchFamily="34" charset="0"/>
              </a:rPr>
              <a:t>8</a:t>
            </a:r>
            <a:r>
              <a:rPr lang="en-US" sz="2400" dirty="0">
                <a:latin typeface="Arial Black" pitchFamily="34" charset="0"/>
              </a:rPr>
              <a:t>H</a:t>
            </a:r>
            <a:r>
              <a:rPr lang="en-US" sz="2400" baseline="-25000" dirty="0">
                <a:latin typeface="Arial Black" pitchFamily="34" charset="0"/>
              </a:rPr>
              <a:t>12  - </a:t>
            </a:r>
            <a:r>
              <a:rPr lang="en-US" sz="2000" dirty="0" err="1">
                <a:latin typeface="Arial Black" pitchFamily="34" charset="0"/>
              </a:rPr>
              <a:t>Octaborane</a:t>
            </a:r>
            <a:r>
              <a:rPr lang="en-US" sz="2000" dirty="0">
                <a:latin typeface="Arial Black" pitchFamily="34" charset="0"/>
              </a:rPr>
              <a:t>- 12 </a:t>
            </a:r>
            <a:endParaRPr lang="en-US" sz="2400" dirty="0">
              <a:latin typeface="Arial Black" pitchFamily="34" charset="0"/>
            </a:endParaRPr>
          </a:p>
          <a:p>
            <a:r>
              <a:rPr lang="en-US" dirty="0">
                <a:latin typeface="Arial Black" pitchFamily="34" charset="0"/>
              </a:rPr>
              <a:t>B</a:t>
            </a:r>
            <a:r>
              <a:rPr lang="en-US" sz="2400" baseline="-25000" dirty="0">
                <a:latin typeface="Arial Black" pitchFamily="34" charset="0"/>
              </a:rPr>
              <a:t>10</a:t>
            </a:r>
            <a:r>
              <a:rPr lang="en-US" dirty="0">
                <a:latin typeface="Arial Black" pitchFamily="34" charset="0"/>
              </a:rPr>
              <a:t>H</a:t>
            </a:r>
            <a:r>
              <a:rPr lang="en-US" sz="2400" baseline="-25000" dirty="0">
                <a:latin typeface="Arial Black" pitchFamily="34" charset="0"/>
              </a:rPr>
              <a:t>14 </a:t>
            </a:r>
            <a:r>
              <a:rPr lang="en-US" sz="2400" dirty="0">
                <a:latin typeface="Arial Black" pitchFamily="34" charset="0"/>
              </a:rPr>
              <a:t> - </a:t>
            </a:r>
            <a:r>
              <a:rPr lang="en-US" sz="2000" dirty="0" err="1">
                <a:latin typeface="Arial Black" pitchFamily="34" charset="0"/>
              </a:rPr>
              <a:t>Decaborane</a:t>
            </a:r>
            <a:r>
              <a:rPr lang="en-US" sz="2000" dirty="0">
                <a:latin typeface="Arial Black" pitchFamily="34" charset="0"/>
              </a:rPr>
              <a:t> </a:t>
            </a:r>
            <a:endParaRPr lang="en-US" baseline="-25000" dirty="0">
              <a:latin typeface="Arial Black" pitchFamily="34" charset="0"/>
            </a:endParaRPr>
          </a:p>
          <a:p>
            <a:endParaRPr lang="en-US" sz="1600" dirty="0">
              <a:latin typeface="Arial Black" pitchFamily="34" charset="0"/>
            </a:endParaRPr>
          </a:p>
          <a:p>
            <a:r>
              <a:rPr lang="en-US" sz="3200" u="sng" dirty="0" err="1">
                <a:solidFill>
                  <a:schemeClr val="accent2">
                    <a:lumMod val="50000"/>
                  </a:schemeClr>
                </a:solidFill>
                <a:latin typeface="Arial Black" pitchFamily="34" charset="0"/>
              </a:rPr>
              <a:t>Arachno</a:t>
            </a:r>
            <a:endParaRPr lang="en-US" sz="3200" u="sng" dirty="0">
              <a:solidFill>
                <a:schemeClr val="accent2">
                  <a:lumMod val="50000"/>
                </a:schemeClr>
              </a:solidFill>
              <a:latin typeface="Arial Black" pitchFamily="34" charset="0"/>
            </a:endParaRPr>
          </a:p>
          <a:p>
            <a:endParaRPr lang="en-US" sz="1600" u="sng" dirty="0">
              <a:latin typeface="Arial Black" pitchFamily="34" charset="0"/>
            </a:endParaRPr>
          </a:p>
          <a:p>
            <a:r>
              <a:rPr lang="en-US" dirty="0">
                <a:latin typeface="Arial Black" pitchFamily="34" charset="0"/>
              </a:rPr>
              <a:t>B</a:t>
            </a:r>
            <a:r>
              <a:rPr lang="en-US" sz="2400" baseline="-25000" dirty="0">
                <a:latin typeface="Arial Black" pitchFamily="34" charset="0"/>
              </a:rPr>
              <a:t>4</a:t>
            </a:r>
            <a:r>
              <a:rPr lang="en-US" dirty="0">
                <a:latin typeface="Arial Black" pitchFamily="34" charset="0"/>
              </a:rPr>
              <a:t>H</a:t>
            </a:r>
            <a:r>
              <a:rPr lang="en-US" sz="2400" baseline="-25000" dirty="0">
                <a:latin typeface="Arial Black" pitchFamily="34" charset="0"/>
              </a:rPr>
              <a:t>10</a:t>
            </a:r>
            <a:r>
              <a:rPr lang="en-US" sz="2400" dirty="0">
                <a:latin typeface="Arial Black" pitchFamily="34" charset="0"/>
              </a:rPr>
              <a:t> - </a:t>
            </a:r>
            <a:r>
              <a:rPr lang="en-US" sz="2000" dirty="0" err="1">
                <a:latin typeface="Arial Black" pitchFamily="34" charset="0"/>
              </a:rPr>
              <a:t>Tetraborane</a:t>
            </a:r>
            <a:endParaRPr lang="en-US" baseline="-25000" dirty="0">
              <a:latin typeface="Arial Black" pitchFamily="34" charset="0"/>
            </a:endParaRPr>
          </a:p>
          <a:p>
            <a:r>
              <a:rPr lang="en-US" dirty="0">
                <a:latin typeface="Arial Black" pitchFamily="34" charset="0"/>
              </a:rPr>
              <a:t>B</a:t>
            </a:r>
            <a:r>
              <a:rPr lang="en-US" sz="2400" baseline="-25000" dirty="0">
                <a:latin typeface="Arial Black" pitchFamily="34" charset="0"/>
              </a:rPr>
              <a:t>5</a:t>
            </a:r>
            <a:r>
              <a:rPr lang="en-US" dirty="0">
                <a:latin typeface="Arial Black" pitchFamily="34" charset="0"/>
              </a:rPr>
              <a:t>H</a:t>
            </a:r>
            <a:r>
              <a:rPr lang="en-US" sz="2400" baseline="-25000" dirty="0">
                <a:latin typeface="Arial Black" pitchFamily="34" charset="0"/>
              </a:rPr>
              <a:t>11</a:t>
            </a:r>
            <a:r>
              <a:rPr lang="en-US" sz="2400" dirty="0">
                <a:latin typeface="Arial Black" pitchFamily="34" charset="0"/>
              </a:rPr>
              <a:t> – </a:t>
            </a:r>
            <a:r>
              <a:rPr lang="en-US" sz="2000" dirty="0" err="1">
                <a:latin typeface="Arial Black" pitchFamily="34" charset="0"/>
              </a:rPr>
              <a:t>Pentaborane</a:t>
            </a:r>
            <a:r>
              <a:rPr lang="en-US" sz="2000" dirty="0">
                <a:latin typeface="Arial Black" pitchFamily="34" charset="0"/>
              </a:rPr>
              <a:t> -11</a:t>
            </a:r>
            <a:endParaRPr lang="en-US" baseline="-25000" dirty="0">
              <a:latin typeface="Arial Black" pitchFamily="34" charset="0"/>
            </a:endParaRPr>
          </a:p>
          <a:p>
            <a:r>
              <a:rPr lang="en-US" dirty="0">
                <a:latin typeface="Arial Black" pitchFamily="34" charset="0"/>
              </a:rPr>
              <a:t>B</a:t>
            </a:r>
            <a:r>
              <a:rPr lang="en-US" sz="2400" baseline="-25000" dirty="0">
                <a:latin typeface="Arial Black" pitchFamily="34" charset="0"/>
              </a:rPr>
              <a:t>6</a:t>
            </a:r>
            <a:r>
              <a:rPr lang="en-US" dirty="0">
                <a:latin typeface="Arial Black" pitchFamily="34" charset="0"/>
              </a:rPr>
              <a:t>H</a:t>
            </a:r>
            <a:r>
              <a:rPr lang="en-US" sz="2400" baseline="-25000" dirty="0">
                <a:latin typeface="Arial Black" pitchFamily="34" charset="0"/>
              </a:rPr>
              <a:t>12</a:t>
            </a:r>
            <a:r>
              <a:rPr lang="en-US" sz="2400" dirty="0">
                <a:latin typeface="Arial Black" pitchFamily="34" charset="0"/>
              </a:rPr>
              <a:t>- </a:t>
            </a:r>
            <a:r>
              <a:rPr lang="en-US" sz="2000" dirty="0">
                <a:latin typeface="Arial Black" pitchFamily="34" charset="0"/>
              </a:rPr>
              <a:t>Hexaborane-12</a:t>
            </a:r>
            <a:endParaRPr lang="en-US" baseline="-25000" dirty="0">
              <a:latin typeface="Arial Black" pitchFamily="34" charset="0"/>
            </a:endParaRPr>
          </a:p>
          <a:p>
            <a:r>
              <a:rPr lang="en-US" dirty="0">
                <a:latin typeface="Arial Black" pitchFamily="34" charset="0"/>
              </a:rPr>
              <a:t>B</a:t>
            </a:r>
            <a:r>
              <a:rPr lang="en-US" sz="2400" baseline="-25000" dirty="0">
                <a:latin typeface="Arial Black" pitchFamily="34" charset="0"/>
              </a:rPr>
              <a:t>8</a:t>
            </a:r>
            <a:r>
              <a:rPr lang="en-US" dirty="0">
                <a:latin typeface="Arial Black" pitchFamily="34" charset="0"/>
              </a:rPr>
              <a:t>H</a:t>
            </a:r>
            <a:r>
              <a:rPr lang="en-US" sz="2400" baseline="-25000" dirty="0">
                <a:latin typeface="Arial Black" pitchFamily="34" charset="0"/>
              </a:rPr>
              <a:t>14</a:t>
            </a:r>
            <a:r>
              <a:rPr lang="en-US" sz="2400" dirty="0">
                <a:latin typeface="Arial Black" pitchFamily="34" charset="0"/>
              </a:rPr>
              <a:t> –</a:t>
            </a:r>
            <a:r>
              <a:rPr lang="en-US" sz="2000" dirty="0">
                <a:latin typeface="Arial Black" pitchFamily="34" charset="0"/>
              </a:rPr>
              <a:t>Octaborane-14</a:t>
            </a:r>
            <a:endParaRPr lang="en-US" baseline="-25000" dirty="0">
              <a:latin typeface="Arial Black" pitchFamily="34" charset="0"/>
            </a:endParaRPr>
          </a:p>
          <a:p>
            <a:r>
              <a:rPr lang="en-US" dirty="0">
                <a:latin typeface="Arial Black" pitchFamily="34" charset="0"/>
              </a:rPr>
              <a:t>B</a:t>
            </a:r>
            <a:r>
              <a:rPr lang="en-US" sz="2400" baseline="-25000" dirty="0">
                <a:latin typeface="Arial Black" pitchFamily="34" charset="0"/>
              </a:rPr>
              <a:t>9</a:t>
            </a:r>
            <a:r>
              <a:rPr lang="en-US" dirty="0">
                <a:latin typeface="Arial Black" pitchFamily="34" charset="0"/>
              </a:rPr>
              <a:t>H</a:t>
            </a:r>
            <a:r>
              <a:rPr lang="en-US" sz="2400" baseline="-25000" dirty="0">
                <a:latin typeface="Arial Black" pitchFamily="34" charset="0"/>
              </a:rPr>
              <a:t>15</a:t>
            </a:r>
            <a:r>
              <a:rPr lang="en-US" sz="2400" dirty="0">
                <a:latin typeface="Arial Black" pitchFamily="34" charset="0"/>
              </a:rPr>
              <a:t>- </a:t>
            </a:r>
            <a:r>
              <a:rPr lang="en-US" sz="2000" dirty="0" err="1">
                <a:latin typeface="Arial Black" pitchFamily="34" charset="0"/>
              </a:rPr>
              <a:t>Nonaborane</a:t>
            </a:r>
            <a:endParaRPr lang="en-US" baseline="-25000" dirty="0">
              <a:latin typeface="Arial Black" pitchFamily="34" charset="0"/>
            </a:endParaRPr>
          </a:p>
          <a:p>
            <a:endParaRPr lang="en-US" sz="1600" u="sng" dirty="0">
              <a:latin typeface="Arial Black" pitchFamily="34" charset="0"/>
            </a:endParaRPr>
          </a:p>
        </p:txBody>
      </p:sp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3962400" y="1219200"/>
            <a:ext cx="4876800" cy="230832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B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2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6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⇌ 2BH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3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latin typeface="Arial Black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BH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3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+B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2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6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→ B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3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7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+H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2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(rate determining step)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BH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3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+ B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3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7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⇌ B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4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10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latin typeface="Arial Black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B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2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6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+ B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3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7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→ BH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3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+ B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4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10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⇌ B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5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11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 + H</a:t>
            </a:r>
            <a:r>
              <a:rPr kumimoji="0" lang="en-US" sz="18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cs typeface="Arial" pitchFamily="34" charset="0"/>
              </a:rPr>
              <a:t>2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latin typeface="Arial Black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AutoShape 1"/>
          <p:cNvSpPr>
            <a:spLocks noChangeShapeType="1"/>
          </p:cNvSpPr>
          <p:nvPr/>
        </p:nvSpPr>
        <p:spPr bwMode="auto">
          <a:xfrm>
            <a:off x="6172200" y="5867400"/>
            <a:ext cx="40005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02" name="AutoShape 2"/>
          <p:cNvSpPr>
            <a:spLocks noChangeShapeType="1"/>
          </p:cNvSpPr>
          <p:nvPr/>
        </p:nvSpPr>
        <p:spPr bwMode="auto">
          <a:xfrm flipH="1">
            <a:off x="6248400" y="5943600"/>
            <a:ext cx="35242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7696200" y="5082540"/>
            <a:ext cx="502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5029200" y="5638800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2BH</a:t>
            </a:r>
            <a:r>
              <a:rPr kumimoji="0" lang="en-US" sz="20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B</a:t>
            </a:r>
            <a:r>
              <a:rPr kumimoji="0" lang="en-US" sz="20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</a:t>
            </a:r>
            <a:r>
              <a:rPr kumimoji="0" lang="en-US" sz="20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6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4267200" y="3810000"/>
            <a:ext cx="4648200" cy="156966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</a:t>
            </a:r>
            <a:r>
              <a:rPr kumimoji="0" lang="en-US" sz="24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</a:t>
            </a:r>
            <a:r>
              <a:rPr kumimoji="0" lang="en-US" sz="24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6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is a colorless gas at room temperature. It is believed to be in equilibrium with 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borane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BH</a:t>
            </a:r>
            <a:r>
              <a:rPr kumimoji="0" lang="en-US" sz="2400" b="1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according to the equation, 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2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rial Black" pitchFamily="34" charset="0"/>
              </a:rPr>
              <a:t>The Hydride of Boron/ </a:t>
            </a:r>
            <a:r>
              <a:rPr lang="en-US" sz="3200" b="1" dirty="0" err="1">
                <a:solidFill>
                  <a:srgbClr val="3333FF"/>
                </a:solidFill>
                <a:latin typeface="Arial Black" pitchFamily="34" charset="0"/>
              </a:rPr>
              <a:t>Diborane</a:t>
            </a:r>
            <a:r>
              <a:rPr lang="en-US" sz="3200" b="1" dirty="0">
                <a:solidFill>
                  <a:srgbClr val="3333FF"/>
                </a:solidFill>
                <a:latin typeface="Arial Black" pitchFamily="34" charset="0"/>
              </a:rPr>
              <a:t> ( B</a:t>
            </a:r>
            <a:r>
              <a:rPr lang="en-US" sz="3200" b="1" baseline="-25000" dirty="0">
                <a:solidFill>
                  <a:srgbClr val="3333FF"/>
                </a:solidFill>
                <a:latin typeface="Arial Black" pitchFamily="34" charset="0"/>
              </a:rPr>
              <a:t>2</a:t>
            </a:r>
            <a:r>
              <a:rPr lang="en-US" sz="3200" b="1" dirty="0">
                <a:solidFill>
                  <a:srgbClr val="3333FF"/>
                </a:solidFill>
                <a:latin typeface="Arial Black" pitchFamily="34" charset="0"/>
              </a:rPr>
              <a:t>H</a:t>
            </a:r>
            <a:r>
              <a:rPr lang="en-US" sz="3200" b="1" baseline="-25000" dirty="0">
                <a:solidFill>
                  <a:srgbClr val="3333FF"/>
                </a:solidFill>
                <a:latin typeface="Arial Black" pitchFamily="34" charset="0"/>
              </a:rPr>
              <a:t>6</a:t>
            </a:r>
            <a:r>
              <a:rPr lang="en-US" sz="3200" b="1" dirty="0">
                <a:solidFill>
                  <a:srgbClr val="3333FF"/>
                </a:solidFill>
                <a:latin typeface="Arial Black" pitchFamily="34" charset="0"/>
              </a:rPr>
              <a:t>) </a:t>
            </a:r>
            <a:endParaRPr lang="en-US" sz="3200" dirty="0">
              <a:solidFill>
                <a:srgbClr val="3333FF"/>
              </a:solidFill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38912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Synthesis: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 Black" pitchFamily="34" charset="0"/>
              </a:rPr>
              <a:t>4BCl</a:t>
            </a:r>
            <a:r>
              <a:rPr lang="en-US" sz="2400" b="1" baseline="-25000" dirty="0">
                <a:latin typeface="Arial Black" pitchFamily="34" charset="0"/>
              </a:rPr>
              <a:t>3</a:t>
            </a:r>
            <a:r>
              <a:rPr lang="en-US" sz="2400" b="1" dirty="0">
                <a:latin typeface="Arial Black" pitchFamily="34" charset="0"/>
              </a:rPr>
              <a:t> + 3LiAlH</a:t>
            </a:r>
            <a:r>
              <a:rPr lang="en-US" sz="2400" b="1" baseline="-25000" dirty="0">
                <a:latin typeface="Arial Black" pitchFamily="34" charset="0"/>
              </a:rPr>
              <a:t>4</a:t>
            </a:r>
            <a:r>
              <a:rPr lang="en-US" sz="2400" b="1" dirty="0">
                <a:latin typeface="Arial Black" pitchFamily="34" charset="0"/>
              </a:rPr>
              <a:t> → 2B</a:t>
            </a:r>
            <a:r>
              <a:rPr lang="en-US" sz="2400" b="1" baseline="-25000" dirty="0">
                <a:latin typeface="Arial Black" pitchFamily="34" charset="0"/>
              </a:rPr>
              <a:t>2</a:t>
            </a:r>
            <a:r>
              <a:rPr lang="en-US" sz="2400" b="1" dirty="0">
                <a:latin typeface="Arial Black" pitchFamily="34" charset="0"/>
              </a:rPr>
              <a:t>H</a:t>
            </a:r>
            <a:r>
              <a:rPr lang="en-US" sz="2400" b="1" baseline="-25000" dirty="0">
                <a:latin typeface="Arial Black" pitchFamily="34" charset="0"/>
              </a:rPr>
              <a:t>6</a:t>
            </a:r>
            <a:r>
              <a:rPr lang="en-US" sz="2400" b="1" dirty="0">
                <a:latin typeface="Arial Black" pitchFamily="34" charset="0"/>
              </a:rPr>
              <a:t> + 3LiAlCl</a:t>
            </a:r>
            <a:r>
              <a:rPr lang="en-US" sz="2400" b="1" baseline="-25000" dirty="0">
                <a:latin typeface="Arial Black" pitchFamily="34" charset="0"/>
              </a:rPr>
              <a:t>4</a:t>
            </a:r>
            <a:endParaRPr lang="en-US" sz="2400" b="1" dirty="0">
              <a:latin typeface="Arial Black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 Black" pitchFamily="34" charset="0"/>
              </a:rPr>
              <a:t>4</a:t>
            </a:r>
            <a:r>
              <a:rPr lang="en-US" sz="2400" b="1" dirty="0">
                <a:latin typeface="Arial Black" pitchFamily="34" charset="0"/>
              </a:rPr>
              <a:t>BF3 + 3NaBH</a:t>
            </a:r>
            <a:r>
              <a:rPr lang="en-US" sz="2400" b="1" baseline="-25000" dirty="0">
                <a:latin typeface="Arial Black" pitchFamily="34" charset="0"/>
              </a:rPr>
              <a:t>4</a:t>
            </a:r>
            <a:r>
              <a:rPr lang="en-US" sz="2400" b="1" dirty="0">
                <a:latin typeface="Arial Black" pitchFamily="34" charset="0"/>
              </a:rPr>
              <a:t> → 2 B</a:t>
            </a:r>
            <a:r>
              <a:rPr lang="en-US" sz="2400" b="1" baseline="-25000" dirty="0">
                <a:latin typeface="Arial Black" pitchFamily="34" charset="0"/>
              </a:rPr>
              <a:t>2</a:t>
            </a:r>
            <a:r>
              <a:rPr lang="en-US" sz="2400" b="1" dirty="0">
                <a:latin typeface="Arial Black" pitchFamily="34" charset="0"/>
              </a:rPr>
              <a:t>H</a:t>
            </a:r>
            <a:r>
              <a:rPr lang="en-US" sz="2400" b="1" baseline="-25000" dirty="0">
                <a:latin typeface="Arial Black" pitchFamily="34" charset="0"/>
              </a:rPr>
              <a:t>6</a:t>
            </a:r>
            <a:r>
              <a:rPr lang="en-US" sz="2400" b="1" dirty="0">
                <a:latin typeface="Arial Black" pitchFamily="34" charset="0"/>
              </a:rPr>
              <a:t> + 3NaBF</a:t>
            </a:r>
            <a:r>
              <a:rPr lang="en-US" sz="2400" b="1" baseline="-25000" dirty="0">
                <a:latin typeface="Arial Black" pitchFamily="34" charset="0"/>
              </a:rPr>
              <a:t>4</a:t>
            </a:r>
            <a:endParaRPr lang="en-US" sz="2400" b="1" dirty="0">
              <a:latin typeface="Arial Black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 Black" pitchFamily="34" charset="0"/>
              </a:rPr>
              <a:t>2</a:t>
            </a:r>
            <a:r>
              <a:rPr lang="en-US" sz="2400" b="1" dirty="0">
                <a:latin typeface="Arial Black" pitchFamily="34" charset="0"/>
              </a:rPr>
              <a:t>NaBH</a:t>
            </a:r>
            <a:r>
              <a:rPr lang="en-US" sz="2400" b="1" baseline="-25000" dirty="0">
                <a:latin typeface="Arial Black" pitchFamily="34" charset="0"/>
              </a:rPr>
              <a:t>4</a:t>
            </a:r>
            <a:r>
              <a:rPr lang="en-US" sz="2400" b="1" dirty="0">
                <a:latin typeface="Arial Black" pitchFamily="34" charset="0"/>
              </a:rPr>
              <a:t> + I</a:t>
            </a:r>
            <a:r>
              <a:rPr lang="en-US" sz="2400" b="1" baseline="-25000" dirty="0">
                <a:latin typeface="Arial Black" pitchFamily="34" charset="0"/>
              </a:rPr>
              <a:t>2</a:t>
            </a:r>
            <a:r>
              <a:rPr lang="en-US" sz="2400" b="1" dirty="0">
                <a:latin typeface="Arial Black" pitchFamily="34" charset="0"/>
              </a:rPr>
              <a:t> → 2NaI + B</a:t>
            </a:r>
            <a:r>
              <a:rPr lang="en-US" sz="2400" b="1" baseline="-25000" dirty="0">
                <a:latin typeface="Arial Black" pitchFamily="34" charset="0"/>
              </a:rPr>
              <a:t>2</a:t>
            </a:r>
            <a:r>
              <a:rPr lang="en-US" sz="2400" b="1" dirty="0">
                <a:latin typeface="Arial Black" pitchFamily="34" charset="0"/>
              </a:rPr>
              <a:t>H</a:t>
            </a:r>
            <a:r>
              <a:rPr lang="en-US" sz="2400" b="1" baseline="-25000" dirty="0">
                <a:latin typeface="Arial Black" pitchFamily="34" charset="0"/>
              </a:rPr>
              <a:t>6</a:t>
            </a:r>
            <a:r>
              <a:rPr lang="en-US" sz="2400" b="1" dirty="0">
                <a:latin typeface="Arial Black" pitchFamily="34" charset="0"/>
              </a:rPr>
              <a:t> + H</a:t>
            </a:r>
            <a:r>
              <a:rPr lang="en-US" sz="2400" b="1" baseline="-25000" dirty="0">
                <a:latin typeface="Arial Black" pitchFamily="34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 Black" pitchFamily="34" charset="0"/>
              </a:rPr>
              <a:t>8 BF</a:t>
            </a:r>
            <a:r>
              <a:rPr lang="en-US" sz="2400" b="1" baseline="-25000" dirty="0">
                <a:latin typeface="Arial Black" pitchFamily="34" charset="0"/>
              </a:rPr>
              <a:t>3</a:t>
            </a:r>
            <a:r>
              <a:rPr lang="en-US" sz="2400" b="1" dirty="0">
                <a:latin typeface="Arial Black" pitchFamily="34" charset="0"/>
              </a:rPr>
              <a:t> + </a:t>
            </a:r>
            <a:r>
              <a:rPr lang="en-US" sz="2000" b="1" dirty="0">
                <a:latin typeface="Arial Black" pitchFamily="34" charset="0"/>
              </a:rPr>
              <a:t>6</a:t>
            </a:r>
            <a:r>
              <a:rPr lang="en-US" sz="2400" b="1" dirty="0">
                <a:latin typeface="Arial Black" pitchFamily="34" charset="0"/>
              </a:rPr>
              <a:t>LiH → B</a:t>
            </a:r>
            <a:r>
              <a:rPr lang="en-US" sz="2400" b="1" baseline="-25000" dirty="0">
                <a:latin typeface="Arial Black" pitchFamily="34" charset="0"/>
              </a:rPr>
              <a:t>2</a:t>
            </a:r>
            <a:r>
              <a:rPr lang="en-US" sz="2400" b="1" dirty="0">
                <a:latin typeface="Arial Black" pitchFamily="34" charset="0"/>
              </a:rPr>
              <a:t>H</a:t>
            </a:r>
            <a:r>
              <a:rPr lang="en-US" sz="2400" b="1" baseline="-25000" dirty="0">
                <a:latin typeface="Arial Black" pitchFamily="34" charset="0"/>
              </a:rPr>
              <a:t>6</a:t>
            </a:r>
            <a:r>
              <a:rPr lang="en-US" sz="2400" b="1" dirty="0">
                <a:latin typeface="Arial Black" pitchFamily="34" charset="0"/>
              </a:rPr>
              <a:t> + </a:t>
            </a:r>
            <a:r>
              <a:rPr lang="en-US" sz="2000" b="1" dirty="0">
                <a:latin typeface="Arial Black" pitchFamily="34" charset="0"/>
              </a:rPr>
              <a:t>6</a:t>
            </a:r>
            <a:r>
              <a:rPr lang="en-US" sz="2400" b="1" dirty="0">
                <a:latin typeface="Arial Black" pitchFamily="34" charset="0"/>
              </a:rPr>
              <a:t>LiBF</a:t>
            </a:r>
            <a:r>
              <a:rPr lang="en-US" sz="2400" b="1" baseline="-25000" dirty="0">
                <a:latin typeface="Arial Black" pitchFamily="34" charset="0"/>
              </a:rPr>
              <a:t>4</a:t>
            </a:r>
            <a:endParaRPr lang="en-US" sz="2400" b="1" dirty="0">
              <a:latin typeface="Arial Black" pitchFamily="34" charset="0"/>
            </a:endParaRPr>
          </a:p>
          <a:p>
            <a:endParaRPr lang="en-US" sz="2400" dirty="0"/>
          </a:p>
          <a:p>
            <a:r>
              <a:rPr lang="en-US" b="1" cap="small" dirty="0">
                <a:solidFill>
                  <a:srgbClr val="3333FF"/>
                </a:solidFill>
              </a:rPr>
              <a:t>BF</a:t>
            </a:r>
            <a:r>
              <a:rPr lang="en-US" b="1" cap="small" baseline="-25000" dirty="0">
                <a:solidFill>
                  <a:srgbClr val="3333FF"/>
                </a:solidFill>
              </a:rPr>
              <a:t>3</a:t>
            </a:r>
            <a:r>
              <a:rPr lang="en-US" b="1" cap="small" dirty="0">
                <a:solidFill>
                  <a:srgbClr val="3333FF"/>
                </a:solidFill>
              </a:rPr>
              <a:t>   +   6NaH       B</a:t>
            </a:r>
            <a:r>
              <a:rPr lang="en-US" b="1" cap="small" baseline="-25000" dirty="0">
                <a:solidFill>
                  <a:srgbClr val="3333FF"/>
                </a:solidFill>
              </a:rPr>
              <a:t>2</a:t>
            </a:r>
            <a:r>
              <a:rPr lang="en-US" b="1" cap="small" dirty="0">
                <a:solidFill>
                  <a:srgbClr val="3333FF"/>
                </a:solidFill>
              </a:rPr>
              <a:t>H</a:t>
            </a:r>
            <a:r>
              <a:rPr lang="en-US" b="1" cap="small" baseline="-25000" dirty="0">
                <a:solidFill>
                  <a:srgbClr val="3333FF"/>
                </a:solidFill>
              </a:rPr>
              <a:t>6</a:t>
            </a:r>
            <a:r>
              <a:rPr lang="en-US" b="1" cap="small" dirty="0">
                <a:solidFill>
                  <a:srgbClr val="3333FF"/>
                </a:solidFill>
              </a:rPr>
              <a:t>   +   6NaF </a:t>
            </a:r>
          </a:p>
          <a:p>
            <a:pPr>
              <a:buNone/>
            </a:pPr>
            <a:r>
              <a:rPr lang="en-US" sz="1500" b="1" cap="small" dirty="0">
                <a:solidFill>
                  <a:srgbClr val="3333FF"/>
                </a:solidFill>
              </a:rPr>
              <a:t>                                                                    (Industrial Method) </a:t>
            </a:r>
            <a:endParaRPr lang="en-US" b="1" cap="small" dirty="0">
              <a:solidFill>
                <a:srgbClr val="3333FF"/>
              </a:solidFill>
            </a:endParaRP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819400" y="50292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 Black" pitchFamily="34" charset="0"/>
              </a:rPr>
              <a:t>Reaction of B</a:t>
            </a:r>
            <a:r>
              <a:rPr lang="en-US" b="1" baseline="-25000" dirty="0">
                <a:solidFill>
                  <a:srgbClr val="FF0000"/>
                </a:solidFill>
                <a:latin typeface="Arial Black" pitchFamily="34" charset="0"/>
              </a:rPr>
              <a:t>2</a:t>
            </a:r>
            <a:r>
              <a:rPr lang="en-US" b="1" dirty="0">
                <a:solidFill>
                  <a:srgbClr val="FF0000"/>
                </a:solidFill>
                <a:latin typeface="Arial Black" pitchFamily="34" charset="0"/>
              </a:rPr>
              <a:t>H</a:t>
            </a:r>
            <a:r>
              <a:rPr lang="en-US" b="1" baseline="-25000" dirty="0">
                <a:solidFill>
                  <a:srgbClr val="FF0000"/>
                </a:solidFill>
                <a:latin typeface="Arial Black" pitchFamily="34" charset="0"/>
              </a:rPr>
              <a:t>6</a:t>
            </a:r>
          </a:p>
        </p:txBody>
      </p:sp>
      <p:pic>
        <p:nvPicPr>
          <p:cNvPr id="4123" name="Picture 27"/>
          <p:cNvPicPr>
            <a:picLocks noChangeAspect="1" noChangeArrowheads="1"/>
          </p:cNvPicPr>
          <p:nvPr/>
        </p:nvPicPr>
        <p:blipFill>
          <a:blip r:embed="rId2" cstate="print">
            <a:biLevel thresh="75000"/>
          </a:blip>
          <a:srcRect/>
          <a:stretch>
            <a:fillRect/>
          </a:stretch>
        </p:blipFill>
        <p:spPr bwMode="auto">
          <a:xfrm>
            <a:off x="1351767" y="685799"/>
            <a:ext cx="5638800" cy="599126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359474"/>
              </p:ext>
            </p:extLst>
          </p:nvPr>
        </p:nvGraphicFramePr>
        <p:xfrm>
          <a:off x="1066800" y="228600"/>
          <a:ext cx="7010400" cy="6149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312520" imgH="4659840" progId="ChemDraw.Document.6.0">
                  <p:embed/>
                </p:oleObj>
              </mc:Choice>
              <mc:Fallback>
                <p:oleObj name="CS ChemDraw Drawing" r:id="rId2" imgW="5312520" imgH="4659840" progId="ChemDraw.Document.6.0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28600"/>
                        <a:ext cx="7010400" cy="614929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936519"/>
              </p:ext>
            </p:extLst>
          </p:nvPr>
        </p:nvGraphicFramePr>
        <p:xfrm>
          <a:off x="762000" y="685800"/>
          <a:ext cx="6858000" cy="4852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521520" imgH="2491560" progId="ChemDraw.Document.6.0">
                  <p:embed/>
                </p:oleObj>
              </mc:Choice>
              <mc:Fallback>
                <p:oleObj name="CS ChemDraw Drawing" r:id="rId2" imgW="3521520" imgH="2491560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685800"/>
                        <a:ext cx="6858000" cy="485297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786763"/>
              </p:ext>
            </p:extLst>
          </p:nvPr>
        </p:nvGraphicFramePr>
        <p:xfrm>
          <a:off x="228600" y="1066800"/>
          <a:ext cx="8610600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483520" imgH="3196080" progId="ChemDraw.Document.6.0">
                  <p:embed/>
                </p:oleObj>
              </mc:Choice>
              <mc:Fallback>
                <p:oleObj name="CS ChemDraw Drawing" r:id="rId2" imgW="5483520" imgH="3196080" progId="ChemDraw.Document.6.0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8610600" cy="50228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rc_mi" descr="http://upload.wikimedia.org/wikipedia/commons/b/b6/Borazine-dimensions-2D.png"/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800600" y="2667000"/>
            <a:ext cx="3048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http://upload.wikimedia.org/wikipedia/commons/2/26/Borazine-2D.png"/>
          <p:cNvPicPr/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09600" y="2590800"/>
            <a:ext cx="2362200" cy="25908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</p:pic>
      <p:sp>
        <p:nvSpPr>
          <p:cNvPr id="17" name="TextBox 16"/>
          <p:cNvSpPr txBox="1"/>
          <p:nvPr/>
        </p:nvSpPr>
        <p:spPr>
          <a:xfrm rot="10800000" flipV="1">
            <a:off x="5410200" y="50292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/>
              <a:t>Borazine</a:t>
            </a:r>
            <a:r>
              <a:rPr lang="en-US" sz="3600" b="1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096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Bonding in </a:t>
            </a:r>
            <a:r>
              <a:rPr lang="en-US" sz="4400" b="1" dirty="0" err="1">
                <a:solidFill>
                  <a:srgbClr val="FF0000"/>
                </a:solidFill>
              </a:rPr>
              <a:t>Diborane</a:t>
            </a:r>
            <a:r>
              <a:rPr lang="en-US" sz="4400" b="1" dirty="0">
                <a:solidFill>
                  <a:srgbClr val="FF0000"/>
                </a:solidFill>
              </a:rPr>
              <a:t>, B</a:t>
            </a:r>
            <a:r>
              <a:rPr lang="en-US" sz="4400" b="1" baseline="-25000" dirty="0">
                <a:solidFill>
                  <a:srgbClr val="FF0000"/>
                </a:solidFill>
              </a:rPr>
              <a:t>2</a:t>
            </a:r>
            <a:r>
              <a:rPr lang="en-US" sz="4400" b="1" dirty="0">
                <a:solidFill>
                  <a:srgbClr val="FF0000"/>
                </a:solidFill>
              </a:rPr>
              <a:t>H</a:t>
            </a:r>
            <a:r>
              <a:rPr lang="en-US" sz="4400" b="1" baseline="-250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609600" y="4572000"/>
            <a:ext cx="8382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itchFamily="2" charset="-79"/>
                <a:cs typeface="Aharoni" pitchFamily="2" charset="-79"/>
              </a:rPr>
              <a:t>The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itchFamily="2" charset="-79"/>
                <a:cs typeface="Aharoni" pitchFamily="2" charset="-79"/>
              </a:rPr>
              <a:t>hybridization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itchFamily="2" charset="-79"/>
                <a:cs typeface="Aharoni" pitchFamily="2" charset="-79"/>
              </a:rPr>
              <a:t> B(5)  is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3200" i="1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sp</a:t>
            </a:r>
            <a:r>
              <a:rPr lang="en-US" sz="4000" baseline="300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3</a:t>
            </a:r>
            <a:r>
              <a:rPr lang="en-US" sz="3200" baseline="30000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  </a:t>
            </a:r>
          </a:p>
        </p:txBody>
      </p:sp>
      <p:graphicFrame>
        <p:nvGraphicFramePr>
          <p:cNvPr id="102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609600" y="2362200"/>
          <a:ext cx="7996356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464440" imgH="1301040" progId="ChemDraw.Document.6.0">
                  <p:embed/>
                </p:oleObj>
              </mc:Choice>
              <mc:Fallback>
                <p:oleObj name="CS ChemDraw Drawing" r:id="rId2" imgW="5464440" imgH="1301040" progId="ChemDraw.Document.6.0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362200"/>
                        <a:ext cx="7996356" cy="19050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DIBORANE&#10;• Diborane is simplest and most studied of boranes. It is&#10;an electron deficient molecule .&#10;• It has less number of valence electrons than the&#10;number required to form all the electron pair bond in its&#10;structure.2 hydrogen bridges are present.&#10;• The model determined by MOT indicates that the bond&#10;between boron &amp; terminal hydrogen atoms are&#10;conventional 2c-2e electron bonds.&#10;• Having used 2 electrons in bonding to terminal&#10;hydrogen atoms. Each boron has one valence e-&#10;remain for additional bonding. The bridging hydrogen&#10;provides an electron each. Thus B2H2 ring is held&#10;together by 4 electrons.&#10;B&#10;H&#10;B&#10;H&#10;HH&#10;HH&#10; 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2" y="990600"/>
            <a:ext cx="9211733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08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 BONDING AND STRUCTURE IN DIBORANE&#10; The diborane molecule has 2 type of bonds.&#10;• 1. four terminal (2c-2e) B-H bonds.&#10;• 2. two bridged (3c-2e) B-H-B bonds.&#10;• 1. four terminal (2c-2e) B-H bonds.&#10;Each of these bonds are formed by sharing of 2&#10;electrons between boron and terminal hydrogen atoms. It’s a&#10;normal 𝜎 covalent bond.&#10;• 2. two bridged (3c-2e) B-H-B bonds.&#10;Each of these bond is formed by sharing of 2 electrons&#10;between 2 B and 1 H atoms .&#10;• It is also called as banana bond&#10; 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33400"/>
            <a:ext cx="8738540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473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54228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3C-  2e  Bond</a:t>
            </a:r>
            <a:br>
              <a:rPr lang="en-US" b="1" dirty="0"/>
            </a:br>
            <a:endParaRPr lang="en-US" dirty="0"/>
          </a:p>
        </p:txBody>
      </p:sp>
      <p:pic>
        <p:nvPicPr>
          <p:cNvPr id="11266" name="Picture 2" descr="https://scienceinfo.com/wp-content/uploads/2022/11/Bonding-in-diborane-1024x3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00400"/>
            <a:ext cx="6833453" cy="31242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4" name="Rectangle 3"/>
          <p:cNvSpPr/>
          <p:nvPr/>
        </p:nvSpPr>
        <p:spPr>
          <a:xfrm>
            <a:off x="685800" y="1524000"/>
            <a:ext cx="8153400" cy="14773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An electron-deficient chemical bond involves three atoms sharing two electrons. Three atomic orbitals combine to form three molecular orbitals, i.e., </a:t>
            </a:r>
            <a:r>
              <a:rPr lang="en-US" b="1" dirty="0">
                <a:solidFill>
                  <a:srgbClr val="FF0000"/>
                </a:solidFill>
              </a:rPr>
              <a:t>one bonding, one nonbonding, and one </a:t>
            </a:r>
            <a:r>
              <a:rPr lang="en-US" b="1" dirty="0" err="1">
                <a:solidFill>
                  <a:srgbClr val="FF0000"/>
                </a:solidFill>
              </a:rPr>
              <a:t>antibonding</a:t>
            </a:r>
            <a:r>
              <a:rPr lang="en-US" b="1" dirty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Many common bonds of this type have the bonding orbital shifted toward two of three atoms rather than being spread evenly. E.g., B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92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4097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Formation of 3C-  2e bond in </a:t>
            </a:r>
            <a:r>
              <a:rPr lang="en-US" b="1" dirty="0" err="1">
                <a:solidFill>
                  <a:srgbClr val="FF0000"/>
                </a:solidFill>
              </a:rPr>
              <a:t>diborane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891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Electron diffraction and </a:t>
            </a:r>
            <a:r>
              <a:rPr lang="en-US" dirty="0" err="1"/>
              <a:t>Ir</a:t>
            </a:r>
            <a:r>
              <a:rPr lang="en-US" dirty="0"/>
              <a:t> study shows that B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6 </a:t>
            </a:r>
            <a:r>
              <a:rPr lang="en-US" dirty="0"/>
              <a:t>has hydrogen – bridged structure as:</a:t>
            </a:r>
          </a:p>
          <a:p>
            <a:r>
              <a:rPr lang="en-US" dirty="0"/>
              <a:t>There are insufficient electrons, so each boron atom bonded to the two terminal hydrogen atoms (</a:t>
            </a:r>
            <a:r>
              <a:rPr lang="en-US" dirty="0" err="1"/>
              <a:t>H</a:t>
            </a:r>
            <a:r>
              <a:rPr lang="en-US" baseline="-25000" dirty="0" err="1"/>
              <a:t>t</a:t>
            </a:r>
            <a:r>
              <a:rPr lang="en-US" dirty="0"/>
              <a:t>) and the other two with a common hydrogen bridge (</a:t>
            </a:r>
            <a:r>
              <a:rPr lang="en-US" dirty="0" err="1"/>
              <a:t>H</a:t>
            </a:r>
            <a:r>
              <a:rPr lang="en-US" baseline="-25000" dirty="0" err="1"/>
              <a:t>b</a:t>
            </a:r>
            <a:r>
              <a:rPr lang="en-US" dirty="0"/>
              <a:t>)and forms a banana bond called the 3c -2e bond.</a:t>
            </a:r>
          </a:p>
          <a:p>
            <a:r>
              <a:rPr lang="en-US" dirty="0"/>
              <a:t>Valence shell configuration of the Boron  atom,</a:t>
            </a:r>
          </a:p>
          <a:p>
            <a:r>
              <a:rPr lang="en-US" dirty="0">
                <a:solidFill>
                  <a:srgbClr val="FF0000"/>
                </a:solidFill>
              </a:rPr>
              <a:t>Ground state:  1S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2S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2P</a:t>
            </a:r>
            <a:r>
              <a:rPr lang="en-US" baseline="-25000" dirty="0">
                <a:solidFill>
                  <a:srgbClr val="FF0000"/>
                </a:solidFill>
              </a:rPr>
              <a:t>X</a:t>
            </a:r>
            <a:r>
              <a:rPr lang="en-US" baseline="30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2P</a:t>
            </a:r>
            <a:r>
              <a:rPr lang="en-US" baseline="-25000" dirty="0">
                <a:solidFill>
                  <a:srgbClr val="FF0000"/>
                </a:solidFill>
              </a:rPr>
              <a:t>Y</a:t>
            </a:r>
            <a:r>
              <a:rPr lang="en-US" baseline="30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, 2P</a:t>
            </a:r>
            <a:r>
              <a:rPr lang="en-US" baseline="-25000" dirty="0">
                <a:solidFill>
                  <a:srgbClr val="FF0000"/>
                </a:solidFill>
              </a:rPr>
              <a:t>Z</a:t>
            </a:r>
            <a:r>
              <a:rPr lang="en-US" baseline="30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</a:rPr>
              <a:t>Excited state: 1S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2S</a:t>
            </a:r>
            <a:r>
              <a:rPr lang="en-US" baseline="30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2P</a:t>
            </a:r>
            <a:r>
              <a:rPr lang="en-US" baseline="-25000" dirty="0">
                <a:solidFill>
                  <a:srgbClr val="FF0000"/>
                </a:solidFill>
              </a:rPr>
              <a:t>X</a:t>
            </a:r>
            <a:r>
              <a:rPr lang="en-US" baseline="30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2P</a:t>
            </a:r>
            <a:r>
              <a:rPr lang="en-US" baseline="-25000" dirty="0">
                <a:solidFill>
                  <a:srgbClr val="FF0000"/>
                </a:solidFill>
              </a:rPr>
              <a:t>Y</a:t>
            </a:r>
            <a:r>
              <a:rPr lang="en-US" baseline="30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2P</a:t>
            </a:r>
            <a:r>
              <a:rPr lang="en-US" baseline="-25000" dirty="0">
                <a:solidFill>
                  <a:srgbClr val="FF0000"/>
                </a:solidFill>
              </a:rPr>
              <a:t>Z</a:t>
            </a:r>
            <a:r>
              <a:rPr lang="en-US" baseline="30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r>
              <a:rPr lang="en-US" dirty="0"/>
              <a:t>The four atomic orbitals hybridize together to give four SP</a:t>
            </a:r>
            <a:r>
              <a:rPr lang="en-US" baseline="30000" dirty="0"/>
              <a:t>3</a:t>
            </a:r>
            <a:r>
              <a:rPr lang="en-US" dirty="0"/>
              <a:t> hybrid orbitals in which one is empty and the remaining three are singly filled. Hence each boron atom uses SP</a:t>
            </a:r>
            <a:r>
              <a:rPr lang="en-US" baseline="30000" dirty="0"/>
              <a:t>3 </a:t>
            </a:r>
            <a:r>
              <a:rPr lang="en-US" dirty="0"/>
              <a:t>hybrid orbitals.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92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1782" y="914400"/>
            <a:ext cx="8437418" cy="52629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3333FF"/>
                </a:solidFill>
              </a:rPr>
              <a:t>One singly filled SP</a:t>
            </a:r>
            <a:r>
              <a:rPr lang="en-US" sz="2800" baseline="30000" dirty="0">
                <a:solidFill>
                  <a:srgbClr val="3333FF"/>
                </a:solidFill>
              </a:rPr>
              <a:t>3</a:t>
            </a:r>
            <a:r>
              <a:rPr lang="en-US" sz="2800" dirty="0">
                <a:solidFill>
                  <a:srgbClr val="3333FF"/>
                </a:solidFill>
              </a:rPr>
              <a:t> hybrid orbital on the B</a:t>
            </a:r>
            <a:r>
              <a:rPr lang="en-US" sz="2800" baseline="30000" dirty="0">
                <a:solidFill>
                  <a:srgbClr val="3333FF"/>
                </a:solidFill>
              </a:rPr>
              <a:t>1</a:t>
            </a:r>
            <a:r>
              <a:rPr lang="en-US" sz="2800" dirty="0">
                <a:solidFill>
                  <a:srgbClr val="3333FF"/>
                </a:solidFill>
              </a:rPr>
              <a:t> atom and one empty SP</a:t>
            </a:r>
            <a:r>
              <a:rPr lang="en-US" sz="2800" baseline="30000" dirty="0">
                <a:solidFill>
                  <a:srgbClr val="3333FF"/>
                </a:solidFill>
              </a:rPr>
              <a:t>3</a:t>
            </a:r>
            <a:r>
              <a:rPr lang="en-US" sz="2800" dirty="0">
                <a:solidFill>
                  <a:srgbClr val="3333FF"/>
                </a:solidFill>
              </a:rPr>
              <a:t> hybrid orbital on the B</a:t>
            </a:r>
            <a:r>
              <a:rPr lang="en-US" sz="2800" baseline="30000" dirty="0">
                <a:solidFill>
                  <a:srgbClr val="3333FF"/>
                </a:solidFill>
              </a:rPr>
              <a:t>2</a:t>
            </a:r>
            <a:r>
              <a:rPr lang="en-US" sz="2800" dirty="0">
                <a:solidFill>
                  <a:srgbClr val="3333FF"/>
                </a:solidFill>
              </a:rPr>
              <a:t> atom and a singly filled 1S orbital on one </a:t>
            </a:r>
            <a:r>
              <a:rPr lang="en-US" sz="2800" dirty="0" err="1">
                <a:solidFill>
                  <a:srgbClr val="3333FF"/>
                </a:solidFill>
              </a:rPr>
              <a:t>H</a:t>
            </a:r>
            <a:r>
              <a:rPr lang="en-US" sz="2800" baseline="-25000" dirty="0" err="1">
                <a:solidFill>
                  <a:srgbClr val="3333FF"/>
                </a:solidFill>
              </a:rPr>
              <a:t>b</a:t>
            </a:r>
            <a:r>
              <a:rPr lang="en-US" sz="2800" dirty="0">
                <a:solidFill>
                  <a:srgbClr val="3333FF"/>
                </a:solidFill>
              </a:rPr>
              <a:t> atom overlap together and form one bridging 3c -2e  bond.</a:t>
            </a:r>
          </a:p>
          <a:p>
            <a:pPr algn="just"/>
            <a:r>
              <a:rPr lang="en-US" sz="2800" dirty="0">
                <a:solidFill>
                  <a:srgbClr val="3333FF"/>
                </a:solidFill>
              </a:rPr>
              <a:t> Similarly, one empty SP</a:t>
            </a:r>
            <a:r>
              <a:rPr lang="en-US" sz="2800" baseline="30000" dirty="0">
                <a:solidFill>
                  <a:srgbClr val="3333FF"/>
                </a:solidFill>
              </a:rPr>
              <a:t>3</a:t>
            </a:r>
            <a:r>
              <a:rPr lang="en-US" sz="2800" dirty="0">
                <a:solidFill>
                  <a:srgbClr val="3333FF"/>
                </a:solidFill>
              </a:rPr>
              <a:t> hybrid orbital on the B</a:t>
            </a:r>
            <a:r>
              <a:rPr lang="en-US" sz="2800" baseline="30000" dirty="0">
                <a:solidFill>
                  <a:srgbClr val="3333FF"/>
                </a:solidFill>
              </a:rPr>
              <a:t>1</a:t>
            </a:r>
            <a:r>
              <a:rPr lang="en-US" sz="2800" dirty="0">
                <a:solidFill>
                  <a:srgbClr val="3333FF"/>
                </a:solidFill>
              </a:rPr>
              <a:t> atom and one singly filled SP</a:t>
            </a:r>
            <a:r>
              <a:rPr lang="en-US" sz="2800" baseline="30000" dirty="0">
                <a:solidFill>
                  <a:srgbClr val="3333FF"/>
                </a:solidFill>
              </a:rPr>
              <a:t>3</a:t>
            </a:r>
            <a:r>
              <a:rPr lang="en-US" sz="2800" dirty="0">
                <a:solidFill>
                  <a:srgbClr val="3333FF"/>
                </a:solidFill>
              </a:rPr>
              <a:t> hybrid orbital on the B</a:t>
            </a:r>
            <a:r>
              <a:rPr lang="en-US" sz="2800" baseline="30000" dirty="0">
                <a:solidFill>
                  <a:srgbClr val="3333FF"/>
                </a:solidFill>
              </a:rPr>
              <a:t>2</a:t>
            </a:r>
            <a:r>
              <a:rPr lang="en-US" sz="2800" dirty="0">
                <a:solidFill>
                  <a:srgbClr val="3333FF"/>
                </a:solidFill>
              </a:rPr>
              <a:t> atom, and a singly filled 1S orbital on another </a:t>
            </a:r>
            <a:r>
              <a:rPr lang="en-US" sz="2800" dirty="0" err="1">
                <a:solidFill>
                  <a:srgbClr val="3333FF"/>
                </a:solidFill>
              </a:rPr>
              <a:t>H</a:t>
            </a:r>
            <a:r>
              <a:rPr lang="en-US" sz="2800" baseline="-25000" dirty="0" err="1">
                <a:solidFill>
                  <a:srgbClr val="3333FF"/>
                </a:solidFill>
              </a:rPr>
              <a:t>b</a:t>
            </a:r>
            <a:r>
              <a:rPr lang="en-US" sz="2800" dirty="0">
                <a:solidFill>
                  <a:srgbClr val="3333FF"/>
                </a:solidFill>
              </a:rPr>
              <a:t> atom overlap together and form another bridging 3c -2e bond. The remaining two singly filled SP</a:t>
            </a:r>
            <a:r>
              <a:rPr lang="en-US" sz="2800" baseline="30000" dirty="0">
                <a:solidFill>
                  <a:srgbClr val="3333FF"/>
                </a:solidFill>
              </a:rPr>
              <a:t>3 </a:t>
            </a:r>
            <a:r>
              <a:rPr lang="en-US" sz="2800" dirty="0">
                <a:solidFill>
                  <a:srgbClr val="3333FF"/>
                </a:solidFill>
              </a:rPr>
              <a:t>hybrid orbital of each B- atom overlap with the singly filled SP</a:t>
            </a:r>
            <a:r>
              <a:rPr lang="en-US" sz="2800" baseline="30000" dirty="0">
                <a:solidFill>
                  <a:srgbClr val="3333FF"/>
                </a:solidFill>
              </a:rPr>
              <a:t>3</a:t>
            </a:r>
            <a:r>
              <a:rPr lang="en-US" sz="2800" dirty="0">
                <a:solidFill>
                  <a:srgbClr val="3333FF"/>
                </a:solidFill>
              </a:rPr>
              <a:t> 1S orbital of the </a:t>
            </a:r>
            <a:r>
              <a:rPr lang="en-US" sz="2800" dirty="0" err="1">
                <a:solidFill>
                  <a:srgbClr val="3333FF"/>
                </a:solidFill>
              </a:rPr>
              <a:t>H</a:t>
            </a:r>
            <a:r>
              <a:rPr lang="en-US" sz="2800" baseline="-25000" dirty="0" err="1">
                <a:solidFill>
                  <a:srgbClr val="3333FF"/>
                </a:solidFill>
              </a:rPr>
              <a:t>t</a:t>
            </a:r>
            <a:r>
              <a:rPr lang="en-US" sz="2800" dirty="0">
                <a:solidFill>
                  <a:srgbClr val="3333FF"/>
                </a:solidFill>
              </a:rPr>
              <a:t> atom to form a normal 2c- 2e bond.</a:t>
            </a:r>
          </a:p>
        </p:txBody>
      </p:sp>
    </p:spTree>
    <p:extLst>
      <p:ext uri="{BB962C8B-B14F-4D97-AF65-F5344CB8AC3E}">
        <p14:creationId xmlns:p14="http://schemas.microsoft.com/office/powerpoint/2010/main" val="2958140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046156" cy="452596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04956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609600"/>
            <a:ext cx="8686800" cy="513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4260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ARBORANES&#10;• Carboranes are mixed hydrides of boron and carbon in which carbon and&#10;boron atoms occupy the vertices of triangulated polyhedron.&#10;• Carboranes are most important heteroboranes.&#10;• Carboranes are member of a class of organometallic compounds containing&#10;carbon (C), boron (B), and hydrogen (H).&#10;• General formula of carboranes is C2BnHn+m, where n is an integer&#10;• carboranes with n ranging from 3 to 10 have been characterized.&#10;• Boranes and carboranes have same number of electrons in their bonding&#10;framework , will have similar structure.&#10; 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05345"/>
            <a:ext cx="7857066" cy="441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58321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REPARATION&#10;(i)By reacting BCl3 with lithium aluminium hydride&#10;4BCl3 + 3LiAlH4 —› 2B2H6 十 3АlCl3 + 3LiCl&#10;(ii) By the reduction of boron trichloride with sodiumborohydride&#10;3NaBH4 十 4BF3 —&gt; 3B2H6 十 3NaBF4&#10;(¡¡¡) By passing a mixture of hydrogen and boron trichloride or&#10;. tribromide vapour through the silent electric discharge at low&#10;. pressure or in presence of copper-aluminium catalyst at 450°&#10;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33397"/>
            <a:ext cx="77216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49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762000" y="304800"/>
            <a:ext cx="4810437" cy="232186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5" name="Picture 4"/>
          <p:cNvPicPr/>
          <p:nvPr/>
        </p:nvPicPr>
        <p:blipFill>
          <a:blip r:embed="rId4" cstate="print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90392" y="2743200"/>
            <a:ext cx="4800600" cy="3429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867400" y="4042920"/>
            <a:ext cx="2666243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According to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0" y="646888"/>
            <a:ext cx="266957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3333FF"/>
                </a:solidFill>
              </a:rPr>
              <a:t>According to VBT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US" sz="3900" b="1" dirty="0">
                <a:solidFill>
                  <a:srgbClr val="3333FF"/>
                </a:solidFill>
              </a:rPr>
              <a:t>Three-center two-electron bond</a:t>
            </a:r>
          </a:p>
          <a:p>
            <a:pPr algn="just"/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three-center two-electron bond</a:t>
            </a:r>
            <a:r>
              <a:rPr lang="en-US" dirty="0"/>
              <a:t> is an electron deficient </a:t>
            </a:r>
            <a:r>
              <a:rPr lang="en-US" dirty="0">
                <a:solidFill>
                  <a:srgbClr val="9933FF"/>
                </a:solidFill>
              </a:rPr>
              <a:t>chemical bond </a:t>
            </a:r>
            <a:r>
              <a:rPr lang="en-US" dirty="0"/>
              <a:t>where </a:t>
            </a:r>
            <a:r>
              <a:rPr lang="en-US" b="1" i="1" dirty="0">
                <a:solidFill>
                  <a:srgbClr val="FF0000"/>
                </a:solidFill>
              </a:rPr>
              <a:t>three atoms share two electrons. </a:t>
            </a:r>
          </a:p>
          <a:p>
            <a:pPr algn="just"/>
            <a:r>
              <a:rPr lang="en-US" dirty="0"/>
              <a:t>The combination of three atomic orbitals form three molecular orbitals: </a:t>
            </a:r>
            <a:r>
              <a:rPr lang="en-US" b="1" i="1" dirty="0">
                <a:solidFill>
                  <a:srgbClr val="FF0000"/>
                </a:solidFill>
              </a:rPr>
              <a:t>one bonding, one non-bonding, and one anti-bonding.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two electrons </a:t>
            </a:r>
            <a:r>
              <a:rPr lang="en-US" dirty="0"/>
              <a:t>go into the </a:t>
            </a:r>
            <a:r>
              <a:rPr lang="en-US" dirty="0">
                <a:solidFill>
                  <a:srgbClr val="FF0000"/>
                </a:solidFill>
              </a:rPr>
              <a:t>bonding orbital</a:t>
            </a:r>
            <a:r>
              <a:rPr lang="en-US" dirty="0"/>
              <a:t>, resulting in a net </a:t>
            </a:r>
            <a:r>
              <a:rPr lang="en-US" dirty="0">
                <a:solidFill>
                  <a:srgbClr val="FF0000"/>
                </a:solidFill>
              </a:rPr>
              <a:t>bonding effect and constituting a chemical bond among all three atoms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many common bonds of this type, the bonding orbital is shifted towards two of the three atoms instead of being spread equally among all three.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When </a:t>
            </a:r>
            <a:r>
              <a:rPr lang="en-US" dirty="0" err="1"/>
              <a:t>visualised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3D</a:t>
            </a:r>
            <a:r>
              <a:rPr lang="en-US" dirty="0"/>
              <a:t>, it looks like a banana, and hence a </a:t>
            </a:r>
            <a:r>
              <a:rPr lang="en-US" i="1" dirty="0">
                <a:solidFill>
                  <a:srgbClr val="FF0000"/>
                </a:solidFill>
              </a:rPr>
              <a:t>3-center-2-electron bond </a:t>
            </a:r>
            <a:r>
              <a:rPr lang="en-US" dirty="0"/>
              <a:t>is often called a </a:t>
            </a:r>
            <a:r>
              <a:rPr lang="en-US" i="1" dirty="0">
                <a:solidFill>
                  <a:srgbClr val="FF0000"/>
                </a:solidFill>
              </a:rPr>
              <a:t>banana bond</a:t>
            </a:r>
            <a:r>
              <a:rPr lang="en-US" dirty="0">
                <a:solidFill>
                  <a:srgbClr val="FF0000"/>
                </a:solidFill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139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8871" y="990600"/>
            <a:ext cx="8534400" cy="520142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The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MO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 scheme for one of the</a:t>
            </a:r>
            <a:r>
              <a:rPr lang="en-US" sz="3200" dirty="0">
                <a:solidFill>
                  <a:srgbClr val="3333FF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B–H–B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bridging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three center two electron</a:t>
            </a:r>
            <a:r>
              <a:rPr lang="en-US" sz="3200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bonds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. *This picture is still a simplification</a:t>
            </a:r>
            <a:r>
              <a:rPr lang="en-US" sz="3200" dirty="0">
                <a:solidFill>
                  <a:srgbClr val="3333FF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of the actual MO scheme. The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non-bonding</a:t>
            </a:r>
            <a:r>
              <a:rPr lang="en-US" sz="3200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orbital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is actually of slightly lower energy</a:t>
            </a:r>
            <a:r>
              <a:rPr lang="en-US" sz="3200" dirty="0">
                <a:solidFill>
                  <a:srgbClr val="3333FF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than shown and so has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slight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bonding</a:t>
            </a:r>
            <a:r>
              <a:rPr lang="en-US" sz="3200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character.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This arises from the fact that the</a:t>
            </a:r>
            <a:r>
              <a:rPr lang="en-US" sz="3200" dirty="0">
                <a:solidFill>
                  <a:srgbClr val="3333FF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 err="1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orbitals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 involved in the terminal B–H</a:t>
            </a:r>
            <a:r>
              <a:rPr lang="en-US" sz="3200" dirty="0">
                <a:solidFill>
                  <a:srgbClr val="3333FF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bonding have the correct symmetry to</a:t>
            </a:r>
            <a:r>
              <a:rPr lang="en-US" sz="3200" dirty="0">
                <a:solidFill>
                  <a:srgbClr val="3333FF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overlap with the bridging bond </a:t>
            </a:r>
            <a:r>
              <a:rPr kumimoji="0" lang="en-US" sz="2400" u="none" strike="noStrike" cap="none" normalizeH="0" baseline="0" dirty="0" err="1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orbitals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,</a:t>
            </a:r>
            <a:r>
              <a:rPr lang="en-US" sz="3200" dirty="0">
                <a:solidFill>
                  <a:srgbClr val="3333FF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resulting in a stabilization of the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‘nonbonding’</a:t>
            </a:r>
            <a:r>
              <a:rPr lang="en-US" sz="3200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kumimoji="0" lang="en-US" sz="240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 Black" pitchFamily="34" charset="0"/>
                <a:ea typeface="Calibri" pitchFamily="34" charset="0"/>
                <a:cs typeface="TimesNewRomanPS-BoldItalicMT"/>
              </a:rPr>
              <a:t>orbital.</a:t>
            </a:r>
            <a:endParaRPr kumimoji="0" lang="en-US" sz="480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986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371600" y="1066800"/>
            <a:ext cx="6042702" cy="4389437"/>
          </a:xfrm>
          <a:prstGeom prst="rect">
            <a:avLst/>
          </a:prstGeom>
          <a:ln w="9525">
            <a:solidFill>
              <a:schemeClr val="accent1"/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</p:pic>
      <p:sp>
        <p:nvSpPr>
          <p:cNvPr id="5" name="Rectangle 4"/>
          <p:cNvSpPr/>
          <p:nvPr/>
        </p:nvSpPr>
        <p:spPr>
          <a:xfrm>
            <a:off x="3657600" y="5791200"/>
            <a:ext cx="2439514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3333FF"/>
                </a:solidFill>
              </a:rPr>
              <a:t>Banana Bond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24000"/>
            <a:ext cx="5514975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0473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743200"/>
            <a:ext cx="54864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085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2" y="2286000"/>
            <a:ext cx="5553075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2752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b="1" dirty="0"/>
            </a:br>
            <a:endParaRPr lang="en-US" b="1" dirty="0"/>
          </a:p>
          <a:p>
            <a:br>
              <a:rPr lang="en-US" b="1" dirty="0"/>
            </a:b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0" y="2551837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b="1" dirty="0"/>
            </a:br>
            <a:endParaRPr lang="en-US" b="1" dirty="0"/>
          </a:p>
          <a:p>
            <a:pPr algn="ctr"/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pPr algn="ctr"/>
            <a:br>
              <a:rPr lang="en-US" b="1" dirty="0"/>
            </a:br>
            <a:endParaRPr lang="en-US" b="1" dirty="0"/>
          </a:p>
          <a:p>
            <a:endParaRPr lang="en-US" b="1" dirty="0"/>
          </a:p>
          <a:p>
            <a:pPr algn="ctr"/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pPr algn="ctr"/>
            <a:br>
              <a:rPr lang="en-US" b="1" dirty="0"/>
            </a:br>
            <a:endParaRPr lang="en-US" b="1" dirty="0"/>
          </a:p>
          <a:p>
            <a:pPr algn="ctr"/>
            <a:br>
              <a:rPr lang="en-US" b="1" dirty="0"/>
            </a:br>
            <a:endParaRPr lang="en-US" b="1" dirty="0"/>
          </a:p>
          <a:p>
            <a:endParaRPr lang="en-US" b="1" dirty="0">
              <a:effectLst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07" y="1981200"/>
            <a:ext cx="7349386" cy="4174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1946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514600"/>
            <a:ext cx="5476875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7004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229600" cy="515112"/>
          </a:xfr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>
            <a:noAutofit/>
          </a:bodyPr>
          <a:lstStyle/>
          <a:p>
            <a:r>
              <a:rPr lang="en-US" sz="3600" b="1" dirty="0">
                <a:solidFill>
                  <a:srgbClr val="3333FF"/>
                </a:solidFill>
              </a:rPr>
              <a:t>Five Bonding Elements in Higher </a:t>
            </a:r>
            <a:r>
              <a:rPr lang="en-US" sz="3600" b="1" dirty="0" err="1">
                <a:solidFill>
                  <a:srgbClr val="3333FF"/>
                </a:solidFill>
              </a:rPr>
              <a:t>Borane</a:t>
            </a:r>
            <a:endParaRPr lang="en-US" sz="3600" b="1" dirty="0">
              <a:solidFill>
                <a:srgbClr val="3333FF"/>
              </a:solidFill>
            </a:endParaRPr>
          </a:p>
        </p:txBody>
      </p:sp>
      <p:pic>
        <p:nvPicPr>
          <p:cNvPr id="4" name="Content Placeholder 3" descr="http://faculty.concordia.ca/bird/c242/images/three-centre.gif"/>
          <p:cNvPicPr>
            <a:picLocks noGrp="1"/>
          </p:cNvPicPr>
          <p:nvPr>
            <p:ph idx="1"/>
          </p:nvPr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686800" cy="1447800"/>
          </a:xfrm>
          <a:prstGeom prst="rect">
            <a:avLst/>
          </a:prstGeom>
          <a:ln w="9525">
            <a:solidFill>
              <a:schemeClr val="accent1">
                <a:alpha val="84000"/>
              </a:schemeClr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</p:pic>
      <p:sp>
        <p:nvSpPr>
          <p:cNvPr id="5" name="TextBox 4"/>
          <p:cNvSpPr txBox="1"/>
          <p:nvPr/>
        </p:nvSpPr>
        <p:spPr>
          <a:xfrm>
            <a:off x="304800" y="3124200"/>
            <a:ext cx="8610600" cy="33239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333FF"/>
                </a:solidFill>
              </a:rPr>
              <a:t>(a) Terminal 2c-2e Boron-Hydrogen bond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333FF"/>
                </a:solidFill>
              </a:rPr>
              <a:t>(b) 2c-2e boron-born bond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333FF"/>
                </a:solidFill>
              </a:rPr>
              <a:t>(c) 3c-2e boron-hydrogen-boron bridge bond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333FF"/>
                </a:solidFill>
              </a:rPr>
              <a:t>(d) Closed 3c-2e boron-boron-boron bond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333FF"/>
                </a:solidFill>
              </a:rPr>
              <a:t>(e) Open 3c-2e boron-boron-boron bond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62200"/>
            <a:ext cx="815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itchFamily="34" charset="0"/>
              </a:rPr>
              <a:t>a                            b                                 c                          d                           e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8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600" b="1" dirty="0">
                <a:solidFill>
                  <a:srgbClr val="FF0000"/>
                </a:solidFill>
              </a:rPr>
              <a:t>Structure and Bonding of </a:t>
            </a:r>
            <a:r>
              <a:rPr lang="en-US" sz="3600" b="1" dirty="0" err="1">
                <a:solidFill>
                  <a:srgbClr val="FF0000"/>
                </a:solidFill>
              </a:rPr>
              <a:t>Diborane</a:t>
            </a:r>
            <a:r>
              <a:rPr lang="en-US" sz="3600" b="1" dirty="0">
                <a:solidFill>
                  <a:srgbClr val="FF0000"/>
                </a:solidFill>
              </a:rPr>
              <a:t> (B</a:t>
            </a:r>
            <a:r>
              <a:rPr lang="en-US" sz="3600" b="1" baseline="-25000" dirty="0">
                <a:solidFill>
                  <a:srgbClr val="FF0000"/>
                </a:solidFill>
              </a:rPr>
              <a:t>2</a:t>
            </a:r>
            <a:r>
              <a:rPr lang="en-US" sz="3600" b="1" dirty="0">
                <a:solidFill>
                  <a:srgbClr val="FF0000"/>
                </a:solidFill>
              </a:rPr>
              <a:t>H</a:t>
            </a:r>
            <a:r>
              <a:rPr lang="en-US" sz="3600" b="1" baseline="-25000" dirty="0">
                <a:solidFill>
                  <a:srgbClr val="FF0000"/>
                </a:solidFill>
              </a:rPr>
              <a:t>6</a:t>
            </a:r>
            <a:r>
              <a:rPr lang="en-US" sz="3600" b="1" dirty="0">
                <a:solidFill>
                  <a:srgbClr val="FF0000"/>
                </a:solidFill>
              </a:rPr>
              <a:t>)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501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914400"/>
            <a:ext cx="4724400" cy="2682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0999" y="3657600"/>
            <a:ext cx="84581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9933FF"/>
                </a:solidFill>
                <a:hlinkClick r:id="rId3"/>
              </a:rPr>
              <a:t>Boron</a:t>
            </a:r>
            <a:r>
              <a:rPr lang="en-US" b="1" dirty="0">
                <a:solidFill>
                  <a:srgbClr val="9933FF"/>
                </a:solidFill>
              </a:rPr>
              <a:t> </a:t>
            </a:r>
            <a:r>
              <a:rPr lang="en-US" dirty="0">
                <a:solidFill>
                  <a:srgbClr val="9933FF"/>
                </a:solidFill>
              </a:rPr>
              <a:t>is an electron deficient element. Due to its electron deficient character, the trivalent </a:t>
            </a:r>
            <a:r>
              <a:rPr lang="en-US" b="1" dirty="0">
                <a:solidFill>
                  <a:srgbClr val="9933FF"/>
                </a:solidFill>
                <a:hlinkClick r:id="rId3"/>
              </a:rPr>
              <a:t>boron</a:t>
            </a:r>
            <a:r>
              <a:rPr lang="en-US" b="1" dirty="0">
                <a:solidFill>
                  <a:srgbClr val="9933FF"/>
                </a:solidFill>
              </a:rPr>
              <a:t> </a:t>
            </a:r>
            <a:r>
              <a:rPr lang="en-US" dirty="0">
                <a:solidFill>
                  <a:srgbClr val="9933FF"/>
                </a:solidFill>
              </a:rPr>
              <a:t>leads to dimerization to form </a:t>
            </a:r>
            <a:r>
              <a:rPr lang="en-US" dirty="0" err="1">
                <a:solidFill>
                  <a:srgbClr val="9933FF"/>
                </a:solidFill>
              </a:rPr>
              <a:t>diborane</a:t>
            </a:r>
            <a:r>
              <a:rPr lang="en-US" dirty="0">
                <a:solidFill>
                  <a:srgbClr val="9933FF"/>
                </a:solidFill>
              </a:rPr>
              <a:t> (B</a:t>
            </a:r>
            <a:r>
              <a:rPr lang="en-US" baseline="-25000" dirty="0">
                <a:solidFill>
                  <a:srgbClr val="9933FF"/>
                </a:solidFill>
              </a:rPr>
              <a:t>2</a:t>
            </a:r>
            <a:r>
              <a:rPr lang="en-US" dirty="0">
                <a:solidFill>
                  <a:srgbClr val="9933FF"/>
                </a:solidFill>
              </a:rPr>
              <a:t>H</a:t>
            </a:r>
            <a:r>
              <a:rPr lang="en-US" baseline="-25000" dirty="0">
                <a:solidFill>
                  <a:srgbClr val="9933FF"/>
                </a:solidFill>
              </a:rPr>
              <a:t>6</a:t>
            </a:r>
            <a:r>
              <a:rPr lang="en-US" dirty="0">
                <a:solidFill>
                  <a:srgbClr val="9933FF"/>
                </a:solidFill>
              </a:rPr>
              <a:t>). If we assumed that, the structure of </a:t>
            </a:r>
            <a:r>
              <a:rPr lang="en-US" dirty="0" err="1">
                <a:solidFill>
                  <a:srgbClr val="9933FF"/>
                </a:solidFill>
              </a:rPr>
              <a:t>diborane</a:t>
            </a:r>
            <a:r>
              <a:rPr lang="en-US" dirty="0">
                <a:solidFill>
                  <a:srgbClr val="9933FF"/>
                </a:solidFill>
              </a:rPr>
              <a:t> (B</a:t>
            </a:r>
            <a:r>
              <a:rPr lang="en-US" baseline="-25000" dirty="0">
                <a:solidFill>
                  <a:srgbClr val="9933FF"/>
                </a:solidFill>
              </a:rPr>
              <a:t>2</a:t>
            </a:r>
            <a:r>
              <a:rPr lang="en-US" dirty="0">
                <a:solidFill>
                  <a:srgbClr val="9933FF"/>
                </a:solidFill>
              </a:rPr>
              <a:t>H</a:t>
            </a:r>
            <a:r>
              <a:rPr lang="en-US" baseline="-25000" dirty="0">
                <a:solidFill>
                  <a:srgbClr val="9933FF"/>
                </a:solidFill>
              </a:rPr>
              <a:t>6</a:t>
            </a:r>
            <a:r>
              <a:rPr lang="en-US" dirty="0">
                <a:solidFill>
                  <a:srgbClr val="9933FF"/>
                </a:solidFill>
              </a:rPr>
              <a:t>) is similar to single bond structure of ethane (C</a:t>
            </a:r>
            <a:r>
              <a:rPr lang="en-US" baseline="-25000" dirty="0">
                <a:solidFill>
                  <a:srgbClr val="9933FF"/>
                </a:solidFill>
              </a:rPr>
              <a:t>2</a:t>
            </a:r>
            <a:r>
              <a:rPr lang="en-US" dirty="0">
                <a:solidFill>
                  <a:srgbClr val="9933FF"/>
                </a:solidFill>
              </a:rPr>
              <a:t>H</a:t>
            </a:r>
            <a:r>
              <a:rPr lang="en-US" baseline="-25000" dirty="0">
                <a:solidFill>
                  <a:srgbClr val="9933FF"/>
                </a:solidFill>
              </a:rPr>
              <a:t>6</a:t>
            </a:r>
            <a:r>
              <a:rPr lang="en-US" dirty="0">
                <a:solidFill>
                  <a:srgbClr val="9933FF"/>
                </a:solidFill>
              </a:rPr>
              <a:t>), then this assumption is rejected because single bond structure of ethane (C</a:t>
            </a:r>
            <a:r>
              <a:rPr lang="en-US" baseline="-25000" dirty="0">
                <a:solidFill>
                  <a:srgbClr val="9933FF"/>
                </a:solidFill>
              </a:rPr>
              <a:t>2</a:t>
            </a:r>
            <a:r>
              <a:rPr lang="en-US" dirty="0">
                <a:solidFill>
                  <a:srgbClr val="9933FF"/>
                </a:solidFill>
              </a:rPr>
              <a:t>H</a:t>
            </a:r>
            <a:r>
              <a:rPr lang="en-US" baseline="-25000" dirty="0">
                <a:solidFill>
                  <a:srgbClr val="9933FF"/>
                </a:solidFill>
              </a:rPr>
              <a:t>6</a:t>
            </a:r>
            <a:r>
              <a:rPr lang="en-US" dirty="0">
                <a:solidFill>
                  <a:srgbClr val="9933FF"/>
                </a:solidFill>
              </a:rPr>
              <a:t>) contains 14 electrons [(4+4 = 8 electrons from two carbon atoms) and (1x6 = 6 electrons from six </a:t>
            </a:r>
            <a:r>
              <a:rPr lang="en-US" dirty="0">
                <a:solidFill>
                  <a:srgbClr val="9933FF"/>
                </a:solidFill>
                <a:hlinkClick r:id="rId4"/>
              </a:rPr>
              <a:t>Hydrogen</a:t>
            </a:r>
            <a:r>
              <a:rPr lang="en-US" dirty="0">
                <a:solidFill>
                  <a:srgbClr val="9933FF"/>
                </a:solidFill>
              </a:rPr>
              <a:t> atoms)] but in </a:t>
            </a:r>
            <a:r>
              <a:rPr lang="en-US" dirty="0" err="1">
                <a:solidFill>
                  <a:srgbClr val="9933FF"/>
                </a:solidFill>
              </a:rPr>
              <a:t>diborane</a:t>
            </a:r>
            <a:r>
              <a:rPr lang="en-US" dirty="0">
                <a:solidFill>
                  <a:srgbClr val="9933FF"/>
                </a:solidFill>
              </a:rPr>
              <a:t> there are only 12 electrons [(3+3 = 6 electrons from two boron atoms) and (1x6 = 6 electrons from six </a:t>
            </a:r>
            <a:r>
              <a:rPr lang="en-US" dirty="0">
                <a:solidFill>
                  <a:srgbClr val="9933FF"/>
                </a:solidFill>
                <a:hlinkClick r:id="rId4"/>
              </a:rPr>
              <a:t>hydrogen</a:t>
            </a:r>
            <a:r>
              <a:rPr lang="en-US" dirty="0">
                <a:solidFill>
                  <a:srgbClr val="9933FF"/>
                </a:solidFill>
              </a:rPr>
              <a:t> atoms)].</a:t>
            </a:r>
          </a:p>
        </p:txBody>
      </p:sp>
    </p:spTree>
    <p:extLst>
      <p:ext uri="{BB962C8B-B14F-4D97-AF65-F5344CB8AC3E}">
        <p14:creationId xmlns:p14="http://schemas.microsoft.com/office/powerpoint/2010/main" val="40239974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426243" y="653441"/>
            <a:ext cx="2133600" cy="2209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457200" y="3810000"/>
            <a:ext cx="2286000" cy="2133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4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429000" y="533400"/>
            <a:ext cx="2362200" cy="2286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020726" y="3008241"/>
            <a:ext cx="824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FF"/>
                </a:solidFill>
              </a:rPr>
              <a:t>B4H10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6248400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FF"/>
                </a:solidFill>
              </a:rPr>
              <a:t>B5H11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0" y="2895600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FF"/>
                </a:solidFill>
              </a:rPr>
              <a:t>B</a:t>
            </a:r>
            <a:r>
              <a:rPr lang="en-US" baseline="-25000" dirty="0">
                <a:solidFill>
                  <a:srgbClr val="3333FF"/>
                </a:solidFill>
              </a:rPr>
              <a:t>6</a:t>
            </a:r>
            <a:r>
              <a:rPr lang="en-US" dirty="0">
                <a:solidFill>
                  <a:srgbClr val="3333FF"/>
                </a:solidFill>
              </a:rPr>
              <a:t>H10</a:t>
            </a:r>
          </a:p>
        </p:txBody>
      </p:sp>
      <p:pic>
        <p:nvPicPr>
          <p:cNvPr id="10" name="Picture 9" descr="http://faculty.concordia.ca/bird/c242/images/b10h14.gif"/>
          <p:cNvPicPr/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191000" y="3276600"/>
            <a:ext cx="2514600" cy="3048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4953000" y="6488668"/>
            <a:ext cx="766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FF"/>
                </a:solidFill>
              </a:rPr>
              <a:t>B</a:t>
            </a:r>
            <a:r>
              <a:rPr lang="en-US" baseline="-25000" dirty="0">
                <a:solidFill>
                  <a:srgbClr val="3333FF"/>
                </a:solidFill>
              </a:rPr>
              <a:t>10</a:t>
            </a:r>
            <a:r>
              <a:rPr lang="en-US" dirty="0">
                <a:solidFill>
                  <a:srgbClr val="3333FF"/>
                </a:solidFill>
              </a:rPr>
              <a:t>H</a:t>
            </a:r>
            <a:r>
              <a:rPr lang="en-US" baseline="-25000" dirty="0">
                <a:solidFill>
                  <a:srgbClr val="3333FF"/>
                </a:solidFill>
              </a:rPr>
              <a:t>14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248400" y="457200"/>
            <a:ext cx="2402889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6934200" y="2819400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FF"/>
                </a:solidFill>
              </a:rPr>
              <a:t>B5H9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://faculty.concordia.ca/bird/c242/images/aminoborane.gif"/>
          <p:cNvPicPr/>
          <p:nvPr/>
        </p:nvPicPr>
        <p:blipFill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733800" y="1371600"/>
            <a:ext cx="4038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14400" y="5181600"/>
            <a:ext cx="6096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FF"/>
                </a:solidFill>
              </a:rPr>
              <a:t>The molecules are flat, and rotation about the B—N bond is restricted, therefore the left-hand structure must be is a significant contributor. It is perhaps not correct to represent them as </a:t>
            </a:r>
            <a:r>
              <a:rPr lang="en-US" b="1" i="1" dirty="0">
                <a:solidFill>
                  <a:srgbClr val="3333FF"/>
                </a:solidFill>
              </a:rPr>
              <a:t>canonical</a:t>
            </a:r>
            <a:r>
              <a:rPr lang="en-US" b="1" dirty="0">
                <a:solidFill>
                  <a:srgbClr val="3333FF"/>
                </a:solidFill>
              </a:rPr>
              <a:t> structures since the geometries would be so different. </a:t>
            </a:r>
          </a:p>
        </p:txBody>
      </p:sp>
      <p:pic>
        <p:nvPicPr>
          <p:cNvPr id="4" name="irc_mi" descr="http://upload.wikimedia.org/wikipedia/commons/e/eb/Borazine-2D-aromatic.png"/>
          <p:cNvPicPr>
            <a:picLocks noGrp="1"/>
          </p:cNvPicPr>
          <p:nvPr>
            <p:ph idx="1"/>
          </p:nvPr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819400" y="3505200"/>
            <a:ext cx="1392449" cy="1604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://upload.wikimedia.org/wikipedia/commons/2/26/Borazine-2D.png"/>
          <p:cNvPicPr/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43000" y="1295400"/>
            <a:ext cx="165260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200400" y="457200"/>
            <a:ext cx="2461571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rgbClr val="FF0000"/>
                </a:solidFill>
              </a:rPr>
              <a:t>Borazine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33400" y="533400"/>
            <a:ext cx="7441883" cy="238521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6" name="Picture 5" descr="http://faculty.concordia.ca/bird/c242/images/borazin2.gif"/>
          <p:cNvPicPr/>
          <p:nvPr/>
        </p:nvPicPr>
        <p:blipFill>
          <a:blip r:embed="rId3" cstate="print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609600" y="3200400"/>
            <a:ext cx="7391400" cy="3276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://faculty.concordia.ca/bird/c242/images/borazin3.gif"/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685800" y="1447800"/>
            <a:ext cx="4038600" cy="1981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7" name="Picture 6" descr="http://faculty.concordia.ca/bird/c242/images/p-stools.gif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28600" y="4419600"/>
            <a:ext cx="3429000" cy="1524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51201" name="Rectangle 1"/>
          <p:cNvSpPr>
            <a:spLocks noChangeArrowheads="1"/>
          </p:cNvSpPr>
          <p:nvPr/>
        </p:nvSpPr>
        <p:spPr bwMode="auto">
          <a:xfrm>
            <a:off x="457200" y="3657600"/>
            <a:ext cx="807720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Like benzene,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borazine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can form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Times New Roman" pitchFamily="18" charset="0"/>
                <a:cs typeface="Times New Roman" pitchFamily="18" charset="0"/>
              </a:rPr>
              <a:t>p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-complexes with transition metals: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685800" y="444043"/>
            <a:ext cx="8229600" cy="52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Unlike benzene, </a:t>
            </a:r>
            <a:r>
              <a:rPr kumimoji="0" lang="en-US" sz="2800" b="0" i="0" u="none" strike="noStrike" cap="none" normalizeH="0" baseline="0" dirty="0" err="1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borazine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undergoes addition reactions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915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031575"/>
              </p:ext>
            </p:extLst>
          </p:nvPr>
        </p:nvGraphicFramePr>
        <p:xfrm>
          <a:off x="4826637" y="2133600"/>
          <a:ext cx="43173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2369880" imgH="378000" progId="ChemDraw.Document.6.0">
                  <p:embed/>
                </p:oleObj>
              </mc:Choice>
              <mc:Fallback>
                <p:oleObj name="CS ChemDraw Drawing" r:id="rId5" imgW="2369880" imgH="378000" progId="ChemDraw.Document.6.0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637" y="2133600"/>
                        <a:ext cx="4317363" cy="6858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533110"/>
              </p:ext>
            </p:extLst>
          </p:nvPr>
        </p:nvGraphicFramePr>
        <p:xfrm>
          <a:off x="3810000" y="4343400"/>
          <a:ext cx="511487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3506760" imgH="1149480" progId="ChemDraw.Document.6.0">
                  <p:embed/>
                </p:oleObj>
              </mc:Choice>
              <mc:Fallback>
                <p:oleObj name="CS ChemDraw Drawing" r:id="rId7" imgW="3506760" imgH="1149480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343400"/>
                        <a:ext cx="5114872" cy="16764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5626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3333FF"/>
                </a:solidFill>
              </a:rPr>
              <a:t>What are the Similarities Between </a:t>
            </a:r>
            <a:r>
              <a:rPr lang="en-US" sz="3200" b="1" dirty="0" err="1">
                <a:solidFill>
                  <a:srgbClr val="3333FF"/>
                </a:solidFill>
              </a:rPr>
              <a:t>Borazine</a:t>
            </a:r>
            <a:r>
              <a:rPr lang="en-US" sz="3200" b="1" dirty="0">
                <a:solidFill>
                  <a:srgbClr val="3333FF"/>
                </a:solidFill>
              </a:rPr>
              <a:t> and Benzene?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Both are cyclic structures.</a:t>
            </a:r>
          </a:p>
          <a:p>
            <a:r>
              <a:rPr lang="en-US" b="1" dirty="0">
                <a:solidFill>
                  <a:srgbClr val="7030A0"/>
                </a:solidFill>
              </a:rPr>
              <a:t>Also, both, </a:t>
            </a:r>
            <a:r>
              <a:rPr lang="en-US" b="1" dirty="0" err="1">
                <a:solidFill>
                  <a:srgbClr val="7030A0"/>
                </a:solidFill>
              </a:rPr>
              <a:t>borazine</a:t>
            </a:r>
            <a:r>
              <a:rPr lang="en-US" b="1" dirty="0">
                <a:solidFill>
                  <a:srgbClr val="7030A0"/>
                </a:solidFill>
              </a:rPr>
              <a:t> and benzene, have a six-</a:t>
            </a:r>
            <a:r>
              <a:rPr lang="en-US" b="1" dirty="0" err="1">
                <a:solidFill>
                  <a:srgbClr val="7030A0"/>
                </a:solidFill>
              </a:rPr>
              <a:t>membered</a:t>
            </a:r>
            <a:r>
              <a:rPr lang="en-US" b="1" dirty="0">
                <a:solidFill>
                  <a:srgbClr val="7030A0"/>
                </a:solidFill>
              </a:rPr>
              <a:t> ring.</a:t>
            </a:r>
          </a:p>
          <a:p>
            <a:r>
              <a:rPr lang="en-US" b="1" dirty="0">
                <a:solidFill>
                  <a:srgbClr val="7030A0"/>
                </a:solidFill>
              </a:rPr>
              <a:t>Moreover, both have equal bond lengths between the atoms of the ring.</a:t>
            </a:r>
          </a:p>
          <a:p>
            <a:r>
              <a:rPr lang="en-US" b="1" dirty="0">
                <a:solidFill>
                  <a:srgbClr val="7030A0"/>
                </a:solidFill>
              </a:rPr>
              <a:t>Furthermore, both are </a:t>
            </a:r>
            <a:r>
              <a:rPr lang="en-US" b="1" dirty="0" err="1">
                <a:solidFill>
                  <a:srgbClr val="7030A0"/>
                </a:solidFill>
              </a:rPr>
              <a:t>colourless</a:t>
            </a:r>
            <a:r>
              <a:rPr lang="en-US" b="1" dirty="0">
                <a:solidFill>
                  <a:srgbClr val="7030A0"/>
                </a:solidFill>
              </a:rPr>
              <a:t> liquids at room temperature.</a:t>
            </a:r>
          </a:p>
          <a:p>
            <a:r>
              <a:rPr lang="en-US" b="1" dirty="0">
                <a:solidFill>
                  <a:srgbClr val="7030A0"/>
                </a:solidFill>
              </a:rPr>
              <a:t>Both are </a:t>
            </a:r>
            <a:r>
              <a:rPr lang="en-US" b="1" dirty="0" err="1">
                <a:solidFill>
                  <a:srgbClr val="7030A0"/>
                </a:solidFill>
              </a:rPr>
              <a:t>isoelectronic</a:t>
            </a:r>
            <a:r>
              <a:rPr lang="en-US" b="1" dirty="0">
                <a:solidFill>
                  <a:srgbClr val="7030A0"/>
                </a:solidFill>
              </a:rPr>
              <a:t> as well.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 </a:t>
            </a:r>
            <a:r>
              <a:rPr lang="en-US" sz="4400" b="1" dirty="0">
                <a:solidFill>
                  <a:srgbClr val="7030A0"/>
                </a:solidFill>
              </a:rPr>
              <a:t>What is the Difference Between </a:t>
            </a:r>
            <a:r>
              <a:rPr lang="en-US" sz="4400" b="1" dirty="0" err="1">
                <a:solidFill>
                  <a:srgbClr val="7030A0"/>
                </a:solidFill>
              </a:rPr>
              <a:t>Borazine</a:t>
            </a:r>
            <a:r>
              <a:rPr lang="en-US" sz="4400" b="1" dirty="0">
                <a:solidFill>
                  <a:srgbClr val="7030A0"/>
                </a:solidFill>
              </a:rPr>
              <a:t> and Benzene?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algn="just"/>
            <a:r>
              <a:rPr lang="en-US" b="1" dirty="0" err="1">
                <a:solidFill>
                  <a:srgbClr val="002060"/>
                </a:solidFill>
              </a:rPr>
              <a:t>Borazine</a:t>
            </a:r>
            <a:r>
              <a:rPr lang="en-US" b="1" dirty="0">
                <a:solidFill>
                  <a:srgbClr val="002060"/>
                </a:solidFill>
              </a:rPr>
              <a:t> is an inorganic compound having the chemical formula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b="1" baseline="-25000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b="1" baseline="-25000" dirty="0">
                <a:solidFill>
                  <a:srgbClr val="FF0000"/>
                </a:solidFill>
              </a:rPr>
              <a:t>6</a:t>
            </a: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b="1" baseline="-25000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rgbClr val="FF0000"/>
                </a:solidFill>
              </a:rPr>
              <a:t> </a:t>
            </a:r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whereas Benzene is an organic compound having the chemical formula 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baseline="-25000" dirty="0">
                <a:solidFill>
                  <a:srgbClr val="FF0000"/>
                </a:solidFill>
              </a:rPr>
              <a:t>6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b="1" baseline="-25000" dirty="0">
                <a:solidFill>
                  <a:srgbClr val="FF0000"/>
                </a:solidFill>
              </a:rPr>
              <a:t>6</a:t>
            </a:r>
            <a:r>
              <a:rPr lang="en-US" b="1" dirty="0">
                <a:solidFill>
                  <a:srgbClr val="FF0000"/>
                </a:solidFill>
              </a:rPr>
              <a:t>. </a:t>
            </a:r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Therefore, the key difference between </a:t>
            </a:r>
            <a:r>
              <a:rPr lang="en-US" b="1" dirty="0" err="1">
                <a:solidFill>
                  <a:srgbClr val="002060"/>
                </a:solidFill>
              </a:rPr>
              <a:t>borazine</a:t>
            </a:r>
            <a:r>
              <a:rPr lang="en-US" b="1" dirty="0">
                <a:solidFill>
                  <a:srgbClr val="002060"/>
                </a:solidFill>
              </a:rPr>
              <a:t> and benzene is that the </a:t>
            </a:r>
            <a:r>
              <a:rPr lang="en-US" b="1" dirty="0" err="1">
                <a:solidFill>
                  <a:srgbClr val="002060"/>
                </a:solidFill>
              </a:rPr>
              <a:t>borazine</a:t>
            </a:r>
            <a:r>
              <a:rPr lang="en-US" b="1" dirty="0">
                <a:solidFill>
                  <a:srgbClr val="002060"/>
                </a:solidFill>
              </a:rPr>
              <a:t> contains three boron atoms and three nitrogen atoms in the ring structure </a:t>
            </a:r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whereas benzene contains </a:t>
            </a:r>
            <a:r>
              <a:rPr lang="en-US" b="1" dirty="0">
                <a:solidFill>
                  <a:srgbClr val="3333FF"/>
                </a:solidFill>
              </a:rPr>
              <a:t>six carbon atoms </a:t>
            </a:r>
            <a:r>
              <a:rPr lang="en-US" b="1" dirty="0">
                <a:solidFill>
                  <a:srgbClr val="002060"/>
                </a:solidFill>
              </a:rPr>
              <a:t>in the </a:t>
            </a:r>
            <a:r>
              <a:rPr lang="en-US" b="1" dirty="0">
                <a:solidFill>
                  <a:srgbClr val="3333FF"/>
                </a:solidFill>
              </a:rPr>
              <a:t>ring structure</a:t>
            </a:r>
            <a:r>
              <a:rPr lang="en-US" b="1" dirty="0">
                <a:solidFill>
                  <a:srgbClr val="002060"/>
                </a:solidFill>
              </a:rPr>
              <a:t>. In </a:t>
            </a:r>
            <a:r>
              <a:rPr lang="en-US" b="1" dirty="0" err="1">
                <a:solidFill>
                  <a:srgbClr val="002060"/>
                </a:solidFill>
              </a:rPr>
              <a:t>borazine</a:t>
            </a:r>
            <a:r>
              <a:rPr lang="en-US" b="1" dirty="0">
                <a:solidFill>
                  <a:srgbClr val="002060"/>
                </a:solidFill>
              </a:rPr>
              <a:t>, </a:t>
            </a:r>
            <a:r>
              <a:rPr lang="en-US" b="1" dirty="0">
                <a:solidFill>
                  <a:srgbClr val="FF0000"/>
                </a:solidFill>
              </a:rPr>
              <a:t>the boron and nitrogen atoms are in an alternating pattern. </a:t>
            </a:r>
            <a:r>
              <a:rPr lang="en-US" b="1" dirty="0">
                <a:solidFill>
                  <a:srgbClr val="002060"/>
                </a:solidFill>
              </a:rPr>
              <a:t>As a result, the </a:t>
            </a:r>
            <a:r>
              <a:rPr lang="en-US" b="1" dirty="0" err="1">
                <a:solidFill>
                  <a:srgbClr val="002060"/>
                </a:solidFill>
              </a:rPr>
              <a:t>borazine</a:t>
            </a:r>
            <a:r>
              <a:rPr lang="en-US" b="1" dirty="0">
                <a:solidFill>
                  <a:srgbClr val="002060"/>
                </a:solidFill>
              </a:rPr>
              <a:t> molecule is not a perfect hexagon, but benzene has only carbon atoms in the ring. Thus, it can form a </a:t>
            </a:r>
            <a:r>
              <a:rPr lang="en-US" b="1" dirty="0">
                <a:solidFill>
                  <a:srgbClr val="FF0000"/>
                </a:solidFill>
              </a:rPr>
              <a:t>perfect hexagon. </a:t>
            </a:r>
            <a:r>
              <a:rPr lang="en-US" b="1" dirty="0">
                <a:solidFill>
                  <a:srgbClr val="002060"/>
                </a:solidFill>
              </a:rPr>
              <a:t>Hence, we can consider this as another difference between </a:t>
            </a:r>
            <a:r>
              <a:rPr lang="en-US" b="1" dirty="0" err="1">
                <a:solidFill>
                  <a:srgbClr val="002060"/>
                </a:solidFill>
              </a:rPr>
              <a:t>borazine</a:t>
            </a:r>
            <a:r>
              <a:rPr lang="en-US" b="1" dirty="0">
                <a:solidFill>
                  <a:srgbClr val="002060"/>
                </a:solidFill>
              </a:rPr>
              <a:t> and benzene.</a:t>
            </a:r>
          </a:p>
          <a:p>
            <a:pPr algn="just"/>
            <a:r>
              <a:rPr lang="en-US" b="1" dirty="0">
                <a:solidFill>
                  <a:srgbClr val="002060"/>
                </a:solidFill>
              </a:rPr>
              <a:t>Above all, a significant difference between </a:t>
            </a:r>
            <a:r>
              <a:rPr lang="en-US" b="1" dirty="0" err="1">
                <a:solidFill>
                  <a:srgbClr val="002060"/>
                </a:solidFill>
              </a:rPr>
              <a:t>borazine</a:t>
            </a:r>
            <a:r>
              <a:rPr lang="en-US" b="1" dirty="0">
                <a:solidFill>
                  <a:srgbClr val="002060"/>
                </a:solidFill>
              </a:rPr>
              <a:t> and benzene is that the </a:t>
            </a:r>
            <a:r>
              <a:rPr lang="en-US" b="1" dirty="0" err="1">
                <a:solidFill>
                  <a:srgbClr val="FF0000"/>
                </a:solidFill>
              </a:rPr>
              <a:t>borazine</a:t>
            </a:r>
            <a:r>
              <a:rPr lang="en-US" b="1" dirty="0">
                <a:solidFill>
                  <a:srgbClr val="FF0000"/>
                </a:solidFill>
              </a:rPr>
              <a:t> is a synthetic compound </a:t>
            </a:r>
            <a:r>
              <a:rPr lang="en-US" b="1" dirty="0">
                <a:solidFill>
                  <a:srgbClr val="002060"/>
                </a:solidFill>
              </a:rPr>
              <a:t>whereas the </a:t>
            </a:r>
            <a:r>
              <a:rPr lang="en-US" b="1" dirty="0">
                <a:solidFill>
                  <a:srgbClr val="FF0000"/>
                </a:solidFill>
              </a:rPr>
              <a:t>benzene naturally occurs in crude oil as a major constituent. </a:t>
            </a:r>
            <a:r>
              <a:rPr lang="en-US" b="1" dirty="0">
                <a:solidFill>
                  <a:srgbClr val="002060"/>
                </a:solidFill>
              </a:rPr>
              <a:t>Also, we can identify a difference between </a:t>
            </a:r>
            <a:r>
              <a:rPr lang="en-US" b="1" dirty="0" err="1">
                <a:solidFill>
                  <a:srgbClr val="002060"/>
                </a:solidFill>
              </a:rPr>
              <a:t>borazine</a:t>
            </a:r>
            <a:r>
              <a:rPr lang="en-US" b="1" dirty="0">
                <a:solidFill>
                  <a:srgbClr val="002060"/>
                </a:solidFill>
              </a:rPr>
              <a:t> and benzene based on their reactivity as well. Comparatively, </a:t>
            </a:r>
            <a:r>
              <a:rPr lang="en-US" b="1" dirty="0" err="1">
                <a:solidFill>
                  <a:srgbClr val="FF0000"/>
                </a:solidFill>
              </a:rPr>
              <a:t>borazine</a:t>
            </a:r>
            <a:r>
              <a:rPr lang="en-US" b="1" dirty="0">
                <a:solidFill>
                  <a:srgbClr val="FF0000"/>
                </a:solidFill>
              </a:rPr>
              <a:t> is more reactive than benzene.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685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800" b="1" dirty="0" err="1">
                <a:solidFill>
                  <a:srgbClr val="3333FF"/>
                </a:solidFill>
                <a:latin typeface="Arial" pitchFamily="34" charset="0"/>
                <a:cs typeface="Arial" pitchFamily="34" charset="0"/>
              </a:rPr>
              <a:t>Comparsion</a:t>
            </a:r>
            <a:r>
              <a:rPr lang="en-US" sz="2800" b="1" dirty="0">
                <a:solidFill>
                  <a:srgbClr val="3333FF"/>
                </a:solidFill>
                <a:latin typeface="Arial" pitchFamily="34" charset="0"/>
                <a:cs typeface="Arial" pitchFamily="34" charset="0"/>
              </a:rPr>
              <a:t> of </a:t>
            </a:r>
            <a:r>
              <a:rPr lang="en-US" sz="2800" b="1" dirty="0" err="1">
                <a:solidFill>
                  <a:srgbClr val="3333FF"/>
                </a:solidFill>
                <a:latin typeface="Arial" pitchFamily="34" charset="0"/>
                <a:cs typeface="Arial" pitchFamily="34" charset="0"/>
              </a:rPr>
              <a:t>Borazine</a:t>
            </a:r>
            <a:r>
              <a:rPr lang="en-US" sz="2800" b="1" dirty="0">
                <a:solidFill>
                  <a:srgbClr val="3333FF"/>
                </a:solidFill>
                <a:latin typeface="Arial" pitchFamily="34" charset="0"/>
                <a:cs typeface="Arial" pitchFamily="34" charset="0"/>
              </a:rPr>
              <a:t> and Benzene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838200"/>
          <a:ext cx="8229600" cy="558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Definition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Borazine</a:t>
                      </a: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 is an inorganic compound having the chemical formula B</a:t>
                      </a:r>
                      <a:r>
                        <a:rPr lang="en-US" sz="1600" b="1" baseline="-25000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3</a:t>
                      </a: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H</a:t>
                      </a:r>
                      <a:r>
                        <a:rPr lang="en-US" sz="1600" b="1" baseline="-25000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6</a:t>
                      </a: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N</a:t>
                      </a:r>
                      <a:r>
                        <a:rPr lang="en-US" sz="1600" b="1" baseline="-25000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3</a:t>
                      </a:r>
                      <a:endParaRPr lang="en-US" sz="1600" dirty="0">
                        <a:solidFill>
                          <a:srgbClr val="006666"/>
                        </a:solidFill>
                        <a:latin typeface="Arial Black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Benzene is an organic compound having the chemical formula C</a:t>
                      </a:r>
                      <a:r>
                        <a:rPr lang="en-US" sz="1600" b="1" baseline="-25000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6</a:t>
                      </a: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H</a:t>
                      </a:r>
                      <a:r>
                        <a:rPr lang="en-US" sz="1600" b="1" baseline="-25000" dirty="0">
                          <a:solidFill>
                            <a:srgbClr val="006666"/>
                          </a:solidFill>
                          <a:latin typeface="Arial Black" pitchFamily="34" charset="0"/>
                        </a:rPr>
                        <a:t>6</a:t>
                      </a:r>
                      <a:endParaRPr lang="en-US" sz="1600" dirty="0">
                        <a:solidFill>
                          <a:srgbClr val="006666"/>
                        </a:solidFill>
                        <a:latin typeface="Arial Black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 Black" pitchFamily="34" charset="0"/>
                        </a:rPr>
                        <a:t>Chemical Nature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 Black" pitchFamily="34" charset="0"/>
                        </a:rPr>
                        <a:t>Inorganic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 Black" pitchFamily="34" charset="0"/>
                        </a:rPr>
                        <a:t>Organic</a:t>
                      </a:r>
                      <a:r>
                        <a:rPr lang="en-US" sz="1600" b="1" baseline="0" dirty="0">
                          <a:latin typeface="Arial Black" pitchFamily="34" charset="0"/>
                        </a:rPr>
                        <a:t> </a:t>
                      </a:r>
                      <a:endParaRPr lang="en-US" sz="1600" b="1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3333FF"/>
                          </a:solidFill>
                          <a:latin typeface="Arial Black" pitchFamily="34" charset="0"/>
                        </a:rPr>
                        <a:t>Ring Structure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3333FF"/>
                          </a:solidFill>
                          <a:latin typeface="Arial Black" pitchFamily="34" charset="0"/>
                        </a:rPr>
                        <a:t>Alternating Boron and Nitrogen atoms</a:t>
                      </a:r>
                      <a:r>
                        <a:rPr lang="en-US" sz="1600" b="1" baseline="0" dirty="0">
                          <a:solidFill>
                            <a:srgbClr val="3333FF"/>
                          </a:solidFill>
                          <a:latin typeface="Arial Black" pitchFamily="34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3333FF"/>
                          </a:solidFill>
                          <a:latin typeface="Arial Black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3333FF"/>
                          </a:solidFill>
                          <a:latin typeface="Arial Black" pitchFamily="34" charset="0"/>
                        </a:rPr>
                        <a:t>Only carbon atoms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CC00FF"/>
                          </a:solidFill>
                          <a:latin typeface="Arial Black" pitchFamily="34" charset="0"/>
                        </a:rPr>
                        <a:t>Reactivity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CC00FF"/>
                          </a:solidFill>
                          <a:latin typeface="Arial Black" pitchFamily="34" charset="0"/>
                        </a:rPr>
                        <a:t>Comparatively more reactive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CC00FF"/>
                          </a:solidFill>
                          <a:latin typeface="Arial Black" pitchFamily="34" charset="0"/>
                        </a:rPr>
                        <a:t>Comparatively less  reactive </a:t>
                      </a:r>
                    </a:p>
                    <a:p>
                      <a:endParaRPr lang="en-US" sz="1600" b="1" dirty="0">
                        <a:latin typeface="Arial Black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666633"/>
                          </a:solidFill>
                          <a:latin typeface="Arial Black" pitchFamily="34" charset="0"/>
                        </a:rPr>
                        <a:t>Hexagonal Structure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666633"/>
                          </a:solidFill>
                          <a:latin typeface="Arial Black" pitchFamily="34" charset="0"/>
                        </a:rPr>
                        <a:t>Not a perfect hexagon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666633"/>
                          </a:solidFill>
                          <a:latin typeface="Arial Black" pitchFamily="34" charset="0"/>
                        </a:rPr>
                        <a:t>A perfect hexagon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38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3300"/>
                          </a:solidFill>
                          <a:latin typeface="Arial Black" pitchFamily="34" charset="0"/>
                        </a:rPr>
                        <a:t>Occurrence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3300"/>
                          </a:solidFill>
                          <a:latin typeface="Arial Black" pitchFamily="34" charset="0"/>
                        </a:rPr>
                        <a:t>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3300"/>
                          </a:solidFill>
                          <a:latin typeface="Arial Black" pitchFamily="34" charset="0"/>
                        </a:rPr>
                        <a:t>Naturally Occurs in Crude oil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6400800" cy="1219200"/>
          </a:xfrm>
        </p:spPr>
        <p:txBody>
          <a:bodyPr>
            <a:normAutofit fontScale="90000"/>
          </a:bodyPr>
          <a:lstStyle/>
          <a:p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br>
              <a:rPr lang="en-US" b="1" cap="small" dirty="0"/>
            </a:br>
            <a:r>
              <a:rPr lang="en-US" sz="3600" b="1" cap="small" dirty="0">
                <a:solidFill>
                  <a:srgbClr val="FF0000"/>
                </a:solidFill>
              </a:rPr>
              <a:t>The </a:t>
            </a:r>
            <a:r>
              <a:rPr lang="en-US" sz="3600" b="1" cap="small" dirty="0" err="1">
                <a:solidFill>
                  <a:srgbClr val="FF0000"/>
                </a:solidFill>
              </a:rPr>
              <a:t>Tetrahydroborate</a:t>
            </a:r>
            <a:r>
              <a:rPr lang="en-US" sz="3600" b="1" cap="small" dirty="0">
                <a:solidFill>
                  <a:srgbClr val="FF0000"/>
                </a:solidFill>
              </a:rPr>
              <a:t> Ion (BH</a:t>
            </a:r>
            <a:r>
              <a:rPr lang="en-US" sz="3600" b="1" cap="small" baseline="-25000" dirty="0">
                <a:solidFill>
                  <a:srgbClr val="FF0000"/>
                </a:solidFill>
              </a:rPr>
              <a:t>4</a:t>
            </a:r>
            <a:r>
              <a:rPr lang="en-US" sz="3600" b="1" cap="small" baseline="30000" dirty="0">
                <a:solidFill>
                  <a:srgbClr val="FF0000"/>
                </a:solidFill>
              </a:rPr>
              <a:t>-</a:t>
            </a:r>
            <a:r>
              <a:rPr lang="en-US" sz="3600" b="1" cap="small" dirty="0">
                <a:solidFill>
                  <a:srgbClr val="FF0000"/>
                </a:solidFill>
              </a:rPr>
              <a:t>)</a:t>
            </a:r>
            <a:br>
              <a:rPr lang="en-US" cap="small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6321" name="Rectangle 1"/>
          <p:cNvSpPr>
            <a:spLocks noChangeArrowheads="1"/>
          </p:cNvSpPr>
          <p:nvPr/>
        </p:nvSpPr>
        <p:spPr bwMode="auto">
          <a:xfrm>
            <a:off x="685800" y="1046203"/>
            <a:ext cx="6400800" cy="563231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NaBH</a:t>
            </a:r>
            <a:r>
              <a:rPr kumimoji="0" lang="en-US" sz="2400" b="0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is stable in dry air and alkaline aqueous solution. (It will react with water initially but the reaction stops as the concentration of the hydrolysis product, sodium borate, builds up.)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LiBH</a:t>
            </a:r>
            <a:r>
              <a:rPr kumimoji="0" lang="en-US" sz="2400" b="0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is similar to NaBH</a:t>
            </a:r>
            <a:r>
              <a:rPr kumimoji="0" lang="en-US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but more sensitive to water.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Al(BH</a:t>
            </a:r>
            <a:r>
              <a:rPr kumimoji="0" lang="en-US" sz="2400" b="0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kumimoji="0" lang="en-US" sz="2400" b="0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is liquid which explodes with air or water. It probably has pairs of hydrogen bridges like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diborane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Zr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(BH</a:t>
            </a:r>
            <a:r>
              <a:rPr kumimoji="0" lang="en-US" sz="2400" b="0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kumimoji="0" lang="en-US" sz="2400" b="0" i="0" u="none" strike="noStrike" cap="none" normalizeH="0" baseline="-3000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is a molecular solid with three bridging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hydrogens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connecting each boron to the zirconium.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304800"/>
            <a:ext cx="3048000" cy="438912"/>
          </a:xfr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3333FF"/>
                </a:solidFill>
              </a:rPr>
              <a:t>Carbide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9906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binary compound of C with M is called carbide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9400" y="1371600"/>
            <a:ext cx="250632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Example :  Al4C3, CaC2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02797"/>
            <a:ext cx="8077200" cy="50167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3333FF"/>
                </a:solidFill>
              </a:rPr>
              <a:t>      Types of Carbide : </a:t>
            </a:r>
          </a:p>
          <a:p>
            <a:pPr algn="just"/>
            <a:endParaRPr lang="en-US" b="1" dirty="0">
              <a:solidFill>
                <a:srgbClr val="C00000"/>
              </a:solidFill>
            </a:endParaRPr>
          </a:p>
          <a:p>
            <a:pPr marL="342900" indent="-342900" algn="just"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Ionic or Salt-like carbide  :       C</a:t>
            </a:r>
            <a:r>
              <a:rPr lang="en-US" b="1" baseline="30000" dirty="0">
                <a:solidFill>
                  <a:srgbClr val="C00000"/>
                </a:solidFill>
              </a:rPr>
              <a:t>4-</a:t>
            </a:r>
            <a:r>
              <a:rPr lang="en-US" b="1" dirty="0">
                <a:solidFill>
                  <a:srgbClr val="C00000"/>
                </a:solidFill>
              </a:rPr>
              <a:t>,</a:t>
            </a:r>
            <a:r>
              <a:rPr lang="en-US" b="1" baseline="30000" dirty="0">
                <a:solidFill>
                  <a:srgbClr val="C00000"/>
                </a:solidFill>
              </a:rPr>
              <a:t>  C</a:t>
            </a:r>
            <a:r>
              <a:rPr lang="en-US" b="1" baseline="-25000" dirty="0">
                <a:solidFill>
                  <a:srgbClr val="C00000"/>
                </a:solidFill>
              </a:rPr>
              <a:t>2 </a:t>
            </a:r>
            <a:r>
              <a:rPr lang="en-US" b="1" baseline="30000" dirty="0">
                <a:solidFill>
                  <a:srgbClr val="C00000"/>
                </a:solidFill>
              </a:rPr>
              <a:t>2-</a:t>
            </a:r>
          </a:p>
          <a:p>
            <a:pPr marL="342900" indent="-342900" algn="just"/>
            <a:endParaRPr lang="en-US" b="1" baseline="30000" dirty="0">
              <a:solidFill>
                <a:srgbClr val="C00000"/>
              </a:solidFill>
            </a:endParaRPr>
          </a:p>
          <a:p>
            <a:pPr marL="342900" indent="-342900" algn="just"/>
            <a:endParaRPr lang="en-US" b="1" baseline="30000" dirty="0">
              <a:solidFill>
                <a:srgbClr val="C00000"/>
              </a:solidFill>
            </a:endParaRPr>
          </a:p>
          <a:p>
            <a:pPr marL="342900" indent="-342900" algn="just"/>
            <a:r>
              <a:rPr lang="en-US" b="1" baseline="30000" dirty="0">
                <a:solidFill>
                  <a:srgbClr val="C00000"/>
                </a:solidFill>
              </a:rPr>
              <a:t>  </a:t>
            </a:r>
          </a:p>
          <a:p>
            <a:pPr marL="342900" indent="-342900" algn="just"/>
            <a:endParaRPr lang="en-US" b="1" baseline="30000" dirty="0">
              <a:solidFill>
                <a:srgbClr val="C00000"/>
              </a:solidFill>
            </a:endParaRPr>
          </a:p>
          <a:p>
            <a:pPr marL="342900" indent="-342900" algn="just"/>
            <a:endParaRPr lang="en-US" b="1" baseline="30000" dirty="0">
              <a:solidFill>
                <a:srgbClr val="C00000"/>
              </a:solidFill>
            </a:endParaRPr>
          </a:p>
          <a:p>
            <a:pPr marL="342900" indent="-342900" algn="just"/>
            <a:endParaRPr lang="en-US" b="1" baseline="30000" dirty="0">
              <a:solidFill>
                <a:srgbClr val="C00000"/>
              </a:solidFill>
            </a:endParaRPr>
          </a:p>
          <a:p>
            <a:pPr marL="342900" indent="-342900" algn="just"/>
            <a:endParaRPr lang="en-US" b="1" dirty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2"/>
            </a:pPr>
            <a:r>
              <a:rPr lang="en-US" sz="2000" b="1" dirty="0">
                <a:solidFill>
                  <a:srgbClr val="C00000"/>
                </a:solidFill>
              </a:rPr>
              <a:t>Interstitial Carbide:  Transition metal forms this carbide </a:t>
            </a:r>
          </a:p>
          <a:p>
            <a:pPr marL="342900" indent="-342900" algn="just"/>
            <a:r>
              <a:rPr lang="en-US" sz="2000" b="1" dirty="0">
                <a:solidFill>
                  <a:srgbClr val="C00000"/>
                </a:solidFill>
              </a:rPr>
              <a:t>Structure: Closed-packed, Hard, Electric Conductor, High  </a:t>
            </a:r>
            <a:r>
              <a:rPr lang="en-US" sz="2000" b="1" dirty="0" err="1">
                <a:solidFill>
                  <a:srgbClr val="C00000"/>
                </a:solidFill>
              </a:rPr>
              <a:t>m.p</a:t>
            </a:r>
            <a:r>
              <a:rPr lang="en-US" sz="2000" b="1" dirty="0">
                <a:solidFill>
                  <a:srgbClr val="C00000"/>
                </a:solidFill>
              </a:rPr>
              <a:t>. </a:t>
            </a:r>
          </a:p>
          <a:p>
            <a:pPr marL="342900" indent="-342900" algn="just"/>
            <a:endParaRPr lang="en-US" b="1" dirty="0">
              <a:solidFill>
                <a:srgbClr val="C00000"/>
              </a:solidFill>
            </a:endParaRPr>
          </a:p>
          <a:p>
            <a:pPr marL="342900" indent="-342900" algn="just"/>
            <a:r>
              <a:rPr lang="en-US" sz="2000" b="1" dirty="0">
                <a:solidFill>
                  <a:srgbClr val="C00000"/>
                </a:solidFill>
              </a:rPr>
              <a:t>WC, Fe3C, Mn3C, Ni3C- They are </a:t>
            </a:r>
            <a:r>
              <a:rPr lang="en-US" sz="2000" b="1" dirty="0" err="1">
                <a:solidFill>
                  <a:srgbClr val="C00000"/>
                </a:solidFill>
              </a:rPr>
              <a:t>hydrolysed</a:t>
            </a:r>
            <a:r>
              <a:rPr lang="en-US" sz="2000" b="1" dirty="0">
                <a:solidFill>
                  <a:srgbClr val="C00000"/>
                </a:solidFill>
              </a:rPr>
              <a:t> by Acids.</a:t>
            </a:r>
          </a:p>
          <a:p>
            <a:pPr marL="342900" indent="-342900" algn="just"/>
            <a:endParaRPr lang="en-US" b="1" dirty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3"/>
            </a:pPr>
            <a:r>
              <a:rPr lang="en-US" b="1" dirty="0">
                <a:solidFill>
                  <a:srgbClr val="C00000"/>
                </a:solidFill>
              </a:rPr>
              <a:t>Covalent Carbide:  </a:t>
            </a:r>
            <a:r>
              <a:rPr lang="en-US" b="1" dirty="0" err="1">
                <a:solidFill>
                  <a:srgbClr val="C00000"/>
                </a:solidFill>
              </a:rPr>
              <a:t>SiC</a:t>
            </a:r>
            <a:r>
              <a:rPr lang="en-US" b="1" dirty="0">
                <a:solidFill>
                  <a:srgbClr val="C00000"/>
                </a:solidFill>
              </a:rPr>
              <a:t>, B4C – Very  Complex Structure,  Very Hard, </a:t>
            </a:r>
          </a:p>
          <a:p>
            <a:pPr marL="342900" indent="-342900" algn="just">
              <a:buAutoNum type="arabicPeriod" startAt="3"/>
            </a:pPr>
            <a:endParaRPr lang="en-US" b="1" baseline="30000" dirty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3"/>
            </a:pPr>
            <a:endParaRPr lang="en-US" b="1" baseline="30000" dirty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3"/>
            </a:pPr>
            <a:endParaRPr lang="en-US" b="1" baseline="30000" dirty="0">
              <a:solidFill>
                <a:srgbClr val="C00000"/>
              </a:solidFill>
            </a:endParaRPr>
          </a:p>
          <a:p>
            <a:pPr marL="342900" indent="-342900" algn="just">
              <a:buAutoNum type="arabicPeriod" startAt="3"/>
            </a:pPr>
            <a:endParaRPr lang="en-US" b="1" baseline="30000" dirty="0">
              <a:solidFill>
                <a:srgbClr val="C00000"/>
              </a:solidFill>
            </a:endParaRPr>
          </a:p>
        </p:txBody>
      </p:sp>
      <p:graphicFrame>
        <p:nvGraphicFramePr>
          <p:cNvPr id="4812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219733"/>
              </p:ext>
            </p:extLst>
          </p:nvPr>
        </p:nvGraphicFramePr>
        <p:xfrm>
          <a:off x="2438400" y="2819400"/>
          <a:ext cx="4114800" cy="1157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628800" imgH="1020960" progId="ChemDraw.Document.6.0">
                  <p:embed/>
                </p:oleObj>
              </mc:Choice>
              <mc:Fallback>
                <p:oleObj name="CS ChemDraw Drawing" r:id="rId2" imgW="3628800" imgH="1020960" progId="ChemDraw.Document.6.0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819400"/>
                        <a:ext cx="4114800" cy="1157401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133401"/>
              </p:ext>
            </p:extLst>
          </p:nvPr>
        </p:nvGraphicFramePr>
        <p:xfrm>
          <a:off x="3124200" y="6054678"/>
          <a:ext cx="3276600" cy="77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029760" imgH="716040" progId="ChemDraw.Document.6.0">
                  <p:embed/>
                </p:oleObj>
              </mc:Choice>
              <mc:Fallback>
                <p:oleObj name="CS ChemDraw Drawing" r:id="rId4" imgW="3029760" imgH="716040" progId="ChemDraw.Document.6.0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6054678"/>
                        <a:ext cx="3276600" cy="77409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59131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3333FF"/>
                </a:solidFill>
              </a:rPr>
              <a:t>Diamond Vs Graphite</a:t>
            </a:r>
          </a:p>
        </p:txBody>
      </p:sp>
      <p:graphicFrame>
        <p:nvGraphicFramePr>
          <p:cNvPr id="4710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399156"/>
              </p:ext>
            </p:extLst>
          </p:nvPr>
        </p:nvGraphicFramePr>
        <p:xfrm>
          <a:off x="762000" y="5029200"/>
          <a:ext cx="6225539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388600" imgH="555480" progId="ChemDraw.Document.6.0">
                  <p:embed/>
                </p:oleObj>
              </mc:Choice>
              <mc:Fallback>
                <p:oleObj name="CS ChemDraw Drawing" r:id="rId2" imgW="2388600" imgH="555480" progId="ChemDraw.Document.6.0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029200"/>
                        <a:ext cx="6225539" cy="14478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1447800"/>
            <a:ext cx="7162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Two crystal form of Carbon, Diamond and Graphite,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The another form of Carbon- Fullerene- C</a:t>
            </a:r>
            <a:r>
              <a:rPr lang="en-US" sz="2400" baseline="-25000" dirty="0">
                <a:solidFill>
                  <a:srgbClr val="C00000"/>
                </a:solidFill>
              </a:rPr>
              <a:t>6o</a:t>
            </a:r>
            <a:r>
              <a:rPr lang="en-US" sz="2400" dirty="0">
                <a:solidFill>
                  <a:srgbClr val="C00000"/>
                </a:solidFill>
              </a:rPr>
              <a:t>  </a:t>
            </a:r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126050"/>
              </p:ext>
            </p:extLst>
          </p:nvPr>
        </p:nvGraphicFramePr>
        <p:xfrm>
          <a:off x="2438400" y="2286000"/>
          <a:ext cx="2607461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997560" imgH="987840" progId="ChemDraw.Document.6.0">
                  <p:embed/>
                </p:oleObj>
              </mc:Choice>
              <mc:Fallback>
                <p:oleObj name="CS ChemDraw Drawing" r:id="rId4" imgW="997560" imgH="987840" progId="ChemDraw.Document.6.0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0"/>
                        <a:ext cx="2607461" cy="25908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 w="9525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229600" cy="5334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9933FF"/>
                </a:solidFill>
              </a:rPr>
              <a:t>Comparison Between Diamond and Graphite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543779"/>
              </p:ext>
            </p:extLst>
          </p:nvPr>
        </p:nvGraphicFramePr>
        <p:xfrm>
          <a:off x="762000" y="1447800"/>
          <a:ext cx="7772400" cy="4752530"/>
        </p:xfrm>
        <a:graphic>
          <a:graphicData uri="http://schemas.openxmlformats.org/drawingml/2006/table">
            <a:tbl>
              <a:tblPr>
                <a:effectLst>
                  <a:outerShdw blurRad="50800" dist="50800" dir="5400000" algn="ctr" rotWithShape="0">
                    <a:schemeClr val="bg2">
                      <a:lumMod val="90000"/>
                    </a:schemeClr>
                  </a:outerShdw>
                </a:effectLst>
              </a:tblPr>
              <a:tblGrid>
                <a:gridCol w="3587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5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latin typeface="Times New Roman"/>
                          <a:ea typeface="Calibri"/>
                        </a:rPr>
                        <a:t>Diamond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latin typeface="Times New Roman"/>
                          <a:ea typeface="Calibri"/>
                        </a:rPr>
                        <a:t>Graphite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48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1. Tetrahedral Arrangement of C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Angle 109</a:t>
                      </a:r>
                      <a:r>
                        <a:rPr lang="en-US" sz="2000" b="1" baseline="30000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o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1. Square Planer arrangement of C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Angle- 120</a:t>
                      </a:r>
                      <a:r>
                        <a:rPr lang="en-US" sz="2000" b="1" baseline="30000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o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31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2. Three dimensional network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2. Layered structure (3.4 Ǻ) separation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3. Sp</a:t>
                      </a:r>
                      <a:r>
                        <a:rPr lang="en-US" sz="2000" b="1" baseline="30000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3</a:t>
                      </a: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 hybridization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3. Sp</a:t>
                      </a:r>
                      <a:r>
                        <a:rPr lang="en-US" sz="2000" b="1" baseline="30000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2</a:t>
                      </a: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 hybridization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7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4.Non-conductor of electricity</a:t>
                      </a:r>
                      <a:endParaRPr lang="en-US" sz="1800" b="1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4.Good  conductor of electricity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31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5. No free electron</a:t>
                      </a:r>
                      <a:endParaRPr lang="en-US" sz="1800" b="1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5. Free electron moves to a particular layer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7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6. Very hard</a:t>
                      </a:r>
                      <a:endParaRPr lang="en-US" sz="1800" b="1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6. Soft and malleable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05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7. Density – 3.51 g/cm</a:t>
                      </a:r>
                      <a:r>
                        <a:rPr lang="en-US" sz="2000" b="1" baseline="3000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3</a:t>
                      </a:r>
                      <a:endParaRPr lang="en-US" sz="1800" b="1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7. Density – 2.22 g/cm</a:t>
                      </a:r>
                      <a:r>
                        <a:rPr lang="en-US" sz="2000" b="1" baseline="30000" dirty="0">
                          <a:solidFill>
                            <a:srgbClr val="3333FF"/>
                          </a:solidFill>
                          <a:latin typeface="Times New Roman"/>
                          <a:ea typeface="Calibri"/>
                        </a:rPr>
                        <a:t>3</a:t>
                      </a:r>
                      <a:endParaRPr lang="en-US" sz="1800" b="1" dirty="0">
                        <a:solidFill>
                          <a:srgbClr val="3333FF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edg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38200" y="685800"/>
            <a:ext cx="6493266" cy="5562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1001">
            <a:schemeClr val="lt2"/>
          </a:fillRef>
          <a:effectRef idx="1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lum bright="-20000" contrast="57000"/>
          </a:blip>
          <a:srcRect/>
          <a:stretch>
            <a:fillRect/>
          </a:stretch>
        </p:blipFill>
        <p:spPr bwMode="auto">
          <a:xfrm>
            <a:off x="304800" y="1143000"/>
            <a:ext cx="8657740" cy="4800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609600" y="685800"/>
            <a:ext cx="8094663" cy="46958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53031" y="2967335"/>
            <a:ext cx="43703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solidFill>
                  <a:srgbClr val="9933FF"/>
                </a:solidFill>
              </a:rPr>
              <a:t>THANK YOU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1709</TotalTime>
  <Words>1898</Words>
  <Application>Microsoft Office PowerPoint</Application>
  <PresentationFormat>On-screen Show (4:3)</PresentationFormat>
  <Paragraphs>219</Paragraphs>
  <Slides>49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4" baseType="lpstr">
      <vt:lpstr>Aharoni</vt:lpstr>
      <vt:lpstr>Arial</vt:lpstr>
      <vt:lpstr>Arial Black</vt:lpstr>
      <vt:lpstr>Arial Narrow</vt:lpstr>
      <vt:lpstr>Calibri</vt:lpstr>
      <vt:lpstr>Calibri Light</vt:lpstr>
      <vt:lpstr>Calisto MT</vt:lpstr>
      <vt:lpstr>Centaur</vt:lpstr>
      <vt:lpstr>Constantia</vt:lpstr>
      <vt:lpstr>Corbel</vt:lpstr>
      <vt:lpstr>Symbol</vt:lpstr>
      <vt:lpstr>Times New Roman</vt:lpstr>
      <vt:lpstr>Wingdings 2</vt:lpstr>
      <vt:lpstr>Flow</vt:lpstr>
      <vt:lpstr>CS ChemDraw Drawing</vt:lpstr>
      <vt:lpstr>PowerPoint Presentation</vt:lpstr>
      <vt:lpstr>Chapter-3 </vt:lpstr>
      <vt:lpstr>            Electron Deficient Compound</vt:lpstr>
      <vt:lpstr>PowerPoint Presentation</vt:lpstr>
      <vt:lpstr>PowerPoint Presentation</vt:lpstr>
      <vt:lpstr>PowerPoint Presentation</vt:lpstr>
      <vt:lpstr>Alfred Stock established borane Chemistry</vt:lpstr>
      <vt:lpstr>PowerPoint Presentation</vt:lpstr>
      <vt:lpstr>The Hydride of Boron/ Diborane ( B2H6) </vt:lpstr>
      <vt:lpstr>Reaction of B2H6</vt:lpstr>
      <vt:lpstr>PowerPoint Presentation</vt:lpstr>
      <vt:lpstr>PowerPoint Presentation</vt:lpstr>
      <vt:lpstr>PowerPoint Presentation</vt:lpstr>
      <vt:lpstr>Bonding in Diborane, B2H6</vt:lpstr>
      <vt:lpstr>PowerPoint Presentation</vt:lpstr>
      <vt:lpstr>PowerPoint Presentation</vt:lpstr>
      <vt:lpstr> 3C-  2e  Bond </vt:lpstr>
      <vt:lpstr>       Formation of 3C-  2e bond in diborane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Five Bonding Elements in Higher Borane</vt:lpstr>
      <vt:lpstr> Structure and Bonding of Diborane (B2H6)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What is the Difference Between Borazine and Benzene?</vt:lpstr>
      <vt:lpstr>Comparsion of Borazine and Benzene</vt:lpstr>
      <vt:lpstr>              The Tetrahydroborate Ion (BH4-) </vt:lpstr>
      <vt:lpstr>Carbide </vt:lpstr>
      <vt:lpstr>Diamond Vs Graphite</vt:lpstr>
      <vt:lpstr>Comparison Between Diamond and Graphite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Arzu</dc:creator>
  <cp:lastModifiedBy>USER</cp:lastModifiedBy>
  <cp:revision>190</cp:revision>
  <dcterms:created xsi:type="dcterms:W3CDTF">2014-04-20T10:14:25Z</dcterms:created>
  <dcterms:modified xsi:type="dcterms:W3CDTF">2025-06-17T04:15:29Z</dcterms:modified>
</cp:coreProperties>
</file>