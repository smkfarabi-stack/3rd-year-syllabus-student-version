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83" r:id="rId4"/>
    <p:sldId id="284" r:id="rId5"/>
    <p:sldId id="285" r:id="rId6"/>
    <p:sldId id="258" r:id="rId7"/>
    <p:sldId id="259" r:id="rId8"/>
    <p:sldId id="286" r:id="rId9"/>
    <p:sldId id="260" r:id="rId10"/>
    <p:sldId id="261" r:id="rId11"/>
    <p:sldId id="289" r:id="rId12"/>
    <p:sldId id="287" r:id="rId13"/>
    <p:sldId id="293" r:id="rId14"/>
    <p:sldId id="268" r:id="rId15"/>
    <p:sldId id="269" r:id="rId16"/>
    <p:sldId id="270" r:id="rId17"/>
    <p:sldId id="271" r:id="rId18"/>
    <p:sldId id="272" r:id="rId19"/>
    <p:sldId id="262" r:id="rId20"/>
    <p:sldId id="263" r:id="rId21"/>
    <p:sldId id="294" r:id="rId22"/>
    <p:sldId id="295" r:id="rId23"/>
    <p:sldId id="264" r:id="rId24"/>
    <p:sldId id="297" r:id="rId25"/>
    <p:sldId id="265" r:id="rId26"/>
    <p:sldId id="291" r:id="rId27"/>
    <p:sldId id="292" r:id="rId28"/>
    <p:sldId id="266" r:id="rId29"/>
    <p:sldId id="267" r:id="rId30"/>
    <p:sldId id="273" r:id="rId31"/>
    <p:sldId id="274" r:id="rId32"/>
    <p:sldId id="275" r:id="rId33"/>
    <p:sldId id="276" r:id="rId34"/>
    <p:sldId id="296" r:id="rId35"/>
    <p:sldId id="298" r:id="rId36"/>
    <p:sldId id="299" r:id="rId37"/>
    <p:sldId id="277" r:id="rId38"/>
    <p:sldId id="309" r:id="rId39"/>
    <p:sldId id="279" r:id="rId40"/>
    <p:sldId id="278" r:id="rId41"/>
    <p:sldId id="280" r:id="rId42"/>
    <p:sldId id="300" r:id="rId43"/>
    <p:sldId id="301" r:id="rId44"/>
    <p:sldId id="310" r:id="rId45"/>
    <p:sldId id="311" r:id="rId46"/>
    <p:sldId id="313" r:id="rId47"/>
    <p:sldId id="316" r:id="rId48"/>
    <p:sldId id="302" r:id="rId49"/>
    <p:sldId id="303" r:id="rId50"/>
    <p:sldId id="304" r:id="rId51"/>
    <p:sldId id="305" r:id="rId52"/>
    <p:sldId id="306" r:id="rId53"/>
    <p:sldId id="307" r:id="rId54"/>
    <p:sldId id="281" r:id="rId55"/>
    <p:sldId id="312" r:id="rId56"/>
    <p:sldId id="314" r:id="rId57"/>
    <p:sldId id="315" r:id="rId58"/>
    <p:sldId id="282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54AE2-94E5-47B9-8EB8-C9DBA970F92B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BE212-7D76-4141-B80E-BB9BDC639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F6EF3-BD1C-4D26-8A92-647713679DB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2571B-E0D3-47EB-B4CD-58A71A401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0" y="5867400"/>
            <a:ext cx="2129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Source Book: 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Inorganic Chemistry by</a:t>
            </a:r>
          </a:p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James E. </a:t>
            </a:r>
            <a:r>
              <a:rPr lang="en-US" sz="1600" b="1" i="1" dirty="0" err="1" smtClean="0">
                <a:latin typeface="Times New Roman" pitchFamily="18" charset="0"/>
                <a:cs typeface="Times New Roman" pitchFamily="18" charset="0"/>
              </a:rPr>
              <a:t>Huhee</a:t>
            </a:r>
            <a:endParaRPr lang="en-US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381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lgerian" pitchFamily="82" charset="0"/>
              </a:rPr>
              <a:t>quantum mechanical approach of atomic structure </a:t>
            </a:r>
            <a:endParaRPr lang="en-US" sz="2400" dirty="0">
              <a:latin typeface="Algerian" pitchFamily="8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609600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theories of atomic and molecular structure depend on quantum mechanics to describe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atoms and molecules in mathematical terms. Although the details of quantum mechanics require considerable mathematical sophistication, it is possible to understand the principles involved with only a moderate amount of mathematics.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2708970"/>
            <a:ext cx="2209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Greek philosophers Democritus (460-370 BC) and Epicurus (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341-270 BC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presented views of nature that included atoms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many hundreds of years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passed before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experimental studies could establish the quantitative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relationships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needed for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 coherent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atomic theory.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2133600"/>
            <a:ext cx="116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Prehistory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1808, John </a:t>
            </a:r>
            <a:r>
              <a:rPr lang="en-US" dirty="0">
                <a:solidFill>
                  <a:srgbClr val="FF0000"/>
                </a:solidFill>
              </a:rPr>
              <a:t>Dalton</a:t>
            </a:r>
            <a:r>
              <a:rPr lang="en-US" dirty="0"/>
              <a:t> published </a:t>
            </a:r>
            <a:r>
              <a:rPr lang="en-US" dirty="0" smtClean="0"/>
              <a:t>“A </a:t>
            </a:r>
            <a:r>
              <a:rPr lang="en-US" i="1" dirty="0"/>
              <a:t>New System of </a:t>
            </a:r>
            <a:r>
              <a:rPr lang="en-US" i="1" dirty="0" smtClean="0"/>
              <a:t>Chemical Philosophy” which </a:t>
            </a:r>
            <a:r>
              <a:rPr lang="en-US" i="1" dirty="0"/>
              <a:t>he proposed </a:t>
            </a:r>
            <a:r>
              <a:rPr lang="en-US" i="1" dirty="0" smtClean="0"/>
              <a:t>that: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19400" y="27432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/>
              <a:t>the ultimate particles of all homogeneous bodies are perfectly alike in weight, figure,</a:t>
            </a:r>
          </a:p>
          <a:p>
            <a:r>
              <a:rPr lang="en-US" i="1" dirty="0"/>
              <a:t>etc. In other words, every particle of water is like every other particle of water, every particle</a:t>
            </a:r>
          </a:p>
          <a:p>
            <a:r>
              <a:rPr lang="en-US" i="1" dirty="0"/>
              <a:t>of hydrogen is like every other particle of hydrogen, </a:t>
            </a:r>
            <a:r>
              <a:rPr lang="en-US" i="1" dirty="0" smtClean="0"/>
              <a:t>etc</a:t>
            </a:r>
            <a:endParaRPr lang="en-US" i="1" dirty="0"/>
          </a:p>
        </p:txBody>
      </p:sp>
      <p:sp>
        <p:nvSpPr>
          <p:cNvPr id="12" name="Rectangle 11"/>
          <p:cNvSpPr/>
          <p:nvPr/>
        </p:nvSpPr>
        <p:spPr>
          <a:xfrm>
            <a:off x="2819400" y="45720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Because of confusion about elemental molecules such as </a:t>
            </a:r>
            <a:r>
              <a:rPr lang="en-US" dirty="0" smtClean="0"/>
              <a:t>H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and</a:t>
            </a:r>
          </a:p>
          <a:p>
            <a:r>
              <a:rPr lang="en-US" dirty="0"/>
              <a:t>0</a:t>
            </a:r>
            <a:r>
              <a:rPr lang="en-US" baseline="-25000" dirty="0"/>
              <a:t>2</a:t>
            </a:r>
            <a:r>
              <a:rPr lang="en-US" dirty="0"/>
              <a:t>, which he assumed to be monatomic H and 0 , he did not find the correct formula for</a:t>
            </a:r>
          </a:p>
          <a:p>
            <a:r>
              <a:rPr lang="en-US" dirty="0"/>
              <a:t>water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484287"/>
            <a:ext cx="8305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Only a few years later, Avogadro used data from Gay-Lussac to argue that equal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volumes of gas at equal temperatures and pressures contain the same number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molecules, but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uncertainties about the nature of sulfur, phosphorus, arsenic, and mercury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vapors delayed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acceptance of this idea.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+mj-lt"/>
                <a:cs typeface="Times New Roman" pitchFamily="18" charset="0"/>
              </a:rPr>
              <a:t>Confusions</a:t>
            </a:r>
            <a:endParaRPr lang="en-US" b="1" dirty="0">
              <a:latin typeface="+mj-lt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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Widespread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confusion about atomic weights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molecular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formulas contributed to the delay;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1861</a:t>
            </a:r>
          </a:p>
          <a:p>
            <a:pPr algn="just">
              <a:buFont typeface="Symbol"/>
              <a:buChar char="·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Kekul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gave 19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possible formulas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acetic acid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!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1850s,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Cannizzaro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revived the argument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Avogadro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argued that everyone should use the same set of atomic weights rather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many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different sets then being used.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Symbol"/>
              <a:buChar char="·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meeting in Karlsruhe in 1860, he distributed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pamphlet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describing his views.6 His proposal was eventually accepted, and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consistent set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atomic weights and formulas gradually evolved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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1869,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~Mendeleev independently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proposed periodic tables nearly like those used today, and from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time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development of atomic theory progressed rapidly.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69515"/>
            <a:ext cx="6622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Quantum mechanical approach of atomic structure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636" y="1219200"/>
            <a:ext cx="9175204" cy="4202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700" dirty="0" smtClean="0">
                <a:sym typeface="Symbol"/>
              </a:rPr>
              <a:t>    Maxwell’s wave theory of light was relatively new in 1913</a:t>
            </a:r>
          </a:p>
          <a:p>
            <a:pPr marL="285750" indent="-285750">
              <a:lnSpc>
                <a:spcPct val="200000"/>
              </a:lnSpc>
              <a:buFont typeface="Symbol"/>
              <a:buChar char="·"/>
            </a:pPr>
            <a:r>
              <a:rPr lang="en-US" sz="1700" dirty="0" smtClean="0">
                <a:sym typeface="Symbol"/>
              </a:rPr>
              <a:t>Newton's classical theory stood against all the tests still for more than 250  years without failure.</a:t>
            </a:r>
          </a:p>
          <a:p>
            <a:pPr marL="285750" indent="-285750">
              <a:lnSpc>
                <a:spcPct val="200000"/>
              </a:lnSpc>
              <a:buFont typeface="Symbol"/>
              <a:buChar char="·"/>
            </a:pPr>
            <a:r>
              <a:rPr lang="en-US" sz="1700" dirty="0" smtClean="0">
                <a:sym typeface="Symbol"/>
              </a:rPr>
              <a:t> the possibility that it might be invalid for tiny particles, was unthinkable</a:t>
            </a:r>
          </a:p>
          <a:p>
            <a:pPr marL="285750" indent="-285750">
              <a:lnSpc>
                <a:spcPct val="200000"/>
              </a:lnSpc>
              <a:buFont typeface="Symbol"/>
              <a:buChar char="·"/>
            </a:pPr>
            <a:r>
              <a:rPr lang="en-US" sz="1700" dirty="0">
                <a:sym typeface="Symbol"/>
              </a:rPr>
              <a:t> </a:t>
            </a:r>
            <a:r>
              <a:rPr lang="en-US" sz="1700" dirty="0" smtClean="0">
                <a:sym typeface="Symbol"/>
              </a:rPr>
              <a:t>Atoms were strange ten and still they are, physicists were unable to see how the Newton’s law </a:t>
            </a:r>
          </a:p>
          <a:p>
            <a:pPr>
              <a:lnSpc>
                <a:spcPct val="200000"/>
              </a:lnSpc>
            </a:pPr>
            <a:r>
              <a:rPr lang="en-US" sz="1700" dirty="0" smtClean="0">
                <a:sym typeface="Symbol"/>
              </a:rPr>
              <a:t>could be modified to suit the atomic explanations</a:t>
            </a:r>
          </a:p>
          <a:p>
            <a:pPr marL="285750" indent="-285750">
              <a:lnSpc>
                <a:spcPct val="200000"/>
              </a:lnSpc>
              <a:buFont typeface="Symbol"/>
              <a:buChar char="·"/>
            </a:pPr>
            <a:r>
              <a:rPr lang="en-US" sz="1700" dirty="0" smtClean="0">
                <a:sym typeface="Symbol"/>
              </a:rPr>
              <a:t>What was required was to step back , away from particles in orbits, in order to replace rather than </a:t>
            </a:r>
          </a:p>
          <a:p>
            <a:pPr>
              <a:lnSpc>
                <a:spcPct val="200000"/>
              </a:lnSpc>
            </a:pPr>
            <a:r>
              <a:rPr lang="en-US" sz="1700" dirty="0" smtClean="0">
                <a:sym typeface="Symbol"/>
              </a:rPr>
              <a:t>Modify the classical law.</a:t>
            </a:r>
          </a:p>
          <a:p>
            <a:pPr>
              <a:lnSpc>
                <a:spcPct val="200000"/>
              </a:lnSpc>
            </a:pPr>
            <a:r>
              <a:rPr lang="en-US" sz="1700" dirty="0" smtClean="0">
                <a:sym typeface="Symbol"/>
              </a:rPr>
              <a:t> Louis de Broglie took the bold step bold step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3444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31466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33601"/>
            <a:ext cx="4673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76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7784224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672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533400"/>
            <a:ext cx="73914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DISCOVERY OF </a:t>
            </a:r>
            <a:r>
              <a:rPr lang="en-US" b="1" i="1" dirty="0" smtClean="0"/>
              <a:t>SUBATOMIC PARTICLES </a:t>
            </a:r>
            <a:r>
              <a:rPr lang="en-US" b="1" i="1" dirty="0"/>
              <a:t>AND THE BOHR </a:t>
            </a:r>
            <a:r>
              <a:rPr lang="en-US" b="1" i="1" dirty="0" smtClean="0"/>
              <a:t>ATOM</a:t>
            </a:r>
          </a:p>
          <a:p>
            <a:r>
              <a:rPr lang="en-US" sz="1600" i="1" dirty="0"/>
              <a:t>During the 50 years after the periodic tables of Mendeleev and Meyer were </a:t>
            </a:r>
            <a:r>
              <a:rPr lang="en-US" sz="1600" i="1" dirty="0" smtClean="0"/>
              <a:t>proposed</a:t>
            </a:r>
            <a:endParaRPr lang="en-US" sz="16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122" y="1600200"/>
            <a:ext cx="8954878" cy="3124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6636" y="2209800"/>
            <a:ext cx="7971068" cy="4419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429491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Parallel discoveries in atomic spectra showed that each element emits light of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specific energies when excited by an electric discharge or heat. In 1885,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Balmer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showed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that the energies of visible light emitted by the hydrogen atom are given by the equation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1420091"/>
            <a:ext cx="24955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23" y="381000"/>
            <a:ext cx="852156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286500" y="1295400"/>
            <a:ext cx="28670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How is the atomic emission spectrum of hydrogen produced?</a:t>
            </a:r>
          </a:p>
          <a:p>
            <a:r>
              <a:rPr lang="en-US" sz="1600" dirty="0"/>
              <a:t>Emission Spectrum of Hydrogen. </a:t>
            </a:r>
            <a:r>
              <a:rPr lang="en-US" sz="1600" b="1" dirty="0"/>
              <a:t>When an electric current is passed through a glass tube that contains hydrogen gas at low pressure the tube gives off blue light</a:t>
            </a:r>
            <a:r>
              <a:rPr lang="en-US" sz="1600" dirty="0"/>
              <a:t>. When this light is passed through a prism (as shown in the figure below), four narrow bands of bright light are observed against a black background.</a:t>
            </a:r>
            <a:endParaRPr lang="en-US" sz="1600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783" y="513028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95600" y="33528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47409" y="3244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15583" y="1916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64356" y="18515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80006" y="18515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2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81000"/>
            <a:ext cx="5867399" cy="643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6400" y="3091934"/>
            <a:ext cx="37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H</a:t>
            </a:r>
            <a:r>
              <a:rPr lang="en-US" dirty="0" smtClean="0"/>
              <a:t> = 1.097 x 10</a:t>
            </a:r>
            <a:r>
              <a:rPr lang="en-US" baseline="30000" dirty="0" smtClean="0"/>
              <a:t>7</a:t>
            </a:r>
            <a:r>
              <a:rPr lang="en-US" dirty="0" smtClean="0"/>
              <a:t> m</a:t>
            </a:r>
            <a:r>
              <a:rPr lang="en-US" baseline="30000" dirty="0" smtClean="0"/>
              <a:t>-1</a:t>
            </a:r>
            <a:r>
              <a:rPr lang="en-US" dirty="0" smtClean="0"/>
              <a:t> = 2.179 x 10</a:t>
            </a:r>
            <a:r>
              <a:rPr lang="en-US" baseline="30000" dirty="0" smtClean="0"/>
              <a:t>-18</a:t>
            </a:r>
            <a:r>
              <a:rPr lang="en-US" dirty="0" smtClean="0"/>
              <a:t> J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638799" y="3412537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  <a:r>
              <a:rPr lang="en-US" dirty="0" smtClean="0"/>
              <a:t> = 6.626 x 10</a:t>
            </a:r>
            <a:r>
              <a:rPr lang="en-US" baseline="30000" dirty="0" smtClean="0"/>
              <a:t>-34</a:t>
            </a:r>
            <a:r>
              <a:rPr lang="en-US" dirty="0" smtClean="0"/>
              <a:t> </a:t>
            </a:r>
            <a:r>
              <a:rPr lang="en-US" dirty="0" err="1" smtClean="0"/>
              <a:t>Js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6200000">
            <a:off x="3004941" y="-1027205"/>
            <a:ext cx="3134118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86200"/>
            <a:ext cx="8408842" cy="277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-9524"/>
            <a:ext cx="566711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5181600"/>
            <a:ext cx="7820526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65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855"/>
            <a:ext cx="4724400" cy="672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962400"/>
            <a:ext cx="4135283" cy="2036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30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761999"/>
            <a:ext cx="4876801" cy="612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80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G_20210405_235122[1]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72" y="0"/>
            <a:ext cx="6331527" cy="678378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rot="10800000" flipV="1">
            <a:off x="5334000" y="1066800"/>
            <a:ext cx="16764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_20210405_235148[1]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862" y="0"/>
            <a:ext cx="4090276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_20210405_235429[1]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07" y="0"/>
            <a:ext cx="500718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889635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56331"/>
            <a:ext cx="5257800" cy="6725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Left Brace 2"/>
          <p:cNvSpPr/>
          <p:nvPr/>
        </p:nvSpPr>
        <p:spPr>
          <a:xfrm>
            <a:off x="1828800" y="4495800"/>
            <a:ext cx="609600" cy="2209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ightning Bolt 3"/>
          <p:cNvSpPr/>
          <p:nvPr/>
        </p:nvSpPr>
        <p:spPr>
          <a:xfrm>
            <a:off x="838200" y="4648200"/>
            <a:ext cx="990600" cy="914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9" y="609600"/>
            <a:ext cx="8885855" cy="5904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443345"/>
            <a:ext cx="8610600" cy="6262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87527"/>
            <a:ext cx="7162800" cy="607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236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45" y="1905000"/>
            <a:ext cx="856876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1066800"/>
            <a:ext cx="17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Definition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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6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88" y="381000"/>
            <a:ext cx="643713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257800"/>
            <a:ext cx="302895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me Dependent Schrodinger wave equation (Proof derivation)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8" y="-609600"/>
            <a:ext cx="8940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64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1" y="485455"/>
            <a:ext cx="5791199" cy="606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493"/>
            <a:ext cx="7620000" cy="200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37" y="2000576"/>
            <a:ext cx="4165654" cy="395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944957"/>
            <a:ext cx="34671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30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14400"/>
            <a:ext cx="5867400" cy="595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166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900718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4419600"/>
            <a:ext cx="67056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0"/>
            <a:ext cx="88392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gerian" pitchFamily="82" charset="0"/>
                <a:ea typeface="+mj-ea"/>
                <a:cs typeface="+mj-cs"/>
              </a:rPr>
              <a:t>quantum mechanical approach of atomic structure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gerian" pitchFamily="82" charset="0"/>
              <a:ea typeface="+mj-ea"/>
              <a:cs typeface="+mj-c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33400"/>
            <a:ext cx="8721701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8991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2.2.2 </a:t>
            </a:r>
            <a:r>
              <a:rPr lang="en-US" sz="1600" b="1" dirty="0" smtClean="0"/>
              <a:t>Quantum Numbers and Atomic Wave Functions</a:t>
            </a:r>
          </a:p>
          <a:p>
            <a:r>
              <a:rPr lang="en-US" sz="1600" dirty="0" smtClean="0"/>
              <a:t>The particle-in-a-box example shows how a wave function operates in one dimension.</a:t>
            </a:r>
          </a:p>
          <a:p>
            <a:r>
              <a:rPr lang="en-US" sz="1600" dirty="0" smtClean="0"/>
              <a:t>Mathematically, atomic orbitals are discrete solutions of the three-dimensional Schrödinger</a:t>
            </a:r>
          </a:p>
          <a:p>
            <a:r>
              <a:rPr lang="en-US" sz="1600" dirty="0" smtClean="0"/>
              <a:t>equations. The same methods used for the one-dimensional box can be expanded to three</a:t>
            </a:r>
          </a:p>
          <a:p>
            <a:r>
              <a:rPr lang="en-US" sz="1600" dirty="0" smtClean="0"/>
              <a:t>dimensions for atoms. These orbital equations include three quantum numbers, </a:t>
            </a:r>
            <a:r>
              <a:rPr lang="en-US" sz="1600" i="1" dirty="0" smtClean="0"/>
              <a:t>n , l , and ml.</a:t>
            </a:r>
          </a:p>
          <a:p>
            <a:r>
              <a:rPr lang="en-US" sz="1600" dirty="0" smtClean="0"/>
              <a:t>A fourth quantum number, </a:t>
            </a:r>
            <a:r>
              <a:rPr lang="en-US" sz="1600" i="1" dirty="0" smtClean="0"/>
              <a:t>ms, a result of relativistic corrections to the Schrödinger equation,</a:t>
            </a:r>
          </a:p>
          <a:p>
            <a:r>
              <a:rPr lang="en-US" sz="1600" dirty="0" smtClean="0"/>
              <a:t>completes the description by accounting for the magnetic moment of the electron. The</a:t>
            </a:r>
          </a:p>
          <a:p>
            <a:r>
              <a:rPr lang="en-US" sz="1600" dirty="0" smtClean="0"/>
              <a:t>quantum numbers are summarized in </a:t>
            </a:r>
            <a:r>
              <a:rPr lang="en-US" sz="1600" b="1" dirty="0" smtClean="0"/>
              <a:t>Table 2.2 . Tables 2.3 and 2.4 describe wave functions.</a:t>
            </a:r>
            <a:endParaRPr 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2438400"/>
            <a:ext cx="4419600" cy="2918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Chemistry: Quantum Numbers and Atomic Orbitals Flashcards | Quizl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2743200"/>
            <a:ext cx="4318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9" y="152400"/>
            <a:ext cx="8703189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599"/>
            <a:ext cx="7696200" cy="659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09600"/>
            <a:ext cx="882146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14400"/>
            <a:ext cx="7467600" cy="5620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313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4801"/>
            <a:ext cx="7399282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Quantum Numbers and Electron Configur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029200"/>
            <a:ext cx="32766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50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90191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22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46386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304800"/>
            <a:ext cx="2590800" cy="6450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Arrow Connector 4"/>
          <p:cNvCxnSpPr/>
          <p:nvPr/>
        </p:nvCxnSpPr>
        <p:spPr>
          <a:xfrm rot="10800000" flipV="1">
            <a:off x="6629400" y="990600"/>
            <a:ext cx="6858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105400" y="4267200"/>
            <a:ext cx="12954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42957"/>
            <a:ext cx="2895600" cy="379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-30678"/>
            <a:ext cx="5029200" cy="590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172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399"/>
            <a:ext cx="8382000" cy="6576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8465224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5800"/>
            <a:ext cx="877752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" y="152400"/>
            <a:ext cx="232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Separation of variables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8915400" cy="3233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69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225" y="627962"/>
            <a:ext cx="6936178" cy="309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V="1">
            <a:off x="2209800" y="2702419"/>
            <a:ext cx="946315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66913" y="2887085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Nucleus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689838" y="2209800"/>
            <a:ext cx="1184953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18394" y="217753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Nucleus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56589" y="1438782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9800" y="1447800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2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.2: Atomic Orbitals and Quantum Numbers - Chemistry LibreTex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2386"/>
            <a:ext cx="8305800" cy="645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65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Shapes of Orbitals and Subleve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97" y="457200"/>
            <a:ext cx="4230895" cy="300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 descr="Shapes of Atomic Orbital - Structure of A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782869"/>
            <a:ext cx="6095999" cy="386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49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e quantum mechanical model of the atom (article) | Khan Acade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1"/>
            <a:ext cx="8492109" cy="49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70" y="5058355"/>
            <a:ext cx="7678882" cy="17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78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 #65790 | Socrat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"/>
            <a:ext cx="5670709" cy="626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30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533400"/>
            <a:ext cx="8992571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70" y="4267200"/>
            <a:ext cx="7678882" cy="17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1002970" y="3048000"/>
            <a:ext cx="189263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4378" y="3449183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Nucleus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01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95350"/>
            <a:ext cx="8001000" cy="5457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47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38200"/>
            <a:ext cx="6324600" cy="582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46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64911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36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0"/>
            <a:ext cx="8283019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472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143000"/>
            <a:ext cx="8249119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74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8534400" cy="650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lectronic Orbitals - Chemistry LibreTex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5" y="381000"/>
            <a:ext cx="8985269" cy="527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otes On Atomic Orbitals: Shapes And Energies - Madhya Pradesh board Class  11 Chemist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304800"/>
            <a:ext cx="8169259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648200"/>
            <a:ext cx="7678882" cy="17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69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xplanation origin of Colour Theory of Transition metal ions splitting of 3d  level complexes electron configurations, variation of complex ion colour  GCE AS A2 IB A level inorganic chemistry revision no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7587406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Modern Atomic Theory – Be Prepared! Everything you should know for 1st year  Chemist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01" y="2531608"/>
            <a:ext cx="8757757" cy="234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: Radial distribution functions for nd-orbitals, where a0 is the Bohr... |  Download Scientific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4053418"/>
            <a:ext cx="3378247" cy="280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50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7"/>
            <a:ext cx="7696200" cy="67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247839" y="2667000"/>
            <a:ext cx="1333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Nodal intersection</a:t>
            </a:r>
            <a:endParaRPr lang="en-US" sz="12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580961" y="762000"/>
            <a:ext cx="1695639" cy="1905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676400" y="762000"/>
            <a:ext cx="3581400" cy="20434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8111" y="5244750"/>
            <a:ext cx="2085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Or Radial Distribution function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3957</TotalTime>
  <Words>838</Words>
  <Application>Microsoft Office PowerPoint</Application>
  <PresentationFormat>On-screen Show (4:3)</PresentationFormat>
  <Paragraphs>79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quantum mechanical approach of atomic structure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pc</dc:creator>
  <cp:lastModifiedBy>ssss</cp:lastModifiedBy>
  <cp:revision>69</cp:revision>
  <dcterms:created xsi:type="dcterms:W3CDTF">2020-11-29T07:38:12Z</dcterms:created>
  <dcterms:modified xsi:type="dcterms:W3CDTF">2023-03-13T15:48:10Z</dcterms:modified>
</cp:coreProperties>
</file>