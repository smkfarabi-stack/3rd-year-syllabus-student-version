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57" r:id="rId5"/>
    <p:sldId id="259" r:id="rId6"/>
    <p:sldId id="260" r:id="rId7"/>
    <p:sldId id="286" r:id="rId8"/>
    <p:sldId id="289" r:id="rId9"/>
    <p:sldId id="287" r:id="rId10"/>
    <p:sldId id="288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3" r:id="rId27"/>
    <p:sldId id="277" r:id="rId28"/>
    <p:sldId id="278" r:id="rId29"/>
    <p:sldId id="279" r:id="rId30"/>
    <p:sldId id="280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81" r:id="rId41"/>
    <p:sldId id="28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05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2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0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86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6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1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3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59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9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2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7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53E45-63DC-4412-A7D8-16ADD54C5743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8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326644" y="609600"/>
            <a:ext cx="5440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i="1">
                <a:solidFill>
                  <a:schemeClr val="accent2"/>
                </a:solidFill>
              </a:rPr>
              <a:t>Crystal field theory: an electrostatic model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698244" y="1981200"/>
            <a:ext cx="2667000" cy="2590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044" y="2263775"/>
            <a:ext cx="2079625" cy="207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650244" y="5029200"/>
            <a:ext cx="84915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/>
              <a:t>The metal ion will be positive and therefore attract the negatively charged ligands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762957" y="5699125"/>
            <a:ext cx="80406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 dirty="0">
                <a:solidFill>
                  <a:srgbClr val="F30B08"/>
                </a:solidFill>
              </a:rPr>
              <a:t>But there are electrons in the metal orbitals, which will experience repulsions</a:t>
            </a:r>
          </a:p>
          <a:p>
            <a:pPr algn="ctr"/>
            <a:r>
              <a:rPr lang="en-US" altLang="en-US" sz="2000" dirty="0">
                <a:solidFill>
                  <a:srgbClr val="F30B08"/>
                </a:solidFill>
              </a:rPr>
              <a:t>with the negatively charged ligands</a:t>
            </a:r>
          </a:p>
        </p:txBody>
      </p:sp>
    </p:spTree>
    <p:extLst>
      <p:ext uri="{BB962C8B-B14F-4D97-AF65-F5344CB8AC3E}">
        <p14:creationId xmlns:p14="http://schemas.microsoft.com/office/powerpoint/2010/main" val="292697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804" y="933450"/>
            <a:ext cx="6411913" cy="561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172804" y="228600"/>
            <a:ext cx="3722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Ligand/d orbital interactions</a:t>
            </a: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4488717" y="1524000"/>
            <a:ext cx="0" cy="1219200"/>
            <a:chOff x="2880" y="960"/>
            <a:chExt cx="0" cy="768"/>
          </a:xfrm>
        </p:grpSpPr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2880" y="960"/>
              <a:ext cx="0" cy="336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2880" y="1392"/>
              <a:ext cx="0" cy="336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12"/>
          <p:cNvGrpSpPr>
            <a:grpSpLocks/>
          </p:cNvGrpSpPr>
          <p:nvPr/>
        </p:nvGrpSpPr>
        <p:grpSpPr bwMode="auto">
          <a:xfrm>
            <a:off x="6317517" y="1905000"/>
            <a:ext cx="914400" cy="457200"/>
            <a:chOff x="4032" y="1200"/>
            <a:chExt cx="576" cy="288"/>
          </a:xfrm>
        </p:grpSpPr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V="1">
              <a:off x="4032" y="1344"/>
              <a:ext cx="240" cy="96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H="1">
              <a:off x="4320" y="1200"/>
              <a:ext cx="288" cy="144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4032" y="1200"/>
              <a:ext cx="288" cy="144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4320" y="1344"/>
              <a:ext cx="288" cy="144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31"/>
          <p:cNvGrpSpPr>
            <a:grpSpLocks/>
          </p:cNvGrpSpPr>
          <p:nvPr/>
        </p:nvGrpSpPr>
        <p:grpSpPr bwMode="auto">
          <a:xfrm>
            <a:off x="1734404" y="4724400"/>
            <a:ext cx="1066800" cy="685800"/>
            <a:chOff x="336" y="2976"/>
            <a:chExt cx="672" cy="432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H="1">
              <a:off x="336" y="31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720" y="31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672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67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3574317" y="914400"/>
            <a:ext cx="4267200" cy="2514600"/>
          </a:xfrm>
          <a:prstGeom prst="rect">
            <a:avLst/>
          </a:prstGeom>
          <a:noFill/>
          <a:ln w="12700">
            <a:solidFill>
              <a:srgbClr val="F30B0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20" name="Group 32"/>
          <p:cNvGrpSpPr>
            <a:grpSpLocks/>
          </p:cNvGrpSpPr>
          <p:nvPr/>
        </p:nvGrpSpPr>
        <p:grpSpPr bwMode="auto">
          <a:xfrm>
            <a:off x="4183917" y="4572000"/>
            <a:ext cx="685800" cy="914400"/>
            <a:chOff x="1879" y="2880"/>
            <a:chExt cx="432" cy="576"/>
          </a:xfrm>
        </p:grpSpPr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1879" y="302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2119" y="321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H="1">
              <a:off x="2119" y="2880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>
              <a:off x="1927" y="3216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5" name="Group 33"/>
          <p:cNvGrpSpPr>
            <a:grpSpLocks/>
          </p:cNvGrpSpPr>
          <p:nvPr/>
        </p:nvGrpSpPr>
        <p:grpSpPr bwMode="auto">
          <a:xfrm>
            <a:off x="6458804" y="4572000"/>
            <a:ext cx="696913" cy="914400"/>
            <a:chOff x="3312" y="2880"/>
            <a:chExt cx="439" cy="576"/>
          </a:xfrm>
        </p:grpSpPr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3312" y="2880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3511" y="3216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 flipV="1">
              <a:off x="3559" y="297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 flipV="1">
              <a:off x="3319" y="3168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" name="Rectangle 28"/>
          <p:cNvSpPr>
            <a:spLocks noChangeArrowheads="1"/>
          </p:cNvSpPr>
          <p:nvPr/>
        </p:nvSpPr>
        <p:spPr bwMode="auto">
          <a:xfrm>
            <a:off x="1516917" y="3886200"/>
            <a:ext cx="6324600" cy="2743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7930417" y="1789113"/>
            <a:ext cx="218916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rgbClr val="F30B08"/>
                </a:solidFill>
              </a:rPr>
              <a:t>Orbitals point </a:t>
            </a:r>
            <a:r>
              <a:rPr lang="en-US" altLang="en-US" sz="1600" i="1" u="sng">
                <a:solidFill>
                  <a:srgbClr val="F30B08"/>
                </a:solidFill>
              </a:rPr>
              <a:t>at</a:t>
            </a:r>
            <a:r>
              <a:rPr lang="en-US" altLang="en-US" sz="1600" i="1">
                <a:solidFill>
                  <a:srgbClr val="F30B08"/>
                </a:solidFill>
              </a:rPr>
              <a:t> ligands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rgbClr val="F30B08"/>
                </a:solidFill>
              </a:rPr>
              <a:t>(maximum repulsion)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7881204" y="4584700"/>
            <a:ext cx="2463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/>
              <a:t>Orbitals point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 u="sng"/>
              <a:t>between</a:t>
            </a:r>
            <a:r>
              <a:rPr lang="en-US" altLang="en-US" sz="1600" i="1"/>
              <a:t> ligands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/>
              <a:t>(less pronounced repulsion)</a:t>
            </a:r>
          </a:p>
        </p:txBody>
      </p:sp>
    </p:spTree>
    <p:extLst>
      <p:ext uri="{BB962C8B-B14F-4D97-AF65-F5344CB8AC3E}">
        <p14:creationId xmlns:p14="http://schemas.microsoft.com/office/powerpoint/2010/main" val="391006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player.slideplayer.com/95/16275872/slides/slide_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0"/>
            <a:ext cx="8920186" cy="669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912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61" y="1572478"/>
            <a:ext cx="8458200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329011" y="667603"/>
            <a:ext cx="429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The two effects of the crystal field</a:t>
            </a:r>
          </a:p>
        </p:txBody>
      </p:sp>
    </p:spTree>
    <p:extLst>
      <p:ext uri="{BB962C8B-B14F-4D97-AF65-F5344CB8AC3E}">
        <p14:creationId xmlns:p14="http://schemas.microsoft.com/office/powerpoint/2010/main" val="35028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player.slideplayer.com/95/16275872/slides/slide_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95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/>
          <p:cNvSpPr>
            <a:spLocks noChangeShapeType="1"/>
          </p:cNvSpPr>
          <p:nvPr/>
        </p:nvSpPr>
        <p:spPr bwMode="auto">
          <a:xfrm>
            <a:off x="9811061" y="1697038"/>
            <a:ext cx="0" cy="2362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9887261" y="2916238"/>
            <a:ext cx="5794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Symbol" panose="05050102010706020507" pitchFamily="18" charset="2"/>
              </a:rPr>
              <a:t>D</a:t>
            </a:r>
            <a:r>
              <a:rPr lang="en-US" altLang="en-US" sz="2800"/>
              <a:t>o</a:t>
            </a: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7448861" y="1773238"/>
            <a:ext cx="0" cy="1295400"/>
          </a:xfrm>
          <a:prstGeom prst="line">
            <a:avLst/>
          </a:prstGeom>
          <a:noFill/>
          <a:ln w="38100">
            <a:solidFill>
              <a:srgbClr val="F30B08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7448861" y="3144838"/>
            <a:ext cx="0" cy="914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7525061" y="2306638"/>
            <a:ext cx="987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30B08"/>
                </a:solidFill>
              </a:rPr>
              <a:t>3/5 </a:t>
            </a:r>
            <a:r>
              <a:rPr lang="en-US" altLang="en-US" sz="2400">
                <a:solidFill>
                  <a:srgbClr val="F30B08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rgbClr val="F30B08"/>
                </a:solidFill>
              </a:rPr>
              <a:t>o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7525061" y="3373438"/>
            <a:ext cx="987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2/5 </a:t>
            </a:r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chemeClr val="accent2"/>
                </a:solidFill>
              </a:rPr>
              <a:t>o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4177023" y="4724400"/>
            <a:ext cx="4454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Symbol" panose="05050102010706020507" pitchFamily="18" charset="2"/>
              </a:rPr>
              <a:t>D</a:t>
            </a:r>
            <a:r>
              <a:rPr lang="en-US" altLang="en-US" sz="2800"/>
              <a:t>o is the crystal field splitting</a:t>
            </a:r>
            <a:endParaRPr lang="en-US" altLang="en-US" sz="2400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8926823" y="3824288"/>
            <a:ext cx="523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>
                <a:solidFill>
                  <a:schemeClr val="accent2"/>
                </a:solidFill>
              </a:rPr>
              <a:t>t</a:t>
            </a:r>
            <a:r>
              <a:rPr lang="en-US" altLang="en-US" sz="2800" i="1" baseline="-25000">
                <a:solidFill>
                  <a:schemeClr val="accent2"/>
                </a:solidFill>
              </a:rPr>
              <a:t>2g</a:t>
            </a:r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8790298" y="1447800"/>
            <a:ext cx="523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>
                <a:solidFill>
                  <a:srgbClr val="F30B08"/>
                </a:solidFill>
              </a:rPr>
              <a:t>e</a:t>
            </a:r>
            <a:r>
              <a:rPr lang="en-US" altLang="en-US" sz="2800" i="1" baseline="-25000">
                <a:solidFill>
                  <a:srgbClr val="F30B08"/>
                </a:solidFill>
              </a:rPr>
              <a:t>g</a:t>
            </a:r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4675498" y="5548313"/>
            <a:ext cx="3711575" cy="101441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E(</a:t>
            </a:r>
            <a:r>
              <a:rPr lang="en-US" altLang="en-US" sz="2400" i="1">
                <a:solidFill>
                  <a:schemeClr val="accent2"/>
                </a:solidFill>
              </a:rPr>
              <a:t>t</a:t>
            </a:r>
            <a:r>
              <a:rPr lang="en-US" altLang="en-US" sz="2400" i="1" baseline="-25000">
                <a:solidFill>
                  <a:schemeClr val="accent2"/>
                </a:solidFill>
              </a:rPr>
              <a:t>2g</a:t>
            </a:r>
            <a:r>
              <a:rPr lang="en-US" altLang="en-US" sz="2400">
                <a:solidFill>
                  <a:schemeClr val="accent2"/>
                </a:solidFill>
              </a:rPr>
              <a:t>) = -0.4</a:t>
            </a:r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chemeClr val="accent2"/>
                </a:solidFill>
              </a:rPr>
              <a:t>o x 3 = -1.2</a:t>
            </a:r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chemeClr val="accent2"/>
                </a:solidFill>
              </a:rPr>
              <a:t>o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E(</a:t>
            </a:r>
            <a:r>
              <a:rPr lang="en-US" altLang="en-US" sz="2400" i="1">
                <a:solidFill>
                  <a:schemeClr val="accent2"/>
                </a:solidFill>
              </a:rPr>
              <a:t>e</a:t>
            </a:r>
            <a:r>
              <a:rPr lang="en-US" altLang="en-US" sz="2400" i="1" baseline="-25000">
                <a:solidFill>
                  <a:schemeClr val="accent2"/>
                </a:solidFill>
              </a:rPr>
              <a:t>g</a:t>
            </a:r>
            <a:r>
              <a:rPr lang="en-US" altLang="en-US" sz="2400">
                <a:solidFill>
                  <a:schemeClr val="accent2"/>
                </a:solidFill>
              </a:rPr>
              <a:t>) = +0.6</a:t>
            </a:r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chemeClr val="accent2"/>
                </a:solidFill>
              </a:rPr>
              <a:t>o x 2 = +1.2</a:t>
            </a:r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chemeClr val="accent2"/>
                </a:solidFill>
              </a:rPr>
              <a:t>o</a:t>
            </a: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3151498" y="457200"/>
            <a:ext cx="662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i="1">
                <a:solidFill>
                  <a:schemeClr val="accent2"/>
                </a:solidFill>
              </a:rPr>
              <a:t>Splitting of d orbitals in an octahedral field</a:t>
            </a:r>
          </a:p>
        </p:txBody>
      </p:sp>
      <p:graphicFrame>
        <p:nvGraphicFramePr>
          <p:cNvPr id="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082559"/>
              </p:ext>
            </p:extLst>
          </p:nvPr>
        </p:nvGraphicFramePr>
        <p:xfrm>
          <a:off x="2541898" y="1676400"/>
          <a:ext cx="472440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Image" r:id="rId3" imgW="8101587" imgH="3428571" progId="Photoshop.Image.9">
                  <p:embed/>
                </p:oleObj>
              </mc:Choice>
              <mc:Fallback>
                <p:oleObj name="Image" r:id="rId3" imgW="8101587" imgH="3428571" progId="Photoshop.Image.9">
                  <p:embed/>
                  <p:pic>
                    <p:nvPicPr>
                      <p:cNvPr id="1434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898" y="1676400"/>
                        <a:ext cx="472440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161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408" y="1600200"/>
            <a:ext cx="6378575" cy="270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200646" y="396875"/>
            <a:ext cx="38369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The magnitude of the splitting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(ligand effect)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02208" y="2667000"/>
            <a:ext cx="1044575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Strong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field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8444033" y="2514600"/>
            <a:ext cx="1044575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Weak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field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944808" y="5124450"/>
            <a:ext cx="8359775" cy="819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dirty="0"/>
              <a:t>The </a:t>
            </a:r>
            <a:r>
              <a:rPr lang="en-US" altLang="en-US" sz="2000" dirty="0" err="1"/>
              <a:t>spectrochemical</a:t>
            </a:r>
            <a:r>
              <a:rPr lang="en-US" altLang="en-US" sz="2000" dirty="0"/>
              <a:t> series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CO, CN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</a:t>
            </a:r>
            <a:r>
              <a:rPr lang="en-US" altLang="en-US" sz="1800" dirty="0" err="1"/>
              <a:t>phen</a:t>
            </a:r>
            <a:r>
              <a:rPr lang="en-US" altLang="en-US" sz="1800" dirty="0"/>
              <a:t> &gt; NO</a:t>
            </a:r>
            <a:r>
              <a:rPr lang="en-US" altLang="en-US" sz="1800" baseline="-25000" dirty="0"/>
              <a:t>2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</a:t>
            </a:r>
            <a:r>
              <a:rPr lang="en-US" altLang="en-US" sz="1800" dirty="0" err="1"/>
              <a:t>en</a:t>
            </a:r>
            <a:r>
              <a:rPr lang="en-US" altLang="en-US" sz="1800" dirty="0"/>
              <a:t> &gt; NH</a:t>
            </a:r>
            <a:r>
              <a:rPr lang="en-US" altLang="en-US" sz="1800" baseline="-25000" dirty="0"/>
              <a:t>3</a:t>
            </a:r>
            <a:r>
              <a:rPr lang="en-US" altLang="en-US" sz="1800" dirty="0"/>
              <a:t> &gt; NCS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H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O &gt; F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RCO</a:t>
            </a:r>
            <a:r>
              <a:rPr lang="en-US" altLang="en-US" sz="1800" baseline="-25000" dirty="0"/>
              <a:t>2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OH</a:t>
            </a:r>
            <a:r>
              <a:rPr lang="en-US" altLang="en-US" sz="1800" baseline="-25000" dirty="0"/>
              <a:t>-</a:t>
            </a:r>
            <a:r>
              <a:rPr lang="en-US" altLang="en-US" sz="1800" dirty="0"/>
              <a:t> &gt; Cl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Br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I</a:t>
            </a:r>
            <a:r>
              <a:rPr lang="en-US" altLang="en-US" sz="1800" baseline="30000" dirty="0"/>
              <a:t>-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48481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28" y="1295755"/>
            <a:ext cx="7480073" cy="4313475"/>
          </a:xfrm>
          <a:prstGeom prst="rect">
            <a:avLst/>
          </a:prstGeom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835626" y="5834134"/>
            <a:ext cx="8359775" cy="819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dirty="0"/>
              <a:t>The </a:t>
            </a:r>
            <a:r>
              <a:rPr lang="en-US" altLang="en-US" sz="2000" dirty="0" err="1"/>
              <a:t>spectrochemical</a:t>
            </a:r>
            <a:r>
              <a:rPr lang="en-US" altLang="en-US" sz="2000" dirty="0"/>
              <a:t> series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CO, CN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</a:t>
            </a:r>
            <a:r>
              <a:rPr lang="en-US" altLang="en-US" sz="1800" dirty="0" err="1"/>
              <a:t>phen</a:t>
            </a:r>
            <a:r>
              <a:rPr lang="en-US" altLang="en-US" sz="1800" dirty="0"/>
              <a:t> &gt; NO</a:t>
            </a:r>
            <a:r>
              <a:rPr lang="en-US" altLang="en-US" sz="1800" baseline="-25000" dirty="0"/>
              <a:t>2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</a:t>
            </a:r>
            <a:r>
              <a:rPr lang="en-US" altLang="en-US" sz="1800" dirty="0" err="1"/>
              <a:t>en</a:t>
            </a:r>
            <a:r>
              <a:rPr lang="en-US" altLang="en-US" sz="1800" dirty="0"/>
              <a:t> &gt; NH</a:t>
            </a:r>
            <a:r>
              <a:rPr lang="en-US" altLang="en-US" sz="1800" baseline="-25000" dirty="0"/>
              <a:t>3</a:t>
            </a:r>
            <a:r>
              <a:rPr lang="en-US" altLang="en-US" sz="1800" dirty="0"/>
              <a:t> &gt; NCS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H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O &gt; F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RCO</a:t>
            </a:r>
            <a:r>
              <a:rPr lang="en-US" altLang="en-US" sz="1800" baseline="-25000" dirty="0"/>
              <a:t>2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OH</a:t>
            </a:r>
            <a:r>
              <a:rPr lang="en-US" altLang="en-US" sz="1800" baseline="-25000" dirty="0"/>
              <a:t>-</a:t>
            </a:r>
            <a:r>
              <a:rPr lang="en-US" altLang="en-US" sz="1800" dirty="0"/>
              <a:t> &gt; Cl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Br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I</a:t>
            </a:r>
            <a:r>
              <a:rPr lang="en-US" altLang="en-US" sz="1800" baseline="30000" dirty="0"/>
              <a:t>-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7862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226" y="1600200"/>
            <a:ext cx="6378575" cy="270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089876" y="396875"/>
            <a:ext cx="3841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The magnitude of the splitting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(metal ion effect)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893026" y="2667000"/>
            <a:ext cx="1044575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Strong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field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8334851" y="2514600"/>
            <a:ext cx="1044575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Weak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field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35626" y="5124450"/>
            <a:ext cx="8359775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 typeface="Symbol" panose="05050102010706020507" pitchFamily="18" charset="2"/>
              <a:buChar char="D"/>
            </a:pPr>
            <a:r>
              <a:rPr lang="en-US" altLang="en-US" sz="2000" dirty="0"/>
              <a:t> increases with increasing formal charge on the metal ion</a:t>
            </a:r>
          </a:p>
          <a:p>
            <a:pPr algn="ctr">
              <a:spcBef>
                <a:spcPct val="50000"/>
              </a:spcBef>
              <a:buFont typeface="Symbol" panose="05050102010706020507" pitchFamily="18" charset="2"/>
              <a:buChar char="D"/>
            </a:pPr>
            <a:r>
              <a:rPr lang="en-US" altLang="en-US" sz="2000" dirty="0"/>
              <a:t> increases on going down the periodic table</a:t>
            </a:r>
          </a:p>
        </p:txBody>
      </p:sp>
    </p:spTree>
    <p:extLst>
      <p:ext uri="{BB962C8B-B14F-4D97-AF65-F5344CB8AC3E}">
        <p14:creationId xmlns:p14="http://schemas.microsoft.com/office/powerpoint/2010/main" val="149151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564" y="259647"/>
            <a:ext cx="4048125" cy="428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53" y="119108"/>
            <a:ext cx="4429125" cy="371475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6814454" y="1049068"/>
            <a:ext cx="4915953" cy="1908558"/>
            <a:chOff x="286119" y="729013"/>
            <a:chExt cx="4915953" cy="1908558"/>
          </a:xfrm>
        </p:grpSpPr>
        <p:grpSp>
          <p:nvGrpSpPr>
            <p:cNvPr id="66" name="Group 65"/>
            <p:cNvGrpSpPr/>
            <p:nvPr/>
          </p:nvGrpSpPr>
          <p:grpSpPr>
            <a:xfrm>
              <a:off x="2464059" y="1067934"/>
              <a:ext cx="738145" cy="211320"/>
              <a:chOff x="7983940" y="859809"/>
              <a:chExt cx="791570" cy="409433"/>
            </a:xfrm>
          </p:grpSpPr>
          <p:sp>
            <p:nvSpPr>
              <p:cNvPr id="92" name="Rectangle 91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Connector 92"/>
              <p:cNvCxnSpPr>
                <a:stCxn id="92" idx="0"/>
                <a:endCxn id="92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>
                <a:stCxn id="92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/>
            <p:cNvGrpSpPr/>
            <p:nvPr/>
          </p:nvGrpSpPr>
          <p:grpSpPr>
            <a:xfrm>
              <a:off x="2217476" y="2198567"/>
              <a:ext cx="1221758" cy="218364"/>
              <a:chOff x="7983940" y="1787857"/>
              <a:chExt cx="1310185" cy="42308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9" name="Straight Connector 88"/>
              <p:cNvCxnSpPr/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>
                <a:stCxn id="88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Straight Arrow Connector 67"/>
            <p:cNvCxnSpPr/>
            <p:nvPr/>
          </p:nvCxnSpPr>
          <p:spPr>
            <a:xfrm flipV="1">
              <a:off x="686229" y="838058"/>
              <a:ext cx="0" cy="1768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 rot="16200000">
              <a:off x="38936" y="1524826"/>
              <a:ext cx="8944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Energy</a:t>
              </a:r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1019673" y="1329516"/>
              <a:ext cx="738145" cy="211320"/>
              <a:chOff x="7983940" y="859809"/>
              <a:chExt cx="791570" cy="409433"/>
            </a:xfrm>
          </p:grpSpPr>
          <p:sp>
            <p:nvSpPr>
              <p:cNvPr id="85" name="Rectangle 84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6" name="Straight Connector 85"/>
              <p:cNvCxnSpPr>
                <a:stCxn id="85" idx="0"/>
                <a:endCxn id="85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>
                <a:stCxn id="85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/>
            <p:cNvGrpSpPr/>
            <p:nvPr/>
          </p:nvGrpSpPr>
          <p:grpSpPr>
            <a:xfrm>
              <a:off x="773090" y="1955181"/>
              <a:ext cx="1221758" cy="218364"/>
              <a:chOff x="7983940" y="1787857"/>
              <a:chExt cx="1310185" cy="423080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/>
              <p:cNvCxnSpPr/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>
                <a:stCxn id="81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/>
            <p:cNvGrpSpPr/>
            <p:nvPr/>
          </p:nvGrpSpPr>
          <p:grpSpPr>
            <a:xfrm>
              <a:off x="4226897" y="729013"/>
              <a:ext cx="738145" cy="211320"/>
              <a:chOff x="7983940" y="859809"/>
              <a:chExt cx="791570" cy="409433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/>
              <p:cNvCxnSpPr>
                <a:stCxn id="78" idx="0"/>
                <a:endCxn id="78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>
                <a:stCxn id="78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oup 72"/>
            <p:cNvGrpSpPr/>
            <p:nvPr/>
          </p:nvGrpSpPr>
          <p:grpSpPr>
            <a:xfrm>
              <a:off x="3980314" y="2419207"/>
              <a:ext cx="1221758" cy="218364"/>
              <a:chOff x="7983940" y="1787857"/>
              <a:chExt cx="1310185" cy="423080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/>
              <p:cNvCxnSpPr/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>
                <a:stCxn id="74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7" name="Group 136"/>
          <p:cNvGrpSpPr/>
          <p:nvPr/>
        </p:nvGrpSpPr>
        <p:grpSpPr>
          <a:xfrm>
            <a:off x="3965458" y="3489902"/>
            <a:ext cx="3618060" cy="3066233"/>
            <a:chOff x="114085" y="3143362"/>
            <a:chExt cx="3618060" cy="3066233"/>
          </a:xfrm>
        </p:grpSpPr>
        <p:sp>
          <p:nvSpPr>
            <p:cNvPr id="8" name="TextBox 7"/>
            <p:cNvSpPr txBox="1"/>
            <p:nvPr/>
          </p:nvSpPr>
          <p:spPr>
            <a:xfrm>
              <a:off x="114085" y="3143362"/>
              <a:ext cx="1144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Geometry</a:t>
              </a:r>
              <a:endParaRPr lang="en-US" b="1" dirty="0"/>
            </a:p>
          </p:txBody>
        </p:sp>
        <p:cxnSp>
          <p:nvCxnSpPr>
            <p:cNvPr id="98" name="Straight Arrow Connector 97"/>
            <p:cNvCxnSpPr/>
            <p:nvPr/>
          </p:nvCxnSpPr>
          <p:spPr>
            <a:xfrm flipV="1">
              <a:off x="568747" y="3615751"/>
              <a:ext cx="0" cy="1768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 rot="16200000">
              <a:off x="-78546" y="4302519"/>
              <a:ext cx="8944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Energy</a:t>
              </a:r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2730728" y="4854313"/>
              <a:ext cx="738145" cy="211320"/>
              <a:chOff x="7983940" y="859809"/>
              <a:chExt cx="791570" cy="409433"/>
            </a:xfrm>
          </p:grpSpPr>
          <p:sp>
            <p:nvSpPr>
              <p:cNvPr id="115" name="Rectangle 114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Straight Connector 115"/>
              <p:cNvCxnSpPr>
                <a:stCxn id="115" idx="0"/>
                <a:endCxn id="115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>
                <a:stCxn id="115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Group 100"/>
            <p:cNvGrpSpPr/>
            <p:nvPr/>
          </p:nvGrpSpPr>
          <p:grpSpPr>
            <a:xfrm>
              <a:off x="2510387" y="4083878"/>
              <a:ext cx="1221758" cy="218364"/>
              <a:chOff x="7983940" y="1787857"/>
              <a:chExt cx="1310185" cy="423080"/>
            </a:xfrm>
          </p:grpSpPr>
          <p:sp>
            <p:nvSpPr>
              <p:cNvPr id="111" name="Rectangle 110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2" name="Straight Connector 111"/>
              <p:cNvCxnSpPr/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/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>
                <a:stCxn id="111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1102190" y="3876265"/>
              <a:ext cx="738145" cy="211320"/>
              <a:chOff x="7983940" y="859809"/>
              <a:chExt cx="791570" cy="409433"/>
            </a:xfrm>
          </p:grpSpPr>
          <p:sp>
            <p:nvSpPr>
              <p:cNvPr id="108" name="Rectangle 107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" name="Straight Connector 108"/>
              <p:cNvCxnSpPr>
                <a:stCxn id="108" idx="0"/>
                <a:endCxn id="108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stCxn id="108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Group 102"/>
            <p:cNvGrpSpPr/>
            <p:nvPr/>
          </p:nvGrpSpPr>
          <p:grpSpPr>
            <a:xfrm>
              <a:off x="930257" y="5088199"/>
              <a:ext cx="1221758" cy="218364"/>
              <a:chOff x="7983940" y="1787857"/>
              <a:chExt cx="1310185" cy="423080"/>
            </a:xfrm>
          </p:grpSpPr>
          <p:sp>
            <p:nvSpPr>
              <p:cNvPr id="104" name="Rectangle 103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Connector 104"/>
              <p:cNvCxnSpPr/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>
                <a:stCxn id="104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8" name="Straight Arrow Connector 127"/>
            <p:cNvCxnSpPr/>
            <p:nvPr/>
          </p:nvCxnSpPr>
          <p:spPr>
            <a:xfrm>
              <a:off x="1560349" y="4142177"/>
              <a:ext cx="0" cy="87238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1563006" y="4393705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US" dirty="0">
                  <a:latin typeface="Symbol" panose="05050102010706020507" pitchFamily="18" charset="2"/>
                </a:rPr>
                <a:t>D</a:t>
              </a:r>
              <a:r>
                <a:rPr lang="en-US" altLang="en-US" baseline="-25000" dirty="0"/>
                <a:t>o</a:t>
              </a:r>
            </a:p>
          </p:txBody>
        </p:sp>
        <p:cxnSp>
          <p:nvCxnSpPr>
            <p:cNvPr id="134" name="Straight Arrow Connector 133"/>
            <p:cNvCxnSpPr/>
            <p:nvPr/>
          </p:nvCxnSpPr>
          <p:spPr>
            <a:xfrm>
              <a:off x="3210352" y="4310936"/>
              <a:ext cx="0" cy="46574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/>
            <p:cNvSpPr txBox="1"/>
            <p:nvPr/>
          </p:nvSpPr>
          <p:spPr>
            <a:xfrm>
              <a:off x="3284896" y="4423273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US" dirty="0">
                  <a:latin typeface="Symbol" panose="05050102010706020507" pitchFamily="18" charset="2"/>
                </a:rPr>
                <a:t>D</a:t>
              </a:r>
              <a:r>
                <a:rPr lang="en-US" altLang="en-US" baseline="-25000" dirty="0"/>
                <a:t>t</a:t>
              </a:r>
              <a:endParaRPr lang="en-US" dirty="0"/>
            </a:p>
          </p:txBody>
        </p:sp>
        <p:sp>
          <p:nvSpPr>
            <p:cNvPr id="136" name="Text Box 8"/>
            <p:cNvSpPr txBox="1">
              <a:spLocks noChangeArrowheads="1"/>
            </p:cNvSpPr>
            <p:nvPr/>
          </p:nvSpPr>
          <p:spPr bwMode="auto">
            <a:xfrm>
              <a:off x="1548670" y="5742870"/>
              <a:ext cx="1463675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r>
                <a:rPr lang="en-US" altLang="en-US" dirty="0">
                  <a:latin typeface="Symbol" panose="05050102010706020507" pitchFamily="18" charset="2"/>
                </a:rPr>
                <a:t>D</a:t>
              </a:r>
              <a:r>
                <a:rPr lang="en-US" altLang="en-US" baseline="-25000" dirty="0"/>
                <a:t>t</a:t>
              </a:r>
              <a:r>
                <a:rPr lang="en-US" altLang="en-US" dirty="0"/>
                <a:t> = 4/9</a:t>
              </a:r>
              <a:r>
                <a:rPr lang="en-US" altLang="en-US" dirty="0">
                  <a:latin typeface="Symbol" panose="05050102010706020507" pitchFamily="18" charset="2"/>
                </a:rPr>
                <a:t>D</a:t>
              </a:r>
              <a:r>
                <a:rPr lang="en-US" altLang="en-US" baseline="-25000" dirty="0"/>
                <a:t>o</a:t>
              </a:r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7260845" y="2907945"/>
            <a:ext cx="135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[Co(NH</a:t>
            </a:r>
            <a:r>
              <a:rPr lang="en-US" baseline="-25000" dirty="0" smtClean="0"/>
              <a:t>3</a:t>
            </a:r>
            <a:r>
              <a:rPr lang="en-US" dirty="0" smtClean="0"/>
              <a:t>)</a:t>
            </a:r>
            <a:r>
              <a:rPr lang="en-US" baseline="-25000" dirty="0" smtClean="0"/>
              <a:t>6</a:t>
            </a:r>
            <a:r>
              <a:rPr lang="en-US" dirty="0" smtClean="0"/>
              <a:t>]</a:t>
            </a:r>
            <a:r>
              <a:rPr lang="en-US" baseline="30000" dirty="0" smtClean="0"/>
              <a:t>3+ </a:t>
            </a:r>
            <a:r>
              <a:rPr lang="en-US" dirty="0" smtClean="0"/>
              <a:t>275 kJ/mole</a:t>
            </a:r>
            <a:endParaRPr lang="en-US" dirty="0"/>
          </a:p>
        </p:txBody>
      </p:sp>
      <p:sp>
        <p:nvSpPr>
          <p:cNvPr id="139" name="TextBox 138"/>
          <p:cNvSpPr txBox="1"/>
          <p:nvPr/>
        </p:nvSpPr>
        <p:spPr>
          <a:xfrm>
            <a:off x="8726360" y="2907945"/>
            <a:ext cx="135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[Rh(NH</a:t>
            </a:r>
            <a:r>
              <a:rPr lang="en-US" baseline="-25000" dirty="0" smtClean="0"/>
              <a:t>3</a:t>
            </a:r>
            <a:r>
              <a:rPr lang="en-US" dirty="0" smtClean="0"/>
              <a:t>)</a:t>
            </a:r>
            <a:r>
              <a:rPr lang="en-US" baseline="-25000" dirty="0" smtClean="0"/>
              <a:t>6</a:t>
            </a:r>
            <a:r>
              <a:rPr lang="en-US" dirty="0" smtClean="0"/>
              <a:t>]</a:t>
            </a:r>
            <a:r>
              <a:rPr lang="en-US" baseline="30000" dirty="0" smtClean="0"/>
              <a:t>3+ </a:t>
            </a:r>
            <a:r>
              <a:rPr lang="en-US" dirty="0" smtClean="0"/>
              <a:t>406 kJ/mole</a:t>
            </a:r>
            <a:endParaRPr lang="en-US" dirty="0"/>
          </a:p>
        </p:txBody>
      </p:sp>
      <p:sp>
        <p:nvSpPr>
          <p:cNvPr id="140" name="TextBox 139"/>
          <p:cNvSpPr txBox="1"/>
          <p:nvPr/>
        </p:nvSpPr>
        <p:spPr>
          <a:xfrm>
            <a:off x="10508649" y="3028237"/>
            <a:ext cx="135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</a:t>
            </a:r>
            <a:r>
              <a:rPr lang="en-US" dirty="0" err="1" smtClean="0"/>
              <a:t>Ir</a:t>
            </a:r>
            <a:r>
              <a:rPr lang="en-US" dirty="0" smtClean="0"/>
              <a:t>(NH</a:t>
            </a:r>
            <a:r>
              <a:rPr lang="en-US" baseline="-25000" dirty="0" smtClean="0"/>
              <a:t>3</a:t>
            </a:r>
            <a:r>
              <a:rPr lang="en-US" dirty="0" smtClean="0"/>
              <a:t>)</a:t>
            </a:r>
            <a:r>
              <a:rPr lang="en-US" baseline="-25000" dirty="0" smtClean="0"/>
              <a:t>6</a:t>
            </a:r>
            <a:r>
              <a:rPr lang="en-US" dirty="0" smtClean="0"/>
              <a:t>]</a:t>
            </a:r>
            <a:r>
              <a:rPr lang="en-US" baseline="30000" dirty="0" smtClean="0"/>
              <a:t>3+ </a:t>
            </a:r>
            <a:r>
              <a:rPr lang="en-US" dirty="0" smtClean="0"/>
              <a:t>490 kJ/mole</a:t>
            </a:r>
            <a:endParaRPr lang="en-US" dirty="0"/>
          </a:p>
        </p:txBody>
      </p:sp>
      <p:grpSp>
        <p:nvGrpSpPr>
          <p:cNvPr id="143" name="Group 142"/>
          <p:cNvGrpSpPr/>
          <p:nvPr/>
        </p:nvGrpSpPr>
        <p:grpSpPr>
          <a:xfrm>
            <a:off x="712333" y="790829"/>
            <a:ext cx="3153115" cy="2214664"/>
            <a:chOff x="286119" y="838058"/>
            <a:chExt cx="3153115" cy="2214664"/>
          </a:xfrm>
        </p:grpSpPr>
        <p:grpSp>
          <p:nvGrpSpPr>
            <p:cNvPr id="25" name="Group 24"/>
            <p:cNvGrpSpPr/>
            <p:nvPr/>
          </p:nvGrpSpPr>
          <p:grpSpPr>
            <a:xfrm>
              <a:off x="2464059" y="1067934"/>
              <a:ext cx="738145" cy="211320"/>
              <a:chOff x="7983940" y="859809"/>
              <a:chExt cx="791570" cy="409433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/>
              <p:cNvCxnSpPr>
                <a:stCxn id="26" idx="0"/>
                <a:endCxn id="26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>
                <a:stCxn id="26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2217476" y="2198567"/>
              <a:ext cx="1221758" cy="218364"/>
              <a:chOff x="7983940" y="1787857"/>
              <a:chExt cx="1310185" cy="423080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Connector 30"/>
              <p:cNvCxnSpPr/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>
                <a:stCxn id="30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Arrow Connector 34"/>
            <p:cNvCxnSpPr/>
            <p:nvPr/>
          </p:nvCxnSpPr>
          <p:spPr>
            <a:xfrm flipV="1">
              <a:off x="686229" y="838058"/>
              <a:ext cx="0" cy="1768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 rot="16200000">
              <a:off x="38936" y="1524826"/>
              <a:ext cx="8944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Energy</a:t>
              </a:r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1019673" y="1329516"/>
              <a:ext cx="738145" cy="211320"/>
              <a:chOff x="7983940" y="859809"/>
              <a:chExt cx="791570" cy="409433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/>
              <p:cNvCxnSpPr>
                <a:stCxn id="47" idx="0"/>
                <a:endCxn id="47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47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/>
            <p:cNvGrpSpPr/>
            <p:nvPr/>
          </p:nvGrpSpPr>
          <p:grpSpPr>
            <a:xfrm>
              <a:off x="773090" y="1955181"/>
              <a:ext cx="1221758" cy="218364"/>
              <a:chOff x="7983940" y="1787857"/>
              <a:chExt cx="1310185" cy="423080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Connector 51"/>
              <p:cNvCxnSpPr/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>
                <a:stCxn id="51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/>
            <p:cNvSpPr txBox="1"/>
            <p:nvPr/>
          </p:nvSpPr>
          <p:spPr>
            <a:xfrm>
              <a:off x="1172114" y="2683390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M</a:t>
              </a:r>
              <a:r>
                <a:rPr lang="en-US" baseline="30000" dirty="0" smtClean="0"/>
                <a:t>2+</a:t>
              </a:r>
              <a:endParaRPr lang="en-US" baseline="30000" dirty="0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2564151" y="2683390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M</a:t>
              </a:r>
              <a:r>
                <a:rPr lang="en-US" baseline="30000" dirty="0" smtClean="0"/>
                <a:t>3+</a:t>
              </a:r>
              <a:endParaRPr lang="en-US" baseline="30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289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2005133" y="1066800"/>
            <a:ext cx="3597275" cy="2286000"/>
            <a:chOff x="326" y="816"/>
            <a:chExt cx="2266" cy="1440"/>
          </a:xfrm>
        </p:grpSpPr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624" y="816"/>
              <a:ext cx="1968" cy="1440"/>
              <a:chOff x="336" y="816"/>
              <a:chExt cx="1968" cy="1440"/>
            </a:xfrm>
          </p:grpSpPr>
          <p:pic>
            <p:nvPicPr>
              <p:cNvPr id="6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" y="1067"/>
                <a:ext cx="1760" cy="10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" name="Line 4"/>
              <p:cNvSpPr>
                <a:spLocks noChangeShapeType="1"/>
              </p:cNvSpPr>
              <p:nvPr/>
            </p:nvSpPr>
            <p:spPr bwMode="auto">
              <a:xfrm flipV="1">
                <a:off x="624" y="18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Line 5"/>
              <p:cNvSpPr>
                <a:spLocks noChangeShapeType="1"/>
              </p:cNvSpPr>
              <p:nvPr/>
            </p:nvSpPr>
            <p:spPr bwMode="auto">
              <a:xfrm flipV="1">
                <a:off x="1584" y="15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Rectangle 13"/>
              <p:cNvSpPr>
                <a:spLocks noChangeArrowheads="1"/>
              </p:cNvSpPr>
              <p:nvPr/>
            </p:nvSpPr>
            <p:spPr bwMode="auto">
              <a:xfrm>
                <a:off x="336" y="816"/>
                <a:ext cx="1968" cy="14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</p:grpSp>
        <p:sp>
          <p:nvSpPr>
            <p:cNvPr id="5" name="Text Box 36"/>
            <p:cNvSpPr txBox="1">
              <a:spLocks noChangeArrowheads="1"/>
            </p:cNvSpPr>
            <p:nvPr/>
          </p:nvSpPr>
          <p:spPr bwMode="auto">
            <a:xfrm>
              <a:off x="326" y="854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d</a:t>
              </a:r>
              <a:r>
                <a:rPr lang="en-US" altLang="en-US" sz="2400" i="1" baseline="30000"/>
                <a:t>1</a:t>
              </a:r>
              <a:endParaRPr lang="en-US" altLang="en-US" sz="2400" i="1"/>
            </a:p>
          </p:txBody>
        </p:sp>
      </p:grpSp>
      <p:grpSp>
        <p:nvGrpSpPr>
          <p:cNvPr id="10" name="Group 44"/>
          <p:cNvGrpSpPr>
            <a:grpSpLocks/>
          </p:cNvGrpSpPr>
          <p:nvPr/>
        </p:nvGrpSpPr>
        <p:grpSpPr bwMode="auto">
          <a:xfrm>
            <a:off x="6288208" y="1066800"/>
            <a:ext cx="3714750" cy="2286000"/>
            <a:chOff x="3024" y="816"/>
            <a:chExt cx="2340" cy="1440"/>
          </a:xfrm>
        </p:grpSpPr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6" y="960"/>
              <a:ext cx="1760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V="1">
              <a:off x="3264" y="182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4240" y="15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 flipV="1">
              <a:off x="3552" y="182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 flipV="1">
              <a:off x="4512" y="15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3024" y="816"/>
              <a:ext cx="1968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7" name="Text Box 37"/>
            <p:cNvSpPr txBox="1">
              <a:spLocks noChangeArrowheads="1"/>
            </p:cNvSpPr>
            <p:nvPr/>
          </p:nvSpPr>
          <p:spPr bwMode="auto">
            <a:xfrm>
              <a:off x="5088" y="864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d</a:t>
              </a:r>
              <a:r>
                <a:rPr lang="en-US" altLang="en-US" sz="2400" i="1" baseline="30000"/>
                <a:t>2</a:t>
              </a:r>
              <a:endParaRPr lang="en-US" altLang="en-US" sz="2400" i="1"/>
            </a:p>
          </p:txBody>
        </p:sp>
      </p:grpSp>
      <p:grpSp>
        <p:nvGrpSpPr>
          <p:cNvPr id="18" name="Group 45"/>
          <p:cNvGrpSpPr>
            <a:grpSpLocks/>
          </p:cNvGrpSpPr>
          <p:nvPr/>
        </p:nvGrpSpPr>
        <p:grpSpPr bwMode="auto">
          <a:xfrm>
            <a:off x="1944808" y="4038600"/>
            <a:ext cx="3657600" cy="2286000"/>
            <a:chOff x="288" y="2544"/>
            <a:chExt cx="2304" cy="1440"/>
          </a:xfrm>
        </p:grpSpPr>
        <p:pic>
          <p:nvPicPr>
            <p:cNvPr id="19" name="Picture 1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" y="2688"/>
              <a:ext cx="1760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V="1">
              <a:off x="864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V="1">
              <a:off x="1840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 flipV="1">
              <a:off x="1152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 flipV="1">
              <a:off x="2112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624" y="2544"/>
              <a:ext cx="1968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5" name="Line 28"/>
            <p:cNvSpPr>
              <a:spLocks noChangeShapeType="1"/>
            </p:cNvSpPr>
            <p:nvPr/>
          </p:nvSpPr>
          <p:spPr bwMode="auto">
            <a:xfrm flipV="1">
              <a:off x="1344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9"/>
            <p:cNvSpPr>
              <a:spLocks noChangeShapeType="1"/>
            </p:cNvSpPr>
            <p:nvPr/>
          </p:nvSpPr>
          <p:spPr bwMode="auto">
            <a:xfrm flipV="1">
              <a:off x="2352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Text Box 38"/>
            <p:cNvSpPr txBox="1">
              <a:spLocks noChangeArrowheads="1"/>
            </p:cNvSpPr>
            <p:nvPr/>
          </p:nvSpPr>
          <p:spPr bwMode="auto">
            <a:xfrm>
              <a:off x="288" y="2640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d</a:t>
              </a:r>
              <a:r>
                <a:rPr lang="en-US" altLang="en-US" sz="2400" i="1" baseline="30000"/>
                <a:t>3</a:t>
              </a:r>
              <a:endParaRPr lang="en-US" altLang="en-US" sz="2400" i="1"/>
            </a:p>
          </p:txBody>
        </p:sp>
      </p:grp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6262808" y="4024313"/>
            <a:ext cx="3733800" cy="2286000"/>
            <a:chOff x="3008" y="2535"/>
            <a:chExt cx="2352" cy="1440"/>
          </a:xfrm>
        </p:grpSpPr>
        <p:pic>
          <p:nvPicPr>
            <p:cNvPr id="29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2679"/>
              <a:ext cx="1760" cy="10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Line 23"/>
            <p:cNvSpPr>
              <a:spLocks noChangeShapeType="1"/>
            </p:cNvSpPr>
            <p:nvPr/>
          </p:nvSpPr>
          <p:spPr bwMode="auto">
            <a:xfrm flipV="1">
              <a:off x="3312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 flipV="1">
              <a:off x="4224" y="3255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25"/>
            <p:cNvSpPr>
              <a:spLocks noChangeShapeType="1"/>
            </p:cNvSpPr>
            <p:nvPr/>
          </p:nvSpPr>
          <p:spPr bwMode="auto">
            <a:xfrm flipV="1">
              <a:off x="3536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 flipV="1">
              <a:off x="4496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27"/>
            <p:cNvSpPr>
              <a:spLocks noChangeArrowheads="1"/>
            </p:cNvSpPr>
            <p:nvPr/>
          </p:nvSpPr>
          <p:spPr bwMode="auto">
            <a:xfrm>
              <a:off x="3008" y="2535"/>
              <a:ext cx="1968" cy="1440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 flipV="1">
              <a:off x="3776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 flipV="1">
              <a:off x="4736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V="1">
              <a:off x="4304" y="2871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>
              <a:off x="3216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5084" y="2631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d</a:t>
              </a:r>
              <a:r>
                <a:rPr lang="en-US" altLang="en-US" sz="2400" i="1" baseline="30000"/>
                <a:t>4</a:t>
              </a:r>
              <a:endParaRPr lang="en-US" altLang="en-US" sz="2400" i="1"/>
            </a:p>
          </p:txBody>
        </p:sp>
      </p:grpSp>
      <p:sp>
        <p:nvSpPr>
          <p:cNvPr id="40" name="Text Box 40"/>
          <p:cNvSpPr txBox="1">
            <a:spLocks noChangeArrowheads="1"/>
          </p:cNvSpPr>
          <p:nvPr/>
        </p:nvSpPr>
        <p:spPr bwMode="auto">
          <a:xfrm>
            <a:off x="3697408" y="152400"/>
            <a:ext cx="4503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>
                <a:solidFill>
                  <a:schemeClr val="accent2"/>
                </a:solidFill>
              </a:rPr>
              <a:t>Placing electrons in d orbitals</a:t>
            </a:r>
          </a:p>
        </p:txBody>
      </p:sp>
      <p:sp>
        <p:nvSpPr>
          <p:cNvPr id="41" name="Text Box 48"/>
          <p:cNvSpPr txBox="1">
            <a:spLocks noChangeArrowheads="1"/>
          </p:cNvSpPr>
          <p:nvPr/>
        </p:nvSpPr>
        <p:spPr bwMode="auto">
          <a:xfrm>
            <a:off x="2402008" y="609600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/>
              <a:t>Strong field      Weak field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35808" y="685800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/>
              <a:t>Strong field      Weak field</a:t>
            </a:r>
          </a:p>
        </p:txBody>
      </p:sp>
    </p:spTree>
    <p:extLst>
      <p:ext uri="{BB962C8B-B14F-4D97-AF65-F5344CB8AC3E}">
        <p14:creationId xmlns:p14="http://schemas.microsoft.com/office/powerpoint/2010/main" val="35264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808" y="1882775"/>
            <a:ext cx="3990975" cy="262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Line 6"/>
          <p:cNvSpPr>
            <a:spLocks noChangeShapeType="1"/>
          </p:cNvSpPr>
          <p:nvPr/>
        </p:nvSpPr>
        <p:spPr bwMode="auto">
          <a:xfrm flipV="1">
            <a:off x="4502271" y="4030663"/>
            <a:ext cx="0" cy="71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 flipV="1">
            <a:off x="6607296" y="3314700"/>
            <a:ext cx="0" cy="71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V="1">
            <a:off x="5046783" y="4030663"/>
            <a:ext cx="0" cy="71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V="1">
            <a:off x="7223246" y="3314700"/>
            <a:ext cx="0" cy="71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849808" y="1524000"/>
            <a:ext cx="4462463" cy="35814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 flipV="1">
            <a:off x="5591296" y="4030663"/>
            <a:ext cx="0" cy="71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 flipV="1">
            <a:off x="7767758" y="3314700"/>
            <a:ext cx="0" cy="71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V="1">
            <a:off x="6788271" y="2359025"/>
            <a:ext cx="0" cy="71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4284783" y="4030663"/>
            <a:ext cx="0" cy="71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8556746" y="1762125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/>
              <a:t>d</a:t>
            </a:r>
            <a:r>
              <a:rPr lang="en-US" altLang="en-US" sz="2400" i="1" baseline="30000"/>
              <a:t>4</a:t>
            </a:r>
            <a:endParaRPr lang="en-US" altLang="en-US" sz="2400" i="1"/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1792408" y="2819400"/>
            <a:ext cx="1887538" cy="1196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Strong field =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Low spin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(2 unpaired)</a:t>
            </a: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8574208" y="2841625"/>
            <a:ext cx="1784350" cy="1196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Weak field =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High spin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(4 unpaired)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4307008" y="52578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+mj-lt"/>
              </a:rPr>
              <a:t>p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</a:rPr>
              <a:t>&lt; </a:t>
            </a:r>
            <a:r>
              <a:rPr lang="en-US" altLang="en-US" sz="2400" dirty="0">
                <a:latin typeface="Symbol" panose="05050102010706020507" pitchFamily="18" charset="2"/>
              </a:rPr>
              <a:t>D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/>
              <a:t> </a:t>
            </a: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6669208" y="52578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/>
              <a:t>p</a:t>
            </a:r>
            <a:r>
              <a:rPr lang="en-US" altLang="en-US" sz="2400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</a:rPr>
              <a:t>&gt; </a:t>
            </a:r>
            <a:r>
              <a:rPr lang="en-US" altLang="en-US" sz="2400" dirty="0">
                <a:latin typeface="Symbol" panose="05050102010706020507" pitchFamily="18" charset="2"/>
              </a:rPr>
              <a:t>D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/>
              <a:t> </a:t>
            </a:r>
          </a:p>
        </p:txBody>
      </p:sp>
      <p:sp>
        <p:nvSpPr>
          <p:cNvPr id="18" name="Text Box 23"/>
          <p:cNvSpPr txBox="1">
            <a:spLocks noChangeArrowheads="1"/>
          </p:cNvSpPr>
          <p:nvPr/>
        </p:nvSpPr>
        <p:spPr bwMode="auto">
          <a:xfrm>
            <a:off x="1792408" y="228600"/>
            <a:ext cx="8534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/>
              <a:t>When the 4</a:t>
            </a:r>
            <a:r>
              <a:rPr lang="en-US" altLang="en-US" sz="2400" baseline="30000"/>
              <a:t>th</a:t>
            </a:r>
            <a:r>
              <a:rPr lang="en-US" altLang="en-US" sz="2400"/>
              <a:t> electron is assigned it will either go into the higher energy e</a:t>
            </a:r>
            <a:r>
              <a:rPr lang="en-US" altLang="en-US" sz="2400" baseline="-25000"/>
              <a:t>g</a:t>
            </a:r>
            <a:r>
              <a:rPr lang="en-US" altLang="en-US" sz="2400"/>
              <a:t> orbital at an energy cost of </a:t>
            </a:r>
            <a:r>
              <a:rPr lang="en-US" altLang="en-US" sz="2400">
                <a:latin typeface="Symbol" panose="05050102010706020507" pitchFamily="18" charset="2"/>
              </a:rPr>
              <a:t>D</a:t>
            </a:r>
            <a:r>
              <a:rPr lang="en-US" altLang="en-US" sz="2400" baseline="-25000"/>
              <a:t>0 </a:t>
            </a:r>
            <a:r>
              <a:rPr lang="en-US" altLang="en-US" sz="2400"/>
              <a:t> or be paired at an energy cost of </a:t>
            </a:r>
            <a:r>
              <a:rPr lang="en-US" altLang="en-US" sz="2400">
                <a:latin typeface="Symbol" panose="05050102010706020507" pitchFamily="18" charset="2"/>
              </a:rPr>
              <a:t>P</a:t>
            </a:r>
            <a:r>
              <a:rPr lang="en-US" altLang="en-US" sz="2400"/>
              <a:t>, the pairing energy.</a:t>
            </a:r>
          </a:p>
        </p:txBody>
      </p:sp>
    </p:spTree>
    <p:extLst>
      <p:ext uri="{BB962C8B-B14F-4D97-AF65-F5344CB8AC3E}">
        <p14:creationId xmlns:p14="http://schemas.microsoft.com/office/powerpoint/2010/main" val="264048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player.slideplayer.com/95/16275872/slides/slide_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02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49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player.slideplayer.com/95/16275872/slides/slide_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61" y="97809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89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s://player.slideplayer.com/95/16275872/slides/slide_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54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322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player.slideplayer.com/95/16275872/slides/slide_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294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835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player.slideplayer.com/95/16275872/slides/slide_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71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89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s://player.slideplayer.com/95/16275872/slides/slide_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50" y="97809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48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player.slideplayer.com/95/16275872/slides/slide_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622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25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s://player.slideplayer.com/95/16275872/slides/slide_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370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player.slideplayer.com/95/16275872/slides/slide_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452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590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s://player.slideplayer.com/95/16275872/slides/slide_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509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47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s://player.slideplayer.com/95/16275872/slides/slide_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14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19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https://player.slideplayer.com/95/16275872/slides/slide_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34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s://player.slideplayer.com/95/16275872/slides/slide_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97" y="0"/>
            <a:ext cx="9070312" cy="680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18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95" y="162849"/>
            <a:ext cx="8052303" cy="55009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11486" y="627797"/>
            <a:ext cx="33988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accent5"/>
                </a:solidFill>
              </a:rPr>
              <a:t>For d</a:t>
            </a:r>
            <a:r>
              <a:rPr lang="en-US" sz="2000" b="1" baseline="30000" dirty="0" smtClean="0">
                <a:solidFill>
                  <a:schemeClr val="accent5"/>
                </a:solidFill>
              </a:rPr>
              <a:t>1</a:t>
            </a:r>
            <a:r>
              <a:rPr lang="en-US" sz="2000" b="1" dirty="0" smtClean="0">
                <a:solidFill>
                  <a:schemeClr val="accent5"/>
                </a:solidFill>
              </a:rPr>
              <a:t> System     t</a:t>
            </a:r>
            <a:r>
              <a:rPr lang="en-US" sz="2000" b="1" baseline="-25000" dirty="0" smtClean="0">
                <a:solidFill>
                  <a:schemeClr val="accent5"/>
                </a:solidFill>
              </a:rPr>
              <a:t>2</a:t>
            </a:r>
            <a:r>
              <a:rPr lang="en-US" sz="2000" b="1" dirty="0" smtClean="0">
                <a:solidFill>
                  <a:schemeClr val="accent5"/>
                </a:solidFill>
              </a:rPr>
              <a:t>g</a:t>
            </a:r>
            <a:r>
              <a:rPr lang="en-US" sz="2000" b="1" baseline="30000" dirty="0" smtClean="0">
                <a:solidFill>
                  <a:schemeClr val="accent5"/>
                </a:solidFill>
              </a:rPr>
              <a:t>1</a:t>
            </a:r>
          </a:p>
          <a:p>
            <a:r>
              <a:rPr lang="en-US" sz="2000" b="1" dirty="0" smtClean="0">
                <a:solidFill>
                  <a:schemeClr val="accent5"/>
                </a:solidFill>
              </a:rPr>
              <a:t>CFSE = 1x(-0.4) ∆o = -0.4</a:t>
            </a:r>
            <a:r>
              <a:rPr lang="en-US" sz="2000" b="1" dirty="0">
                <a:solidFill>
                  <a:schemeClr val="accent5"/>
                </a:solidFill>
              </a:rPr>
              <a:t> ∆o</a:t>
            </a:r>
          </a:p>
        </p:txBody>
      </p:sp>
      <p:sp>
        <p:nvSpPr>
          <p:cNvPr id="6" name="Rectangle 5"/>
          <p:cNvSpPr/>
          <p:nvPr/>
        </p:nvSpPr>
        <p:spPr>
          <a:xfrm>
            <a:off x="8334232" y="1708603"/>
            <a:ext cx="33797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d</a:t>
            </a:r>
            <a:r>
              <a:rPr lang="en-US" sz="2000" b="1" baseline="30000" dirty="0" smtClean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 System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smtClean="0">
                <a:solidFill>
                  <a:schemeClr val="accent5"/>
                </a:solidFill>
              </a:rPr>
              <a:t>    t</a:t>
            </a:r>
            <a:r>
              <a:rPr lang="en-US" sz="2000" b="1" baseline="-25000" dirty="0" smtClean="0">
                <a:solidFill>
                  <a:schemeClr val="accent5"/>
                </a:solidFill>
              </a:rPr>
              <a:t>2</a:t>
            </a:r>
            <a:r>
              <a:rPr lang="en-US" sz="2000" b="1" dirty="0" smtClean="0">
                <a:solidFill>
                  <a:schemeClr val="accent5"/>
                </a:solidFill>
              </a:rPr>
              <a:t>g</a:t>
            </a:r>
            <a:r>
              <a:rPr lang="en-US" sz="2000" b="1" baseline="30000" dirty="0" smtClean="0">
                <a:solidFill>
                  <a:schemeClr val="accent5"/>
                </a:solidFill>
              </a:rPr>
              <a:t>2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CFSE = </a:t>
            </a: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2x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(-0.4) ∆o = -</a:t>
            </a: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0.8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∆o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2511" y="2604743"/>
            <a:ext cx="32475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For </a:t>
            </a:r>
            <a:r>
              <a:rPr lang="en-US" sz="2000" b="1" dirty="0" smtClean="0">
                <a:solidFill>
                  <a:srgbClr val="FF0000"/>
                </a:solidFill>
              </a:rPr>
              <a:t>d</a:t>
            </a:r>
            <a:r>
              <a:rPr lang="en-US" sz="2000" b="1" baseline="30000" dirty="0" smtClean="0">
                <a:solidFill>
                  <a:srgbClr val="FF0000"/>
                </a:solidFill>
              </a:rPr>
              <a:t>3</a:t>
            </a:r>
            <a:r>
              <a:rPr lang="en-US" sz="2000" b="1" dirty="0" smtClean="0">
                <a:solidFill>
                  <a:srgbClr val="FF0000"/>
                </a:solidFill>
              </a:rPr>
              <a:t> System   </a:t>
            </a:r>
            <a:r>
              <a:rPr lang="en-US" sz="2000" b="1" dirty="0" smtClean="0">
                <a:solidFill>
                  <a:schemeClr val="accent5"/>
                </a:solidFill>
              </a:rPr>
              <a:t>t</a:t>
            </a:r>
            <a:r>
              <a:rPr lang="en-US" sz="2000" b="1" baseline="-25000" dirty="0" smtClean="0">
                <a:solidFill>
                  <a:schemeClr val="accent5"/>
                </a:solidFill>
              </a:rPr>
              <a:t>2</a:t>
            </a:r>
            <a:r>
              <a:rPr lang="en-US" sz="2000" b="1" dirty="0" smtClean="0">
                <a:solidFill>
                  <a:schemeClr val="accent5"/>
                </a:solidFill>
              </a:rPr>
              <a:t>g</a:t>
            </a:r>
            <a:r>
              <a:rPr lang="en-US" sz="2000" b="1" baseline="30000" dirty="0" smtClean="0">
                <a:solidFill>
                  <a:schemeClr val="accent5"/>
                </a:solidFill>
              </a:rPr>
              <a:t>3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CFSE = </a:t>
            </a:r>
            <a:r>
              <a:rPr lang="en-US" sz="2000" b="1" dirty="0" smtClean="0">
                <a:solidFill>
                  <a:srgbClr val="FF0000"/>
                </a:solidFill>
              </a:rPr>
              <a:t>3x</a:t>
            </a:r>
            <a:r>
              <a:rPr lang="en-US" sz="2000" b="1" dirty="0">
                <a:solidFill>
                  <a:srgbClr val="FF0000"/>
                </a:solidFill>
              </a:rPr>
              <a:t>(-0.4) ∆o = </a:t>
            </a:r>
            <a:r>
              <a:rPr lang="en-US" sz="2000" b="1" dirty="0" smtClean="0">
                <a:solidFill>
                  <a:srgbClr val="FF0000"/>
                </a:solidFill>
              </a:rPr>
              <a:t>-1.2 </a:t>
            </a:r>
            <a:r>
              <a:rPr lang="en-US" sz="2000" b="1" dirty="0">
                <a:solidFill>
                  <a:srgbClr val="FF0000"/>
                </a:solidFill>
              </a:rPr>
              <a:t>∆o</a:t>
            </a:r>
          </a:p>
        </p:txBody>
      </p:sp>
      <p:sp>
        <p:nvSpPr>
          <p:cNvPr id="8" name="Rectangle 7"/>
          <p:cNvSpPr/>
          <p:nvPr/>
        </p:nvSpPr>
        <p:spPr>
          <a:xfrm>
            <a:off x="8334232" y="3679041"/>
            <a:ext cx="360075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For </a:t>
            </a:r>
            <a:r>
              <a:rPr lang="en-US" sz="2000" b="1" dirty="0" smtClean="0">
                <a:solidFill>
                  <a:srgbClr val="00B0F0"/>
                </a:solidFill>
              </a:rPr>
              <a:t>d</a:t>
            </a:r>
            <a:r>
              <a:rPr lang="en-US" sz="2000" b="1" baseline="30000" dirty="0" smtClean="0">
                <a:solidFill>
                  <a:srgbClr val="00B0F0"/>
                </a:solidFill>
              </a:rPr>
              <a:t>4</a:t>
            </a:r>
            <a:r>
              <a:rPr lang="en-US" sz="2000" b="1" dirty="0" smtClean="0">
                <a:solidFill>
                  <a:srgbClr val="00B0F0"/>
                </a:solidFill>
              </a:rPr>
              <a:t> System (High spin) </a:t>
            </a:r>
            <a:r>
              <a:rPr lang="en-US" sz="2000" b="1" dirty="0" smtClean="0">
                <a:solidFill>
                  <a:schemeClr val="accent5"/>
                </a:solidFill>
              </a:rPr>
              <a:t>t</a:t>
            </a:r>
            <a:r>
              <a:rPr lang="en-US" sz="2000" b="1" baseline="-25000" dirty="0" smtClean="0">
                <a:solidFill>
                  <a:schemeClr val="accent5"/>
                </a:solidFill>
              </a:rPr>
              <a:t>2</a:t>
            </a:r>
            <a:r>
              <a:rPr lang="en-US" sz="2000" b="1" dirty="0" smtClean="0">
                <a:solidFill>
                  <a:schemeClr val="accent5"/>
                </a:solidFill>
              </a:rPr>
              <a:t>g</a:t>
            </a:r>
            <a:r>
              <a:rPr lang="en-US" sz="2000" b="1" baseline="30000" dirty="0" smtClean="0">
                <a:solidFill>
                  <a:schemeClr val="accent5"/>
                </a:solidFill>
              </a:rPr>
              <a:t>3</a:t>
            </a:r>
            <a:r>
              <a:rPr lang="en-US" sz="2000" b="1" dirty="0" smtClean="0">
                <a:solidFill>
                  <a:schemeClr val="accent5"/>
                </a:solidFill>
              </a:rPr>
              <a:t>e</a:t>
            </a:r>
            <a:r>
              <a:rPr lang="en-US" sz="2000" b="1" baseline="-25000" dirty="0" smtClean="0">
                <a:solidFill>
                  <a:schemeClr val="accent5"/>
                </a:solidFill>
              </a:rPr>
              <a:t>g</a:t>
            </a:r>
            <a:r>
              <a:rPr lang="en-US" sz="2000" b="1" baseline="30000" dirty="0" smtClean="0">
                <a:solidFill>
                  <a:schemeClr val="accent5"/>
                </a:solidFill>
              </a:rPr>
              <a:t>1</a:t>
            </a:r>
            <a:endParaRPr lang="en-US" sz="2000" b="1" dirty="0">
              <a:solidFill>
                <a:srgbClr val="00B0F0"/>
              </a:solidFill>
            </a:endParaRPr>
          </a:p>
          <a:p>
            <a:r>
              <a:rPr lang="en-US" sz="2000" b="1" dirty="0">
                <a:solidFill>
                  <a:srgbClr val="00B0F0"/>
                </a:solidFill>
              </a:rPr>
              <a:t>CFSE = </a:t>
            </a:r>
            <a:r>
              <a:rPr lang="en-US" sz="2000" b="1" dirty="0" smtClean="0">
                <a:solidFill>
                  <a:srgbClr val="00B0F0"/>
                </a:solidFill>
              </a:rPr>
              <a:t>3x</a:t>
            </a:r>
            <a:r>
              <a:rPr lang="en-US" sz="2000" b="1" dirty="0">
                <a:solidFill>
                  <a:srgbClr val="00B0F0"/>
                </a:solidFill>
              </a:rPr>
              <a:t>(-0.4) </a:t>
            </a:r>
            <a:r>
              <a:rPr lang="en-US" sz="2000" b="1" dirty="0" smtClean="0">
                <a:solidFill>
                  <a:srgbClr val="00B0F0"/>
                </a:solidFill>
              </a:rPr>
              <a:t>+ 1x(0.6)∆</a:t>
            </a:r>
            <a:r>
              <a:rPr lang="en-US" sz="2000" b="1" dirty="0">
                <a:solidFill>
                  <a:srgbClr val="00B0F0"/>
                </a:solidFill>
              </a:rPr>
              <a:t>o </a:t>
            </a:r>
            <a:r>
              <a:rPr lang="en-US" sz="2000" b="1" dirty="0" smtClean="0">
                <a:solidFill>
                  <a:srgbClr val="00B0F0"/>
                </a:solidFill>
              </a:rPr>
              <a:t/>
            </a:r>
            <a:br>
              <a:rPr lang="en-US" sz="2000" b="1" dirty="0" smtClean="0">
                <a:solidFill>
                  <a:srgbClr val="00B0F0"/>
                </a:solidFill>
              </a:rPr>
            </a:br>
            <a:r>
              <a:rPr lang="en-US" sz="2000" b="1" dirty="0" smtClean="0">
                <a:solidFill>
                  <a:srgbClr val="00B0F0"/>
                </a:solidFill>
              </a:rPr>
              <a:t>          = (-1.2+0.6) </a:t>
            </a:r>
            <a:r>
              <a:rPr lang="en-US" sz="2000" b="1" dirty="0">
                <a:solidFill>
                  <a:srgbClr val="00B0F0"/>
                </a:solidFill>
              </a:rPr>
              <a:t>∆</a:t>
            </a:r>
            <a:r>
              <a:rPr lang="en-US" sz="2000" b="1" dirty="0" smtClean="0">
                <a:solidFill>
                  <a:srgbClr val="00B0F0"/>
                </a:solidFill>
              </a:rPr>
              <a:t>o = - 0.6</a:t>
            </a:r>
            <a:r>
              <a:rPr lang="en-US" sz="2000" b="1" dirty="0">
                <a:solidFill>
                  <a:srgbClr val="00B0F0"/>
                </a:solidFill>
              </a:rPr>
              <a:t> ∆</a:t>
            </a:r>
            <a:r>
              <a:rPr lang="en-US" sz="2000" b="1" dirty="0" smtClean="0">
                <a:solidFill>
                  <a:srgbClr val="00B0F0"/>
                </a:solidFill>
              </a:rPr>
              <a:t>o</a:t>
            </a:r>
          </a:p>
          <a:p>
            <a:endParaRPr lang="en-US" sz="2000" b="1" dirty="0" smtClean="0">
              <a:solidFill>
                <a:srgbClr val="00B0F0"/>
              </a:solidFill>
            </a:endParaRPr>
          </a:p>
          <a:p>
            <a:r>
              <a:rPr lang="en-US" sz="2000" b="1" dirty="0" smtClean="0">
                <a:solidFill>
                  <a:srgbClr val="00B0F0"/>
                </a:solidFill>
              </a:rPr>
              <a:t>For </a:t>
            </a:r>
            <a:r>
              <a:rPr lang="en-US" sz="2000" b="1" dirty="0">
                <a:solidFill>
                  <a:srgbClr val="00B0F0"/>
                </a:solidFill>
              </a:rPr>
              <a:t>d</a:t>
            </a:r>
            <a:r>
              <a:rPr lang="en-US" sz="2000" b="1" baseline="30000" dirty="0">
                <a:solidFill>
                  <a:srgbClr val="00B0F0"/>
                </a:solidFill>
              </a:rPr>
              <a:t>4</a:t>
            </a:r>
            <a:r>
              <a:rPr lang="en-US" sz="2000" b="1" dirty="0">
                <a:solidFill>
                  <a:srgbClr val="00B0F0"/>
                </a:solidFill>
              </a:rPr>
              <a:t> System </a:t>
            </a:r>
            <a:r>
              <a:rPr lang="en-US" sz="2000" b="1" dirty="0" smtClean="0">
                <a:solidFill>
                  <a:srgbClr val="00B0F0"/>
                </a:solidFill>
              </a:rPr>
              <a:t>(High spin)</a:t>
            </a:r>
            <a:r>
              <a:rPr lang="en-US" sz="2000" b="1" dirty="0">
                <a:solidFill>
                  <a:schemeClr val="accent5"/>
                </a:solidFill>
              </a:rPr>
              <a:t> </a:t>
            </a:r>
            <a:r>
              <a:rPr lang="en-US" sz="2000" b="1" dirty="0" smtClean="0">
                <a:solidFill>
                  <a:schemeClr val="accent5"/>
                </a:solidFill>
              </a:rPr>
              <a:t>t</a:t>
            </a:r>
            <a:r>
              <a:rPr lang="en-US" sz="2000" b="1" baseline="-25000" dirty="0" smtClean="0">
                <a:solidFill>
                  <a:schemeClr val="accent5"/>
                </a:solidFill>
              </a:rPr>
              <a:t>2</a:t>
            </a:r>
            <a:r>
              <a:rPr lang="en-US" sz="2000" b="1" dirty="0" smtClean="0">
                <a:solidFill>
                  <a:schemeClr val="accent5"/>
                </a:solidFill>
              </a:rPr>
              <a:t>g</a:t>
            </a:r>
            <a:r>
              <a:rPr lang="en-US" sz="2000" b="1" baseline="30000" dirty="0" smtClean="0">
                <a:solidFill>
                  <a:schemeClr val="accent5"/>
                </a:solidFill>
              </a:rPr>
              <a:t>4</a:t>
            </a:r>
            <a:r>
              <a:rPr lang="en-US" sz="2000" b="1" dirty="0" smtClean="0">
                <a:solidFill>
                  <a:schemeClr val="accent5"/>
                </a:solidFill>
              </a:rPr>
              <a:t>e</a:t>
            </a:r>
            <a:r>
              <a:rPr lang="en-US" sz="2000" b="1" baseline="-25000" dirty="0" smtClean="0">
                <a:solidFill>
                  <a:schemeClr val="accent5"/>
                </a:solidFill>
              </a:rPr>
              <a:t>g</a:t>
            </a:r>
            <a:r>
              <a:rPr lang="en-US" sz="2000" b="1" baseline="30000" dirty="0" smtClean="0">
                <a:solidFill>
                  <a:schemeClr val="accent5"/>
                </a:solidFill>
              </a:rPr>
              <a:t>0</a:t>
            </a:r>
            <a:endParaRPr lang="en-US" sz="2000" b="1" dirty="0">
              <a:solidFill>
                <a:srgbClr val="00B0F0"/>
              </a:solidFill>
            </a:endParaRPr>
          </a:p>
          <a:p>
            <a:r>
              <a:rPr lang="en-US" sz="2000" b="1" dirty="0" smtClean="0">
                <a:solidFill>
                  <a:srgbClr val="00B0F0"/>
                </a:solidFill>
              </a:rPr>
              <a:t>CFSE </a:t>
            </a:r>
            <a:r>
              <a:rPr lang="en-US" sz="2000" b="1" dirty="0">
                <a:solidFill>
                  <a:srgbClr val="00B0F0"/>
                </a:solidFill>
              </a:rPr>
              <a:t>= </a:t>
            </a:r>
            <a:r>
              <a:rPr lang="en-US" sz="2000" b="1" dirty="0" smtClean="0">
                <a:solidFill>
                  <a:srgbClr val="00B0F0"/>
                </a:solidFill>
              </a:rPr>
              <a:t>4x</a:t>
            </a:r>
            <a:r>
              <a:rPr lang="en-US" sz="2000" b="1" dirty="0">
                <a:solidFill>
                  <a:srgbClr val="00B0F0"/>
                </a:solidFill>
              </a:rPr>
              <a:t>(-0.4) + </a:t>
            </a:r>
            <a:r>
              <a:rPr lang="en-US" sz="2000" b="1" dirty="0" smtClean="0">
                <a:solidFill>
                  <a:srgbClr val="00B0F0"/>
                </a:solidFill>
              </a:rPr>
              <a:t>P </a:t>
            </a:r>
            <a:r>
              <a:rPr lang="en-US" sz="2000" b="1" dirty="0">
                <a:solidFill>
                  <a:srgbClr val="00B0F0"/>
                </a:solidFill>
              </a:rPr>
              <a:t/>
            </a:r>
            <a:br>
              <a:rPr lang="en-US" sz="2000" b="1" dirty="0">
                <a:solidFill>
                  <a:srgbClr val="00B0F0"/>
                </a:solidFill>
              </a:rPr>
            </a:br>
            <a:r>
              <a:rPr lang="en-US" sz="2000" b="1" dirty="0">
                <a:solidFill>
                  <a:srgbClr val="00B0F0"/>
                </a:solidFill>
              </a:rPr>
              <a:t>          = </a:t>
            </a:r>
            <a:r>
              <a:rPr lang="en-US" sz="2000" b="1" dirty="0" smtClean="0">
                <a:solidFill>
                  <a:srgbClr val="00B0F0"/>
                </a:solidFill>
              </a:rPr>
              <a:t>-1.6 </a:t>
            </a:r>
            <a:r>
              <a:rPr lang="en-US" sz="2000" b="1" dirty="0">
                <a:solidFill>
                  <a:srgbClr val="00B0F0"/>
                </a:solidFill>
              </a:rPr>
              <a:t>∆o </a:t>
            </a:r>
            <a:r>
              <a:rPr lang="en-US" sz="2000" b="1" dirty="0" smtClean="0">
                <a:solidFill>
                  <a:srgbClr val="00B0F0"/>
                </a:solidFill>
              </a:rPr>
              <a:t> + P</a:t>
            </a:r>
            <a:endParaRPr lang="en-US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10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24184" y="5684406"/>
            <a:ext cx="8406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IDFont+F1"/>
              </a:rPr>
              <a:t>Octahedral crystal field stabilization energies (CFSE) for </a:t>
            </a:r>
            <a:r>
              <a:rPr lang="en-US" i="1" dirty="0" err="1">
                <a:solidFill>
                  <a:srgbClr val="000000"/>
                </a:solidFill>
                <a:latin typeface="CIDFont+F7"/>
              </a:rPr>
              <a:t>d</a:t>
            </a:r>
            <a:r>
              <a:rPr lang="en-US" sz="800" i="1" dirty="0" err="1">
                <a:solidFill>
                  <a:srgbClr val="000000"/>
                </a:solidFill>
                <a:latin typeface="CIDFont+F7"/>
              </a:rPr>
              <a:t>n</a:t>
            </a:r>
            <a:r>
              <a:rPr lang="en-US" sz="800" i="1" dirty="0">
                <a:solidFill>
                  <a:srgbClr val="000000"/>
                </a:solidFill>
                <a:latin typeface="CIDFont+F7"/>
              </a:rPr>
              <a:t> </a:t>
            </a:r>
            <a:r>
              <a:rPr lang="en-US" dirty="0">
                <a:solidFill>
                  <a:srgbClr val="000000"/>
                </a:solidFill>
                <a:latin typeface="CIDFont+F1"/>
              </a:rPr>
              <a:t>configurations;</a:t>
            </a:r>
            <a:br>
              <a:rPr lang="en-US" dirty="0">
                <a:solidFill>
                  <a:srgbClr val="000000"/>
                </a:solidFill>
                <a:latin typeface="CIDFont+F1"/>
              </a:rPr>
            </a:br>
            <a:r>
              <a:rPr lang="en-US" dirty="0">
                <a:solidFill>
                  <a:srgbClr val="000000"/>
                </a:solidFill>
                <a:latin typeface="CIDFont+F1"/>
              </a:rPr>
              <a:t>pairing energy, </a:t>
            </a:r>
            <a:r>
              <a:rPr lang="en-US" i="1" dirty="0">
                <a:solidFill>
                  <a:srgbClr val="000000"/>
                </a:solidFill>
                <a:latin typeface="CIDFont+F7"/>
              </a:rPr>
              <a:t>P</a:t>
            </a:r>
            <a:r>
              <a:rPr lang="en-US" dirty="0">
                <a:solidFill>
                  <a:srgbClr val="000000"/>
                </a:solidFill>
                <a:latin typeface="CIDFont+F1"/>
              </a:rPr>
              <a:t>, terms are included where appropriate</a:t>
            </a:r>
            <a:r>
              <a:rPr lang="en-US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9130352" y="5869072"/>
            <a:ext cx="20244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IDFont+F1"/>
              </a:rPr>
              <a:t>High Spin : </a:t>
            </a:r>
            <a:r>
              <a:rPr lang="en-US" dirty="0" err="1">
                <a:solidFill>
                  <a:srgbClr val="000000"/>
                </a:solidFill>
                <a:latin typeface="CIDFont+F1"/>
              </a:rPr>
              <a:t>Δ</a:t>
            </a:r>
            <a:r>
              <a:rPr lang="en-US" sz="800" dirty="0" err="1">
                <a:solidFill>
                  <a:srgbClr val="000000"/>
                </a:solidFill>
                <a:latin typeface="CIDFont+F1"/>
              </a:rPr>
              <a:t>o</a:t>
            </a:r>
            <a:r>
              <a:rPr lang="en-US" sz="800" dirty="0">
                <a:solidFill>
                  <a:srgbClr val="000000"/>
                </a:solidFill>
                <a:latin typeface="CIDFont+F1"/>
              </a:rPr>
              <a:t> </a:t>
            </a:r>
            <a:r>
              <a:rPr lang="en-US" dirty="0">
                <a:solidFill>
                  <a:srgbClr val="000000"/>
                </a:solidFill>
                <a:latin typeface="CIDFont+F1"/>
              </a:rPr>
              <a:t>&lt; P</a:t>
            </a:r>
            <a:br>
              <a:rPr lang="en-US" dirty="0">
                <a:solidFill>
                  <a:srgbClr val="000000"/>
                </a:solidFill>
                <a:latin typeface="CIDFont+F1"/>
              </a:rPr>
            </a:br>
            <a:r>
              <a:rPr lang="en-US" dirty="0">
                <a:solidFill>
                  <a:srgbClr val="000000"/>
                </a:solidFill>
                <a:latin typeface="CIDFont+F1"/>
              </a:rPr>
              <a:t>Low Spin : </a:t>
            </a:r>
            <a:r>
              <a:rPr lang="en-US" dirty="0" err="1">
                <a:solidFill>
                  <a:srgbClr val="000000"/>
                </a:solidFill>
                <a:latin typeface="CIDFont+F1"/>
              </a:rPr>
              <a:t>Δ</a:t>
            </a:r>
            <a:r>
              <a:rPr lang="en-US" sz="800" dirty="0" err="1">
                <a:solidFill>
                  <a:srgbClr val="000000"/>
                </a:solidFill>
                <a:latin typeface="CIDFont+F1"/>
              </a:rPr>
              <a:t>o</a:t>
            </a:r>
            <a:r>
              <a:rPr lang="en-US" sz="800" dirty="0">
                <a:solidFill>
                  <a:srgbClr val="000000"/>
                </a:solidFill>
                <a:latin typeface="CIDFont+F1"/>
              </a:rPr>
              <a:t> </a:t>
            </a:r>
            <a:r>
              <a:rPr lang="en-US" dirty="0">
                <a:solidFill>
                  <a:srgbClr val="000000"/>
                </a:solidFill>
                <a:latin typeface="CIDFont+F1"/>
              </a:rPr>
              <a:t>&gt; 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84" y="179780"/>
            <a:ext cx="11278200" cy="544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2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38483" y="0"/>
            <a:ext cx="6141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Some Consequences of Crystal Field Splitting </a:t>
            </a:r>
            <a:endParaRPr lang="en-US" sz="2400" b="1" u="sng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719066" y="457200"/>
            <a:ext cx="28975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 smtClean="0"/>
              <a:t>Lattice Energy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6921704" y="847275"/>
            <a:ext cx="4829993" cy="3524486"/>
            <a:chOff x="6921704" y="847275"/>
            <a:chExt cx="4829993" cy="3524486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6921704" y="1860898"/>
              <a:ext cx="34117" cy="21444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/>
            <p:cNvGrpSpPr/>
            <p:nvPr/>
          </p:nvGrpSpPr>
          <p:grpSpPr>
            <a:xfrm>
              <a:off x="6938762" y="847275"/>
              <a:ext cx="4812935" cy="3524486"/>
              <a:chOff x="6969469" y="230725"/>
              <a:chExt cx="4812935" cy="3524486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6969469" y="3377541"/>
                <a:ext cx="4524234" cy="833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7194658" y="1571765"/>
                <a:ext cx="4203511" cy="16266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/>
              <p:cNvSpPr txBox="1"/>
              <p:nvPr/>
            </p:nvSpPr>
            <p:spPr>
              <a:xfrm>
                <a:off x="7085477" y="3385879"/>
                <a:ext cx="4696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Ca</a:t>
                </a:r>
                <a:r>
                  <a:rPr lang="en-US" baseline="30000" dirty="0" smtClean="0"/>
                  <a:t>2+ </a:t>
                </a:r>
                <a:r>
                  <a:rPr lang="en-US" dirty="0" smtClean="0"/>
                  <a:t>Sc</a:t>
                </a:r>
                <a:r>
                  <a:rPr lang="en-US" baseline="30000" dirty="0" smtClean="0"/>
                  <a:t>2+ </a:t>
                </a:r>
                <a:r>
                  <a:rPr lang="en-US" dirty="0" smtClean="0"/>
                  <a:t>Ti</a:t>
                </a:r>
                <a:r>
                  <a:rPr lang="en-US" baseline="30000" dirty="0" smtClean="0"/>
                  <a:t>2+</a:t>
                </a:r>
                <a:r>
                  <a:rPr lang="en-US" dirty="0" smtClean="0"/>
                  <a:t> V</a:t>
                </a:r>
                <a:r>
                  <a:rPr lang="en-US" baseline="30000" dirty="0" smtClean="0"/>
                  <a:t>2+ </a:t>
                </a:r>
                <a:r>
                  <a:rPr lang="en-US" dirty="0" smtClean="0"/>
                  <a:t>Cr</a:t>
                </a:r>
                <a:r>
                  <a:rPr lang="en-US" baseline="30000" dirty="0" smtClean="0"/>
                  <a:t>2+ </a:t>
                </a:r>
                <a:r>
                  <a:rPr lang="en-US" dirty="0" smtClean="0"/>
                  <a:t>Mn</a:t>
                </a:r>
                <a:r>
                  <a:rPr lang="en-US" baseline="30000" dirty="0" smtClean="0"/>
                  <a:t>2+ </a:t>
                </a:r>
                <a:r>
                  <a:rPr lang="en-US" dirty="0" smtClean="0"/>
                  <a:t>Fe</a:t>
                </a:r>
                <a:r>
                  <a:rPr lang="en-US" baseline="30000" dirty="0" smtClean="0"/>
                  <a:t>2+ </a:t>
                </a:r>
                <a:r>
                  <a:rPr lang="en-US" dirty="0" smtClean="0"/>
                  <a:t>Co</a:t>
                </a:r>
                <a:r>
                  <a:rPr lang="en-US" baseline="30000" dirty="0" smtClean="0"/>
                  <a:t>2+ </a:t>
                </a:r>
                <a:r>
                  <a:rPr lang="en-US" dirty="0" smtClean="0"/>
                  <a:t>Ni</a:t>
                </a:r>
                <a:r>
                  <a:rPr lang="en-US" baseline="30000" dirty="0" smtClean="0"/>
                  <a:t>2+ </a:t>
                </a:r>
                <a:r>
                  <a:rPr lang="en-US" dirty="0" smtClean="0"/>
                  <a:t>Cu</a:t>
                </a:r>
                <a:r>
                  <a:rPr lang="en-US" baseline="30000" dirty="0" smtClean="0"/>
                  <a:t>2+ </a:t>
                </a:r>
                <a:r>
                  <a:rPr lang="en-US" dirty="0" smtClean="0"/>
                  <a:t>Zn</a:t>
                </a:r>
                <a:r>
                  <a:rPr lang="en-US" baseline="30000" dirty="0" smtClean="0"/>
                  <a:t>2+ </a:t>
                </a:r>
                <a:endParaRPr lang="en-US" baseline="30000" dirty="0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208306" y="1380903"/>
                <a:ext cx="4148920" cy="1799526"/>
              </a:xfrm>
              <a:custGeom>
                <a:avLst/>
                <a:gdLst>
                  <a:gd name="connsiteX0" fmla="*/ 0 w 4148920"/>
                  <a:gd name="connsiteY0" fmla="*/ 1799526 h 1799526"/>
                  <a:gd name="connsiteX1" fmla="*/ 1337481 w 4148920"/>
                  <a:gd name="connsiteY1" fmla="*/ 462046 h 1799526"/>
                  <a:gd name="connsiteX2" fmla="*/ 2060812 w 4148920"/>
                  <a:gd name="connsiteY2" fmla="*/ 994308 h 1799526"/>
                  <a:gd name="connsiteX3" fmla="*/ 3357350 w 4148920"/>
                  <a:gd name="connsiteY3" fmla="*/ 52613 h 1799526"/>
                  <a:gd name="connsiteX4" fmla="*/ 4148920 w 4148920"/>
                  <a:gd name="connsiteY4" fmla="*/ 202738 h 1799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48920" h="1799526">
                    <a:moveTo>
                      <a:pt x="0" y="1799526"/>
                    </a:moveTo>
                    <a:cubicBezTo>
                      <a:pt x="497006" y="1197887"/>
                      <a:pt x="994012" y="596249"/>
                      <a:pt x="1337481" y="462046"/>
                    </a:cubicBezTo>
                    <a:cubicBezTo>
                      <a:pt x="1680950" y="327843"/>
                      <a:pt x="1724167" y="1062547"/>
                      <a:pt x="2060812" y="994308"/>
                    </a:cubicBezTo>
                    <a:cubicBezTo>
                      <a:pt x="2397457" y="926069"/>
                      <a:pt x="3009332" y="184541"/>
                      <a:pt x="3357350" y="52613"/>
                    </a:cubicBezTo>
                    <a:cubicBezTo>
                      <a:pt x="3705368" y="-79315"/>
                      <a:pt x="3927144" y="61711"/>
                      <a:pt x="4148920" y="20273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7680858" y="230725"/>
                <a:ext cx="410154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b="1" dirty="0"/>
                  <a:t>Hydration </a:t>
                </a:r>
                <a:r>
                  <a:rPr lang="en-US" altLang="en-US" sz="2400" b="1" dirty="0" smtClean="0"/>
                  <a:t>Energy</a:t>
                </a:r>
              </a:p>
              <a:p>
                <a:r>
                  <a:rPr lang="en-US" sz="2400" b="1" dirty="0" smtClean="0"/>
                  <a:t>M</a:t>
                </a:r>
                <a:r>
                  <a:rPr lang="en-US" sz="2400" b="1" baseline="30000" dirty="0" smtClean="0"/>
                  <a:t>2+</a:t>
                </a:r>
                <a:r>
                  <a:rPr lang="en-US" sz="2400" b="1" dirty="0" smtClean="0"/>
                  <a:t> +  H</a:t>
                </a:r>
                <a:r>
                  <a:rPr lang="en-US" sz="2400" b="1" baseline="-25000" dirty="0" smtClean="0"/>
                  <a:t>2</a:t>
                </a:r>
                <a:r>
                  <a:rPr lang="en-US" sz="2400" b="1" dirty="0" smtClean="0"/>
                  <a:t>O             [M(H</a:t>
                </a:r>
                <a:r>
                  <a:rPr lang="en-US" sz="2400" b="1" baseline="-25000" dirty="0" smtClean="0"/>
                  <a:t>2</a:t>
                </a:r>
                <a:r>
                  <a:rPr lang="en-US" sz="2400" b="1" dirty="0" smtClean="0"/>
                  <a:t>O)</a:t>
                </a:r>
                <a:r>
                  <a:rPr lang="en-US" sz="2400" b="1" baseline="-25000" dirty="0" smtClean="0"/>
                  <a:t>6</a:t>
                </a:r>
                <a:r>
                  <a:rPr lang="en-US" sz="2400" b="1" dirty="0" smtClean="0"/>
                  <a:t>]</a:t>
                </a:r>
                <a:r>
                  <a:rPr lang="en-US" sz="2400" b="1" baseline="30000" dirty="0" smtClean="0"/>
                  <a:t>2+</a:t>
                </a:r>
                <a:endParaRPr lang="en-US" sz="2400" baseline="30000" dirty="0"/>
              </a:p>
            </p:txBody>
          </p:sp>
          <p:cxnSp>
            <p:nvCxnSpPr>
              <p:cNvPr id="37" name="Straight Arrow Connector 36"/>
              <p:cNvCxnSpPr/>
              <p:nvPr/>
            </p:nvCxnSpPr>
            <p:spPr>
              <a:xfrm>
                <a:off x="9282766" y="864609"/>
                <a:ext cx="57320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1" name="TextBox 40"/>
          <p:cNvSpPr txBox="1"/>
          <p:nvPr/>
        </p:nvSpPr>
        <p:spPr>
          <a:xfrm rot="16200000">
            <a:off x="5379957" y="2852297"/>
            <a:ext cx="2597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Hydration Energy kJ/mole</a:t>
            </a:r>
            <a:endParaRPr lang="en-US" dirty="0"/>
          </a:p>
        </p:txBody>
      </p:sp>
      <p:grpSp>
        <p:nvGrpSpPr>
          <p:cNvPr id="59" name="Group 58"/>
          <p:cNvGrpSpPr/>
          <p:nvPr/>
        </p:nvGrpSpPr>
        <p:grpSpPr>
          <a:xfrm>
            <a:off x="288426" y="862335"/>
            <a:ext cx="5432084" cy="2522112"/>
            <a:chOff x="288426" y="862335"/>
            <a:chExt cx="5432084" cy="2522112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859810" y="862335"/>
              <a:ext cx="34117" cy="21444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907575" y="3006777"/>
              <a:ext cx="4524234" cy="8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1132764" y="1201001"/>
              <a:ext cx="4203511" cy="1626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023583" y="3015115"/>
              <a:ext cx="4696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Ca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Sc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Ti</a:t>
              </a:r>
              <a:r>
                <a:rPr lang="en-US" baseline="30000" dirty="0" smtClean="0"/>
                <a:t>2+</a:t>
              </a:r>
              <a:r>
                <a:rPr lang="en-US" dirty="0" smtClean="0"/>
                <a:t> V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Cr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Mn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Fe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Co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Ni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Cu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Zn</a:t>
              </a:r>
              <a:r>
                <a:rPr lang="en-US" baseline="30000" dirty="0" smtClean="0"/>
                <a:t>2+ </a:t>
              </a:r>
              <a:endParaRPr lang="en-US" baseline="30000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46412" y="1011911"/>
              <a:ext cx="4148920" cy="1799526"/>
            </a:xfrm>
            <a:custGeom>
              <a:avLst/>
              <a:gdLst>
                <a:gd name="connsiteX0" fmla="*/ 0 w 4148920"/>
                <a:gd name="connsiteY0" fmla="*/ 1799526 h 1799526"/>
                <a:gd name="connsiteX1" fmla="*/ 1337481 w 4148920"/>
                <a:gd name="connsiteY1" fmla="*/ 462046 h 1799526"/>
                <a:gd name="connsiteX2" fmla="*/ 2060812 w 4148920"/>
                <a:gd name="connsiteY2" fmla="*/ 994308 h 1799526"/>
                <a:gd name="connsiteX3" fmla="*/ 3357350 w 4148920"/>
                <a:gd name="connsiteY3" fmla="*/ 52613 h 1799526"/>
                <a:gd name="connsiteX4" fmla="*/ 4148920 w 4148920"/>
                <a:gd name="connsiteY4" fmla="*/ 202738 h 179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8920" h="1799526">
                  <a:moveTo>
                    <a:pt x="0" y="1799526"/>
                  </a:moveTo>
                  <a:cubicBezTo>
                    <a:pt x="497006" y="1197887"/>
                    <a:pt x="994012" y="596249"/>
                    <a:pt x="1337481" y="462046"/>
                  </a:cubicBezTo>
                  <a:cubicBezTo>
                    <a:pt x="1680950" y="327843"/>
                    <a:pt x="1724167" y="1062547"/>
                    <a:pt x="2060812" y="994308"/>
                  </a:cubicBezTo>
                  <a:cubicBezTo>
                    <a:pt x="2397457" y="926069"/>
                    <a:pt x="3009332" y="184541"/>
                    <a:pt x="3357350" y="52613"/>
                  </a:cubicBezTo>
                  <a:cubicBezTo>
                    <a:pt x="3705368" y="-79315"/>
                    <a:pt x="3927144" y="61711"/>
                    <a:pt x="4148920" y="20273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 rot="16200000">
              <a:off x="-287149" y="1945152"/>
              <a:ext cx="15204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 smtClean="0"/>
                <a:t>Lattice Energy</a:t>
              </a:r>
              <a:endParaRPr lang="en-US" altLang="en-US" b="1" dirty="0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26096" y="3627227"/>
            <a:ext cx="5392222" cy="2543635"/>
            <a:chOff x="426096" y="3627227"/>
            <a:chExt cx="5392222" cy="2543635"/>
          </a:xfrm>
        </p:grpSpPr>
        <p:sp>
          <p:nvSpPr>
            <p:cNvPr id="40" name="Rectangle 39"/>
            <p:cNvSpPr/>
            <p:nvPr/>
          </p:nvSpPr>
          <p:spPr>
            <a:xfrm rot="16200000">
              <a:off x="-204846" y="4708923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 dirty="0"/>
                <a:t>Ionic Radius</a:t>
              </a:r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997994" y="3627227"/>
              <a:ext cx="34117" cy="21444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005383" y="5793192"/>
              <a:ext cx="4524234" cy="8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1121391" y="5801530"/>
              <a:ext cx="4696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Ca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Sc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Ti</a:t>
              </a:r>
              <a:r>
                <a:rPr lang="en-US" baseline="30000" dirty="0" smtClean="0"/>
                <a:t>2+</a:t>
              </a:r>
              <a:r>
                <a:rPr lang="en-US" dirty="0" smtClean="0"/>
                <a:t> V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Cr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Mn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Fe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Co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Ni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Cu</a:t>
              </a:r>
              <a:r>
                <a:rPr lang="en-US" baseline="30000" dirty="0" smtClean="0"/>
                <a:t>2+ </a:t>
              </a:r>
              <a:r>
                <a:rPr lang="en-US" dirty="0" smtClean="0"/>
                <a:t>Zn</a:t>
              </a:r>
              <a:r>
                <a:rPr lang="en-US" baseline="30000" dirty="0" smtClean="0"/>
                <a:t>2+ </a:t>
              </a:r>
              <a:endParaRPr lang="en-US" baseline="30000" dirty="0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1241946" y="4121624"/>
              <a:ext cx="1175516" cy="1064525"/>
            </a:xfrm>
            <a:custGeom>
              <a:avLst/>
              <a:gdLst>
                <a:gd name="connsiteX0" fmla="*/ 0 w 1175516"/>
                <a:gd name="connsiteY0" fmla="*/ 0 h 1064525"/>
                <a:gd name="connsiteX1" fmla="*/ 27296 w 1175516"/>
                <a:gd name="connsiteY1" fmla="*/ 68239 h 1064525"/>
                <a:gd name="connsiteX2" fmla="*/ 68239 w 1175516"/>
                <a:gd name="connsiteY2" fmla="*/ 109182 h 1064525"/>
                <a:gd name="connsiteX3" fmla="*/ 122830 w 1175516"/>
                <a:gd name="connsiteY3" fmla="*/ 177421 h 1064525"/>
                <a:gd name="connsiteX4" fmla="*/ 163773 w 1175516"/>
                <a:gd name="connsiteY4" fmla="*/ 218364 h 1064525"/>
                <a:gd name="connsiteX5" fmla="*/ 218364 w 1175516"/>
                <a:gd name="connsiteY5" fmla="*/ 286603 h 1064525"/>
                <a:gd name="connsiteX6" fmla="*/ 245660 w 1175516"/>
                <a:gd name="connsiteY6" fmla="*/ 327546 h 1064525"/>
                <a:gd name="connsiteX7" fmla="*/ 286603 w 1175516"/>
                <a:gd name="connsiteY7" fmla="*/ 368489 h 1064525"/>
                <a:gd name="connsiteX8" fmla="*/ 395785 w 1175516"/>
                <a:gd name="connsiteY8" fmla="*/ 491319 h 1064525"/>
                <a:gd name="connsiteX9" fmla="*/ 436729 w 1175516"/>
                <a:gd name="connsiteY9" fmla="*/ 504967 h 1064525"/>
                <a:gd name="connsiteX10" fmla="*/ 477672 w 1175516"/>
                <a:gd name="connsiteY10" fmla="*/ 532263 h 1064525"/>
                <a:gd name="connsiteX11" fmla="*/ 518615 w 1175516"/>
                <a:gd name="connsiteY11" fmla="*/ 545910 h 1064525"/>
                <a:gd name="connsiteX12" fmla="*/ 600502 w 1175516"/>
                <a:gd name="connsiteY12" fmla="*/ 600501 h 1064525"/>
                <a:gd name="connsiteX13" fmla="*/ 627797 w 1175516"/>
                <a:gd name="connsiteY13" fmla="*/ 641445 h 1064525"/>
                <a:gd name="connsiteX14" fmla="*/ 641445 w 1175516"/>
                <a:gd name="connsiteY14" fmla="*/ 682388 h 1064525"/>
                <a:gd name="connsiteX15" fmla="*/ 682388 w 1175516"/>
                <a:gd name="connsiteY15" fmla="*/ 709683 h 1064525"/>
                <a:gd name="connsiteX16" fmla="*/ 709684 w 1175516"/>
                <a:gd name="connsiteY16" fmla="*/ 750627 h 1064525"/>
                <a:gd name="connsiteX17" fmla="*/ 832514 w 1175516"/>
                <a:gd name="connsiteY17" fmla="*/ 818866 h 1064525"/>
                <a:gd name="connsiteX18" fmla="*/ 914400 w 1175516"/>
                <a:gd name="connsiteY18" fmla="*/ 859809 h 1064525"/>
                <a:gd name="connsiteX19" fmla="*/ 955344 w 1175516"/>
                <a:gd name="connsiteY19" fmla="*/ 900752 h 1064525"/>
                <a:gd name="connsiteX20" fmla="*/ 1037230 w 1175516"/>
                <a:gd name="connsiteY20" fmla="*/ 968991 h 1064525"/>
                <a:gd name="connsiteX21" fmla="*/ 1078173 w 1175516"/>
                <a:gd name="connsiteY21" fmla="*/ 1023582 h 1064525"/>
                <a:gd name="connsiteX22" fmla="*/ 1173708 w 1175516"/>
                <a:gd name="connsiteY22" fmla="*/ 1050877 h 1064525"/>
                <a:gd name="connsiteX23" fmla="*/ 1173708 w 1175516"/>
                <a:gd name="connsiteY23" fmla="*/ 1064525 h 106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75516" h="1064525">
                  <a:moveTo>
                    <a:pt x="0" y="0"/>
                  </a:moveTo>
                  <a:cubicBezTo>
                    <a:pt x="9099" y="22746"/>
                    <a:pt x="14312" y="47464"/>
                    <a:pt x="27296" y="68239"/>
                  </a:cubicBezTo>
                  <a:cubicBezTo>
                    <a:pt x="37525" y="84606"/>
                    <a:pt x="55529" y="94657"/>
                    <a:pt x="68239" y="109182"/>
                  </a:cubicBezTo>
                  <a:cubicBezTo>
                    <a:pt x="87421" y="131104"/>
                    <a:pt x="103648" y="155499"/>
                    <a:pt x="122830" y="177421"/>
                  </a:cubicBezTo>
                  <a:cubicBezTo>
                    <a:pt x="135540" y="191946"/>
                    <a:pt x="151063" y="203839"/>
                    <a:pt x="163773" y="218364"/>
                  </a:cubicBezTo>
                  <a:cubicBezTo>
                    <a:pt x="182955" y="240286"/>
                    <a:pt x="200886" y="263299"/>
                    <a:pt x="218364" y="286603"/>
                  </a:cubicBezTo>
                  <a:cubicBezTo>
                    <a:pt x="228206" y="299725"/>
                    <a:pt x="235159" y="314945"/>
                    <a:pt x="245660" y="327546"/>
                  </a:cubicBezTo>
                  <a:cubicBezTo>
                    <a:pt x="258016" y="342373"/>
                    <a:pt x="274247" y="353662"/>
                    <a:pt x="286603" y="368489"/>
                  </a:cubicBezTo>
                  <a:cubicBezTo>
                    <a:pt x="321615" y="410503"/>
                    <a:pt x="334533" y="470902"/>
                    <a:pt x="395785" y="491319"/>
                  </a:cubicBezTo>
                  <a:lnTo>
                    <a:pt x="436729" y="504967"/>
                  </a:lnTo>
                  <a:cubicBezTo>
                    <a:pt x="450377" y="514066"/>
                    <a:pt x="463001" y="524928"/>
                    <a:pt x="477672" y="532263"/>
                  </a:cubicBezTo>
                  <a:cubicBezTo>
                    <a:pt x="490539" y="538697"/>
                    <a:pt x="506039" y="538924"/>
                    <a:pt x="518615" y="545910"/>
                  </a:cubicBezTo>
                  <a:cubicBezTo>
                    <a:pt x="547292" y="561841"/>
                    <a:pt x="600502" y="600501"/>
                    <a:pt x="600502" y="600501"/>
                  </a:cubicBezTo>
                  <a:cubicBezTo>
                    <a:pt x="609600" y="614149"/>
                    <a:pt x="620462" y="626774"/>
                    <a:pt x="627797" y="641445"/>
                  </a:cubicBezTo>
                  <a:cubicBezTo>
                    <a:pt x="634231" y="654312"/>
                    <a:pt x="632458" y="671155"/>
                    <a:pt x="641445" y="682388"/>
                  </a:cubicBezTo>
                  <a:cubicBezTo>
                    <a:pt x="651692" y="695196"/>
                    <a:pt x="668740" y="700585"/>
                    <a:pt x="682388" y="709683"/>
                  </a:cubicBezTo>
                  <a:cubicBezTo>
                    <a:pt x="691487" y="723331"/>
                    <a:pt x="697340" y="739826"/>
                    <a:pt x="709684" y="750627"/>
                  </a:cubicBezTo>
                  <a:cubicBezTo>
                    <a:pt x="824430" y="851030"/>
                    <a:pt x="751288" y="778253"/>
                    <a:pt x="832514" y="818866"/>
                  </a:cubicBezTo>
                  <a:cubicBezTo>
                    <a:pt x="938344" y="871780"/>
                    <a:pt x="811485" y="825503"/>
                    <a:pt x="914400" y="859809"/>
                  </a:cubicBezTo>
                  <a:cubicBezTo>
                    <a:pt x="928048" y="873457"/>
                    <a:pt x="940517" y="888396"/>
                    <a:pt x="955344" y="900752"/>
                  </a:cubicBezTo>
                  <a:cubicBezTo>
                    <a:pt x="1018517" y="953396"/>
                    <a:pt x="977427" y="899221"/>
                    <a:pt x="1037230" y="968991"/>
                  </a:cubicBezTo>
                  <a:cubicBezTo>
                    <a:pt x="1052033" y="986261"/>
                    <a:pt x="1060699" y="1009020"/>
                    <a:pt x="1078173" y="1023582"/>
                  </a:cubicBezTo>
                  <a:cubicBezTo>
                    <a:pt x="1088237" y="1031969"/>
                    <a:pt x="1168622" y="1048334"/>
                    <a:pt x="1173708" y="1050877"/>
                  </a:cubicBezTo>
                  <a:cubicBezTo>
                    <a:pt x="1177777" y="1052911"/>
                    <a:pt x="1173708" y="1059976"/>
                    <a:pt x="1173708" y="106452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2429301" y="4599296"/>
              <a:ext cx="859809" cy="600501"/>
            </a:xfrm>
            <a:custGeom>
              <a:avLst/>
              <a:gdLst>
                <a:gd name="connsiteX0" fmla="*/ 0 w 859809"/>
                <a:gd name="connsiteY0" fmla="*/ 600501 h 600501"/>
                <a:gd name="connsiteX1" fmla="*/ 163774 w 859809"/>
                <a:gd name="connsiteY1" fmla="*/ 464023 h 600501"/>
                <a:gd name="connsiteX2" fmla="*/ 218365 w 859809"/>
                <a:gd name="connsiteY2" fmla="*/ 450376 h 600501"/>
                <a:gd name="connsiteX3" fmla="*/ 272956 w 859809"/>
                <a:gd name="connsiteY3" fmla="*/ 423080 h 600501"/>
                <a:gd name="connsiteX4" fmla="*/ 313899 w 859809"/>
                <a:gd name="connsiteY4" fmla="*/ 409432 h 600501"/>
                <a:gd name="connsiteX5" fmla="*/ 395786 w 859809"/>
                <a:gd name="connsiteY5" fmla="*/ 354841 h 600501"/>
                <a:gd name="connsiteX6" fmla="*/ 436729 w 859809"/>
                <a:gd name="connsiteY6" fmla="*/ 327546 h 600501"/>
                <a:gd name="connsiteX7" fmla="*/ 504968 w 859809"/>
                <a:gd name="connsiteY7" fmla="*/ 313898 h 600501"/>
                <a:gd name="connsiteX8" fmla="*/ 545911 w 859809"/>
                <a:gd name="connsiteY8" fmla="*/ 272955 h 600501"/>
                <a:gd name="connsiteX9" fmla="*/ 655093 w 859809"/>
                <a:gd name="connsiteY9" fmla="*/ 191068 h 600501"/>
                <a:gd name="connsiteX10" fmla="*/ 736980 w 859809"/>
                <a:gd name="connsiteY10" fmla="*/ 122829 h 600501"/>
                <a:gd name="connsiteX11" fmla="*/ 818866 w 859809"/>
                <a:gd name="connsiteY11" fmla="*/ 54591 h 600501"/>
                <a:gd name="connsiteX12" fmla="*/ 859809 w 859809"/>
                <a:gd name="connsiteY12" fmla="*/ 0 h 60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59809" h="600501">
                  <a:moveTo>
                    <a:pt x="0" y="600501"/>
                  </a:moveTo>
                  <a:cubicBezTo>
                    <a:pt x="72651" y="527851"/>
                    <a:pt x="83275" y="494210"/>
                    <a:pt x="163774" y="464023"/>
                  </a:cubicBezTo>
                  <a:cubicBezTo>
                    <a:pt x="181337" y="457437"/>
                    <a:pt x="200168" y="454925"/>
                    <a:pt x="218365" y="450376"/>
                  </a:cubicBezTo>
                  <a:cubicBezTo>
                    <a:pt x="236562" y="441277"/>
                    <a:pt x="254256" y="431094"/>
                    <a:pt x="272956" y="423080"/>
                  </a:cubicBezTo>
                  <a:cubicBezTo>
                    <a:pt x="286179" y="417413"/>
                    <a:pt x="301323" y="416418"/>
                    <a:pt x="313899" y="409432"/>
                  </a:cubicBezTo>
                  <a:cubicBezTo>
                    <a:pt x="342576" y="393500"/>
                    <a:pt x="368490" y="373038"/>
                    <a:pt x="395786" y="354841"/>
                  </a:cubicBezTo>
                  <a:cubicBezTo>
                    <a:pt x="409434" y="345743"/>
                    <a:pt x="420645" y="330763"/>
                    <a:pt x="436729" y="327546"/>
                  </a:cubicBezTo>
                  <a:lnTo>
                    <a:pt x="504968" y="313898"/>
                  </a:lnTo>
                  <a:cubicBezTo>
                    <a:pt x="518616" y="300250"/>
                    <a:pt x="530973" y="285177"/>
                    <a:pt x="545911" y="272955"/>
                  </a:cubicBezTo>
                  <a:cubicBezTo>
                    <a:pt x="581120" y="244147"/>
                    <a:pt x="622925" y="223236"/>
                    <a:pt x="655093" y="191068"/>
                  </a:cubicBezTo>
                  <a:cubicBezTo>
                    <a:pt x="774707" y="71454"/>
                    <a:pt x="622975" y="217833"/>
                    <a:pt x="736980" y="122829"/>
                  </a:cubicBezTo>
                  <a:cubicBezTo>
                    <a:pt x="842061" y="35262"/>
                    <a:pt x="717214" y="122358"/>
                    <a:pt x="818866" y="54591"/>
                  </a:cubicBezTo>
                  <a:cubicBezTo>
                    <a:pt x="835731" y="3997"/>
                    <a:pt x="819646" y="20081"/>
                    <a:pt x="859809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3289110" y="4599296"/>
              <a:ext cx="1119117" cy="736979"/>
            </a:xfrm>
            <a:custGeom>
              <a:avLst/>
              <a:gdLst>
                <a:gd name="connsiteX0" fmla="*/ 0 w 1119117"/>
                <a:gd name="connsiteY0" fmla="*/ 0 h 736979"/>
                <a:gd name="connsiteX1" fmla="*/ 13648 w 1119117"/>
                <a:gd name="connsiteY1" fmla="*/ 68238 h 736979"/>
                <a:gd name="connsiteX2" fmla="*/ 95535 w 1119117"/>
                <a:gd name="connsiteY2" fmla="*/ 136477 h 736979"/>
                <a:gd name="connsiteX3" fmla="*/ 204717 w 1119117"/>
                <a:gd name="connsiteY3" fmla="*/ 163773 h 736979"/>
                <a:gd name="connsiteX4" fmla="*/ 259308 w 1119117"/>
                <a:gd name="connsiteY4" fmla="*/ 191068 h 736979"/>
                <a:gd name="connsiteX5" fmla="*/ 300251 w 1119117"/>
                <a:gd name="connsiteY5" fmla="*/ 218364 h 736979"/>
                <a:gd name="connsiteX6" fmla="*/ 341194 w 1119117"/>
                <a:gd name="connsiteY6" fmla="*/ 232011 h 736979"/>
                <a:gd name="connsiteX7" fmla="*/ 436729 w 1119117"/>
                <a:gd name="connsiteY7" fmla="*/ 286603 h 736979"/>
                <a:gd name="connsiteX8" fmla="*/ 491320 w 1119117"/>
                <a:gd name="connsiteY8" fmla="*/ 327546 h 736979"/>
                <a:gd name="connsiteX9" fmla="*/ 532263 w 1119117"/>
                <a:gd name="connsiteY9" fmla="*/ 354841 h 736979"/>
                <a:gd name="connsiteX10" fmla="*/ 573206 w 1119117"/>
                <a:gd name="connsiteY10" fmla="*/ 395785 h 736979"/>
                <a:gd name="connsiteX11" fmla="*/ 641445 w 1119117"/>
                <a:gd name="connsiteY11" fmla="*/ 436728 h 736979"/>
                <a:gd name="connsiteX12" fmla="*/ 723332 w 1119117"/>
                <a:gd name="connsiteY12" fmla="*/ 491319 h 736979"/>
                <a:gd name="connsiteX13" fmla="*/ 764275 w 1119117"/>
                <a:gd name="connsiteY13" fmla="*/ 518614 h 736979"/>
                <a:gd name="connsiteX14" fmla="*/ 805218 w 1119117"/>
                <a:gd name="connsiteY14" fmla="*/ 559558 h 736979"/>
                <a:gd name="connsiteX15" fmla="*/ 846162 w 1119117"/>
                <a:gd name="connsiteY15" fmla="*/ 573205 h 736979"/>
                <a:gd name="connsiteX16" fmla="*/ 968991 w 1119117"/>
                <a:gd name="connsiteY16" fmla="*/ 641444 h 736979"/>
                <a:gd name="connsiteX17" fmla="*/ 1050878 w 1119117"/>
                <a:gd name="connsiteY17" fmla="*/ 696035 h 736979"/>
                <a:gd name="connsiteX18" fmla="*/ 1091821 w 1119117"/>
                <a:gd name="connsiteY18" fmla="*/ 723331 h 736979"/>
                <a:gd name="connsiteX19" fmla="*/ 1119117 w 1119117"/>
                <a:gd name="connsiteY19" fmla="*/ 736979 h 73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19117" h="736979">
                  <a:moveTo>
                    <a:pt x="0" y="0"/>
                  </a:moveTo>
                  <a:cubicBezTo>
                    <a:pt x="4549" y="22746"/>
                    <a:pt x="3274" y="47490"/>
                    <a:pt x="13648" y="68238"/>
                  </a:cubicBezTo>
                  <a:cubicBezTo>
                    <a:pt x="21661" y="84264"/>
                    <a:pt x="76373" y="129509"/>
                    <a:pt x="95535" y="136477"/>
                  </a:cubicBezTo>
                  <a:cubicBezTo>
                    <a:pt x="130791" y="149297"/>
                    <a:pt x="171163" y="146996"/>
                    <a:pt x="204717" y="163773"/>
                  </a:cubicBezTo>
                  <a:cubicBezTo>
                    <a:pt x="222914" y="172871"/>
                    <a:pt x="241644" y="180974"/>
                    <a:pt x="259308" y="191068"/>
                  </a:cubicBezTo>
                  <a:cubicBezTo>
                    <a:pt x="273549" y="199206"/>
                    <a:pt x="285580" y="211029"/>
                    <a:pt x="300251" y="218364"/>
                  </a:cubicBezTo>
                  <a:cubicBezTo>
                    <a:pt x="313118" y="224798"/>
                    <a:pt x="327971" y="226344"/>
                    <a:pt x="341194" y="232011"/>
                  </a:cubicBezTo>
                  <a:cubicBezTo>
                    <a:pt x="381180" y="249148"/>
                    <a:pt x="402461" y="262126"/>
                    <a:pt x="436729" y="286603"/>
                  </a:cubicBezTo>
                  <a:cubicBezTo>
                    <a:pt x="455238" y="299824"/>
                    <a:pt x="472811" y="314325"/>
                    <a:pt x="491320" y="327546"/>
                  </a:cubicBezTo>
                  <a:cubicBezTo>
                    <a:pt x="504667" y="337080"/>
                    <a:pt x="519662" y="344340"/>
                    <a:pt x="532263" y="354841"/>
                  </a:cubicBezTo>
                  <a:cubicBezTo>
                    <a:pt x="547090" y="367197"/>
                    <a:pt x="557765" y="384204"/>
                    <a:pt x="573206" y="395785"/>
                  </a:cubicBezTo>
                  <a:cubicBezTo>
                    <a:pt x="594427" y="411701"/>
                    <a:pt x="619066" y="422487"/>
                    <a:pt x="641445" y="436728"/>
                  </a:cubicBezTo>
                  <a:cubicBezTo>
                    <a:pt x="669122" y="454340"/>
                    <a:pt x="696036" y="473122"/>
                    <a:pt x="723332" y="491319"/>
                  </a:cubicBezTo>
                  <a:cubicBezTo>
                    <a:pt x="736980" y="500417"/>
                    <a:pt x="752677" y="507016"/>
                    <a:pt x="764275" y="518614"/>
                  </a:cubicBezTo>
                  <a:cubicBezTo>
                    <a:pt x="777923" y="532262"/>
                    <a:pt x="789159" y="548852"/>
                    <a:pt x="805218" y="559558"/>
                  </a:cubicBezTo>
                  <a:cubicBezTo>
                    <a:pt x="817188" y="567538"/>
                    <a:pt x="832514" y="568656"/>
                    <a:pt x="846162" y="573205"/>
                  </a:cubicBezTo>
                  <a:cubicBezTo>
                    <a:pt x="940018" y="635777"/>
                    <a:pt x="896926" y="617424"/>
                    <a:pt x="968991" y="641444"/>
                  </a:cubicBezTo>
                  <a:lnTo>
                    <a:pt x="1050878" y="696035"/>
                  </a:lnTo>
                  <a:cubicBezTo>
                    <a:pt x="1064526" y="705134"/>
                    <a:pt x="1077150" y="715996"/>
                    <a:pt x="1091821" y="723331"/>
                  </a:cubicBezTo>
                  <a:lnTo>
                    <a:pt x="1119117" y="73697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4421875" y="4844903"/>
              <a:ext cx="996286" cy="491372"/>
            </a:xfrm>
            <a:custGeom>
              <a:avLst/>
              <a:gdLst>
                <a:gd name="connsiteX0" fmla="*/ 0 w 996286"/>
                <a:gd name="connsiteY0" fmla="*/ 491372 h 491372"/>
                <a:gd name="connsiteX1" fmla="*/ 81886 w 996286"/>
                <a:gd name="connsiteY1" fmla="*/ 450428 h 491372"/>
                <a:gd name="connsiteX2" fmla="*/ 122829 w 996286"/>
                <a:gd name="connsiteY2" fmla="*/ 436781 h 491372"/>
                <a:gd name="connsiteX3" fmla="*/ 218364 w 996286"/>
                <a:gd name="connsiteY3" fmla="*/ 395837 h 491372"/>
                <a:gd name="connsiteX4" fmla="*/ 245659 w 996286"/>
                <a:gd name="connsiteY4" fmla="*/ 354894 h 491372"/>
                <a:gd name="connsiteX5" fmla="*/ 327546 w 996286"/>
                <a:gd name="connsiteY5" fmla="*/ 313951 h 491372"/>
                <a:gd name="connsiteX6" fmla="*/ 450376 w 996286"/>
                <a:gd name="connsiteY6" fmla="*/ 232064 h 491372"/>
                <a:gd name="connsiteX7" fmla="*/ 491319 w 996286"/>
                <a:gd name="connsiteY7" fmla="*/ 204769 h 491372"/>
                <a:gd name="connsiteX8" fmla="*/ 614149 w 996286"/>
                <a:gd name="connsiteY8" fmla="*/ 163825 h 491372"/>
                <a:gd name="connsiteX9" fmla="*/ 655092 w 996286"/>
                <a:gd name="connsiteY9" fmla="*/ 150178 h 491372"/>
                <a:gd name="connsiteX10" fmla="*/ 696035 w 996286"/>
                <a:gd name="connsiteY10" fmla="*/ 122882 h 491372"/>
                <a:gd name="connsiteX11" fmla="*/ 777922 w 996286"/>
                <a:gd name="connsiteY11" fmla="*/ 95587 h 491372"/>
                <a:gd name="connsiteX12" fmla="*/ 900752 w 996286"/>
                <a:gd name="connsiteY12" fmla="*/ 40996 h 491372"/>
                <a:gd name="connsiteX13" fmla="*/ 941695 w 996286"/>
                <a:gd name="connsiteY13" fmla="*/ 27348 h 491372"/>
                <a:gd name="connsiteX14" fmla="*/ 996286 w 996286"/>
                <a:gd name="connsiteY14" fmla="*/ 52 h 49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6286" h="491372">
                  <a:moveTo>
                    <a:pt x="0" y="491372"/>
                  </a:moveTo>
                  <a:cubicBezTo>
                    <a:pt x="27295" y="477724"/>
                    <a:pt x="53999" y="462822"/>
                    <a:pt x="81886" y="450428"/>
                  </a:cubicBezTo>
                  <a:cubicBezTo>
                    <a:pt x="95032" y="444585"/>
                    <a:pt x="109606" y="442448"/>
                    <a:pt x="122829" y="436781"/>
                  </a:cubicBezTo>
                  <a:cubicBezTo>
                    <a:pt x="240894" y="386182"/>
                    <a:pt x="122337" y="427847"/>
                    <a:pt x="218364" y="395837"/>
                  </a:cubicBezTo>
                  <a:cubicBezTo>
                    <a:pt x="227462" y="382189"/>
                    <a:pt x="234061" y="366492"/>
                    <a:pt x="245659" y="354894"/>
                  </a:cubicBezTo>
                  <a:cubicBezTo>
                    <a:pt x="272117" y="328436"/>
                    <a:pt x="294245" y="325051"/>
                    <a:pt x="327546" y="313951"/>
                  </a:cubicBezTo>
                  <a:lnTo>
                    <a:pt x="450376" y="232064"/>
                  </a:lnTo>
                  <a:cubicBezTo>
                    <a:pt x="464024" y="222966"/>
                    <a:pt x="475758" y="209956"/>
                    <a:pt x="491319" y="204769"/>
                  </a:cubicBezTo>
                  <a:lnTo>
                    <a:pt x="614149" y="163825"/>
                  </a:lnTo>
                  <a:lnTo>
                    <a:pt x="655092" y="150178"/>
                  </a:lnTo>
                  <a:cubicBezTo>
                    <a:pt x="668740" y="141079"/>
                    <a:pt x="681046" y="129544"/>
                    <a:pt x="696035" y="122882"/>
                  </a:cubicBezTo>
                  <a:cubicBezTo>
                    <a:pt x="722327" y="111197"/>
                    <a:pt x="777922" y="95587"/>
                    <a:pt x="777922" y="95587"/>
                  </a:cubicBezTo>
                  <a:cubicBezTo>
                    <a:pt x="842806" y="52330"/>
                    <a:pt x="803303" y="73479"/>
                    <a:pt x="900752" y="40996"/>
                  </a:cubicBezTo>
                  <a:cubicBezTo>
                    <a:pt x="914400" y="36447"/>
                    <a:pt x="929725" y="35328"/>
                    <a:pt x="941695" y="27348"/>
                  </a:cubicBezTo>
                  <a:cubicBezTo>
                    <a:pt x="986423" y="-2472"/>
                    <a:pt x="966235" y="52"/>
                    <a:pt x="996286" y="5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1255594" y="4107976"/>
              <a:ext cx="4080681" cy="750871"/>
            </a:xfrm>
            <a:custGeom>
              <a:avLst/>
              <a:gdLst>
                <a:gd name="connsiteX0" fmla="*/ 0 w 4080681"/>
                <a:gd name="connsiteY0" fmla="*/ 0 h 750871"/>
                <a:gd name="connsiteX1" fmla="*/ 2033516 w 4080681"/>
                <a:gd name="connsiteY1" fmla="*/ 464024 h 750871"/>
                <a:gd name="connsiteX2" fmla="*/ 2033516 w 4080681"/>
                <a:gd name="connsiteY2" fmla="*/ 464024 h 750871"/>
                <a:gd name="connsiteX3" fmla="*/ 4080681 w 4080681"/>
                <a:gd name="connsiteY3" fmla="*/ 750627 h 75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0681" h="750871">
                  <a:moveTo>
                    <a:pt x="0" y="0"/>
                  </a:moveTo>
                  <a:lnTo>
                    <a:pt x="2033516" y="464024"/>
                  </a:lnTo>
                  <a:lnTo>
                    <a:pt x="2033516" y="464024"/>
                  </a:lnTo>
                  <a:cubicBezTo>
                    <a:pt x="2374710" y="511791"/>
                    <a:pt x="3789529" y="759725"/>
                    <a:pt x="4080681" y="75062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188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169"/>
          <p:cNvGrpSpPr/>
          <p:nvPr/>
        </p:nvGrpSpPr>
        <p:grpSpPr>
          <a:xfrm>
            <a:off x="441833" y="1034395"/>
            <a:ext cx="3434131" cy="4099961"/>
            <a:chOff x="441833" y="1034395"/>
            <a:chExt cx="3434131" cy="4099961"/>
          </a:xfrm>
        </p:grpSpPr>
        <p:grpSp>
          <p:nvGrpSpPr>
            <p:cNvPr id="163" name="Group 162"/>
            <p:cNvGrpSpPr/>
            <p:nvPr/>
          </p:nvGrpSpPr>
          <p:grpSpPr>
            <a:xfrm>
              <a:off x="441833" y="1440976"/>
              <a:ext cx="3434131" cy="3693380"/>
              <a:chOff x="441833" y="1440976"/>
              <a:chExt cx="3434131" cy="3693380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598035" y="1440976"/>
                <a:ext cx="3277929" cy="461665"/>
                <a:chOff x="598035" y="1440976"/>
                <a:chExt cx="3277929" cy="461665"/>
              </a:xfrm>
            </p:grpSpPr>
            <p:grpSp>
              <p:nvGrpSpPr>
                <p:cNvPr id="53" name="Group 52"/>
                <p:cNvGrpSpPr/>
                <p:nvPr/>
              </p:nvGrpSpPr>
              <p:grpSpPr>
                <a:xfrm>
                  <a:off x="1119117" y="1495568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54" name="Rectangle 53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" name="Rectangle 54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6" name="Straight Connector 55"/>
                  <p:cNvCxnSpPr>
                    <a:stCxn id="55" idx="0"/>
                    <a:endCxn id="55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/>
                  <p:cNvCxnSpPr/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/>
                  <p:cNvCxnSpPr/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5" name="TextBox 144"/>
                <p:cNvSpPr txBox="1"/>
                <p:nvPr/>
              </p:nvSpPr>
              <p:spPr>
                <a:xfrm>
                  <a:off x="598035" y="1440976"/>
                  <a:ext cx="45076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d</a:t>
                  </a:r>
                  <a:r>
                    <a:rPr lang="en-US" sz="2400" baseline="30000" dirty="0" smtClean="0"/>
                    <a:t>0</a:t>
                  </a:r>
                  <a:endParaRPr lang="en-US" sz="2400" baseline="30000" dirty="0"/>
                </a:p>
              </p:txBody>
            </p:sp>
          </p:grpSp>
          <p:grpSp>
            <p:nvGrpSpPr>
              <p:cNvPr id="158" name="Group 157"/>
              <p:cNvGrpSpPr/>
              <p:nvPr/>
            </p:nvGrpSpPr>
            <p:grpSpPr>
              <a:xfrm>
                <a:off x="586470" y="2050902"/>
                <a:ext cx="3289494" cy="461665"/>
                <a:chOff x="586470" y="2091846"/>
                <a:chExt cx="3289494" cy="461665"/>
              </a:xfrm>
            </p:grpSpPr>
            <p:grpSp>
              <p:nvGrpSpPr>
                <p:cNvPr id="10" name="Group 9"/>
                <p:cNvGrpSpPr/>
                <p:nvPr/>
              </p:nvGrpSpPr>
              <p:grpSpPr>
                <a:xfrm>
                  <a:off x="1119117" y="2140424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2" name="Rectangle 1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" name="Rectangle 2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" name="Straight Connector 4"/>
                  <p:cNvCxnSpPr>
                    <a:stCxn id="3" idx="0"/>
                    <a:endCxn id="3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" name="Straight Connector 6"/>
                  <p:cNvCxnSpPr/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Straight Connector 8"/>
                  <p:cNvCxnSpPr/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1" name="Straight Arrow Connector 60"/>
                <p:cNvCxnSpPr/>
                <p:nvPr/>
              </p:nvCxnSpPr>
              <p:spPr>
                <a:xfrm flipV="1">
                  <a:off x="1312461" y="2167719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 flipV="1">
                  <a:off x="1762837" y="2190466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/>
                <p:cNvCxnSpPr/>
                <p:nvPr/>
              </p:nvCxnSpPr>
              <p:spPr>
                <a:xfrm flipV="1">
                  <a:off x="2185918" y="2190466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7" name="TextBox 146"/>
                <p:cNvSpPr txBox="1"/>
                <p:nvPr/>
              </p:nvSpPr>
              <p:spPr>
                <a:xfrm>
                  <a:off x="586470" y="2091846"/>
                  <a:ext cx="45076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d</a:t>
                  </a:r>
                  <a:r>
                    <a:rPr lang="en-US" sz="2400" baseline="30000" dirty="0" smtClean="0"/>
                    <a:t>3</a:t>
                  </a:r>
                  <a:endParaRPr lang="en-US" sz="2400" baseline="30000" dirty="0"/>
                </a:p>
              </p:txBody>
            </p:sp>
          </p:grpSp>
          <p:grpSp>
            <p:nvGrpSpPr>
              <p:cNvPr id="159" name="Group 158"/>
              <p:cNvGrpSpPr/>
              <p:nvPr/>
            </p:nvGrpSpPr>
            <p:grpSpPr>
              <a:xfrm>
                <a:off x="573014" y="2730730"/>
                <a:ext cx="3302950" cy="461665"/>
                <a:chOff x="573014" y="2730730"/>
                <a:chExt cx="3302950" cy="461665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1119117" y="2785281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2" name="Rectangle 11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" name="Rectangle 12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" name="Straight Connector 13"/>
                  <p:cNvCxnSpPr>
                    <a:stCxn id="13" idx="0"/>
                    <a:endCxn id="13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Connector 14"/>
                  <p:cNvCxnSpPr/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/>
                  <p:cNvCxnSpPr/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4" name="Straight Arrow Connector 63"/>
                <p:cNvCxnSpPr/>
                <p:nvPr/>
              </p:nvCxnSpPr>
              <p:spPr>
                <a:xfrm flipV="1">
                  <a:off x="1312461" y="2830773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/>
                <p:cNvCxnSpPr/>
                <p:nvPr/>
              </p:nvCxnSpPr>
              <p:spPr>
                <a:xfrm flipV="1">
                  <a:off x="1762837" y="2853520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/>
                <p:cNvCxnSpPr/>
                <p:nvPr/>
              </p:nvCxnSpPr>
              <p:spPr>
                <a:xfrm flipV="1">
                  <a:off x="2185918" y="2853520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/>
                <p:cNvCxnSpPr/>
                <p:nvPr/>
              </p:nvCxnSpPr>
              <p:spPr>
                <a:xfrm flipV="1">
                  <a:off x="3236795" y="2830773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/>
                <p:cNvCxnSpPr/>
                <p:nvPr/>
              </p:nvCxnSpPr>
              <p:spPr>
                <a:xfrm flipV="1">
                  <a:off x="3632580" y="2830773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8" name="TextBox 147"/>
                <p:cNvSpPr txBox="1"/>
                <p:nvPr/>
              </p:nvSpPr>
              <p:spPr>
                <a:xfrm>
                  <a:off x="573014" y="2730730"/>
                  <a:ext cx="45076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d</a:t>
                  </a:r>
                  <a:r>
                    <a:rPr lang="en-US" sz="2400" baseline="30000" dirty="0" smtClean="0"/>
                    <a:t>5</a:t>
                  </a:r>
                  <a:endParaRPr lang="en-US" sz="2400" baseline="30000" dirty="0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545911" y="3395446"/>
                <a:ext cx="3289109" cy="461665"/>
                <a:chOff x="545911" y="3327206"/>
                <a:chExt cx="3289109" cy="461665"/>
              </a:xfrm>
            </p:grpSpPr>
            <p:grpSp>
              <p:nvGrpSpPr>
                <p:cNvPr id="17" name="Group 16"/>
                <p:cNvGrpSpPr/>
                <p:nvPr/>
              </p:nvGrpSpPr>
              <p:grpSpPr>
                <a:xfrm>
                  <a:off x="1078173" y="3381798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0" name="Straight Connector 19"/>
                  <p:cNvCxnSpPr>
                    <a:stCxn id="19" idx="0"/>
                    <a:endCxn id="19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/>
                  <p:cNvCxnSpPr/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4" name="Group 73"/>
                <p:cNvGrpSpPr/>
                <p:nvPr/>
              </p:nvGrpSpPr>
              <p:grpSpPr>
                <a:xfrm>
                  <a:off x="1326108" y="3414215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75" name="Straight Arrow Connector 74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Arrow Connector 75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0" name="Group 79"/>
                <p:cNvGrpSpPr/>
                <p:nvPr/>
              </p:nvGrpSpPr>
              <p:grpSpPr>
                <a:xfrm>
                  <a:off x="2151796" y="3447197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81" name="Straight Arrow Connector 80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Arrow Connector 81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5" name="Group 94"/>
                <p:cNvGrpSpPr/>
                <p:nvPr/>
              </p:nvGrpSpPr>
              <p:grpSpPr>
                <a:xfrm>
                  <a:off x="1742366" y="3421037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96" name="Straight Arrow Connector 95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Arrow Connector 96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9" name="TextBox 148"/>
                <p:cNvSpPr txBox="1"/>
                <p:nvPr/>
              </p:nvSpPr>
              <p:spPr>
                <a:xfrm>
                  <a:off x="545911" y="3327206"/>
                  <a:ext cx="45076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d</a:t>
                  </a:r>
                  <a:r>
                    <a:rPr lang="en-US" sz="2400" baseline="30000" dirty="0" smtClean="0"/>
                    <a:t>6</a:t>
                  </a:r>
                  <a:endParaRPr lang="en-US" sz="2400" baseline="30000" dirty="0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532263" y="4011348"/>
                <a:ext cx="3302757" cy="461665"/>
                <a:chOff x="532263" y="3874868"/>
                <a:chExt cx="3302757" cy="461665"/>
              </a:xfrm>
            </p:grpSpPr>
            <p:grpSp>
              <p:nvGrpSpPr>
                <p:cNvPr id="23" name="Group 22"/>
                <p:cNvGrpSpPr/>
                <p:nvPr/>
              </p:nvGrpSpPr>
              <p:grpSpPr>
                <a:xfrm>
                  <a:off x="1078173" y="3936242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6" name="Straight Connector 25"/>
                  <p:cNvCxnSpPr>
                    <a:stCxn id="25" idx="0"/>
                    <a:endCxn id="25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/>
                  <p:cNvCxnSpPr/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7" name="Group 76"/>
                <p:cNvGrpSpPr/>
                <p:nvPr/>
              </p:nvGrpSpPr>
              <p:grpSpPr>
                <a:xfrm>
                  <a:off x="1726442" y="3969224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78" name="Straight Arrow Connector 77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Arrow Connector 78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2" name="Group 91"/>
                <p:cNvGrpSpPr/>
                <p:nvPr/>
              </p:nvGrpSpPr>
              <p:grpSpPr>
                <a:xfrm>
                  <a:off x="1246497" y="3989125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93" name="Straight Arrow Connector 92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Arrow Connector 93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8" name="Group 97"/>
                <p:cNvGrpSpPr/>
                <p:nvPr/>
              </p:nvGrpSpPr>
              <p:grpSpPr>
                <a:xfrm>
                  <a:off x="2142700" y="3973773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99" name="Straight Arrow Connector 98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Arrow Connector 99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3" name="Straight Arrow Connector 142"/>
                <p:cNvCxnSpPr/>
                <p:nvPr/>
              </p:nvCxnSpPr>
              <p:spPr>
                <a:xfrm flipV="1">
                  <a:off x="3236795" y="3976047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Arrow Connector 143"/>
                <p:cNvCxnSpPr/>
                <p:nvPr/>
              </p:nvCxnSpPr>
              <p:spPr>
                <a:xfrm flipV="1">
                  <a:off x="3632580" y="3976046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0" name="TextBox 149"/>
                <p:cNvSpPr txBox="1"/>
                <p:nvPr/>
              </p:nvSpPr>
              <p:spPr>
                <a:xfrm>
                  <a:off x="532263" y="3874868"/>
                  <a:ext cx="45076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d</a:t>
                  </a:r>
                  <a:r>
                    <a:rPr lang="en-US" sz="2400" baseline="30000" dirty="0" smtClean="0"/>
                    <a:t>8</a:t>
                  </a:r>
                  <a:endParaRPr lang="en-US" sz="2400" baseline="30000" dirty="0"/>
                </a:p>
              </p:txBody>
            </p:sp>
          </p:grpSp>
          <p:grpSp>
            <p:nvGrpSpPr>
              <p:cNvPr id="162" name="Group 161"/>
              <p:cNvGrpSpPr/>
              <p:nvPr/>
            </p:nvGrpSpPr>
            <p:grpSpPr>
              <a:xfrm>
                <a:off x="441833" y="4672691"/>
                <a:ext cx="3393187" cy="461665"/>
                <a:chOff x="441833" y="4590803"/>
                <a:chExt cx="3393187" cy="461665"/>
              </a:xfrm>
            </p:grpSpPr>
            <p:grpSp>
              <p:nvGrpSpPr>
                <p:cNvPr id="29" name="Group 28"/>
                <p:cNvGrpSpPr/>
                <p:nvPr/>
              </p:nvGrpSpPr>
              <p:grpSpPr>
                <a:xfrm>
                  <a:off x="1078173" y="4641376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30" name="Rectangle 29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2" name="Straight Connector 31"/>
                  <p:cNvCxnSpPr>
                    <a:stCxn id="31" idx="0"/>
                    <a:endCxn id="31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/>
                  <p:cNvCxnSpPr/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Connector 33"/>
                  <p:cNvCxnSpPr/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1" name="Group 100"/>
                <p:cNvGrpSpPr/>
                <p:nvPr/>
              </p:nvGrpSpPr>
              <p:grpSpPr>
                <a:xfrm>
                  <a:off x="1701418" y="4667533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02" name="Straight Arrow Connector 101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Arrow Connector 102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4" name="Group 103"/>
                <p:cNvGrpSpPr/>
                <p:nvPr/>
              </p:nvGrpSpPr>
              <p:grpSpPr>
                <a:xfrm>
                  <a:off x="1262417" y="4687434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05" name="Straight Arrow Connector 104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Arrow Connector 105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" name="Group 106"/>
                <p:cNvGrpSpPr/>
                <p:nvPr/>
              </p:nvGrpSpPr>
              <p:grpSpPr>
                <a:xfrm>
                  <a:off x="2144972" y="4672082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08" name="Straight Arrow Connector 107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Arrow Connector 108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7" name="Group 136"/>
                <p:cNvGrpSpPr/>
                <p:nvPr/>
              </p:nvGrpSpPr>
              <p:grpSpPr>
                <a:xfrm>
                  <a:off x="3174240" y="4707340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38" name="Straight Arrow Connector 137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Arrow Connector 138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0" name="Group 139"/>
                <p:cNvGrpSpPr/>
                <p:nvPr/>
              </p:nvGrpSpPr>
              <p:grpSpPr>
                <a:xfrm>
                  <a:off x="3585950" y="4685159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41" name="Straight Arrow Connector 140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Straight Arrow Connector 141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1" name="TextBox 150"/>
                <p:cNvSpPr txBox="1"/>
                <p:nvPr/>
              </p:nvSpPr>
              <p:spPr>
                <a:xfrm>
                  <a:off x="441833" y="4590803"/>
                  <a:ext cx="55496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d</a:t>
                  </a:r>
                  <a:r>
                    <a:rPr lang="en-US" sz="2400" baseline="30000" dirty="0" smtClean="0"/>
                    <a:t>10</a:t>
                  </a:r>
                  <a:endParaRPr lang="en-US" sz="2400" baseline="30000" dirty="0"/>
                </a:p>
              </p:txBody>
            </p:sp>
          </p:grpSp>
        </p:grpSp>
        <p:sp>
          <p:nvSpPr>
            <p:cNvPr id="165" name="TextBox 164"/>
            <p:cNvSpPr txBox="1"/>
            <p:nvPr/>
          </p:nvSpPr>
          <p:spPr>
            <a:xfrm>
              <a:off x="1581711" y="1040800"/>
              <a:ext cx="412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</a:t>
              </a:r>
              <a:r>
                <a:rPr lang="en-US" baseline="-25000" dirty="0" smtClean="0"/>
                <a:t>2g</a:t>
              </a:r>
              <a:endParaRPr lang="en-US" baseline="-25000" dirty="0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3323227" y="1034395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e</a:t>
              </a:r>
              <a:r>
                <a:rPr lang="en-US" baseline="-25000" dirty="0" err="1" smtClean="0"/>
                <a:t>g</a:t>
              </a:r>
              <a:endParaRPr lang="en-US" baseline="-25000" dirty="0"/>
            </a:p>
          </p:txBody>
        </p:sp>
      </p:grpSp>
      <p:grpSp>
        <p:nvGrpSpPr>
          <p:cNvPr id="169" name="Group 168"/>
          <p:cNvGrpSpPr/>
          <p:nvPr/>
        </p:nvGrpSpPr>
        <p:grpSpPr>
          <a:xfrm>
            <a:off x="7317087" y="1241387"/>
            <a:ext cx="3341814" cy="2032854"/>
            <a:chOff x="7317087" y="1241387"/>
            <a:chExt cx="3341814" cy="2032854"/>
          </a:xfrm>
        </p:grpSpPr>
        <p:grpSp>
          <p:nvGrpSpPr>
            <p:cNvPr id="164" name="Group 163"/>
            <p:cNvGrpSpPr/>
            <p:nvPr/>
          </p:nvGrpSpPr>
          <p:grpSpPr>
            <a:xfrm>
              <a:off x="7317087" y="1665111"/>
              <a:ext cx="3341814" cy="1609130"/>
              <a:chOff x="7317087" y="1665111"/>
              <a:chExt cx="3341814" cy="1609130"/>
            </a:xfrm>
          </p:grpSpPr>
          <p:grpSp>
            <p:nvGrpSpPr>
              <p:cNvPr id="154" name="Group 153"/>
              <p:cNvGrpSpPr/>
              <p:nvPr/>
            </p:nvGrpSpPr>
            <p:grpSpPr>
              <a:xfrm>
                <a:off x="7317087" y="2812576"/>
                <a:ext cx="3300870" cy="461665"/>
                <a:chOff x="7317087" y="2812576"/>
                <a:chExt cx="3300870" cy="461665"/>
              </a:xfrm>
            </p:grpSpPr>
            <p:grpSp>
              <p:nvGrpSpPr>
                <p:cNvPr id="47" name="Group 46"/>
                <p:cNvGrpSpPr/>
                <p:nvPr/>
              </p:nvGrpSpPr>
              <p:grpSpPr>
                <a:xfrm>
                  <a:off x="7861110" y="2866030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48" name="Rectangle 47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Rectangle 48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50" name="Straight Connector 49"/>
                  <p:cNvCxnSpPr>
                    <a:stCxn id="49" idx="0"/>
                    <a:endCxn id="49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/>
                  <p:cNvCxnSpPr/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/>
                  <p:cNvCxnSpPr/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Group 109"/>
                <p:cNvGrpSpPr/>
                <p:nvPr/>
              </p:nvGrpSpPr>
              <p:grpSpPr>
                <a:xfrm>
                  <a:off x="8484356" y="2893326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11" name="Straight Arrow Connector 110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3" name="Group 112"/>
                <p:cNvGrpSpPr/>
                <p:nvPr/>
              </p:nvGrpSpPr>
              <p:grpSpPr>
                <a:xfrm>
                  <a:off x="8045355" y="2885931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14" name="Straight Arrow Connector 113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Arrow Connector 114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6" name="Group 115"/>
                <p:cNvGrpSpPr/>
                <p:nvPr/>
              </p:nvGrpSpPr>
              <p:grpSpPr>
                <a:xfrm>
                  <a:off x="8927910" y="2884227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17" name="Straight Arrow Connector 116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Straight Arrow Connector 117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33" name="Straight Arrow Connector 132"/>
                <p:cNvCxnSpPr/>
                <p:nvPr/>
              </p:nvCxnSpPr>
              <p:spPr>
                <a:xfrm flipV="1">
                  <a:off x="10401870" y="2934269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Group 133"/>
                <p:cNvGrpSpPr/>
                <p:nvPr/>
              </p:nvGrpSpPr>
              <p:grpSpPr>
                <a:xfrm>
                  <a:off x="9957180" y="2906973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35" name="Straight Arrow Connector 134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Arrow Connector 135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6" name="TextBox 145"/>
                <p:cNvSpPr txBox="1"/>
                <p:nvPr/>
              </p:nvSpPr>
              <p:spPr>
                <a:xfrm>
                  <a:off x="7317087" y="2812576"/>
                  <a:ext cx="45076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d</a:t>
                  </a:r>
                  <a:r>
                    <a:rPr lang="en-US" sz="2400" baseline="30000" dirty="0" smtClean="0"/>
                    <a:t>9</a:t>
                  </a:r>
                  <a:endParaRPr lang="en-US" sz="2400" baseline="30000" dirty="0"/>
                </a:p>
              </p:txBody>
            </p:sp>
          </p:grpSp>
          <p:grpSp>
            <p:nvGrpSpPr>
              <p:cNvPr id="156" name="Group 155"/>
              <p:cNvGrpSpPr/>
              <p:nvPr/>
            </p:nvGrpSpPr>
            <p:grpSpPr>
              <a:xfrm>
                <a:off x="7360306" y="1665111"/>
                <a:ext cx="3298595" cy="461665"/>
                <a:chOff x="7360306" y="1665111"/>
                <a:chExt cx="3298595" cy="461665"/>
              </a:xfrm>
            </p:grpSpPr>
            <p:grpSp>
              <p:nvGrpSpPr>
                <p:cNvPr id="35" name="Group 34"/>
                <p:cNvGrpSpPr/>
                <p:nvPr/>
              </p:nvGrpSpPr>
              <p:grpSpPr>
                <a:xfrm>
                  <a:off x="7902054" y="1715069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36" name="Rectangle 35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Rectangle 36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8" name="Straight Connector 37"/>
                  <p:cNvCxnSpPr>
                    <a:stCxn id="37" idx="0"/>
                    <a:endCxn id="37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8" name="Straight Arrow Connector 127"/>
                <p:cNvCxnSpPr/>
                <p:nvPr/>
              </p:nvCxnSpPr>
              <p:spPr>
                <a:xfrm flipV="1">
                  <a:off x="8070376" y="1760561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/>
                <p:cNvCxnSpPr/>
                <p:nvPr/>
              </p:nvCxnSpPr>
              <p:spPr>
                <a:xfrm flipV="1">
                  <a:off x="8520752" y="1783308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/>
                <p:cNvCxnSpPr/>
                <p:nvPr/>
              </p:nvCxnSpPr>
              <p:spPr>
                <a:xfrm flipV="1">
                  <a:off x="8943833" y="1783308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/>
                <p:cNvCxnSpPr/>
                <p:nvPr/>
              </p:nvCxnSpPr>
              <p:spPr>
                <a:xfrm flipV="1">
                  <a:off x="10033380" y="1760561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2" name="TextBox 151"/>
                <p:cNvSpPr txBox="1"/>
                <p:nvPr/>
              </p:nvSpPr>
              <p:spPr>
                <a:xfrm>
                  <a:off x="7360306" y="1665111"/>
                  <a:ext cx="45076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d</a:t>
                  </a:r>
                  <a:r>
                    <a:rPr lang="en-US" sz="2400" baseline="30000" dirty="0" smtClean="0"/>
                    <a:t>4</a:t>
                  </a:r>
                  <a:endParaRPr lang="en-US" sz="2400" baseline="30000" dirty="0"/>
                </a:p>
              </p:txBody>
            </p:sp>
          </p:grpSp>
          <p:grpSp>
            <p:nvGrpSpPr>
              <p:cNvPr id="155" name="Group 154"/>
              <p:cNvGrpSpPr/>
              <p:nvPr/>
            </p:nvGrpSpPr>
            <p:grpSpPr>
              <a:xfrm>
                <a:off x="7355756" y="2269267"/>
                <a:ext cx="3303145" cy="461665"/>
                <a:chOff x="7355756" y="2269267"/>
                <a:chExt cx="3303145" cy="461665"/>
              </a:xfrm>
            </p:grpSpPr>
            <p:grpSp>
              <p:nvGrpSpPr>
                <p:cNvPr id="41" name="Group 40"/>
                <p:cNvGrpSpPr/>
                <p:nvPr/>
              </p:nvGrpSpPr>
              <p:grpSpPr>
                <a:xfrm>
                  <a:off x="7902054" y="2311021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42" name="Rectangle 41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" name="Rectangle 42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44" name="Straight Connector 43"/>
                  <p:cNvCxnSpPr>
                    <a:stCxn id="43" idx="0"/>
                    <a:endCxn id="43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9" name="Group 118"/>
                <p:cNvGrpSpPr/>
                <p:nvPr/>
              </p:nvGrpSpPr>
              <p:grpSpPr>
                <a:xfrm>
                  <a:off x="8520752" y="2349975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20" name="Straight Arrow Connector 119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2" name="Group 121"/>
                <p:cNvGrpSpPr/>
                <p:nvPr/>
              </p:nvGrpSpPr>
              <p:grpSpPr>
                <a:xfrm>
                  <a:off x="8081751" y="2356228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23" name="Straight Arrow Connector 122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Arrow Connector 123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5" name="Group 124"/>
                <p:cNvGrpSpPr/>
                <p:nvPr/>
              </p:nvGrpSpPr>
              <p:grpSpPr>
                <a:xfrm>
                  <a:off x="8964306" y="2340876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126" name="Straight Arrow Connector 125"/>
                  <p:cNvCxnSpPr/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Arrow Connector 126"/>
                  <p:cNvCxnSpPr/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32" name="Straight Arrow Connector 131"/>
                <p:cNvCxnSpPr/>
                <p:nvPr/>
              </p:nvCxnSpPr>
              <p:spPr>
                <a:xfrm flipV="1">
                  <a:off x="10022008" y="2349975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3" name="TextBox 152"/>
                <p:cNvSpPr txBox="1"/>
                <p:nvPr/>
              </p:nvSpPr>
              <p:spPr>
                <a:xfrm>
                  <a:off x="7355756" y="2269267"/>
                  <a:ext cx="45076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d</a:t>
                  </a:r>
                  <a:r>
                    <a:rPr lang="en-US" sz="2400" baseline="30000" dirty="0" smtClean="0"/>
                    <a:t>7</a:t>
                  </a:r>
                  <a:endParaRPr lang="en-US" sz="2400" baseline="30000" dirty="0"/>
                </a:p>
              </p:txBody>
            </p:sp>
          </p:grpSp>
        </p:grpSp>
        <p:sp>
          <p:nvSpPr>
            <p:cNvPr id="167" name="TextBox 166"/>
            <p:cNvSpPr txBox="1"/>
            <p:nvPr/>
          </p:nvSpPr>
          <p:spPr>
            <a:xfrm>
              <a:off x="8257761" y="1247792"/>
              <a:ext cx="412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</a:t>
              </a:r>
              <a:r>
                <a:rPr lang="en-US" baseline="-25000" dirty="0" smtClean="0"/>
                <a:t>2g</a:t>
              </a:r>
              <a:endParaRPr lang="en-US" baseline="-25000" dirty="0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9999277" y="1241387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e</a:t>
              </a:r>
              <a:r>
                <a:rPr lang="en-US" baseline="-25000" dirty="0" err="1" smtClean="0"/>
                <a:t>g</a:t>
              </a:r>
              <a:endParaRPr lang="en-US" baseline="-25000" dirty="0"/>
            </a:p>
          </p:txBody>
        </p:sp>
      </p:grpSp>
      <p:graphicFrame>
        <p:nvGraphicFramePr>
          <p:cNvPr id="172" name="Object 1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481688"/>
              </p:ext>
            </p:extLst>
          </p:nvPr>
        </p:nvGraphicFramePr>
        <p:xfrm>
          <a:off x="5556108" y="3591680"/>
          <a:ext cx="5061849" cy="2602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CS ChemDraw Drawing" r:id="rId3" imgW="3387531" imgH="1741271" progId="ChemDraw.Document.6.0">
                  <p:embed/>
                </p:oleObj>
              </mc:Choice>
              <mc:Fallback>
                <p:oleObj name="CS ChemDraw Drawing" r:id="rId3" imgW="3387531" imgH="174127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56108" y="3591680"/>
                        <a:ext cx="5061849" cy="26020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" name="TextBox 173"/>
          <p:cNvSpPr txBox="1"/>
          <p:nvPr/>
        </p:nvSpPr>
        <p:spPr>
          <a:xfrm>
            <a:off x="7060757" y="6049538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Cr d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; </a:t>
            </a:r>
            <a:r>
              <a:rPr lang="en-US" sz="2400" dirty="0" err="1" smtClean="0"/>
              <a:t>Mn</a:t>
            </a:r>
            <a:r>
              <a:rPr lang="en-US" sz="2400" dirty="0" smtClean="0"/>
              <a:t> d</a:t>
            </a:r>
            <a:r>
              <a:rPr lang="en-US" sz="2400" baseline="30000" dirty="0" smtClean="0"/>
              <a:t>6</a:t>
            </a:r>
            <a:endParaRPr lang="en-US" sz="2400" baseline="30000" dirty="0"/>
          </a:p>
        </p:txBody>
      </p:sp>
    </p:spTree>
    <p:extLst>
      <p:ext uri="{BB962C8B-B14F-4D97-AF65-F5344CB8AC3E}">
        <p14:creationId xmlns:p14="http://schemas.microsoft.com/office/powerpoint/2010/main" val="322127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903" y="0"/>
            <a:ext cx="8933395" cy="18151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035" y="1952199"/>
            <a:ext cx="4972838" cy="46396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697" y="2978126"/>
            <a:ext cx="4696544" cy="147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49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8325134" y="1214651"/>
            <a:ext cx="36215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</a:t>
            </a:r>
            <a:r>
              <a:rPr lang="en-US" baseline="-25000" dirty="0" smtClean="0"/>
              <a:t>1</a:t>
            </a:r>
            <a:r>
              <a:rPr lang="en-US" dirty="0" smtClean="0"/>
              <a:t>&lt;K</a:t>
            </a:r>
            <a:r>
              <a:rPr lang="en-US" baseline="-25000" dirty="0" smtClean="0"/>
              <a:t>2</a:t>
            </a:r>
            <a:r>
              <a:rPr lang="en-US" dirty="0" smtClean="0"/>
              <a:t>,K</a:t>
            </a:r>
            <a:r>
              <a:rPr lang="en-US" baseline="-25000" dirty="0" smtClean="0"/>
              <a:t>3</a:t>
            </a:r>
            <a:r>
              <a:rPr lang="en-US" dirty="0" smtClean="0"/>
              <a:t>  for all metals </a:t>
            </a:r>
            <a:r>
              <a:rPr lang="en-US" dirty="0" err="1" smtClean="0"/>
              <a:t>Mn</a:t>
            </a:r>
            <a:r>
              <a:rPr lang="en-US" dirty="0" smtClean="0"/>
              <a:t>(II to Zn(II)</a:t>
            </a:r>
          </a:p>
          <a:p>
            <a:endParaRPr lang="en-US" dirty="0" smtClean="0"/>
          </a:p>
          <a:p>
            <a:r>
              <a:rPr lang="en-US" dirty="0" smtClean="0"/>
              <a:t>But for Cu(II)      K</a:t>
            </a:r>
            <a:r>
              <a:rPr lang="en-US" baseline="-25000" dirty="0" smtClean="0"/>
              <a:t>3</a:t>
            </a:r>
            <a:r>
              <a:rPr lang="en-US" dirty="0" smtClean="0"/>
              <a:t>&lt;&lt; K</a:t>
            </a:r>
            <a:r>
              <a:rPr lang="en-US" baseline="-25000" dirty="0" smtClean="0"/>
              <a:t>1</a:t>
            </a:r>
            <a:r>
              <a:rPr lang="en-US" dirty="0" smtClean="0"/>
              <a:t>, K</a:t>
            </a:r>
            <a:r>
              <a:rPr lang="en-US" baseline="-25000" dirty="0" smtClean="0"/>
              <a:t>2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135542"/>
              </p:ext>
            </p:extLst>
          </p:nvPr>
        </p:nvGraphicFramePr>
        <p:xfrm>
          <a:off x="2406414" y="3322741"/>
          <a:ext cx="6942360" cy="2537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CS ChemDraw Drawing" r:id="rId3" imgW="5086560" imgH="1858822" progId="ChemDraw.Document.6.0">
                  <p:embed/>
                </p:oleObj>
              </mc:Choice>
              <mc:Fallback>
                <p:oleObj name="CS ChemDraw Drawing" r:id="rId3" imgW="5086560" imgH="185882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06414" y="3322741"/>
                        <a:ext cx="6942360" cy="2537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1801504" y="866507"/>
            <a:ext cx="5977720" cy="2188400"/>
            <a:chOff x="1801504" y="866507"/>
            <a:chExt cx="5977720" cy="2188400"/>
          </a:xfrm>
        </p:grpSpPr>
        <p:sp>
          <p:nvSpPr>
            <p:cNvPr id="6" name="TextBox 5"/>
            <p:cNvSpPr txBox="1"/>
            <p:nvPr/>
          </p:nvSpPr>
          <p:spPr>
            <a:xfrm>
              <a:off x="1801504" y="1023582"/>
              <a:ext cx="597772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[M(H</a:t>
              </a:r>
              <a:r>
                <a:rPr lang="en-US" baseline="-25000" dirty="0" smtClean="0"/>
                <a:t>2</a:t>
              </a:r>
              <a:r>
                <a:rPr lang="en-US" dirty="0" smtClean="0"/>
                <a:t>O)</a:t>
              </a:r>
              <a:r>
                <a:rPr lang="en-US" baseline="-25000" dirty="0" smtClean="0"/>
                <a:t>6</a:t>
              </a:r>
              <a:r>
                <a:rPr lang="en-US" dirty="0" smtClean="0"/>
                <a:t>]</a:t>
              </a:r>
              <a:r>
                <a:rPr lang="en-US" baseline="30000" dirty="0" smtClean="0"/>
                <a:t>2+</a:t>
              </a:r>
              <a:r>
                <a:rPr lang="en-US" dirty="0" smtClean="0"/>
                <a:t>    +   </a:t>
              </a:r>
              <a:r>
                <a:rPr lang="en-US" dirty="0" err="1" smtClean="0"/>
                <a:t>en</a:t>
              </a:r>
              <a:r>
                <a:rPr lang="en-US" dirty="0" smtClean="0"/>
                <a:t>                    [M(H</a:t>
              </a:r>
              <a:r>
                <a:rPr lang="en-US" baseline="-25000" dirty="0" smtClean="0"/>
                <a:t>2</a:t>
              </a:r>
              <a:r>
                <a:rPr lang="en-US" dirty="0" smtClean="0"/>
                <a:t>O)</a:t>
              </a:r>
              <a:r>
                <a:rPr lang="en-US" baseline="-25000" dirty="0" smtClean="0"/>
                <a:t>4</a:t>
              </a:r>
              <a:r>
                <a:rPr lang="en-US" dirty="0" smtClean="0"/>
                <a:t>]</a:t>
              </a:r>
              <a:r>
                <a:rPr lang="en-US" baseline="30000" dirty="0" smtClean="0"/>
                <a:t>2</a:t>
              </a:r>
              <a:r>
                <a:rPr lang="en-US" baseline="30000" dirty="0"/>
                <a:t>+</a:t>
              </a:r>
              <a:r>
                <a:rPr lang="en-US" dirty="0" smtClean="0"/>
                <a:t> + 2H</a:t>
              </a:r>
              <a:r>
                <a:rPr lang="en-US" baseline="-25000" dirty="0" smtClean="0"/>
                <a:t>2</a:t>
              </a:r>
              <a:r>
                <a:rPr lang="en-US" dirty="0" smtClean="0"/>
                <a:t>O</a:t>
              </a:r>
            </a:p>
            <a:p>
              <a:endParaRPr lang="en-US" dirty="0"/>
            </a:p>
            <a:p>
              <a:r>
                <a:rPr lang="en-US" dirty="0"/>
                <a:t>[</a:t>
              </a:r>
              <a:r>
                <a:rPr lang="en-US" dirty="0" smtClean="0"/>
                <a:t>M(</a:t>
              </a:r>
              <a:r>
                <a:rPr lang="en-US" dirty="0" err="1" smtClean="0"/>
                <a:t>en</a:t>
              </a:r>
              <a:r>
                <a:rPr lang="en-US" dirty="0" smtClean="0"/>
                <a:t>)(H</a:t>
              </a:r>
              <a:r>
                <a:rPr lang="en-US" baseline="-25000" dirty="0" smtClean="0"/>
                <a:t>2</a:t>
              </a:r>
              <a:r>
                <a:rPr lang="en-US" dirty="0" smtClean="0"/>
                <a:t>O)</a:t>
              </a:r>
              <a:r>
                <a:rPr lang="en-US" baseline="-25000" dirty="0" smtClean="0"/>
                <a:t>4</a:t>
              </a:r>
              <a:r>
                <a:rPr lang="en-US" dirty="0" smtClean="0"/>
                <a:t>]</a:t>
              </a:r>
              <a:r>
                <a:rPr lang="en-US" baseline="30000" dirty="0" smtClean="0"/>
                <a:t>2</a:t>
              </a:r>
              <a:r>
                <a:rPr lang="en-US" baseline="30000" dirty="0"/>
                <a:t>+</a:t>
              </a:r>
              <a:r>
                <a:rPr lang="en-US" dirty="0"/>
                <a:t>    +   </a:t>
              </a:r>
              <a:r>
                <a:rPr lang="en-US" dirty="0" err="1"/>
                <a:t>en</a:t>
              </a:r>
              <a:r>
                <a:rPr lang="en-US" dirty="0"/>
                <a:t>                    </a:t>
              </a:r>
              <a:r>
                <a:rPr lang="en-US" dirty="0" smtClean="0"/>
                <a:t>[M(</a:t>
              </a:r>
              <a:r>
                <a:rPr lang="en-US" dirty="0" err="1" smtClean="0"/>
                <a:t>en</a:t>
              </a:r>
              <a:r>
                <a:rPr lang="en-US" dirty="0" smtClean="0"/>
                <a:t>)</a:t>
              </a:r>
              <a:r>
                <a:rPr lang="en-US" baseline="-25000" dirty="0" smtClean="0"/>
                <a:t>2</a:t>
              </a:r>
              <a:r>
                <a:rPr lang="en-US" dirty="0" smtClean="0"/>
                <a:t>(H</a:t>
              </a:r>
              <a:r>
                <a:rPr lang="en-US" baseline="-25000" dirty="0" smtClean="0"/>
                <a:t>2</a:t>
              </a:r>
              <a:r>
                <a:rPr lang="en-US" dirty="0" smtClean="0"/>
                <a:t>O)</a:t>
              </a:r>
              <a:r>
                <a:rPr lang="en-US" baseline="-25000" dirty="0" smtClean="0"/>
                <a:t>2</a:t>
              </a:r>
              <a:r>
                <a:rPr lang="en-US" dirty="0" smtClean="0"/>
                <a:t>]</a:t>
              </a:r>
              <a:r>
                <a:rPr lang="en-US" baseline="30000" dirty="0" smtClean="0"/>
                <a:t>2</a:t>
              </a:r>
              <a:r>
                <a:rPr lang="en-US" baseline="30000" dirty="0"/>
                <a:t>+</a:t>
              </a:r>
              <a:r>
                <a:rPr lang="en-US" dirty="0"/>
                <a:t> + </a:t>
              </a:r>
              <a:r>
                <a:rPr lang="en-US" dirty="0" smtClean="0"/>
                <a:t>2H</a:t>
              </a:r>
              <a:r>
                <a:rPr lang="en-US" baseline="-25000" dirty="0" smtClean="0"/>
                <a:t>2</a:t>
              </a:r>
              <a:r>
                <a:rPr lang="en-US" dirty="0" smtClean="0"/>
                <a:t>O</a:t>
              </a:r>
              <a:endParaRPr lang="en-US" dirty="0"/>
            </a:p>
            <a:p>
              <a:endParaRPr lang="en-US" dirty="0" smtClean="0"/>
            </a:p>
            <a:p>
              <a:r>
                <a:rPr lang="en-US" dirty="0"/>
                <a:t>[</a:t>
              </a:r>
              <a:r>
                <a:rPr lang="en-US" dirty="0" smtClean="0"/>
                <a:t>M(</a:t>
              </a:r>
              <a:r>
                <a:rPr lang="en-US" dirty="0" err="1" smtClean="0"/>
                <a:t>en</a:t>
              </a:r>
              <a:r>
                <a:rPr lang="en-US" dirty="0" smtClean="0"/>
                <a:t>)</a:t>
              </a:r>
              <a:r>
                <a:rPr lang="en-US" baseline="-25000" dirty="0" smtClean="0"/>
                <a:t>2</a:t>
              </a:r>
              <a:r>
                <a:rPr lang="en-US" dirty="0" smtClean="0"/>
                <a:t>(H</a:t>
              </a:r>
              <a:r>
                <a:rPr lang="en-US" baseline="-25000" dirty="0" smtClean="0"/>
                <a:t>2</a:t>
              </a:r>
              <a:r>
                <a:rPr lang="en-US" dirty="0" smtClean="0"/>
                <a:t>O)</a:t>
              </a:r>
              <a:r>
                <a:rPr lang="en-US" baseline="-25000" dirty="0" smtClean="0"/>
                <a:t>2</a:t>
              </a:r>
              <a:r>
                <a:rPr lang="en-US" dirty="0" smtClean="0"/>
                <a:t>]</a:t>
              </a:r>
              <a:r>
                <a:rPr lang="en-US" baseline="30000" dirty="0" smtClean="0"/>
                <a:t>2</a:t>
              </a:r>
              <a:r>
                <a:rPr lang="en-US" baseline="30000" dirty="0"/>
                <a:t>+</a:t>
              </a:r>
              <a:r>
                <a:rPr lang="en-US" dirty="0"/>
                <a:t>    +   </a:t>
              </a:r>
              <a:r>
                <a:rPr lang="en-US" dirty="0" err="1"/>
                <a:t>en</a:t>
              </a:r>
              <a:r>
                <a:rPr lang="en-US" dirty="0"/>
                <a:t>                    </a:t>
              </a:r>
              <a:r>
                <a:rPr lang="en-US" dirty="0" smtClean="0"/>
                <a:t>[M(</a:t>
              </a:r>
              <a:r>
                <a:rPr lang="en-US" dirty="0" err="1" smtClean="0"/>
                <a:t>en</a:t>
              </a:r>
              <a:r>
                <a:rPr lang="en-US" dirty="0" smtClean="0"/>
                <a:t>)</a:t>
              </a:r>
              <a:r>
                <a:rPr lang="en-US" baseline="-25000" dirty="0" smtClean="0"/>
                <a:t>3</a:t>
              </a:r>
              <a:r>
                <a:rPr lang="en-US" dirty="0" smtClean="0"/>
                <a:t>]</a:t>
              </a:r>
              <a:r>
                <a:rPr lang="en-US" baseline="30000" dirty="0" smtClean="0"/>
                <a:t>2</a:t>
              </a:r>
              <a:r>
                <a:rPr lang="en-US" baseline="30000" dirty="0"/>
                <a:t>+</a:t>
              </a:r>
              <a:r>
                <a:rPr lang="en-US" dirty="0"/>
                <a:t> + </a:t>
              </a:r>
              <a:r>
                <a:rPr lang="en-US" dirty="0" smtClean="0"/>
                <a:t>2H</a:t>
              </a:r>
              <a:r>
                <a:rPr lang="en-US" baseline="-25000" dirty="0" smtClean="0"/>
                <a:t>2</a:t>
              </a:r>
              <a:r>
                <a:rPr lang="en-US" dirty="0" smtClean="0"/>
                <a:t>O</a:t>
              </a:r>
              <a:endParaRPr lang="en-US" dirty="0"/>
            </a:p>
            <a:p>
              <a:endParaRPr lang="en-US" dirty="0"/>
            </a:p>
            <a:p>
              <a:r>
                <a:rPr lang="en-US" dirty="0" smtClean="0"/>
                <a:t>                </a:t>
              </a:r>
              <a:endParaRPr lang="en-US" dirty="0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3821373" y="866507"/>
              <a:ext cx="1189630" cy="1469535"/>
              <a:chOff x="3821373" y="866507"/>
              <a:chExt cx="1189630" cy="1469535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3821373" y="1214651"/>
                <a:ext cx="7096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4301319" y="1817427"/>
                <a:ext cx="7096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>
                <a:off x="4301319" y="2336042"/>
                <a:ext cx="7096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3984496" y="866507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K</a:t>
                </a:r>
                <a:r>
                  <a:rPr lang="en-US" baseline="-25000" dirty="0" smtClean="0"/>
                  <a:t>1</a:t>
                </a:r>
                <a:endParaRPr lang="en-US" baseline="-25000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394905" y="1482486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K</a:t>
                </a:r>
                <a:r>
                  <a:rPr lang="en-US" baseline="-25000" dirty="0" smtClean="0"/>
                  <a:t>2</a:t>
                </a:r>
                <a:endParaRPr lang="en-US" baseline="-25000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409856" y="1960605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K</a:t>
                </a:r>
                <a:r>
                  <a:rPr lang="en-US" baseline="-25000" dirty="0" smtClean="0"/>
                  <a:t>3</a:t>
                </a:r>
                <a:endParaRPr lang="en-US" baseline="-25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845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18" y="2653638"/>
            <a:ext cx="3788136" cy="8399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94" y="3970434"/>
            <a:ext cx="5192188" cy="26077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754" y="360601"/>
            <a:ext cx="7551845" cy="462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65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081" y="0"/>
            <a:ext cx="7025383" cy="18523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7779" y="1852396"/>
            <a:ext cx="6944365" cy="6515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34" y="2575865"/>
            <a:ext cx="11955830" cy="3961413"/>
          </a:xfrm>
          <a:prstGeom prst="rect">
            <a:avLst/>
          </a:prstGeom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846601" y="6142491"/>
            <a:ext cx="146367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dirty="0">
                <a:latin typeface="Symbol" panose="05050102010706020507" pitchFamily="18" charset="2"/>
              </a:rPr>
              <a:t>D</a:t>
            </a:r>
            <a:r>
              <a:rPr lang="en-US" altLang="en-US" baseline="-25000" dirty="0"/>
              <a:t>t</a:t>
            </a:r>
            <a:r>
              <a:rPr lang="en-US" altLang="en-US" dirty="0"/>
              <a:t> = 4/9</a:t>
            </a:r>
            <a:r>
              <a:rPr lang="en-US" altLang="en-US" dirty="0">
                <a:latin typeface="Symbol" panose="05050102010706020507" pitchFamily="18" charset="2"/>
              </a:rPr>
              <a:t>D</a:t>
            </a:r>
            <a:r>
              <a:rPr lang="en-US" altLang="en-US" baseline="-25000" dirty="0"/>
              <a:t>o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8310276" y="6152016"/>
            <a:ext cx="22862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i="1" dirty="0">
                <a:solidFill>
                  <a:srgbClr val="F30B08"/>
                </a:solidFill>
              </a:rPr>
              <a:t>Always </a:t>
            </a:r>
            <a:r>
              <a:rPr lang="en-US" altLang="en-US" i="1" dirty="0" smtClean="0">
                <a:solidFill>
                  <a:srgbClr val="F30B08"/>
                </a:solidFill>
              </a:rPr>
              <a:t>high spin</a:t>
            </a:r>
            <a:endParaRPr lang="en-US" altLang="en-US" i="1" dirty="0">
              <a:solidFill>
                <a:srgbClr val="F30B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183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6347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4748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58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08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4021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6375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828800"/>
            <a:ext cx="4686300" cy="193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241425" y="533400"/>
            <a:ext cx="6530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i="1">
                <a:solidFill>
                  <a:schemeClr val="accent2"/>
                </a:solidFill>
              </a:rPr>
              <a:t>Splitting of d orbitals in a tetrahedral field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689725" y="1660525"/>
            <a:ext cx="36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i="1">
                <a:solidFill>
                  <a:schemeClr val="accent2"/>
                </a:solidFill>
              </a:rPr>
              <a:t>t</a:t>
            </a:r>
            <a:r>
              <a:rPr lang="en-US" altLang="en-US" i="1" baseline="-25000">
                <a:solidFill>
                  <a:schemeClr val="accent2"/>
                </a:solidFill>
              </a:rPr>
              <a:t>2</a:t>
            </a:r>
            <a:endParaRPr lang="en-US" altLang="en-US" i="1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613525" y="341312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30B08"/>
                </a:solidFill>
              </a:rPr>
              <a:t>e</a:t>
            </a:r>
            <a:endParaRPr lang="en-US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67600" y="1905000"/>
            <a:ext cx="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680325" y="2392363"/>
            <a:ext cx="500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800">
                <a:latin typeface="Symbol" panose="05050102010706020507" pitchFamily="18" charset="2"/>
              </a:rPr>
              <a:t>D</a:t>
            </a:r>
            <a:r>
              <a:rPr lang="en-US" altLang="en-US" sz="2800"/>
              <a:t>t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448050" y="4800600"/>
            <a:ext cx="146367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D</a:t>
            </a:r>
            <a:r>
              <a:rPr lang="en-US" altLang="en-US" baseline="-25000"/>
              <a:t>t</a:t>
            </a:r>
            <a:r>
              <a:rPr lang="en-US" altLang="en-US"/>
              <a:t> = 4/9</a:t>
            </a:r>
            <a:r>
              <a:rPr lang="en-US" altLang="en-US">
                <a:latin typeface="Symbol" panose="05050102010706020507" pitchFamily="18" charset="2"/>
              </a:rPr>
              <a:t>D</a:t>
            </a:r>
            <a:r>
              <a:rPr lang="en-US" altLang="en-US" baseline="-25000"/>
              <a:t>o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451100" y="5699125"/>
            <a:ext cx="3786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i="1">
                <a:solidFill>
                  <a:srgbClr val="F30B08"/>
                </a:solidFill>
              </a:rPr>
              <a:t>Always weak field (high spin)</a:t>
            </a:r>
          </a:p>
        </p:txBody>
      </p:sp>
    </p:spTree>
    <p:extLst>
      <p:ext uri="{BB962C8B-B14F-4D97-AF65-F5344CB8AC3E}">
        <p14:creationId xmlns:p14="http://schemas.microsoft.com/office/powerpoint/2010/main" val="156686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65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593</Words>
  <Application>Microsoft Office PowerPoint</Application>
  <PresentationFormat>Widescreen</PresentationFormat>
  <Paragraphs>125</Paragraphs>
  <Slides>41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Arial</vt:lpstr>
      <vt:lpstr>Calibri</vt:lpstr>
      <vt:lpstr>Calibri Light</vt:lpstr>
      <vt:lpstr>CIDFont+F1</vt:lpstr>
      <vt:lpstr>CIDFont+F7</vt:lpstr>
      <vt:lpstr>Symbol</vt:lpstr>
      <vt:lpstr>Times</vt:lpstr>
      <vt:lpstr>Times New Roman</vt:lpstr>
      <vt:lpstr>Office Theme</vt:lpstr>
      <vt:lpstr>Image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34</cp:revision>
  <dcterms:created xsi:type="dcterms:W3CDTF">2022-12-11T16:48:46Z</dcterms:created>
  <dcterms:modified xsi:type="dcterms:W3CDTF">2023-08-29T14:09:01Z</dcterms:modified>
</cp:coreProperties>
</file>