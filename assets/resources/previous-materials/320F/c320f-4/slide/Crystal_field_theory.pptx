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" y="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2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2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2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104859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98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10488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0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0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0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104880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0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09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10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1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12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1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104881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1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7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104877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104881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1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20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1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2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104882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82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87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8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78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104879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9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9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10487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8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3E45-63DC-4412-A7D8-16ADD54C5743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10487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53E45-63DC-4412-A7D8-16ADD54C5743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52CA1-44BE-4237-880D-E7EDF642DDD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0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ext Box 2"/>
          <p:cNvSpPr txBox="1">
            <a:spLocks noChangeArrowheads="1"/>
          </p:cNvSpPr>
          <p:nvPr/>
        </p:nvSpPr>
        <p:spPr bwMode="auto">
          <a:xfrm>
            <a:off x="3326644" y="609600"/>
            <a:ext cx="5964555" cy="3962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i="1">
                <a:solidFill>
                  <a:schemeClr val="accent2"/>
                </a:solidFill>
              </a:rPr>
              <a:t>Crystal field theory: an electrostatic model</a:t>
            </a:r>
          </a:p>
        </p:txBody>
      </p:sp>
      <p:sp>
        <p:nvSpPr>
          <p:cNvPr id="1048587" name="Rectangle 4"/>
          <p:cNvSpPr>
            <a:spLocks noChangeArrowheads="1"/>
          </p:cNvSpPr>
          <p:nvPr/>
        </p:nvSpPr>
        <p:spPr bwMode="auto">
          <a:xfrm>
            <a:off x="4698244" y="1981200"/>
            <a:ext cx="2667000" cy="2590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US" altLang="en-US"/>
          </a:p>
        </p:txBody>
      </p:sp>
      <p:pic>
        <p:nvPicPr>
          <p:cNvPr id="209715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3044" y="2263775"/>
            <a:ext cx="2079625" cy="20796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588" name="Text Box 6"/>
          <p:cNvSpPr txBox="1">
            <a:spLocks noChangeArrowheads="1"/>
          </p:cNvSpPr>
          <p:nvPr/>
        </p:nvSpPr>
        <p:spPr bwMode="auto">
          <a:xfrm>
            <a:off x="1650244" y="5029200"/>
            <a:ext cx="9469756" cy="3454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/>
              <a:t>The metal ion will be positive and therefore attract the negatively charged ligands</a:t>
            </a:r>
          </a:p>
        </p:txBody>
      </p:sp>
      <p:sp>
        <p:nvSpPr>
          <p:cNvPr id="1048589" name="Text Box 7"/>
          <p:cNvSpPr txBox="1">
            <a:spLocks noChangeArrowheads="1"/>
          </p:cNvSpPr>
          <p:nvPr/>
        </p:nvSpPr>
        <p:spPr bwMode="auto">
          <a:xfrm>
            <a:off x="1762957" y="5699125"/>
            <a:ext cx="8832472" cy="5994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/>
            <a:r>
              <a:rPr lang="en-US" altLang="en-US" sz="2000" dirty="0">
                <a:solidFill>
                  <a:srgbClr val="F30B08"/>
                </a:solidFill>
              </a:rPr>
              <a:t>But there are electrons in the metal orbitals, which will experience repulsions</a:t>
            </a:r>
          </a:p>
          <a:p>
            <a:pPr algn="ctr"/>
            <a:r>
              <a:rPr lang="en-US" altLang="en-US" sz="2000" dirty="0">
                <a:solidFill>
                  <a:srgbClr val="F30B08"/>
                </a:solidFill>
              </a:rPr>
              <a:t>with the negatively charged ligands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8" grpId="0" autoUpdateAnimBg="0"/>
      <p:bldP spid="1048589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5804" y="933450"/>
            <a:ext cx="6411913" cy="56197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595" name="Text Box 3"/>
          <p:cNvSpPr txBox="1">
            <a:spLocks noChangeArrowheads="1"/>
          </p:cNvSpPr>
          <p:nvPr/>
        </p:nvSpPr>
        <p:spPr bwMode="auto">
          <a:xfrm>
            <a:off x="4172804" y="228600"/>
            <a:ext cx="4144189" cy="3962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</a:rPr>
              <a:t>Ligand/d orbital interactions</a:t>
            </a:r>
          </a:p>
        </p:txBody>
      </p:sp>
      <p:grpSp>
        <p:nvGrpSpPr>
          <p:cNvPr id="51" name="Group 6"/>
          <p:cNvGrpSpPr/>
          <p:nvPr/>
        </p:nvGrpSpPr>
        <p:grpSpPr bwMode="auto">
          <a:xfrm>
            <a:off x="4488717" y="1524000"/>
            <a:ext cx="0" cy="1219200"/>
            <a:chOff x="2880" y="960"/>
            <a:chExt cx="0" cy="768"/>
          </a:xfrm>
        </p:grpSpPr>
        <p:sp>
          <p:nvSpPr>
            <p:cNvPr id="1048596" name="Line 4"/>
            <p:cNvSpPr>
              <a:spLocks noChangeShapeType="1"/>
            </p:cNvSpPr>
            <p:nvPr/>
          </p:nvSpPr>
          <p:spPr bwMode="auto">
            <a:xfrm>
              <a:off x="2880" y="960"/>
              <a:ext cx="0" cy="336"/>
            </a:xfrm>
            <a:prstGeom prst="line">
              <a:avLst/>
            </a:prstGeom>
            <a:noFill/>
            <a:ln w="9525">
              <a:solidFill>
                <a:srgbClr val="F30B08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597" name="Line 5"/>
            <p:cNvSpPr>
              <a:spLocks noChangeShapeType="1"/>
            </p:cNvSpPr>
            <p:nvPr/>
          </p:nvSpPr>
          <p:spPr bwMode="auto">
            <a:xfrm>
              <a:off x="2880" y="1392"/>
              <a:ext cx="0" cy="336"/>
            </a:xfrm>
            <a:prstGeom prst="line">
              <a:avLst/>
            </a:prstGeom>
            <a:noFill/>
            <a:ln w="9525">
              <a:solidFill>
                <a:srgbClr val="F30B08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2" name="Group 12"/>
          <p:cNvGrpSpPr/>
          <p:nvPr/>
        </p:nvGrpSpPr>
        <p:grpSpPr bwMode="auto">
          <a:xfrm>
            <a:off x="6317517" y="1905000"/>
            <a:ext cx="914400" cy="457200"/>
            <a:chOff x="4032" y="1200"/>
            <a:chExt cx="576" cy="288"/>
          </a:xfrm>
        </p:grpSpPr>
        <p:sp>
          <p:nvSpPr>
            <p:cNvPr id="1048598" name="Line 7"/>
            <p:cNvSpPr>
              <a:spLocks noChangeShapeType="1"/>
            </p:cNvSpPr>
            <p:nvPr/>
          </p:nvSpPr>
          <p:spPr bwMode="auto">
            <a:xfrm flipV="1">
              <a:off x="4032" y="1344"/>
              <a:ext cx="240" cy="96"/>
            </a:xfrm>
            <a:prstGeom prst="line">
              <a:avLst/>
            </a:prstGeom>
            <a:noFill/>
            <a:ln w="9525">
              <a:solidFill>
                <a:srgbClr val="F30B08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599" name="Line 9"/>
            <p:cNvSpPr>
              <a:spLocks noChangeShapeType="1"/>
            </p:cNvSpPr>
            <p:nvPr/>
          </p:nvSpPr>
          <p:spPr bwMode="auto">
            <a:xfrm flipH="1">
              <a:off x="4320" y="1200"/>
              <a:ext cx="288" cy="144"/>
            </a:xfrm>
            <a:prstGeom prst="line">
              <a:avLst/>
            </a:prstGeom>
            <a:noFill/>
            <a:ln w="9525">
              <a:solidFill>
                <a:srgbClr val="F30B08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00" name="Line 10"/>
            <p:cNvSpPr>
              <a:spLocks noChangeShapeType="1"/>
            </p:cNvSpPr>
            <p:nvPr/>
          </p:nvSpPr>
          <p:spPr bwMode="auto">
            <a:xfrm>
              <a:off x="4032" y="1200"/>
              <a:ext cx="288" cy="144"/>
            </a:xfrm>
            <a:prstGeom prst="line">
              <a:avLst/>
            </a:prstGeom>
            <a:noFill/>
            <a:ln w="9525">
              <a:solidFill>
                <a:srgbClr val="F30B08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01" name="Line 11"/>
            <p:cNvSpPr>
              <a:spLocks noChangeShapeType="1"/>
            </p:cNvSpPr>
            <p:nvPr/>
          </p:nvSpPr>
          <p:spPr bwMode="auto">
            <a:xfrm>
              <a:off x="4320" y="1344"/>
              <a:ext cx="288" cy="144"/>
            </a:xfrm>
            <a:prstGeom prst="line">
              <a:avLst/>
            </a:prstGeom>
            <a:noFill/>
            <a:ln w="9525">
              <a:solidFill>
                <a:srgbClr val="F30B08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3" name="Group 31"/>
          <p:cNvGrpSpPr/>
          <p:nvPr/>
        </p:nvGrpSpPr>
        <p:grpSpPr bwMode="auto">
          <a:xfrm>
            <a:off x="1734404" y="4724400"/>
            <a:ext cx="1066800" cy="685800"/>
            <a:chOff x="336" y="2976"/>
            <a:chExt cx="672" cy="432"/>
          </a:xfrm>
        </p:grpSpPr>
        <p:sp>
          <p:nvSpPr>
            <p:cNvPr id="1048602" name="Line 13"/>
            <p:cNvSpPr>
              <a:spLocks noChangeShapeType="1"/>
            </p:cNvSpPr>
            <p:nvPr/>
          </p:nvSpPr>
          <p:spPr bwMode="auto">
            <a:xfrm flipH="1">
              <a:off x="336" y="31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03" name="Line 14"/>
            <p:cNvSpPr>
              <a:spLocks noChangeShapeType="1"/>
            </p:cNvSpPr>
            <p:nvPr/>
          </p:nvSpPr>
          <p:spPr bwMode="auto">
            <a:xfrm flipH="1">
              <a:off x="720" y="316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04" name="Line 16"/>
            <p:cNvSpPr>
              <a:spLocks noChangeShapeType="1"/>
            </p:cNvSpPr>
            <p:nvPr/>
          </p:nvSpPr>
          <p:spPr bwMode="auto">
            <a:xfrm>
              <a:off x="672" y="29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05" name="Line 17"/>
            <p:cNvSpPr>
              <a:spLocks noChangeShapeType="1"/>
            </p:cNvSpPr>
            <p:nvPr/>
          </p:nvSpPr>
          <p:spPr bwMode="auto">
            <a:xfrm>
              <a:off x="67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48606" name="Rectangle 18"/>
          <p:cNvSpPr>
            <a:spLocks noChangeArrowheads="1"/>
          </p:cNvSpPr>
          <p:nvPr/>
        </p:nvSpPr>
        <p:spPr bwMode="auto">
          <a:xfrm>
            <a:off x="3574317" y="914400"/>
            <a:ext cx="4267200" cy="2514600"/>
          </a:xfrm>
          <a:prstGeom prst="rect">
            <a:avLst/>
          </a:prstGeom>
          <a:noFill/>
          <a:ln w="12700">
            <a:solidFill>
              <a:srgbClr val="F30B08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54" name="Group 32"/>
          <p:cNvGrpSpPr/>
          <p:nvPr/>
        </p:nvGrpSpPr>
        <p:grpSpPr bwMode="auto">
          <a:xfrm>
            <a:off x="4183917" y="4572000"/>
            <a:ext cx="685800" cy="914400"/>
            <a:chOff x="1879" y="2880"/>
            <a:chExt cx="432" cy="576"/>
          </a:xfrm>
        </p:grpSpPr>
        <p:sp>
          <p:nvSpPr>
            <p:cNvPr id="1048607" name="Line 19"/>
            <p:cNvSpPr>
              <a:spLocks noChangeShapeType="1"/>
            </p:cNvSpPr>
            <p:nvPr/>
          </p:nvSpPr>
          <p:spPr bwMode="auto">
            <a:xfrm>
              <a:off x="1879" y="3024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08" name="Line 20"/>
            <p:cNvSpPr>
              <a:spLocks noChangeShapeType="1"/>
            </p:cNvSpPr>
            <p:nvPr/>
          </p:nvSpPr>
          <p:spPr bwMode="auto">
            <a:xfrm>
              <a:off x="2119" y="321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09" name="Line 21"/>
            <p:cNvSpPr>
              <a:spLocks noChangeShapeType="1"/>
            </p:cNvSpPr>
            <p:nvPr/>
          </p:nvSpPr>
          <p:spPr bwMode="auto">
            <a:xfrm flipH="1">
              <a:off x="2119" y="2880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10" name="Line 22"/>
            <p:cNvSpPr>
              <a:spLocks noChangeShapeType="1"/>
            </p:cNvSpPr>
            <p:nvPr/>
          </p:nvSpPr>
          <p:spPr bwMode="auto">
            <a:xfrm flipH="1">
              <a:off x="1927" y="3216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5" name="Group 33"/>
          <p:cNvGrpSpPr/>
          <p:nvPr/>
        </p:nvGrpSpPr>
        <p:grpSpPr bwMode="auto">
          <a:xfrm>
            <a:off x="6458804" y="4572000"/>
            <a:ext cx="696913" cy="914400"/>
            <a:chOff x="3312" y="2880"/>
            <a:chExt cx="439" cy="576"/>
          </a:xfrm>
        </p:grpSpPr>
        <p:sp>
          <p:nvSpPr>
            <p:cNvPr id="1048611" name="Line 23"/>
            <p:cNvSpPr>
              <a:spLocks noChangeShapeType="1"/>
            </p:cNvSpPr>
            <p:nvPr/>
          </p:nvSpPr>
          <p:spPr bwMode="auto">
            <a:xfrm>
              <a:off x="3312" y="2880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12" name="Line 24"/>
            <p:cNvSpPr>
              <a:spLocks noChangeShapeType="1"/>
            </p:cNvSpPr>
            <p:nvPr/>
          </p:nvSpPr>
          <p:spPr bwMode="auto">
            <a:xfrm>
              <a:off x="3511" y="3216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13" name="Line 26"/>
            <p:cNvSpPr>
              <a:spLocks noChangeShapeType="1"/>
            </p:cNvSpPr>
            <p:nvPr/>
          </p:nvSpPr>
          <p:spPr bwMode="auto">
            <a:xfrm flipV="1">
              <a:off x="3559" y="2976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14" name="Line 27"/>
            <p:cNvSpPr>
              <a:spLocks noChangeShapeType="1"/>
            </p:cNvSpPr>
            <p:nvPr/>
          </p:nvSpPr>
          <p:spPr bwMode="auto">
            <a:xfrm flipV="1">
              <a:off x="3319" y="3168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48615" name="Rectangle 28"/>
          <p:cNvSpPr>
            <a:spLocks noChangeArrowheads="1"/>
          </p:cNvSpPr>
          <p:nvPr/>
        </p:nvSpPr>
        <p:spPr bwMode="auto">
          <a:xfrm>
            <a:off x="1516917" y="3886200"/>
            <a:ext cx="6324600" cy="2743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48616" name="Text Box 29"/>
          <p:cNvSpPr txBox="1">
            <a:spLocks noChangeArrowheads="1"/>
          </p:cNvSpPr>
          <p:nvPr/>
        </p:nvSpPr>
        <p:spPr bwMode="auto">
          <a:xfrm>
            <a:off x="7930417" y="1789113"/>
            <a:ext cx="2409100" cy="4978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rgbClr val="F30B08"/>
                </a:solidFill>
              </a:rPr>
              <a:t>Orbitals point </a:t>
            </a:r>
            <a:r>
              <a:rPr lang="en-US" altLang="en-US" sz="1600" i="1" u="sng">
                <a:solidFill>
                  <a:srgbClr val="F30B08"/>
                </a:solidFill>
              </a:rPr>
              <a:t>at</a:t>
            </a:r>
            <a:r>
              <a:rPr lang="en-US" altLang="en-US" sz="1600" i="1">
                <a:solidFill>
                  <a:srgbClr val="F30B08"/>
                </a:solidFill>
              </a:rPr>
              <a:t> ligands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rgbClr val="F30B08"/>
                </a:solidFill>
              </a:rPr>
              <a:t>(maximum repulsion)</a:t>
            </a:r>
          </a:p>
        </p:txBody>
      </p:sp>
      <p:sp>
        <p:nvSpPr>
          <p:cNvPr id="1048617" name="Text Box 30"/>
          <p:cNvSpPr txBox="1">
            <a:spLocks noChangeArrowheads="1"/>
          </p:cNvSpPr>
          <p:nvPr/>
        </p:nvSpPr>
        <p:spPr bwMode="auto">
          <a:xfrm>
            <a:off x="7881204" y="4584700"/>
            <a:ext cx="2704127" cy="7010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i="1"/>
              <a:t>Orbitals point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i="1" u="sng"/>
              <a:t>between</a:t>
            </a:r>
            <a:r>
              <a:rPr lang="en-US" altLang="en-US" sz="1600" i="1"/>
              <a:t> ligands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600" i="1"/>
              <a:t>(less pronounced repulsion)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2" descr="https://player.slideplayer.com/95/16275872/slides/slide_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9975" y="0"/>
            <a:ext cx="8920186" cy="66901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8561" y="1572478"/>
            <a:ext cx="8458200" cy="41243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618" name="Text Box 3"/>
          <p:cNvSpPr txBox="1">
            <a:spLocks noChangeArrowheads="1"/>
          </p:cNvSpPr>
          <p:nvPr/>
        </p:nvSpPr>
        <p:spPr bwMode="auto">
          <a:xfrm>
            <a:off x="3329011" y="667603"/>
            <a:ext cx="4897656" cy="39624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</a:rPr>
              <a:t>The two effects of the crystal field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2" descr="https://player.slideplayer.com/95/16275872/slides/slide_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9975" y="0"/>
            <a:ext cx="9753600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Line 4"/>
          <p:cNvSpPr>
            <a:spLocks noChangeShapeType="1"/>
          </p:cNvSpPr>
          <p:nvPr/>
        </p:nvSpPr>
        <p:spPr bwMode="auto">
          <a:xfrm>
            <a:off x="9811061" y="1697038"/>
            <a:ext cx="0" cy="2362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8620" name="Text Box 5"/>
          <p:cNvSpPr txBox="1">
            <a:spLocks noChangeArrowheads="1"/>
          </p:cNvSpPr>
          <p:nvPr/>
        </p:nvSpPr>
        <p:spPr bwMode="auto">
          <a:xfrm>
            <a:off x="9887261" y="2916238"/>
            <a:ext cx="551180" cy="5232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Symbol" panose="05050102010706020507" pitchFamily="18" charset="2"/>
              </a:rPr>
              <a:t>D</a:t>
            </a:r>
            <a:r>
              <a:rPr lang="en-US" altLang="en-US" sz="2800"/>
              <a:t>o</a:t>
            </a:r>
          </a:p>
        </p:txBody>
      </p:sp>
      <p:sp>
        <p:nvSpPr>
          <p:cNvPr id="1048621" name="Line 6"/>
          <p:cNvSpPr>
            <a:spLocks noChangeShapeType="1"/>
          </p:cNvSpPr>
          <p:nvPr/>
        </p:nvSpPr>
        <p:spPr bwMode="auto">
          <a:xfrm>
            <a:off x="7448861" y="1773238"/>
            <a:ext cx="0" cy="1295400"/>
          </a:xfrm>
          <a:prstGeom prst="line">
            <a:avLst/>
          </a:prstGeom>
          <a:noFill/>
          <a:ln w="38100">
            <a:solidFill>
              <a:srgbClr val="F30B08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8622" name="Line 8"/>
          <p:cNvSpPr>
            <a:spLocks noChangeShapeType="1"/>
          </p:cNvSpPr>
          <p:nvPr/>
        </p:nvSpPr>
        <p:spPr bwMode="auto">
          <a:xfrm>
            <a:off x="7448861" y="3144838"/>
            <a:ext cx="0" cy="914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8623" name="Text Box 9"/>
          <p:cNvSpPr txBox="1">
            <a:spLocks noChangeArrowheads="1"/>
          </p:cNvSpPr>
          <p:nvPr/>
        </p:nvSpPr>
        <p:spPr bwMode="auto">
          <a:xfrm>
            <a:off x="7525061" y="2306638"/>
            <a:ext cx="1097280" cy="45973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30B08"/>
                </a:solidFill>
              </a:rPr>
              <a:t>3/5 </a:t>
            </a:r>
            <a:r>
              <a:rPr lang="en-US" altLang="en-US" sz="2400">
                <a:solidFill>
                  <a:srgbClr val="F30B08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>
                <a:solidFill>
                  <a:srgbClr val="F30B08"/>
                </a:solidFill>
              </a:rPr>
              <a:t>o</a:t>
            </a:r>
          </a:p>
        </p:txBody>
      </p:sp>
      <p:sp>
        <p:nvSpPr>
          <p:cNvPr id="1048624" name="Text Box 10"/>
          <p:cNvSpPr txBox="1">
            <a:spLocks noChangeArrowheads="1"/>
          </p:cNvSpPr>
          <p:nvPr/>
        </p:nvSpPr>
        <p:spPr bwMode="auto">
          <a:xfrm>
            <a:off x="7525061" y="3373438"/>
            <a:ext cx="1097280" cy="45973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2/5 </a:t>
            </a:r>
            <a:r>
              <a:rPr lang="en-US" altLang="en-US" sz="2400">
                <a:solidFill>
                  <a:schemeClr val="accent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>
                <a:solidFill>
                  <a:schemeClr val="accent2"/>
                </a:solidFill>
              </a:rPr>
              <a:t>o</a:t>
            </a:r>
          </a:p>
        </p:txBody>
      </p:sp>
      <p:sp>
        <p:nvSpPr>
          <p:cNvPr id="1048625" name="Text Box 12"/>
          <p:cNvSpPr txBox="1">
            <a:spLocks noChangeArrowheads="1"/>
          </p:cNvSpPr>
          <p:nvPr/>
        </p:nvSpPr>
        <p:spPr bwMode="auto">
          <a:xfrm>
            <a:off x="4177023" y="4724400"/>
            <a:ext cx="5033536" cy="5232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Symbol" panose="05050102010706020507" pitchFamily="18" charset="2"/>
              </a:rPr>
              <a:t>D</a:t>
            </a:r>
            <a:r>
              <a:rPr lang="en-US" altLang="en-US" sz="2800"/>
              <a:t>o is the crystal field splitting</a:t>
            </a:r>
            <a:endParaRPr lang="en-US" altLang="en-US" sz="2400"/>
          </a:p>
        </p:txBody>
      </p:sp>
      <p:sp>
        <p:nvSpPr>
          <p:cNvPr id="1048626" name="Text Box 14"/>
          <p:cNvSpPr txBox="1">
            <a:spLocks noChangeArrowheads="1"/>
          </p:cNvSpPr>
          <p:nvPr/>
        </p:nvSpPr>
        <p:spPr bwMode="auto">
          <a:xfrm>
            <a:off x="8926823" y="3824288"/>
            <a:ext cx="523875" cy="44704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i="1">
                <a:solidFill>
                  <a:schemeClr val="accent2"/>
                </a:solidFill>
              </a:rPr>
              <a:t>t</a:t>
            </a:r>
            <a:r>
              <a:rPr lang="en-US" altLang="en-US" sz="2800" i="1" baseline="-25000">
                <a:solidFill>
                  <a:schemeClr val="accent2"/>
                </a:solidFill>
              </a:rPr>
              <a:t>2g</a:t>
            </a:r>
            <a:endParaRPr lang="en-US" altLang="en-US" sz="2400">
              <a:solidFill>
                <a:schemeClr val="accent2"/>
              </a:solidFill>
            </a:endParaRPr>
          </a:p>
        </p:txBody>
      </p:sp>
      <p:sp>
        <p:nvSpPr>
          <p:cNvPr id="1048627" name="Text Box 15"/>
          <p:cNvSpPr txBox="1">
            <a:spLocks noChangeArrowheads="1"/>
          </p:cNvSpPr>
          <p:nvPr/>
        </p:nvSpPr>
        <p:spPr bwMode="auto">
          <a:xfrm>
            <a:off x="8790298" y="1447800"/>
            <a:ext cx="523875" cy="44704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i="1">
                <a:solidFill>
                  <a:srgbClr val="F30B08"/>
                </a:solidFill>
              </a:rPr>
              <a:t>e</a:t>
            </a:r>
            <a:r>
              <a:rPr lang="en-US" altLang="en-US" sz="2800" i="1" baseline="-25000">
                <a:solidFill>
                  <a:srgbClr val="F30B08"/>
                </a:solidFill>
              </a:rPr>
              <a:t>g</a:t>
            </a:r>
            <a:endParaRPr lang="en-US" altLang="en-US" sz="2400">
              <a:solidFill>
                <a:schemeClr val="accent2"/>
              </a:solidFill>
            </a:endParaRPr>
          </a:p>
        </p:txBody>
      </p:sp>
      <p:sp>
        <p:nvSpPr>
          <p:cNvPr id="1048628" name="Text Box 16"/>
          <p:cNvSpPr txBox="1">
            <a:spLocks noChangeArrowheads="1"/>
          </p:cNvSpPr>
          <p:nvPr/>
        </p:nvSpPr>
        <p:spPr bwMode="auto">
          <a:xfrm>
            <a:off x="4675498" y="5548313"/>
            <a:ext cx="3711575" cy="1379219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E(</a:t>
            </a:r>
            <a:r>
              <a:rPr lang="en-US" altLang="en-US" sz="2400" i="1">
                <a:solidFill>
                  <a:schemeClr val="accent2"/>
                </a:solidFill>
              </a:rPr>
              <a:t>t</a:t>
            </a:r>
            <a:r>
              <a:rPr lang="en-US" altLang="en-US" sz="2400" i="1" baseline="-25000">
                <a:solidFill>
                  <a:schemeClr val="accent2"/>
                </a:solidFill>
              </a:rPr>
              <a:t>2g</a:t>
            </a:r>
            <a:r>
              <a:rPr lang="en-US" altLang="en-US" sz="2400">
                <a:solidFill>
                  <a:schemeClr val="accent2"/>
                </a:solidFill>
              </a:rPr>
              <a:t>) = -0.4</a:t>
            </a:r>
            <a:r>
              <a:rPr lang="en-US" altLang="en-US" sz="2400">
                <a:solidFill>
                  <a:schemeClr val="accent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>
                <a:solidFill>
                  <a:schemeClr val="accent2"/>
                </a:solidFill>
              </a:rPr>
              <a:t>o x 3 = -1.2</a:t>
            </a:r>
            <a:r>
              <a:rPr lang="en-US" altLang="en-US" sz="2400">
                <a:solidFill>
                  <a:schemeClr val="accent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>
                <a:solidFill>
                  <a:schemeClr val="accent2"/>
                </a:solidFill>
              </a:rPr>
              <a:t>o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E(</a:t>
            </a:r>
            <a:r>
              <a:rPr lang="en-US" altLang="en-US" sz="2400" i="1">
                <a:solidFill>
                  <a:schemeClr val="accent2"/>
                </a:solidFill>
              </a:rPr>
              <a:t>e</a:t>
            </a:r>
            <a:r>
              <a:rPr lang="en-US" altLang="en-US" sz="2400" i="1" baseline="-25000">
                <a:solidFill>
                  <a:schemeClr val="accent2"/>
                </a:solidFill>
              </a:rPr>
              <a:t>g</a:t>
            </a:r>
            <a:r>
              <a:rPr lang="en-US" altLang="en-US" sz="2400">
                <a:solidFill>
                  <a:schemeClr val="accent2"/>
                </a:solidFill>
              </a:rPr>
              <a:t>) = +0.6</a:t>
            </a:r>
            <a:r>
              <a:rPr lang="en-US" altLang="en-US" sz="2400">
                <a:solidFill>
                  <a:schemeClr val="accent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>
                <a:solidFill>
                  <a:schemeClr val="accent2"/>
                </a:solidFill>
              </a:rPr>
              <a:t>o x 2 = +1.2</a:t>
            </a:r>
            <a:r>
              <a:rPr lang="en-US" altLang="en-US" sz="2400">
                <a:solidFill>
                  <a:schemeClr val="accent2"/>
                </a:solidFill>
                <a:latin typeface="Symbol" panose="05050102010706020507" pitchFamily="18" charset="2"/>
              </a:rPr>
              <a:t>D</a:t>
            </a:r>
            <a:r>
              <a:rPr lang="en-US" altLang="en-US" sz="2400">
                <a:solidFill>
                  <a:schemeClr val="accent2"/>
                </a:solidFill>
              </a:rPr>
              <a:t>o</a:t>
            </a:r>
          </a:p>
        </p:txBody>
      </p:sp>
      <p:sp>
        <p:nvSpPr>
          <p:cNvPr id="1048629" name="Text Box 17"/>
          <p:cNvSpPr txBox="1">
            <a:spLocks noChangeArrowheads="1"/>
          </p:cNvSpPr>
          <p:nvPr/>
        </p:nvSpPr>
        <p:spPr bwMode="auto">
          <a:xfrm>
            <a:off x="3151498" y="457200"/>
            <a:ext cx="6629400" cy="80264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i="1">
                <a:solidFill>
                  <a:schemeClr val="accent2"/>
                </a:solidFill>
              </a:rPr>
              <a:t>Splitting of d orbitals in an octahedral field</a:t>
            </a:r>
          </a:p>
        </p:txBody>
      </p:sp>
      <p:graphicFrame>
        <p:nvGraphicFramePr>
          <p:cNvPr id="4194304" name="Object 18"/>
          <p:cNvGraphicFramePr>
            <a:graphicFrameLocks noChangeAspect="1"/>
          </p:cNvGraphicFramePr>
          <p:nvPr/>
        </p:nvGraphicFramePr>
        <p:xfrm>
          <a:off x="2541898" y="1676400"/>
          <a:ext cx="472440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Image" r:id="rId3" imgW="8101587" imgH="3428571" progId="Photoshop.Image.9">
                  <p:embed/>
                </p:oleObj>
              </mc:Choice>
              <mc:Fallback>
                <p:oleObj name="Image" r:id="rId3" imgW="8101587" imgH="3428571" progId="Photoshop.Image.9">
                  <p:embed/>
                  <p:pic>
                    <p:nvPicPr>
                      <p:cNvPr id="209715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1898" y="1676400"/>
                        <a:ext cx="472440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35408" y="1600200"/>
            <a:ext cx="6378575" cy="270351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630" name="Text Box 3"/>
          <p:cNvSpPr txBox="1">
            <a:spLocks noChangeArrowheads="1"/>
          </p:cNvSpPr>
          <p:nvPr/>
        </p:nvSpPr>
        <p:spPr bwMode="auto">
          <a:xfrm>
            <a:off x="4200646" y="396875"/>
            <a:ext cx="4298027" cy="7010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</a:rPr>
              <a:t>The magnitude of the splitting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</a:rPr>
              <a:t>(ligand effect)</a:t>
            </a:r>
          </a:p>
        </p:txBody>
      </p:sp>
      <p:sp>
        <p:nvSpPr>
          <p:cNvPr id="1048631" name="Text Box 4"/>
          <p:cNvSpPr txBox="1">
            <a:spLocks noChangeArrowheads="1"/>
          </p:cNvSpPr>
          <p:nvPr/>
        </p:nvSpPr>
        <p:spPr bwMode="auto">
          <a:xfrm>
            <a:off x="4002208" y="2667000"/>
            <a:ext cx="1044575" cy="7010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Strong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field</a:t>
            </a:r>
          </a:p>
        </p:txBody>
      </p:sp>
      <p:sp>
        <p:nvSpPr>
          <p:cNvPr id="1048632" name="Text Box 5"/>
          <p:cNvSpPr txBox="1">
            <a:spLocks noChangeArrowheads="1"/>
          </p:cNvSpPr>
          <p:nvPr/>
        </p:nvSpPr>
        <p:spPr bwMode="auto">
          <a:xfrm>
            <a:off x="8444033" y="2514600"/>
            <a:ext cx="1044575" cy="7010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Weak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field</a:t>
            </a:r>
          </a:p>
        </p:txBody>
      </p:sp>
      <p:sp>
        <p:nvSpPr>
          <p:cNvPr id="1048633" name="Text Box 6"/>
          <p:cNvSpPr txBox="1">
            <a:spLocks noChangeArrowheads="1"/>
          </p:cNvSpPr>
          <p:nvPr/>
        </p:nvSpPr>
        <p:spPr bwMode="auto">
          <a:xfrm>
            <a:off x="1944808" y="5124450"/>
            <a:ext cx="8359775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 dirty="0"/>
              <a:t>The </a:t>
            </a:r>
            <a:r>
              <a:rPr lang="en-US" altLang="en-US" sz="2000" dirty="0" err="1"/>
              <a:t>spectrochemical</a:t>
            </a:r>
            <a:r>
              <a:rPr lang="en-US" altLang="en-US" sz="2000" dirty="0"/>
              <a:t> series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CO, CN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</a:t>
            </a:r>
            <a:r>
              <a:rPr lang="en-US" altLang="en-US" sz="1800" dirty="0" err="1"/>
              <a:t>phen</a:t>
            </a:r>
            <a:r>
              <a:rPr lang="en-US" altLang="en-US" sz="1800" dirty="0"/>
              <a:t> &gt; NO</a:t>
            </a:r>
            <a:r>
              <a:rPr lang="en-US" altLang="en-US" sz="1800" baseline="-25000" dirty="0"/>
              <a:t>2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</a:t>
            </a:r>
            <a:r>
              <a:rPr lang="en-US" altLang="en-US" sz="1800" dirty="0" err="1"/>
              <a:t>en</a:t>
            </a:r>
            <a:r>
              <a:rPr lang="en-US" altLang="en-US" sz="1800" dirty="0"/>
              <a:t> &gt; NH</a:t>
            </a:r>
            <a:r>
              <a:rPr lang="en-US" altLang="en-US" sz="1800" baseline="-25000" dirty="0"/>
              <a:t>3</a:t>
            </a:r>
            <a:r>
              <a:rPr lang="en-US" altLang="en-US" sz="1800" dirty="0"/>
              <a:t> &gt; NCS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H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O &gt; F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RCO</a:t>
            </a:r>
            <a:r>
              <a:rPr lang="en-US" altLang="en-US" sz="1800" baseline="-25000" dirty="0"/>
              <a:t>2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OH</a:t>
            </a:r>
            <a:r>
              <a:rPr lang="en-US" altLang="en-US" sz="1800" baseline="-25000" dirty="0"/>
              <a:t>-</a:t>
            </a:r>
            <a:r>
              <a:rPr lang="en-US" altLang="en-US" sz="1800" dirty="0"/>
              <a:t> &gt; Cl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Br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I</a:t>
            </a:r>
            <a:r>
              <a:rPr lang="en-US" altLang="en-US" sz="1800" baseline="30000" dirty="0"/>
              <a:t>-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228" y="1295755"/>
            <a:ext cx="7480073" cy="4313475"/>
          </a:xfrm>
          <a:prstGeom prst="rect">
            <a:avLst/>
          </a:prstGeom>
        </p:spPr>
      </p:pic>
      <p:sp>
        <p:nvSpPr>
          <p:cNvPr id="1048634" name="Text Box 6"/>
          <p:cNvSpPr txBox="1">
            <a:spLocks noChangeArrowheads="1"/>
          </p:cNvSpPr>
          <p:nvPr/>
        </p:nvSpPr>
        <p:spPr bwMode="auto">
          <a:xfrm>
            <a:off x="1835626" y="5834134"/>
            <a:ext cx="8359775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 dirty="0"/>
              <a:t>The </a:t>
            </a:r>
            <a:r>
              <a:rPr lang="en-US" altLang="en-US" sz="2000" dirty="0" err="1"/>
              <a:t>spectrochemical</a:t>
            </a:r>
            <a:r>
              <a:rPr lang="en-US" altLang="en-US" sz="2000" dirty="0"/>
              <a:t> series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1800" dirty="0"/>
              <a:t>CO, CN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</a:t>
            </a:r>
            <a:r>
              <a:rPr lang="en-US" altLang="en-US" sz="1800" dirty="0" err="1"/>
              <a:t>phen</a:t>
            </a:r>
            <a:r>
              <a:rPr lang="en-US" altLang="en-US" sz="1800" dirty="0"/>
              <a:t> &gt; NO</a:t>
            </a:r>
            <a:r>
              <a:rPr lang="en-US" altLang="en-US" sz="1800" baseline="-25000" dirty="0"/>
              <a:t>2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</a:t>
            </a:r>
            <a:r>
              <a:rPr lang="en-US" altLang="en-US" sz="1800" dirty="0" err="1"/>
              <a:t>en</a:t>
            </a:r>
            <a:r>
              <a:rPr lang="en-US" altLang="en-US" sz="1800" dirty="0"/>
              <a:t> &gt; NH</a:t>
            </a:r>
            <a:r>
              <a:rPr lang="en-US" altLang="en-US" sz="1800" baseline="-25000" dirty="0"/>
              <a:t>3</a:t>
            </a:r>
            <a:r>
              <a:rPr lang="en-US" altLang="en-US" sz="1800" dirty="0"/>
              <a:t> &gt; NCS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H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O &gt; F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RCO</a:t>
            </a:r>
            <a:r>
              <a:rPr lang="en-US" altLang="en-US" sz="1800" baseline="-25000" dirty="0"/>
              <a:t>2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OH</a:t>
            </a:r>
            <a:r>
              <a:rPr lang="en-US" altLang="en-US" sz="1800" baseline="-25000" dirty="0"/>
              <a:t>-</a:t>
            </a:r>
            <a:r>
              <a:rPr lang="en-US" altLang="en-US" sz="1800" dirty="0"/>
              <a:t> &gt; Cl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Br</a:t>
            </a:r>
            <a:r>
              <a:rPr lang="en-US" altLang="en-US" sz="1800" baseline="30000" dirty="0"/>
              <a:t>-</a:t>
            </a:r>
            <a:r>
              <a:rPr lang="en-US" altLang="en-US" sz="1800" dirty="0"/>
              <a:t> &gt; I</a:t>
            </a:r>
            <a:r>
              <a:rPr lang="en-US" altLang="en-US" sz="1800" baseline="30000" dirty="0"/>
              <a:t>-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26226" y="1600200"/>
            <a:ext cx="6378575" cy="270351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635" name="Text Box 3"/>
          <p:cNvSpPr txBox="1">
            <a:spLocks noChangeArrowheads="1"/>
          </p:cNvSpPr>
          <p:nvPr/>
        </p:nvSpPr>
        <p:spPr bwMode="auto">
          <a:xfrm>
            <a:off x="4089876" y="396875"/>
            <a:ext cx="4298027" cy="7010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</a:rPr>
              <a:t>The magnitude of the splitting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</a:rPr>
              <a:t>(metal ion effect)</a:t>
            </a:r>
          </a:p>
        </p:txBody>
      </p:sp>
      <p:sp>
        <p:nvSpPr>
          <p:cNvPr id="1048636" name="Text Box 4"/>
          <p:cNvSpPr txBox="1">
            <a:spLocks noChangeArrowheads="1"/>
          </p:cNvSpPr>
          <p:nvPr/>
        </p:nvSpPr>
        <p:spPr bwMode="auto">
          <a:xfrm>
            <a:off x="3893026" y="2667000"/>
            <a:ext cx="1044575" cy="7010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Strong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field</a:t>
            </a:r>
          </a:p>
        </p:txBody>
      </p:sp>
      <p:sp>
        <p:nvSpPr>
          <p:cNvPr id="1048637" name="Text Box 5"/>
          <p:cNvSpPr txBox="1">
            <a:spLocks noChangeArrowheads="1"/>
          </p:cNvSpPr>
          <p:nvPr/>
        </p:nvSpPr>
        <p:spPr bwMode="auto">
          <a:xfrm>
            <a:off x="8334851" y="2514600"/>
            <a:ext cx="1044575" cy="7010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Weak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field</a:t>
            </a:r>
          </a:p>
        </p:txBody>
      </p:sp>
      <p:sp>
        <p:nvSpPr>
          <p:cNvPr id="1048638" name="Text Box 6"/>
          <p:cNvSpPr txBox="1">
            <a:spLocks noChangeArrowheads="1"/>
          </p:cNvSpPr>
          <p:nvPr/>
        </p:nvSpPr>
        <p:spPr bwMode="auto">
          <a:xfrm>
            <a:off x="1835626" y="5124450"/>
            <a:ext cx="8359775" cy="7518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 typeface="Symbol" panose="05050102010706020507" pitchFamily="18" charset="2"/>
              <a:buChar char="D"/>
            </a:pPr>
            <a:r>
              <a:rPr lang="en-US" altLang="en-US" sz="2000" dirty="0"/>
              <a:t> increases with increasing formal charge on the metal ion</a:t>
            </a:r>
          </a:p>
          <a:p>
            <a:pPr algn="ctr">
              <a:spcBef>
                <a:spcPct val="50000"/>
              </a:spcBef>
              <a:buFont typeface="Symbol" panose="05050102010706020507" pitchFamily="18" charset="2"/>
              <a:buChar char="D"/>
            </a:pPr>
            <a:r>
              <a:rPr lang="en-US" altLang="en-US" sz="2000" dirty="0"/>
              <a:t> increases on going down the periodic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564" y="259647"/>
            <a:ext cx="4048125" cy="428625"/>
          </a:xfrm>
          <a:prstGeom prst="rect">
            <a:avLst/>
          </a:prstGeom>
        </p:spPr>
      </p:pic>
      <p:pic>
        <p:nvPicPr>
          <p:cNvPr id="2097163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53" y="119108"/>
            <a:ext cx="4429125" cy="371475"/>
          </a:xfrm>
          <a:prstGeom prst="rect">
            <a:avLst/>
          </a:prstGeom>
        </p:spPr>
      </p:pic>
      <p:grpSp>
        <p:nvGrpSpPr>
          <p:cNvPr id="64" name="Group 64"/>
          <p:cNvGrpSpPr/>
          <p:nvPr/>
        </p:nvGrpSpPr>
        <p:grpSpPr>
          <a:xfrm>
            <a:off x="6858830" y="1049068"/>
            <a:ext cx="4871577" cy="1908558"/>
            <a:chOff x="330495" y="729013"/>
            <a:chExt cx="4871577" cy="1908558"/>
          </a:xfrm>
        </p:grpSpPr>
        <p:grpSp>
          <p:nvGrpSpPr>
            <p:cNvPr id="65" name="Group 65"/>
            <p:cNvGrpSpPr/>
            <p:nvPr/>
          </p:nvGrpSpPr>
          <p:grpSpPr>
            <a:xfrm>
              <a:off x="2464059" y="1067934"/>
              <a:ext cx="738145" cy="211320"/>
              <a:chOff x="7983940" y="859809"/>
              <a:chExt cx="791570" cy="409433"/>
            </a:xfrm>
          </p:grpSpPr>
          <p:sp>
            <p:nvSpPr>
              <p:cNvPr id="1048639" name="Rectangle 91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28" name="Straight Connector 92"/>
              <p:cNvCxnSpPr>
                <a:cxnSpLocks/>
                <a:stCxn id="1048639" idx="0"/>
                <a:endCxn id="1048639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29" name="Straight Connector 93"/>
              <p:cNvCxnSpPr>
                <a:cxnSpLocks/>
                <a:stCxn id="1048639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Group 66"/>
            <p:cNvGrpSpPr/>
            <p:nvPr/>
          </p:nvGrpSpPr>
          <p:grpSpPr>
            <a:xfrm>
              <a:off x="2217476" y="2198567"/>
              <a:ext cx="1221758" cy="218364"/>
              <a:chOff x="7983940" y="1787857"/>
              <a:chExt cx="1310185" cy="423080"/>
            </a:xfrm>
          </p:grpSpPr>
          <p:sp>
            <p:nvSpPr>
              <p:cNvPr id="1048640" name="Rectangle 87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30" name="Straight Connector 88"/>
              <p:cNvCxnSpPr>
                <a:cxnSpLocks/>
              </p:cNvCxnSpPr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31" name="Straight Connector 89"/>
              <p:cNvCxnSpPr>
                <a:cxnSpLocks/>
              </p:cNvCxnSpPr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32" name="Straight Connector 90"/>
              <p:cNvCxnSpPr>
                <a:cxnSpLocks/>
                <a:stCxn id="1048640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45733" name="Straight Arrow Connector 67"/>
            <p:cNvCxnSpPr>
              <a:cxnSpLocks/>
            </p:cNvCxnSpPr>
            <p:nvPr/>
          </p:nvCxnSpPr>
          <p:spPr>
            <a:xfrm flipV="1">
              <a:off x="686229" y="838058"/>
              <a:ext cx="0" cy="17686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41" name="TextBox 68"/>
            <p:cNvSpPr txBox="1"/>
            <p:nvPr/>
          </p:nvSpPr>
          <p:spPr>
            <a:xfrm rot="16200000">
              <a:off x="38936" y="1552161"/>
              <a:ext cx="928558" cy="345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Energy</a:t>
              </a:r>
            </a:p>
          </p:txBody>
        </p:sp>
        <p:grpSp>
          <p:nvGrpSpPr>
            <p:cNvPr id="67" name="Group 69"/>
            <p:cNvGrpSpPr/>
            <p:nvPr/>
          </p:nvGrpSpPr>
          <p:grpSpPr>
            <a:xfrm>
              <a:off x="1019673" y="1329516"/>
              <a:ext cx="738145" cy="211320"/>
              <a:chOff x="7983940" y="859809"/>
              <a:chExt cx="791570" cy="409433"/>
            </a:xfrm>
          </p:grpSpPr>
          <p:sp>
            <p:nvSpPr>
              <p:cNvPr id="1048642" name="Rectangle 84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34" name="Straight Connector 85"/>
              <p:cNvCxnSpPr>
                <a:cxnSpLocks/>
                <a:stCxn id="1048642" idx="0"/>
                <a:endCxn id="1048642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35" name="Straight Connector 86"/>
              <p:cNvCxnSpPr>
                <a:cxnSpLocks/>
                <a:stCxn id="1048642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70"/>
            <p:cNvGrpSpPr/>
            <p:nvPr/>
          </p:nvGrpSpPr>
          <p:grpSpPr>
            <a:xfrm>
              <a:off x="773090" y="1955181"/>
              <a:ext cx="1221758" cy="218364"/>
              <a:chOff x="7983940" y="1787857"/>
              <a:chExt cx="1310185" cy="423080"/>
            </a:xfrm>
          </p:grpSpPr>
          <p:sp>
            <p:nvSpPr>
              <p:cNvPr id="1048643" name="Rectangle 80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36" name="Straight Connector 81"/>
              <p:cNvCxnSpPr>
                <a:cxnSpLocks/>
              </p:cNvCxnSpPr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37" name="Straight Connector 82"/>
              <p:cNvCxnSpPr>
                <a:cxnSpLocks/>
              </p:cNvCxnSpPr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38" name="Straight Connector 83"/>
              <p:cNvCxnSpPr>
                <a:cxnSpLocks/>
                <a:stCxn id="1048643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71"/>
            <p:cNvGrpSpPr/>
            <p:nvPr/>
          </p:nvGrpSpPr>
          <p:grpSpPr>
            <a:xfrm>
              <a:off x="4226897" y="729013"/>
              <a:ext cx="738145" cy="211320"/>
              <a:chOff x="7983940" y="859809"/>
              <a:chExt cx="791570" cy="409433"/>
            </a:xfrm>
          </p:grpSpPr>
          <p:sp>
            <p:nvSpPr>
              <p:cNvPr id="1048644" name="Rectangle 77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39" name="Straight Connector 78"/>
              <p:cNvCxnSpPr>
                <a:cxnSpLocks/>
                <a:stCxn id="1048644" idx="0"/>
                <a:endCxn id="1048644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40" name="Straight Connector 79"/>
              <p:cNvCxnSpPr>
                <a:cxnSpLocks/>
                <a:stCxn id="1048644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72"/>
            <p:cNvGrpSpPr/>
            <p:nvPr/>
          </p:nvGrpSpPr>
          <p:grpSpPr>
            <a:xfrm>
              <a:off x="3980314" y="2419207"/>
              <a:ext cx="1221758" cy="218364"/>
              <a:chOff x="7983940" y="1787857"/>
              <a:chExt cx="1310185" cy="423080"/>
            </a:xfrm>
          </p:grpSpPr>
          <p:sp>
            <p:nvSpPr>
              <p:cNvPr id="1048645" name="Rectangle 73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41" name="Straight Connector 74"/>
              <p:cNvCxnSpPr>
                <a:cxnSpLocks/>
              </p:cNvCxnSpPr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42" name="Straight Connector 75"/>
              <p:cNvCxnSpPr>
                <a:cxnSpLocks/>
              </p:cNvCxnSpPr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43" name="Straight Connector 76"/>
              <p:cNvCxnSpPr>
                <a:cxnSpLocks/>
                <a:stCxn id="1048645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1" name="Group 136"/>
          <p:cNvGrpSpPr/>
          <p:nvPr/>
        </p:nvGrpSpPr>
        <p:grpSpPr>
          <a:xfrm>
            <a:off x="3965458" y="3489902"/>
            <a:ext cx="3618060" cy="3427548"/>
            <a:chOff x="114085" y="3143362"/>
            <a:chExt cx="3618060" cy="3427548"/>
          </a:xfrm>
        </p:grpSpPr>
        <p:sp>
          <p:nvSpPr>
            <p:cNvPr id="1048646" name="TextBox 7"/>
            <p:cNvSpPr txBox="1"/>
            <p:nvPr/>
          </p:nvSpPr>
          <p:spPr>
            <a:xfrm>
              <a:off x="114085" y="3143362"/>
              <a:ext cx="1095494" cy="320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Geometry</a:t>
              </a:r>
            </a:p>
          </p:txBody>
        </p:sp>
        <p:cxnSp>
          <p:nvCxnSpPr>
            <p:cNvPr id="3145744" name="Straight Arrow Connector 97"/>
            <p:cNvCxnSpPr>
              <a:cxnSpLocks/>
            </p:cNvCxnSpPr>
            <p:nvPr/>
          </p:nvCxnSpPr>
          <p:spPr>
            <a:xfrm flipV="1">
              <a:off x="568747" y="3615751"/>
              <a:ext cx="0" cy="17686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47" name="TextBox 98"/>
            <p:cNvSpPr txBox="1"/>
            <p:nvPr/>
          </p:nvSpPr>
          <p:spPr>
            <a:xfrm rot="16200000">
              <a:off x="-78546" y="4329854"/>
              <a:ext cx="928558" cy="345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Energy</a:t>
              </a:r>
            </a:p>
          </p:txBody>
        </p:sp>
        <p:grpSp>
          <p:nvGrpSpPr>
            <p:cNvPr id="72" name="Group 99"/>
            <p:cNvGrpSpPr/>
            <p:nvPr/>
          </p:nvGrpSpPr>
          <p:grpSpPr>
            <a:xfrm>
              <a:off x="2730728" y="4854313"/>
              <a:ext cx="738145" cy="211320"/>
              <a:chOff x="7983940" y="859809"/>
              <a:chExt cx="791570" cy="409433"/>
            </a:xfrm>
          </p:grpSpPr>
          <p:sp>
            <p:nvSpPr>
              <p:cNvPr id="1048648" name="Rectangle 114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45" name="Straight Connector 115"/>
              <p:cNvCxnSpPr>
                <a:cxnSpLocks/>
                <a:stCxn id="1048648" idx="0"/>
                <a:endCxn id="1048648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46" name="Straight Connector 116"/>
              <p:cNvCxnSpPr>
                <a:cxnSpLocks/>
                <a:stCxn id="1048648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Group 100"/>
            <p:cNvGrpSpPr/>
            <p:nvPr/>
          </p:nvGrpSpPr>
          <p:grpSpPr>
            <a:xfrm>
              <a:off x="2510387" y="4083878"/>
              <a:ext cx="1221758" cy="218364"/>
              <a:chOff x="7983940" y="1787857"/>
              <a:chExt cx="1310185" cy="423080"/>
            </a:xfrm>
          </p:grpSpPr>
          <p:sp>
            <p:nvSpPr>
              <p:cNvPr id="1048649" name="Rectangle 110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47" name="Straight Connector 111"/>
              <p:cNvCxnSpPr>
                <a:cxnSpLocks/>
              </p:cNvCxnSpPr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48" name="Straight Connector 112"/>
              <p:cNvCxnSpPr>
                <a:cxnSpLocks/>
              </p:cNvCxnSpPr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49" name="Straight Connector 113"/>
              <p:cNvCxnSpPr>
                <a:cxnSpLocks/>
                <a:stCxn id="1048649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Group 101"/>
            <p:cNvGrpSpPr/>
            <p:nvPr/>
          </p:nvGrpSpPr>
          <p:grpSpPr>
            <a:xfrm>
              <a:off x="1102190" y="3876265"/>
              <a:ext cx="738145" cy="211320"/>
              <a:chOff x="7983940" y="859809"/>
              <a:chExt cx="791570" cy="409433"/>
            </a:xfrm>
          </p:grpSpPr>
          <p:sp>
            <p:nvSpPr>
              <p:cNvPr id="1048650" name="Rectangle 107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50" name="Straight Connector 108"/>
              <p:cNvCxnSpPr>
                <a:cxnSpLocks/>
                <a:stCxn id="1048650" idx="0"/>
                <a:endCxn id="1048650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51" name="Straight Connector 109"/>
              <p:cNvCxnSpPr>
                <a:cxnSpLocks/>
                <a:stCxn id="1048650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102"/>
            <p:cNvGrpSpPr/>
            <p:nvPr/>
          </p:nvGrpSpPr>
          <p:grpSpPr>
            <a:xfrm>
              <a:off x="930257" y="5088199"/>
              <a:ext cx="1221758" cy="218364"/>
              <a:chOff x="7983940" y="1787857"/>
              <a:chExt cx="1310185" cy="423080"/>
            </a:xfrm>
          </p:grpSpPr>
          <p:sp>
            <p:nvSpPr>
              <p:cNvPr id="1048651" name="Rectangle 103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52" name="Straight Connector 104"/>
              <p:cNvCxnSpPr>
                <a:cxnSpLocks/>
              </p:cNvCxnSpPr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53" name="Straight Connector 105"/>
              <p:cNvCxnSpPr>
                <a:cxnSpLocks/>
              </p:cNvCxnSpPr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54" name="Straight Connector 106"/>
              <p:cNvCxnSpPr>
                <a:cxnSpLocks/>
                <a:stCxn id="1048651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45755" name="Straight Arrow Connector 127"/>
            <p:cNvCxnSpPr>
              <a:cxnSpLocks/>
            </p:cNvCxnSpPr>
            <p:nvPr/>
          </p:nvCxnSpPr>
          <p:spPr>
            <a:xfrm>
              <a:off x="1560349" y="4142177"/>
              <a:ext cx="0" cy="87238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52" name="TextBox 129"/>
            <p:cNvSpPr txBox="1"/>
            <p:nvPr/>
          </p:nvSpPr>
          <p:spPr>
            <a:xfrm>
              <a:off x="1563006" y="4393705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en-US" dirty="0">
                  <a:latin typeface="Symbol" panose="05050102010706020507" pitchFamily="18" charset="2"/>
                </a:rPr>
                <a:t>D</a:t>
              </a:r>
              <a:r>
                <a:rPr lang="en-US" altLang="en-US" baseline="-25000" dirty="0"/>
                <a:t>o</a:t>
              </a:r>
            </a:p>
          </p:txBody>
        </p:sp>
        <p:cxnSp>
          <p:nvCxnSpPr>
            <p:cNvPr id="3145756" name="Straight Arrow Connector 133"/>
            <p:cNvCxnSpPr>
              <a:cxnSpLocks/>
            </p:cNvCxnSpPr>
            <p:nvPr/>
          </p:nvCxnSpPr>
          <p:spPr>
            <a:xfrm>
              <a:off x="3210352" y="4310936"/>
              <a:ext cx="0" cy="46574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53" name="TextBox 134"/>
            <p:cNvSpPr txBox="1"/>
            <p:nvPr/>
          </p:nvSpPr>
          <p:spPr>
            <a:xfrm>
              <a:off x="3284896" y="4423273"/>
              <a:ext cx="3914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en-US" dirty="0">
                  <a:latin typeface="Symbol" panose="05050102010706020507" pitchFamily="18" charset="2"/>
                </a:rPr>
                <a:t>D</a:t>
              </a:r>
              <a:r>
                <a:rPr lang="en-US" altLang="en-US" baseline="-25000" dirty="0"/>
                <a:t>t</a:t>
              </a:r>
              <a:endParaRPr lang="en-US" dirty="0"/>
            </a:p>
          </p:txBody>
        </p:sp>
        <p:sp>
          <p:nvSpPr>
            <p:cNvPr id="1048654" name="Text Box 8"/>
            <p:cNvSpPr txBox="1">
              <a:spLocks noChangeArrowheads="1"/>
            </p:cNvSpPr>
            <p:nvPr/>
          </p:nvSpPr>
          <p:spPr bwMode="auto">
            <a:xfrm>
              <a:off x="1548670" y="5742870"/>
              <a:ext cx="1463675" cy="8280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r>
                <a:rPr lang="en-US" altLang="en-US" dirty="0">
                  <a:latin typeface="Symbol" panose="05050102010706020507" pitchFamily="18" charset="2"/>
                </a:rPr>
                <a:t>D</a:t>
              </a:r>
              <a:r>
                <a:rPr lang="en-US" altLang="en-US" baseline="-25000" dirty="0"/>
                <a:t>t</a:t>
              </a:r>
              <a:r>
                <a:rPr lang="en-US" altLang="en-US" dirty="0"/>
                <a:t> = 4/9</a:t>
              </a:r>
              <a:r>
                <a:rPr lang="en-US" altLang="en-US" dirty="0">
                  <a:latin typeface="Symbol" panose="05050102010706020507" pitchFamily="18" charset="2"/>
                </a:rPr>
                <a:t>D</a:t>
              </a:r>
              <a:r>
                <a:rPr lang="en-US" altLang="en-US" baseline="-25000" dirty="0"/>
                <a:t>o</a:t>
              </a:r>
            </a:p>
          </p:txBody>
        </p:sp>
      </p:grpSp>
      <p:sp>
        <p:nvSpPr>
          <p:cNvPr id="1048655" name="TextBox 137"/>
          <p:cNvSpPr txBox="1"/>
          <p:nvPr/>
        </p:nvSpPr>
        <p:spPr>
          <a:xfrm>
            <a:off x="7260845" y="2907945"/>
            <a:ext cx="1351460" cy="77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[Co(NH</a:t>
            </a:r>
            <a:r>
              <a:rPr lang="en-US" baseline="-25000" dirty="0"/>
              <a:t>3</a:t>
            </a:r>
            <a:r>
              <a:rPr lang="en-US" dirty="0"/>
              <a:t>)</a:t>
            </a:r>
            <a:r>
              <a:rPr lang="en-US" baseline="-25000" dirty="0"/>
              <a:t>6</a:t>
            </a:r>
            <a:r>
              <a:rPr lang="en-US" dirty="0"/>
              <a:t>]</a:t>
            </a:r>
            <a:r>
              <a:rPr lang="en-US" baseline="30000" dirty="0"/>
              <a:t>3+ </a:t>
            </a:r>
            <a:r>
              <a:rPr lang="en-US" dirty="0"/>
              <a:t>275 kJ/mole</a:t>
            </a:r>
          </a:p>
        </p:txBody>
      </p:sp>
      <p:sp>
        <p:nvSpPr>
          <p:cNvPr id="1048656" name="TextBox 138"/>
          <p:cNvSpPr txBox="1"/>
          <p:nvPr/>
        </p:nvSpPr>
        <p:spPr>
          <a:xfrm>
            <a:off x="8726360" y="2907945"/>
            <a:ext cx="1351460" cy="777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[Rh(NH</a:t>
            </a:r>
            <a:r>
              <a:rPr lang="en-US" baseline="-25000" dirty="0"/>
              <a:t>3</a:t>
            </a:r>
            <a:r>
              <a:rPr lang="en-US" dirty="0"/>
              <a:t>)</a:t>
            </a:r>
            <a:r>
              <a:rPr lang="en-US" baseline="-25000" dirty="0"/>
              <a:t>6</a:t>
            </a:r>
            <a:r>
              <a:rPr lang="en-US" dirty="0"/>
              <a:t>]</a:t>
            </a:r>
            <a:r>
              <a:rPr lang="en-US" baseline="30000" dirty="0"/>
              <a:t>3+ </a:t>
            </a:r>
            <a:r>
              <a:rPr lang="en-US" dirty="0"/>
              <a:t>406 kJ/mole</a:t>
            </a:r>
          </a:p>
        </p:txBody>
      </p:sp>
      <p:sp>
        <p:nvSpPr>
          <p:cNvPr id="1048657" name="TextBox 139"/>
          <p:cNvSpPr txBox="1"/>
          <p:nvPr/>
        </p:nvSpPr>
        <p:spPr>
          <a:xfrm>
            <a:off x="10508649" y="3028237"/>
            <a:ext cx="1351460" cy="77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</a:t>
            </a:r>
            <a:r>
              <a:rPr lang="en-US" dirty="0" err="1"/>
              <a:t>Ir</a:t>
            </a:r>
            <a:r>
              <a:rPr lang="en-US" dirty="0"/>
              <a:t>(NH</a:t>
            </a:r>
            <a:r>
              <a:rPr lang="en-US" baseline="-25000" dirty="0"/>
              <a:t>3</a:t>
            </a:r>
            <a:r>
              <a:rPr lang="en-US" dirty="0"/>
              <a:t>)</a:t>
            </a:r>
            <a:r>
              <a:rPr lang="en-US" baseline="-25000" dirty="0"/>
              <a:t>6</a:t>
            </a:r>
            <a:r>
              <a:rPr lang="en-US" dirty="0"/>
              <a:t>]</a:t>
            </a:r>
            <a:r>
              <a:rPr lang="en-US" baseline="30000" dirty="0"/>
              <a:t>3+ </a:t>
            </a:r>
            <a:r>
              <a:rPr lang="en-US" dirty="0"/>
              <a:t>490 kJ/mole</a:t>
            </a:r>
          </a:p>
        </p:txBody>
      </p:sp>
      <p:grpSp>
        <p:nvGrpSpPr>
          <p:cNvPr id="76" name="Group 142"/>
          <p:cNvGrpSpPr/>
          <p:nvPr/>
        </p:nvGrpSpPr>
        <p:grpSpPr>
          <a:xfrm>
            <a:off x="756709" y="790829"/>
            <a:ext cx="3108739" cy="2165372"/>
            <a:chOff x="330495" y="838058"/>
            <a:chExt cx="3108739" cy="2165372"/>
          </a:xfrm>
        </p:grpSpPr>
        <p:grpSp>
          <p:nvGrpSpPr>
            <p:cNvPr id="77" name="Group 24"/>
            <p:cNvGrpSpPr/>
            <p:nvPr/>
          </p:nvGrpSpPr>
          <p:grpSpPr>
            <a:xfrm>
              <a:off x="2464059" y="1067934"/>
              <a:ext cx="738145" cy="211320"/>
              <a:chOff x="7983940" y="859809"/>
              <a:chExt cx="791570" cy="409433"/>
            </a:xfrm>
          </p:grpSpPr>
          <p:sp>
            <p:nvSpPr>
              <p:cNvPr id="1048658" name="Rectangle 25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57" name="Straight Connector 26"/>
              <p:cNvCxnSpPr>
                <a:cxnSpLocks/>
                <a:stCxn id="1048658" idx="0"/>
                <a:endCxn id="1048658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58" name="Straight Connector 27"/>
              <p:cNvCxnSpPr>
                <a:cxnSpLocks/>
                <a:stCxn id="1048658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28"/>
            <p:cNvGrpSpPr/>
            <p:nvPr/>
          </p:nvGrpSpPr>
          <p:grpSpPr>
            <a:xfrm>
              <a:off x="2217476" y="2198567"/>
              <a:ext cx="1221758" cy="218364"/>
              <a:chOff x="7983940" y="1787857"/>
              <a:chExt cx="1310185" cy="423080"/>
            </a:xfrm>
          </p:grpSpPr>
          <p:sp>
            <p:nvSpPr>
              <p:cNvPr id="1048659" name="Rectangle 29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59" name="Straight Connector 30"/>
              <p:cNvCxnSpPr>
                <a:cxnSpLocks/>
              </p:cNvCxnSpPr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60" name="Straight Connector 31"/>
              <p:cNvCxnSpPr>
                <a:cxnSpLocks/>
              </p:cNvCxnSpPr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61" name="Straight Connector 32"/>
              <p:cNvCxnSpPr>
                <a:cxnSpLocks/>
                <a:stCxn id="1048659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45762" name="Straight Arrow Connector 34"/>
            <p:cNvCxnSpPr>
              <a:cxnSpLocks/>
            </p:cNvCxnSpPr>
            <p:nvPr/>
          </p:nvCxnSpPr>
          <p:spPr>
            <a:xfrm flipV="1">
              <a:off x="686229" y="838058"/>
              <a:ext cx="0" cy="17686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60" name="TextBox 35"/>
            <p:cNvSpPr txBox="1"/>
            <p:nvPr/>
          </p:nvSpPr>
          <p:spPr>
            <a:xfrm rot="16200000">
              <a:off x="38936" y="1552161"/>
              <a:ext cx="928558" cy="3454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Energy</a:t>
              </a:r>
            </a:p>
          </p:txBody>
        </p:sp>
        <p:grpSp>
          <p:nvGrpSpPr>
            <p:cNvPr id="79" name="Group 45"/>
            <p:cNvGrpSpPr/>
            <p:nvPr/>
          </p:nvGrpSpPr>
          <p:grpSpPr>
            <a:xfrm>
              <a:off x="1019673" y="1329516"/>
              <a:ext cx="738145" cy="211320"/>
              <a:chOff x="7983940" y="859809"/>
              <a:chExt cx="791570" cy="409433"/>
            </a:xfrm>
          </p:grpSpPr>
          <p:sp>
            <p:nvSpPr>
              <p:cNvPr id="1048661" name="Rectangle 46"/>
              <p:cNvSpPr/>
              <p:nvPr/>
            </p:nvSpPr>
            <p:spPr>
              <a:xfrm>
                <a:off x="8175009" y="859809"/>
                <a:ext cx="600501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63" name="Straight Connector 47"/>
              <p:cNvCxnSpPr>
                <a:cxnSpLocks/>
                <a:stCxn id="1048661" idx="0"/>
                <a:endCxn id="1048661" idx="2"/>
              </p:cNvCxnSpPr>
              <p:nvPr/>
            </p:nvCxnSpPr>
            <p:spPr>
              <a:xfrm>
                <a:off x="8475260" y="859809"/>
                <a:ext cx="0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64" name="Straight Connector 48"/>
              <p:cNvCxnSpPr>
                <a:cxnSpLocks/>
                <a:stCxn id="1048661" idx="1"/>
              </p:cNvCxnSpPr>
              <p:nvPr/>
            </p:nvCxnSpPr>
            <p:spPr>
              <a:xfrm flipH="1" flipV="1">
                <a:off x="7983940" y="1064525"/>
                <a:ext cx="191069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49"/>
            <p:cNvGrpSpPr/>
            <p:nvPr/>
          </p:nvGrpSpPr>
          <p:grpSpPr>
            <a:xfrm>
              <a:off x="773090" y="1955181"/>
              <a:ext cx="1221758" cy="218364"/>
              <a:chOff x="7983940" y="1787857"/>
              <a:chExt cx="1310185" cy="423080"/>
            </a:xfrm>
          </p:grpSpPr>
          <p:sp>
            <p:nvSpPr>
              <p:cNvPr id="1048662" name="Rectangle 50"/>
              <p:cNvSpPr/>
              <p:nvPr/>
            </p:nvSpPr>
            <p:spPr>
              <a:xfrm>
                <a:off x="8175009" y="1801504"/>
                <a:ext cx="1119116" cy="409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45765" name="Straight Connector 51"/>
              <p:cNvCxnSpPr>
                <a:cxnSpLocks/>
              </p:cNvCxnSpPr>
              <p:nvPr/>
            </p:nvCxnSpPr>
            <p:spPr>
              <a:xfrm>
                <a:off x="8529852" y="1787857"/>
                <a:ext cx="0" cy="42308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66" name="Straight Connector 52"/>
              <p:cNvCxnSpPr>
                <a:cxnSpLocks/>
              </p:cNvCxnSpPr>
              <p:nvPr/>
            </p:nvCxnSpPr>
            <p:spPr>
              <a:xfrm>
                <a:off x="8911987" y="1801504"/>
                <a:ext cx="13648" cy="4094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67" name="Straight Connector 53"/>
              <p:cNvCxnSpPr>
                <a:cxnSpLocks/>
                <a:stCxn id="1048662" idx="1"/>
              </p:cNvCxnSpPr>
              <p:nvPr/>
            </p:nvCxnSpPr>
            <p:spPr>
              <a:xfrm flipH="1" flipV="1">
                <a:off x="7983940" y="1992573"/>
                <a:ext cx="191069" cy="136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8663" name="TextBox 140"/>
            <p:cNvSpPr txBox="1"/>
            <p:nvPr/>
          </p:nvSpPr>
          <p:spPr>
            <a:xfrm>
              <a:off x="1172114" y="2683390"/>
              <a:ext cx="563880" cy="320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</a:t>
              </a:r>
              <a:r>
                <a:rPr lang="en-US" baseline="30000" dirty="0"/>
                <a:t>2+</a:t>
              </a:r>
            </a:p>
          </p:txBody>
        </p:sp>
        <p:sp>
          <p:nvSpPr>
            <p:cNvPr id="1048664" name="TextBox 141"/>
            <p:cNvSpPr txBox="1"/>
            <p:nvPr/>
          </p:nvSpPr>
          <p:spPr>
            <a:xfrm>
              <a:off x="2564151" y="2683390"/>
              <a:ext cx="563879" cy="320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</a:t>
              </a:r>
              <a:r>
                <a:rPr lang="en-US" baseline="30000" dirty="0"/>
                <a:t>3+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43"/>
          <p:cNvGrpSpPr/>
          <p:nvPr/>
        </p:nvGrpSpPr>
        <p:grpSpPr bwMode="auto">
          <a:xfrm>
            <a:off x="2005133" y="1066800"/>
            <a:ext cx="3597275" cy="2286000"/>
            <a:chOff x="326" y="816"/>
            <a:chExt cx="2266" cy="1440"/>
          </a:xfrm>
        </p:grpSpPr>
        <p:grpSp>
          <p:nvGrpSpPr>
            <p:cNvPr id="83" name="Group 21"/>
            <p:cNvGrpSpPr/>
            <p:nvPr/>
          </p:nvGrpSpPr>
          <p:grpSpPr bwMode="auto">
            <a:xfrm>
              <a:off x="624" y="816"/>
              <a:ext cx="1968" cy="1440"/>
              <a:chOff x="336" y="816"/>
              <a:chExt cx="1968" cy="1440"/>
            </a:xfrm>
          </p:grpSpPr>
          <p:pic>
            <p:nvPicPr>
              <p:cNvPr id="2097164" name="Picture 3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512" y="1067"/>
                <a:ext cx="1760" cy="10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sp>
            <p:nvSpPr>
              <p:cNvPr id="1048665" name="Line 4"/>
              <p:cNvSpPr>
                <a:spLocks noChangeShapeType="1"/>
              </p:cNvSpPr>
              <p:nvPr/>
            </p:nvSpPr>
            <p:spPr bwMode="auto">
              <a:xfrm flipV="1">
                <a:off x="624" y="187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8666" name="Line 5"/>
              <p:cNvSpPr>
                <a:spLocks noChangeShapeType="1"/>
              </p:cNvSpPr>
              <p:nvPr/>
            </p:nvSpPr>
            <p:spPr bwMode="auto">
              <a:xfrm flipV="1">
                <a:off x="1584" y="158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8667" name="Rectangle 13"/>
              <p:cNvSpPr>
                <a:spLocks noChangeArrowheads="1"/>
              </p:cNvSpPr>
              <p:nvPr/>
            </p:nvSpPr>
            <p:spPr bwMode="auto">
              <a:xfrm>
                <a:off x="336" y="816"/>
                <a:ext cx="1968" cy="14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</p:grpSp>
        <p:sp>
          <p:nvSpPr>
            <p:cNvPr id="1048668" name="Text Box 36"/>
            <p:cNvSpPr txBox="1">
              <a:spLocks noChangeArrowheads="1"/>
            </p:cNvSpPr>
            <p:nvPr/>
          </p:nvSpPr>
          <p:spPr bwMode="auto">
            <a:xfrm>
              <a:off x="326" y="854"/>
              <a:ext cx="269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d</a:t>
              </a:r>
              <a:r>
                <a:rPr lang="en-US" altLang="en-US" sz="2400" i="1" baseline="30000"/>
                <a:t>1</a:t>
              </a:r>
              <a:endParaRPr lang="en-US" altLang="en-US" sz="2400" i="1"/>
            </a:p>
          </p:txBody>
        </p:sp>
      </p:grpSp>
      <p:grpSp>
        <p:nvGrpSpPr>
          <p:cNvPr id="84" name="Group 44"/>
          <p:cNvGrpSpPr/>
          <p:nvPr/>
        </p:nvGrpSpPr>
        <p:grpSpPr bwMode="auto">
          <a:xfrm>
            <a:off x="6288208" y="1066800"/>
            <a:ext cx="3740150" cy="2286000"/>
            <a:chOff x="3024" y="816"/>
            <a:chExt cx="2356" cy="1440"/>
          </a:xfrm>
        </p:grpSpPr>
        <p:pic>
          <p:nvPicPr>
            <p:cNvPr id="2097165" name="Picture 7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136" y="960"/>
              <a:ext cx="1760" cy="1056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048669" name="Line 8"/>
            <p:cNvSpPr>
              <a:spLocks noChangeShapeType="1"/>
            </p:cNvSpPr>
            <p:nvPr/>
          </p:nvSpPr>
          <p:spPr bwMode="auto">
            <a:xfrm flipV="1">
              <a:off x="3264" y="182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70" name="Line 9"/>
            <p:cNvSpPr>
              <a:spLocks noChangeShapeType="1"/>
            </p:cNvSpPr>
            <p:nvPr/>
          </p:nvSpPr>
          <p:spPr bwMode="auto">
            <a:xfrm flipV="1">
              <a:off x="4240" y="15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71" name="Line 11"/>
            <p:cNvSpPr>
              <a:spLocks noChangeShapeType="1"/>
            </p:cNvSpPr>
            <p:nvPr/>
          </p:nvSpPr>
          <p:spPr bwMode="auto">
            <a:xfrm flipV="1">
              <a:off x="3552" y="182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72" name="Line 12"/>
            <p:cNvSpPr>
              <a:spLocks noChangeShapeType="1"/>
            </p:cNvSpPr>
            <p:nvPr/>
          </p:nvSpPr>
          <p:spPr bwMode="auto">
            <a:xfrm flipV="1">
              <a:off x="4512" y="15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73" name="Rectangle 14"/>
            <p:cNvSpPr>
              <a:spLocks noChangeArrowheads="1"/>
            </p:cNvSpPr>
            <p:nvPr/>
          </p:nvSpPr>
          <p:spPr bwMode="auto">
            <a:xfrm>
              <a:off x="3024" y="816"/>
              <a:ext cx="1968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48674" name="Text Box 37"/>
            <p:cNvSpPr txBox="1">
              <a:spLocks noChangeArrowheads="1"/>
            </p:cNvSpPr>
            <p:nvPr/>
          </p:nvSpPr>
          <p:spPr bwMode="auto">
            <a:xfrm>
              <a:off x="5088" y="864"/>
              <a:ext cx="292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d</a:t>
              </a:r>
              <a:r>
                <a:rPr lang="en-US" altLang="en-US" sz="2400" i="1" baseline="30000"/>
                <a:t>2</a:t>
              </a:r>
              <a:endParaRPr lang="en-US" altLang="en-US" sz="2400" i="1"/>
            </a:p>
          </p:txBody>
        </p:sp>
      </p:grpSp>
      <p:grpSp>
        <p:nvGrpSpPr>
          <p:cNvPr id="85" name="Group 45"/>
          <p:cNvGrpSpPr/>
          <p:nvPr/>
        </p:nvGrpSpPr>
        <p:grpSpPr bwMode="auto">
          <a:xfrm>
            <a:off x="1944808" y="4038600"/>
            <a:ext cx="3657600" cy="2286000"/>
            <a:chOff x="288" y="2544"/>
            <a:chExt cx="2304" cy="1440"/>
          </a:xfrm>
        </p:grpSpPr>
        <p:pic>
          <p:nvPicPr>
            <p:cNvPr id="2097166" name="Picture 1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36" y="2688"/>
              <a:ext cx="1760" cy="1056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048675" name="Line 16"/>
            <p:cNvSpPr>
              <a:spLocks noChangeShapeType="1"/>
            </p:cNvSpPr>
            <p:nvPr/>
          </p:nvSpPr>
          <p:spPr bwMode="auto">
            <a:xfrm flipV="1">
              <a:off x="864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76" name="Line 17"/>
            <p:cNvSpPr>
              <a:spLocks noChangeShapeType="1"/>
            </p:cNvSpPr>
            <p:nvPr/>
          </p:nvSpPr>
          <p:spPr bwMode="auto">
            <a:xfrm flipV="1">
              <a:off x="1840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77" name="Line 18"/>
            <p:cNvSpPr>
              <a:spLocks noChangeShapeType="1"/>
            </p:cNvSpPr>
            <p:nvPr/>
          </p:nvSpPr>
          <p:spPr bwMode="auto">
            <a:xfrm flipV="1">
              <a:off x="1152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78" name="Line 19"/>
            <p:cNvSpPr>
              <a:spLocks noChangeShapeType="1"/>
            </p:cNvSpPr>
            <p:nvPr/>
          </p:nvSpPr>
          <p:spPr bwMode="auto">
            <a:xfrm flipV="1">
              <a:off x="2112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79" name="Rectangle 20"/>
            <p:cNvSpPr>
              <a:spLocks noChangeArrowheads="1"/>
            </p:cNvSpPr>
            <p:nvPr/>
          </p:nvSpPr>
          <p:spPr bwMode="auto">
            <a:xfrm>
              <a:off x="624" y="2544"/>
              <a:ext cx="1968" cy="14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48680" name="Line 28"/>
            <p:cNvSpPr>
              <a:spLocks noChangeShapeType="1"/>
            </p:cNvSpPr>
            <p:nvPr/>
          </p:nvSpPr>
          <p:spPr bwMode="auto">
            <a:xfrm flipV="1">
              <a:off x="1344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81" name="Line 29"/>
            <p:cNvSpPr>
              <a:spLocks noChangeShapeType="1"/>
            </p:cNvSpPr>
            <p:nvPr/>
          </p:nvSpPr>
          <p:spPr bwMode="auto">
            <a:xfrm flipV="1">
              <a:off x="2352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82" name="Text Box 38"/>
            <p:cNvSpPr txBox="1">
              <a:spLocks noChangeArrowheads="1"/>
            </p:cNvSpPr>
            <p:nvPr/>
          </p:nvSpPr>
          <p:spPr bwMode="auto">
            <a:xfrm>
              <a:off x="288" y="2640"/>
              <a:ext cx="290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d</a:t>
              </a:r>
              <a:r>
                <a:rPr lang="en-US" altLang="en-US" sz="2400" i="1" baseline="30000"/>
                <a:t>3</a:t>
              </a:r>
              <a:endParaRPr lang="en-US" altLang="en-US" sz="2400" i="1"/>
            </a:p>
          </p:txBody>
        </p:sp>
      </p:grpSp>
      <p:grpSp>
        <p:nvGrpSpPr>
          <p:cNvPr id="86" name="Group 47"/>
          <p:cNvGrpSpPr/>
          <p:nvPr/>
        </p:nvGrpSpPr>
        <p:grpSpPr bwMode="auto">
          <a:xfrm>
            <a:off x="6262808" y="4024313"/>
            <a:ext cx="3748087" cy="2286000"/>
            <a:chOff x="3008" y="2535"/>
            <a:chExt cx="2361" cy="1440"/>
          </a:xfrm>
        </p:grpSpPr>
        <p:pic>
          <p:nvPicPr>
            <p:cNvPr id="2097167" name="Picture 2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120" y="2679"/>
              <a:ext cx="1760" cy="1056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048683" name="Line 23"/>
            <p:cNvSpPr>
              <a:spLocks noChangeShapeType="1"/>
            </p:cNvSpPr>
            <p:nvPr/>
          </p:nvSpPr>
          <p:spPr bwMode="auto">
            <a:xfrm flipV="1">
              <a:off x="3312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84" name="Line 24"/>
            <p:cNvSpPr>
              <a:spLocks noChangeShapeType="1"/>
            </p:cNvSpPr>
            <p:nvPr/>
          </p:nvSpPr>
          <p:spPr bwMode="auto">
            <a:xfrm flipV="1">
              <a:off x="4224" y="3255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85" name="Line 25"/>
            <p:cNvSpPr>
              <a:spLocks noChangeShapeType="1"/>
            </p:cNvSpPr>
            <p:nvPr/>
          </p:nvSpPr>
          <p:spPr bwMode="auto">
            <a:xfrm flipV="1">
              <a:off x="3536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86" name="Line 26"/>
            <p:cNvSpPr>
              <a:spLocks noChangeShapeType="1"/>
            </p:cNvSpPr>
            <p:nvPr/>
          </p:nvSpPr>
          <p:spPr bwMode="auto">
            <a:xfrm flipV="1">
              <a:off x="4496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87" name="Rectangle 27"/>
            <p:cNvSpPr>
              <a:spLocks noChangeArrowheads="1"/>
            </p:cNvSpPr>
            <p:nvPr/>
          </p:nvSpPr>
          <p:spPr bwMode="auto">
            <a:xfrm>
              <a:off x="3008" y="2535"/>
              <a:ext cx="1968" cy="1440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48688" name="Line 30"/>
            <p:cNvSpPr>
              <a:spLocks noChangeShapeType="1"/>
            </p:cNvSpPr>
            <p:nvPr/>
          </p:nvSpPr>
          <p:spPr bwMode="auto">
            <a:xfrm flipV="1">
              <a:off x="3776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89" name="Line 31"/>
            <p:cNvSpPr>
              <a:spLocks noChangeShapeType="1"/>
            </p:cNvSpPr>
            <p:nvPr/>
          </p:nvSpPr>
          <p:spPr bwMode="auto">
            <a:xfrm flipV="1">
              <a:off x="4736" y="326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90" name="Line 34"/>
            <p:cNvSpPr>
              <a:spLocks noChangeShapeType="1"/>
            </p:cNvSpPr>
            <p:nvPr/>
          </p:nvSpPr>
          <p:spPr bwMode="auto">
            <a:xfrm flipV="1">
              <a:off x="4304" y="2871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91" name="Line 35"/>
            <p:cNvSpPr>
              <a:spLocks noChangeShapeType="1"/>
            </p:cNvSpPr>
            <p:nvPr/>
          </p:nvSpPr>
          <p:spPr bwMode="auto">
            <a:xfrm>
              <a:off x="3216" y="355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692" name="Text Box 39"/>
            <p:cNvSpPr txBox="1">
              <a:spLocks noChangeArrowheads="1"/>
            </p:cNvSpPr>
            <p:nvPr/>
          </p:nvSpPr>
          <p:spPr bwMode="auto">
            <a:xfrm>
              <a:off x="5084" y="2631"/>
              <a:ext cx="285" cy="2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i="1"/>
                <a:t>d</a:t>
              </a:r>
              <a:r>
                <a:rPr lang="en-US" altLang="en-US" sz="2400" i="1" baseline="30000"/>
                <a:t>4</a:t>
              </a:r>
              <a:endParaRPr lang="en-US" altLang="en-US" sz="2400" i="1"/>
            </a:p>
          </p:txBody>
        </p:sp>
      </p:grpSp>
      <p:sp>
        <p:nvSpPr>
          <p:cNvPr id="1048693" name="Text Box 40"/>
          <p:cNvSpPr txBox="1">
            <a:spLocks noChangeArrowheads="1"/>
          </p:cNvSpPr>
          <p:nvPr/>
        </p:nvSpPr>
        <p:spPr bwMode="auto">
          <a:xfrm>
            <a:off x="3697408" y="152400"/>
            <a:ext cx="4936649" cy="4470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i="1">
                <a:solidFill>
                  <a:schemeClr val="accent2"/>
                </a:solidFill>
              </a:rPr>
              <a:t>Placing electrons in d orbitals</a:t>
            </a:r>
          </a:p>
        </p:txBody>
      </p:sp>
      <p:sp>
        <p:nvSpPr>
          <p:cNvPr id="1048694" name="Text Box 48"/>
          <p:cNvSpPr txBox="1">
            <a:spLocks noChangeArrowheads="1"/>
          </p:cNvSpPr>
          <p:nvPr/>
        </p:nvSpPr>
        <p:spPr bwMode="auto">
          <a:xfrm>
            <a:off x="2402008" y="609600"/>
            <a:ext cx="3505200" cy="70104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/>
              <a:t>Strong field      Weak field</a:t>
            </a:r>
          </a:p>
        </p:txBody>
      </p:sp>
      <p:sp>
        <p:nvSpPr>
          <p:cNvPr id="1048695" name="Text Box 49"/>
          <p:cNvSpPr txBox="1">
            <a:spLocks noChangeArrowheads="1"/>
          </p:cNvSpPr>
          <p:nvPr/>
        </p:nvSpPr>
        <p:spPr bwMode="auto">
          <a:xfrm>
            <a:off x="6135808" y="685800"/>
            <a:ext cx="3505200" cy="70104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/>
              <a:t>Strong field      Weak field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03808" y="1882775"/>
            <a:ext cx="3990975" cy="26257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696" name="Line 6"/>
          <p:cNvSpPr>
            <a:spLocks noChangeShapeType="1"/>
          </p:cNvSpPr>
          <p:nvPr/>
        </p:nvSpPr>
        <p:spPr bwMode="auto">
          <a:xfrm flipV="1">
            <a:off x="4502271" y="4030663"/>
            <a:ext cx="0" cy="715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8697" name="Line 7"/>
          <p:cNvSpPr>
            <a:spLocks noChangeShapeType="1"/>
          </p:cNvSpPr>
          <p:nvPr/>
        </p:nvSpPr>
        <p:spPr bwMode="auto">
          <a:xfrm flipV="1">
            <a:off x="6607296" y="3314700"/>
            <a:ext cx="0" cy="71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8698" name="Line 8"/>
          <p:cNvSpPr>
            <a:spLocks noChangeShapeType="1"/>
          </p:cNvSpPr>
          <p:nvPr/>
        </p:nvSpPr>
        <p:spPr bwMode="auto">
          <a:xfrm flipV="1">
            <a:off x="5046783" y="4030663"/>
            <a:ext cx="0" cy="715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8699" name="Line 9"/>
          <p:cNvSpPr>
            <a:spLocks noChangeShapeType="1"/>
          </p:cNvSpPr>
          <p:nvPr/>
        </p:nvSpPr>
        <p:spPr bwMode="auto">
          <a:xfrm flipV="1">
            <a:off x="7223246" y="3314700"/>
            <a:ext cx="0" cy="71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8700" name="Rectangle 10"/>
          <p:cNvSpPr>
            <a:spLocks noChangeArrowheads="1"/>
          </p:cNvSpPr>
          <p:nvPr/>
        </p:nvSpPr>
        <p:spPr bwMode="auto">
          <a:xfrm>
            <a:off x="3849808" y="1524000"/>
            <a:ext cx="4462463" cy="35814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48701" name="Line 11"/>
          <p:cNvSpPr>
            <a:spLocks noChangeShapeType="1"/>
          </p:cNvSpPr>
          <p:nvPr/>
        </p:nvSpPr>
        <p:spPr bwMode="auto">
          <a:xfrm flipV="1">
            <a:off x="5591296" y="4030663"/>
            <a:ext cx="0" cy="715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8702" name="Line 12"/>
          <p:cNvSpPr>
            <a:spLocks noChangeShapeType="1"/>
          </p:cNvSpPr>
          <p:nvPr/>
        </p:nvSpPr>
        <p:spPr bwMode="auto">
          <a:xfrm flipV="1">
            <a:off x="7767758" y="3314700"/>
            <a:ext cx="0" cy="715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8703" name="Line 13"/>
          <p:cNvSpPr>
            <a:spLocks noChangeShapeType="1"/>
          </p:cNvSpPr>
          <p:nvPr/>
        </p:nvSpPr>
        <p:spPr bwMode="auto">
          <a:xfrm flipV="1">
            <a:off x="6788271" y="2359025"/>
            <a:ext cx="0" cy="717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8704" name="Line 14"/>
          <p:cNvSpPr>
            <a:spLocks noChangeShapeType="1"/>
          </p:cNvSpPr>
          <p:nvPr/>
        </p:nvSpPr>
        <p:spPr bwMode="auto">
          <a:xfrm>
            <a:off x="4284783" y="4030663"/>
            <a:ext cx="0" cy="715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8705" name="Text Box 15"/>
          <p:cNvSpPr txBox="1">
            <a:spLocks noChangeArrowheads="1"/>
          </p:cNvSpPr>
          <p:nvPr/>
        </p:nvSpPr>
        <p:spPr bwMode="auto">
          <a:xfrm>
            <a:off x="8556746" y="1762125"/>
            <a:ext cx="450869" cy="3962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/>
              <a:t>d</a:t>
            </a:r>
            <a:r>
              <a:rPr lang="en-US" altLang="en-US" sz="2400" i="1" baseline="30000"/>
              <a:t>4</a:t>
            </a:r>
            <a:endParaRPr lang="en-US" altLang="en-US" sz="2400" i="1"/>
          </a:p>
        </p:txBody>
      </p:sp>
      <p:sp>
        <p:nvSpPr>
          <p:cNvPr id="1048706" name="Text Box 16"/>
          <p:cNvSpPr txBox="1">
            <a:spLocks noChangeArrowheads="1"/>
          </p:cNvSpPr>
          <p:nvPr/>
        </p:nvSpPr>
        <p:spPr bwMode="auto">
          <a:xfrm>
            <a:off x="1076446" y="2819399"/>
            <a:ext cx="2778690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/>
              <a:t>Strong field =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/>
              <a:t>Low spin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/>
              <a:t>(2 unpaired)</a:t>
            </a:r>
          </a:p>
        </p:txBody>
      </p:sp>
      <p:sp>
        <p:nvSpPr>
          <p:cNvPr id="1048707" name="Text Box 19"/>
          <p:cNvSpPr txBox="1">
            <a:spLocks noChangeArrowheads="1"/>
          </p:cNvSpPr>
          <p:nvPr/>
        </p:nvSpPr>
        <p:spPr bwMode="auto">
          <a:xfrm>
            <a:off x="8574208" y="2841625"/>
            <a:ext cx="2205038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/>
              <a:t>Weak field =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/>
              <a:t>High spin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/>
              <a:t>(4 unpaired)</a:t>
            </a:r>
          </a:p>
        </p:txBody>
      </p:sp>
      <p:sp>
        <p:nvSpPr>
          <p:cNvPr id="1048708" name="Text Box 20"/>
          <p:cNvSpPr txBox="1">
            <a:spLocks noChangeArrowheads="1"/>
          </p:cNvSpPr>
          <p:nvPr/>
        </p:nvSpPr>
        <p:spPr bwMode="auto">
          <a:xfrm>
            <a:off x="4307008" y="5257800"/>
            <a:ext cx="1295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+mj-lt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</a:rPr>
              <a:t> &lt; </a:t>
            </a:r>
            <a:r>
              <a:rPr lang="en-US" altLang="en-US" sz="2400" dirty="0">
                <a:latin typeface="Symbol" panose="05050102010706020507" pitchFamily="18" charset="2"/>
              </a:rPr>
              <a:t>D</a:t>
            </a:r>
            <a:r>
              <a:rPr lang="en-US" altLang="en-US" sz="2400" baseline="-25000" dirty="0">
                <a:latin typeface="Times New Roman" panose="02020603050405020304" pitchFamily="18" charset="0"/>
              </a:rPr>
              <a:t>o</a:t>
            </a:r>
            <a:r>
              <a:rPr lang="en-US" altLang="en-US" sz="2400" dirty="0"/>
              <a:t> </a:t>
            </a:r>
          </a:p>
        </p:txBody>
      </p:sp>
      <p:sp>
        <p:nvSpPr>
          <p:cNvPr id="1048709" name="Text Box 21"/>
          <p:cNvSpPr txBox="1">
            <a:spLocks noChangeArrowheads="1"/>
          </p:cNvSpPr>
          <p:nvPr/>
        </p:nvSpPr>
        <p:spPr bwMode="auto">
          <a:xfrm>
            <a:off x="6669208" y="5257800"/>
            <a:ext cx="1295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/>
              <a:t>p</a:t>
            </a:r>
            <a:r>
              <a:rPr lang="en-US" altLang="en-US" sz="2400" dirty="0">
                <a:latin typeface="Times New Roman" panose="02020603050405020304" pitchFamily="18" charset="0"/>
              </a:rPr>
              <a:t> &gt; </a:t>
            </a:r>
            <a:r>
              <a:rPr lang="en-US" altLang="en-US" sz="2400" dirty="0">
                <a:latin typeface="Symbol" panose="05050102010706020507" pitchFamily="18" charset="2"/>
              </a:rPr>
              <a:t>D</a:t>
            </a:r>
            <a:r>
              <a:rPr lang="en-US" altLang="en-US" sz="2400" baseline="-25000" dirty="0">
                <a:latin typeface="Times New Roman" panose="02020603050405020304" pitchFamily="18" charset="0"/>
              </a:rPr>
              <a:t>o</a:t>
            </a:r>
            <a:r>
              <a:rPr lang="en-US" altLang="en-US" sz="2400" dirty="0"/>
              <a:t> </a:t>
            </a:r>
          </a:p>
        </p:txBody>
      </p:sp>
      <p:sp>
        <p:nvSpPr>
          <p:cNvPr id="1048710" name="Text Box 23"/>
          <p:cNvSpPr txBox="1">
            <a:spLocks noChangeArrowheads="1"/>
          </p:cNvSpPr>
          <p:nvPr/>
        </p:nvSpPr>
        <p:spPr bwMode="auto">
          <a:xfrm>
            <a:off x="1792408" y="228600"/>
            <a:ext cx="8534400" cy="113284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/>
              <a:t>When the 4</a:t>
            </a:r>
            <a:r>
              <a:rPr lang="en-US" altLang="en-US" sz="2400" baseline="30000"/>
              <a:t>th</a:t>
            </a:r>
            <a:r>
              <a:rPr lang="en-US" altLang="en-US" sz="2400"/>
              <a:t> electron is assigned it will either go into the higher energy e</a:t>
            </a:r>
            <a:r>
              <a:rPr lang="en-US" altLang="en-US" sz="2400" baseline="-25000"/>
              <a:t>g</a:t>
            </a:r>
            <a:r>
              <a:rPr lang="en-US" altLang="en-US" sz="2400"/>
              <a:t> orbital at an energy cost of </a:t>
            </a:r>
            <a:r>
              <a:rPr lang="en-US" altLang="en-US" sz="2400">
                <a:latin typeface="Symbol" panose="05050102010706020507" pitchFamily="18" charset="2"/>
              </a:rPr>
              <a:t>D</a:t>
            </a:r>
            <a:r>
              <a:rPr lang="en-US" altLang="en-US" sz="2400" baseline="-25000"/>
              <a:t>0 </a:t>
            </a:r>
            <a:r>
              <a:rPr lang="en-US" altLang="en-US" sz="2400"/>
              <a:t> or be paired at an energy cost of </a:t>
            </a:r>
            <a:r>
              <a:rPr lang="en-US" altLang="en-US" sz="2400">
                <a:latin typeface="Symbol" panose="05050102010706020507" pitchFamily="18" charset="2"/>
              </a:rPr>
              <a:t>P</a:t>
            </a:r>
            <a:r>
              <a:rPr lang="en-US" altLang="en-US" sz="2400"/>
              <a:t>, the pairing energy.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9" name="Picture 2" descr="https://player.slideplayer.com/95/16275872/slides/slide_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6202" y="0"/>
            <a:ext cx="9753600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Picture 2" descr="https://player.slideplayer.com/95/16275872/slides/slide_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1861" y="97809"/>
            <a:ext cx="9753600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Picture 2" descr="https://player.slideplayer.com/95/16275872/slides/slide_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2554" y="0"/>
            <a:ext cx="9753600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2" name="Picture 2" descr="https://player.slideplayer.com/95/16275872/slides/slide_1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61294" y="0"/>
            <a:ext cx="9753600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Picture 2" descr="https://player.slideplayer.com/95/16275872/slides/slide_1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7271" y="0"/>
            <a:ext cx="9753600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4" name="Picture 2" descr="https://player.slideplayer.com/95/16275872/slides/slide_1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9850" y="97809"/>
            <a:ext cx="9753600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5" name="Picture 2" descr="https://player.slideplayer.com/95/16275872/slides/slide_1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3622" y="0"/>
            <a:ext cx="9753600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6" name="Picture 2" descr="https://player.slideplayer.com/95/16275872/slides/slide_1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9975" y="0"/>
            <a:ext cx="9753600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7" name="Picture 2" descr="https://player.slideplayer.com/95/16275872/slides/slide_1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6452" y="0"/>
            <a:ext cx="9753600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8" name="Picture 2" descr="https://player.slideplayer.com/95/16275872/slides/slide_1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5509" y="0"/>
            <a:ext cx="9753600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9" name="Picture 2" descr="https://player.slideplayer.com/95/16275872/slides/slide_1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8214" y="0"/>
            <a:ext cx="9753600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0" name="Picture 2" descr="https://player.slideplayer.com/95/16275872/slides/slide_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9975" y="0"/>
            <a:ext cx="9753600" cy="7315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1" name="Picture 2" descr="https://player.slideplayer.com/95/16275872/slides/slide_2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3497" y="0"/>
            <a:ext cx="9070312" cy="68027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95" y="162849"/>
            <a:ext cx="8052303" cy="5500972"/>
          </a:xfrm>
          <a:prstGeom prst="rect">
            <a:avLst/>
          </a:prstGeom>
        </p:spPr>
      </p:pic>
      <p:sp>
        <p:nvSpPr>
          <p:cNvPr id="1048711" name="TextBox 4"/>
          <p:cNvSpPr txBox="1"/>
          <p:nvPr/>
        </p:nvSpPr>
        <p:spPr>
          <a:xfrm>
            <a:off x="8311486" y="627797"/>
            <a:ext cx="3398844" cy="599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/>
                </a:solidFill>
              </a:rPr>
              <a:t>For d</a:t>
            </a:r>
            <a:r>
              <a:rPr lang="en-US" sz="2000" b="1" baseline="30000" dirty="0">
                <a:solidFill>
                  <a:schemeClr val="accent5"/>
                </a:solidFill>
              </a:rPr>
              <a:t>1</a:t>
            </a:r>
            <a:r>
              <a:rPr lang="en-US" sz="2000" b="1" dirty="0">
                <a:solidFill>
                  <a:schemeClr val="accent5"/>
                </a:solidFill>
              </a:rPr>
              <a:t> System     t</a:t>
            </a:r>
            <a:r>
              <a:rPr lang="en-US" sz="2000" b="1" baseline="-25000" dirty="0">
                <a:solidFill>
                  <a:schemeClr val="accent5"/>
                </a:solidFill>
              </a:rPr>
              <a:t>2</a:t>
            </a:r>
            <a:r>
              <a:rPr lang="en-US" sz="2000" b="1" dirty="0">
                <a:solidFill>
                  <a:schemeClr val="accent5"/>
                </a:solidFill>
              </a:rPr>
              <a:t>g</a:t>
            </a:r>
            <a:r>
              <a:rPr lang="en-US" sz="2000" b="1" baseline="30000" dirty="0">
                <a:solidFill>
                  <a:schemeClr val="accent5"/>
                </a:solidFill>
              </a:rPr>
              <a:t>1</a:t>
            </a:r>
          </a:p>
          <a:p>
            <a:r>
              <a:rPr lang="en-US" sz="2000" b="1" dirty="0">
                <a:solidFill>
                  <a:schemeClr val="accent5"/>
                </a:solidFill>
              </a:rPr>
              <a:t>CFSE = 1x(-0.4) ∆o = -0.4 ∆o</a:t>
            </a:r>
          </a:p>
        </p:txBody>
      </p:sp>
      <p:sp>
        <p:nvSpPr>
          <p:cNvPr id="1048712" name="Rectangle 5"/>
          <p:cNvSpPr/>
          <p:nvPr/>
        </p:nvSpPr>
        <p:spPr>
          <a:xfrm>
            <a:off x="8334232" y="1708603"/>
            <a:ext cx="3379722" cy="853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For d</a:t>
            </a:r>
            <a:r>
              <a:rPr lang="en-US" sz="2000" b="1" baseline="300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 System</a:t>
            </a:r>
            <a:r>
              <a:rPr lang="en-US" sz="2000" b="1" dirty="0">
                <a:solidFill>
                  <a:schemeClr val="accent5"/>
                </a:solidFill>
              </a:rPr>
              <a:t>     t</a:t>
            </a:r>
            <a:r>
              <a:rPr lang="en-US" sz="2000" b="1" baseline="-25000" dirty="0">
                <a:solidFill>
                  <a:schemeClr val="accent5"/>
                </a:solidFill>
              </a:rPr>
              <a:t>2</a:t>
            </a:r>
            <a:r>
              <a:rPr lang="en-US" sz="2000" b="1" dirty="0">
                <a:solidFill>
                  <a:schemeClr val="accent5"/>
                </a:solidFill>
              </a:rPr>
              <a:t>g</a:t>
            </a:r>
            <a:r>
              <a:rPr lang="en-US" sz="2000" b="1" baseline="30000" dirty="0">
                <a:solidFill>
                  <a:schemeClr val="accent5"/>
                </a:solidFill>
              </a:rPr>
              <a:t>2</a:t>
            </a:r>
            <a:endParaRPr lang="en-US" sz="20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CFSE = 2x(-0.4) ∆o = -0.8 ∆o</a:t>
            </a:r>
          </a:p>
        </p:txBody>
      </p:sp>
      <p:sp>
        <p:nvSpPr>
          <p:cNvPr id="1048713" name="Rectangle 6"/>
          <p:cNvSpPr/>
          <p:nvPr/>
        </p:nvSpPr>
        <p:spPr>
          <a:xfrm>
            <a:off x="8452511" y="2604743"/>
            <a:ext cx="3247583" cy="853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For d</a:t>
            </a:r>
            <a:r>
              <a:rPr lang="en-US" sz="2000" b="1" baseline="30000" dirty="0">
                <a:solidFill>
                  <a:srgbClr val="FF0000"/>
                </a:solidFill>
              </a:rPr>
              <a:t>3</a:t>
            </a:r>
            <a:r>
              <a:rPr lang="en-US" sz="2000" b="1" dirty="0">
                <a:solidFill>
                  <a:srgbClr val="FF0000"/>
                </a:solidFill>
              </a:rPr>
              <a:t> System   </a:t>
            </a:r>
            <a:r>
              <a:rPr lang="en-US" sz="2000" b="1" dirty="0">
                <a:solidFill>
                  <a:schemeClr val="accent5"/>
                </a:solidFill>
              </a:rPr>
              <a:t>t</a:t>
            </a:r>
            <a:r>
              <a:rPr lang="en-US" sz="2000" b="1" baseline="-25000" dirty="0">
                <a:solidFill>
                  <a:schemeClr val="accent5"/>
                </a:solidFill>
              </a:rPr>
              <a:t>2</a:t>
            </a:r>
            <a:r>
              <a:rPr lang="en-US" sz="2000" b="1" dirty="0">
                <a:solidFill>
                  <a:schemeClr val="accent5"/>
                </a:solidFill>
              </a:rPr>
              <a:t>g</a:t>
            </a:r>
            <a:r>
              <a:rPr lang="en-US" sz="2000" b="1" baseline="30000" dirty="0">
                <a:solidFill>
                  <a:schemeClr val="accent5"/>
                </a:solidFill>
              </a:rPr>
              <a:t>3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CFSE = 3x(-0.4) ∆o = -1.2 ∆o</a:t>
            </a:r>
          </a:p>
        </p:txBody>
      </p:sp>
      <p:sp>
        <p:nvSpPr>
          <p:cNvPr id="1048714" name="Rectangle 7"/>
          <p:cNvSpPr/>
          <p:nvPr/>
        </p:nvSpPr>
        <p:spPr>
          <a:xfrm>
            <a:off x="8334232" y="3679041"/>
            <a:ext cx="3600752" cy="2631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For d</a:t>
            </a:r>
            <a:r>
              <a:rPr lang="en-US" sz="2000" b="1" baseline="30000" dirty="0">
                <a:solidFill>
                  <a:srgbClr val="00B0F0"/>
                </a:solidFill>
              </a:rPr>
              <a:t>4</a:t>
            </a:r>
            <a:r>
              <a:rPr lang="en-US" sz="2000" b="1" dirty="0">
                <a:solidFill>
                  <a:srgbClr val="00B0F0"/>
                </a:solidFill>
              </a:rPr>
              <a:t> System (High spin) </a:t>
            </a:r>
            <a:r>
              <a:rPr lang="en-US" sz="2000" b="1" dirty="0">
                <a:solidFill>
                  <a:schemeClr val="accent5"/>
                </a:solidFill>
              </a:rPr>
              <a:t>t</a:t>
            </a:r>
            <a:r>
              <a:rPr lang="en-US" sz="2000" b="1" baseline="-25000" dirty="0">
                <a:solidFill>
                  <a:schemeClr val="accent5"/>
                </a:solidFill>
              </a:rPr>
              <a:t>2</a:t>
            </a:r>
            <a:r>
              <a:rPr lang="en-US" sz="2000" b="1" dirty="0">
                <a:solidFill>
                  <a:schemeClr val="accent5"/>
                </a:solidFill>
              </a:rPr>
              <a:t>g</a:t>
            </a:r>
            <a:r>
              <a:rPr lang="en-US" sz="2000" b="1" baseline="30000" dirty="0">
                <a:solidFill>
                  <a:schemeClr val="accent5"/>
                </a:solidFill>
              </a:rPr>
              <a:t>3</a:t>
            </a:r>
            <a:r>
              <a:rPr lang="en-US" sz="2000" b="1" dirty="0">
                <a:solidFill>
                  <a:schemeClr val="accent5"/>
                </a:solidFill>
              </a:rPr>
              <a:t>e</a:t>
            </a:r>
            <a:r>
              <a:rPr lang="en-US" sz="2000" b="1" baseline="-25000" dirty="0">
                <a:solidFill>
                  <a:schemeClr val="accent5"/>
                </a:solidFill>
              </a:rPr>
              <a:t>g</a:t>
            </a:r>
            <a:r>
              <a:rPr lang="en-US" sz="2000" b="1" baseline="30000" dirty="0">
                <a:solidFill>
                  <a:schemeClr val="accent5"/>
                </a:solidFill>
              </a:rPr>
              <a:t>1</a:t>
            </a:r>
            <a:endParaRPr lang="en-US" sz="2000" b="1" dirty="0">
              <a:solidFill>
                <a:srgbClr val="00B0F0"/>
              </a:solidFill>
            </a:endParaRPr>
          </a:p>
          <a:p>
            <a:r>
              <a:rPr lang="en-US" sz="2000" b="1" dirty="0">
                <a:solidFill>
                  <a:srgbClr val="00B0F0"/>
                </a:solidFill>
              </a:rPr>
              <a:t>CFSE = 3x(-0.4) + 1x(0.6)∆o </a:t>
            </a:r>
            <a:br>
              <a:rPr lang="en-US" sz="2000" b="1" dirty="0">
                <a:solidFill>
                  <a:srgbClr val="00B0F0"/>
                </a:solidFill>
              </a:rPr>
            </a:br>
            <a:r>
              <a:rPr lang="en-US" sz="2000" b="1" dirty="0">
                <a:solidFill>
                  <a:srgbClr val="00B0F0"/>
                </a:solidFill>
              </a:rPr>
              <a:t>          = (-1.2+0.6) ∆o = - 0.6 ∆o</a:t>
            </a:r>
          </a:p>
          <a:p>
            <a:endParaRPr lang="en-US" sz="2000" b="1" dirty="0">
              <a:solidFill>
                <a:srgbClr val="00B0F0"/>
              </a:solidFill>
            </a:endParaRPr>
          </a:p>
          <a:p>
            <a:r>
              <a:rPr lang="en-US" sz="2000" b="1" dirty="0">
                <a:solidFill>
                  <a:srgbClr val="00B0F0"/>
                </a:solidFill>
              </a:rPr>
              <a:t>For d</a:t>
            </a:r>
            <a:r>
              <a:rPr lang="en-US" sz="2000" b="1" baseline="30000" dirty="0">
                <a:solidFill>
                  <a:srgbClr val="00B0F0"/>
                </a:solidFill>
              </a:rPr>
              <a:t>4</a:t>
            </a:r>
            <a:r>
              <a:rPr lang="en-US" sz="2000" b="1" dirty="0">
                <a:solidFill>
                  <a:srgbClr val="00B0F0"/>
                </a:solidFill>
              </a:rPr>
              <a:t> System (Low spin)</a:t>
            </a:r>
            <a:r>
              <a:rPr lang="en-US" sz="2000" b="1" dirty="0">
                <a:solidFill>
                  <a:schemeClr val="accent5"/>
                </a:solidFill>
              </a:rPr>
              <a:t> t</a:t>
            </a:r>
            <a:r>
              <a:rPr lang="en-US" sz="2000" b="1" baseline="-25000" dirty="0">
                <a:solidFill>
                  <a:schemeClr val="accent5"/>
                </a:solidFill>
              </a:rPr>
              <a:t>2</a:t>
            </a:r>
            <a:r>
              <a:rPr lang="en-US" sz="2000" b="1" dirty="0">
                <a:solidFill>
                  <a:schemeClr val="accent5"/>
                </a:solidFill>
              </a:rPr>
              <a:t>g</a:t>
            </a:r>
            <a:r>
              <a:rPr lang="en-US" sz="2000" b="1" baseline="30000" dirty="0">
                <a:solidFill>
                  <a:schemeClr val="accent5"/>
                </a:solidFill>
              </a:rPr>
              <a:t>4</a:t>
            </a:r>
            <a:r>
              <a:rPr lang="en-US" sz="2000" b="1" dirty="0">
                <a:solidFill>
                  <a:schemeClr val="accent5"/>
                </a:solidFill>
              </a:rPr>
              <a:t>e</a:t>
            </a:r>
            <a:r>
              <a:rPr lang="en-US" sz="2000" b="1" baseline="-25000" dirty="0">
                <a:solidFill>
                  <a:schemeClr val="accent5"/>
                </a:solidFill>
              </a:rPr>
              <a:t>g</a:t>
            </a:r>
            <a:r>
              <a:rPr lang="en-US" sz="2000" b="1" baseline="30000" dirty="0">
                <a:solidFill>
                  <a:schemeClr val="accent5"/>
                </a:solidFill>
              </a:rPr>
              <a:t>0</a:t>
            </a:r>
            <a:endParaRPr lang="en-US" sz="2000" b="1" dirty="0">
              <a:solidFill>
                <a:srgbClr val="00B0F0"/>
              </a:solidFill>
            </a:endParaRPr>
          </a:p>
          <a:p>
            <a:r>
              <a:rPr lang="en-US" sz="2000" b="1" dirty="0">
                <a:solidFill>
                  <a:srgbClr val="00B0F0"/>
                </a:solidFill>
              </a:rPr>
              <a:t>CFSE = 4x(-0.4) ∆o + P </a:t>
            </a:r>
            <a:br>
              <a:rPr lang="en-US" sz="2000" b="1" dirty="0">
                <a:solidFill>
                  <a:srgbClr val="00B0F0"/>
                </a:solidFill>
              </a:rPr>
            </a:br>
            <a:r>
              <a:rPr lang="en-US" sz="2000" b="1" dirty="0">
                <a:solidFill>
                  <a:srgbClr val="00B0F0"/>
                </a:solidFill>
              </a:rPr>
              <a:t>          = -1.6 ∆o  + 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Rectangle 2"/>
          <p:cNvSpPr/>
          <p:nvPr/>
        </p:nvSpPr>
        <p:spPr>
          <a:xfrm>
            <a:off x="724184" y="5684406"/>
            <a:ext cx="8406168" cy="548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IDFont+F1"/>
              </a:rPr>
              <a:t>Octahedral crystal field stabilization energies (CFSE) for </a:t>
            </a:r>
            <a:r>
              <a:rPr lang="en-US" i="1" dirty="0" err="1">
                <a:solidFill>
                  <a:srgbClr val="000000"/>
                </a:solidFill>
                <a:latin typeface="CIDFont+F7"/>
              </a:rPr>
              <a:t>d</a:t>
            </a:r>
            <a:r>
              <a:rPr lang="en-US" sz="800" i="1" dirty="0" err="1">
                <a:solidFill>
                  <a:srgbClr val="000000"/>
                </a:solidFill>
                <a:latin typeface="CIDFont+F7"/>
              </a:rPr>
              <a:t>n</a:t>
            </a:r>
            <a:r>
              <a:rPr lang="en-US" sz="800" i="1" dirty="0">
                <a:solidFill>
                  <a:srgbClr val="000000"/>
                </a:solidFill>
                <a:latin typeface="CIDFont+F7"/>
              </a:rPr>
              <a:t> </a:t>
            </a:r>
            <a:r>
              <a:rPr lang="en-US" dirty="0">
                <a:solidFill>
                  <a:srgbClr val="000000"/>
                </a:solidFill>
                <a:latin typeface="CIDFont+F1"/>
              </a:rPr>
              <a:t>configurations;</a:t>
            </a:r>
            <a:br>
              <a:rPr lang="en-US" dirty="0">
                <a:solidFill>
                  <a:srgbClr val="000000"/>
                </a:solidFill>
                <a:latin typeface="CIDFont+F1"/>
              </a:rPr>
            </a:br>
            <a:r>
              <a:rPr lang="en-US" dirty="0">
                <a:solidFill>
                  <a:srgbClr val="000000"/>
                </a:solidFill>
                <a:latin typeface="CIDFont+F1"/>
              </a:rPr>
              <a:t>pairing energy, </a:t>
            </a:r>
            <a:r>
              <a:rPr lang="en-US" i="1" dirty="0">
                <a:solidFill>
                  <a:srgbClr val="000000"/>
                </a:solidFill>
                <a:latin typeface="CIDFont+F7"/>
              </a:rPr>
              <a:t>P</a:t>
            </a:r>
            <a:r>
              <a:rPr lang="en-US" dirty="0">
                <a:solidFill>
                  <a:srgbClr val="000000"/>
                </a:solidFill>
                <a:latin typeface="CIDFont+F1"/>
              </a:rPr>
              <a:t>, terms are included where appropriate</a:t>
            </a:r>
            <a:r>
              <a:rPr lang="en-US" dirty="0"/>
              <a:t> </a:t>
            </a:r>
          </a:p>
        </p:txBody>
      </p:sp>
      <p:sp>
        <p:nvSpPr>
          <p:cNvPr id="1048716" name="Rectangle 3"/>
          <p:cNvSpPr/>
          <p:nvPr/>
        </p:nvSpPr>
        <p:spPr>
          <a:xfrm>
            <a:off x="9130352" y="5869072"/>
            <a:ext cx="2024417" cy="777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IDFont+F1"/>
              </a:rPr>
              <a:t>High Spin : </a:t>
            </a:r>
            <a:r>
              <a:rPr lang="en-US" dirty="0" err="1">
                <a:solidFill>
                  <a:srgbClr val="000000"/>
                </a:solidFill>
                <a:latin typeface="CIDFont+F1"/>
              </a:rPr>
              <a:t>Δ</a:t>
            </a:r>
            <a:r>
              <a:rPr lang="en-US" sz="800" dirty="0" err="1">
                <a:solidFill>
                  <a:srgbClr val="000000"/>
                </a:solidFill>
                <a:latin typeface="CIDFont+F1"/>
              </a:rPr>
              <a:t>o</a:t>
            </a:r>
            <a:r>
              <a:rPr lang="en-US" sz="800" dirty="0">
                <a:solidFill>
                  <a:srgbClr val="000000"/>
                </a:solidFill>
                <a:latin typeface="CIDFont+F1"/>
              </a:rPr>
              <a:t> </a:t>
            </a:r>
            <a:r>
              <a:rPr lang="en-US" dirty="0">
                <a:solidFill>
                  <a:srgbClr val="000000"/>
                </a:solidFill>
                <a:latin typeface="CIDFont+F1"/>
              </a:rPr>
              <a:t>&lt; P</a:t>
            </a:r>
            <a:br>
              <a:rPr lang="en-US" dirty="0">
                <a:solidFill>
                  <a:srgbClr val="000000"/>
                </a:solidFill>
                <a:latin typeface="CIDFont+F1"/>
              </a:rPr>
            </a:br>
            <a:r>
              <a:rPr lang="en-US" dirty="0">
                <a:solidFill>
                  <a:srgbClr val="000000"/>
                </a:solidFill>
                <a:latin typeface="CIDFont+F1"/>
              </a:rPr>
              <a:t>Low Spin : </a:t>
            </a:r>
            <a:r>
              <a:rPr lang="en-US" dirty="0" err="1">
                <a:solidFill>
                  <a:srgbClr val="000000"/>
                </a:solidFill>
                <a:latin typeface="CIDFont+F1"/>
              </a:rPr>
              <a:t>Δ</a:t>
            </a:r>
            <a:r>
              <a:rPr lang="en-US" sz="800" dirty="0" err="1">
                <a:solidFill>
                  <a:srgbClr val="000000"/>
                </a:solidFill>
                <a:latin typeface="CIDFont+F1"/>
              </a:rPr>
              <a:t>o</a:t>
            </a:r>
            <a:r>
              <a:rPr lang="en-US" sz="800" dirty="0">
                <a:solidFill>
                  <a:srgbClr val="000000"/>
                </a:solidFill>
                <a:latin typeface="CIDFont+F1"/>
              </a:rPr>
              <a:t> </a:t>
            </a:r>
            <a:r>
              <a:rPr lang="en-US" dirty="0">
                <a:solidFill>
                  <a:srgbClr val="000000"/>
                </a:solidFill>
                <a:latin typeface="CIDFont+F1"/>
              </a:rPr>
              <a:t>&gt; 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2097183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84" y="179780"/>
            <a:ext cx="11278200" cy="54452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extBox 3"/>
          <p:cNvSpPr txBox="1"/>
          <p:nvPr/>
        </p:nvSpPr>
        <p:spPr>
          <a:xfrm>
            <a:off x="2538483" y="0"/>
            <a:ext cx="6141493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Some Consequences of Crystal Field Splitting </a:t>
            </a:r>
          </a:p>
        </p:txBody>
      </p:sp>
      <p:sp>
        <p:nvSpPr>
          <p:cNvPr id="1048718" name="Text Box 7"/>
          <p:cNvSpPr txBox="1">
            <a:spLocks noChangeArrowheads="1"/>
          </p:cNvSpPr>
          <p:nvPr/>
        </p:nvSpPr>
        <p:spPr bwMode="auto">
          <a:xfrm>
            <a:off x="719066" y="457200"/>
            <a:ext cx="2897591" cy="39624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/>
              <a:t>Lattice Energy</a:t>
            </a:r>
          </a:p>
        </p:txBody>
      </p:sp>
      <p:grpSp>
        <p:nvGrpSpPr>
          <p:cNvPr id="104" name="Group 38"/>
          <p:cNvGrpSpPr/>
          <p:nvPr/>
        </p:nvGrpSpPr>
        <p:grpSpPr>
          <a:xfrm>
            <a:off x="6921704" y="847275"/>
            <a:ext cx="4998922" cy="3475194"/>
            <a:chOff x="6921704" y="847275"/>
            <a:chExt cx="4998922" cy="3475194"/>
          </a:xfrm>
        </p:grpSpPr>
        <p:cxnSp>
          <p:nvCxnSpPr>
            <p:cNvPr id="3145768" name="Straight Connector 29"/>
            <p:cNvCxnSpPr>
              <a:cxnSpLocks/>
            </p:cNvCxnSpPr>
            <p:nvPr/>
          </p:nvCxnSpPr>
          <p:spPr>
            <a:xfrm>
              <a:off x="6921704" y="1860898"/>
              <a:ext cx="34117" cy="21444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Group 37"/>
            <p:cNvGrpSpPr/>
            <p:nvPr/>
          </p:nvGrpSpPr>
          <p:grpSpPr>
            <a:xfrm>
              <a:off x="6938762" y="847275"/>
              <a:ext cx="4981864" cy="3475194"/>
              <a:chOff x="6969469" y="230725"/>
              <a:chExt cx="4981864" cy="3475194"/>
            </a:xfrm>
          </p:grpSpPr>
          <p:cxnSp>
            <p:nvCxnSpPr>
              <p:cNvPr id="3145769" name="Straight Connector 30"/>
              <p:cNvCxnSpPr>
                <a:cxnSpLocks/>
              </p:cNvCxnSpPr>
              <p:nvPr/>
            </p:nvCxnSpPr>
            <p:spPr>
              <a:xfrm>
                <a:off x="6969469" y="3377541"/>
                <a:ext cx="4524234" cy="833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770" name="Straight Connector 31"/>
              <p:cNvCxnSpPr>
                <a:cxnSpLocks/>
              </p:cNvCxnSpPr>
              <p:nvPr/>
            </p:nvCxnSpPr>
            <p:spPr>
              <a:xfrm flipV="1">
                <a:off x="7194658" y="1571765"/>
                <a:ext cx="4203511" cy="162661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8719" name="TextBox 32"/>
              <p:cNvSpPr txBox="1"/>
              <p:nvPr/>
            </p:nvSpPr>
            <p:spPr>
              <a:xfrm>
                <a:off x="7085477" y="3385879"/>
                <a:ext cx="4865856" cy="3200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Ca</a:t>
                </a:r>
                <a:r>
                  <a:rPr lang="en-US" baseline="30000" dirty="0"/>
                  <a:t>2+ </a:t>
                </a:r>
                <a:r>
                  <a:rPr lang="en-US" dirty="0"/>
                  <a:t>Sc</a:t>
                </a:r>
                <a:r>
                  <a:rPr lang="en-US" baseline="30000" dirty="0"/>
                  <a:t>2+ </a:t>
                </a:r>
                <a:r>
                  <a:rPr lang="en-US" dirty="0"/>
                  <a:t>Ti</a:t>
                </a:r>
                <a:r>
                  <a:rPr lang="en-US" baseline="30000" dirty="0"/>
                  <a:t>2+</a:t>
                </a:r>
                <a:r>
                  <a:rPr lang="en-US" dirty="0"/>
                  <a:t> V</a:t>
                </a:r>
                <a:r>
                  <a:rPr lang="en-US" baseline="30000" dirty="0"/>
                  <a:t>2+ </a:t>
                </a:r>
                <a:r>
                  <a:rPr lang="en-US" dirty="0"/>
                  <a:t>Cr</a:t>
                </a:r>
                <a:r>
                  <a:rPr lang="en-US" baseline="30000" dirty="0"/>
                  <a:t>2+ </a:t>
                </a:r>
                <a:r>
                  <a:rPr lang="en-US" dirty="0"/>
                  <a:t>Mn</a:t>
                </a:r>
                <a:r>
                  <a:rPr lang="en-US" baseline="30000" dirty="0"/>
                  <a:t>2+ </a:t>
                </a:r>
                <a:r>
                  <a:rPr lang="en-US" dirty="0"/>
                  <a:t>Fe</a:t>
                </a:r>
                <a:r>
                  <a:rPr lang="en-US" baseline="30000" dirty="0"/>
                  <a:t>2+ </a:t>
                </a:r>
                <a:r>
                  <a:rPr lang="en-US" dirty="0"/>
                  <a:t>Co</a:t>
                </a:r>
                <a:r>
                  <a:rPr lang="en-US" baseline="30000" dirty="0"/>
                  <a:t>2+ </a:t>
                </a:r>
                <a:r>
                  <a:rPr lang="en-US" dirty="0"/>
                  <a:t>Ni</a:t>
                </a:r>
                <a:r>
                  <a:rPr lang="en-US" baseline="30000" dirty="0"/>
                  <a:t>2+ </a:t>
                </a:r>
                <a:r>
                  <a:rPr lang="en-US" dirty="0"/>
                  <a:t>Cu</a:t>
                </a:r>
                <a:r>
                  <a:rPr lang="en-US" baseline="30000" dirty="0"/>
                  <a:t>2+ </a:t>
                </a:r>
                <a:r>
                  <a:rPr lang="en-US" dirty="0"/>
                  <a:t>Zn</a:t>
                </a:r>
                <a:r>
                  <a:rPr lang="en-US" baseline="30000" dirty="0"/>
                  <a:t>2+ </a:t>
                </a:r>
              </a:p>
            </p:txBody>
          </p:sp>
          <p:sp>
            <p:nvSpPr>
              <p:cNvPr id="1048720" name="Freeform 33"/>
              <p:cNvSpPr/>
              <p:nvPr/>
            </p:nvSpPr>
            <p:spPr>
              <a:xfrm>
                <a:off x="7208306" y="1380903"/>
                <a:ext cx="4148920" cy="1799526"/>
              </a:xfrm>
              <a:custGeom>
                <a:avLst/>
                <a:gdLst>
                  <a:gd name="connsiteX0" fmla="*/ 0 w 4148920"/>
                  <a:gd name="connsiteY0" fmla="*/ 1799526 h 1799526"/>
                  <a:gd name="connsiteX1" fmla="*/ 1337481 w 4148920"/>
                  <a:gd name="connsiteY1" fmla="*/ 462046 h 1799526"/>
                  <a:gd name="connsiteX2" fmla="*/ 2060812 w 4148920"/>
                  <a:gd name="connsiteY2" fmla="*/ 994308 h 1799526"/>
                  <a:gd name="connsiteX3" fmla="*/ 3357350 w 4148920"/>
                  <a:gd name="connsiteY3" fmla="*/ 52613 h 1799526"/>
                  <a:gd name="connsiteX4" fmla="*/ 4148920 w 4148920"/>
                  <a:gd name="connsiteY4" fmla="*/ 202738 h 1799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48920" h="1799526">
                    <a:moveTo>
                      <a:pt x="0" y="1799526"/>
                    </a:moveTo>
                    <a:cubicBezTo>
                      <a:pt x="497006" y="1197887"/>
                      <a:pt x="994012" y="596249"/>
                      <a:pt x="1337481" y="462046"/>
                    </a:cubicBezTo>
                    <a:cubicBezTo>
                      <a:pt x="1680950" y="327843"/>
                      <a:pt x="1724167" y="1062547"/>
                      <a:pt x="2060812" y="994308"/>
                    </a:cubicBezTo>
                    <a:cubicBezTo>
                      <a:pt x="2397457" y="926069"/>
                      <a:pt x="3009332" y="184541"/>
                      <a:pt x="3357350" y="52613"/>
                    </a:cubicBezTo>
                    <a:cubicBezTo>
                      <a:pt x="3705368" y="-79315"/>
                      <a:pt x="3927144" y="61711"/>
                      <a:pt x="4148920" y="202738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8721" name="TextBox 34"/>
              <p:cNvSpPr txBox="1"/>
              <p:nvPr/>
            </p:nvSpPr>
            <p:spPr>
              <a:xfrm>
                <a:off x="7680858" y="230725"/>
                <a:ext cx="4101546" cy="1005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2400" b="1" dirty="0"/>
                  <a:t>Hydration Energy</a:t>
                </a:r>
              </a:p>
              <a:p>
                <a:r>
                  <a:rPr lang="en-US" sz="2400" b="1" dirty="0"/>
                  <a:t>M</a:t>
                </a:r>
                <a:r>
                  <a:rPr lang="en-US" sz="2400" b="1" baseline="30000" dirty="0"/>
                  <a:t>2+</a:t>
                </a:r>
                <a:r>
                  <a:rPr lang="en-US" sz="2400" b="1" dirty="0"/>
                  <a:t> +  H</a:t>
                </a:r>
                <a:r>
                  <a:rPr lang="en-US" sz="2400" b="1" baseline="-25000" dirty="0"/>
                  <a:t>2</a:t>
                </a:r>
                <a:r>
                  <a:rPr lang="en-US" sz="2400" b="1" dirty="0"/>
                  <a:t>O             [M(H</a:t>
                </a:r>
                <a:r>
                  <a:rPr lang="en-US" sz="2400" b="1" baseline="-25000" dirty="0"/>
                  <a:t>2</a:t>
                </a:r>
                <a:r>
                  <a:rPr lang="en-US" sz="2400" b="1" dirty="0"/>
                  <a:t>O)</a:t>
                </a:r>
                <a:r>
                  <a:rPr lang="en-US" sz="2400" b="1" baseline="-25000" dirty="0"/>
                  <a:t>6</a:t>
                </a:r>
                <a:r>
                  <a:rPr lang="en-US" sz="2400" b="1" dirty="0"/>
                  <a:t>]</a:t>
                </a:r>
                <a:r>
                  <a:rPr lang="en-US" sz="2400" b="1" baseline="30000" dirty="0"/>
                  <a:t>2+</a:t>
                </a:r>
                <a:endParaRPr lang="en-US" sz="2400" baseline="30000" dirty="0"/>
              </a:p>
            </p:txBody>
          </p:sp>
          <p:cxnSp>
            <p:nvCxnSpPr>
              <p:cNvPr id="3145771" name="Straight Arrow Connector 36"/>
              <p:cNvCxnSpPr>
                <a:cxnSpLocks/>
              </p:cNvCxnSpPr>
              <p:nvPr/>
            </p:nvCxnSpPr>
            <p:spPr>
              <a:xfrm>
                <a:off x="9282766" y="864609"/>
                <a:ext cx="57320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48722" name="TextBox 40"/>
          <p:cNvSpPr txBox="1"/>
          <p:nvPr/>
        </p:nvSpPr>
        <p:spPr>
          <a:xfrm rot="16200000">
            <a:off x="5379957" y="2876942"/>
            <a:ext cx="2815996" cy="3200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Hydration Energy kJ/mole</a:t>
            </a:r>
          </a:p>
        </p:txBody>
      </p:sp>
      <p:grpSp>
        <p:nvGrpSpPr>
          <p:cNvPr id="106" name="Group 58"/>
          <p:cNvGrpSpPr/>
          <p:nvPr/>
        </p:nvGrpSpPr>
        <p:grpSpPr>
          <a:xfrm>
            <a:off x="349963" y="862335"/>
            <a:ext cx="5539476" cy="2472821"/>
            <a:chOff x="349963" y="862335"/>
            <a:chExt cx="5539476" cy="2472821"/>
          </a:xfrm>
        </p:grpSpPr>
        <p:cxnSp>
          <p:nvCxnSpPr>
            <p:cNvPr id="3145772" name="Straight Connector 6"/>
            <p:cNvCxnSpPr>
              <a:cxnSpLocks/>
            </p:cNvCxnSpPr>
            <p:nvPr/>
          </p:nvCxnSpPr>
          <p:spPr>
            <a:xfrm>
              <a:off x="859810" y="862335"/>
              <a:ext cx="34117" cy="21444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73" name="Straight Connector 8"/>
            <p:cNvCxnSpPr>
              <a:cxnSpLocks/>
            </p:cNvCxnSpPr>
            <p:nvPr/>
          </p:nvCxnSpPr>
          <p:spPr>
            <a:xfrm>
              <a:off x="907575" y="3006777"/>
              <a:ext cx="4524234" cy="8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74" name="Straight Connector 10"/>
            <p:cNvCxnSpPr>
              <a:cxnSpLocks/>
            </p:cNvCxnSpPr>
            <p:nvPr/>
          </p:nvCxnSpPr>
          <p:spPr>
            <a:xfrm flipV="1">
              <a:off x="1132764" y="1201001"/>
              <a:ext cx="4203511" cy="16266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723" name="TextBox 17"/>
            <p:cNvSpPr txBox="1"/>
            <p:nvPr/>
          </p:nvSpPr>
          <p:spPr>
            <a:xfrm>
              <a:off x="1023583" y="3015115"/>
              <a:ext cx="4865856" cy="320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</a:t>
              </a:r>
              <a:r>
                <a:rPr lang="en-US" baseline="30000" dirty="0"/>
                <a:t>2+ </a:t>
              </a:r>
              <a:r>
                <a:rPr lang="en-US" dirty="0"/>
                <a:t>Sc</a:t>
              </a:r>
              <a:r>
                <a:rPr lang="en-US" baseline="30000" dirty="0"/>
                <a:t>2+ </a:t>
              </a:r>
              <a:r>
                <a:rPr lang="en-US" dirty="0"/>
                <a:t>Ti</a:t>
              </a:r>
              <a:r>
                <a:rPr lang="en-US" baseline="30000" dirty="0"/>
                <a:t>2+</a:t>
              </a:r>
              <a:r>
                <a:rPr lang="en-US" dirty="0"/>
                <a:t> V</a:t>
              </a:r>
              <a:r>
                <a:rPr lang="en-US" baseline="30000" dirty="0"/>
                <a:t>2+ </a:t>
              </a:r>
              <a:r>
                <a:rPr lang="en-US" dirty="0"/>
                <a:t>Cr</a:t>
              </a:r>
              <a:r>
                <a:rPr lang="en-US" baseline="30000" dirty="0"/>
                <a:t>2+ </a:t>
              </a:r>
              <a:r>
                <a:rPr lang="en-US" dirty="0"/>
                <a:t>Mn</a:t>
              </a:r>
              <a:r>
                <a:rPr lang="en-US" baseline="30000" dirty="0"/>
                <a:t>2+ </a:t>
              </a:r>
              <a:r>
                <a:rPr lang="en-US" dirty="0"/>
                <a:t>Fe</a:t>
              </a:r>
              <a:r>
                <a:rPr lang="en-US" baseline="30000" dirty="0"/>
                <a:t>2+ </a:t>
              </a:r>
              <a:r>
                <a:rPr lang="en-US" dirty="0"/>
                <a:t>Co</a:t>
              </a:r>
              <a:r>
                <a:rPr lang="en-US" baseline="30000" dirty="0"/>
                <a:t>2+ </a:t>
              </a:r>
              <a:r>
                <a:rPr lang="en-US" dirty="0"/>
                <a:t>Ni</a:t>
              </a:r>
              <a:r>
                <a:rPr lang="en-US" baseline="30000" dirty="0"/>
                <a:t>2+ </a:t>
              </a:r>
              <a:r>
                <a:rPr lang="en-US" dirty="0"/>
                <a:t>Cu</a:t>
              </a:r>
              <a:r>
                <a:rPr lang="en-US" baseline="30000" dirty="0"/>
                <a:t>2+ </a:t>
              </a:r>
              <a:r>
                <a:rPr lang="en-US" dirty="0"/>
                <a:t>Zn</a:t>
              </a:r>
              <a:r>
                <a:rPr lang="en-US" baseline="30000" dirty="0"/>
                <a:t>2+ </a:t>
              </a:r>
            </a:p>
          </p:txBody>
        </p:sp>
        <p:sp>
          <p:nvSpPr>
            <p:cNvPr id="1048724" name="Freeform 22"/>
            <p:cNvSpPr/>
            <p:nvPr/>
          </p:nvSpPr>
          <p:spPr>
            <a:xfrm>
              <a:off x="1146412" y="1011911"/>
              <a:ext cx="4148920" cy="1799526"/>
            </a:xfrm>
            <a:custGeom>
              <a:avLst/>
              <a:gdLst>
                <a:gd name="connsiteX0" fmla="*/ 0 w 4148920"/>
                <a:gd name="connsiteY0" fmla="*/ 1799526 h 1799526"/>
                <a:gd name="connsiteX1" fmla="*/ 1337481 w 4148920"/>
                <a:gd name="connsiteY1" fmla="*/ 462046 h 1799526"/>
                <a:gd name="connsiteX2" fmla="*/ 2060812 w 4148920"/>
                <a:gd name="connsiteY2" fmla="*/ 994308 h 1799526"/>
                <a:gd name="connsiteX3" fmla="*/ 3357350 w 4148920"/>
                <a:gd name="connsiteY3" fmla="*/ 52613 h 1799526"/>
                <a:gd name="connsiteX4" fmla="*/ 4148920 w 4148920"/>
                <a:gd name="connsiteY4" fmla="*/ 202738 h 1799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8920" h="1799526">
                  <a:moveTo>
                    <a:pt x="0" y="1799526"/>
                  </a:moveTo>
                  <a:cubicBezTo>
                    <a:pt x="497006" y="1197887"/>
                    <a:pt x="994012" y="596249"/>
                    <a:pt x="1337481" y="462046"/>
                  </a:cubicBezTo>
                  <a:cubicBezTo>
                    <a:pt x="1680950" y="327843"/>
                    <a:pt x="1724167" y="1062547"/>
                    <a:pt x="2060812" y="994308"/>
                  </a:cubicBezTo>
                  <a:cubicBezTo>
                    <a:pt x="2397457" y="926069"/>
                    <a:pt x="3009332" y="184541"/>
                    <a:pt x="3357350" y="52613"/>
                  </a:cubicBezTo>
                  <a:cubicBezTo>
                    <a:pt x="3705368" y="-79315"/>
                    <a:pt x="3927144" y="61711"/>
                    <a:pt x="4148920" y="20273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725" name="Rectangle 41"/>
            <p:cNvSpPr/>
            <p:nvPr/>
          </p:nvSpPr>
          <p:spPr>
            <a:xfrm rot="16200000">
              <a:off x="-287149" y="1969797"/>
              <a:ext cx="1594266" cy="3200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/>
                <a:t>Lattice Energy</a:t>
              </a:r>
            </a:p>
          </p:txBody>
        </p:sp>
      </p:grpSp>
      <p:grpSp>
        <p:nvGrpSpPr>
          <p:cNvPr id="107" name="Group 57"/>
          <p:cNvGrpSpPr/>
          <p:nvPr/>
        </p:nvGrpSpPr>
        <p:grpSpPr>
          <a:xfrm>
            <a:off x="533594" y="3627227"/>
            <a:ext cx="5453653" cy="2494343"/>
            <a:chOff x="533594" y="3627227"/>
            <a:chExt cx="5453653" cy="2494343"/>
          </a:xfrm>
        </p:grpSpPr>
        <p:sp>
          <p:nvSpPr>
            <p:cNvPr id="1048726" name="Rectangle 39"/>
            <p:cNvSpPr/>
            <p:nvPr/>
          </p:nvSpPr>
          <p:spPr>
            <a:xfrm rot="16200000">
              <a:off x="-204846" y="4741635"/>
              <a:ext cx="1873120" cy="3962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 dirty="0"/>
                <a:t>Ionic Radius</a:t>
              </a:r>
            </a:p>
          </p:txBody>
        </p:sp>
        <p:cxnSp>
          <p:nvCxnSpPr>
            <p:cNvPr id="3145775" name="Straight Connector 42"/>
            <p:cNvCxnSpPr>
              <a:cxnSpLocks/>
            </p:cNvCxnSpPr>
            <p:nvPr/>
          </p:nvCxnSpPr>
          <p:spPr>
            <a:xfrm>
              <a:off x="997994" y="3627227"/>
              <a:ext cx="34117" cy="21444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76" name="Straight Connector 43"/>
            <p:cNvCxnSpPr>
              <a:cxnSpLocks/>
            </p:cNvCxnSpPr>
            <p:nvPr/>
          </p:nvCxnSpPr>
          <p:spPr>
            <a:xfrm>
              <a:off x="1005383" y="5793192"/>
              <a:ext cx="4524234" cy="8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727" name="TextBox 45"/>
            <p:cNvSpPr txBox="1"/>
            <p:nvPr/>
          </p:nvSpPr>
          <p:spPr>
            <a:xfrm>
              <a:off x="1121391" y="5801530"/>
              <a:ext cx="4865856" cy="320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</a:t>
              </a:r>
              <a:r>
                <a:rPr lang="en-US" baseline="30000" dirty="0"/>
                <a:t>2+ </a:t>
              </a:r>
              <a:r>
                <a:rPr lang="en-US" dirty="0"/>
                <a:t>Sc</a:t>
              </a:r>
              <a:r>
                <a:rPr lang="en-US" baseline="30000" dirty="0"/>
                <a:t>2+ </a:t>
              </a:r>
              <a:r>
                <a:rPr lang="en-US" dirty="0"/>
                <a:t>Ti</a:t>
              </a:r>
              <a:r>
                <a:rPr lang="en-US" baseline="30000" dirty="0"/>
                <a:t>2+</a:t>
              </a:r>
              <a:r>
                <a:rPr lang="en-US" dirty="0"/>
                <a:t> V</a:t>
              </a:r>
              <a:r>
                <a:rPr lang="en-US" baseline="30000" dirty="0"/>
                <a:t>2+ </a:t>
              </a:r>
              <a:r>
                <a:rPr lang="en-US" dirty="0"/>
                <a:t>Cr</a:t>
              </a:r>
              <a:r>
                <a:rPr lang="en-US" baseline="30000" dirty="0"/>
                <a:t>2+ </a:t>
              </a:r>
              <a:r>
                <a:rPr lang="en-US" dirty="0"/>
                <a:t>Mn</a:t>
              </a:r>
              <a:r>
                <a:rPr lang="en-US" baseline="30000" dirty="0"/>
                <a:t>2+ </a:t>
              </a:r>
              <a:r>
                <a:rPr lang="en-US" dirty="0"/>
                <a:t>Fe</a:t>
              </a:r>
              <a:r>
                <a:rPr lang="en-US" baseline="30000" dirty="0"/>
                <a:t>2+ </a:t>
              </a:r>
              <a:r>
                <a:rPr lang="en-US" dirty="0"/>
                <a:t>Co</a:t>
              </a:r>
              <a:r>
                <a:rPr lang="en-US" baseline="30000" dirty="0"/>
                <a:t>2+ </a:t>
              </a:r>
              <a:r>
                <a:rPr lang="en-US" dirty="0"/>
                <a:t>Ni</a:t>
              </a:r>
              <a:r>
                <a:rPr lang="en-US" baseline="30000" dirty="0"/>
                <a:t>2+ </a:t>
              </a:r>
              <a:r>
                <a:rPr lang="en-US" dirty="0"/>
                <a:t>Cu</a:t>
              </a:r>
              <a:r>
                <a:rPr lang="en-US" baseline="30000" dirty="0"/>
                <a:t>2+ </a:t>
              </a:r>
              <a:r>
                <a:rPr lang="en-US" dirty="0"/>
                <a:t>Zn</a:t>
              </a:r>
              <a:r>
                <a:rPr lang="en-US" baseline="30000" dirty="0"/>
                <a:t>2+ </a:t>
              </a:r>
            </a:p>
          </p:txBody>
        </p:sp>
        <p:sp>
          <p:nvSpPr>
            <p:cNvPr id="1048728" name="Freeform 52"/>
            <p:cNvSpPr/>
            <p:nvPr/>
          </p:nvSpPr>
          <p:spPr>
            <a:xfrm>
              <a:off x="1241946" y="4121624"/>
              <a:ext cx="1175516" cy="1064525"/>
            </a:xfrm>
            <a:custGeom>
              <a:avLst/>
              <a:gdLst>
                <a:gd name="connsiteX0" fmla="*/ 0 w 1175516"/>
                <a:gd name="connsiteY0" fmla="*/ 0 h 1064525"/>
                <a:gd name="connsiteX1" fmla="*/ 27296 w 1175516"/>
                <a:gd name="connsiteY1" fmla="*/ 68239 h 1064525"/>
                <a:gd name="connsiteX2" fmla="*/ 68239 w 1175516"/>
                <a:gd name="connsiteY2" fmla="*/ 109182 h 1064525"/>
                <a:gd name="connsiteX3" fmla="*/ 122830 w 1175516"/>
                <a:gd name="connsiteY3" fmla="*/ 177421 h 1064525"/>
                <a:gd name="connsiteX4" fmla="*/ 163773 w 1175516"/>
                <a:gd name="connsiteY4" fmla="*/ 218364 h 1064525"/>
                <a:gd name="connsiteX5" fmla="*/ 218364 w 1175516"/>
                <a:gd name="connsiteY5" fmla="*/ 286603 h 1064525"/>
                <a:gd name="connsiteX6" fmla="*/ 245660 w 1175516"/>
                <a:gd name="connsiteY6" fmla="*/ 327546 h 1064525"/>
                <a:gd name="connsiteX7" fmla="*/ 286603 w 1175516"/>
                <a:gd name="connsiteY7" fmla="*/ 368489 h 1064525"/>
                <a:gd name="connsiteX8" fmla="*/ 395785 w 1175516"/>
                <a:gd name="connsiteY8" fmla="*/ 491319 h 1064525"/>
                <a:gd name="connsiteX9" fmla="*/ 436729 w 1175516"/>
                <a:gd name="connsiteY9" fmla="*/ 504967 h 1064525"/>
                <a:gd name="connsiteX10" fmla="*/ 477672 w 1175516"/>
                <a:gd name="connsiteY10" fmla="*/ 532263 h 1064525"/>
                <a:gd name="connsiteX11" fmla="*/ 518615 w 1175516"/>
                <a:gd name="connsiteY11" fmla="*/ 545910 h 1064525"/>
                <a:gd name="connsiteX12" fmla="*/ 600502 w 1175516"/>
                <a:gd name="connsiteY12" fmla="*/ 600501 h 1064525"/>
                <a:gd name="connsiteX13" fmla="*/ 627797 w 1175516"/>
                <a:gd name="connsiteY13" fmla="*/ 641445 h 1064525"/>
                <a:gd name="connsiteX14" fmla="*/ 641445 w 1175516"/>
                <a:gd name="connsiteY14" fmla="*/ 682388 h 1064525"/>
                <a:gd name="connsiteX15" fmla="*/ 682388 w 1175516"/>
                <a:gd name="connsiteY15" fmla="*/ 709683 h 1064525"/>
                <a:gd name="connsiteX16" fmla="*/ 709684 w 1175516"/>
                <a:gd name="connsiteY16" fmla="*/ 750627 h 1064525"/>
                <a:gd name="connsiteX17" fmla="*/ 832514 w 1175516"/>
                <a:gd name="connsiteY17" fmla="*/ 818866 h 1064525"/>
                <a:gd name="connsiteX18" fmla="*/ 914400 w 1175516"/>
                <a:gd name="connsiteY18" fmla="*/ 859809 h 1064525"/>
                <a:gd name="connsiteX19" fmla="*/ 955344 w 1175516"/>
                <a:gd name="connsiteY19" fmla="*/ 900752 h 1064525"/>
                <a:gd name="connsiteX20" fmla="*/ 1037230 w 1175516"/>
                <a:gd name="connsiteY20" fmla="*/ 968991 h 1064525"/>
                <a:gd name="connsiteX21" fmla="*/ 1078173 w 1175516"/>
                <a:gd name="connsiteY21" fmla="*/ 1023582 h 1064525"/>
                <a:gd name="connsiteX22" fmla="*/ 1173708 w 1175516"/>
                <a:gd name="connsiteY22" fmla="*/ 1050877 h 1064525"/>
                <a:gd name="connsiteX23" fmla="*/ 1173708 w 1175516"/>
                <a:gd name="connsiteY23" fmla="*/ 1064525 h 106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75516" h="1064525">
                  <a:moveTo>
                    <a:pt x="0" y="0"/>
                  </a:moveTo>
                  <a:cubicBezTo>
                    <a:pt x="9099" y="22746"/>
                    <a:pt x="14312" y="47464"/>
                    <a:pt x="27296" y="68239"/>
                  </a:cubicBezTo>
                  <a:cubicBezTo>
                    <a:pt x="37525" y="84606"/>
                    <a:pt x="55529" y="94657"/>
                    <a:pt x="68239" y="109182"/>
                  </a:cubicBezTo>
                  <a:cubicBezTo>
                    <a:pt x="87421" y="131104"/>
                    <a:pt x="103648" y="155499"/>
                    <a:pt x="122830" y="177421"/>
                  </a:cubicBezTo>
                  <a:cubicBezTo>
                    <a:pt x="135540" y="191946"/>
                    <a:pt x="151063" y="203839"/>
                    <a:pt x="163773" y="218364"/>
                  </a:cubicBezTo>
                  <a:cubicBezTo>
                    <a:pt x="182955" y="240286"/>
                    <a:pt x="200886" y="263299"/>
                    <a:pt x="218364" y="286603"/>
                  </a:cubicBezTo>
                  <a:cubicBezTo>
                    <a:pt x="228206" y="299725"/>
                    <a:pt x="235159" y="314945"/>
                    <a:pt x="245660" y="327546"/>
                  </a:cubicBezTo>
                  <a:cubicBezTo>
                    <a:pt x="258016" y="342373"/>
                    <a:pt x="274247" y="353662"/>
                    <a:pt x="286603" y="368489"/>
                  </a:cubicBezTo>
                  <a:cubicBezTo>
                    <a:pt x="321615" y="410503"/>
                    <a:pt x="334533" y="470902"/>
                    <a:pt x="395785" y="491319"/>
                  </a:cubicBezTo>
                  <a:lnTo>
                    <a:pt x="436729" y="504967"/>
                  </a:lnTo>
                  <a:cubicBezTo>
                    <a:pt x="450377" y="514066"/>
                    <a:pt x="463001" y="524928"/>
                    <a:pt x="477672" y="532263"/>
                  </a:cubicBezTo>
                  <a:cubicBezTo>
                    <a:pt x="490539" y="538697"/>
                    <a:pt x="506039" y="538924"/>
                    <a:pt x="518615" y="545910"/>
                  </a:cubicBezTo>
                  <a:cubicBezTo>
                    <a:pt x="547292" y="561841"/>
                    <a:pt x="600502" y="600501"/>
                    <a:pt x="600502" y="600501"/>
                  </a:cubicBezTo>
                  <a:cubicBezTo>
                    <a:pt x="609600" y="614149"/>
                    <a:pt x="620462" y="626774"/>
                    <a:pt x="627797" y="641445"/>
                  </a:cubicBezTo>
                  <a:cubicBezTo>
                    <a:pt x="634231" y="654312"/>
                    <a:pt x="632458" y="671155"/>
                    <a:pt x="641445" y="682388"/>
                  </a:cubicBezTo>
                  <a:cubicBezTo>
                    <a:pt x="651692" y="695196"/>
                    <a:pt x="668740" y="700585"/>
                    <a:pt x="682388" y="709683"/>
                  </a:cubicBezTo>
                  <a:cubicBezTo>
                    <a:pt x="691487" y="723331"/>
                    <a:pt x="697340" y="739826"/>
                    <a:pt x="709684" y="750627"/>
                  </a:cubicBezTo>
                  <a:cubicBezTo>
                    <a:pt x="824430" y="851030"/>
                    <a:pt x="751288" y="778253"/>
                    <a:pt x="832514" y="818866"/>
                  </a:cubicBezTo>
                  <a:cubicBezTo>
                    <a:pt x="938344" y="871780"/>
                    <a:pt x="811485" y="825503"/>
                    <a:pt x="914400" y="859809"/>
                  </a:cubicBezTo>
                  <a:cubicBezTo>
                    <a:pt x="928048" y="873457"/>
                    <a:pt x="940517" y="888396"/>
                    <a:pt x="955344" y="900752"/>
                  </a:cubicBezTo>
                  <a:cubicBezTo>
                    <a:pt x="1018517" y="953396"/>
                    <a:pt x="977427" y="899221"/>
                    <a:pt x="1037230" y="968991"/>
                  </a:cubicBezTo>
                  <a:cubicBezTo>
                    <a:pt x="1052033" y="986261"/>
                    <a:pt x="1060699" y="1009020"/>
                    <a:pt x="1078173" y="1023582"/>
                  </a:cubicBezTo>
                  <a:cubicBezTo>
                    <a:pt x="1088237" y="1031969"/>
                    <a:pt x="1168622" y="1048334"/>
                    <a:pt x="1173708" y="1050877"/>
                  </a:cubicBezTo>
                  <a:cubicBezTo>
                    <a:pt x="1177777" y="1052911"/>
                    <a:pt x="1173708" y="1059976"/>
                    <a:pt x="1173708" y="106452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729" name="Freeform 53"/>
            <p:cNvSpPr/>
            <p:nvPr/>
          </p:nvSpPr>
          <p:spPr>
            <a:xfrm>
              <a:off x="2429301" y="4599296"/>
              <a:ext cx="859809" cy="600501"/>
            </a:xfrm>
            <a:custGeom>
              <a:avLst/>
              <a:gdLst>
                <a:gd name="connsiteX0" fmla="*/ 0 w 859809"/>
                <a:gd name="connsiteY0" fmla="*/ 600501 h 600501"/>
                <a:gd name="connsiteX1" fmla="*/ 163774 w 859809"/>
                <a:gd name="connsiteY1" fmla="*/ 464023 h 600501"/>
                <a:gd name="connsiteX2" fmla="*/ 218365 w 859809"/>
                <a:gd name="connsiteY2" fmla="*/ 450376 h 600501"/>
                <a:gd name="connsiteX3" fmla="*/ 272956 w 859809"/>
                <a:gd name="connsiteY3" fmla="*/ 423080 h 600501"/>
                <a:gd name="connsiteX4" fmla="*/ 313899 w 859809"/>
                <a:gd name="connsiteY4" fmla="*/ 409432 h 600501"/>
                <a:gd name="connsiteX5" fmla="*/ 395786 w 859809"/>
                <a:gd name="connsiteY5" fmla="*/ 354841 h 600501"/>
                <a:gd name="connsiteX6" fmla="*/ 436729 w 859809"/>
                <a:gd name="connsiteY6" fmla="*/ 327546 h 600501"/>
                <a:gd name="connsiteX7" fmla="*/ 504968 w 859809"/>
                <a:gd name="connsiteY7" fmla="*/ 313898 h 600501"/>
                <a:gd name="connsiteX8" fmla="*/ 545911 w 859809"/>
                <a:gd name="connsiteY8" fmla="*/ 272955 h 600501"/>
                <a:gd name="connsiteX9" fmla="*/ 655093 w 859809"/>
                <a:gd name="connsiteY9" fmla="*/ 191068 h 600501"/>
                <a:gd name="connsiteX10" fmla="*/ 736980 w 859809"/>
                <a:gd name="connsiteY10" fmla="*/ 122829 h 600501"/>
                <a:gd name="connsiteX11" fmla="*/ 818866 w 859809"/>
                <a:gd name="connsiteY11" fmla="*/ 54591 h 600501"/>
                <a:gd name="connsiteX12" fmla="*/ 859809 w 859809"/>
                <a:gd name="connsiteY12" fmla="*/ 0 h 60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59809" h="600501">
                  <a:moveTo>
                    <a:pt x="0" y="600501"/>
                  </a:moveTo>
                  <a:cubicBezTo>
                    <a:pt x="72651" y="527851"/>
                    <a:pt x="83275" y="494210"/>
                    <a:pt x="163774" y="464023"/>
                  </a:cubicBezTo>
                  <a:cubicBezTo>
                    <a:pt x="181337" y="457437"/>
                    <a:pt x="200168" y="454925"/>
                    <a:pt x="218365" y="450376"/>
                  </a:cubicBezTo>
                  <a:cubicBezTo>
                    <a:pt x="236562" y="441277"/>
                    <a:pt x="254256" y="431094"/>
                    <a:pt x="272956" y="423080"/>
                  </a:cubicBezTo>
                  <a:cubicBezTo>
                    <a:pt x="286179" y="417413"/>
                    <a:pt x="301323" y="416418"/>
                    <a:pt x="313899" y="409432"/>
                  </a:cubicBezTo>
                  <a:cubicBezTo>
                    <a:pt x="342576" y="393500"/>
                    <a:pt x="368490" y="373038"/>
                    <a:pt x="395786" y="354841"/>
                  </a:cubicBezTo>
                  <a:cubicBezTo>
                    <a:pt x="409434" y="345743"/>
                    <a:pt x="420645" y="330763"/>
                    <a:pt x="436729" y="327546"/>
                  </a:cubicBezTo>
                  <a:lnTo>
                    <a:pt x="504968" y="313898"/>
                  </a:lnTo>
                  <a:cubicBezTo>
                    <a:pt x="518616" y="300250"/>
                    <a:pt x="530973" y="285177"/>
                    <a:pt x="545911" y="272955"/>
                  </a:cubicBezTo>
                  <a:cubicBezTo>
                    <a:pt x="581120" y="244147"/>
                    <a:pt x="622925" y="223236"/>
                    <a:pt x="655093" y="191068"/>
                  </a:cubicBezTo>
                  <a:cubicBezTo>
                    <a:pt x="774707" y="71454"/>
                    <a:pt x="622975" y="217833"/>
                    <a:pt x="736980" y="122829"/>
                  </a:cubicBezTo>
                  <a:cubicBezTo>
                    <a:pt x="842061" y="35262"/>
                    <a:pt x="717214" y="122358"/>
                    <a:pt x="818866" y="54591"/>
                  </a:cubicBezTo>
                  <a:cubicBezTo>
                    <a:pt x="835731" y="3997"/>
                    <a:pt x="819646" y="20081"/>
                    <a:pt x="859809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730" name="Freeform 54"/>
            <p:cNvSpPr/>
            <p:nvPr/>
          </p:nvSpPr>
          <p:spPr>
            <a:xfrm>
              <a:off x="3289110" y="4599296"/>
              <a:ext cx="1119117" cy="736979"/>
            </a:xfrm>
            <a:custGeom>
              <a:avLst/>
              <a:gdLst>
                <a:gd name="connsiteX0" fmla="*/ 0 w 1119117"/>
                <a:gd name="connsiteY0" fmla="*/ 0 h 736979"/>
                <a:gd name="connsiteX1" fmla="*/ 13648 w 1119117"/>
                <a:gd name="connsiteY1" fmla="*/ 68238 h 736979"/>
                <a:gd name="connsiteX2" fmla="*/ 95535 w 1119117"/>
                <a:gd name="connsiteY2" fmla="*/ 136477 h 736979"/>
                <a:gd name="connsiteX3" fmla="*/ 204717 w 1119117"/>
                <a:gd name="connsiteY3" fmla="*/ 163773 h 736979"/>
                <a:gd name="connsiteX4" fmla="*/ 259308 w 1119117"/>
                <a:gd name="connsiteY4" fmla="*/ 191068 h 736979"/>
                <a:gd name="connsiteX5" fmla="*/ 300251 w 1119117"/>
                <a:gd name="connsiteY5" fmla="*/ 218364 h 736979"/>
                <a:gd name="connsiteX6" fmla="*/ 341194 w 1119117"/>
                <a:gd name="connsiteY6" fmla="*/ 232011 h 736979"/>
                <a:gd name="connsiteX7" fmla="*/ 436729 w 1119117"/>
                <a:gd name="connsiteY7" fmla="*/ 286603 h 736979"/>
                <a:gd name="connsiteX8" fmla="*/ 491320 w 1119117"/>
                <a:gd name="connsiteY8" fmla="*/ 327546 h 736979"/>
                <a:gd name="connsiteX9" fmla="*/ 532263 w 1119117"/>
                <a:gd name="connsiteY9" fmla="*/ 354841 h 736979"/>
                <a:gd name="connsiteX10" fmla="*/ 573206 w 1119117"/>
                <a:gd name="connsiteY10" fmla="*/ 395785 h 736979"/>
                <a:gd name="connsiteX11" fmla="*/ 641445 w 1119117"/>
                <a:gd name="connsiteY11" fmla="*/ 436728 h 736979"/>
                <a:gd name="connsiteX12" fmla="*/ 723332 w 1119117"/>
                <a:gd name="connsiteY12" fmla="*/ 491319 h 736979"/>
                <a:gd name="connsiteX13" fmla="*/ 764275 w 1119117"/>
                <a:gd name="connsiteY13" fmla="*/ 518614 h 736979"/>
                <a:gd name="connsiteX14" fmla="*/ 805218 w 1119117"/>
                <a:gd name="connsiteY14" fmla="*/ 559558 h 736979"/>
                <a:gd name="connsiteX15" fmla="*/ 846162 w 1119117"/>
                <a:gd name="connsiteY15" fmla="*/ 573205 h 736979"/>
                <a:gd name="connsiteX16" fmla="*/ 968991 w 1119117"/>
                <a:gd name="connsiteY16" fmla="*/ 641444 h 736979"/>
                <a:gd name="connsiteX17" fmla="*/ 1050878 w 1119117"/>
                <a:gd name="connsiteY17" fmla="*/ 696035 h 736979"/>
                <a:gd name="connsiteX18" fmla="*/ 1091821 w 1119117"/>
                <a:gd name="connsiteY18" fmla="*/ 723331 h 736979"/>
                <a:gd name="connsiteX19" fmla="*/ 1119117 w 1119117"/>
                <a:gd name="connsiteY19" fmla="*/ 736979 h 73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19117" h="736979">
                  <a:moveTo>
                    <a:pt x="0" y="0"/>
                  </a:moveTo>
                  <a:cubicBezTo>
                    <a:pt x="4549" y="22746"/>
                    <a:pt x="3274" y="47490"/>
                    <a:pt x="13648" y="68238"/>
                  </a:cubicBezTo>
                  <a:cubicBezTo>
                    <a:pt x="21661" y="84264"/>
                    <a:pt x="76373" y="129509"/>
                    <a:pt x="95535" y="136477"/>
                  </a:cubicBezTo>
                  <a:cubicBezTo>
                    <a:pt x="130791" y="149297"/>
                    <a:pt x="171163" y="146996"/>
                    <a:pt x="204717" y="163773"/>
                  </a:cubicBezTo>
                  <a:cubicBezTo>
                    <a:pt x="222914" y="172871"/>
                    <a:pt x="241644" y="180974"/>
                    <a:pt x="259308" y="191068"/>
                  </a:cubicBezTo>
                  <a:cubicBezTo>
                    <a:pt x="273549" y="199206"/>
                    <a:pt x="285580" y="211029"/>
                    <a:pt x="300251" y="218364"/>
                  </a:cubicBezTo>
                  <a:cubicBezTo>
                    <a:pt x="313118" y="224798"/>
                    <a:pt x="327971" y="226344"/>
                    <a:pt x="341194" y="232011"/>
                  </a:cubicBezTo>
                  <a:cubicBezTo>
                    <a:pt x="381180" y="249148"/>
                    <a:pt x="402461" y="262126"/>
                    <a:pt x="436729" y="286603"/>
                  </a:cubicBezTo>
                  <a:cubicBezTo>
                    <a:pt x="455238" y="299824"/>
                    <a:pt x="472811" y="314325"/>
                    <a:pt x="491320" y="327546"/>
                  </a:cubicBezTo>
                  <a:cubicBezTo>
                    <a:pt x="504667" y="337080"/>
                    <a:pt x="519662" y="344340"/>
                    <a:pt x="532263" y="354841"/>
                  </a:cubicBezTo>
                  <a:cubicBezTo>
                    <a:pt x="547090" y="367197"/>
                    <a:pt x="557765" y="384204"/>
                    <a:pt x="573206" y="395785"/>
                  </a:cubicBezTo>
                  <a:cubicBezTo>
                    <a:pt x="594427" y="411701"/>
                    <a:pt x="619066" y="422487"/>
                    <a:pt x="641445" y="436728"/>
                  </a:cubicBezTo>
                  <a:cubicBezTo>
                    <a:pt x="669122" y="454340"/>
                    <a:pt x="696036" y="473122"/>
                    <a:pt x="723332" y="491319"/>
                  </a:cubicBezTo>
                  <a:cubicBezTo>
                    <a:pt x="736980" y="500417"/>
                    <a:pt x="752677" y="507016"/>
                    <a:pt x="764275" y="518614"/>
                  </a:cubicBezTo>
                  <a:cubicBezTo>
                    <a:pt x="777923" y="532262"/>
                    <a:pt x="789159" y="548852"/>
                    <a:pt x="805218" y="559558"/>
                  </a:cubicBezTo>
                  <a:cubicBezTo>
                    <a:pt x="817188" y="567538"/>
                    <a:pt x="832514" y="568656"/>
                    <a:pt x="846162" y="573205"/>
                  </a:cubicBezTo>
                  <a:cubicBezTo>
                    <a:pt x="940018" y="635777"/>
                    <a:pt x="896926" y="617424"/>
                    <a:pt x="968991" y="641444"/>
                  </a:cubicBezTo>
                  <a:lnTo>
                    <a:pt x="1050878" y="696035"/>
                  </a:lnTo>
                  <a:cubicBezTo>
                    <a:pt x="1064526" y="705134"/>
                    <a:pt x="1077150" y="715996"/>
                    <a:pt x="1091821" y="723331"/>
                  </a:cubicBezTo>
                  <a:lnTo>
                    <a:pt x="1119117" y="736979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731" name="Freeform 55"/>
            <p:cNvSpPr/>
            <p:nvPr/>
          </p:nvSpPr>
          <p:spPr>
            <a:xfrm>
              <a:off x="4421875" y="4844903"/>
              <a:ext cx="996286" cy="491372"/>
            </a:xfrm>
            <a:custGeom>
              <a:avLst/>
              <a:gdLst>
                <a:gd name="connsiteX0" fmla="*/ 0 w 996286"/>
                <a:gd name="connsiteY0" fmla="*/ 491372 h 491372"/>
                <a:gd name="connsiteX1" fmla="*/ 81886 w 996286"/>
                <a:gd name="connsiteY1" fmla="*/ 450428 h 491372"/>
                <a:gd name="connsiteX2" fmla="*/ 122829 w 996286"/>
                <a:gd name="connsiteY2" fmla="*/ 436781 h 491372"/>
                <a:gd name="connsiteX3" fmla="*/ 218364 w 996286"/>
                <a:gd name="connsiteY3" fmla="*/ 395837 h 491372"/>
                <a:gd name="connsiteX4" fmla="*/ 245659 w 996286"/>
                <a:gd name="connsiteY4" fmla="*/ 354894 h 491372"/>
                <a:gd name="connsiteX5" fmla="*/ 327546 w 996286"/>
                <a:gd name="connsiteY5" fmla="*/ 313951 h 491372"/>
                <a:gd name="connsiteX6" fmla="*/ 450376 w 996286"/>
                <a:gd name="connsiteY6" fmla="*/ 232064 h 491372"/>
                <a:gd name="connsiteX7" fmla="*/ 491319 w 996286"/>
                <a:gd name="connsiteY7" fmla="*/ 204769 h 491372"/>
                <a:gd name="connsiteX8" fmla="*/ 614149 w 996286"/>
                <a:gd name="connsiteY8" fmla="*/ 163825 h 491372"/>
                <a:gd name="connsiteX9" fmla="*/ 655092 w 996286"/>
                <a:gd name="connsiteY9" fmla="*/ 150178 h 491372"/>
                <a:gd name="connsiteX10" fmla="*/ 696035 w 996286"/>
                <a:gd name="connsiteY10" fmla="*/ 122882 h 491372"/>
                <a:gd name="connsiteX11" fmla="*/ 777922 w 996286"/>
                <a:gd name="connsiteY11" fmla="*/ 95587 h 491372"/>
                <a:gd name="connsiteX12" fmla="*/ 900752 w 996286"/>
                <a:gd name="connsiteY12" fmla="*/ 40996 h 491372"/>
                <a:gd name="connsiteX13" fmla="*/ 941695 w 996286"/>
                <a:gd name="connsiteY13" fmla="*/ 27348 h 491372"/>
                <a:gd name="connsiteX14" fmla="*/ 996286 w 996286"/>
                <a:gd name="connsiteY14" fmla="*/ 52 h 49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6286" h="491372">
                  <a:moveTo>
                    <a:pt x="0" y="491372"/>
                  </a:moveTo>
                  <a:cubicBezTo>
                    <a:pt x="27295" y="477724"/>
                    <a:pt x="53999" y="462822"/>
                    <a:pt x="81886" y="450428"/>
                  </a:cubicBezTo>
                  <a:cubicBezTo>
                    <a:pt x="95032" y="444585"/>
                    <a:pt x="109606" y="442448"/>
                    <a:pt x="122829" y="436781"/>
                  </a:cubicBezTo>
                  <a:cubicBezTo>
                    <a:pt x="240894" y="386182"/>
                    <a:pt x="122337" y="427847"/>
                    <a:pt x="218364" y="395837"/>
                  </a:cubicBezTo>
                  <a:cubicBezTo>
                    <a:pt x="227462" y="382189"/>
                    <a:pt x="234061" y="366492"/>
                    <a:pt x="245659" y="354894"/>
                  </a:cubicBezTo>
                  <a:cubicBezTo>
                    <a:pt x="272117" y="328436"/>
                    <a:pt x="294245" y="325051"/>
                    <a:pt x="327546" y="313951"/>
                  </a:cubicBezTo>
                  <a:lnTo>
                    <a:pt x="450376" y="232064"/>
                  </a:lnTo>
                  <a:cubicBezTo>
                    <a:pt x="464024" y="222966"/>
                    <a:pt x="475758" y="209956"/>
                    <a:pt x="491319" y="204769"/>
                  </a:cubicBezTo>
                  <a:lnTo>
                    <a:pt x="614149" y="163825"/>
                  </a:lnTo>
                  <a:lnTo>
                    <a:pt x="655092" y="150178"/>
                  </a:lnTo>
                  <a:cubicBezTo>
                    <a:pt x="668740" y="141079"/>
                    <a:pt x="681046" y="129544"/>
                    <a:pt x="696035" y="122882"/>
                  </a:cubicBezTo>
                  <a:cubicBezTo>
                    <a:pt x="722327" y="111197"/>
                    <a:pt x="777922" y="95587"/>
                    <a:pt x="777922" y="95587"/>
                  </a:cubicBezTo>
                  <a:cubicBezTo>
                    <a:pt x="842806" y="52330"/>
                    <a:pt x="803303" y="73479"/>
                    <a:pt x="900752" y="40996"/>
                  </a:cubicBezTo>
                  <a:cubicBezTo>
                    <a:pt x="914400" y="36447"/>
                    <a:pt x="929725" y="35328"/>
                    <a:pt x="941695" y="27348"/>
                  </a:cubicBezTo>
                  <a:cubicBezTo>
                    <a:pt x="986423" y="-2472"/>
                    <a:pt x="966235" y="52"/>
                    <a:pt x="996286" y="52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732" name="Freeform 56"/>
            <p:cNvSpPr/>
            <p:nvPr/>
          </p:nvSpPr>
          <p:spPr>
            <a:xfrm>
              <a:off x="1255594" y="4107976"/>
              <a:ext cx="4080681" cy="750871"/>
            </a:xfrm>
            <a:custGeom>
              <a:avLst/>
              <a:gdLst>
                <a:gd name="connsiteX0" fmla="*/ 0 w 4080681"/>
                <a:gd name="connsiteY0" fmla="*/ 0 h 750871"/>
                <a:gd name="connsiteX1" fmla="*/ 2033516 w 4080681"/>
                <a:gd name="connsiteY1" fmla="*/ 464024 h 750871"/>
                <a:gd name="connsiteX2" fmla="*/ 2033516 w 4080681"/>
                <a:gd name="connsiteY2" fmla="*/ 464024 h 750871"/>
                <a:gd name="connsiteX3" fmla="*/ 4080681 w 4080681"/>
                <a:gd name="connsiteY3" fmla="*/ 750627 h 75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80681" h="750871">
                  <a:moveTo>
                    <a:pt x="0" y="0"/>
                  </a:moveTo>
                  <a:lnTo>
                    <a:pt x="2033516" y="464024"/>
                  </a:lnTo>
                  <a:lnTo>
                    <a:pt x="2033516" y="464024"/>
                  </a:lnTo>
                  <a:cubicBezTo>
                    <a:pt x="2374710" y="511791"/>
                    <a:pt x="3789529" y="759725"/>
                    <a:pt x="4080681" y="750627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169"/>
          <p:cNvGrpSpPr/>
          <p:nvPr/>
        </p:nvGrpSpPr>
        <p:grpSpPr>
          <a:xfrm>
            <a:off x="441833" y="1034395"/>
            <a:ext cx="3434131" cy="4034536"/>
            <a:chOff x="441833" y="1034395"/>
            <a:chExt cx="3434131" cy="4034536"/>
          </a:xfrm>
        </p:grpSpPr>
        <p:grpSp>
          <p:nvGrpSpPr>
            <p:cNvPr id="110" name="Group 162"/>
            <p:cNvGrpSpPr/>
            <p:nvPr/>
          </p:nvGrpSpPr>
          <p:grpSpPr>
            <a:xfrm>
              <a:off x="441833" y="1440976"/>
              <a:ext cx="3434131" cy="3627955"/>
              <a:chOff x="441833" y="1440976"/>
              <a:chExt cx="3434131" cy="3627955"/>
            </a:xfrm>
          </p:grpSpPr>
          <p:grpSp>
            <p:nvGrpSpPr>
              <p:cNvPr id="111" name="Group 156"/>
              <p:cNvGrpSpPr/>
              <p:nvPr/>
            </p:nvGrpSpPr>
            <p:grpSpPr>
              <a:xfrm>
                <a:off x="598035" y="1440976"/>
                <a:ext cx="3277929" cy="396240"/>
                <a:chOff x="598035" y="1440976"/>
                <a:chExt cx="3277929" cy="396240"/>
              </a:xfrm>
            </p:grpSpPr>
            <p:grpSp>
              <p:nvGrpSpPr>
                <p:cNvPr id="112" name="Group 52"/>
                <p:cNvGrpSpPr/>
                <p:nvPr/>
              </p:nvGrpSpPr>
              <p:grpSpPr>
                <a:xfrm>
                  <a:off x="1119117" y="1495568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1048733" name="Rectangle 53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8734" name="Rectangle 54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45777" name="Straight Connector 55"/>
                  <p:cNvCxnSpPr>
                    <a:cxnSpLocks/>
                    <a:stCxn id="1048734" idx="0"/>
                    <a:endCxn id="1048734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778" name="Straight Connector 56"/>
                  <p:cNvCxnSpPr>
                    <a:cxnSpLocks/>
                  </p:cNvCxnSpPr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779" name="Straight Connector 57"/>
                  <p:cNvCxnSpPr>
                    <a:cxnSpLocks/>
                  </p:cNvCxnSpPr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48735" name="TextBox 144"/>
                <p:cNvSpPr txBox="1"/>
                <p:nvPr/>
              </p:nvSpPr>
              <p:spPr>
                <a:xfrm>
                  <a:off x="598035" y="1440976"/>
                  <a:ext cx="474980" cy="3962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d</a:t>
                  </a:r>
                  <a:r>
                    <a:rPr lang="en-US" sz="2400" baseline="30000" dirty="0"/>
                    <a:t>0</a:t>
                  </a:r>
                </a:p>
              </p:txBody>
            </p:sp>
          </p:grpSp>
          <p:grpSp>
            <p:nvGrpSpPr>
              <p:cNvPr id="113" name="Group 157"/>
              <p:cNvGrpSpPr/>
              <p:nvPr/>
            </p:nvGrpSpPr>
            <p:grpSpPr>
              <a:xfrm>
                <a:off x="586470" y="2050902"/>
                <a:ext cx="3289494" cy="396240"/>
                <a:chOff x="586470" y="2091846"/>
                <a:chExt cx="3289494" cy="396240"/>
              </a:xfrm>
            </p:grpSpPr>
            <p:grpSp>
              <p:nvGrpSpPr>
                <p:cNvPr id="114" name="Group 9"/>
                <p:cNvGrpSpPr/>
                <p:nvPr/>
              </p:nvGrpSpPr>
              <p:grpSpPr>
                <a:xfrm>
                  <a:off x="1119117" y="2140424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1048736" name="Rectangle 1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8737" name="Rectangle 2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45780" name="Straight Connector 4"/>
                  <p:cNvCxnSpPr>
                    <a:cxnSpLocks/>
                    <a:stCxn id="1048737" idx="0"/>
                    <a:endCxn id="1048737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781" name="Straight Connector 6"/>
                  <p:cNvCxnSpPr>
                    <a:cxnSpLocks/>
                  </p:cNvCxnSpPr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782" name="Straight Connector 8"/>
                  <p:cNvCxnSpPr>
                    <a:cxnSpLocks/>
                  </p:cNvCxnSpPr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45783" name="Straight Arrow Connector 60"/>
                <p:cNvCxnSpPr>
                  <a:cxnSpLocks/>
                </p:cNvCxnSpPr>
                <p:nvPr/>
              </p:nvCxnSpPr>
              <p:spPr>
                <a:xfrm flipV="1">
                  <a:off x="1312461" y="2167719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5784" name="Straight Arrow Connector 61"/>
                <p:cNvCxnSpPr>
                  <a:cxnSpLocks/>
                </p:cNvCxnSpPr>
                <p:nvPr/>
              </p:nvCxnSpPr>
              <p:spPr>
                <a:xfrm flipV="1">
                  <a:off x="1762837" y="2190466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5785" name="Straight Arrow Connector 62"/>
                <p:cNvCxnSpPr>
                  <a:cxnSpLocks/>
                </p:cNvCxnSpPr>
                <p:nvPr/>
              </p:nvCxnSpPr>
              <p:spPr>
                <a:xfrm flipV="1">
                  <a:off x="2185918" y="2190466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8738" name="TextBox 146"/>
                <p:cNvSpPr txBox="1"/>
                <p:nvPr/>
              </p:nvSpPr>
              <p:spPr>
                <a:xfrm>
                  <a:off x="586470" y="2091846"/>
                  <a:ext cx="462280" cy="3962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d</a:t>
                  </a:r>
                  <a:r>
                    <a:rPr lang="en-US" sz="2400" baseline="30000" dirty="0"/>
                    <a:t>3</a:t>
                  </a:r>
                </a:p>
              </p:txBody>
            </p:sp>
          </p:grpSp>
          <p:grpSp>
            <p:nvGrpSpPr>
              <p:cNvPr id="115" name="Group 158"/>
              <p:cNvGrpSpPr/>
              <p:nvPr/>
            </p:nvGrpSpPr>
            <p:grpSpPr>
              <a:xfrm>
                <a:off x="573014" y="2730730"/>
                <a:ext cx="3302950" cy="396240"/>
                <a:chOff x="573014" y="2730730"/>
                <a:chExt cx="3302950" cy="396240"/>
              </a:xfrm>
            </p:grpSpPr>
            <p:grpSp>
              <p:nvGrpSpPr>
                <p:cNvPr id="116" name="Group 10"/>
                <p:cNvGrpSpPr/>
                <p:nvPr/>
              </p:nvGrpSpPr>
              <p:grpSpPr>
                <a:xfrm>
                  <a:off x="1119117" y="2785281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1048739" name="Rectangle 11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8740" name="Rectangle 12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45786" name="Straight Connector 13"/>
                  <p:cNvCxnSpPr>
                    <a:cxnSpLocks/>
                    <a:stCxn id="1048740" idx="0"/>
                    <a:endCxn id="1048740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787" name="Straight Connector 14"/>
                  <p:cNvCxnSpPr>
                    <a:cxnSpLocks/>
                  </p:cNvCxnSpPr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788" name="Straight Connector 15"/>
                  <p:cNvCxnSpPr>
                    <a:cxnSpLocks/>
                  </p:cNvCxnSpPr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45789" name="Straight Arrow Connector 63"/>
                <p:cNvCxnSpPr>
                  <a:cxnSpLocks/>
                </p:cNvCxnSpPr>
                <p:nvPr/>
              </p:nvCxnSpPr>
              <p:spPr>
                <a:xfrm flipV="1">
                  <a:off x="1312461" y="2830773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5790" name="Straight Arrow Connector 64"/>
                <p:cNvCxnSpPr>
                  <a:cxnSpLocks/>
                </p:cNvCxnSpPr>
                <p:nvPr/>
              </p:nvCxnSpPr>
              <p:spPr>
                <a:xfrm flipV="1">
                  <a:off x="1762837" y="2853520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5791" name="Straight Arrow Connector 65"/>
                <p:cNvCxnSpPr>
                  <a:cxnSpLocks/>
                </p:cNvCxnSpPr>
                <p:nvPr/>
              </p:nvCxnSpPr>
              <p:spPr>
                <a:xfrm flipV="1">
                  <a:off x="2185918" y="2853520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5792" name="Straight Arrow Connector 66"/>
                <p:cNvCxnSpPr>
                  <a:cxnSpLocks/>
                </p:cNvCxnSpPr>
                <p:nvPr/>
              </p:nvCxnSpPr>
              <p:spPr>
                <a:xfrm flipV="1">
                  <a:off x="3236795" y="2830773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5793" name="Straight Arrow Connector 67"/>
                <p:cNvCxnSpPr>
                  <a:cxnSpLocks/>
                </p:cNvCxnSpPr>
                <p:nvPr/>
              </p:nvCxnSpPr>
              <p:spPr>
                <a:xfrm flipV="1">
                  <a:off x="3632580" y="2830773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8741" name="TextBox 147"/>
                <p:cNvSpPr txBox="1"/>
                <p:nvPr/>
              </p:nvSpPr>
              <p:spPr>
                <a:xfrm>
                  <a:off x="573014" y="2730730"/>
                  <a:ext cx="474980" cy="3962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d</a:t>
                  </a:r>
                  <a:r>
                    <a:rPr lang="en-US" sz="2400" baseline="30000" dirty="0"/>
                    <a:t>5</a:t>
                  </a:r>
                </a:p>
              </p:txBody>
            </p:sp>
          </p:grpSp>
          <p:grpSp>
            <p:nvGrpSpPr>
              <p:cNvPr id="117" name="Group 159"/>
              <p:cNvGrpSpPr/>
              <p:nvPr/>
            </p:nvGrpSpPr>
            <p:grpSpPr>
              <a:xfrm>
                <a:off x="545911" y="3395446"/>
                <a:ext cx="3289109" cy="396240"/>
                <a:chOff x="545911" y="3327206"/>
                <a:chExt cx="3289109" cy="396240"/>
              </a:xfrm>
            </p:grpSpPr>
            <p:grpSp>
              <p:nvGrpSpPr>
                <p:cNvPr id="118" name="Group 16"/>
                <p:cNvGrpSpPr/>
                <p:nvPr/>
              </p:nvGrpSpPr>
              <p:grpSpPr>
                <a:xfrm>
                  <a:off x="1078173" y="3381798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1048742" name="Rectangle 17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8743" name="Rectangle 18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45794" name="Straight Connector 19"/>
                  <p:cNvCxnSpPr>
                    <a:cxnSpLocks/>
                    <a:stCxn id="1048743" idx="0"/>
                    <a:endCxn id="1048743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795" name="Straight Connector 20"/>
                  <p:cNvCxnSpPr>
                    <a:cxnSpLocks/>
                  </p:cNvCxnSpPr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796" name="Straight Connector 21"/>
                  <p:cNvCxnSpPr>
                    <a:cxnSpLocks/>
                  </p:cNvCxnSpPr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9" name="Group 73"/>
                <p:cNvGrpSpPr/>
                <p:nvPr/>
              </p:nvGrpSpPr>
              <p:grpSpPr>
                <a:xfrm>
                  <a:off x="1326108" y="3414215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797" name="Straight Arrow Connector 74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798" name="Straight Arrow Connector 75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0" name="Group 79"/>
                <p:cNvGrpSpPr/>
                <p:nvPr/>
              </p:nvGrpSpPr>
              <p:grpSpPr>
                <a:xfrm>
                  <a:off x="2151796" y="3447197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799" name="Straight Arrow Connector 80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00" name="Straight Arrow Connector 81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1" name="Group 94"/>
                <p:cNvGrpSpPr/>
                <p:nvPr/>
              </p:nvGrpSpPr>
              <p:grpSpPr>
                <a:xfrm>
                  <a:off x="1742366" y="3421037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01" name="Straight Arrow Connector 95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02" name="Straight Arrow Connector 96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48744" name="TextBox 148"/>
                <p:cNvSpPr txBox="1"/>
                <p:nvPr/>
              </p:nvSpPr>
              <p:spPr>
                <a:xfrm>
                  <a:off x="545911" y="3327206"/>
                  <a:ext cx="462280" cy="3962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d</a:t>
                  </a:r>
                  <a:r>
                    <a:rPr lang="en-US" sz="2400" baseline="30000" dirty="0"/>
                    <a:t>6</a:t>
                  </a:r>
                </a:p>
              </p:txBody>
            </p:sp>
          </p:grpSp>
          <p:grpSp>
            <p:nvGrpSpPr>
              <p:cNvPr id="122" name="Group 160"/>
              <p:cNvGrpSpPr/>
              <p:nvPr/>
            </p:nvGrpSpPr>
            <p:grpSpPr>
              <a:xfrm>
                <a:off x="532263" y="4011348"/>
                <a:ext cx="3302757" cy="402568"/>
                <a:chOff x="532263" y="3874868"/>
                <a:chExt cx="3302757" cy="402568"/>
              </a:xfrm>
            </p:grpSpPr>
            <p:grpSp>
              <p:nvGrpSpPr>
                <p:cNvPr id="123" name="Group 22"/>
                <p:cNvGrpSpPr/>
                <p:nvPr/>
              </p:nvGrpSpPr>
              <p:grpSpPr>
                <a:xfrm>
                  <a:off x="1078173" y="3936242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1048745" name="Rectangle 23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8746" name="Rectangle 24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45803" name="Straight Connector 25"/>
                  <p:cNvCxnSpPr>
                    <a:cxnSpLocks/>
                    <a:stCxn id="1048746" idx="0"/>
                    <a:endCxn id="1048746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04" name="Straight Connector 26"/>
                  <p:cNvCxnSpPr>
                    <a:cxnSpLocks/>
                  </p:cNvCxnSpPr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05" name="Straight Connector 27"/>
                  <p:cNvCxnSpPr>
                    <a:cxnSpLocks/>
                  </p:cNvCxnSpPr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4" name="Group 76"/>
                <p:cNvGrpSpPr/>
                <p:nvPr/>
              </p:nvGrpSpPr>
              <p:grpSpPr>
                <a:xfrm>
                  <a:off x="1726442" y="3969224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06" name="Straight Arrow Connector 77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07" name="Straight Arrow Connector 78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5" name="Group 91"/>
                <p:cNvGrpSpPr/>
                <p:nvPr/>
              </p:nvGrpSpPr>
              <p:grpSpPr>
                <a:xfrm>
                  <a:off x="1246497" y="3989125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08" name="Straight Arrow Connector 92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09" name="Straight Arrow Connector 93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6" name="Group 97"/>
                <p:cNvGrpSpPr/>
                <p:nvPr/>
              </p:nvGrpSpPr>
              <p:grpSpPr>
                <a:xfrm>
                  <a:off x="2142700" y="3973773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10" name="Straight Arrow Connector 98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11" name="Straight Arrow Connector 99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45812" name="Straight Arrow Connector 142"/>
                <p:cNvCxnSpPr>
                  <a:cxnSpLocks/>
                </p:cNvCxnSpPr>
                <p:nvPr/>
              </p:nvCxnSpPr>
              <p:spPr>
                <a:xfrm flipV="1">
                  <a:off x="3236795" y="3976047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5813" name="Straight Arrow Connector 143"/>
                <p:cNvCxnSpPr>
                  <a:cxnSpLocks/>
                </p:cNvCxnSpPr>
                <p:nvPr/>
              </p:nvCxnSpPr>
              <p:spPr>
                <a:xfrm flipV="1">
                  <a:off x="3632580" y="3976046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8747" name="TextBox 149"/>
                <p:cNvSpPr txBox="1"/>
                <p:nvPr/>
              </p:nvSpPr>
              <p:spPr>
                <a:xfrm>
                  <a:off x="532263" y="3874868"/>
                  <a:ext cx="462280" cy="3962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d</a:t>
                  </a:r>
                  <a:r>
                    <a:rPr lang="en-US" sz="2400" baseline="30000" dirty="0"/>
                    <a:t>8</a:t>
                  </a:r>
                </a:p>
              </p:txBody>
            </p:sp>
          </p:grpSp>
          <p:grpSp>
            <p:nvGrpSpPr>
              <p:cNvPr id="127" name="Group 161"/>
              <p:cNvGrpSpPr/>
              <p:nvPr/>
            </p:nvGrpSpPr>
            <p:grpSpPr>
              <a:xfrm>
                <a:off x="441833" y="4672691"/>
                <a:ext cx="3393187" cy="396240"/>
                <a:chOff x="441833" y="4590803"/>
                <a:chExt cx="3393187" cy="396240"/>
              </a:xfrm>
            </p:grpSpPr>
            <p:grpSp>
              <p:nvGrpSpPr>
                <p:cNvPr id="128" name="Group 28"/>
                <p:cNvGrpSpPr/>
                <p:nvPr/>
              </p:nvGrpSpPr>
              <p:grpSpPr>
                <a:xfrm>
                  <a:off x="1078173" y="4641376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1048748" name="Rectangle 29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8749" name="Rectangle 30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45814" name="Straight Connector 31"/>
                  <p:cNvCxnSpPr>
                    <a:cxnSpLocks/>
                    <a:stCxn id="1048749" idx="0"/>
                    <a:endCxn id="1048749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15" name="Straight Connector 32"/>
                  <p:cNvCxnSpPr>
                    <a:cxnSpLocks/>
                  </p:cNvCxnSpPr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16" name="Straight Connector 33"/>
                  <p:cNvCxnSpPr>
                    <a:cxnSpLocks/>
                  </p:cNvCxnSpPr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9" name="Group 100"/>
                <p:cNvGrpSpPr/>
                <p:nvPr/>
              </p:nvGrpSpPr>
              <p:grpSpPr>
                <a:xfrm>
                  <a:off x="1701418" y="4667533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17" name="Straight Arrow Connector 101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18" name="Straight Arrow Connector 102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0" name="Group 103"/>
                <p:cNvGrpSpPr/>
                <p:nvPr/>
              </p:nvGrpSpPr>
              <p:grpSpPr>
                <a:xfrm>
                  <a:off x="1262417" y="4687434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19" name="Straight Arrow Connector 104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20" name="Straight Arrow Connector 105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1" name="Group 106"/>
                <p:cNvGrpSpPr/>
                <p:nvPr/>
              </p:nvGrpSpPr>
              <p:grpSpPr>
                <a:xfrm>
                  <a:off x="2144972" y="4672082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21" name="Straight Arrow Connector 107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22" name="Straight Arrow Connector 108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2" name="Group 136"/>
                <p:cNvGrpSpPr/>
                <p:nvPr/>
              </p:nvGrpSpPr>
              <p:grpSpPr>
                <a:xfrm>
                  <a:off x="3174240" y="4707340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23" name="Straight Arrow Connector 137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24" name="Straight Arrow Connector 138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3" name="Group 139"/>
                <p:cNvGrpSpPr/>
                <p:nvPr/>
              </p:nvGrpSpPr>
              <p:grpSpPr>
                <a:xfrm>
                  <a:off x="3585950" y="4685159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25" name="Straight Arrow Connector 140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26" name="Straight Arrow Connector 141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48750" name="TextBox 150"/>
                <p:cNvSpPr txBox="1"/>
                <p:nvPr/>
              </p:nvSpPr>
              <p:spPr>
                <a:xfrm>
                  <a:off x="441833" y="4590803"/>
                  <a:ext cx="538480" cy="3962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d</a:t>
                  </a:r>
                  <a:r>
                    <a:rPr lang="en-US" sz="2400" baseline="30000" dirty="0"/>
                    <a:t>10</a:t>
                  </a:r>
                </a:p>
              </p:txBody>
            </p:sp>
          </p:grpSp>
        </p:grpSp>
        <p:sp>
          <p:nvSpPr>
            <p:cNvPr id="1048751" name="TextBox 164"/>
            <p:cNvSpPr txBox="1"/>
            <p:nvPr/>
          </p:nvSpPr>
          <p:spPr>
            <a:xfrm>
              <a:off x="1581711" y="1040800"/>
              <a:ext cx="398781" cy="320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2g</a:t>
              </a:r>
            </a:p>
          </p:txBody>
        </p:sp>
        <p:sp>
          <p:nvSpPr>
            <p:cNvPr id="1048752" name="TextBox 165"/>
            <p:cNvSpPr txBox="1"/>
            <p:nvPr/>
          </p:nvSpPr>
          <p:spPr>
            <a:xfrm>
              <a:off x="3323227" y="1034395"/>
              <a:ext cx="335281" cy="320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e</a:t>
              </a:r>
              <a:r>
                <a:rPr lang="en-US" baseline="-25000" dirty="0" err="1"/>
                <a:t>g</a:t>
              </a:r>
              <a:endParaRPr lang="en-US" baseline="-25000" dirty="0"/>
            </a:p>
          </p:txBody>
        </p:sp>
      </p:grpSp>
      <p:grpSp>
        <p:nvGrpSpPr>
          <p:cNvPr id="134" name="Group 168"/>
          <p:cNvGrpSpPr/>
          <p:nvPr/>
        </p:nvGrpSpPr>
        <p:grpSpPr>
          <a:xfrm>
            <a:off x="7317087" y="1241387"/>
            <a:ext cx="3341814" cy="1967429"/>
            <a:chOff x="7317087" y="1241387"/>
            <a:chExt cx="3341814" cy="1967429"/>
          </a:xfrm>
        </p:grpSpPr>
        <p:grpSp>
          <p:nvGrpSpPr>
            <p:cNvPr id="135" name="Group 163"/>
            <p:cNvGrpSpPr/>
            <p:nvPr/>
          </p:nvGrpSpPr>
          <p:grpSpPr>
            <a:xfrm>
              <a:off x="7317087" y="1665111"/>
              <a:ext cx="3341814" cy="1543705"/>
              <a:chOff x="7317087" y="1665111"/>
              <a:chExt cx="3341814" cy="1543705"/>
            </a:xfrm>
          </p:grpSpPr>
          <p:grpSp>
            <p:nvGrpSpPr>
              <p:cNvPr id="136" name="Group 153"/>
              <p:cNvGrpSpPr/>
              <p:nvPr/>
            </p:nvGrpSpPr>
            <p:grpSpPr>
              <a:xfrm>
                <a:off x="7317087" y="2812576"/>
                <a:ext cx="3300870" cy="396240"/>
                <a:chOff x="7317087" y="2812576"/>
                <a:chExt cx="3300870" cy="396240"/>
              </a:xfrm>
            </p:grpSpPr>
            <p:grpSp>
              <p:nvGrpSpPr>
                <p:cNvPr id="137" name="Group 46"/>
                <p:cNvGrpSpPr/>
                <p:nvPr/>
              </p:nvGrpSpPr>
              <p:grpSpPr>
                <a:xfrm>
                  <a:off x="7861110" y="2866030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1048753" name="Rectangle 47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8754" name="Rectangle 48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45827" name="Straight Connector 49"/>
                  <p:cNvCxnSpPr>
                    <a:cxnSpLocks/>
                    <a:stCxn id="1048754" idx="0"/>
                    <a:endCxn id="1048754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28" name="Straight Connector 50"/>
                  <p:cNvCxnSpPr>
                    <a:cxnSpLocks/>
                  </p:cNvCxnSpPr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29" name="Straight Connector 51"/>
                  <p:cNvCxnSpPr>
                    <a:cxnSpLocks/>
                  </p:cNvCxnSpPr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8" name="Group 109"/>
                <p:cNvGrpSpPr/>
                <p:nvPr/>
              </p:nvGrpSpPr>
              <p:grpSpPr>
                <a:xfrm>
                  <a:off x="8484356" y="2893326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30" name="Straight Arrow Connector 110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31" name="Straight Arrow Connector 111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9" name="Group 112"/>
                <p:cNvGrpSpPr/>
                <p:nvPr/>
              </p:nvGrpSpPr>
              <p:grpSpPr>
                <a:xfrm>
                  <a:off x="8045355" y="2885931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32" name="Straight Arrow Connector 113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33" name="Straight Arrow Connector 114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0" name="Group 115"/>
                <p:cNvGrpSpPr/>
                <p:nvPr/>
              </p:nvGrpSpPr>
              <p:grpSpPr>
                <a:xfrm>
                  <a:off x="8927910" y="2884227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34" name="Straight Arrow Connector 116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35" name="Straight Arrow Connector 117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45836" name="Straight Arrow Connector 132"/>
                <p:cNvCxnSpPr>
                  <a:cxnSpLocks/>
                </p:cNvCxnSpPr>
                <p:nvPr/>
              </p:nvCxnSpPr>
              <p:spPr>
                <a:xfrm flipV="1">
                  <a:off x="10401870" y="2934269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1" name="Group 133"/>
                <p:cNvGrpSpPr/>
                <p:nvPr/>
              </p:nvGrpSpPr>
              <p:grpSpPr>
                <a:xfrm>
                  <a:off x="9957180" y="2906973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37" name="Straight Arrow Connector 134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38" name="Straight Arrow Connector 135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48755" name="TextBox 145"/>
                <p:cNvSpPr txBox="1"/>
                <p:nvPr/>
              </p:nvSpPr>
              <p:spPr>
                <a:xfrm>
                  <a:off x="7317087" y="2812576"/>
                  <a:ext cx="462280" cy="3962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d</a:t>
                  </a:r>
                  <a:r>
                    <a:rPr lang="en-US" sz="2400" baseline="30000" dirty="0"/>
                    <a:t>9</a:t>
                  </a:r>
                </a:p>
              </p:txBody>
            </p:sp>
          </p:grpSp>
          <p:grpSp>
            <p:nvGrpSpPr>
              <p:cNvPr id="142" name="Group 155"/>
              <p:cNvGrpSpPr/>
              <p:nvPr/>
            </p:nvGrpSpPr>
            <p:grpSpPr>
              <a:xfrm>
                <a:off x="7360306" y="1665111"/>
                <a:ext cx="3298595" cy="396240"/>
                <a:chOff x="7360306" y="1665111"/>
                <a:chExt cx="3298595" cy="396240"/>
              </a:xfrm>
            </p:grpSpPr>
            <p:grpSp>
              <p:nvGrpSpPr>
                <p:cNvPr id="143" name="Group 34"/>
                <p:cNvGrpSpPr/>
                <p:nvPr/>
              </p:nvGrpSpPr>
              <p:grpSpPr>
                <a:xfrm>
                  <a:off x="7902054" y="1715069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1048756" name="Rectangle 35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8757" name="Rectangle 36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45839" name="Straight Connector 37"/>
                  <p:cNvCxnSpPr>
                    <a:cxnSpLocks/>
                    <a:stCxn id="1048757" idx="0"/>
                    <a:endCxn id="1048757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40" name="Straight Connector 38"/>
                  <p:cNvCxnSpPr>
                    <a:cxnSpLocks/>
                  </p:cNvCxnSpPr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41" name="Straight Connector 39"/>
                  <p:cNvCxnSpPr>
                    <a:cxnSpLocks/>
                  </p:cNvCxnSpPr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45842" name="Straight Arrow Connector 127"/>
                <p:cNvCxnSpPr>
                  <a:cxnSpLocks/>
                </p:cNvCxnSpPr>
                <p:nvPr/>
              </p:nvCxnSpPr>
              <p:spPr>
                <a:xfrm flipV="1">
                  <a:off x="8070376" y="1760561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5843" name="Straight Arrow Connector 128"/>
                <p:cNvCxnSpPr>
                  <a:cxnSpLocks/>
                </p:cNvCxnSpPr>
                <p:nvPr/>
              </p:nvCxnSpPr>
              <p:spPr>
                <a:xfrm flipV="1">
                  <a:off x="8520752" y="1783308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5844" name="Straight Arrow Connector 129"/>
                <p:cNvCxnSpPr>
                  <a:cxnSpLocks/>
                </p:cNvCxnSpPr>
                <p:nvPr/>
              </p:nvCxnSpPr>
              <p:spPr>
                <a:xfrm flipV="1">
                  <a:off x="8943833" y="1783308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5845" name="Straight Arrow Connector 130"/>
                <p:cNvCxnSpPr>
                  <a:cxnSpLocks/>
                </p:cNvCxnSpPr>
                <p:nvPr/>
              </p:nvCxnSpPr>
              <p:spPr>
                <a:xfrm flipV="1">
                  <a:off x="10033380" y="1760561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8758" name="TextBox 151"/>
                <p:cNvSpPr txBox="1"/>
                <p:nvPr/>
              </p:nvSpPr>
              <p:spPr>
                <a:xfrm>
                  <a:off x="7360306" y="1665111"/>
                  <a:ext cx="449580" cy="3962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d</a:t>
                  </a:r>
                  <a:r>
                    <a:rPr lang="en-US" sz="2400" baseline="30000" dirty="0"/>
                    <a:t>4</a:t>
                  </a:r>
                </a:p>
              </p:txBody>
            </p:sp>
          </p:grpSp>
          <p:grpSp>
            <p:nvGrpSpPr>
              <p:cNvPr id="144" name="Group 154"/>
              <p:cNvGrpSpPr/>
              <p:nvPr/>
            </p:nvGrpSpPr>
            <p:grpSpPr>
              <a:xfrm>
                <a:off x="7355756" y="2269267"/>
                <a:ext cx="3303145" cy="396240"/>
                <a:chOff x="7355756" y="2269267"/>
                <a:chExt cx="3303145" cy="396240"/>
              </a:xfrm>
            </p:grpSpPr>
            <p:grpSp>
              <p:nvGrpSpPr>
                <p:cNvPr id="145" name="Group 40"/>
                <p:cNvGrpSpPr/>
                <p:nvPr/>
              </p:nvGrpSpPr>
              <p:grpSpPr>
                <a:xfrm>
                  <a:off x="7902054" y="2311021"/>
                  <a:ext cx="2756847" cy="341194"/>
                  <a:chOff x="2415654" y="1651379"/>
                  <a:chExt cx="2756847" cy="341194"/>
                </a:xfrm>
              </p:grpSpPr>
              <p:sp>
                <p:nvSpPr>
                  <p:cNvPr id="1048759" name="Rectangle 41"/>
                  <p:cNvSpPr/>
                  <p:nvPr/>
                </p:nvSpPr>
                <p:spPr>
                  <a:xfrm>
                    <a:off x="2415654" y="1651379"/>
                    <a:ext cx="1337480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8760" name="Rectangle 42"/>
                  <p:cNvSpPr/>
                  <p:nvPr/>
                </p:nvSpPr>
                <p:spPr>
                  <a:xfrm>
                    <a:off x="4339988" y="1651379"/>
                    <a:ext cx="832513" cy="34119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45846" name="Straight Connector 43"/>
                  <p:cNvCxnSpPr>
                    <a:cxnSpLocks/>
                    <a:stCxn id="1048760" idx="0"/>
                    <a:endCxn id="1048760" idx="2"/>
                  </p:cNvCxnSpPr>
                  <p:nvPr/>
                </p:nvCxnSpPr>
                <p:spPr>
                  <a:xfrm>
                    <a:off x="4756245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47" name="Straight Connector 44"/>
                  <p:cNvCxnSpPr>
                    <a:cxnSpLocks/>
                  </p:cNvCxnSpPr>
                  <p:nvPr/>
                </p:nvCxnSpPr>
                <p:spPr>
                  <a:xfrm>
                    <a:off x="3275463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48" name="Straight Connector 45"/>
                  <p:cNvCxnSpPr>
                    <a:cxnSpLocks/>
                  </p:cNvCxnSpPr>
                  <p:nvPr/>
                </p:nvCxnSpPr>
                <p:spPr>
                  <a:xfrm>
                    <a:off x="2838736" y="1651379"/>
                    <a:ext cx="0" cy="341194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6" name="Group 118"/>
                <p:cNvGrpSpPr/>
                <p:nvPr/>
              </p:nvGrpSpPr>
              <p:grpSpPr>
                <a:xfrm>
                  <a:off x="8520752" y="2349975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49" name="Straight Arrow Connector 119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50" name="Straight Arrow Connector 120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7" name="Group 121"/>
                <p:cNvGrpSpPr/>
                <p:nvPr/>
              </p:nvGrpSpPr>
              <p:grpSpPr>
                <a:xfrm>
                  <a:off x="8081751" y="2356228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51" name="Straight Arrow Connector 122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52" name="Straight Arrow Connector 123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8" name="Group 124"/>
                <p:cNvGrpSpPr/>
                <p:nvPr/>
              </p:nvGrpSpPr>
              <p:grpSpPr>
                <a:xfrm>
                  <a:off x="8964306" y="2340876"/>
                  <a:ext cx="65964" cy="275230"/>
                  <a:chOff x="3555242" y="723331"/>
                  <a:chExt cx="65964" cy="275230"/>
                </a:xfrm>
              </p:grpSpPr>
              <p:cxnSp>
                <p:nvCxnSpPr>
                  <p:cNvPr id="3145853" name="Straight Arrow Connector 125"/>
                  <p:cNvCxnSpPr>
                    <a:cxnSpLocks/>
                  </p:cNvCxnSpPr>
                  <p:nvPr/>
                </p:nvCxnSpPr>
                <p:spPr>
                  <a:xfrm>
                    <a:off x="3621206" y="723331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5854" name="Straight Arrow Connector 126"/>
                  <p:cNvCxnSpPr>
                    <a:cxnSpLocks/>
                  </p:cNvCxnSpPr>
                  <p:nvPr/>
                </p:nvCxnSpPr>
                <p:spPr>
                  <a:xfrm flipV="1">
                    <a:off x="3555242" y="725606"/>
                    <a:ext cx="0" cy="27295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145855" name="Straight Arrow Connector 131"/>
                <p:cNvCxnSpPr>
                  <a:cxnSpLocks/>
                </p:cNvCxnSpPr>
                <p:nvPr/>
              </p:nvCxnSpPr>
              <p:spPr>
                <a:xfrm flipV="1">
                  <a:off x="10022008" y="2349975"/>
                  <a:ext cx="0" cy="27295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8761" name="TextBox 152"/>
                <p:cNvSpPr txBox="1"/>
                <p:nvPr/>
              </p:nvSpPr>
              <p:spPr>
                <a:xfrm>
                  <a:off x="7355756" y="2269267"/>
                  <a:ext cx="449580" cy="3962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d</a:t>
                  </a:r>
                  <a:r>
                    <a:rPr lang="en-US" sz="2400" baseline="30000" dirty="0"/>
                    <a:t>7</a:t>
                  </a:r>
                </a:p>
              </p:txBody>
            </p:sp>
          </p:grpSp>
        </p:grpSp>
        <p:sp>
          <p:nvSpPr>
            <p:cNvPr id="1048762" name="TextBox 166"/>
            <p:cNvSpPr txBox="1"/>
            <p:nvPr/>
          </p:nvSpPr>
          <p:spPr>
            <a:xfrm>
              <a:off x="8257761" y="1247792"/>
              <a:ext cx="398781" cy="3200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 baseline="-25000" dirty="0"/>
                <a:t>2g</a:t>
              </a:r>
            </a:p>
          </p:txBody>
        </p:sp>
        <p:sp>
          <p:nvSpPr>
            <p:cNvPr id="1048763" name="TextBox 167"/>
            <p:cNvSpPr txBox="1"/>
            <p:nvPr/>
          </p:nvSpPr>
          <p:spPr>
            <a:xfrm>
              <a:off x="9999277" y="1241387"/>
              <a:ext cx="335281" cy="3200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e</a:t>
              </a:r>
              <a:r>
                <a:rPr lang="en-US" baseline="-25000" dirty="0" err="1"/>
                <a:t>g</a:t>
              </a:r>
              <a:endParaRPr lang="en-US" baseline="-25000" dirty="0"/>
            </a:p>
          </p:txBody>
        </p:sp>
      </p:grpSp>
      <p:graphicFrame>
        <p:nvGraphicFramePr>
          <p:cNvPr id="4194305" name="Object 171"/>
          <p:cNvGraphicFramePr>
            <a:graphicFrameLocks noChangeAspect="1"/>
          </p:cNvGraphicFramePr>
          <p:nvPr/>
        </p:nvGraphicFramePr>
        <p:xfrm>
          <a:off x="5556108" y="3591680"/>
          <a:ext cx="5061849" cy="2602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CS ChemDraw Drawing" r:id="rId3" imgW="3387531" imgH="1741271" progId="ChemDraw.Document.6.0">
                  <p:embed/>
                </p:oleObj>
              </mc:Choice>
              <mc:Fallback>
                <p:oleObj name="CS ChemDraw Drawing" r:id="rId3" imgW="3387531" imgH="1741271" progId="ChemDraw.Document.6.0">
                  <p:embed/>
                  <p:pic>
                    <p:nvPicPr>
                      <p:cNvPr id="2097184" name=""/>
                      <p:cNvPicPr>
                        <a:picLocks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56108" y="3591680"/>
                        <a:ext cx="5061849" cy="26020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764" name="TextBox 173"/>
          <p:cNvSpPr txBox="1"/>
          <p:nvPr/>
        </p:nvSpPr>
        <p:spPr>
          <a:xfrm>
            <a:off x="7060757" y="6049538"/>
            <a:ext cx="1860073" cy="396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Cr d</a:t>
            </a:r>
            <a:r>
              <a:rPr lang="en-US" sz="2400" baseline="30000" dirty="0"/>
              <a:t>4</a:t>
            </a:r>
            <a:r>
              <a:rPr lang="en-US" sz="2400" dirty="0"/>
              <a:t>; </a:t>
            </a:r>
            <a:r>
              <a:rPr lang="en-US" sz="2400" dirty="0" err="1"/>
              <a:t>Mn</a:t>
            </a:r>
            <a:r>
              <a:rPr lang="en-US" sz="2400" dirty="0"/>
              <a:t> d</a:t>
            </a:r>
            <a:r>
              <a:rPr lang="en-US" sz="2400" baseline="30000" dirty="0"/>
              <a:t>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6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903" y="0"/>
            <a:ext cx="8933395" cy="1815152"/>
          </a:xfrm>
          <a:prstGeom prst="rect">
            <a:avLst/>
          </a:prstGeom>
        </p:spPr>
      </p:pic>
      <p:pic>
        <p:nvPicPr>
          <p:cNvPr id="2097187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254" y="2129335"/>
            <a:ext cx="4972838" cy="4639670"/>
          </a:xfrm>
          <a:prstGeom prst="rect">
            <a:avLst/>
          </a:prstGeom>
        </p:spPr>
      </p:pic>
      <p:pic>
        <p:nvPicPr>
          <p:cNvPr id="2097188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697" y="2978126"/>
            <a:ext cx="4696544" cy="147104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6"/>
          <p:cNvSpPr txBox="1"/>
          <p:nvPr/>
        </p:nvSpPr>
        <p:spPr>
          <a:xfrm>
            <a:off x="8325134" y="1214651"/>
            <a:ext cx="4250848" cy="777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  <a:r>
              <a:rPr lang="en-US" baseline="-25000" dirty="0"/>
              <a:t>1</a:t>
            </a:r>
            <a:r>
              <a:rPr lang="en-US" dirty="0"/>
              <a:t>&lt;K</a:t>
            </a:r>
            <a:r>
              <a:rPr lang="en-US" baseline="-25000" dirty="0"/>
              <a:t>2</a:t>
            </a:r>
            <a:r>
              <a:rPr lang="en-US" dirty="0"/>
              <a:t>,K</a:t>
            </a:r>
            <a:r>
              <a:rPr lang="en-US" baseline="-25000" dirty="0"/>
              <a:t>3</a:t>
            </a:r>
            <a:r>
              <a:rPr lang="en-US" dirty="0"/>
              <a:t>  for all metals </a:t>
            </a:r>
            <a:r>
              <a:rPr lang="en-US" dirty="0" err="1"/>
              <a:t>Mn</a:t>
            </a:r>
            <a:r>
              <a:rPr lang="en-US" dirty="0"/>
              <a:t>(II to Zn(II)</a:t>
            </a:r>
          </a:p>
          <a:p>
            <a:endParaRPr lang="en-US" dirty="0"/>
          </a:p>
          <a:p>
            <a:r>
              <a:rPr lang="en-US" dirty="0"/>
              <a:t>But for Cu(II)      K</a:t>
            </a:r>
            <a:r>
              <a:rPr lang="en-US" baseline="-25000" dirty="0"/>
              <a:t>3</a:t>
            </a:r>
            <a:r>
              <a:rPr lang="en-US" dirty="0"/>
              <a:t>&lt;&lt; K</a:t>
            </a:r>
            <a:r>
              <a:rPr lang="en-US" baseline="-25000" dirty="0"/>
              <a:t>1</a:t>
            </a:r>
            <a:r>
              <a:rPr lang="en-US" dirty="0"/>
              <a:t>, K</a:t>
            </a:r>
            <a:r>
              <a:rPr lang="en-US" baseline="-25000" dirty="0"/>
              <a:t>2</a:t>
            </a:r>
            <a:endParaRPr lang="en-US" dirty="0"/>
          </a:p>
        </p:txBody>
      </p:sp>
      <p:graphicFrame>
        <p:nvGraphicFramePr>
          <p:cNvPr id="4194306" name="Object 4"/>
          <p:cNvGraphicFramePr>
            <a:graphicFrameLocks noChangeAspect="1"/>
          </p:cNvGraphicFramePr>
          <p:nvPr/>
        </p:nvGraphicFramePr>
        <p:xfrm>
          <a:off x="2406414" y="3322741"/>
          <a:ext cx="6942360" cy="2537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CS ChemDraw Drawing" r:id="rId3" imgW="5086560" imgH="1858822" progId="ChemDraw.Document.6.0">
                  <p:embed/>
                </p:oleObj>
              </mc:Choice>
              <mc:Fallback>
                <p:oleObj name="CS ChemDraw Drawing" r:id="rId3" imgW="5086560" imgH="1858822" progId="ChemDraw.Document.6.0">
                  <p:embed/>
                  <p:pic>
                    <p:nvPicPr>
                      <p:cNvPr id="2097189" name=""/>
                      <p:cNvPicPr>
                        <a:picLocks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06414" y="3322741"/>
                        <a:ext cx="6942360" cy="25372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1" name="Group 14"/>
          <p:cNvGrpSpPr/>
          <p:nvPr/>
        </p:nvGrpSpPr>
        <p:grpSpPr>
          <a:xfrm>
            <a:off x="1801504" y="866507"/>
            <a:ext cx="5977720" cy="2534515"/>
            <a:chOff x="1801504" y="866507"/>
            <a:chExt cx="5977720" cy="2534515"/>
          </a:xfrm>
        </p:grpSpPr>
        <p:sp>
          <p:nvSpPr>
            <p:cNvPr id="1048766" name="TextBox 5"/>
            <p:cNvSpPr txBox="1"/>
            <p:nvPr/>
          </p:nvSpPr>
          <p:spPr>
            <a:xfrm>
              <a:off x="1801504" y="1023582"/>
              <a:ext cx="5977720" cy="2377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[M(H</a:t>
              </a:r>
              <a:r>
                <a:rPr lang="en-US" baseline="-25000" dirty="0"/>
                <a:t>2</a:t>
              </a:r>
              <a:r>
                <a:rPr lang="en-US" dirty="0"/>
                <a:t>O)</a:t>
              </a:r>
              <a:r>
                <a:rPr lang="en-US" baseline="-25000" dirty="0"/>
                <a:t>6</a:t>
              </a:r>
              <a:r>
                <a:rPr lang="en-US" dirty="0"/>
                <a:t>]</a:t>
              </a:r>
              <a:r>
                <a:rPr lang="en-US" baseline="30000" dirty="0"/>
                <a:t>2+</a:t>
              </a:r>
              <a:r>
                <a:rPr lang="en-US" dirty="0"/>
                <a:t>    +   en                    [M(en)(H</a:t>
              </a:r>
              <a:r>
                <a:rPr lang="en-US" baseline="-25000" dirty="0"/>
                <a:t>2</a:t>
              </a:r>
              <a:r>
                <a:rPr lang="en-US" dirty="0"/>
                <a:t>O)</a:t>
              </a:r>
              <a:r>
                <a:rPr lang="en-US" baseline="-25000" dirty="0"/>
                <a:t>4</a:t>
              </a:r>
              <a:r>
                <a:rPr lang="en-US" dirty="0"/>
                <a:t>]</a:t>
              </a:r>
              <a:r>
                <a:rPr lang="en-US" baseline="30000" dirty="0"/>
                <a:t>2+</a:t>
              </a:r>
              <a:r>
                <a:rPr lang="en-US" dirty="0"/>
                <a:t> + 2H</a:t>
              </a:r>
              <a:r>
                <a:rPr lang="en-US" baseline="-25000" dirty="0"/>
                <a:t>2</a:t>
              </a:r>
              <a:r>
                <a:rPr lang="en-US" dirty="0"/>
                <a:t>O</a:t>
              </a:r>
            </a:p>
            <a:p>
              <a:endParaRPr lang="en-US" dirty="0"/>
            </a:p>
            <a:p>
              <a:r>
                <a:rPr lang="en-US" dirty="0"/>
                <a:t>[M(</a:t>
              </a:r>
              <a:r>
                <a:rPr lang="en-US" dirty="0" err="1"/>
                <a:t>en</a:t>
              </a:r>
              <a:r>
                <a:rPr lang="en-US" dirty="0"/>
                <a:t>)(H</a:t>
              </a:r>
              <a:r>
                <a:rPr lang="en-US" baseline="-25000" dirty="0"/>
                <a:t>2</a:t>
              </a:r>
              <a:r>
                <a:rPr lang="en-US" dirty="0"/>
                <a:t>O)</a:t>
              </a:r>
              <a:r>
                <a:rPr lang="en-US" baseline="-25000" dirty="0"/>
                <a:t>4</a:t>
              </a:r>
              <a:r>
                <a:rPr lang="en-US" dirty="0"/>
                <a:t>]</a:t>
              </a:r>
              <a:r>
                <a:rPr lang="en-US" baseline="30000" dirty="0"/>
                <a:t>2+</a:t>
              </a:r>
              <a:r>
                <a:rPr lang="en-US" dirty="0"/>
                <a:t>    +   </a:t>
              </a:r>
              <a:r>
                <a:rPr lang="en-US" dirty="0" err="1"/>
                <a:t>en</a:t>
              </a:r>
              <a:r>
                <a:rPr lang="en-US" dirty="0"/>
                <a:t>                    [M(</a:t>
              </a:r>
              <a:r>
                <a:rPr lang="en-US" dirty="0" err="1"/>
                <a:t>en</a:t>
              </a:r>
              <a:r>
                <a:rPr lang="en-US" dirty="0"/>
                <a:t>)</a:t>
              </a:r>
              <a:r>
                <a:rPr lang="en-US" baseline="-25000" dirty="0"/>
                <a:t>2</a:t>
              </a:r>
              <a:r>
                <a:rPr lang="en-US" dirty="0"/>
                <a:t>(H</a:t>
              </a:r>
              <a:r>
                <a:rPr lang="en-US" baseline="-25000" dirty="0"/>
                <a:t>2</a:t>
              </a:r>
              <a:r>
                <a:rPr lang="en-US" dirty="0"/>
                <a:t>O)</a:t>
              </a:r>
              <a:r>
                <a:rPr lang="en-US" baseline="-25000" dirty="0"/>
                <a:t>2</a:t>
              </a:r>
              <a:r>
                <a:rPr lang="en-US" dirty="0"/>
                <a:t>]</a:t>
              </a:r>
              <a:r>
                <a:rPr lang="en-US" baseline="30000" dirty="0"/>
                <a:t>2+</a:t>
              </a:r>
              <a:r>
                <a:rPr lang="en-US" dirty="0"/>
                <a:t> + 2H</a:t>
              </a:r>
              <a:r>
                <a:rPr lang="en-US" baseline="-25000" dirty="0"/>
                <a:t>2</a:t>
              </a:r>
              <a:r>
                <a:rPr lang="en-US" dirty="0"/>
                <a:t>O</a:t>
              </a:r>
            </a:p>
            <a:p>
              <a:endParaRPr lang="en-US" dirty="0"/>
            </a:p>
            <a:p>
              <a:r>
                <a:rPr lang="en-US" dirty="0"/>
                <a:t>[M(</a:t>
              </a:r>
              <a:r>
                <a:rPr lang="en-US" dirty="0" err="1"/>
                <a:t>en</a:t>
              </a:r>
              <a:r>
                <a:rPr lang="en-US" dirty="0"/>
                <a:t>)</a:t>
              </a:r>
              <a:r>
                <a:rPr lang="en-US" baseline="-25000" dirty="0"/>
                <a:t>2</a:t>
              </a:r>
              <a:r>
                <a:rPr lang="en-US" dirty="0"/>
                <a:t>(H</a:t>
              </a:r>
              <a:r>
                <a:rPr lang="en-US" baseline="-25000" dirty="0"/>
                <a:t>2</a:t>
              </a:r>
              <a:r>
                <a:rPr lang="en-US" dirty="0"/>
                <a:t>O)</a:t>
              </a:r>
              <a:r>
                <a:rPr lang="en-US" baseline="-25000" dirty="0"/>
                <a:t>2</a:t>
              </a:r>
              <a:r>
                <a:rPr lang="en-US" dirty="0"/>
                <a:t>]</a:t>
              </a:r>
              <a:r>
                <a:rPr lang="en-US" baseline="30000" dirty="0"/>
                <a:t>2+</a:t>
              </a:r>
              <a:r>
                <a:rPr lang="en-US" dirty="0"/>
                <a:t>    +   </a:t>
              </a:r>
              <a:r>
                <a:rPr lang="en-US" dirty="0" err="1"/>
                <a:t>en</a:t>
              </a:r>
              <a:r>
                <a:rPr lang="en-US" dirty="0"/>
                <a:t>                    [M(</a:t>
              </a:r>
              <a:r>
                <a:rPr lang="en-US" dirty="0" err="1"/>
                <a:t>en</a:t>
              </a:r>
              <a:r>
                <a:rPr lang="en-US" dirty="0"/>
                <a:t>)</a:t>
              </a:r>
              <a:r>
                <a:rPr lang="en-US" baseline="-25000" dirty="0"/>
                <a:t>3</a:t>
              </a:r>
              <a:r>
                <a:rPr lang="en-US" dirty="0"/>
                <a:t>]</a:t>
              </a:r>
              <a:r>
                <a:rPr lang="en-US" baseline="30000" dirty="0"/>
                <a:t>2+</a:t>
              </a:r>
              <a:r>
                <a:rPr lang="en-US" dirty="0"/>
                <a:t> + 2H</a:t>
              </a:r>
              <a:r>
                <a:rPr lang="en-US" baseline="-25000" dirty="0"/>
                <a:t>2</a:t>
              </a:r>
              <a:r>
                <a:rPr lang="en-US" dirty="0"/>
                <a:t>O</a:t>
              </a:r>
            </a:p>
            <a:p>
              <a:endParaRPr lang="en-US" dirty="0"/>
            </a:p>
            <a:p>
              <a:r>
                <a:rPr lang="en-US" dirty="0"/>
                <a:t>                </a:t>
              </a:r>
            </a:p>
          </p:txBody>
        </p:sp>
        <p:grpSp>
          <p:nvGrpSpPr>
            <p:cNvPr id="152" name="Group 13"/>
            <p:cNvGrpSpPr/>
            <p:nvPr/>
          </p:nvGrpSpPr>
          <p:grpSpPr>
            <a:xfrm>
              <a:off x="3821373" y="866507"/>
              <a:ext cx="1189630" cy="1469535"/>
              <a:chOff x="3821373" y="866507"/>
              <a:chExt cx="1189630" cy="1469535"/>
            </a:xfrm>
          </p:grpSpPr>
          <p:cxnSp>
            <p:nvCxnSpPr>
              <p:cNvPr id="3145856" name="Straight Arrow Connector 7"/>
              <p:cNvCxnSpPr>
                <a:cxnSpLocks/>
              </p:cNvCxnSpPr>
              <p:nvPr/>
            </p:nvCxnSpPr>
            <p:spPr>
              <a:xfrm>
                <a:off x="3821373" y="1214651"/>
                <a:ext cx="7096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857" name="Straight Arrow Connector 8"/>
              <p:cNvCxnSpPr>
                <a:cxnSpLocks/>
              </p:cNvCxnSpPr>
              <p:nvPr/>
            </p:nvCxnSpPr>
            <p:spPr>
              <a:xfrm>
                <a:off x="4301319" y="1817427"/>
                <a:ext cx="7096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5858" name="Straight Arrow Connector 9"/>
              <p:cNvCxnSpPr>
                <a:cxnSpLocks/>
              </p:cNvCxnSpPr>
              <p:nvPr/>
            </p:nvCxnSpPr>
            <p:spPr>
              <a:xfrm>
                <a:off x="4301319" y="2336042"/>
                <a:ext cx="70968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8767" name="TextBox 10"/>
              <p:cNvSpPr txBox="1"/>
              <p:nvPr/>
            </p:nvSpPr>
            <p:spPr>
              <a:xfrm>
                <a:off x="3984496" y="866507"/>
                <a:ext cx="386079" cy="3200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K</a:t>
                </a:r>
                <a:r>
                  <a:rPr lang="en-US" baseline="-25000" dirty="0"/>
                  <a:t>1</a:t>
                </a:r>
              </a:p>
            </p:txBody>
          </p:sp>
          <p:sp>
            <p:nvSpPr>
              <p:cNvPr id="1048768" name="TextBox 11"/>
              <p:cNvSpPr txBox="1"/>
              <p:nvPr/>
            </p:nvSpPr>
            <p:spPr>
              <a:xfrm>
                <a:off x="4394905" y="1482486"/>
                <a:ext cx="411480" cy="320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K</a:t>
                </a:r>
                <a:r>
                  <a:rPr lang="en-US" baseline="-25000" dirty="0"/>
                  <a:t>2</a:t>
                </a:r>
              </a:p>
            </p:txBody>
          </p:sp>
          <p:sp>
            <p:nvSpPr>
              <p:cNvPr id="1048769" name="TextBox 12"/>
              <p:cNvSpPr txBox="1"/>
              <p:nvPr/>
            </p:nvSpPr>
            <p:spPr>
              <a:xfrm>
                <a:off x="4409856" y="1960605"/>
                <a:ext cx="411480" cy="3200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K</a:t>
                </a:r>
                <a:r>
                  <a:rPr lang="en-US" baseline="-25000" dirty="0"/>
                  <a:t>3</a:t>
                </a:r>
              </a:p>
            </p:txBody>
          </p:sp>
        </p:grp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1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18" y="2653638"/>
            <a:ext cx="3788136" cy="839978"/>
          </a:xfrm>
          <a:prstGeom prst="rect">
            <a:avLst/>
          </a:prstGeom>
        </p:spPr>
      </p:pic>
      <p:pic>
        <p:nvPicPr>
          <p:cNvPr id="209719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94" y="3970434"/>
            <a:ext cx="5192188" cy="2607788"/>
          </a:xfrm>
          <a:prstGeom prst="rect">
            <a:avLst/>
          </a:prstGeom>
        </p:spPr>
      </p:pic>
      <p:pic>
        <p:nvPicPr>
          <p:cNvPr id="2097193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754" y="360601"/>
            <a:ext cx="7551845" cy="462083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081" y="0"/>
            <a:ext cx="7025383" cy="1852396"/>
          </a:xfrm>
          <a:prstGeom prst="rect">
            <a:avLst/>
          </a:prstGeom>
        </p:spPr>
      </p:pic>
      <p:pic>
        <p:nvPicPr>
          <p:cNvPr id="209719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7779" y="1852396"/>
            <a:ext cx="6944365" cy="651531"/>
          </a:xfrm>
          <a:prstGeom prst="rect">
            <a:avLst/>
          </a:prstGeom>
        </p:spPr>
      </p:pic>
      <p:pic>
        <p:nvPicPr>
          <p:cNvPr id="209719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34" y="2575865"/>
            <a:ext cx="11955830" cy="396141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39788" y="2101755"/>
            <a:ext cx="4686300" cy="19304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48770" name="Text Box 3"/>
          <p:cNvSpPr txBox="1">
            <a:spLocks noChangeArrowheads="1"/>
          </p:cNvSpPr>
          <p:nvPr/>
        </p:nvSpPr>
        <p:spPr bwMode="auto">
          <a:xfrm>
            <a:off x="1923813" y="806355"/>
            <a:ext cx="6530975" cy="80263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i="1">
                <a:solidFill>
                  <a:schemeClr val="accent2"/>
                </a:solidFill>
              </a:rPr>
              <a:t>Splitting of d orbitals in a tetrahedral field</a:t>
            </a:r>
          </a:p>
        </p:txBody>
      </p:sp>
      <p:sp>
        <p:nvSpPr>
          <p:cNvPr id="1048771" name="Text Box 4"/>
          <p:cNvSpPr txBox="1">
            <a:spLocks noChangeArrowheads="1"/>
          </p:cNvSpPr>
          <p:nvPr/>
        </p:nvSpPr>
        <p:spPr bwMode="auto">
          <a:xfrm>
            <a:off x="7372113" y="1933480"/>
            <a:ext cx="386575" cy="3962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i="1">
                <a:solidFill>
                  <a:schemeClr val="accent2"/>
                </a:solidFill>
              </a:rPr>
              <a:t>t</a:t>
            </a:r>
            <a:r>
              <a:rPr lang="en-US" altLang="en-US" i="1" baseline="-25000">
                <a:solidFill>
                  <a:schemeClr val="accent2"/>
                </a:solidFill>
              </a:rPr>
              <a:t>2</a:t>
            </a:r>
            <a:endParaRPr lang="en-US" altLang="en-US" i="1"/>
          </a:p>
        </p:txBody>
      </p:sp>
      <p:sp>
        <p:nvSpPr>
          <p:cNvPr id="1048772" name="Text Box 5"/>
          <p:cNvSpPr txBox="1">
            <a:spLocks noChangeArrowheads="1"/>
          </p:cNvSpPr>
          <p:nvPr/>
        </p:nvSpPr>
        <p:spPr bwMode="auto">
          <a:xfrm>
            <a:off x="7295913" y="3686080"/>
            <a:ext cx="309880" cy="3962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>
                <a:solidFill>
                  <a:srgbClr val="F30B08"/>
                </a:solidFill>
              </a:rPr>
              <a:t>e</a:t>
            </a:r>
            <a:endParaRPr lang="en-US" altLang="en-US"/>
          </a:p>
        </p:txBody>
      </p:sp>
      <p:sp>
        <p:nvSpPr>
          <p:cNvPr id="1048773" name="Line 6"/>
          <p:cNvSpPr>
            <a:spLocks noChangeShapeType="1"/>
          </p:cNvSpPr>
          <p:nvPr/>
        </p:nvSpPr>
        <p:spPr bwMode="auto">
          <a:xfrm>
            <a:off x="8149988" y="2177955"/>
            <a:ext cx="0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8774" name="Text Box 7"/>
          <p:cNvSpPr txBox="1">
            <a:spLocks noChangeArrowheads="1"/>
          </p:cNvSpPr>
          <p:nvPr/>
        </p:nvSpPr>
        <p:spPr bwMode="auto">
          <a:xfrm>
            <a:off x="8362713" y="2665318"/>
            <a:ext cx="525779" cy="52323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800">
                <a:latin typeface="Symbol" panose="05050102010706020507" pitchFamily="18" charset="2"/>
              </a:rPr>
              <a:t>D</a:t>
            </a:r>
            <a:r>
              <a:rPr lang="en-US" altLang="en-US" sz="2800"/>
              <a:t>t</a:t>
            </a:r>
          </a:p>
        </p:txBody>
      </p:sp>
      <p:sp>
        <p:nvSpPr>
          <p:cNvPr id="1048775" name="Text Box 8"/>
          <p:cNvSpPr txBox="1">
            <a:spLocks noChangeArrowheads="1"/>
          </p:cNvSpPr>
          <p:nvPr/>
        </p:nvSpPr>
        <p:spPr bwMode="auto">
          <a:xfrm>
            <a:off x="4130438" y="5073555"/>
            <a:ext cx="1463675" cy="8280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D</a:t>
            </a:r>
            <a:r>
              <a:rPr lang="en-US" altLang="en-US" baseline="-25000"/>
              <a:t>t</a:t>
            </a:r>
            <a:r>
              <a:rPr lang="en-US" altLang="en-US"/>
              <a:t> = 4/9</a:t>
            </a:r>
            <a:r>
              <a:rPr lang="en-US" altLang="en-US">
                <a:latin typeface="Symbol" panose="05050102010706020507" pitchFamily="18" charset="2"/>
              </a:rPr>
              <a:t>D</a:t>
            </a:r>
            <a:r>
              <a:rPr lang="en-US" altLang="en-US" baseline="-25000"/>
              <a:t>o</a:t>
            </a:r>
          </a:p>
        </p:txBody>
      </p:sp>
      <p:sp>
        <p:nvSpPr>
          <p:cNvPr id="1048776" name="Text Box 9"/>
          <p:cNvSpPr txBox="1">
            <a:spLocks noChangeArrowheads="1"/>
          </p:cNvSpPr>
          <p:nvPr/>
        </p:nvSpPr>
        <p:spPr bwMode="auto">
          <a:xfrm>
            <a:off x="3133488" y="5972080"/>
            <a:ext cx="4308594" cy="39624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i="1">
                <a:solidFill>
                  <a:srgbClr val="F30B08"/>
                </a:solidFill>
              </a:rPr>
              <a:t>Always weak field (high spin)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716</Words>
  <Application>Microsoft Office PowerPoint</Application>
  <PresentationFormat>Widescreen</PresentationFormat>
  <Paragraphs>123</Paragraphs>
  <Slides>34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Calibri</vt:lpstr>
      <vt:lpstr>Calibri Light</vt:lpstr>
      <vt:lpstr>CIDFont+F1</vt:lpstr>
      <vt:lpstr>CIDFont+F7</vt:lpstr>
      <vt:lpstr>Symbol</vt:lpstr>
      <vt:lpstr>Times</vt:lpstr>
      <vt:lpstr>Times New Roman</vt:lpstr>
      <vt:lpstr>Office Theme</vt:lpstr>
      <vt:lpstr>Image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</cp:revision>
  <dcterms:created xsi:type="dcterms:W3CDTF">2022-12-11T04:48:46Z</dcterms:created>
  <dcterms:modified xsi:type="dcterms:W3CDTF">2024-12-09T06:54:49Z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f97ae22652d04955b26dae1693799adb</vt:lpwstr>
  </property>
</Properties>
</file>