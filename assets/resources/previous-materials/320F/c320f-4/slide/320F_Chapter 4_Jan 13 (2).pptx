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4" r:id="rId4"/>
    <p:sldId id="285" r:id="rId5"/>
    <p:sldId id="257" r:id="rId6"/>
    <p:sldId id="258" r:id="rId7"/>
    <p:sldId id="259" r:id="rId8"/>
    <p:sldId id="326" r:id="rId9"/>
    <p:sldId id="260" r:id="rId10"/>
    <p:sldId id="283" r:id="rId11"/>
    <p:sldId id="325" r:id="rId12"/>
    <p:sldId id="261" r:id="rId13"/>
    <p:sldId id="262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12" r:id="rId24"/>
    <p:sldId id="328" r:id="rId25"/>
    <p:sldId id="327" r:id="rId26"/>
    <p:sldId id="305" r:id="rId27"/>
    <p:sldId id="300" r:id="rId28"/>
    <p:sldId id="304" r:id="rId29"/>
    <p:sldId id="316" r:id="rId30"/>
    <p:sldId id="317" r:id="rId31"/>
    <p:sldId id="318" r:id="rId32"/>
    <p:sldId id="319" r:id="rId33"/>
    <p:sldId id="32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8" autoAdjust="0"/>
    <p:restoredTop sz="94660"/>
  </p:normalViewPr>
  <p:slideViewPr>
    <p:cSldViewPr>
      <p:cViewPr varScale="1">
        <p:scale>
          <a:sx n="66" d="100"/>
          <a:sy n="66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F3349-1FC7-4425-828B-7E5AB13830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E91B3-194A-4094-9F31-50650B4F81A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990601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 treatment: Crystal Field Theory (CFT)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Ligand Field Theory (LFT) for octahedral and tetrahedral complexes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Tetragonally distorted octahedral complex and square planar complexes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orbital Theory (MOT)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Metal-ligand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- and - bonding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CFSE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Consequences of ligand field splitting&gt;&gt;&gt;&gt; Magnetic properties, electronic properties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Electrochemical series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Structural and thermodynamic effects of ligand field splitting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Jahn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-Teller theorem/effect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831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Chapter topics: 4 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8686800" cy="212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09" y="4202668"/>
            <a:ext cx="2866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Limitations of VBT led to CFT</a:t>
            </a:r>
            <a:endParaRPr lang="en-US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0865"/>
            <a:ext cx="7545705" cy="3934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7594" y="228600"/>
            <a:ext cx="1625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Implications of VBT: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*Hybridization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*EAN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*18 electron rule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0223" y="193328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1916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353" y="2229494"/>
            <a:ext cx="14333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Linus Pauling published in 1931 his landmark paper on valence bond theory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622960"/>
            <a:ext cx="8458200" cy="5244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700670" y="-11184"/>
            <a:ext cx="647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crystal field theory (CFT) was developed for crystalline solids by the physicist Hans Bethe in </a:t>
            </a:r>
            <a:r>
              <a:rPr lang="en-US" b="1" dirty="0"/>
              <a:t>1929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0" y="246322"/>
            <a:ext cx="8825023" cy="149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20571"/>
            <a:ext cx="8991600" cy="2350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0" y="4648200"/>
            <a:ext cx="904024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0999"/>
            <a:ext cx="8882562" cy="5266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43" y="0"/>
            <a:ext cx="8734257" cy="6766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72200" y="3044060"/>
            <a:ext cx="31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Combination of d</a:t>
            </a:r>
            <a:r>
              <a:rPr lang="en-US" baseline="-25000" dirty="0" smtClean="0"/>
              <a:t>z</a:t>
            </a:r>
            <a:r>
              <a:rPr lang="en-US" baseline="30000" dirty="0" smtClean="0"/>
              <a:t>2</a:t>
            </a:r>
            <a:r>
              <a:rPr lang="en-US" baseline="-25000" dirty="0" smtClean="0"/>
              <a:t>-x</a:t>
            </a:r>
            <a:r>
              <a:rPr lang="en-US" baseline="30000" dirty="0" smtClean="0"/>
              <a:t>2 </a:t>
            </a:r>
            <a:r>
              <a:rPr lang="en-US" dirty="0" smtClean="0"/>
              <a:t>and d </a:t>
            </a:r>
            <a:r>
              <a:rPr lang="en-US" baseline="-25000" dirty="0" smtClean="0"/>
              <a:t>z</a:t>
            </a:r>
            <a:r>
              <a:rPr lang="en-US" baseline="30000" dirty="0" smtClean="0"/>
              <a:t>2</a:t>
            </a:r>
            <a:r>
              <a:rPr lang="en-US" baseline="-25000" dirty="0" smtClean="0"/>
              <a:t>-y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textimgs.s3.amazonaws.com/BLchem/d-orbitals.svg#fix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160338"/>
            <a:ext cx="8702957" cy="631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" y="76200"/>
            <a:ext cx="8943023" cy="650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6" y="228600"/>
            <a:ext cx="9146096" cy="4123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6" y="4648200"/>
            <a:ext cx="9099233" cy="181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467600" y="2105906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Doughnut</a:t>
            </a:r>
            <a:endParaRPr lang="en-US" dirty="0" smtClean="0"/>
          </a:p>
          <a:p>
            <a:r>
              <a:rPr lang="en-US" dirty="0" smtClean="0"/>
              <a:t> or collar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" y="152400"/>
            <a:ext cx="9127141" cy="2268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688592"/>
            <a:ext cx="6096000" cy="402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50" y="6"/>
            <a:ext cx="7869650" cy="6674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14800" y="1219200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shade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486856" y="382166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Un-shaded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733800" y="3505200"/>
            <a:ext cx="789575" cy="31646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00400" y="1403866"/>
            <a:ext cx="990600" cy="577334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4933" y="202513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858914" y="26670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352800" y="9144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52800" y="46482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36158" y="33370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523375" y="19050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1"/>
            <a:ext cx="8881730" cy="320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"/>
            <a:ext cx="8971344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305800" cy="6204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9013372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880438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738242"/>
            <a:ext cx="7848601" cy="558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94988"/>
            <a:ext cx="3639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d-d transition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6" y="0"/>
            <a:ext cx="7532064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1996"/>
            <a:ext cx="7924800" cy="6386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102664"/>
            <a:ext cx="706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Color complementarity  in T. metal aqueous solutions  </a:t>
            </a:r>
            <a:endParaRPr lang="en-US" sz="2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7579"/>
            <a:ext cx="8458200" cy="2657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64944"/>
            <a:ext cx="7227653" cy="3993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914400"/>
            <a:ext cx="888803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" y="208737"/>
            <a:ext cx="8890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Weak Field/ Strong field ligand&gt;&gt;&gt;&gt;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Spectrochemical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"/>
            <a:ext cx="5715001" cy="686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5257800" y="2362200"/>
            <a:ext cx="1295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6000" y="1973375"/>
            <a:ext cx="2831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 mom start to change from here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83495" y="3171072"/>
            <a:ext cx="2703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strong and weak field ligands ,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 mom differs significantly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8763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eg</a:t>
            </a:r>
            <a:r>
              <a:rPr lang="en-US" dirty="0"/>
              <a:t> orbitals point directly at . the ligands. </a:t>
            </a:r>
            <a:r>
              <a:rPr lang="en-US" dirty="0" smtClean="0"/>
              <a:t>Thus  asymmetric </a:t>
            </a:r>
            <a:r>
              <a:rPr lang="en-US" dirty="0"/>
              <a:t>filling of the </a:t>
            </a:r>
            <a:r>
              <a:rPr lang="en-US" i="1" dirty="0" err="1" smtClean="0"/>
              <a:t>eg</a:t>
            </a:r>
            <a:r>
              <a:rPr lang="en-US" i="1" dirty="0" smtClean="0"/>
              <a:t> </a:t>
            </a:r>
            <a:r>
              <a:rPr lang="en-US" dirty="0"/>
              <a:t>orbitals results in some ligands being </a:t>
            </a:r>
            <a:r>
              <a:rPr lang="en-US" dirty="0" smtClean="0"/>
              <a:t>repelled more </a:t>
            </a:r>
            <a:r>
              <a:rPr lang="en-US" dirty="0"/>
              <a:t>than others. This causes a -significant distortion of the </a:t>
            </a:r>
            <a:r>
              <a:rPr lang="en-US" dirty="0" smtClean="0"/>
              <a:t>octahedral shape</a:t>
            </a:r>
            <a:r>
              <a:rPr lang="en-US" dirty="0"/>
              <a:t>. In contrast the </a:t>
            </a:r>
            <a:r>
              <a:rPr lang="en-US" dirty="0" smtClean="0"/>
              <a:t>t2gorbitals </a:t>
            </a:r>
            <a:r>
              <a:rPr lang="en-US" dirty="0"/>
              <a:t>do </a:t>
            </a:r>
            <a:r>
              <a:rPr lang="en-US" dirty="0" smtClean="0"/>
              <a:t>point </a:t>
            </a:r>
            <a:r>
              <a:rPr lang="en-US" dirty="0"/>
              <a:t>directly at the ligands, but</a:t>
            </a:r>
            <a:endParaRPr lang="en-US" dirty="0"/>
          </a:p>
          <a:p>
            <a:r>
              <a:rPr lang="en-US" dirty="0"/>
              <a:t>point in between the ligand directions. Thus asymmetric filling of the </a:t>
            </a:r>
            <a:r>
              <a:rPr lang="en-US" dirty="0" smtClean="0"/>
              <a:t>t2g orbitals </a:t>
            </a:r>
            <a:r>
              <a:rPr lang="en-US" dirty="0"/>
              <a:t>has only a very small effect </a:t>
            </a:r>
            <a:r>
              <a:rPr lang="en-US" dirty="0" smtClean="0"/>
              <a:t> </a:t>
            </a:r>
            <a:r>
              <a:rPr lang="en-US" dirty="0"/>
              <a:t>the stereochemistry. </a:t>
            </a:r>
            <a:r>
              <a:rPr lang="en-US" dirty="0" smtClean="0"/>
              <a:t>Distortion caused </a:t>
            </a:r>
            <a:r>
              <a:rPr lang="en-US" dirty="0"/>
              <a:t>by asymmetric filling of the </a:t>
            </a:r>
            <a:r>
              <a:rPr lang="en-US" dirty="0" smtClean="0"/>
              <a:t>t2g orbitals </a:t>
            </a:r>
            <a:r>
              <a:rPr lang="en-US" dirty="0"/>
              <a:t>is usually too small </a:t>
            </a:r>
            <a:r>
              <a:rPr lang="en-US" dirty="0" smtClean="0"/>
              <a:t>to measure</a:t>
            </a:r>
            <a:r>
              <a:rPr lang="en-US" dirty="0"/>
              <a:t>. The electronic arrangements which will produce a large </a:t>
            </a:r>
            <a:r>
              <a:rPr lang="en-US" dirty="0" smtClean="0"/>
              <a:t>distortion are </a:t>
            </a:r>
            <a:r>
              <a:rPr lang="en-US" dirty="0"/>
              <a:t>shown in Table 7.15.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" y="438169"/>
            <a:ext cx="9013127" cy="3768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" y="20"/>
            <a:ext cx="8744426" cy="625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" y="0"/>
            <a:ext cx="8979408" cy="5949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20740" cy="6710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029200" y="3591580"/>
            <a:ext cx="2993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Due to strong ligand electron repulsion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 degeneracy breaks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052560" cy="2621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7290"/>
            <a:ext cx="9144000" cy="3232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" y="790584"/>
            <a:ext cx="9039225" cy="3429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64562"/>
            <a:ext cx="72390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4920615" cy="197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1"/>
            <a:ext cx="3810000" cy="667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"/>
            <a:ext cx="6400801" cy="488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" y="1066805"/>
            <a:ext cx="4165263" cy="274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514600"/>
            <a:ext cx="6266891" cy="3444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7535418" cy="6910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1695</Words>
  <Application>WPS Presentation</Application>
  <PresentationFormat>On-screen Show (4:3)</PresentationFormat>
  <Paragraphs>67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SimSun</vt:lpstr>
      <vt:lpstr>Wingdings</vt:lpstr>
      <vt:lpstr>Times New Roman</vt:lpstr>
      <vt:lpstr>Symbol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 To Z Computer</cp:lastModifiedBy>
  <cp:revision>101</cp:revision>
  <dcterms:created xsi:type="dcterms:W3CDTF">2021-08-09T17:51:00Z</dcterms:created>
  <dcterms:modified xsi:type="dcterms:W3CDTF">2023-02-01T13:22:39Z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070AEFB6ECA64881BD928757FE605D11</vt:lpwstr>
  </property>
  <property fmtid="{D5CDD505-2E9C-101B-9397-08002B2CF9AE}" pid="3" name="KSOProductBuildVer">
    <vt:lpwstr>1033-11.2.0.11440</vt:lpwstr>
  </property>
</Properties>
</file>