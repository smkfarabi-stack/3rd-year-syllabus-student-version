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6"/>
  </p:notesMasterIdLst>
  <p:sldIdLst>
    <p:sldId id="256" r:id="rId2"/>
    <p:sldId id="257" r:id="rId3"/>
    <p:sldId id="258" r:id="rId4"/>
    <p:sldId id="259" r:id="rId5"/>
    <p:sldId id="261" r:id="rId6"/>
    <p:sldId id="260"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9" r:id="rId24"/>
    <p:sldId id="278" r:id="rId25"/>
    <p:sldId id="280" r:id="rId26"/>
    <p:sldId id="282" r:id="rId27"/>
    <p:sldId id="281" r:id="rId28"/>
    <p:sldId id="283" r:id="rId29"/>
    <p:sldId id="284" r:id="rId30"/>
    <p:sldId id="285" r:id="rId31"/>
    <p:sldId id="286" r:id="rId32"/>
    <p:sldId id="287" r:id="rId33"/>
    <p:sldId id="288" r:id="rId34"/>
    <p:sldId id="289" r:id="rId35"/>
    <p:sldId id="290" r:id="rId36"/>
    <p:sldId id="311" r:id="rId37"/>
    <p:sldId id="291" r:id="rId38"/>
    <p:sldId id="312" r:id="rId39"/>
    <p:sldId id="309" r:id="rId40"/>
    <p:sldId id="310" r:id="rId41"/>
    <p:sldId id="292" r:id="rId42"/>
    <p:sldId id="293" r:id="rId43"/>
    <p:sldId id="294" r:id="rId44"/>
    <p:sldId id="301" r:id="rId45"/>
    <p:sldId id="295" r:id="rId46"/>
    <p:sldId id="308" r:id="rId47"/>
    <p:sldId id="296" r:id="rId48"/>
    <p:sldId id="297" r:id="rId49"/>
    <p:sldId id="300" r:id="rId50"/>
    <p:sldId id="298" r:id="rId51"/>
    <p:sldId id="299" r:id="rId52"/>
    <p:sldId id="302" r:id="rId53"/>
    <p:sldId id="303" r:id="rId54"/>
    <p:sldId id="304" r:id="rId55"/>
    <p:sldId id="305" r:id="rId56"/>
    <p:sldId id="306" r:id="rId57"/>
    <p:sldId id="319" r:id="rId58"/>
    <p:sldId id="307" r:id="rId59"/>
    <p:sldId id="313" r:id="rId60"/>
    <p:sldId id="314" r:id="rId61"/>
    <p:sldId id="315" r:id="rId62"/>
    <p:sldId id="316" r:id="rId63"/>
    <p:sldId id="317" r:id="rId64"/>
    <p:sldId id="322" r:id="rId65"/>
    <p:sldId id="336" r:id="rId66"/>
    <p:sldId id="318" r:id="rId67"/>
    <p:sldId id="320" r:id="rId68"/>
    <p:sldId id="323" r:id="rId69"/>
    <p:sldId id="321" r:id="rId70"/>
    <p:sldId id="324" r:id="rId71"/>
    <p:sldId id="325" r:id="rId72"/>
    <p:sldId id="326" r:id="rId73"/>
    <p:sldId id="327" r:id="rId74"/>
    <p:sldId id="328" r:id="rId75"/>
    <p:sldId id="330" r:id="rId76"/>
    <p:sldId id="331" r:id="rId77"/>
    <p:sldId id="332" r:id="rId78"/>
    <p:sldId id="337" r:id="rId79"/>
    <p:sldId id="333" r:id="rId80"/>
    <p:sldId id="334" r:id="rId81"/>
    <p:sldId id="335" r:id="rId82"/>
    <p:sldId id="338" r:id="rId83"/>
    <p:sldId id="339" r:id="rId84"/>
    <p:sldId id="340" r:id="rId8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238" autoAdjust="0"/>
  </p:normalViewPr>
  <p:slideViewPr>
    <p:cSldViewPr>
      <p:cViewPr varScale="1">
        <p:scale>
          <a:sx n="66" d="100"/>
          <a:sy n="66" d="100"/>
        </p:scale>
        <p:origin x="1422" y="10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ink/ink1.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1-07-07T05:30:56"/>
    </inkml:context>
    <inkml:brush xml:id="br0">
      <inkml:brushProperty name="width" value="0.05292" units="cm"/>
      <inkml:brushProperty name="height" value="0.05292" units="cm"/>
      <inkml:brushProperty name="color" value="#FF0000"/>
    </inkml:brush>
  </inkml:definitions>
  <inkml:trace contextRef="#ctx0" brushRef="#br0">10369 3448,'0'0,"0"-25,-25 25,0 0,0 0,0 0,-24 0,-1 0,1 0,-1 0,-24 0,24 0,0 0,1 0,24 0,-25 25,1-25,49 25,0-1,-25 1,0 0,0-25,25 25,-24-25,24 25,-25 24,0 26,0-1,-24 1,24-1,25-24,-25 49,25-25,-50-24,50 24,0-49,0 0,0 24,0 1,-24-50,-1 25,25 24,0-24,0 25,0-25,0-1,0 1,0 0,0 25,0-26,0 1,0 0,0 0,0 25,0-1,0-24,0 0,25 24,-1 1,1-25,0 0,-25-1,0 1,50 0,-50 25,24-50,1 0,-25 49,25-49,25 50,-26-1,1-49,0 0,0 50,49-50,-49 0,-25 25,25-25,24 25,26 24,-50-49,-1 0,1 0,0 0,0 0,0 0,24 0,1 0,-25 0,24 50,-24-50,0 0,49 0,-24 0,49 0,25 0,-74 0,-1 0,-24 0,25 0,-1 0,-24 0,0 0,0 0,24 0,26 0,-26 0,26 0,-26 0,1 0,0 0,-1 0,-24 0,0 0,25 0,24 0,-49 0,74 0,-49-25,-26 0,26-24,0 24,-50 0,24 0,1-24,-25-26,25 26,-25-1,0 0,0-49,0 50,0-26,0 26,0-26,0 25,0-24,0 0,0 24,0 0,0 1,0-1,0 25,0-24,-25 24,25 0,-25-24,1 24,24 0,-25 0,25 0,0-24,-25 49,-25-50,26 25,-1-24,0-1,0 50,-24-49,49 24,-25 0,0 0,-49 25,-26-49,-49-26,1 50,148 0,0 1,-50-1,50-25,0 1,0 24,0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91449F5-FE4C-4F3B-B812-DD97FF63BBE5}" type="datetimeFigureOut">
              <a:rPr lang="en-US" smtClean="0"/>
              <a:t>9/16/2023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201694C-2F76-42D6-96F2-4A51662D473E}" type="slidenum">
              <a:rPr lang="en-US" smtClean="0"/>
              <a:t>‹#›</a:t>
            </a:fld>
            <a:endParaRPr lang="en-US"/>
          </a:p>
        </p:txBody>
      </p:sp>
    </p:spTree>
    <p:extLst>
      <p:ext uri="{BB962C8B-B14F-4D97-AF65-F5344CB8AC3E}">
        <p14:creationId xmlns:p14="http://schemas.microsoft.com/office/powerpoint/2010/main" val="30153442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201694C-2F76-42D6-96F2-4A51662D473E}" type="slidenum">
              <a:rPr lang="en-US" smtClean="0"/>
              <a:t>79</a:t>
            </a:fld>
            <a:endParaRPr lang="en-US"/>
          </a:p>
        </p:txBody>
      </p:sp>
    </p:spTree>
    <p:extLst>
      <p:ext uri="{BB962C8B-B14F-4D97-AF65-F5344CB8AC3E}">
        <p14:creationId xmlns:p14="http://schemas.microsoft.com/office/powerpoint/2010/main" val="36456141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C6AB387-FFC3-461A-8497-A6743A388370}" type="datetimeFigureOut">
              <a:rPr lang="en-US" smtClean="0"/>
              <a:t>9/16/2023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16D2928-68E8-4CA4-A73F-E659D4C6BD59}" type="slidenum">
              <a:rPr lang="en-US"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C6AB387-FFC3-461A-8497-A6743A388370}" type="datetimeFigureOut">
              <a:rPr lang="en-US" smtClean="0"/>
              <a:t>9/16/2023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16D2928-68E8-4CA4-A73F-E659D4C6BD59}"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C6AB387-FFC3-461A-8497-A6743A388370}" type="datetimeFigureOut">
              <a:rPr lang="en-US" smtClean="0"/>
              <a:t>9/16/2023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16D2928-68E8-4CA4-A73F-E659D4C6BD59}" type="slidenum">
              <a:rPr lang="en-US" smtClean="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C6AB387-FFC3-461A-8497-A6743A388370}" type="datetimeFigureOut">
              <a:rPr lang="en-US" smtClean="0"/>
              <a:t>9/16/2023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16D2928-68E8-4CA4-A73F-E659D4C6BD59}"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C6AB387-FFC3-461A-8497-A6743A388370}" type="datetimeFigureOut">
              <a:rPr lang="en-US" smtClean="0"/>
              <a:t>9/16/2023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216D2928-68E8-4CA4-A73F-E659D4C6BD59}" type="slidenum">
              <a:rPr lang="en-US" smtClean="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C6AB387-FFC3-461A-8497-A6743A388370}" type="datetimeFigureOut">
              <a:rPr lang="en-US" smtClean="0"/>
              <a:t>9/16/2023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216D2928-68E8-4CA4-A73F-E659D4C6BD59}"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6AB387-FFC3-461A-8497-A6743A388370}" type="datetimeFigureOut">
              <a:rPr lang="en-US" smtClean="0"/>
              <a:t>9/16/2023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216D2928-68E8-4CA4-A73F-E659D4C6BD59}"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C6AB387-FFC3-461A-8497-A6743A388370}" type="datetimeFigureOut">
              <a:rPr lang="en-US" smtClean="0"/>
              <a:t>9/16/2023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16D2928-68E8-4CA4-A73F-E659D4C6BD59}"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C6AB387-FFC3-461A-8497-A6743A388370}" type="datetimeFigureOut">
              <a:rPr lang="en-US" smtClean="0"/>
              <a:t>9/16/2023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16D2928-68E8-4CA4-A73F-E659D4C6BD59}"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C6AB387-FFC3-461A-8497-A6743A388370}" type="datetimeFigureOut">
              <a:rPr lang="en-US" smtClean="0"/>
              <a:t>9/16/2023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16D2928-68E8-4CA4-A73F-E659D4C6BD59}"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C6AB387-FFC3-461A-8497-A6743A388370}" type="datetimeFigureOut">
              <a:rPr lang="en-US" smtClean="0"/>
              <a:t>9/16/2023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16D2928-68E8-4CA4-A73F-E659D4C6BD59}"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6AB387-FFC3-461A-8497-A6743A388370}" type="datetimeFigureOut">
              <a:rPr lang="en-US" smtClean="0"/>
              <a:t>9/16/2023</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6D2928-68E8-4CA4-A73F-E659D4C6BD59}"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hyperlink" Target="https://en.wikipedia.org/wiki/Covalent_bond" TargetMode="External"/><Relationship Id="rId13" Type="http://schemas.openxmlformats.org/officeDocument/2006/relationships/hyperlink" Target="https://en.wikipedia.org/wiki/Orbital_hybridization" TargetMode="External"/><Relationship Id="rId3" Type="http://schemas.openxmlformats.org/officeDocument/2006/relationships/hyperlink" Target="https://en.wikipedia.org/wiki/Lewis_structure" TargetMode="External"/><Relationship Id="rId7" Type="http://schemas.openxmlformats.org/officeDocument/2006/relationships/hyperlink" Target="https://en.wikipedia.org/wiki/Wavefunction" TargetMode="External"/><Relationship Id="rId12" Type="http://schemas.openxmlformats.org/officeDocument/2006/relationships/hyperlink" Target="https://en.wikipedia.org/wiki/Resonance_(chemistry)" TargetMode="External"/><Relationship Id="rId2" Type="http://schemas.openxmlformats.org/officeDocument/2006/relationships/hyperlink" Target="https://en.wikipedia.org/wiki/G._N._Lewis" TargetMode="External"/><Relationship Id="rId1" Type="http://schemas.openxmlformats.org/officeDocument/2006/relationships/slideLayout" Target="../slideLayouts/slideLayout2.xml"/><Relationship Id="rId6" Type="http://schemas.openxmlformats.org/officeDocument/2006/relationships/hyperlink" Target="https://en.wikipedia.org/wiki/Schr%C3%B6dinger_equation" TargetMode="External"/><Relationship Id="rId11" Type="http://schemas.openxmlformats.org/officeDocument/2006/relationships/hyperlink" Target="https://en.wikipedia.org/wiki/Linus_Pauling" TargetMode="External"/><Relationship Id="rId5" Type="http://schemas.openxmlformats.org/officeDocument/2006/relationships/hyperlink" Target="https://en.wikipedia.org/wiki/Walter_Heitler" TargetMode="External"/><Relationship Id="rId15" Type="http://schemas.openxmlformats.org/officeDocument/2006/relationships/hyperlink" Target="https://en.wikipedia.org/wiki/Valence_(chemistry)" TargetMode="External"/><Relationship Id="rId10" Type="http://schemas.openxmlformats.org/officeDocument/2006/relationships/hyperlink" Target="https://en.wikipedia.org/wiki/Valence_bond_theory#cite_note-2" TargetMode="External"/><Relationship Id="rId4" Type="http://schemas.openxmlformats.org/officeDocument/2006/relationships/hyperlink" Target="https://en.wikipedia.org/wiki/Hydrogen" TargetMode="External"/><Relationship Id="rId9" Type="http://schemas.openxmlformats.org/officeDocument/2006/relationships/hyperlink" Target="https://en.wikipedia.org/wiki/Fritz_London" TargetMode="External"/><Relationship Id="rId14" Type="http://schemas.openxmlformats.org/officeDocument/2006/relationships/hyperlink" Target="https://en.wikipedia.org/wiki/Charles_Coulson" TargetMode="External"/></Relationships>
</file>

<file path=ppt/slides/_rels/slide8.xml.rels><?xml version="1.0" encoding="UTF-8" standalone="yes"?>
<Relationships xmlns="http://schemas.openxmlformats.org/package/2006/relationships"><Relationship Id="rId2" Type="http://schemas.openxmlformats.org/officeDocument/2006/relationships/hyperlink" Target="https://chem.libretexts.org/Bookshelves/Physical_and_Theoretical_Chemistry_Textbook_Maps/"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3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67.png"/><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65.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 Id="rId4" Type="http://schemas.openxmlformats.org/officeDocument/2006/relationships/image" Target="../media/image73.png"/></Relationships>
</file>

<file path=ppt/slides/_rels/slide68.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 Id="rId4" Type="http://schemas.openxmlformats.org/officeDocument/2006/relationships/image" Target="../media/image77.png"/></Relationships>
</file>

<file path=ppt/slides/_rels/slide70.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85.jpe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89.png"/></Relationships>
</file>

<file path=ppt/slides/_rels/slide80.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93.jpe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8600" y="990600"/>
            <a:ext cx="8458200" cy="1754326"/>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Detailed study of the covalent bond theories: (a) The nature of the covalent bonding: wave mechanical principle, valence bond theory (VBT) of hydrogen molecule, hybridization, VBT description using hybrid orbitals, resonance. (b) Molecular orbital theory (MOT) of homo-and hetero-diatomic molecules, HOMO and LUMO, molecular orbitals of polyatomic molecules with </a:t>
            </a:r>
            <a:r>
              <a:rPr lang="en-US" b="1" dirty="0">
                <a:latin typeface="Times New Roman" panose="02020603050405020304" pitchFamily="18" charset="0"/>
                <a:cs typeface="Times New Roman" panose="02020603050405020304" pitchFamily="18" charset="0"/>
                <a:sym typeface="Symbol" panose="05050102010706020507"/>
              </a:rPr>
              <a:t> </a:t>
            </a:r>
            <a:r>
              <a:rPr lang="en-US" b="1" dirty="0">
                <a:latin typeface="Times New Roman" panose="02020603050405020304" pitchFamily="18" charset="0"/>
                <a:cs typeface="Times New Roman" panose="02020603050405020304" pitchFamily="18" charset="0"/>
              </a:rPr>
              <a:t>and </a:t>
            </a:r>
            <a:r>
              <a:rPr lang="en-US" b="1" dirty="0">
                <a:latin typeface="Times New Roman" panose="02020603050405020304" pitchFamily="18" charset="0"/>
                <a:cs typeface="Times New Roman" panose="02020603050405020304" pitchFamily="18" charset="0"/>
                <a:sym typeface="Symbol" panose="05050102010706020507"/>
              </a:rPr>
              <a:t></a:t>
            </a:r>
            <a:r>
              <a:rPr lang="en-US" b="1" dirty="0">
                <a:latin typeface="Times New Roman" panose="02020603050405020304" pitchFamily="18" charset="0"/>
                <a:cs typeface="Times New Roman" panose="02020603050405020304" pitchFamily="18" charset="0"/>
              </a:rPr>
              <a:t>-bonding, the ligand group orbital approach, comparison of VBT and MOT.</a:t>
            </a:r>
          </a:p>
        </p:txBody>
      </p:sp>
      <p:sp>
        <p:nvSpPr>
          <p:cNvPr id="5" name="TextBox 4"/>
          <p:cNvSpPr txBox="1"/>
          <p:nvPr/>
        </p:nvSpPr>
        <p:spPr>
          <a:xfrm>
            <a:off x="762000" y="533400"/>
            <a:ext cx="1605568" cy="369332"/>
          </a:xfrm>
          <a:prstGeom prst="rect">
            <a:avLst/>
          </a:prstGeom>
          <a:noFill/>
        </p:spPr>
        <p:txBody>
          <a:bodyPr wrap="none" rtlCol="0">
            <a:spAutoFit/>
          </a:bodyPr>
          <a:lstStyle/>
          <a:p>
            <a:r>
              <a:rPr lang="en-US" dirty="0"/>
              <a:t>Chapter topics: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304800"/>
            <a:ext cx="8382000" cy="3754874"/>
          </a:xfrm>
          <a:prstGeom prst="rect">
            <a:avLst/>
          </a:prstGeom>
        </p:spPr>
        <p:txBody>
          <a:bodyPr wrap="square">
            <a:spAutoFit/>
          </a:bodyPr>
          <a:lstStyle/>
          <a:p>
            <a:r>
              <a:rPr lang="en-US" dirty="0"/>
              <a:t>TYPES OF BONDS</a:t>
            </a:r>
          </a:p>
          <a:p>
            <a:r>
              <a:rPr lang="en-US" sz="2000" dirty="0">
                <a:latin typeface="Times New Roman" panose="02020603050405020304" pitchFamily="18" charset="0"/>
                <a:cs typeface="Times New Roman" panose="02020603050405020304" pitchFamily="18" charset="0"/>
              </a:rPr>
              <a:t>Atoms may attain a stable electronic configuration in three different ways:</a:t>
            </a:r>
          </a:p>
          <a:p>
            <a:r>
              <a:rPr lang="en-US" sz="2000" dirty="0">
                <a:latin typeface="Times New Roman" panose="02020603050405020304" pitchFamily="18" charset="0"/>
                <a:cs typeface="Times New Roman" panose="02020603050405020304" pitchFamily="18" charset="0"/>
              </a:rPr>
              <a:t>by losing electrons, by gaining electrons, or by sharing electrons.</a:t>
            </a:r>
          </a:p>
          <a:p>
            <a:r>
              <a:rPr lang="en-US" sz="2000" dirty="0">
                <a:latin typeface="Times New Roman" panose="02020603050405020304" pitchFamily="18" charset="0"/>
                <a:cs typeface="Times New Roman" panose="02020603050405020304" pitchFamily="18" charset="0"/>
              </a:rPr>
              <a:t>Elements may be divided into:</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I. Electropositive elements, whose atoms give up one or more electrons</a:t>
            </a:r>
          </a:p>
          <a:p>
            <a:r>
              <a:rPr lang="en-US" sz="2000" dirty="0">
                <a:latin typeface="Times New Roman" panose="02020603050405020304" pitchFamily="18" charset="0"/>
                <a:cs typeface="Times New Roman" panose="02020603050405020304" pitchFamily="18" charset="0"/>
              </a:rPr>
              <a:t>fairly readily.</a:t>
            </a:r>
          </a:p>
          <a:p>
            <a:r>
              <a:rPr lang="en-US" sz="2000" dirty="0">
                <a:latin typeface="Times New Roman" panose="02020603050405020304" pitchFamily="18" charset="0"/>
                <a:cs typeface="Times New Roman" panose="02020603050405020304" pitchFamily="18" charset="0"/>
              </a:rPr>
              <a:t>2. electronegative elements. which will accept electrons.</a:t>
            </a:r>
          </a:p>
          <a:p>
            <a:r>
              <a:rPr lang="en-US" sz="2000" dirty="0">
                <a:latin typeface="Times New Roman" panose="02020603050405020304" pitchFamily="18" charset="0"/>
                <a:cs typeface="Times New Roman" panose="02020603050405020304" pitchFamily="18" charset="0"/>
              </a:rPr>
              <a:t>3. Elements which have little tendency to Jose or gain electrons.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Three different types of bond may be formed, depending on the</a:t>
            </a:r>
          </a:p>
          <a:p>
            <a:r>
              <a:rPr lang="en-US" sz="2000" dirty="0">
                <a:latin typeface="Times New Roman" panose="02020603050405020304" pitchFamily="18" charset="0"/>
                <a:cs typeface="Times New Roman" panose="02020603050405020304" pitchFamily="18" charset="0"/>
              </a:rPr>
              <a:t>electropositive or electronegative character of the atoms involved.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 y="533400"/>
            <a:ext cx="8763000" cy="524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304800"/>
            <a:ext cx="4572000" cy="4524315"/>
          </a:xfrm>
          <a:prstGeom prst="rect">
            <a:avLst/>
          </a:prstGeom>
        </p:spPr>
        <p:txBody>
          <a:bodyPr>
            <a:spAutoFit/>
          </a:bodyPr>
          <a:lstStyle/>
          <a:p>
            <a:r>
              <a:rPr lang="en-US" sz="2400" dirty="0">
                <a:latin typeface="Times New Roman" panose="02020603050405020304" pitchFamily="18" charset="0"/>
                <a:cs typeface="Times New Roman" panose="02020603050405020304" pitchFamily="18" charset="0"/>
              </a:rPr>
              <a:t>If the three extreme bond types are placed at the corners of a triangle, then compounds with bonds predominantly of one type will be represented as points near the corners. Compounds with bonds intermediate between two types will occur along an edge of the triangle, whilst compounds with bonds showing some characteristics of all three types are shown as points inside the triangle.</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6647" y="152400"/>
            <a:ext cx="4395856" cy="4343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381000"/>
            <a:ext cx="8610600" cy="1631216"/>
          </a:xfrm>
          <a:prstGeom prst="rect">
            <a:avLst/>
          </a:prstGeom>
        </p:spPr>
        <p:txBody>
          <a:bodyPr wrap="square">
            <a:spAutoFit/>
          </a:bodyPr>
          <a:lstStyle/>
          <a:p>
            <a:r>
              <a:rPr lang="en-US" sz="2000" b="1" dirty="0">
                <a:latin typeface="Times New Roman" panose="02020603050405020304" pitchFamily="18" charset="0"/>
                <a:cs typeface="Times New Roman" panose="02020603050405020304" pitchFamily="18" charset="0"/>
              </a:rPr>
              <a:t>This theory was proposed by Linus Pauling, who was awarded the Nobel Prize for Chemistry in 1954. The theory was very widely used in the period 1940-1960. Since then it. has to some extent fallen out of fashion. However, it is still much used by organic chemists, and it provides a basis for simple description of small inorganic molecules.</a:t>
            </a:r>
          </a:p>
        </p:txBody>
      </p:sp>
      <p:sp>
        <p:nvSpPr>
          <p:cNvPr id="5" name="Rectangle 4"/>
          <p:cNvSpPr/>
          <p:nvPr/>
        </p:nvSpPr>
        <p:spPr>
          <a:xfrm>
            <a:off x="152400" y="2438400"/>
            <a:ext cx="8763000" cy="3477875"/>
          </a:xfrm>
          <a:prstGeom prst="rect">
            <a:avLst/>
          </a:prstGeom>
        </p:spPr>
        <p:txBody>
          <a:bodyPr wrap="square">
            <a:spAutoFit/>
          </a:bodyPr>
          <a:lstStyle/>
          <a:p>
            <a:r>
              <a:rPr lang="en-US" sz="2000" dirty="0">
                <a:latin typeface="Times New Roman" panose="02020603050405020304" pitchFamily="18" charset="0"/>
                <a:cs typeface="Times New Roman" panose="02020603050405020304" pitchFamily="18" charset="0"/>
              </a:rPr>
              <a:t>Atoms with unpaired electrons tend to combine with other atoms which also have unpaired electrons. In this way the unpaired electrons are paired up, and the atoms involved all attain a stable electronic arrangement. This is usually a full shell of electrons (i.e. a noble gas configuration). Two electrons shared between two atoms  constitute a bond. The number of bond is formed by an atom is usually the same as the number of unpaired electrons in the ground state, i.e. the lowest energy state. However, in some cases the atom may form more bonds than this. This occurs by excitation of the atom (i.e. providing it with energy) when electrons which were paired in the ground state are unpaired and promoted into suitable empty orbitals. This increases the number of unpaired electrons, and hence the number of bonds which can be formed.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381000"/>
            <a:ext cx="8458200" cy="1015663"/>
          </a:xfrm>
          <a:prstGeom prst="rect">
            <a:avLst/>
          </a:prstGeom>
        </p:spPr>
        <p:txBody>
          <a:bodyPr wrap="square">
            <a:spAutoFit/>
          </a:bodyPr>
          <a:lstStyle/>
          <a:p>
            <a:r>
              <a:rPr lang="en-US" sz="2000" dirty="0">
                <a:latin typeface="Times New Roman" panose="02020603050405020304" pitchFamily="18" charset="0"/>
                <a:cs typeface="Times New Roman" panose="02020603050405020304" pitchFamily="18" charset="0"/>
              </a:rPr>
              <a:t>The shape of the molecule is determined primarily by the directions in which the orbitals point. Electrons in the valence shell of the original atom which are paired are called lone pairs.</a:t>
            </a:r>
          </a:p>
        </p:txBody>
      </p:sp>
      <p:sp>
        <p:nvSpPr>
          <p:cNvPr id="3" name="TextBox 2"/>
          <p:cNvSpPr txBox="1"/>
          <p:nvPr/>
        </p:nvSpPr>
        <p:spPr>
          <a:xfrm>
            <a:off x="685800" y="1752600"/>
            <a:ext cx="1066959" cy="369332"/>
          </a:xfrm>
          <a:prstGeom prst="rect">
            <a:avLst/>
          </a:prstGeom>
          <a:noFill/>
        </p:spPr>
        <p:txBody>
          <a:bodyPr wrap="none" rtlCol="0">
            <a:spAutoFit/>
          </a:bodyPr>
          <a:lstStyle/>
          <a:p>
            <a:r>
              <a:rPr lang="en-US" dirty="0"/>
              <a:t>Examples</a:t>
            </a:r>
          </a:p>
        </p:txBody>
      </p:sp>
      <p:sp>
        <p:nvSpPr>
          <p:cNvPr id="4" name="Rectangle 3"/>
          <p:cNvSpPr/>
          <p:nvPr/>
        </p:nvSpPr>
        <p:spPr>
          <a:xfrm>
            <a:off x="457200" y="2286000"/>
            <a:ext cx="8382000" cy="1938992"/>
          </a:xfrm>
          <a:prstGeom prst="rect">
            <a:avLst/>
          </a:prstGeom>
        </p:spPr>
        <p:txBody>
          <a:bodyPr wrap="square">
            <a:spAutoFit/>
          </a:bodyPr>
          <a:lstStyle/>
          <a:p>
            <a:r>
              <a:rPr lang="en-US" sz="2000" dirty="0">
                <a:latin typeface="Times New Roman" panose="02020603050405020304" pitchFamily="18" charset="0"/>
                <a:cs typeface="Times New Roman" panose="02020603050405020304" pitchFamily="18" charset="0"/>
              </a:rPr>
              <a:t>1. In HF, H has a singly occupied </a:t>
            </a:r>
            <a:r>
              <a:rPr lang="en-US" sz="2000" i="1" dirty="0">
                <a:latin typeface="Times New Roman" panose="02020603050405020304" pitchFamily="18" charset="0"/>
                <a:cs typeface="Times New Roman" panose="02020603050405020304" pitchFamily="18" charset="0"/>
              </a:rPr>
              <a:t>s </a:t>
            </a:r>
            <a:r>
              <a:rPr lang="en-US" sz="2000" dirty="0">
                <a:latin typeface="Times New Roman" panose="02020603050405020304" pitchFamily="18" charset="0"/>
                <a:cs typeface="Times New Roman" panose="02020603050405020304" pitchFamily="18" charset="0"/>
              </a:rPr>
              <a:t>orbital that overlaps with a singly filled </a:t>
            </a:r>
            <a:r>
              <a:rPr lang="en-US" sz="2000" i="1" dirty="0">
                <a:latin typeface="Times New Roman" panose="02020603050405020304" pitchFamily="18" charset="0"/>
                <a:cs typeface="Times New Roman" panose="02020603050405020304" pitchFamily="18" charset="0"/>
              </a:rPr>
              <a:t>2p </a:t>
            </a:r>
            <a:r>
              <a:rPr lang="en-US" sz="2000" dirty="0">
                <a:latin typeface="Times New Roman" panose="02020603050405020304" pitchFamily="18" charset="0"/>
                <a:cs typeface="Times New Roman" panose="02020603050405020304" pitchFamily="18" charset="0"/>
              </a:rPr>
              <a:t>orbital on F. </a:t>
            </a:r>
          </a:p>
          <a:p>
            <a:r>
              <a:rPr lang="en-US" sz="2000" dirty="0">
                <a:latin typeface="Times New Roman" panose="02020603050405020304" pitchFamily="18" charset="0"/>
                <a:cs typeface="Times New Roman" panose="02020603050405020304" pitchFamily="18" charset="0"/>
              </a:rPr>
              <a:t>2. In H</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O, the O atom has two singly filled </a:t>
            </a:r>
            <a:r>
              <a:rPr lang="en-US" sz="2000" i="1" dirty="0">
                <a:latin typeface="Times New Roman" panose="02020603050405020304" pitchFamily="18" charset="0"/>
                <a:cs typeface="Times New Roman" panose="02020603050405020304" pitchFamily="18" charset="0"/>
              </a:rPr>
              <a:t>2p </a:t>
            </a:r>
            <a:r>
              <a:rPr lang="en-US" sz="2000" dirty="0">
                <a:latin typeface="Times New Roman" panose="02020603050405020304" pitchFamily="18" charset="0"/>
                <a:cs typeface="Times New Roman" panose="02020603050405020304" pitchFamily="18" charset="0"/>
              </a:rPr>
              <a:t>orbitals, each of which overlaps with a singly occupied </a:t>
            </a:r>
            <a:r>
              <a:rPr lang="en-US" sz="2000" i="1" dirty="0">
                <a:latin typeface="Times New Roman" panose="02020603050405020304" pitchFamily="18" charset="0"/>
                <a:cs typeface="Times New Roman" panose="02020603050405020304" pitchFamily="18" charset="0"/>
              </a:rPr>
              <a:t>s </a:t>
            </a:r>
            <a:r>
              <a:rPr lang="en-US" sz="2000" dirty="0">
                <a:latin typeface="Times New Roman" panose="02020603050405020304" pitchFamily="18" charset="0"/>
                <a:cs typeface="Times New Roman" panose="02020603050405020304" pitchFamily="18" charset="0"/>
              </a:rPr>
              <a:t>orbital from two H atoms.</a:t>
            </a:r>
          </a:p>
          <a:p>
            <a:r>
              <a:rPr lang="en-US" sz="2000" dirty="0">
                <a:latin typeface="Times New Roman" panose="02020603050405020304" pitchFamily="18" charset="0"/>
                <a:cs typeface="Times New Roman" panose="02020603050405020304" pitchFamily="18" charset="0"/>
              </a:rPr>
              <a:t>3. In NH</a:t>
            </a:r>
            <a:r>
              <a:rPr lang="en-US" sz="2000" baseline="-25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 , there are three singly occupied </a:t>
            </a:r>
            <a:r>
              <a:rPr lang="en-US" sz="2000" i="1" dirty="0">
                <a:latin typeface="Times New Roman" panose="02020603050405020304" pitchFamily="18" charset="0"/>
                <a:cs typeface="Times New Roman" panose="02020603050405020304" pitchFamily="18" charset="0"/>
              </a:rPr>
              <a:t>p </a:t>
            </a:r>
            <a:r>
              <a:rPr lang="en-US" sz="2000" dirty="0">
                <a:latin typeface="Times New Roman" panose="02020603050405020304" pitchFamily="18" charset="0"/>
                <a:cs typeface="Times New Roman" panose="02020603050405020304" pitchFamily="18" charset="0"/>
              </a:rPr>
              <a:t>orbitals on N which overlap with </a:t>
            </a:r>
            <a:r>
              <a:rPr lang="en-US" sz="2000" i="1" dirty="0">
                <a:latin typeface="Times New Roman" panose="02020603050405020304" pitchFamily="18" charset="0"/>
                <a:cs typeface="Times New Roman" panose="02020603050405020304" pitchFamily="18" charset="0"/>
              </a:rPr>
              <a:t>s </a:t>
            </a:r>
            <a:r>
              <a:rPr lang="en-US" sz="2000" dirty="0">
                <a:latin typeface="Times New Roman" panose="02020603050405020304" pitchFamily="18" charset="0"/>
                <a:cs typeface="Times New Roman" panose="02020603050405020304" pitchFamily="18" charset="0"/>
              </a:rPr>
              <a:t>orbitals from three H atoms</a:t>
            </a:r>
          </a:p>
        </p:txBody>
      </p:sp>
      <p:sp>
        <p:nvSpPr>
          <p:cNvPr id="5" name="TextBox 4"/>
          <p:cNvSpPr txBox="1"/>
          <p:nvPr/>
        </p:nvSpPr>
        <p:spPr>
          <a:xfrm>
            <a:off x="685800" y="4800600"/>
            <a:ext cx="7220246" cy="461665"/>
          </a:xfrm>
          <a:prstGeom prst="rect">
            <a:avLst/>
          </a:prstGeom>
          <a:noFill/>
        </p:spPr>
        <p:txBody>
          <a:bodyPr wrap="none" rtlCol="0">
            <a:spAutoFit/>
          </a:bodyPr>
          <a:lstStyle/>
          <a:p>
            <a:r>
              <a:rPr lang="en-US" sz="2400" dirty="0">
                <a:latin typeface="Times New Roman" panose="02020603050405020304" pitchFamily="18" charset="0"/>
                <a:cs typeface="Times New Roman" panose="02020603050405020304" pitchFamily="18" charset="0"/>
              </a:rPr>
              <a:t>Discrepancy in  CH</a:t>
            </a:r>
            <a:r>
              <a:rPr lang="en-US" sz="2400" baseline="-25000" dirty="0">
                <a:latin typeface="Times New Roman" panose="02020603050405020304" pitchFamily="18" charset="0"/>
                <a:cs typeface="Times New Roman" panose="02020603050405020304" pitchFamily="18" charset="0"/>
              </a:rPr>
              <a:t>4</a:t>
            </a:r>
            <a:r>
              <a:rPr lang="en-US" sz="2400" dirty="0">
                <a:latin typeface="Times New Roman" panose="02020603050405020304" pitchFamily="18" charset="0"/>
                <a:cs typeface="Times New Roman" panose="02020603050405020304" pitchFamily="18" charset="0"/>
              </a:rPr>
              <a:t> led to the concept of Hybridization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782" y="381000"/>
            <a:ext cx="8894618" cy="5632311"/>
          </a:xfrm>
          <a:prstGeom prst="rect">
            <a:avLst/>
          </a:prstGeom>
        </p:spPr>
        <p:txBody>
          <a:bodyPr wrap="square">
            <a:spAutoFit/>
          </a:bodyPr>
          <a:lstStyle/>
          <a:p>
            <a:r>
              <a:rPr lang="en-US" sz="2000" b="1" dirty="0">
                <a:latin typeface="Times New Roman" panose="02020603050405020304" pitchFamily="18" charset="0"/>
                <a:cs typeface="Times New Roman" panose="02020603050405020304" pitchFamily="18" charset="0"/>
              </a:rPr>
              <a:t>In 1916, </a:t>
            </a:r>
            <a:r>
              <a:rPr lang="en-US" sz="2000" b="1" dirty="0">
                <a:latin typeface="Times New Roman" panose="02020603050405020304" pitchFamily="18" charset="0"/>
                <a:cs typeface="Times New Roman" panose="02020603050405020304" pitchFamily="18" charset="0"/>
                <a:hlinkClick r:id="rId2" tooltip="Electronic band structure"/>
              </a:rPr>
              <a:t>G. N. Lewis</a:t>
            </a:r>
            <a:r>
              <a:rPr lang="en-US" sz="2000" b="1" dirty="0">
                <a:latin typeface="Times New Roman" panose="02020603050405020304" pitchFamily="18" charset="0"/>
                <a:cs typeface="Times New Roman" panose="02020603050405020304" pitchFamily="18" charset="0"/>
              </a:rPr>
              <a:t> proposed that a chemical bond forms by the interaction of two shared bonding electrons, with the representation of molecules as </a:t>
            </a:r>
            <a:r>
              <a:rPr lang="en-US" sz="2000" b="1" dirty="0">
                <a:latin typeface="Times New Roman" panose="02020603050405020304" pitchFamily="18" charset="0"/>
                <a:cs typeface="Times New Roman" panose="02020603050405020304" pitchFamily="18" charset="0"/>
                <a:hlinkClick r:id="rId3"/>
              </a:rPr>
              <a:t>Lewis structures</a:t>
            </a:r>
            <a:r>
              <a:rPr lang="en-US" sz="2000" b="1" dirty="0">
                <a:latin typeface="Times New Roman" panose="02020603050405020304" pitchFamily="18" charset="0"/>
                <a:cs typeface="Times New Roman" panose="02020603050405020304" pitchFamily="18" charset="0"/>
              </a:rPr>
              <a:t>. In 1927 the </a:t>
            </a:r>
            <a:r>
              <a:rPr lang="en-US" sz="2000" b="1" dirty="0" err="1">
                <a:latin typeface="Times New Roman" panose="02020603050405020304" pitchFamily="18" charset="0"/>
                <a:cs typeface="Times New Roman" panose="02020603050405020304" pitchFamily="18" charset="0"/>
              </a:rPr>
              <a:t>Heitler</a:t>
            </a:r>
            <a:r>
              <a:rPr lang="en-US" sz="2000" b="1" dirty="0">
                <a:latin typeface="Times New Roman" panose="02020603050405020304" pitchFamily="18" charset="0"/>
                <a:cs typeface="Times New Roman" panose="02020603050405020304" pitchFamily="18" charset="0"/>
              </a:rPr>
              <a:t>–London theory was formulated which for the first time enabled the calculation of bonding properties of the </a:t>
            </a:r>
            <a:r>
              <a:rPr lang="en-US" sz="2000" b="1" dirty="0">
                <a:latin typeface="Times New Roman" panose="02020603050405020304" pitchFamily="18" charset="0"/>
                <a:cs typeface="Times New Roman" panose="02020603050405020304" pitchFamily="18" charset="0"/>
                <a:hlinkClick r:id="rId4" tooltip="Hydrogen"/>
              </a:rPr>
              <a:t>hydrogen</a:t>
            </a:r>
            <a:r>
              <a:rPr lang="en-US" sz="2000" b="1" dirty="0">
                <a:latin typeface="Times New Roman" panose="02020603050405020304" pitchFamily="18" charset="0"/>
                <a:cs typeface="Times New Roman" panose="02020603050405020304" pitchFamily="18" charset="0"/>
              </a:rPr>
              <a:t> molecule H</a:t>
            </a:r>
            <a:r>
              <a:rPr lang="en-US" sz="2000" b="1" baseline="-25000" dirty="0">
                <a:latin typeface="Times New Roman" panose="02020603050405020304" pitchFamily="18" charset="0"/>
                <a:cs typeface="Times New Roman" panose="02020603050405020304" pitchFamily="18" charset="0"/>
              </a:rPr>
              <a:t>2</a:t>
            </a:r>
            <a:r>
              <a:rPr lang="en-US" sz="2000" b="1" dirty="0">
                <a:latin typeface="Times New Roman" panose="02020603050405020304" pitchFamily="18" charset="0"/>
                <a:cs typeface="Times New Roman" panose="02020603050405020304" pitchFamily="18" charset="0"/>
              </a:rPr>
              <a:t> based on quantum mechanical considerations. </a:t>
            </a:r>
          </a:p>
          <a:p>
            <a:endParaRPr lang="en-US" sz="2000"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Specifically, </a:t>
            </a:r>
            <a:r>
              <a:rPr lang="en-US" sz="2000" b="1" dirty="0">
                <a:latin typeface="Times New Roman" panose="02020603050405020304" pitchFamily="18" charset="0"/>
                <a:cs typeface="Times New Roman" panose="02020603050405020304" pitchFamily="18" charset="0"/>
                <a:hlinkClick r:id="rId5" tooltip="Walter Heitler"/>
              </a:rPr>
              <a:t>Walter </a:t>
            </a:r>
            <a:r>
              <a:rPr lang="en-US" sz="2000" b="1" dirty="0" err="1">
                <a:latin typeface="Times New Roman" panose="02020603050405020304" pitchFamily="18" charset="0"/>
                <a:cs typeface="Times New Roman" panose="02020603050405020304" pitchFamily="18" charset="0"/>
                <a:hlinkClick r:id="rId5" tooltip="Walter Heitler"/>
              </a:rPr>
              <a:t>Heitler</a:t>
            </a:r>
            <a:r>
              <a:rPr lang="en-US" sz="2000" b="1" dirty="0">
                <a:latin typeface="Times New Roman" panose="02020603050405020304" pitchFamily="18" charset="0"/>
                <a:cs typeface="Times New Roman" panose="02020603050405020304" pitchFamily="18" charset="0"/>
              </a:rPr>
              <a:t> determined how to use </a:t>
            </a:r>
            <a:r>
              <a:rPr lang="en-US" sz="2000" b="1" dirty="0">
                <a:latin typeface="Times New Roman" panose="02020603050405020304" pitchFamily="18" charset="0"/>
                <a:cs typeface="Times New Roman" panose="02020603050405020304" pitchFamily="18" charset="0"/>
                <a:hlinkClick r:id="rId6" tooltip="Schrödinger equation"/>
              </a:rPr>
              <a:t>Schrödinger's wave equation</a:t>
            </a:r>
            <a:r>
              <a:rPr lang="en-US" sz="2000" b="1" dirty="0">
                <a:latin typeface="Times New Roman" panose="02020603050405020304" pitchFamily="18" charset="0"/>
                <a:cs typeface="Times New Roman" panose="02020603050405020304" pitchFamily="18" charset="0"/>
              </a:rPr>
              <a:t> (1926) to show how two hydrogen atom </a:t>
            </a:r>
            <a:r>
              <a:rPr lang="en-US" sz="2000" b="1" dirty="0">
                <a:latin typeface="Times New Roman" panose="02020603050405020304" pitchFamily="18" charset="0"/>
                <a:cs typeface="Times New Roman" panose="02020603050405020304" pitchFamily="18" charset="0"/>
                <a:hlinkClick r:id="rId7" tooltip="Wavefunction"/>
              </a:rPr>
              <a:t>wave functions</a:t>
            </a:r>
            <a:r>
              <a:rPr lang="en-US" sz="2000" b="1" dirty="0">
                <a:latin typeface="Times New Roman" panose="02020603050405020304" pitchFamily="18" charset="0"/>
                <a:cs typeface="Times New Roman" panose="02020603050405020304" pitchFamily="18" charset="0"/>
              </a:rPr>
              <a:t> join together, with plus, minus, and exchange terms, to form a </a:t>
            </a:r>
            <a:r>
              <a:rPr lang="en-US" sz="2000" b="1" dirty="0">
                <a:latin typeface="Times New Roman" panose="02020603050405020304" pitchFamily="18" charset="0"/>
                <a:cs typeface="Times New Roman" panose="02020603050405020304" pitchFamily="18" charset="0"/>
                <a:hlinkClick r:id="rId8" tooltip="Covalent bond"/>
              </a:rPr>
              <a:t>covalent bond</a:t>
            </a:r>
            <a:r>
              <a:rPr lang="en-US" sz="2000" b="1" dirty="0">
                <a:latin typeface="Times New Roman" panose="02020603050405020304" pitchFamily="18" charset="0"/>
                <a:cs typeface="Times New Roman" panose="02020603050405020304" pitchFamily="18" charset="0"/>
              </a:rPr>
              <a:t>. He then called up his associate </a:t>
            </a:r>
            <a:r>
              <a:rPr lang="en-US" sz="2000" b="1" dirty="0">
                <a:latin typeface="Times New Roman" panose="02020603050405020304" pitchFamily="18" charset="0"/>
                <a:cs typeface="Times New Roman" panose="02020603050405020304" pitchFamily="18" charset="0"/>
                <a:hlinkClick r:id="rId9" tooltip="Lewis structure"/>
              </a:rPr>
              <a:t>Fritz London</a:t>
            </a:r>
            <a:r>
              <a:rPr lang="en-US" sz="2000" b="1" dirty="0">
                <a:latin typeface="Times New Roman" panose="02020603050405020304" pitchFamily="18" charset="0"/>
                <a:cs typeface="Times New Roman" panose="02020603050405020304" pitchFamily="18" charset="0"/>
              </a:rPr>
              <a:t> and they worked out the details of the theory over the course of the night.</a:t>
            </a:r>
            <a:r>
              <a:rPr lang="en-US" sz="2000" b="1" baseline="30000" dirty="0">
                <a:latin typeface="Times New Roman" panose="02020603050405020304" pitchFamily="18" charset="0"/>
                <a:cs typeface="Times New Roman" panose="02020603050405020304" pitchFamily="18" charset="0"/>
                <a:hlinkClick r:id="rId10"/>
              </a:rPr>
              <a:t>[2]</a:t>
            </a:r>
            <a:r>
              <a:rPr lang="en-US" sz="2000" b="1" dirty="0">
                <a:latin typeface="Times New Roman" panose="02020603050405020304" pitchFamily="18" charset="0"/>
                <a:cs typeface="Times New Roman" panose="02020603050405020304" pitchFamily="18" charset="0"/>
              </a:rPr>
              <a:t> </a:t>
            </a:r>
          </a:p>
          <a:p>
            <a:endParaRPr lang="en-US" sz="2000"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Later, </a:t>
            </a:r>
            <a:r>
              <a:rPr lang="en-US" sz="2000" b="1" dirty="0">
                <a:latin typeface="Times New Roman" panose="02020603050405020304" pitchFamily="18" charset="0"/>
                <a:cs typeface="Times New Roman" panose="02020603050405020304" pitchFamily="18" charset="0"/>
                <a:hlinkClick r:id="rId11" tooltip="Linus Pauling"/>
              </a:rPr>
              <a:t>Linus Pauling</a:t>
            </a:r>
            <a:r>
              <a:rPr lang="en-US" sz="2000" b="1" dirty="0">
                <a:latin typeface="Times New Roman" panose="02020603050405020304" pitchFamily="18" charset="0"/>
                <a:cs typeface="Times New Roman" panose="02020603050405020304" pitchFamily="18" charset="0"/>
              </a:rPr>
              <a:t> used the pair bonding ideas of Lewis together with </a:t>
            </a:r>
            <a:r>
              <a:rPr lang="en-US" sz="2000" b="1" dirty="0" err="1">
                <a:latin typeface="Times New Roman" panose="02020603050405020304" pitchFamily="18" charset="0"/>
                <a:cs typeface="Times New Roman" panose="02020603050405020304" pitchFamily="18" charset="0"/>
              </a:rPr>
              <a:t>Heitler</a:t>
            </a:r>
            <a:r>
              <a:rPr lang="en-US" sz="2000" b="1" dirty="0">
                <a:latin typeface="Times New Roman" panose="02020603050405020304" pitchFamily="18" charset="0"/>
                <a:cs typeface="Times New Roman" panose="02020603050405020304" pitchFamily="18" charset="0"/>
              </a:rPr>
              <a:t>–London theory to develop two other key concepts in VB theory: </a:t>
            </a:r>
            <a:r>
              <a:rPr lang="en-US" sz="2000" b="1" dirty="0">
                <a:latin typeface="Times New Roman" panose="02020603050405020304" pitchFamily="18" charset="0"/>
                <a:cs typeface="Times New Roman" panose="02020603050405020304" pitchFamily="18" charset="0"/>
                <a:hlinkClick r:id="rId12" tooltip="Resonance (chemistry)"/>
              </a:rPr>
              <a:t>resonance</a:t>
            </a:r>
            <a:r>
              <a:rPr lang="en-US" sz="2000" b="1" dirty="0">
                <a:latin typeface="Times New Roman" panose="02020603050405020304" pitchFamily="18" charset="0"/>
                <a:cs typeface="Times New Roman" panose="02020603050405020304" pitchFamily="18" charset="0"/>
              </a:rPr>
              <a:t> (1928) and </a:t>
            </a:r>
            <a:r>
              <a:rPr lang="en-US" sz="2000" b="1" dirty="0">
                <a:latin typeface="Times New Roman" panose="02020603050405020304" pitchFamily="18" charset="0"/>
                <a:cs typeface="Times New Roman" panose="02020603050405020304" pitchFamily="18" charset="0"/>
                <a:hlinkClick r:id="rId13"/>
              </a:rPr>
              <a:t>orbital hybridization</a:t>
            </a:r>
            <a:r>
              <a:rPr lang="en-US" sz="2000" b="1" dirty="0">
                <a:latin typeface="Times New Roman" panose="02020603050405020304" pitchFamily="18" charset="0"/>
                <a:cs typeface="Times New Roman" panose="02020603050405020304" pitchFamily="18" charset="0"/>
              </a:rPr>
              <a:t> (1930). According to </a:t>
            </a:r>
            <a:r>
              <a:rPr lang="en-US" sz="2000" b="1" dirty="0">
                <a:latin typeface="Times New Roman" panose="02020603050405020304" pitchFamily="18" charset="0"/>
                <a:cs typeface="Times New Roman" panose="02020603050405020304" pitchFamily="18" charset="0"/>
                <a:hlinkClick r:id="rId14" tooltip="Charles Coulson"/>
              </a:rPr>
              <a:t>Charles Coulson</a:t>
            </a:r>
            <a:r>
              <a:rPr lang="en-US" sz="2000" b="1" dirty="0">
                <a:latin typeface="Times New Roman" panose="02020603050405020304" pitchFamily="18" charset="0"/>
                <a:cs typeface="Times New Roman" panose="02020603050405020304" pitchFamily="18" charset="0"/>
              </a:rPr>
              <a:t>, author of the noted 1952 book </a:t>
            </a:r>
            <a:r>
              <a:rPr lang="en-US" sz="2000" b="1" i="1" dirty="0">
                <a:latin typeface="Times New Roman" panose="02020603050405020304" pitchFamily="18" charset="0"/>
                <a:cs typeface="Times New Roman" panose="02020603050405020304" pitchFamily="18" charset="0"/>
              </a:rPr>
              <a:t>Valence</a:t>
            </a:r>
            <a:r>
              <a:rPr lang="en-US" sz="2000" b="1" dirty="0">
                <a:latin typeface="Times New Roman" panose="02020603050405020304" pitchFamily="18" charset="0"/>
                <a:cs typeface="Times New Roman" panose="02020603050405020304" pitchFamily="18" charset="0"/>
              </a:rPr>
              <a:t>, this period marks the start of "modern valence bond theory", as contrasted with older valence bond theories, which are essentially electronic theories of </a:t>
            </a:r>
            <a:r>
              <a:rPr lang="en-US" sz="2000" b="1" dirty="0">
                <a:latin typeface="Times New Roman" panose="02020603050405020304" pitchFamily="18" charset="0"/>
                <a:cs typeface="Times New Roman" panose="02020603050405020304" pitchFamily="18" charset="0"/>
                <a:hlinkClick r:id="rId15" tooltip="Valence (chemistry)"/>
              </a:rPr>
              <a:t>valence</a:t>
            </a:r>
            <a:r>
              <a:rPr lang="en-US" sz="2000" b="1" dirty="0">
                <a:latin typeface="Times New Roman" panose="02020603050405020304" pitchFamily="18" charset="0"/>
                <a:cs typeface="Times New Roman" panose="02020603050405020304" pitchFamily="18" charset="0"/>
              </a:rPr>
              <a:t> couched in pre-wave-mechanical terms.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 y="228600"/>
            <a:ext cx="8763000" cy="1477328"/>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(VB) theory is one of two basic theories, along with molecular orbital (MO) theory, that were developed to use the methods of quantum mechanics to explain chemical bonding. It focuses on how the atomic orbitals of the dissociated atoms combine to give individual chemical bonds when a molecule is formed. In contrast, molecular orbital theory, which will be discussed elsewhere, predict wave functions that cover the entire molecule.</a:t>
            </a:r>
          </a:p>
        </p:txBody>
      </p:sp>
      <p:sp>
        <p:nvSpPr>
          <p:cNvPr id="5" name="Rectangle 1"/>
          <p:cNvSpPr>
            <a:spLocks noChangeArrowheads="1"/>
          </p:cNvSpPr>
          <p:nvPr/>
        </p:nvSpPr>
        <p:spPr bwMode="auto">
          <a:xfrm>
            <a:off x="50800" y="2281536"/>
            <a:ext cx="877035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simplest case to consider is the hydrogen molecule, </a:t>
            </a:r>
            <a:r>
              <a:rPr kumimoji="0" lang="en-US" sz="9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t>
            </a:r>
            <a:r>
              <a:rPr kumimoji="0" lang="en-US" sz="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a:t>
            </a:r>
            <a:r>
              <a:rPr kumimoji="0" 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Wh</a:t>
            </a:r>
            <a:r>
              <a:rPr kumimoji="0" 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 we say that the two hydrogen </a:t>
            </a:r>
          </a:p>
          <a:p>
            <a:pPr marL="0" marR="0" lvl="0" indent="0" algn="l" defTabSz="914400" rtl="0" eaLnBrk="1" fontAlgn="base" latinLnBrk="0" hangingPunct="1">
              <a:lnSpc>
                <a:spcPct val="100000"/>
              </a:lnSpc>
              <a:spcBef>
                <a:spcPct val="0"/>
              </a:spcBef>
              <a:spcAft>
                <a:spcPct val="0"/>
              </a:spcAft>
              <a:buClrTx/>
              <a:buSzTx/>
              <a:buFontTx/>
              <a:buNone/>
            </a:pPr>
            <a:r>
              <a:rPr kumimoji="0" 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nuclei share their electrons to form a covalent bond, what we mean in VB theory terms </a:t>
            </a:r>
          </a:p>
          <a:p>
            <a:pPr marL="0" marR="0" lvl="0" indent="0" algn="l" defTabSz="914400" rtl="0" eaLnBrk="1" fontAlgn="base" latinLnBrk="0" hangingPunct="1">
              <a:lnSpc>
                <a:spcPct val="100000"/>
              </a:lnSpc>
              <a:spcBef>
                <a:spcPct val="0"/>
              </a:spcBef>
              <a:spcAft>
                <a:spcPct val="0"/>
              </a:spcAft>
              <a:buClrTx/>
              <a:buSzTx/>
              <a:buFontTx/>
              <a:buNone/>
            </a:pPr>
            <a:r>
              <a:rPr kumimoji="0" 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is that the two spherical 1</a:t>
            </a:r>
            <a:r>
              <a:rPr kumimoji="0" 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t>
            </a:r>
            <a:r>
              <a:rPr kumimoji="0" 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orbitals (the grey spheres in Figure </a:t>
            </a:r>
            <a:r>
              <a:rPr kumimoji="0" lang="en-US" sz="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12.2.1</a:t>
            </a:r>
            <a:r>
              <a:rPr kumimoji="0" 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overlap and contain two electrons.</a:t>
            </a:r>
            <a:r>
              <a:rPr kumimoji="0" 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
        <p:nvSpPr>
          <p:cNvPr id="8" name="TextBox 7"/>
          <p:cNvSpPr txBox="1"/>
          <p:nvPr/>
        </p:nvSpPr>
        <p:spPr>
          <a:xfrm>
            <a:off x="50800" y="4442154"/>
            <a:ext cx="9947851" cy="1477328"/>
          </a:xfrm>
          <a:prstGeom prst="rect">
            <a:avLst/>
          </a:prstGeom>
          <a:noFill/>
        </p:spPr>
        <p:txBody>
          <a:bodyPr wrap="none" rtlCol="0">
            <a:spAutoFit/>
          </a:bodyPr>
          <a:lstStyle/>
          <a:p>
            <a:r>
              <a:rPr lang="en-US" dirty="0"/>
              <a:t>Source: </a:t>
            </a:r>
            <a:r>
              <a:rPr lang="en-US" dirty="0">
                <a:hlinkClick r:id="rId2"/>
              </a:rPr>
              <a:t>https://chem.libretexts.org/Bookshelves/Physical_and_Theoretical_Chemistry_Textbook_Maps/</a:t>
            </a:r>
            <a:endParaRPr lang="en-US" dirty="0"/>
          </a:p>
          <a:p>
            <a:r>
              <a:rPr lang="en-US" dirty="0"/>
              <a:t>Map%3A_Physical_Chemistry_for_the_Biosciences_(Chang)/12%3A_The_Chemical_Bond/</a:t>
            </a:r>
          </a:p>
          <a:p>
            <a:r>
              <a:rPr lang="en-US" dirty="0"/>
              <a:t>12.2%3A_Valence_Bond_Theory</a:t>
            </a:r>
          </a:p>
          <a:p>
            <a:endParaRPr lang="en-US" dirty="0"/>
          </a:p>
          <a:p>
            <a:r>
              <a:rPr lang="en-US" dirty="0"/>
              <a:t>2. Inorganic Chemistry, James E. </a:t>
            </a:r>
            <a:r>
              <a:rPr lang="en-US" dirty="0" err="1"/>
              <a:t>Huheey</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biLevel thresh="50000"/>
            <a:extLst>
              <a:ext uri="{28A0092B-C50C-407E-A947-70E740481C1C}">
                <a14:useLocalDpi xmlns:a14="http://schemas.microsoft.com/office/drawing/2010/main" val="0"/>
              </a:ext>
            </a:extLst>
          </a:blip>
          <a:srcRect/>
          <a:stretch>
            <a:fillRect/>
          </a:stretch>
        </p:blipFill>
        <p:spPr bwMode="auto">
          <a:xfrm>
            <a:off x="-76200" y="609600"/>
            <a:ext cx="9119616"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biLevel thresh="50000"/>
            <a:extLst>
              <a:ext uri="{28A0092B-C50C-407E-A947-70E740481C1C}">
                <a14:useLocalDpi xmlns:a14="http://schemas.microsoft.com/office/drawing/2010/main" val="0"/>
              </a:ext>
            </a:extLst>
          </a:blip>
          <a:srcRect/>
          <a:stretch>
            <a:fillRect/>
          </a:stretch>
        </p:blipFill>
        <p:spPr bwMode="auto">
          <a:xfrm>
            <a:off x="559594" y="7"/>
            <a:ext cx="8051006" cy="678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biLevel thresh="50000"/>
            <a:extLst>
              <a:ext uri="{28A0092B-C50C-407E-A947-70E740481C1C}">
                <a14:useLocalDpi xmlns:a14="http://schemas.microsoft.com/office/drawing/2010/main" val="0"/>
              </a:ext>
            </a:extLst>
          </a:blip>
          <a:srcRect/>
          <a:stretch>
            <a:fillRect/>
          </a:stretch>
        </p:blipFill>
        <p:spPr bwMode="auto">
          <a:xfrm>
            <a:off x="78581" y="349091"/>
            <a:ext cx="9065419" cy="56707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1981200" y="2514600"/>
            <a:ext cx="801823" cy="369332"/>
          </a:xfrm>
          <a:prstGeom prst="rect">
            <a:avLst/>
          </a:prstGeom>
          <a:noFill/>
        </p:spPr>
        <p:txBody>
          <a:bodyPr wrap="none" rtlCol="0">
            <a:spAutoFit/>
          </a:bodyPr>
          <a:lstStyle/>
          <a:p>
            <a:r>
              <a:rPr lang="en-US" dirty="0"/>
              <a:t>simple</a:t>
            </a:r>
          </a:p>
        </p:txBody>
      </p:sp>
      <p:sp>
        <p:nvSpPr>
          <p:cNvPr id="5" name="TextBox 4"/>
          <p:cNvSpPr txBox="1"/>
          <p:nvPr/>
        </p:nvSpPr>
        <p:spPr>
          <a:xfrm>
            <a:off x="1757165" y="3066595"/>
            <a:ext cx="1940596" cy="369332"/>
          </a:xfrm>
          <a:prstGeom prst="rect">
            <a:avLst/>
          </a:prstGeom>
          <a:noFill/>
        </p:spPr>
        <p:txBody>
          <a:bodyPr wrap="none" rtlCol="0">
            <a:spAutoFit/>
          </a:bodyPr>
          <a:lstStyle/>
          <a:p>
            <a:r>
              <a:rPr lang="en-US" dirty="0" err="1"/>
              <a:t>indistinguishability</a:t>
            </a:r>
            <a:endParaRPr lang="en-US" dirty="0"/>
          </a:p>
        </p:txBody>
      </p:sp>
      <p:sp>
        <p:nvSpPr>
          <p:cNvPr id="6" name="TextBox 5"/>
          <p:cNvSpPr txBox="1"/>
          <p:nvPr/>
        </p:nvSpPr>
        <p:spPr>
          <a:xfrm>
            <a:off x="958163" y="3352800"/>
            <a:ext cx="740908" cy="461665"/>
          </a:xfrm>
          <a:prstGeom prst="rect">
            <a:avLst/>
          </a:prstGeom>
          <a:noFill/>
        </p:spPr>
        <p:txBody>
          <a:bodyPr wrap="none" rtlCol="0">
            <a:spAutoFit/>
          </a:bodyPr>
          <a:lstStyle/>
          <a:p>
            <a:r>
              <a:rPr lang="en-US" sz="1200" dirty="0"/>
              <a:t>Electron </a:t>
            </a:r>
          </a:p>
          <a:p>
            <a:r>
              <a:rPr lang="en-US" sz="1200" dirty="0"/>
              <a:t>shielding</a:t>
            </a:r>
          </a:p>
        </p:txBody>
      </p:sp>
      <p:sp>
        <p:nvSpPr>
          <p:cNvPr id="7" name="TextBox 6"/>
          <p:cNvSpPr txBox="1"/>
          <p:nvPr/>
        </p:nvSpPr>
        <p:spPr>
          <a:xfrm>
            <a:off x="2590800" y="4191000"/>
            <a:ext cx="2617191" cy="369332"/>
          </a:xfrm>
          <a:prstGeom prst="rect">
            <a:avLst/>
          </a:prstGeom>
          <a:noFill/>
        </p:spPr>
        <p:txBody>
          <a:bodyPr wrap="none" rtlCol="0">
            <a:spAutoFit/>
          </a:bodyPr>
          <a:lstStyle/>
          <a:p>
            <a:r>
              <a:rPr lang="en-US" dirty="0"/>
              <a:t>Covalent –ionic  character</a:t>
            </a:r>
          </a:p>
        </p:txBody>
      </p:sp>
      <p:sp>
        <p:nvSpPr>
          <p:cNvPr id="8" name="TextBox 7"/>
          <p:cNvSpPr txBox="1"/>
          <p:nvPr/>
        </p:nvSpPr>
        <p:spPr>
          <a:xfrm>
            <a:off x="3057659" y="1588716"/>
            <a:ext cx="2150332" cy="369332"/>
          </a:xfrm>
          <a:prstGeom prst="rect">
            <a:avLst/>
          </a:prstGeom>
          <a:noFill/>
        </p:spPr>
        <p:txBody>
          <a:bodyPr wrap="none" rtlCol="0">
            <a:spAutoFit/>
          </a:bodyPr>
          <a:lstStyle/>
          <a:p>
            <a:r>
              <a:rPr lang="en-US" dirty="0"/>
              <a:t>Repulsive interaction</a:t>
            </a:r>
          </a:p>
        </p:txBody>
      </p:sp>
      <p:sp>
        <p:nvSpPr>
          <p:cNvPr id="9" name="TextBox 8"/>
          <p:cNvSpPr txBox="1"/>
          <p:nvPr/>
        </p:nvSpPr>
        <p:spPr>
          <a:xfrm>
            <a:off x="2503701" y="4768334"/>
            <a:ext cx="1423403" cy="369332"/>
          </a:xfrm>
          <a:prstGeom prst="rect">
            <a:avLst/>
          </a:prstGeom>
          <a:noFill/>
        </p:spPr>
        <p:txBody>
          <a:bodyPr wrap="none" rtlCol="0">
            <a:spAutoFit/>
          </a:bodyPr>
          <a:lstStyle/>
          <a:p>
            <a:r>
              <a:rPr lang="en-US" dirty="0"/>
              <a:t>experimental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biLevel thresh="50000"/>
            <a:extLst>
              <a:ext uri="{28A0092B-C50C-407E-A947-70E740481C1C}">
                <a14:useLocalDpi xmlns:a14="http://schemas.microsoft.com/office/drawing/2010/main" val="0"/>
              </a:ext>
            </a:extLst>
          </a:blip>
          <a:srcRect/>
          <a:stretch>
            <a:fillRect/>
          </a:stretch>
        </p:blipFill>
        <p:spPr bwMode="auto">
          <a:xfrm>
            <a:off x="6" y="1428759"/>
            <a:ext cx="9052084" cy="33204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biLevel thresh="50000"/>
            <a:extLst>
              <a:ext uri="{28A0092B-C50C-407E-A947-70E740481C1C}">
                <a14:useLocalDpi xmlns:a14="http://schemas.microsoft.com/office/drawing/2010/main" val="0"/>
              </a:ext>
            </a:extLst>
          </a:blip>
          <a:srcRect/>
          <a:stretch>
            <a:fillRect/>
          </a:stretch>
        </p:blipFill>
        <p:spPr bwMode="auto">
          <a:xfrm>
            <a:off x="670655" y="0"/>
            <a:ext cx="7635145" cy="68168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biLevel thresh="50000"/>
            <a:extLst>
              <a:ext uri="{28A0092B-C50C-407E-A947-70E740481C1C}">
                <a14:useLocalDpi xmlns:a14="http://schemas.microsoft.com/office/drawing/2010/main" val="0"/>
              </a:ext>
            </a:extLst>
          </a:blip>
          <a:srcRect/>
          <a:stretch>
            <a:fillRect/>
          </a:stretch>
        </p:blipFill>
        <p:spPr bwMode="auto">
          <a:xfrm>
            <a:off x="5" y="1152530"/>
            <a:ext cx="8995982" cy="36878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biLevel thresh="50000"/>
            <a:extLst>
              <a:ext uri="{28A0092B-C50C-407E-A947-70E740481C1C}">
                <a14:useLocalDpi xmlns:a14="http://schemas.microsoft.com/office/drawing/2010/main" val="0"/>
              </a:ext>
            </a:extLst>
          </a:blip>
          <a:srcRect/>
          <a:stretch>
            <a:fillRect/>
          </a:stretch>
        </p:blipFill>
        <p:spPr bwMode="auto">
          <a:xfrm>
            <a:off x="76200" y="376237"/>
            <a:ext cx="8964549" cy="4576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biLevel thresh="50000"/>
            <a:extLst>
              <a:ext uri="{28A0092B-C50C-407E-A947-70E740481C1C}">
                <a14:useLocalDpi xmlns:a14="http://schemas.microsoft.com/office/drawing/2010/main" val="0"/>
              </a:ext>
            </a:extLst>
          </a:blip>
          <a:srcRect/>
          <a:stretch>
            <a:fillRect/>
          </a:stretch>
        </p:blipFill>
        <p:spPr bwMode="auto">
          <a:xfrm>
            <a:off x="152400" y="191452"/>
            <a:ext cx="8958644" cy="6209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biLevel thresh="50000"/>
            <a:extLst>
              <a:ext uri="{28A0092B-C50C-407E-A947-70E740481C1C}">
                <a14:useLocalDpi xmlns:a14="http://schemas.microsoft.com/office/drawing/2010/main" val="0"/>
              </a:ext>
            </a:extLst>
          </a:blip>
          <a:srcRect/>
          <a:stretch>
            <a:fillRect/>
          </a:stretch>
        </p:blipFill>
        <p:spPr bwMode="auto">
          <a:xfrm>
            <a:off x="0" y="128589"/>
            <a:ext cx="9067553" cy="3224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biLevel thresh="50000"/>
            <a:extLst>
              <a:ext uri="{28A0092B-C50C-407E-A947-70E740481C1C}">
                <a14:useLocalDpi xmlns:a14="http://schemas.microsoft.com/office/drawing/2010/main" val="0"/>
              </a:ext>
            </a:extLst>
          </a:blip>
          <a:srcRect/>
          <a:stretch>
            <a:fillRect/>
          </a:stretch>
        </p:blipFill>
        <p:spPr bwMode="auto">
          <a:xfrm>
            <a:off x="685800" y="3038866"/>
            <a:ext cx="7695953" cy="3740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biLevel thresh="50000"/>
            <a:extLst>
              <a:ext uri="{28A0092B-C50C-407E-A947-70E740481C1C}">
                <a14:useLocalDpi xmlns:a14="http://schemas.microsoft.com/office/drawing/2010/main" val="0"/>
              </a:ext>
            </a:extLst>
          </a:blip>
          <a:srcRect/>
          <a:stretch>
            <a:fillRect/>
          </a:stretch>
        </p:blipFill>
        <p:spPr bwMode="auto">
          <a:xfrm>
            <a:off x="2" y="0"/>
            <a:ext cx="8862060" cy="6766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biLevel thresh="50000"/>
            <a:extLst>
              <a:ext uri="{28A0092B-C50C-407E-A947-70E740481C1C}">
                <a14:useLocalDpi xmlns:a14="http://schemas.microsoft.com/office/drawing/2010/main" val="0"/>
              </a:ext>
            </a:extLst>
          </a:blip>
          <a:srcRect/>
          <a:stretch>
            <a:fillRect/>
          </a:stretch>
        </p:blipFill>
        <p:spPr bwMode="auto">
          <a:xfrm>
            <a:off x="-1" y="1643063"/>
            <a:ext cx="9161067" cy="3157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685800" y="990600"/>
            <a:ext cx="1066318" cy="369332"/>
          </a:xfrm>
          <a:prstGeom prst="rect">
            <a:avLst/>
          </a:prstGeom>
          <a:noFill/>
        </p:spPr>
        <p:txBody>
          <a:bodyPr wrap="none" rtlCol="0">
            <a:spAutoFit/>
          </a:bodyPr>
          <a:lstStyle/>
          <a:p>
            <a:r>
              <a:rPr lang="en-US" dirty="0"/>
              <a:t>Rule no 1</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63604"/>
            <a:ext cx="1066318" cy="369332"/>
          </a:xfrm>
          <a:prstGeom prst="rect">
            <a:avLst/>
          </a:prstGeom>
          <a:noFill/>
        </p:spPr>
        <p:txBody>
          <a:bodyPr wrap="none" rtlCol="0">
            <a:spAutoFit/>
          </a:bodyPr>
          <a:lstStyle/>
          <a:p>
            <a:r>
              <a:rPr lang="en-US" dirty="0"/>
              <a:t>Rule no 2</a:t>
            </a:r>
          </a:p>
        </p:txBody>
      </p:sp>
      <p:pic>
        <p:nvPicPr>
          <p:cNvPr id="5122" name="Picture 2"/>
          <p:cNvPicPr>
            <a:picLocks noChangeAspect="1" noChangeArrowheads="1"/>
          </p:cNvPicPr>
          <p:nvPr/>
        </p:nvPicPr>
        <p:blipFill>
          <a:blip r:embed="rId2">
            <a:biLevel thresh="50000"/>
            <a:extLst>
              <a:ext uri="{28A0092B-C50C-407E-A947-70E740481C1C}">
                <a14:useLocalDpi xmlns:a14="http://schemas.microsoft.com/office/drawing/2010/main" val="0"/>
              </a:ext>
            </a:extLst>
          </a:blip>
          <a:srcRect/>
          <a:stretch>
            <a:fillRect/>
          </a:stretch>
        </p:blipFill>
        <p:spPr bwMode="auto">
          <a:xfrm>
            <a:off x="1684868" y="133732"/>
            <a:ext cx="7306732" cy="64963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3753" y="10"/>
            <a:ext cx="6774847" cy="67088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p:cNvPicPr>
            <a:picLocks noChangeAspect="1" noChangeArrowheads="1"/>
          </p:cNvPicPr>
          <p:nvPr/>
        </p:nvPicPr>
        <p:blipFill>
          <a:blip r:embed="rId2">
            <a:biLevel thresh="50000"/>
            <a:extLst>
              <a:ext uri="{28A0092B-C50C-407E-A947-70E740481C1C}">
                <a14:useLocalDpi xmlns:a14="http://schemas.microsoft.com/office/drawing/2010/main" val="0"/>
              </a:ext>
            </a:extLst>
          </a:blip>
          <a:srcRect/>
          <a:stretch>
            <a:fillRect/>
          </a:stretch>
        </p:blipFill>
        <p:spPr bwMode="auto">
          <a:xfrm>
            <a:off x="1073753" y="-14504"/>
            <a:ext cx="6774847" cy="67088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biLevel thresh="50000"/>
            <a:extLst>
              <a:ext uri="{28A0092B-C50C-407E-A947-70E740481C1C}">
                <a14:useLocalDpi xmlns:a14="http://schemas.microsoft.com/office/drawing/2010/main" val="0"/>
              </a:ext>
            </a:extLst>
          </a:blip>
          <a:srcRect/>
          <a:stretch>
            <a:fillRect/>
          </a:stretch>
        </p:blipFill>
        <p:spPr bwMode="auto">
          <a:xfrm>
            <a:off x="166878" y="-14508"/>
            <a:ext cx="8977122" cy="63287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biLevel thresh="50000"/>
            <a:extLst>
              <a:ext uri="{28A0092B-C50C-407E-A947-70E740481C1C}">
                <a14:useLocalDpi xmlns:a14="http://schemas.microsoft.com/office/drawing/2010/main" val="0"/>
              </a:ext>
            </a:extLst>
          </a:blip>
          <a:srcRect/>
          <a:stretch>
            <a:fillRect/>
          </a:stretch>
        </p:blipFill>
        <p:spPr bwMode="auto">
          <a:xfrm>
            <a:off x="152401" y="48273"/>
            <a:ext cx="8839199" cy="62001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biLevel thresh="50000"/>
            <a:extLst>
              <a:ext uri="{28A0092B-C50C-407E-A947-70E740481C1C}">
                <a14:useLocalDpi xmlns:a14="http://schemas.microsoft.com/office/drawing/2010/main" val="0"/>
              </a:ext>
            </a:extLst>
          </a:blip>
          <a:srcRect/>
          <a:stretch>
            <a:fillRect/>
          </a:stretch>
        </p:blipFill>
        <p:spPr bwMode="auto">
          <a:xfrm>
            <a:off x="1" y="2643188"/>
            <a:ext cx="9296400" cy="1356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biLevel thresh="50000"/>
            <a:extLst>
              <a:ext uri="{28A0092B-C50C-407E-A947-70E740481C1C}">
                <a14:useLocalDpi xmlns:a14="http://schemas.microsoft.com/office/drawing/2010/main" val="0"/>
              </a:ext>
            </a:extLst>
          </a:blip>
          <a:srcRect/>
          <a:stretch>
            <a:fillRect/>
          </a:stretch>
        </p:blipFill>
        <p:spPr bwMode="auto">
          <a:xfrm>
            <a:off x="0" y="1638300"/>
            <a:ext cx="9206826" cy="2247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biLevel thresh="50000"/>
            <a:extLst>
              <a:ext uri="{28A0092B-C50C-407E-A947-70E740481C1C}">
                <a14:useLocalDpi xmlns:a14="http://schemas.microsoft.com/office/drawing/2010/main" val="0"/>
              </a:ext>
            </a:extLst>
          </a:blip>
          <a:srcRect/>
          <a:stretch>
            <a:fillRect/>
          </a:stretch>
        </p:blipFill>
        <p:spPr bwMode="auto">
          <a:xfrm>
            <a:off x="1" y="452439"/>
            <a:ext cx="9146078" cy="4957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biLevel thresh="50000"/>
            <a:extLst>
              <a:ext uri="{28A0092B-C50C-407E-A947-70E740481C1C}">
                <a14:useLocalDpi xmlns:a14="http://schemas.microsoft.com/office/drawing/2010/main" val="0"/>
              </a:ext>
            </a:extLst>
          </a:blip>
          <a:srcRect/>
          <a:stretch>
            <a:fillRect/>
          </a:stretch>
        </p:blipFill>
        <p:spPr bwMode="auto">
          <a:xfrm>
            <a:off x="1" y="762000"/>
            <a:ext cx="9170670" cy="441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biLevel thresh="50000"/>
            <a:extLst>
              <a:ext uri="{28A0092B-C50C-407E-A947-70E740481C1C}">
                <a14:useLocalDpi xmlns:a14="http://schemas.microsoft.com/office/drawing/2010/main" val="0"/>
              </a:ext>
            </a:extLst>
          </a:blip>
          <a:srcRect/>
          <a:stretch>
            <a:fillRect/>
          </a:stretch>
        </p:blipFill>
        <p:spPr bwMode="auto">
          <a:xfrm>
            <a:off x="-148856" y="457200"/>
            <a:ext cx="9540237" cy="1490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biLevel thresh="50000"/>
            <a:extLst>
              <a:ext uri="{28A0092B-C50C-407E-A947-70E740481C1C}">
                <a14:useLocalDpi xmlns:a14="http://schemas.microsoft.com/office/drawing/2010/main" val="0"/>
              </a:ext>
            </a:extLst>
          </a:blip>
          <a:srcRect/>
          <a:stretch>
            <a:fillRect/>
          </a:stretch>
        </p:blipFill>
        <p:spPr bwMode="auto">
          <a:xfrm>
            <a:off x="990600" y="2034363"/>
            <a:ext cx="7040880" cy="46205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biLevel thresh="50000"/>
            <a:extLst>
              <a:ext uri="{28A0092B-C50C-407E-A947-70E740481C1C}">
                <a14:useLocalDpi xmlns:a14="http://schemas.microsoft.com/office/drawing/2010/main" val="0"/>
              </a:ext>
            </a:extLst>
          </a:blip>
          <a:srcRect/>
          <a:stretch>
            <a:fillRect/>
          </a:stretch>
        </p:blipFill>
        <p:spPr bwMode="auto">
          <a:xfrm>
            <a:off x="0" y="319090"/>
            <a:ext cx="9060180" cy="5100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biLevel thresh="50000"/>
            <a:extLst>
              <a:ext uri="{28A0092B-C50C-407E-A947-70E740481C1C}">
                <a14:useLocalDpi xmlns:a14="http://schemas.microsoft.com/office/drawing/2010/main" val="0"/>
              </a:ext>
            </a:extLst>
          </a:blip>
          <a:srcRect/>
          <a:stretch>
            <a:fillRect/>
          </a:stretch>
        </p:blipFill>
        <p:spPr bwMode="auto">
          <a:xfrm>
            <a:off x="0" y="700089"/>
            <a:ext cx="9082278" cy="4748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biLevel thresh="50000"/>
            <a:extLst>
              <a:ext uri="{28A0092B-C50C-407E-A947-70E740481C1C}">
                <a14:useLocalDpi xmlns:a14="http://schemas.microsoft.com/office/drawing/2010/main" val="0"/>
              </a:ext>
            </a:extLst>
          </a:blip>
          <a:srcRect/>
          <a:stretch>
            <a:fillRect/>
          </a:stretch>
        </p:blipFill>
        <p:spPr bwMode="auto">
          <a:xfrm>
            <a:off x="2" y="609600"/>
            <a:ext cx="9193149" cy="58807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biLevel thresh="50000"/>
            <a:extLst>
              <a:ext uri="{28A0092B-C50C-407E-A947-70E740481C1C}">
                <a14:useLocalDpi xmlns:a14="http://schemas.microsoft.com/office/drawing/2010/main" val="0"/>
              </a:ext>
            </a:extLst>
          </a:blip>
          <a:srcRect/>
          <a:stretch>
            <a:fillRect/>
          </a:stretch>
        </p:blipFill>
        <p:spPr bwMode="auto">
          <a:xfrm>
            <a:off x="-53816" y="381000"/>
            <a:ext cx="9197816" cy="84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3">
            <a:biLevel thresh="50000"/>
            <a:extLst>
              <a:ext uri="{28A0092B-C50C-407E-A947-70E740481C1C}">
                <a14:useLocalDpi xmlns:a14="http://schemas.microsoft.com/office/drawing/2010/main" val="0"/>
              </a:ext>
            </a:extLst>
          </a:blip>
          <a:srcRect/>
          <a:stretch>
            <a:fillRect/>
          </a:stretch>
        </p:blipFill>
        <p:spPr bwMode="auto">
          <a:xfrm>
            <a:off x="169569" y="1371600"/>
            <a:ext cx="8760143" cy="1764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2" name="Picture 4"/>
          <p:cNvPicPr>
            <a:picLocks noChangeAspect="1" noChangeArrowheads="1"/>
          </p:cNvPicPr>
          <p:nvPr/>
        </p:nvPicPr>
        <p:blipFill>
          <a:blip r:embed="rId4">
            <a:biLevel thresh="50000"/>
            <a:extLst>
              <a:ext uri="{28A0092B-C50C-407E-A947-70E740481C1C}">
                <a14:useLocalDpi xmlns:a14="http://schemas.microsoft.com/office/drawing/2010/main" val="0"/>
              </a:ext>
            </a:extLst>
          </a:blip>
          <a:srcRect/>
          <a:stretch>
            <a:fillRect/>
          </a:stretch>
        </p:blipFill>
        <p:spPr bwMode="auto">
          <a:xfrm>
            <a:off x="165020" y="3511234"/>
            <a:ext cx="8902780" cy="31778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biLevel thresh="50000"/>
            <a:extLst>
              <a:ext uri="{28A0092B-C50C-407E-A947-70E740481C1C}">
                <a14:useLocalDpi xmlns:a14="http://schemas.microsoft.com/office/drawing/2010/main" val="0"/>
              </a:ext>
            </a:extLst>
          </a:blip>
          <a:srcRect/>
          <a:stretch>
            <a:fillRect/>
          </a:stretch>
        </p:blipFill>
        <p:spPr bwMode="auto">
          <a:xfrm>
            <a:off x="2" y="1419230"/>
            <a:ext cx="9131141" cy="3336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biLevel thresh="50000"/>
            <a:extLst>
              <a:ext uri="{28A0092B-C50C-407E-A947-70E740481C1C}">
                <a14:useLocalDpi xmlns:a14="http://schemas.microsoft.com/office/drawing/2010/main" val="0"/>
              </a:ext>
            </a:extLst>
          </a:blip>
          <a:srcRect/>
          <a:stretch>
            <a:fillRect/>
          </a:stretch>
        </p:blipFill>
        <p:spPr bwMode="auto">
          <a:xfrm>
            <a:off x="10" y="1123970"/>
            <a:ext cx="9075611" cy="28121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biLevel thresh="50000"/>
            <a:extLst>
              <a:ext uri="{28A0092B-C50C-407E-A947-70E740481C1C}">
                <a14:useLocalDpi xmlns:a14="http://schemas.microsoft.com/office/drawing/2010/main" val="0"/>
              </a:ext>
            </a:extLst>
          </a:blip>
          <a:srcRect/>
          <a:stretch>
            <a:fillRect/>
          </a:stretch>
        </p:blipFill>
        <p:spPr bwMode="auto">
          <a:xfrm>
            <a:off x="4" y="152400"/>
            <a:ext cx="9151144" cy="1932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biLevel thresh="50000"/>
            <a:extLst>
              <a:ext uri="{28A0092B-C50C-407E-A947-70E740481C1C}">
                <a14:useLocalDpi xmlns:a14="http://schemas.microsoft.com/office/drawing/2010/main" val="0"/>
              </a:ext>
            </a:extLst>
          </a:blip>
          <a:srcRect/>
          <a:stretch>
            <a:fillRect/>
          </a:stretch>
        </p:blipFill>
        <p:spPr bwMode="auto">
          <a:xfrm>
            <a:off x="-124674" y="2376714"/>
            <a:ext cx="9226763" cy="1519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biLevel thresh="50000"/>
            <a:extLst>
              <a:ext uri="{28A0092B-C50C-407E-A947-70E740481C1C}">
                <a14:useLocalDpi xmlns:a14="http://schemas.microsoft.com/office/drawing/2010/main" val="0"/>
              </a:ext>
            </a:extLst>
          </a:blip>
          <a:srcRect/>
          <a:stretch>
            <a:fillRect/>
          </a:stretch>
        </p:blipFill>
        <p:spPr bwMode="auto">
          <a:xfrm>
            <a:off x="228600" y="4114799"/>
            <a:ext cx="8579692" cy="2645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Bonding and anti-bonding orbitals in the light of time-dependent  Schrödinger equation? - Chemistry Stack Exchan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610422"/>
            <a:ext cx="3657600" cy="624757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biLevel thresh="50000"/>
            <a:extLst>
              <a:ext uri="{28A0092B-C50C-407E-A947-70E740481C1C}">
                <a14:useLocalDpi xmlns:a14="http://schemas.microsoft.com/office/drawing/2010/main" val="0"/>
              </a:ext>
            </a:extLst>
          </a:blip>
          <a:srcRect/>
          <a:stretch>
            <a:fillRect/>
          </a:stretch>
        </p:blipFill>
        <p:spPr bwMode="auto">
          <a:xfrm>
            <a:off x="0" y="95250"/>
            <a:ext cx="8762365" cy="666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anti-bonding orbital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Hybrid orbital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304801"/>
            <a:ext cx="5562600" cy="5253567"/>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Hybrid orbital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5200" y="304800"/>
            <a:ext cx="5562600" cy="525356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49875"/>
            <a:ext cx="5257800" cy="6142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biLevel thresh="50000"/>
            <a:extLst>
              <a:ext uri="{28A0092B-C50C-407E-A947-70E740481C1C}">
                <a14:useLocalDpi xmlns:a14="http://schemas.microsoft.com/office/drawing/2010/main" val="0"/>
              </a:ext>
            </a:extLst>
          </a:blip>
          <a:srcRect/>
          <a:stretch>
            <a:fillRect/>
          </a:stretch>
        </p:blipFill>
        <p:spPr bwMode="auto">
          <a:xfrm>
            <a:off x="106671" y="304800"/>
            <a:ext cx="9037329" cy="3257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biLevel thresh="50000"/>
            <a:extLst>
              <a:ext uri="{28A0092B-C50C-407E-A947-70E740481C1C}">
                <a14:useLocalDpi xmlns:a14="http://schemas.microsoft.com/office/drawing/2010/main" val="0"/>
              </a:ext>
            </a:extLst>
          </a:blip>
          <a:srcRect/>
          <a:stretch>
            <a:fillRect/>
          </a:stretch>
        </p:blipFill>
        <p:spPr bwMode="auto">
          <a:xfrm>
            <a:off x="76200" y="4035141"/>
            <a:ext cx="9144000" cy="13179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biLevel thresh="50000"/>
            <a:extLst>
              <a:ext uri="{28A0092B-C50C-407E-A947-70E740481C1C}">
                <a14:useLocalDpi xmlns:a14="http://schemas.microsoft.com/office/drawing/2010/main" val="0"/>
              </a:ext>
            </a:extLst>
          </a:blip>
          <a:srcRect/>
          <a:stretch>
            <a:fillRect/>
          </a:stretch>
        </p:blipFill>
        <p:spPr bwMode="auto">
          <a:xfrm>
            <a:off x="-76199" y="304800"/>
            <a:ext cx="9220199" cy="2692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biLevel thresh="50000"/>
            <a:extLst>
              <a:ext uri="{28A0092B-C50C-407E-A947-70E740481C1C}">
                <a14:useLocalDpi xmlns:a14="http://schemas.microsoft.com/office/drawing/2010/main" val="0"/>
              </a:ext>
            </a:extLst>
          </a:blip>
          <a:srcRect/>
          <a:stretch>
            <a:fillRect/>
          </a:stretch>
        </p:blipFill>
        <p:spPr bwMode="auto">
          <a:xfrm>
            <a:off x="914400" y="10803"/>
            <a:ext cx="6215444" cy="6839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biLevel thresh="50000"/>
            <a:extLst>
              <a:ext uri="{28A0092B-C50C-407E-A947-70E740481C1C}">
                <a14:useLocalDpi xmlns:a14="http://schemas.microsoft.com/office/drawing/2010/main" val="0"/>
              </a:ext>
            </a:extLst>
          </a:blip>
          <a:srcRect/>
          <a:stretch>
            <a:fillRect/>
          </a:stretch>
        </p:blipFill>
        <p:spPr bwMode="auto">
          <a:xfrm>
            <a:off x="-33670" y="914400"/>
            <a:ext cx="9456643" cy="1418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0" name="Picture 2"/>
          <p:cNvPicPr>
            <a:picLocks noChangeAspect="1" noChangeArrowheads="1"/>
          </p:cNvPicPr>
          <p:nvPr/>
        </p:nvPicPr>
        <p:blipFill>
          <a:blip r:embed="rId3">
            <a:biLevel thresh="50000"/>
            <a:extLst>
              <a:ext uri="{28A0092B-C50C-407E-A947-70E740481C1C}">
                <a14:useLocalDpi xmlns:a14="http://schemas.microsoft.com/office/drawing/2010/main" val="0"/>
              </a:ext>
            </a:extLst>
          </a:blip>
          <a:srcRect/>
          <a:stretch>
            <a:fillRect/>
          </a:stretch>
        </p:blipFill>
        <p:spPr bwMode="auto">
          <a:xfrm>
            <a:off x="80586" y="3124200"/>
            <a:ext cx="9081135" cy="1888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biLevel thresh="50000"/>
            <a:extLst>
              <a:ext uri="{28A0092B-C50C-407E-A947-70E740481C1C}">
                <a14:useLocalDpi xmlns:a14="http://schemas.microsoft.com/office/drawing/2010/main" val="0"/>
              </a:ext>
            </a:extLst>
          </a:blip>
          <a:srcRect/>
          <a:stretch>
            <a:fillRect/>
          </a:stretch>
        </p:blipFill>
        <p:spPr bwMode="auto">
          <a:xfrm>
            <a:off x="38100" y="762000"/>
            <a:ext cx="9105900" cy="2990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a:biLevel thresh="50000"/>
            <a:extLst>
              <a:ext uri="{28A0092B-C50C-407E-A947-70E740481C1C}">
                <a14:useLocalDpi xmlns:a14="http://schemas.microsoft.com/office/drawing/2010/main" val="0"/>
              </a:ext>
            </a:extLst>
          </a:blip>
          <a:srcRect/>
          <a:stretch>
            <a:fillRect/>
          </a:stretch>
        </p:blipFill>
        <p:spPr bwMode="auto">
          <a:xfrm>
            <a:off x="152400" y="4038600"/>
            <a:ext cx="8347075" cy="1348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Atomic Orbitals - Molecular Orbital Shapes - Free Transparent PNG Clipart  Images Download"/>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52400" y="76200"/>
            <a:ext cx="8698938" cy="6553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biLevel thresh="50000"/>
            <a:extLst>
              <a:ext uri="{28A0092B-C50C-407E-A947-70E740481C1C}">
                <a14:useLocalDpi xmlns:a14="http://schemas.microsoft.com/office/drawing/2010/main" val="0"/>
              </a:ext>
            </a:extLst>
          </a:blip>
          <a:srcRect/>
          <a:stretch>
            <a:fillRect/>
          </a:stretch>
        </p:blipFill>
        <p:spPr bwMode="auto">
          <a:xfrm>
            <a:off x="609600" y="152400"/>
            <a:ext cx="8042339" cy="64007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biLevel thresh="50000"/>
            <a:extLst>
              <a:ext uri="{28A0092B-C50C-407E-A947-70E740481C1C}">
                <a14:useLocalDpi xmlns:a14="http://schemas.microsoft.com/office/drawing/2010/main" val="0"/>
              </a:ext>
            </a:extLst>
          </a:blip>
          <a:srcRect/>
          <a:stretch>
            <a:fillRect/>
          </a:stretch>
        </p:blipFill>
        <p:spPr bwMode="auto">
          <a:xfrm>
            <a:off x="32983" y="1981200"/>
            <a:ext cx="9143999" cy="4646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3">
            <a:biLevel thresh="50000"/>
            <a:extLst>
              <a:ext uri="{28A0092B-C50C-407E-A947-70E740481C1C}">
                <a14:useLocalDpi xmlns:a14="http://schemas.microsoft.com/office/drawing/2010/main" val="0"/>
              </a:ext>
            </a:extLst>
          </a:blip>
          <a:srcRect/>
          <a:stretch>
            <a:fillRect/>
          </a:stretch>
        </p:blipFill>
        <p:spPr bwMode="auto">
          <a:xfrm>
            <a:off x="56866" y="30707"/>
            <a:ext cx="8934733" cy="18760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biLevel thresh="50000"/>
            <a:extLst>
              <a:ext uri="{28A0092B-C50C-407E-A947-70E740481C1C}">
                <a14:useLocalDpi xmlns:a14="http://schemas.microsoft.com/office/drawing/2010/main" val="0"/>
              </a:ext>
            </a:extLst>
          </a:blip>
          <a:srcRect/>
          <a:stretch>
            <a:fillRect/>
          </a:stretch>
        </p:blipFill>
        <p:spPr bwMode="auto">
          <a:xfrm>
            <a:off x="713422" y="0"/>
            <a:ext cx="7135178" cy="66888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biLevel thresh="50000"/>
            <a:extLst>
              <a:ext uri="{28A0092B-C50C-407E-A947-70E740481C1C}">
                <a14:useLocalDpi xmlns:a14="http://schemas.microsoft.com/office/drawing/2010/main" val="0"/>
              </a:ext>
            </a:extLst>
          </a:blip>
          <a:srcRect/>
          <a:stretch>
            <a:fillRect/>
          </a:stretch>
        </p:blipFill>
        <p:spPr bwMode="auto">
          <a:xfrm>
            <a:off x="838200" y="180885"/>
            <a:ext cx="7924800" cy="6600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biLevel thresh="50000"/>
            <a:extLst>
              <a:ext uri="{28A0092B-C50C-407E-A947-70E740481C1C}">
                <a14:useLocalDpi xmlns:a14="http://schemas.microsoft.com/office/drawing/2010/main" val="0"/>
              </a:ext>
            </a:extLst>
          </a:blip>
          <a:srcRect/>
          <a:stretch>
            <a:fillRect/>
          </a:stretch>
        </p:blipFill>
        <p:spPr bwMode="auto">
          <a:xfrm>
            <a:off x="838200" y="17721"/>
            <a:ext cx="7243286" cy="6879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cstate="print">
            <a:biLevel thresh="50000"/>
            <a:extLst>
              <a:ext uri="{28A0092B-C50C-407E-A947-70E740481C1C}">
                <a14:useLocalDpi xmlns:a14="http://schemas.microsoft.com/office/drawing/2010/main" val="0"/>
              </a:ext>
            </a:extLst>
          </a:blip>
          <a:srcRect/>
          <a:stretch>
            <a:fillRect/>
          </a:stretch>
        </p:blipFill>
        <p:spPr bwMode="auto">
          <a:xfrm>
            <a:off x="2438400" y="29029"/>
            <a:ext cx="4119658" cy="6712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biLevel thresh="50000"/>
            <a:extLst>
              <a:ext uri="{28A0092B-C50C-407E-A947-70E740481C1C}">
                <a14:useLocalDpi xmlns:a14="http://schemas.microsoft.com/office/drawing/2010/main" val="0"/>
              </a:ext>
            </a:extLst>
          </a:blip>
          <a:srcRect/>
          <a:stretch>
            <a:fillRect/>
          </a:stretch>
        </p:blipFill>
        <p:spPr bwMode="auto">
          <a:xfrm>
            <a:off x="7" y="180980"/>
            <a:ext cx="9003697" cy="5261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biLevel thresh="50000"/>
            <a:extLst>
              <a:ext uri="{28A0092B-C50C-407E-A947-70E740481C1C}">
                <a14:useLocalDpi xmlns:a14="http://schemas.microsoft.com/office/drawing/2010/main" val="0"/>
              </a:ext>
            </a:extLst>
          </a:blip>
          <a:srcRect/>
          <a:stretch>
            <a:fillRect/>
          </a:stretch>
        </p:blipFill>
        <p:spPr bwMode="auto">
          <a:xfrm>
            <a:off x="1394650" y="15"/>
            <a:ext cx="6530150" cy="6783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biLevel thresh="50000"/>
            <a:extLst>
              <a:ext uri="{28A0092B-C50C-407E-A947-70E740481C1C}">
                <a14:useLocalDpi xmlns:a14="http://schemas.microsoft.com/office/drawing/2010/main" val="0"/>
              </a:ext>
            </a:extLst>
          </a:blip>
          <a:srcRect/>
          <a:stretch>
            <a:fillRect/>
          </a:stretch>
        </p:blipFill>
        <p:spPr bwMode="auto">
          <a:xfrm>
            <a:off x="1752600" y="215646"/>
            <a:ext cx="4973003" cy="6642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biLevel thresh="50000"/>
            <a:extLst>
              <a:ext uri="{28A0092B-C50C-407E-A947-70E740481C1C}">
                <a14:useLocalDpi xmlns:a14="http://schemas.microsoft.com/office/drawing/2010/main" val="0"/>
              </a:ext>
            </a:extLst>
          </a:blip>
          <a:srcRect/>
          <a:stretch>
            <a:fillRect/>
          </a:stretch>
        </p:blipFill>
        <p:spPr bwMode="auto">
          <a:xfrm>
            <a:off x="1137952" y="9"/>
            <a:ext cx="6786848" cy="68288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152401"/>
            <a:ext cx="4752976" cy="6593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1219200" y="1219200"/>
            <a:ext cx="1431739" cy="369332"/>
          </a:xfrm>
          <a:prstGeom prst="rect">
            <a:avLst/>
          </a:prstGeom>
          <a:noFill/>
        </p:spPr>
        <p:txBody>
          <a:bodyPr wrap="none" rtlCol="0">
            <a:spAutoFit/>
          </a:bodyPr>
          <a:lstStyle/>
          <a:p>
            <a:r>
              <a:rPr lang="en-US" dirty="0"/>
              <a:t>MOED for O</a:t>
            </a:r>
            <a:r>
              <a:rPr lang="en-US" baseline="-25000" dirty="0"/>
              <a:t>2</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biLevel thresh="50000"/>
            <a:extLst>
              <a:ext uri="{28A0092B-C50C-407E-A947-70E740481C1C}">
                <a14:useLocalDpi xmlns:a14="http://schemas.microsoft.com/office/drawing/2010/main" val="0"/>
              </a:ext>
            </a:extLst>
          </a:blip>
          <a:srcRect/>
          <a:stretch>
            <a:fillRect/>
          </a:stretch>
        </p:blipFill>
        <p:spPr bwMode="auto">
          <a:xfrm>
            <a:off x="4" y="700090"/>
            <a:ext cx="9041130" cy="45845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990600" y="194562"/>
            <a:ext cx="3333220" cy="369332"/>
          </a:xfrm>
          <a:prstGeom prst="rect">
            <a:avLst/>
          </a:prstGeom>
          <a:noFill/>
        </p:spPr>
        <p:txBody>
          <a:bodyPr wrap="none" rtlCol="0">
            <a:spAutoFit/>
          </a:bodyPr>
          <a:lstStyle/>
          <a:p>
            <a:r>
              <a:rPr lang="en-US" dirty="0"/>
              <a:t>Why He</a:t>
            </a:r>
            <a:r>
              <a:rPr lang="en-US" baseline="-25000" dirty="0"/>
              <a:t>2</a:t>
            </a:r>
            <a:r>
              <a:rPr lang="en-US" dirty="0"/>
              <a:t> molecule does not exit?</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biLevel thresh="50000"/>
            <a:extLst>
              <a:ext uri="{28A0092B-C50C-407E-A947-70E740481C1C}">
                <a14:useLocalDpi xmlns:a14="http://schemas.microsoft.com/office/drawing/2010/main" val="0"/>
              </a:ext>
            </a:extLst>
          </a:blip>
          <a:srcRect/>
          <a:stretch>
            <a:fillRect/>
          </a:stretch>
        </p:blipFill>
        <p:spPr bwMode="auto">
          <a:xfrm>
            <a:off x="2" y="585789"/>
            <a:ext cx="8962454" cy="5174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685800" y="164068"/>
            <a:ext cx="3140347" cy="369332"/>
          </a:xfrm>
          <a:prstGeom prst="rect">
            <a:avLst/>
          </a:prstGeom>
          <a:noFill/>
        </p:spPr>
        <p:txBody>
          <a:bodyPr wrap="none" rtlCol="0">
            <a:spAutoFit/>
          </a:bodyPr>
          <a:lstStyle/>
          <a:p>
            <a:r>
              <a:rPr lang="en-US" dirty="0"/>
              <a:t>Existence of He</a:t>
            </a:r>
            <a:r>
              <a:rPr lang="en-US" baseline="-25000" dirty="0"/>
              <a:t>2</a:t>
            </a:r>
            <a:r>
              <a:rPr lang="en-US" baseline="30000" dirty="0"/>
              <a:t>+</a:t>
            </a:r>
            <a:r>
              <a:rPr lang="en-US" dirty="0"/>
              <a:t> ionic species </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biLevel thresh="50000"/>
            <a:extLst>
              <a:ext uri="{28A0092B-C50C-407E-A947-70E740481C1C}">
                <a14:useLocalDpi xmlns:a14="http://schemas.microsoft.com/office/drawing/2010/main" val="0"/>
              </a:ext>
            </a:extLst>
          </a:blip>
          <a:srcRect/>
          <a:stretch>
            <a:fillRect/>
          </a:stretch>
        </p:blipFill>
        <p:spPr bwMode="auto">
          <a:xfrm>
            <a:off x="3" y="833442"/>
            <a:ext cx="9102852" cy="4568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1143000" y="240268"/>
            <a:ext cx="4369786" cy="369332"/>
          </a:xfrm>
          <a:prstGeom prst="rect">
            <a:avLst/>
          </a:prstGeom>
          <a:noFill/>
        </p:spPr>
        <p:txBody>
          <a:bodyPr wrap="none" rtlCol="0">
            <a:spAutoFit/>
          </a:bodyPr>
          <a:lstStyle/>
          <a:p>
            <a:r>
              <a:rPr lang="en-US" dirty="0"/>
              <a:t>Li</a:t>
            </a:r>
            <a:r>
              <a:rPr lang="en-US" baseline="-25000" dirty="0"/>
              <a:t>2</a:t>
            </a:r>
            <a:r>
              <a:rPr lang="en-US" dirty="0"/>
              <a:t> molecule exist but Be</a:t>
            </a:r>
            <a:r>
              <a:rPr lang="en-US" baseline="-25000" dirty="0"/>
              <a:t>2</a:t>
            </a:r>
            <a:r>
              <a:rPr lang="en-US" dirty="0"/>
              <a:t> does not exist-why</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7863" y="80963"/>
            <a:ext cx="5248275" cy="669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6629400" y="1665400"/>
            <a:ext cx="2017925" cy="646331"/>
          </a:xfrm>
          <a:prstGeom prst="rect">
            <a:avLst/>
          </a:prstGeom>
          <a:noFill/>
        </p:spPr>
        <p:txBody>
          <a:bodyPr wrap="none" rtlCol="0">
            <a:spAutoFit/>
          </a:bodyPr>
          <a:lstStyle/>
          <a:p>
            <a:r>
              <a:rPr lang="en-US" dirty="0"/>
              <a:t>For N2 and heavier </a:t>
            </a:r>
          </a:p>
          <a:p>
            <a:r>
              <a:rPr lang="en-US" dirty="0"/>
              <a:t>elements</a:t>
            </a:r>
          </a:p>
        </p:txBody>
      </p:sp>
      <p:sp>
        <p:nvSpPr>
          <p:cNvPr id="5" name="TextBox 4"/>
          <p:cNvSpPr txBox="1"/>
          <p:nvPr/>
        </p:nvSpPr>
        <p:spPr>
          <a:xfrm>
            <a:off x="6686274" y="4768334"/>
            <a:ext cx="2122441" cy="646331"/>
          </a:xfrm>
          <a:prstGeom prst="rect">
            <a:avLst/>
          </a:prstGeom>
          <a:noFill/>
        </p:spPr>
        <p:txBody>
          <a:bodyPr wrap="none" rtlCol="0">
            <a:spAutoFit/>
          </a:bodyPr>
          <a:lstStyle/>
          <a:p>
            <a:r>
              <a:rPr lang="en-US" dirty="0"/>
              <a:t>For lighter elements </a:t>
            </a:r>
          </a:p>
          <a:p>
            <a:r>
              <a:rPr lang="en-US" dirty="0"/>
              <a:t>B and C</a:t>
            </a:r>
          </a:p>
        </p:txBody>
      </p:sp>
      <p:sp>
        <p:nvSpPr>
          <p:cNvPr id="2" name="TextBox 1"/>
          <p:cNvSpPr txBox="1"/>
          <p:nvPr/>
        </p:nvSpPr>
        <p:spPr>
          <a:xfrm>
            <a:off x="-76200" y="914400"/>
            <a:ext cx="2137958" cy="923330"/>
          </a:xfrm>
          <a:prstGeom prst="rect">
            <a:avLst/>
          </a:prstGeom>
          <a:noFill/>
        </p:spPr>
        <p:txBody>
          <a:bodyPr wrap="none" rtlCol="0">
            <a:spAutoFit/>
          </a:bodyPr>
          <a:lstStyle/>
          <a:p>
            <a:r>
              <a:rPr lang="en-US" dirty="0"/>
              <a:t>What is degeneracy?</a:t>
            </a:r>
          </a:p>
          <a:p>
            <a:r>
              <a:rPr lang="en-US" dirty="0"/>
              <a:t>Orbitals of similar </a:t>
            </a:r>
          </a:p>
          <a:p>
            <a:r>
              <a:rPr lang="en-US" dirty="0"/>
              <a:t>energy</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5289" y="0"/>
            <a:ext cx="6742299" cy="585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7367588" y="1295400"/>
            <a:ext cx="1430135" cy="369332"/>
          </a:xfrm>
          <a:prstGeom prst="rect">
            <a:avLst/>
          </a:prstGeom>
          <a:noFill/>
        </p:spPr>
        <p:txBody>
          <a:bodyPr wrap="none" rtlCol="0">
            <a:spAutoFit/>
          </a:bodyPr>
          <a:lstStyle/>
          <a:p>
            <a:r>
              <a:rPr lang="en-US" dirty="0"/>
              <a:t>MOED for Li</a:t>
            </a:r>
            <a:r>
              <a:rPr lang="en-US" baseline="-25000" dirty="0"/>
              <a:t>2</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1774" y="152400"/>
            <a:ext cx="4855152" cy="678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7696200" y="2133600"/>
            <a:ext cx="1404487" cy="369332"/>
          </a:xfrm>
          <a:prstGeom prst="rect">
            <a:avLst/>
          </a:prstGeom>
          <a:noFill/>
        </p:spPr>
        <p:txBody>
          <a:bodyPr wrap="none" rtlCol="0">
            <a:spAutoFit/>
          </a:bodyPr>
          <a:lstStyle/>
          <a:p>
            <a:r>
              <a:rPr lang="en-US" dirty="0"/>
              <a:t>MOED for B</a:t>
            </a:r>
            <a:r>
              <a:rPr lang="en-US" baseline="-25000" dirty="0"/>
              <a:t>2</a:t>
            </a:r>
          </a:p>
        </p:txBody>
      </p:sp>
      <p:cxnSp>
        <p:nvCxnSpPr>
          <p:cNvPr id="4" name="Straight Arrow Connector 3"/>
          <p:cNvCxnSpPr/>
          <p:nvPr/>
        </p:nvCxnSpPr>
        <p:spPr>
          <a:xfrm flipH="1">
            <a:off x="2057400" y="2438400"/>
            <a:ext cx="2590800" cy="6453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flipH="1">
            <a:off x="2057400" y="1981200"/>
            <a:ext cx="28194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206795" y="2318266"/>
            <a:ext cx="843501" cy="369332"/>
          </a:xfrm>
          <a:prstGeom prst="rect">
            <a:avLst/>
          </a:prstGeom>
          <a:noFill/>
        </p:spPr>
        <p:txBody>
          <a:bodyPr wrap="none" rtlCol="0">
            <a:spAutoFit/>
          </a:bodyPr>
          <a:lstStyle/>
          <a:p>
            <a:r>
              <a:rPr lang="en-US" b="1" dirty="0"/>
              <a:t>HOMO</a:t>
            </a:r>
          </a:p>
        </p:txBody>
      </p:sp>
      <p:sp>
        <p:nvSpPr>
          <p:cNvPr id="8" name="TextBox 7"/>
          <p:cNvSpPr txBox="1"/>
          <p:nvPr/>
        </p:nvSpPr>
        <p:spPr>
          <a:xfrm>
            <a:off x="1261257" y="1796534"/>
            <a:ext cx="784958" cy="369332"/>
          </a:xfrm>
          <a:prstGeom prst="rect">
            <a:avLst/>
          </a:prstGeom>
          <a:noFill/>
        </p:spPr>
        <p:txBody>
          <a:bodyPr wrap="none" rtlCol="0">
            <a:spAutoFit/>
          </a:bodyPr>
          <a:lstStyle/>
          <a:p>
            <a:r>
              <a:rPr lang="en-US" b="1" dirty="0"/>
              <a:t>LUMO</a:t>
            </a:r>
          </a:p>
        </p:txBody>
      </p:sp>
      <p:sp>
        <p:nvSpPr>
          <p:cNvPr id="9" name="Double Brace 8"/>
          <p:cNvSpPr/>
          <p:nvPr/>
        </p:nvSpPr>
        <p:spPr>
          <a:xfrm>
            <a:off x="5519184" y="734383"/>
            <a:ext cx="838200" cy="1925598"/>
          </a:xfrm>
          <a:prstGeom prst="bracePair">
            <a:avLst/>
          </a:prstGeom>
          <a:noFill/>
          <a:ln>
            <a:solidFill>
              <a:srgbClr val="FF0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0" name="TextBox 9"/>
          <p:cNvSpPr txBox="1"/>
          <p:nvPr/>
        </p:nvSpPr>
        <p:spPr>
          <a:xfrm>
            <a:off x="7467600" y="1143000"/>
            <a:ext cx="647934" cy="369332"/>
          </a:xfrm>
          <a:prstGeom prst="rect">
            <a:avLst/>
          </a:prstGeom>
          <a:noFill/>
        </p:spPr>
        <p:txBody>
          <a:bodyPr wrap="none" rtlCol="0">
            <a:spAutoFit/>
          </a:bodyPr>
          <a:lstStyle/>
          <a:p>
            <a:r>
              <a:rPr lang="en-US" b="1" dirty="0"/>
              <a:t>FMO</a:t>
            </a:r>
          </a:p>
        </p:txBody>
      </p:sp>
      <p:cxnSp>
        <p:nvCxnSpPr>
          <p:cNvPr id="13" name="Straight Arrow Connector 12"/>
          <p:cNvCxnSpPr/>
          <p:nvPr/>
        </p:nvCxnSpPr>
        <p:spPr>
          <a:xfrm>
            <a:off x="5715000" y="2470666"/>
            <a:ext cx="2076567" cy="11869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7791567" y="3334434"/>
            <a:ext cx="1470724" cy="646331"/>
          </a:xfrm>
          <a:prstGeom prst="rect">
            <a:avLst/>
          </a:prstGeom>
          <a:noFill/>
        </p:spPr>
        <p:txBody>
          <a:bodyPr wrap="none" rtlCol="0">
            <a:spAutoFit/>
          </a:bodyPr>
          <a:lstStyle/>
          <a:p>
            <a:r>
              <a:rPr lang="en-US" dirty="0"/>
              <a:t>Boron is </a:t>
            </a:r>
          </a:p>
          <a:p>
            <a:r>
              <a:rPr lang="en-US" dirty="0"/>
              <a:t>paramagnetic</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1664" y="1"/>
            <a:ext cx="3919572" cy="6629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6019800" y="1295400"/>
            <a:ext cx="2343847" cy="369332"/>
          </a:xfrm>
          <a:prstGeom prst="rect">
            <a:avLst/>
          </a:prstGeom>
          <a:noFill/>
        </p:spPr>
        <p:txBody>
          <a:bodyPr wrap="none" rtlCol="0">
            <a:spAutoFit/>
          </a:bodyPr>
          <a:lstStyle/>
          <a:p>
            <a:r>
              <a:rPr lang="en-US" dirty="0"/>
              <a:t>MOED for N</a:t>
            </a:r>
            <a:r>
              <a:rPr lang="en-US" baseline="-25000" dirty="0"/>
              <a:t>2</a:t>
            </a:r>
            <a:r>
              <a:rPr lang="en-US" dirty="0"/>
              <a:t> molecule</a:t>
            </a:r>
          </a:p>
        </p:txBody>
      </p:sp>
      <mc:AlternateContent xmlns:mc="http://schemas.openxmlformats.org/markup-compatibility/2006" xmlns:p14="http://schemas.microsoft.com/office/powerpoint/2010/main">
        <mc:Choice Requires="p14">
          <p:contentPart p14:bwMode="auto" r:id="rId3">
            <p14:nvContentPartPr>
              <p14:cNvPr id="6" name="Ink 5"/>
              <p14:cNvContentPartPr/>
              <p14:nvPr/>
            </p14:nvContentPartPr>
            <p14:xfrm>
              <a:off x="3366720" y="1232280"/>
              <a:ext cx="946800" cy="786240"/>
            </p14:xfrm>
          </p:contentPart>
        </mc:Choice>
        <mc:Fallback xmlns="">
          <p:pic>
            <p:nvPicPr>
              <p:cNvPr id="6" name="Ink 5"/>
            </p:nvPicPr>
            <p:blipFill>
              <a:blip r:embed="rId4"/>
            </p:blipFill>
            <p:spPr>
              <a:xfrm>
                <a:off x="3366720" y="1232280"/>
                <a:ext cx="946800" cy="786240"/>
              </a:xfrm>
              <a:prstGeom prst="rect"/>
            </p:spPr>
          </p:pic>
        </mc:Fallback>
      </mc:AlternateContent>
      <p:sp>
        <p:nvSpPr>
          <p:cNvPr id="2" name="TextBox 1"/>
          <p:cNvSpPr txBox="1"/>
          <p:nvPr/>
        </p:nvSpPr>
        <p:spPr>
          <a:xfrm>
            <a:off x="6019800" y="2018520"/>
            <a:ext cx="2518575" cy="646331"/>
          </a:xfrm>
          <a:prstGeom prst="rect">
            <a:avLst/>
          </a:prstGeom>
          <a:noFill/>
        </p:spPr>
        <p:txBody>
          <a:bodyPr wrap="none" rtlCol="0">
            <a:spAutoFit/>
          </a:bodyPr>
          <a:lstStyle/>
          <a:p>
            <a:r>
              <a:rPr lang="en-US" dirty="0"/>
              <a:t>Why N</a:t>
            </a:r>
            <a:r>
              <a:rPr lang="en-US" baseline="-25000" dirty="0"/>
              <a:t>2</a:t>
            </a:r>
            <a:r>
              <a:rPr lang="en-US" dirty="0"/>
              <a:t> is so stable  and </a:t>
            </a:r>
          </a:p>
          <a:p>
            <a:r>
              <a:rPr lang="en-US" dirty="0"/>
              <a:t>activation is challenging </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7725" y="671513"/>
            <a:ext cx="7448550" cy="551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2540" y="152400"/>
            <a:ext cx="4347785" cy="567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76200"/>
            <a:ext cx="5358648" cy="930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2493" y="1295400"/>
            <a:ext cx="6942814"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3123270"/>
            <a:ext cx="6629400" cy="2229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152400" y="223323"/>
            <a:ext cx="1232838" cy="369332"/>
          </a:xfrm>
          <a:prstGeom prst="rect">
            <a:avLst/>
          </a:prstGeom>
          <a:noFill/>
        </p:spPr>
        <p:txBody>
          <a:bodyPr wrap="none" rtlCol="0">
            <a:spAutoFit/>
          </a:bodyPr>
          <a:lstStyle/>
          <a:p>
            <a:r>
              <a:rPr lang="en-US" dirty="0"/>
              <a:t>Superoxide</a:t>
            </a:r>
          </a:p>
        </p:txBody>
      </p:sp>
      <p:sp>
        <p:nvSpPr>
          <p:cNvPr id="3" name="TextBox 2"/>
          <p:cNvSpPr txBox="1"/>
          <p:nvPr/>
        </p:nvSpPr>
        <p:spPr>
          <a:xfrm>
            <a:off x="7696200" y="4495800"/>
            <a:ext cx="1462580" cy="369332"/>
          </a:xfrm>
          <a:prstGeom prst="rect">
            <a:avLst/>
          </a:prstGeom>
          <a:noFill/>
        </p:spPr>
        <p:txBody>
          <a:bodyPr wrap="none" rtlCol="0">
            <a:spAutoFit/>
          </a:bodyPr>
          <a:lstStyle/>
          <a:p>
            <a:r>
              <a:rPr lang="en-US" dirty="0"/>
              <a:t>Paramagnetic</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6425" y="0"/>
            <a:ext cx="4371975" cy="69673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52400"/>
            <a:ext cx="5305425" cy="1019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24841" y="1752600"/>
            <a:ext cx="5324475" cy="3590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399" y="2133600"/>
            <a:ext cx="4876799" cy="26897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228600" y="1383268"/>
            <a:ext cx="1916615" cy="369332"/>
          </a:xfrm>
          <a:prstGeom prst="rect">
            <a:avLst/>
          </a:prstGeom>
          <a:noFill/>
        </p:spPr>
        <p:txBody>
          <a:bodyPr wrap="none" rtlCol="0">
            <a:spAutoFit/>
          </a:bodyPr>
          <a:lstStyle/>
          <a:p>
            <a:r>
              <a:rPr lang="en-US" dirty="0"/>
              <a:t>HOMODINUCLEAR</a:t>
            </a:r>
          </a:p>
        </p:txBody>
      </p:sp>
      <p:sp>
        <p:nvSpPr>
          <p:cNvPr id="3" name="TextBox 2"/>
          <p:cNvSpPr txBox="1"/>
          <p:nvPr/>
        </p:nvSpPr>
        <p:spPr>
          <a:xfrm>
            <a:off x="5197549" y="1374408"/>
            <a:ext cx="2008948" cy="369332"/>
          </a:xfrm>
          <a:prstGeom prst="rect">
            <a:avLst/>
          </a:prstGeom>
          <a:noFill/>
        </p:spPr>
        <p:txBody>
          <a:bodyPr wrap="none" rtlCol="0">
            <a:spAutoFit/>
          </a:bodyPr>
          <a:lstStyle/>
          <a:p>
            <a:r>
              <a:rPr lang="en-US" dirty="0"/>
              <a:t>HETEROBINUCLEAR</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399" y="575928"/>
            <a:ext cx="7904531" cy="6129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152400"/>
            <a:ext cx="5261058" cy="647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28364" y="2362200"/>
            <a:ext cx="2085764" cy="646331"/>
          </a:xfrm>
          <a:prstGeom prst="rect">
            <a:avLst/>
          </a:prstGeom>
          <a:noFill/>
        </p:spPr>
        <p:txBody>
          <a:bodyPr wrap="none" rtlCol="0">
            <a:spAutoFit/>
          </a:bodyPr>
          <a:lstStyle/>
          <a:p>
            <a:r>
              <a:rPr lang="en-US" dirty="0"/>
              <a:t>Same MOED for NO </a:t>
            </a:r>
          </a:p>
          <a:p>
            <a:r>
              <a:rPr lang="en-US" dirty="0"/>
              <a:t>and NO</a:t>
            </a:r>
            <a:r>
              <a:rPr lang="en-US" baseline="30000" dirty="0"/>
              <a:t>+</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04800"/>
            <a:ext cx="9346530" cy="2389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799" y="0"/>
            <a:ext cx="5164085" cy="6857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33670"/>
            <a:ext cx="8534400" cy="3264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562" y="3124200"/>
            <a:ext cx="8370038" cy="3270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8034" y="-76200"/>
            <a:ext cx="6824382" cy="693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MO DIAGRAM OF HCl for IIT JAM , BARC , CSIR NET, GATE , LECTURER, LT -  YouTub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6200"/>
            <a:ext cx="8534400" cy="44577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Draw orbital diagram of HCl and HF explain the structure on the basis of  hybridization and vsepr theory - Chemistry - Chemical Bonding and Molecular  Structure - 9629861 | Meritnation.co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pic>
        <p:nvPicPr>
          <p:cNvPr id="13316" name="Picture 4" descr="Draw orbital diagram of HCl and HF explain the structure on the basis of  hybridization and vsepr theory - Chemistry - Chemical Bonding and Molecular  Structure - 9629861 | Meritnation.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230" y="185146"/>
            <a:ext cx="7315570" cy="661214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3925" y="695325"/>
            <a:ext cx="7296150" cy="546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152400"/>
            <a:ext cx="6781800"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4047" y="647700"/>
            <a:ext cx="9107128" cy="445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711356" y="2645717"/>
            <a:ext cx="279244" cy="461665"/>
          </a:xfrm>
          <a:prstGeom prst="rect">
            <a:avLst/>
          </a:prstGeom>
          <a:noFill/>
        </p:spPr>
        <p:txBody>
          <a:bodyPr wrap="none" rtlCol="0">
            <a:spAutoFit/>
          </a:bodyPr>
          <a:lstStyle/>
          <a:p>
            <a:r>
              <a:rPr lang="en-US" sz="2400" dirty="0"/>
              <a:t>-</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3281" y="838200"/>
            <a:ext cx="86106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2057400"/>
            <a:ext cx="5562600" cy="45109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533400"/>
            <a:ext cx="8601891"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Parsing spdf Orbital Hybridization and Simple Bond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474921"/>
            <a:ext cx="9134301" cy="592587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614" y="838200"/>
            <a:ext cx="7543800" cy="5229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685799"/>
            <a:ext cx="8763000" cy="51684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TotalTime>
  <Words>1059</Words>
  <Application>Microsoft Office PowerPoint</Application>
  <PresentationFormat>On-screen Show (4:3)</PresentationFormat>
  <Paragraphs>75</Paragraphs>
  <Slides>84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84</vt:i4>
      </vt:variant>
    </vt:vector>
  </HeadingPairs>
  <TitlesOfParts>
    <vt:vector size="89" baseType="lpstr">
      <vt:lpstr>Arial</vt:lpstr>
      <vt:lpstr>Calibri</vt:lpstr>
      <vt:lpstr>Symbol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Hewlett-Packard Company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Md Abdullah babu</cp:lastModifiedBy>
  <cp:revision>83</cp:revision>
  <dcterms:created xsi:type="dcterms:W3CDTF">2021-05-03T14:53:00Z</dcterms:created>
  <dcterms:modified xsi:type="dcterms:W3CDTF">2023-09-16T00:18:56Z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30EDAD37D41A4C56956DD47AE93392D6</vt:lpwstr>
  </property>
  <property fmtid="{D5CDD505-2E9C-101B-9397-08002B2CF9AE}" pid="3" name="KSOProductBuildVer">
    <vt:lpwstr>1033-11.2.0.11156</vt:lpwstr>
  </property>
</Properties>
</file>