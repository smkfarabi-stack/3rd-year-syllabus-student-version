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57" r:id="rId3"/>
    <p:sldId id="258" r:id="rId4"/>
    <p:sldId id="259" r:id="rId5"/>
    <p:sldId id="261" r:id="rId6"/>
    <p:sldId id="343"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78" r:id="rId26"/>
    <p:sldId id="280" r:id="rId27"/>
    <p:sldId id="282" r:id="rId28"/>
    <p:sldId id="281" r:id="rId29"/>
    <p:sldId id="283" r:id="rId30"/>
    <p:sldId id="284" r:id="rId31"/>
    <p:sldId id="285" r:id="rId32"/>
    <p:sldId id="286" r:id="rId33"/>
    <p:sldId id="287" r:id="rId34"/>
    <p:sldId id="344" r:id="rId35"/>
    <p:sldId id="288" r:id="rId36"/>
    <p:sldId id="289" r:id="rId37"/>
    <p:sldId id="290" r:id="rId38"/>
    <p:sldId id="349" r:id="rId39"/>
    <p:sldId id="350" r:id="rId40"/>
    <p:sldId id="291" r:id="rId41"/>
    <p:sldId id="309" r:id="rId42"/>
    <p:sldId id="310" r:id="rId43"/>
    <p:sldId id="292" r:id="rId44"/>
    <p:sldId id="293" r:id="rId45"/>
    <p:sldId id="294" r:id="rId46"/>
    <p:sldId id="301" r:id="rId47"/>
    <p:sldId id="295" r:id="rId48"/>
    <p:sldId id="308" r:id="rId49"/>
    <p:sldId id="296" r:id="rId50"/>
    <p:sldId id="297" r:id="rId51"/>
    <p:sldId id="299" r:id="rId52"/>
    <p:sldId id="302" r:id="rId53"/>
    <p:sldId id="303" r:id="rId54"/>
    <p:sldId id="304" r:id="rId55"/>
    <p:sldId id="305" r:id="rId56"/>
    <p:sldId id="306" r:id="rId57"/>
    <p:sldId id="319" r:id="rId58"/>
    <p:sldId id="307" r:id="rId59"/>
    <p:sldId id="313" r:id="rId60"/>
    <p:sldId id="314" r:id="rId61"/>
    <p:sldId id="315" r:id="rId62"/>
    <p:sldId id="345" r:id="rId63"/>
    <p:sldId id="316" r:id="rId64"/>
    <p:sldId id="317" r:id="rId65"/>
    <p:sldId id="322" r:id="rId66"/>
    <p:sldId id="336" r:id="rId67"/>
    <p:sldId id="318" r:id="rId68"/>
    <p:sldId id="320" r:id="rId69"/>
    <p:sldId id="323" r:id="rId70"/>
    <p:sldId id="321" r:id="rId71"/>
    <p:sldId id="324" r:id="rId72"/>
    <p:sldId id="325" r:id="rId73"/>
    <p:sldId id="326" r:id="rId74"/>
    <p:sldId id="327" r:id="rId75"/>
    <p:sldId id="346" r:id="rId76"/>
    <p:sldId id="348" r:id="rId77"/>
    <p:sldId id="328" r:id="rId78"/>
    <p:sldId id="330" r:id="rId79"/>
    <p:sldId id="331" r:id="rId80"/>
    <p:sldId id="332" r:id="rId81"/>
    <p:sldId id="337" r:id="rId82"/>
    <p:sldId id="333" r:id="rId83"/>
    <p:sldId id="347" r:id="rId84"/>
    <p:sldId id="334" r:id="rId85"/>
    <p:sldId id="335" r:id="rId86"/>
    <p:sldId id="338" r:id="rId87"/>
    <p:sldId id="339" r:id="rId88"/>
    <p:sldId id="340" r:id="rId89"/>
    <p:sldId id="342" r:id="rId90"/>
    <p:sldId id="341"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38" autoAdjust="0"/>
  </p:normalViewPr>
  <p:slideViewPr>
    <p:cSldViewPr>
      <p:cViewPr>
        <p:scale>
          <a:sx n="90" d="100"/>
          <a:sy n="90" d="100"/>
        </p:scale>
        <p:origin x="-8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1-07-07T05:30:56.917"/>
    </inkml:context>
    <inkml:brush xml:id="br0">
      <inkml:brushProperty name="width" value="0.05292" units="cm"/>
      <inkml:brushProperty name="height" value="0.05292" units="cm"/>
      <inkml:brushProperty name="color" value="#FF0000"/>
    </inkml:brush>
  </inkml:definitions>
  <inkml:trace contextRef="#ctx0" brushRef="#br0">10369 3448,'0'0,"0"-25,-25 25,0 0,0 0,0 0,-24 0,-1 0,1 0,-1 0,-24 0,24 0,0 0,1 0,24 0,-25 25,1-25,49 25,0-1,-25 1,0 0,0-25,25 25,-24-25,24 25,-25 24,0 26,0-1,-24 1,24-1,25-24,-25 49,25-25,-50-24,50 24,0-49,0 0,0 24,0 1,-24-50,-1 25,25 24,0-24,0 25,0-25,0-1,0 1,0 0,0 25,0-26,0 1,0 0,0 0,0 25,0-1,0-24,0 0,25 24,-1 1,1-25,0 0,-25-1,0 1,50 0,-50 25,24-50,1 0,-25 49,25-49,25 50,-26-1,1-49,0 0,0 50,49-50,-49 0,-25 25,25-25,24 25,26 24,-50-49,-1 0,1 0,0 0,0 0,0 0,24 0,1 0,-25 0,24 50,-24-50,0 0,49 0,-24 0,49 0,25 0,-74 0,-1 0,-24 0,25 0,-1 0,-24 0,0 0,0 0,24 0,26 0,-26 0,26 0,-26 0,1 0,0 0,-1 0,-24 0,0 0,25 0,24 0,-49 0,74 0,-49-25,-26 0,26-24,0 24,-50 0,24 0,1-24,-25-26,25 26,-25-1,0 0,0-49,0 50,0-26,0 26,0-26,0 25,0-24,0 0,0 24,0 0,0 1,0-1,0 25,0-24,-25 24,25 0,-25-24,1 24,24 0,-25 0,25 0,0-24,-25 49,-25-50,26 25,-1-24,0-1,0 50,-24-49,49 24,-25 0,0 0,-49 25,-26-49,-49-26,1 50,148 0,0 1,-50-1,50-25,0 1,0 24,0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1449F5-FE4C-4F3B-B812-DD97FF63BBE5}" type="datetimeFigureOut">
              <a:rPr lang="en-US" smtClean="0"/>
              <a:t>9/19/2022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01694C-2F76-42D6-96F2-4A51662D473E}" type="slidenum">
              <a:rPr lang="en-US" smtClean="0"/>
              <a:t>‹#›</a:t>
            </a:fld>
            <a:endParaRPr lang="en-US"/>
          </a:p>
        </p:txBody>
      </p:sp>
    </p:spTree>
    <p:extLst>
      <p:ext uri="{BB962C8B-B14F-4D97-AF65-F5344CB8AC3E}">
        <p14:creationId xmlns:p14="http://schemas.microsoft.com/office/powerpoint/2010/main" val="34081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01694C-2F76-42D6-96F2-4A51662D473E}" type="slidenum">
              <a:rPr lang="en-US" smtClean="0"/>
              <a:t>82</a:t>
            </a:fld>
            <a:endParaRPr lang="en-US"/>
          </a:p>
        </p:txBody>
      </p:sp>
    </p:spTree>
    <p:extLst>
      <p:ext uri="{BB962C8B-B14F-4D97-AF65-F5344CB8AC3E}">
        <p14:creationId xmlns:p14="http://schemas.microsoft.com/office/powerpoint/2010/main" val="2670255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2864265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489686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313794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237182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200455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1704763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188520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560152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332384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789768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AB387-FFC3-461A-8497-A6743A388370}" type="datetimeFigureOut">
              <a:rPr lang="en-US" smtClean="0"/>
              <a:t>9/19/2022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extLst>
      <p:ext uri="{BB962C8B-B14F-4D97-AF65-F5344CB8AC3E}">
        <p14:creationId xmlns:p14="http://schemas.microsoft.com/office/powerpoint/2010/main" val="90739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6AB387-FFC3-461A-8497-A6743A388370}" type="datetimeFigureOut">
              <a:rPr lang="en-US" smtClean="0"/>
              <a:t>9/19/2022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D2928-68E8-4CA4-A73F-E659D4C6BD59}" type="slidenum">
              <a:rPr lang="en-US" smtClean="0"/>
              <a:t>‹#›</a:t>
            </a:fld>
            <a:endParaRPr lang="en-US" dirty="0"/>
          </a:p>
        </p:txBody>
      </p:sp>
    </p:spTree>
    <p:extLst>
      <p:ext uri="{BB962C8B-B14F-4D97-AF65-F5344CB8AC3E}">
        <p14:creationId xmlns:p14="http://schemas.microsoft.com/office/powerpoint/2010/main" val="4176534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Covalent_bond" TargetMode="External"/><Relationship Id="rId13" Type="http://schemas.openxmlformats.org/officeDocument/2006/relationships/hyperlink" Target="https://en.wikipedia.org/wiki/Orbital_hybridization" TargetMode="External"/><Relationship Id="rId3" Type="http://schemas.openxmlformats.org/officeDocument/2006/relationships/hyperlink" Target="https://en.wikipedia.org/wiki/Lewis_structure" TargetMode="External"/><Relationship Id="rId7" Type="http://schemas.openxmlformats.org/officeDocument/2006/relationships/hyperlink" Target="https://en.wikipedia.org/wiki/Wavefunction" TargetMode="External"/><Relationship Id="rId12" Type="http://schemas.openxmlformats.org/officeDocument/2006/relationships/hyperlink" Target="https://en.wikipedia.org/wiki/Resonance_(chemistry)" TargetMode="External"/><Relationship Id="rId2" Type="http://schemas.openxmlformats.org/officeDocument/2006/relationships/hyperlink" Target="https://en.wikipedia.org/wiki/G._N._Lewis" TargetMode="External"/><Relationship Id="rId1" Type="http://schemas.openxmlformats.org/officeDocument/2006/relationships/slideLayout" Target="../slideLayouts/slideLayout2.xml"/><Relationship Id="rId6" Type="http://schemas.openxmlformats.org/officeDocument/2006/relationships/hyperlink" Target="https://en.wikipedia.org/wiki/Schr%C3%B6dinger_equation" TargetMode="External"/><Relationship Id="rId11" Type="http://schemas.openxmlformats.org/officeDocument/2006/relationships/hyperlink" Target="https://en.wikipedia.org/wiki/Linus_Pauling" TargetMode="External"/><Relationship Id="rId5" Type="http://schemas.openxmlformats.org/officeDocument/2006/relationships/hyperlink" Target="https://en.wikipedia.org/wiki/Walter_Heitler" TargetMode="External"/><Relationship Id="rId15" Type="http://schemas.openxmlformats.org/officeDocument/2006/relationships/hyperlink" Target="https://en.wikipedia.org/wiki/Valence_(chemistry)" TargetMode="External"/><Relationship Id="rId10" Type="http://schemas.openxmlformats.org/officeDocument/2006/relationships/hyperlink" Target="https://en.wikipedia.org/wiki/Valence_bond_theory#cite_note-2" TargetMode="External"/><Relationship Id="rId4" Type="http://schemas.openxmlformats.org/officeDocument/2006/relationships/hyperlink" Target="https://en.wikipedia.org/wiki/Hydrogen" TargetMode="External"/><Relationship Id="rId9" Type="http://schemas.openxmlformats.org/officeDocument/2006/relationships/hyperlink" Target="https://en.wikipedia.org/wiki/Fritz_London" TargetMode="External"/><Relationship Id="rId14" Type="http://schemas.openxmlformats.org/officeDocument/2006/relationships/hyperlink" Target="https://en.wikipedia.org/wiki/Charles_Coulson"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chem.libretexts.org/Bookshelves/Physical_and_Theoretical_Chemistry_Textbook_Map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68.emf"/></Relationships>
</file>

<file path=ppt/slides/_rels/slide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7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8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990600"/>
            <a:ext cx="8458200" cy="3331938"/>
          </a:xfrm>
          <a:prstGeom prst="rect">
            <a:avLst/>
          </a:prstGeom>
        </p:spPr>
        <p:txBody>
          <a:bodyPr wrap="square">
            <a:spAutoFit/>
          </a:bodyPr>
          <a:lstStyle/>
          <a:p>
            <a:pPr>
              <a:lnSpc>
                <a:spcPct val="200000"/>
              </a:lnSpc>
            </a:pPr>
            <a:r>
              <a:rPr lang="en-US" b="1" dirty="0">
                <a:latin typeface="Times New Roman" pitchFamily="18" charset="0"/>
                <a:cs typeface="Times New Roman" pitchFamily="18" charset="0"/>
              </a:rPr>
              <a:t>Detailed study of the covalent bond theories: (a) The nature of the </a:t>
            </a:r>
            <a:r>
              <a:rPr lang="en-US" b="1" dirty="0" smtClean="0">
                <a:latin typeface="Times New Roman" pitchFamily="18" charset="0"/>
                <a:cs typeface="Times New Roman" pitchFamily="18" charset="0"/>
              </a:rPr>
              <a:t>covalent </a:t>
            </a:r>
            <a:r>
              <a:rPr lang="en-US" b="1" dirty="0">
                <a:latin typeface="Times New Roman" pitchFamily="18" charset="0"/>
                <a:cs typeface="Times New Roman" pitchFamily="18" charset="0"/>
              </a:rPr>
              <a:t>bonding: wave mechanical principle, valence bond theory (VBT) of hydrogen molecule, hybridization, VBT description using hybrid orbitals, resonance. (b) Molecular orbital theory (MOT) of homo-and hetero-diatomic molecules, HOMO and LUMO, molecular orbitals of polyatomic molecules with </a:t>
            </a:r>
            <a:r>
              <a:rPr lang="en-US" b="1" dirty="0" smtClean="0">
                <a:latin typeface="Times New Roman" pitchFamily="18" charset="0"/>
                <a:cs typeface="Times New Roman" pitchFamily="18" charset="0"/>
                <a:sym typeface="Symbol"/>
              </a:rPr>
              <a:t> </a:t>
            </a:r>
            <a:r>
              <a:rPr lang="en-US" b="1" dirty="0" smtClean="0">
                <a:latin typeface="Times New Roman" pitchFamily="18" charset="0"/>
                <a:cs typeface="Times New Roman" pitchFamily="18" charset="0"/>
              </a:rPr>
              <a:t>and </a:t>
            </a:r>
            <a:r>
              <a:rPr lang="en-US" b="1" dirty="0" smtClean="0">
                <a:latin typeface="Times New Roman" pitchFamily="18" charset="0"/>
                <a:cs typeface="Times New Roman" pitchFamily="18" charset="0"/>
                <a:sym typeface="Symbol"/>
              </a:rPr>
              <a:t></a:t>
            </a:r>
            <a:r>
              <a:rPr lang="en-US" b="1" dirty="0" smtClean="0">
                <a:latin typeface="Times New Roman" pitchFamily="18" charset="0"/>
                <a:cs typeface="Times New Roman" pitchFamily="18" charset="0"/>
              </a:rPr>
              <a:t>-</a:t>
            </a:r>
            <a:r>
              <a:rPr lang="en-US" b="1" dirty="0">
                <a:latin typeface="Times New Roman" pitchFamily="18" charset="0"/>
                <a:cs typeface="Times New Roman" pitchFamily="18" charset="0"/>
              </a:rPr>
              <a:t>bonding, the ligand group orbital approach, comparison of VBT and MOT.</a:t>
            </a:r>
          </a:p>
        </p:txBody>
      </p:sp>
      <p:sp>
        <p:nvSpPr>
          <p:cNvPr id="5" name="TextBox 4"/>
          <p:cNvSpPr txBox="1"/>
          <p:nvPr/>
        </p:nvSpPr>
        <p:spPr>
          <a:xfrm>
            <a:off x="762000" y="533400"/>
            <a:ext cx="1605568" cy="369332"/>
          </a:xfrm>
          <a:prstGeom prst="rect">
            <a:avLst/>
          </a:prstGeom>
          <a:noFill/>
        </p:spPr>
        <p:txBody>
          <a:bodyPr wrap="none" rtlCol="0">
            <a:spAutoFit/>
          </a:bodyPr>
          <a:lstStyle/>
          <a:p>
            <a:r>
              <a:rPr lang="en-US" dirty="0" smtClean="0"/>
              <a:t>Chapter topics:</a:t>
            </a:r>
            <a:endParaRPr lang="en-US" dirty="0"/>
          </a:p>
        </p:txBody>
      </p:sp>
      <p:sp>
        <p:nvSpPr>
          <p:cNvPr id="2" name="TextBox 1"/>
          <p:cNvSpPr txBox="1"/>
          <p:nvPr/>
        </p:nvSpPr>
        <p:spPr>
          <a:xfrm>
            <a:off x="6248400" y="5029200"/>
            <a:ext cx="1600118" cy="646331"/>
          </a:xfrm>
          <a:prstGeom prst="rect">
            <a:avLst/>
          </a:prstGeom>
          <a:noFill/>
        </p:spPr>
        <p:txBody>
          <a:bodyPr wrap="none" rtlCol="0">
            <a:spAutoFit/>
          </a:bodyPr>
          <a:lstStyle/>
          <a:p>
            <a:r>
              <a:rPr lang="en-US" dirty="0" smtClean="0"/>
              <a:t>James </a:t>
            </a:r>
            <a:r>
              <a:rPr lang="en-US" dirty="0" err="1" smtClean="0"/>
              <a:t>E.Huhee</a:t>
            </a:r>
            <a:endParaRPr lang="en-US" dirty="0" smtClean="0"/>
          </a:p>
          <a:p>
            <a:r>
              <a:rPr lang="en-US" dirty="0" smtClean="0"/>
              <a:t>J D. </a:t>
            </a:r>
            <a:r>
              <a:rPr lang="en-US" smtClean="0"/>
              <a:t>Lee</a:t>
            </a:r>
            <a:endParaRPr lang="en-US" dirty="0"/>
          </a:p>
        </p:txBody>
      </p:sp>
    </p:spTree>
    <p:extLst>
      <p:ext uri="{BB962C8B-B14F-4D97-AF65-F5344CB8AC3E}">
        <p14:creationId xmlns:p14="http://schemas.microsoft.com/office/powerpoint/2010/main" val="5312912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8382000" cy="3754874"/>
          </a:xfrm>
          <a:prstGeom prst="rect">
            <a:avLst/>
          </a:prstGeom>
        </p:spPr>
        <p:txBody>
          <a:bodyPr wrap="square">
            <a:spAutoFit/>
          </a:bodyPr>
          <a:lstStyle/>
          <a:p>
            <a:r>
              <a:rPr lang="en-US" dirty="0"/>
              <a:t>TYPES OF BONDS</a:t>
            </a:r>
          </a:p>
          <a:p>
            <a:r>
              <a:rPr lang="en-US" sz="2000" dirty="0">
                <a:latin typeface="Times New Roman" pitchFamily="18" charset="0"/>
                <a:cs typeface="Times New Roman" pitchFamily="18" charset="0"/>
              </a:rPr>
              <a:t>Atoms may attain a stable electronic configuration in three different ways:</a:t>
            </a:r>
          </a:p>
          <a:p>
            <a:r>
              <a:rPr lang="en-US" sz="2000" dirty="0">
                <a:latin typeface="Times New Roman" pitchFamily="18" charset="0"/>
                <a:cs typeface="Times New Roman" pitchFamily="18" charset="0"/>
              </a:rPr>
              <a:t>by losing electrons, by gaining electrons, or by sharing electrons.</a:t>
            </a:r>
          </a:p>
          <a:p>
            <a:r>
              <a:rPr lang="en-US" sz="2000" dirty="0">
                <a:latin typeface="Times New Roman" pitchFamily="18" charset="0"/>
                <a:cs typeface="Times New Roman" pitchFamily="18" charset="0"/>
              </a:rPr>
              <a:t>Elements may be divided into</a:t>
            </a: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 </a:t>
            </a:r>
            <a:r>
              <a:rPr lang="en-US" sz="2000" dirty="0" smtClean="0">
                <a:latin typeface="Times New Roman" pitchFamily="18" charset="0"/>
                <a:cs typeface="Times New Roman" pitchFamily="18" charset="0"/>
              </a:rPr>
              <a:t>Electropositive </a:t>
            </a:r>
            <a:r>
              <a:rPr lang="en-US" sz="2000" dirty="0">
                <a:latin typeface="Times New Roman" pitchFamily="18" charset="0"/>
                <a:cs typeface="Times New Roman" pitchFamily="18" charset="0"/>
              </a:rPr>
              <a:t>elements, whose atoms give up one or more electrons</a:t>
            </a:r>
          </a:p>
          <a:p>
            <a:r>
              <a:rPr lang="en-US" sz="2000" dirty="0">
                <a:latin typeface="Times New Roman" pitchFamily="18" charset="0"/>
                <a:cs typeface="Times New Roman" pitchFamily="18" charset="0"/>
              </a:rPr>
              <a:t>fairly readily.</a:t>
            </a:r>
          </a:p>
          <a:p>
            <a:r>
              <a:rPr lang="en-US" sz="2000" dirty="0">
                <a:latin typeface="Times New Roman" pitchFamily="18" charset="0"/>
                <a:cs typeface="Times New Roman" pitchFamily="18" charset="0"/>
              </a:rPr>
              <a:t>2. electronegative elements. which will accept electrons.</a:t>
            </a:r>
          </a:p>
          <a:p>
            <a:r>
              <a:rPr lang="en-US" sz="2000" dirty="0">
                <a:latin typeface="Times New Roman" pitchFamily="18" charset="0"/>
                <a:cs typeface="Times New Roman" pitchFamily="18" charset="0"/>
              </a:rPr>
              <a:t>3. Elements which have little tendency to Jose or gain electrons</a:t>
            </a: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Three different types of bond may be formed, depending on the</a:t>
            </a:r>
          </a:p>
          <a:p>
            <a:r>
              <a:rPr lang="en-US" sz="2000" dirty="0">
                <a:latin typeface="Times New Roman" pitchFamily="18" charset="0"/>
                <a:cs typeface="Times New Roman" pitchFamily="18" charset="0"/>
              </a:rPr>
              <a:t>electropositive or electronegative character of the atoms involved.</a:t>
            </a:r>
          </a:p>
        </p:txBody>
      </p:sp>
    </p:spTree>
    <p:extLst>
      <p:ext uri="{BB962C8B-B14F-4D97-AF65-F5344CB8AC3E}">
        <p14:creationId xmlns:p14="http://schemas.microsoft.com/office/powerpoint/2010/main" val="16507941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533400"/>
            <a:ext cx="87630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31451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4572000" cy="4524315"/>
          </a:xfrm>
          <a:prstGeom prst="rect">
            <a:avLst/>
          </a:prstGeom>
        </p:spPr>
        <p:txBody>
          <a:bodyPr>
            <a:spAutoFit/>
          </a:bodyPr>
          <a:lstStyle/>
          <a:p>
            <a:r>
              <a:rPr lang="en-US" sz="2400" dirty="0">
                <a:latin typeface="Times New Roman" pitchFamily="18" charset="0"/>
                <a:cs typeface="Times New Roman" pitchFamily="18" charset="0"/>
              </a:rPr>
              <a:t>If </a:t>
            </a:r>
            <a:r>
              <a:rPr lang="en-US" sz="2400" dirty="0" smtClean="0">
                <a:latin typeface="Times New Roman" pitchFamily="18" charset="0"/>
                <a:cs typeface="Times New Roman" pitchFamily="18" charset="0"/>
              </a:rPr>
              <a:t>the three </a:t>
            </a:r>
            <a:r>
              <a:rPr lang="en-US" sz="2400" dirty="0">
                <a:latin typeface="Times New Roman" pitchFamily="18" charset="0"/>
                <a:cs typeface="Times New Roman" pitchFamily="18" charset="0"/>
              </a:rPr>
              <a:t>extreme bond types are placed at the corners of a triangle, </a:t>
            </a:r>
            <a:r>
              <a:rPr lang="en-US" sz="2400" dirty="0" smtClean="0">
                <a:latin typeface="Times New Roman" pitchFamily="18" charset="0"/>
                <a:cs typeface="Times New Roman" pitchFamily="18" charset="0"/>
              </a:rPr>
              <a:t>then compounds </a:t>
            </a:r>
            <a:r>
              <a:rPr lang="en-US" sz="2400" dirty="0">
                <a:latin typeface="Times New Roman" pitchFamily="18" charset="0"/>
                <a:cs typeface="Times New Roman" pitchFamily="18" charset="0"/>
              </a:rPr>
              <a:t>with bonds predominantly of one type will be represented </a:t>
            </a:r>
            <a:r>
              <a:rPr lang="en-US" sz="2400" dirty="0" smtClean="0">
                <a:latin typeface="Times New Roman" pitchFamily="18" charset="0"/>
                <a:cs typeface="Times New Roman" pitchFamily="18" charset="0"/>
              </a:rPr>
              <a:t>as points </a:t>
            </a:r>
            <a:r>
              <a:rPr lang="en-US" sz="2400" dirty="0">
                <a:latin typeface="Times New Roman" pitchFamily="18" charset="0"/>
                <a:cs typeface="Times New Roman" pitchFamily="18" charset="0"/>
              </a:rPr>
              <a:t>near the corners. Compounds with bonds intermediate between </a:t>
            </a:r>
            <a:r>
              <a:rPr lang="en-US" sz="2400" dirty="0" smtClean="0">
                <a:latin typeface="Times New Roman" pitchFamily="18" charset="0"/>
                <a:cs typeface="Times New Roman" pitchFamily="18" charset="0"/>
              </a:rPr>
              <a:t>two types </a:t>
            </a:r>
            <a:r>
              <a:rPr lang="en-US" sz="2400" dirty="0">
                <a:latin typeface="Times New Roman" pitchFamily="18" charset="0"/>
                <a:cs typeface="Times New Roman" pitchFamily="18" charset="0"/>
              </a:rPr>
              <a:t>will occur along an edge of the triangle, whilst compounds with </a:t>
            </a:r>
            <a:r>
              <a:rPr lang="en-US" sz="2400" dirty="0" smtClean="0">
                <a:latin typeface="Times New Roman" pitchFamily="18" charset="0"/>
                <a:cs typeface="Times New Roman" pitchFamily="18" charset="0"/>
              </a:rPr>
              <a:t>bonds showing </a:t>
            </a:r>
            <a:r>
              <a:rPr lang="en-US" sz="2400" dirty="0">
                <a:latin typeface="Times New Roman" pitchFamily="18" charset="0"/>
                <a:cs typeface="Times New Roman" pitchFamily="18" charset="0"/>
              </a:rPr>
              <a:t>some characteristics of all three types are shown as points </a:t>
            </a:r>
            <a:r>
              <a:rPr lang="en-US" sz="2400" dirty="0" smtClean="0">
                <a:latin typeface="Times New Roman" pitchFamily="18" charset="0"/>
                <a:cs typeface="Times New Roman" pitchFamily="18" charset="0"/>
              </a:rPr>
              <a:t>inside the </a:t>
            </a:r>
            <a:r>
              <a:rPr lang="en-US" sz="2400" dirty="0">
                <a:latin typeface="Times New Roman" pitchFamily="18" charset="0"/>
                <a:cs typeface="Times New Roman" pitchFamily="18" charset="0"/>
              </a:rPr>
              <a:t>triangle.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647" y="152400"/>
            <a:ext cx="4395856" cy="4343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22388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610600" cy="1631216"/>
          </a:xfrm>
          <a:prstGeom prst="rect">
            <a:avLst/>
          </a:prstGeom>
        </p:spPr>
        <p:txBody>
          <a:bodyPr wrap="square">
            <a:spAutoFit/>
          </a:bodyPr>
          <a:lstStyle/>
          <a:p>
            <a:r>
              <a:rPr lang="en-US" sz="2000" b="1" dirty="0">
                <a:latin typeface="Times New Roman" pitchFamily="18" charset="0"/>
                <a:cs typeface="Times New Roman" pitchFamily="18" charset="0"/>
              </a:rPr>
              <a:t>This theory was proposed by Linus Pauling, who was awarded the </a:t>
            </a:r>
            <a:r>
              <a:rPr lang="en-US" sz="2000" b="1" dirty="0" smtClean="0">
                <a:latin typeface="Times New Roman" pitchFamily="18" charset="0"/>
                <a:cs typeface="Times New Roman" pitchFamily="18" charset="0"/>
              </a:rPr>
              <a:t>Nobel Prize for Chemistry </a:t>
            </a:r>
            <a:r>
              <a:rPr lang="en-US" sz="2000" b="1" dirty="0">
                <a:latin typeface="Times New Roman" pitchFamily="18" charset="0"/>
                <a:cs typeface="Times New Roman" pitchFamily="18" charset="0"/>
              </a:rPr>
              <a:t>in 1954. The theory was very widely used in the </a:t>
            </a:r>
            <a:r>
              <a:rPr lang="en-US" sz="2000" b="1" dirty="0" smtClean="0">
                <a:latin typeface="Times New Roman" pitchFamily="18" charset="0"/>
                <a:cs typeface="Times New Roman" pitchFamily="18" charset="0"/>
              </a:rPr>
              <a:t>period 1940-1960</a:t>
            </a:r>
            <a:r>
              <a:rPr lang="en-US" sz="2000" b="1" dirty="0">
                <a:latin typeface="Times New Roman" pitchFamily="18" charset="0"/>
                <a:cs typeface="Times New Roman" pitchFamily="18" charset="0"/>
              </a:rPr>
              <a:t>. Since then it. has to some extent fallen out of fashion. </a:t>
            </a:r>
            <a:r>
              <a:rPr lang="en-US" sz="2000" b="1" dirty="0" smtClean="0">
                <a:latin typeface="Times New Roman" pitchFamily="18" charset="0"/>
                <a:cs typeface="Times New Roman" pitchFamily="18" charset="0"/>
              </a:rPr>
              <a:t>However, it </a:t>
            </a:r>
            <a:r>
              <a:rPr lang="en-US" sz="2000" b="1" dirty="0">
                <a:latin typeface="Times New Roman" pitchFamily="18" charset="0"/>
                <a:cs typeface="Times New Roman" pitchFamily="18" charset="0"/>
              </a:rPr>
              <a:t>is still </a:t>
            </a:r>
            <a:r>
              <a:rPr lang="en-US" sz="2000" b="1" dirty="0" smtClean="0">
                <a:latin typeface="Times New Roman" pitchFamily="18" charset="0"/>
                <a:cs typeface="Times New Roman" pitchFamily="18" charset="0"/>
              </a:rPr>
              <a:t>much used by </a:t>
            </a:r>
            <a:r>
              <a:rPr lang="en-US" sz="2000" b="1" dirty="0">
                <a:latin typeface="Times New Roman" pitchFamily="18" charset="0"/>
                <a:cs typeface="Times New Roman" pitchFamily="18" charset="0"/>
              </a:rPr>
              <a:t>organic chemists, </a:t>
            </a:r>
            <a:r>
              <a:rPr lang="en-US" sz="2000" b="1" dirty="0" smtClean="0">
                <a:latin typeface="Times New Roman" pitchFamily="18" charset="0"/>
                <a:cs typeface="Times New Roman" pitchFamily="18" charset="0"/>
              </a:rPr>
              <a:t>and </a:t>
            </a:r>
            <a:r>
              <a:rPr lang="en-US" sz="2000" b="1" dirty="0">
                <a:latin typeface="Times New Roman" pitchFamily="18" charset="0"/>
                <a:cs typeface="Times New Roman" pitchFamily="18" charset="0"/>
              </a:rPr>
              <a:t>it provides a basis </a:t>
            </a:r>
            <a:r>
              <a:rPr lang="en-US" sz="2000" b="1" dirty="0" smtClean="0">
                <a:latin typeface="Times New Roman" pitchFamily="18" charset="0"/>
                <a:cs typeface="Times New Roman" pitchFamily="18" charset="0"/>
              </a:rPr>
              <a:t>for simple </a:t>
            </a:r>
            <a:r>
              <a:rPr lang="en-US" sz="2000" b="1" dirty="0">
                <a:latin typeface="Times New Roman" pitchFamily="18" charset="0"/>
                <a:cs typeface="Times New Roman" pitchFamily="18" charset="0"/>
              </a:rPr>
              <a:t>description of small inorganic molecules.</a:t>
            </a:r>
          </a:p>
        </p:txBody>
      </p:sp>
      <p:sp>
        <p:nvSpPr>
          <p:cNvPr id="5" name="Rectangle 4"/>
          <p:cNvSpPr/>
          <p:nvPr/>
        </p:nvSpPr>
        <p:spPr>
          <a:xfrm>
            <a:off x="152400" y="2438400"/>
            <a:ext cx="8763000" cy="3477875"/>
          </a:xfrm>
          <a:prstGeom prst="rect">
            <a:avLst/>
          </a:prstGeom>
        </p:spPr>
        <p:txBody>
          <a:bodyPr wrap="square">
            <a:spAutoFit/>
          </a:bodyPr>
          <a:lstStyle/>
          <a:p>
            <a:r>
              <a:rPr lang="en-US" sz="2000" dirty="0">
                <a:latin typeface="Times New Roman" pitchFamily="18" charset="0"/>
                <a:cs typeface="Times New Roman" pitchFamily="18" charset="0"/>
              </a:rPr>
              <a:t>Atoms with unpaired electrons tend to combine with other atoms </a:t>
            </a:r>
            <a:r>
              <a:rPr lang="en-US" sz="2000" dirty="0" smtClean="0">
                <a:latin typeface="Times New Roman" pitchFamily="18" charset="0"/>
                <a:cs typeface="Times New Roman" pitchFamily="18" charset="0"/>
              </a:rPr>
              <a:t>which also </a:t>
            </a:r>
            <a:r>
              <a:rPr lang="en-US" sz="2000" dirty="0">
                <a:latin typeface="Times New Roman" pitchFamily="18" charset="0"/>
                <a:cs typeface="Times New Roman" pitchFamily="18" charset="0"/>
              </a:rPr>
              <a:t>have </a:t>
            </a:r>
            <a:r>
              <a:rPr lang="en-US" sz="2000" dirty="0" smtClean="0">
                <a:latin typeface="Times New Roman" pitchFamily="18" charset="0"/>
                <a:cs typeface="Times New Roman" pitchFamily="18" charset="0"/>
              </a:rPr>
              <a:t>unpaired </a:t>
            </a:r>
            <a:r>
              <a:rPr lang="en-US" sz="2000" dirty="0">
                <a:latin typeface="Times New Roman" pitchFamily="18" charset="0"/>
                <a:cs typeface="Times New Roman" pitchFamily="18" charset="0"/>
              </a:rPr>
              <a:t>electrons. In this way the unpaired electrons are </a:t>
            </a:r>
            <a:r>
              <a:rPr lang="en-US" sz="2000" dirty="0" smtClean="0">
                <a:latin typeface="Times New Roman" pitchFamily="18" charset="0"/>
                <a:cs typeface="Times New Roman" pitchFamily="18" charset="0"/>
              </a:rPr>
              <a:t>paired up</a:t>
            </a:r>
            <a:r>
              <a:rPr lang="en-US" sz="2000" dirty="0">
                <a:latin typeface="Times New Roman" pitchFamily="18" charset="0"/>
                <a:cs typeface="Times New Roman" pitchFamily="18" charset="0"/>
              </a:rPr>
              <a:t>, and the atoms involved all attain a stable electronic arrangement. </a:t>
            </a:r>
            <a:r>
              <a:rPr lang="en-US" sz="2000" dirty="0" smtClean="0">
                <a:latin typeface="Times New Roman" pitchFamily="18" charset="0"/>
                <a:cs typeface="Times New Roman" pitchFamily="18" charset="0"/>
              </a:rPr>
              <a:t>This is usually </a:t>
            </a:r>
            <a:r>
              <a:rPr lang="en-US" sz="2000" dirty="0">
                <a:latin typeface="Times New Roman" pitchFamily="18" charset="0"/>
                <a:cs typeface="Times New Roman" pitchFamily="18" charset="0"/>
              </a:rPr>
              <a:t>a </a:t>
            </a:r>
            <a:r>
              <a:rPr lang="en-US" sz="2000" dirty="0" smtClean="0">
                <a:latin typeface="Times New Roman" pitchFamily="18" charset="0"/>
                <a:cs typeface="Times New Roman" pitchFamily="18" charset="0"/>
              </a:rPr>
              <a:t>full </a:t>
            </a:r>
            <a:r>
              <a:rPr lang="en-US" sz="2000" dirty="0">
                <a:latin typeface="Times New Roman" pitchFamily="18" charset="0"/>
                <a:cs typeface="Times New Roman" pitchFamily="18" charset="0"/>
              </a:rPr>
              <a:t>shell of electrons (i.e. a noble gas configuration). </a:t>
            </a:r>
            <a:r>
              <a:rPr lang="en-US" sz="2000" dirty="0" smtClean="0">
                <a:latin typeface="Times New Roman" pitchFamily="18" charset="0"/>
                <a:cs typeface="Times New Roman" pitchFamily="18" charset="0"/>
              </a:rPr>
              <a:t>Two electrons </a:t>
            </a:r>
            <a:r>
              <a:rPr lang="en-US" sz="2000" dirty="0">
                <a:latin typeface="Times New Roman" pitchFamily="18" charset="0"/>
                <a:cs typeface="Times New Roman" pitchFamily="18" charset="0"/>
              </a:rPr>
              <a:t>shared between two atoms </a:t>
            </a:r>
            <a:r>
              <a:rPr lang="en-US" sz="2000" dirty="0" smtClean="0">
                <a:latin typeface="Times New Roman" pitchFamily="18" charset="0"/>
                <a:cs typeface="Times New Roman" pitchFamily="18" charset="0"/>
              </a:rPr>
              <a:t> constitute </a:t>
            </a:r>
            <a:r>
              <a:rPr lang="en-US" sz="2000" dirty="0">
                <a:latin typeface="Times New Roman" pitchFamily="18" charset="0"/>
                <a:cs typeface="Times New Roman" pitchFamily="18" charset="0"/>
              </a:rPr>
              <a:t>a bond. The number </a:t>
            </a:r>
            <a:r>
              <a:rPr lang="en-US" sz="2000" dirty="0" smtClean="0">
                <a:latin typeface="Times New Roman" pitchFamily="18" charset="0"/>
                <a:cs typeface="Times New Roman" pitchFamily="18" charset="0"/>
              </a:rPr>
              <a:t>of bond is formed </a:t>
            </a:r>
            <a:r>
              <a:rPr lang="en-US" sz="2000" dirty="0">
                <a:latin typeface="Times New Roman" pitchFamily="18" charset="0"/>
                <a:cs typeface="Times New Roman" pitchFamily="18" charset="0"/>
              </a:rPr>
              <a:t>by an atom is </a:t>
            </a:r>
            <a:r>
              <a:rPr lang="en-US" sz="2000" dirty="0" smtClean="0">
                <a:latin typeface="Times New Roman" pitchFamily="18" charset="0"/>
                <a:cs typeface="Times New Roman" pitchFamily="18" charset="0"/>
              </a:rPr>
              <a:t>usually </a:t>
            </a:r>
            <a:r>
              <a:rPr lang="en-US" sz="2000" dirty="0">
                <a:latin typeface="Times New Roman" pitchFamily="18" charset="0"/>
                <a:cs typeface="Times New Roman" pitchFamily="18" charset="0"/>
              </a:rPr>
              <a:t>the same as the number of </a:t>
            </a:r>
            <a:r>
              <a:rPr lang="en-US" sz="2000" dirty="0" smtClean="0">
                <a:latin typeface="Times New Roman" pitchFamily="18" charset="0"/>
                <a:cs typeface="Times New Roman" pitchFamily="18" charset="0"/>
              </a:rPr>
              <a:t>unpaired electrons </a:t>
            </a:r>
            <a:r>
              <a:rPr lang="en-US" sz="2000" dirty="0">
                <a:latin typeface="Times New Roman" pitchFamily="18" charset="0"/>
                <a:cs typeface="Times New Roman" pitchFamily="18" charset="0"/>
              </a:rPr>
              <a:t>in the ground state, i.e. the lowest energy state. However, </a:t>
            </a:r>
            <a:r>
              <a:rPr lang="en-US" sz="2000" dirty="0" smtClean="0">
                <a:latin typeface="Times New Roman" pitchFamily="18" charset="0"/>
                <a:cs typeface="Times New Roman" pitchFamily="18" charset="0"/>
              </a:rPr>
              <a:t>in some </a:t>
            </a:r>
            <a:r>
              <a:rPr lang="en-US" sz="2000" dirty="0">
                <a:latin typeface="Times New Roman" pitchFamily="18" charset="0"/>
                <a:cs typeface="Times New Roman" pitchFamily="18" charset="0"/>
              </a:rPr>
              <a:t>cases the atom may form more bonds than this. This occurs by </a:t>
            </a:r>
            <a:r>
              <a:rPr lang="en-US" sz="2000" dirty="0" smtClean="0">
                <a:latin typeface="Times New Roman" pitchFamily="18" charset="0"/>
                <a:cs typeface="Times New Roman" pitchFamily="18" charset="0"/>
              </a:rPr>
              <a:t>excitation of </a:t>
            </a:r>
            <a:r>
              <a:rPr lang="en-US" sz="2000" dirty="0">
                <a:latin typeface="Times New Roman" pitchFamily="18" charset="0"/>
                <a:cs typeface="Times New Roman" pitchFamily="18" charset="0"/>
              </a:rPr>
              <a:t>the atom (i.e. providing it with energy) when electrons </a:t>
            </a:r>
            <a:r>
              <a:rPr lang="en-US" sz="2000" dirty="0" smtClean="0">
                <a:latin typeface="Times New Roman" pitchFamily="18" charset="0"/>
                <a:cs typeface="Times New Roman" pitchFamily="18" charset="0"/>
              </a:rPr>
              <a:t>which were </a:t>
            </a:r>
            <a:r>
              <a:rPr lang="en-US" sz="2000" dirty="0">
                <a:latin typeface="Times New Roman" pitchFamily="18" charset="0"/>
                <a:cs typeface="Times New Roman" pitchFamily="18" charset="0"/>
              </a:rPr>
              <a:t>paired in the ground state are unpaired and promoted into </a:t>
            </a:r>
            <a:r>
              <a:rPr lang="en-US" sz="2000" dirty="0" smtClean="0">
                <a:latin typeface="Times New Roman" pitchFamily="18" charset="0"/>
                <a:cs typeface="Times New Roman" pitchFamily="18" charset="0"/>
              </a:rPr>
              <a:t>suitable empty </a:t>
            </a:r>
            <a:r>
              <a:rPr lang="en-US" sz="2000" dirty="0">
                <a:latin typeface="Times New Roman" pitchFamily="18" charset="0"/>
                <a:cs typeface="Times New Roman" pitchFamily="18" charset="0"/>
              </a:rPr>
              <a:t>orbitals. This increases the number of unpaired electrons, </a:t>
            </a:r>
            <a:r>
              <a:rPr lang="en-US" sz="2000" dirty="0" smtClean="0">
                <a:latin typeface="Times New Roman" pitchFamily="18" charset="0"/>
                <a:cs typeface="Times New Roman" pitchFamily="18" charset="0"/>
              </a:rPr>
              <a:t>and hence </a:t>
            </a:r>
            <a:r>
              <a:rPr lang="en-US" sz="2000" dirty="0">
                <a:latin typeface="Times New Roman" pitchFamily="18" charset="0"/>
                <a:cs typeface="Times New Roman" pitchFamily="18" charset="0"/>
              </a:rPr>
              <a:t>the number of bonds which can be formed.</a:t>
            </a:r>
          </a:p>
        </p:txBody>
      </p:sp>
    </p:spTree>
    <p:extLst>
      <p:ext uri="{BB962C8B-B14F-4D97-AF65-F5344CB8AC3E}">
        <p14:creationId xmlns:p14="http://schemas.microsoft.com/office/powerpoint/2010/main" val="41523918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4953000" cy="339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1.2: Valence Bond Theory- Lewis Dot Structures, the Octet Rule, Formal  Charge, Resonance, and the Isoelectronic Principle - Chemistry LibreTex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3140" y="3505200"/>
            <a:ext cx="4094529" cy="3336851"/>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Draw the electron dot structure for oxygen molec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572000"/>
            <a:ext cx="2562225" cy="19812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468" y="5029200"/>
            <a:ext cx="1045864" cy="646331"/>
          </a:xfrm>
          <a:prstGeom prst="rect">
            <a:avLst/>
          </a:prstGeom>
          <a:noFill/>
        </p:spPr>
        <p:txBody>
          <a:bodyPr wrap="none" rtlCol="0">
            <a:spAutoFit/>
          </a:bodyPr>
          <a:lstStyle/>
          <a:p>
            <a:r>
              <a:rPr lang="en-US" dirty="0" smtClean="0"/>
              <a:t>Singlet?</a:t>
            </a:r>
          </a:p>
          <a:p>
            <a:r>
              <a:rPr lang="en-US" dirty="0" smtClean="0"/>
              <a:t>Or triplet</a:t>
            </a:r>
            <a:endParaRPr lang="en-US" dirty="0"/>
          </a:p>
        </p:txBody>
      </p:sp>
    </p:spTree>
    <p:extLst>
      <p:ext uri="{BB962C8B-B14F-4D97-AF65-F5344CB8AC3E}">
        <p14:creationId xmlns:p14="http://schemas.microsoft.com/office/powerpoint/2010/main" val="16485644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1015663"/>
          </a:xfrm>
          <a:prstGeom prst="rect">
            <a:avLst/>
          </a:prstGeom>
        </p:spPr>
        <p:txBody>
          <a:bodyPr wrap="square">
            <a:spAutoFit/>
          </a:bodyPr>
          <a:lstStyle/>
          <a:p>
            <a:r>
              <a:rPr lang="en-US" sz="2000" dirty="0">
                <a:latin typeface="Times New Roman" pitchFamily="18" charset="0"/>
                <a:cs typeface="Times New Roman" pitchFamily="18" charset="0"/>
              </a:rPr>
              <a:t>The shape of the molecule is determined primarily by the </a:t>
            </a:r>
            <a:r>
              <a:rPr lang="en-US" sz="2000" dirty="0" smtClean="0">
                <a:latin typeface="Times New Roman" pitchFamily="18" charset="0"/>
                <a:cs typeface="Times New Roman" pitchFamily="18" charset="0"/>
              </a:rPr>
              <a:t>directions in which </a:t>
            </a:r>
            <a:r>
              <a:rPr lang="en-US" sz="2000" dirty="0">
                <a:latin typeface="Times New Roman" pitchFamily="18" charset="0"/>
                <a:cs typeface="Times New Roman" pitchFamily="18" charset="0"/>
              </a:rPr>
              <a:t>the orbitals point. Electrons in the valence shell of the original </a:t>
            </a:r>
            <a:r>
              <a:rPr lang="en-US" sz="2000" dirty="0" smtClean="0">
                <a:latin typeface="Times New Roman" pitchFamily="18" charset="0"/>
                <a:cs typeface="Times New Roman" pitchFamily="18" charset="0"/>
              </a:rPr>
              <a:t>atom which </a:t>
            </a:r>
            <a:r>
              <a:rPr lang="en-US" sz="2000" dirty="0">
                <a:latin typeface="Times New Roman" pitchFamily="18" charset="0"/>
                <a:cs typeface="Times New Roman" pitchFamily="18" charset="0"/>
              </a:rPr>
              <a:t>are paired are called lone pairs.</a:t>
            </a:r>
          </a:p>
        </p:txBody>
      </p:sp>
      <p:sp>
        <p:nvSpPr>
          <p:cNvPr id="3" name="TextBox 2"/>
          <p:cNvSpPr txBox="1"/>
          <p:nvPr/>
        </p:nvSpPr>
        <p:spPr>
          <a:xfrm>
            <a:off x="457200" y="1555529"/>
            <a:ext cx="1066959" cy="369332"/>
          </a:xfrm>
          <a:prstGeom prst="rect">
            <a:avLst/>
          </a:prstGeom>
          <a:noFill/>
        </p:spPr>
        <p:txBody>
          <a:bodyPr wrap="none" rtlCol="0">
            <a:spAutoFit/>
          </a:bodyPr>
          <a:lstStyle/>
          <a:p>
            <a:r>
              <a:rPr lang="en-US" dirty="0" smtClean="0"/>
              <a:t>Examples</a:t>
            </a:r>
            <a:endParaRPr lang="en-US" dirty="0"/>
          </a:p>
        </p:txBody>
      </p:sp>
      <p:sp>
        <p:nvSpPr>
          <p:cNvPr id="4" name="Rectangle 3"/>
          <p:cNvSpPr/>
          <p:nvPr/>
        </p:nvSpPr>
        <p:spPr>
          <a:xfrm>
            <a:off x="379228" y="1924861"/>
            <a:ext cx="8382000" cy="1938992"/>
          </a:xfrm>
          <a:prstGeom prst="rect">
            <a:avLst/>
          </a:prstGeom>
        </p:spPr>
        <p:txBody>
          <a:bodyPr wrap="square">
            <a:spAutoFit/>
          </a:bodyPr>
          <a:lstStyle/>
          <a:p>
            <a:r>
              <a:rPr lang="en-US" sz="2000" dirty="0">
                <a:latin typeface="Times New Roman" pitchFamily="18" charset="0"/>
                <a:cs typeface="Times New Roman" pitchFamily="18" charset="0"/>
              </a:rPr>
              <a:t>1. In HF, H has a singly occupied </a:t>
            </a:r>
            <a:r>
              <a:rPr lang="en-US" sz="2000" i="1" dirty="0">
                <a:latin typeface="Times New Roman" pitchFamily="18" charset="0"/>
                <a:cs typeface="Times New Roman" pitchFamily="18" charset="0"/>
              </a:rPr>
              <a:t>s </a:t>
            </a:r>
            <a:r>
              <a:rPr lang="en-US" sz="2000" dirty="0">
                <a:latin typeface="Times New Roman" pitchFamily="18" charset="0"/>
                <a:cs typeface="Times New Roman" pitchFamily="18" charset="0"/>
              </a:rPr>
              <a:t>orbital that overlaps with a </a:t>
            </a:r>
            <a:r>
              <a:rPr lang="en-US" sz="2000" dirty="0" smtClean="0">
                <a:latin typeface="Times New Roman" pitchFamily="18" charset="0"/>
                <a:cs typeface="Times New Roman" pitchFamily="18" charset="0"/>
              </a:rPr>
              <a:t>singly filled </a:t>
            </a:r>
            <a:r>
              <a:rPr lang="en-US" sz="2000" i="1" dirty="0">
                <a:latin typeface="Times New Roman" pitchFamily="18" charset="0"/>
                <a:cs typeface="Times New Roman" pitchFamily="18" charset="0"/>
              </a:rPr>
              <a:t>2p </a:t>
            </a:r>
            <a:r>
              <a:rPr lang="en-US" sz="2000" dirty="0">
                <a:latin typeface="Times New Roman" pitchFamily="18" charset="0"/>
                <a:cs typeface="Times New Roman" pitchFamily="18" charset="0"/>
              </a:rPr>
              <a:t>orbital on F. </a:t>
            </a:r>
          </a:p>
          <a:p>
            <a:r>
              <a:rPr lang="en-US" sz="2000" dirty="0">
                <a:latin typeface="Times New Roman" pitchFamily="18" charset="0"/>
                <a:cs typeface="Times New Roman" pitchFamily="18" charset="0"/>
              </a:rPr>
              <a:t>2. In </a:t>
            </a:r>
            <a:r>
              <a:rPr lang="en-US" sz="2000" dirty="0" smtClean="0">
                <a:latin typeface="Times New Roman" pitchFamily="18" charset="0"/>
                <a:cs typeface="Times New Roman" pitchFamily="18" charset="0"/>
              </a:rPr>
              <a:t>H</a:t>
            </a:r>
            <a:r>
              <a:rPr lang="en-US" sz="2000" baseline="-25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O, </a:t>
            </a:r>
            <a:r>
              <a:rPr lang="en-US" sz="2000" dirty="0">
                <a:latin typeface="Times New Roman" pitchFamily="18" charset="0"/>
                <a:cs typeface="Times New Roman" pitchFamily="18" charset="0"/>
              </a:rPr>
              <a:t>the </a:t>
            </a:r>
            <a:r>
              <a:rPr lang="en-US" sz="2000" dirty="0" smtClean="0">
                <a:latin typeface="Times New Roman" pitchFamily="18" charset="0"/>
                <a:cs typeface="Times New Roman" pitchFamily="18" charset="0"/>
              </a:rPr>
              <a:t>O </a:t>
            </a:r>
            <a:r>
              <a:rPr lang="en-US" sz="2000" dirty="0">
                <a:latin typeface="Times New Roman" pitchFamily="18" charset="0"/>
                <a:cs typeface="Times New Roman" pitchFamily="18" charset="0"/>
              </a:rPr>
              <a:t>atom has two singly filled </a:t>
            </a:r>
            <a:r>
              <a:rPr lang="en-US" sz="2000" i="1" dirty="0">
                <a:latin typeface="Times New Roman" pitchFamily="18" charset="0"/>
                <a:cs typeface="Times New Roman" pitchFamily="18" charset="0"/>
              </a:rPr>
              <a:t>2p </a:t>
            </a:r>
            <a:r>
              <a:rPr lang="en-US" sz="2000" dirty="0">
                <a:latin typeface="Times New Roman" pitchFamily="18" charset="0"/>
                <a:cs typeface="Times New Roman" pitchFamily="18" charset="0"/>
              </a:rPr>
              <a:t>orbitals, each of </a:t>
            </a:r>
            <a:r>
              <a:rPr lang="en-US" sz="2000" dirty="0" smtClean="0">
                <a:latin typeface="Times New Roman" pitchFamily="18" charset="0"/>
                <a:cs typeface="Times New Roman" pitchFamily="18" charset="0"/>
              </a:rPr>
              <a:t>which overlaps </a:t>
            </a:r>
            <a:r>
              <a:rPr lang="en-US" sz="2000" dirty="0">
                <a:latin typeface="Times New Roman" pitchFamily="18" charset="0"/>
                <a:cs typeface="Times New Roman" pitchFamily="18" charset="0"/>
              </a:rPr>
              <a:t>with a singly occupied </a:t>
            </a:r>
            <a:r>
              <a:rPr lang="en-US" sz="2000" i="1" dirty="0">
                <a:latin typeface="Times New Roman" pitchFamily="18" charset="0"/>
                <a:cs typeface="Times New Roman" pitchFamily="18" charset="0"/>
              </a:rPr>
              <a:t>s </a:t>
            </a:r>
            <a:r>
              <a:rPr lang="en-US" sz="2000" dirty="0">
                <a:latin typeface="Times New Roman" pitchFamily="18" charset="0"/>
                <a:cs typeface="Times New Roman" pitchFamily="18" charset="0"/>
              </a:rPr>
              <a:t>orbital from two H atoms.</a:t>
            </a:r>
          </a:p>
          <a:p>
            <a:r>
              <a:rPr lang="en-US" sz="2000" dirty="0" smtClean="0">
                <a:latin typeface="Times New Roman" pitchFamily="18" charset="0"/>
                <a:cs typeface="Times New Roman" pitchFamily="18" charset="0"/>
              </a:rPr>
              <a:t>3</a:t>
            </a:r>
            <a:r>
              <a:rPr lang="en-US" sz="2000" dirty="0">
                <a:latin typeface="Times New Roman" pitchFamily="18" charset="0"/>
                <a:cs typeface="Times New Roman" pitchFamily="18" charset="0"/>
              </a:rPr>
              <a:t>. In NH</a:t>
            </a:r>
            <a:r>
              <a:rPr lang="en-US" sz="2000" baseline="-25000" dirty="0">
                <a:latin typeface="Times New Roman" pitchFamily="18" charset="0"/>
                <a:cs typeface="Times New Roman" pitchFamily="18" charset="0"/>
              </a:rPr>
              <a:t>3</a:t>
            </a:r>
            <a:r>
              <a:rPr lang="en-US" sz="2000" dirty="0">
                <a:latin typeface="Times New Roman" pitchFamily="18" charset="0"/>
                <a:cs typeface="Times New Roman" pitchFamily="18" charset="0"/>
              </a:rPr>
              <a:t> , there are three singly occupied </a:t>
            </a:r>
            <a:r>
              <a:rPr lang="en-US" sz="2000" i="1" dirty="0">
                <a:latin typeface="Times New Roman" pitchFamily="18" charset="0"/>
                <a:cs typeface="Times New Roman" pitchFamily="18" charset="0"/>
              </a:rPr>
              <a:t>p </a:t>
            </a:r>
            <a:r>
              <a:rPr lang="en-US" sz="2000" dirty="0">
                <a:latin typeface="Times New Roman" pitchFamily="18" charset="0"/>
                <a:cs typeface="Times New Roman" pitchFamily="18" charset="0"/>
              </a:rPr>
              <a:t>orbitals on N which </a:t>
            </a:r>
            <a:r>
              <a:rPr lang="en-US" sz="2000" dirty="0" smtClean="0">
                <a:latin typeface="Times New Roman" pitchFamily="18" charset="0"/>
                <a:cs typeface="Times New Roman" pitchFamily="18" charset="0"/>
              </a:rPr>
              <a:t>overlap with </a:t>
            </a:r>
            <a:r>
              <a:rPr lang="en-US" sz="2000" i="1" dirty="0">
                <a:latin typeface="Times New Roman" pitchFamily="18" charset="0"/>
                <a:cs typeface="Times New Roman" pitchFamily="18" charset="0"/>
              </a:rPr>
              <a:t>s </a:t>
            </a:r>
            <a:r>
              <a:rPr lang="en-US" sz="2000" dirty="0">
                <a:latin typeface="Times New Roman" pitchFamily="18" charset="0"/>
                <a:cs typeface="Times New Roman" pitchFamily="18" charset="0"/>
              </a:rPr>
              <a:t>orbitals from three H atoms</a:t>
            </a:r>
          </a:p>
        </p:txBody>
      </p:sp>
      <p:sp>
        <p:nvSpPr>
          <p:cNvPr id="5" name="TextBox 4"/>
          <p:cNvSpPr txBox="1"/>
          <p:nvPr/>
        </p:nvSpPr>
        <p:spPr>
          <a:xfrm>
            <a:off x="685800" y="3890434"/>
            <a:ext cx="7220246"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Discrepancy in  CH</a:t>
            </a:r>
            <a:r>
              <a:rPr lang="en-US" sz="2400" baseline="-25000" dirty="0" smtClean="0">
                <a:latin typeface="Times New Roman" pitchFamily="18" charset="0"/>
                <a:cs typeface="Times New Roman" pitchFamily="18" charset="0"/>
              </a:rPr>
              <a:t>4</a:t>
            </a:r>
            <a:r>
              <a:rPr lang="en-US" sz="2400" dirty="0" smtClean="0">
                <a:latin typeface="Times New Roman" pitchFamily="18" charset="0"/>
                <a:cs typeface="Times New Roman" pitchFamily="18" charset="0"/>
              </a:rPr>
              <a:t> led to the concept of Hybridization </a:t>
            </a:r>
            <a:endParaRPr lang="en-US"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0"/>
            <a:ext cx="832485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024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782" y="381000"/>
            <a:ext cx="8894618" cy="5632311"/>
          </a:xfrm>
          <a:prstGeom prst="rect">
            <a:avLst/>
          </a:prstGeom>
        </p:spPr>
        <p:txBody>
          <a:bodyPr wrap="square">
            <a:spAutoFit/>
          </a:bodyPr>
          <a:lstStyle/>
          <a:p>
            <a:r>
              <a:rPr lang="en-US" sz="2000" b="1" dirty="0" smtClean="0">
                <a:latin typeface="Times New Roman" pitchFamily="18" charset="0"/>
                <a:cs typeface="Times New Roman" pitchFamily="18" charset="0"/>
              </a:rPr>
              <a:t>In </a:t>
            </a:r>
            <a:r>
              <a:rPr lang="en-US" sz="2000" b="1" dirty="0">
                <a:latin typeface="Times New Roman" pitchFamily="18" charset="0"/>
                <a:cs typeface="Times New Roman" pitchFamily="18" charset="0"/>
              </a:rPr>
              <a:t>1916, </a:t>
            </a:r>
            <a:r>
              <a:rPr lang="en-US" sz="2000" b="1" dirty="0">
                <a:latin typeface="Times New Roman" pitchFamily="18" charset="0"/>
                <a:cs typeface="Times New Roman" pitchFamily="18" charset="0"/>
                <a:hlinkClick r:id="rId2" tooltip="Electronic band structure"/>
              </a:rPr>
              <a:t>G. N. Lewis</a:t>
            </a:r>
            <a:r>
              <a:rPr lang="en-US" sz="2000" b="1" dirty="0">
                <a:latin typeface="Times New Roman" pitchFamily="18" charset="0"/>
                <a:cs typeface="Times New Roman" pitchFamily="18" charset="0"/>
              </a:rPr>
              <a:t> proposed that a chemical bond forms by the interaction of two shared bonding electrons, with the representation of molecules as </a:t>
            </a:r>
            <a:r>
              <a:rPr lang="en-US" sz="2000" b="1" dirty="0">
                <a:latin typeface="Times New Roman" pitchFamily="18" charset="0"/>
                <a:cs typeface="Times New Roman" pitchFamily="18" charset="0"/>
                <a:hlinkClick r:id="rId3"/>
              </a:rPr>
              <a:t>Lewis structures</a:t>
            </a:r>
            <a:r>
              <a:rPr lang="en-US" sz="2000" b="1" dirty="0">
                <a:latin typeface="Times New Roman" pitchFamily="18" charset="0"/>
                <a:cs typeface="Times New Roman" pitchFamily="18" charset="0"/>
              </a:rPr>
              <a:t>. In 1927 the </a:t>
            </a:r>
            <a:r>
              <a:rPr lang="en-US" sz="2000" b="1" dirty="0" err="1">
                <a:latin typeface="Times New Roman" pitchFamily="18" charset="0"/>
                <a:cs typeface="Times New Roman" pitchFamily="18" charset="0"/>
              </a:rPr>
              <a:t>Heitler</a:t>
            </a:r>
            <a:r>
              <a:rPr lang="en-US" sz="2000" b="1" dirty="0">
                <a:latin typeface="Times New Roman" pitchFamily="18" charset="0"/>
                <a:cs typeface="Times New Roman" pitchFamily="18" charset="0"/>
              </a:rPr>
              <a:t>–London theory was formulated which for the first time enabled the calculation of bonding properties of the </a:t>
            </a:r>
            <a:r>
              <a:rPr lang="en-US" sz="2000" b="1" dirty="0">
                <a:latin typeface="Times New Roman" pitchFamily="18" charset="0"/>
                <a:cs typeface="Times New Roman" pitchFamily="18" charset="0"/>
                <a:hlinkClick r:id="rId4" tooltip="Hydrogen"/>
              </a:rPr>
              <a:t>hydrogen</a:t>
            </a:r>
            <a:r>
              <a:rPr lang="en-US" sz="2000" b="1" dirty="0">
                <a:latin typeface="Times New Roman" pitchFamily="18" charset="0"/>
                <a:cs typeface="Times New Roman" pitchFamily="18" charset="0"/>
              </a:rPr>
              <a:t> molecule H</a:t>
            </a:r>
            <a:r>
              <a:rPr lang="en-US" sz="2000" b="1" baseline="-25000" dirty="0">
                <a:latin typeface="Times New Roman" pitchFamily="18" charset="0"/>
                <a:cs typeface="Times New Roman" pitchFamily="18" charset="0"/>
              </a:rPr>
              <a:t>2</a:t>
            </a:r>
            <a:r>
              <a:rPr lang="en-US" sz="2000" b="1" dirty="0">
                <a:latin typeface="Times New Roman" pitchFamily="18" charset="0"/>
                <a:cs typeface="Times New Roman" pitchFamily="18" charset="0"/>
              </a:rPr>
              <a:t> based on quantum mechanical considerations. </a:t>
            </a:r>
            <a:endParaRPr lang="en-US" sz="2000" b="1" dirty="0" smtClean="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Specifically</a:t>
            </a:r>
            <a:r>
              <a:rPr lang="en-US" sz="2000" b="1" dirty="0">
                <a:latin typeface="Times New Roman" pitchFamily="18" charset="0"/>
                <a:cs typeface="Times New Roman" pitchFamily="18" charset="0"/>
              </a:rPr>
              <a:t>, </a:t>
            </a:r>
            <a:r>
              <a:rPr lang="en-US" sz="2000" b="1" dirty="0">
                <a:latin typeface="Times New Roman" pitchFamily="18" charset="0"/>
                <a:cs typeface="Times New Roman" pitchFamily="18" charset="0"/>
                <a:hlinkClick r:id="rId5" tooltip="Walter Heitler"/>
              </a:rPr>
              <a:t>Walter </a:t>
            </a:r>
            <a:r>
              <a:rPr lang="en-US" sz="2000" b="1" dirty="0" err="1">
                <a:latin typeface="Times New Roman" pitchFamily="18" charset="0"/>
                <a:cs typeface="Times New Roman" pitchFamily="18" charset="0"/>
                <a:hlinkClick r:id="rId5" tooltip="Walter Heitler"/>
              </a:rPr>
              <a:t>Heitler</a:t>
            </a:r>
            <a:r>
              <a:rPr lang="en-US" sz="2000" b="1" dirty="0">
                <a:latin typeface="Times New Roman" pitchFamily="18" charset="0"/>
                <a:cs typeface="Times New Roman" pitchFamily="18" charset="0"/>
              </a:rPr>
              <a:t> determined how to use </a:t>
            </a:r>
            <a:r>
              <a:rPr lang="en-US" sz="2000" b="1" dirty="0">
                <a:latin typeface="Times New Roman" pitchFamily="18" charset="0"/>
                <a:cs typeface="Times New Roman" pitchFamily="18" charset="0"/>
                <a:hlinkClick r:id="rId6" tooltip="Schrödinger equation"/>
              </a:rPr>
              <a:t>Schrödinger's wave equation</a:t>
            </a:r>
            <a:r>
              <a:rPr lang="en-US" sz="2000" b="1" dirty="0">
                <a:latin typeface="Times New Roman" pitchFamily="18" charset="0"/>
                <a:cs typeface="Times New Roman" pitchFamily="18" charset="0"/>
              </a:rPr>
              <a:t> (1926) to show how two hydrogen atom </a:t>
            </a:r>
            <a:r>
              <a:rPr lang="en-US" sz="2000" b="1" dirty="0" smtClean="0">
                <a:latin typeface="Times New Roman" pitchFamily="18" charset="0"/>
                <a:cs typeface="Times New Roman" pitchFamily="18" charset="0"/>
                <a:hlinkClick r:id="rId7" tooltip="Wavefunction"/>
              </a:rPr>
              <a:t>wave functions</a:t>
            </a: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join together, with plus, minus, and exchange terms, to form a </a:t>
            </a:r>
            <a:r>
              <a:rPr lang="en-US" sz="2000" b="1" dirty="0">
                <a:latin typeface="Times New Roman" pitchFamily="18" charset="0"/>
                <a:cs typeface="Times New Roman" pitchFamily="18" charset="0"/>
                <a:hlinkClick r:id="rId8" tooltip="Covalent bond"/>
              </a:rPr>
              <a:t>covalent bond</a:t>
            </a:r>
            <a:r>
              <a:rPr lang="en-US" sz="2000" b="1" dirty="0">
                <a:latin typeface="Times New Roman" pitchFamily="18" charset="0"/>
                <a:cs typeface="Times New Roman" pitchFamily="18" charset="0"/>
              </a:rPr>
              <a:t>. He then called up his associate </a:t>
            </a:r>
            <a:r>
              <a:rPr lang="en-US" sz="2000" b="1" dirty="0">
                <a:latin typeface="Times New Roman" pitchFamily="18" charset="0"/>
                <a:cs typeface="Times New Roman" pitchFamily="18" charset="0"/>
                <a:hlinkClick r:id="rId9" tooltip="Lewis structure"/>
              </a:rPr>
              <a:t>Fritz London</a:t>
            </a:r>
            <a:r>
              <a:rPr lang="en-US" sz="2000" b="1" dirty="0">
                <a:latin typeface="Times New Roman" pitchFamily="18" charset="0"/>
                <a:cs typeface="Times New Roman" pitchFamily="18" charset="0"/>
              </a:rPr>
              <a:t> and they worked out the details of the theory over the course of the night.</a:t>
            </a:r>
            <a:r>
              <a:rPr lang="en-US" sz="2000" b="1" baseline="30000" dirty="0">
                <a:latin typeface="Times New Roman" pitchFamily="18" charset="0"/>
                <a:cs typeface="Times New Roman" pitchFamily="18" charset="0"/>
                <a:hlinkClick r:id="rId10"/>
              </a:rPr>
              <a:t>[2]</a:t>
            </a:r>
            <a:r>
              <a:rPr lang="en-US" sz="2000" b="1" dirty="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Later</a:t>
            </a:r>
            <a:r>
              <a:rPr lang="en-US" sz="2000" b="1" dirty="0">
                <a:latin typeface="Times New Roman" pitchFamily="18" charset="0"/>
                <a:cs typeface="Times New Roman" pitchFamily="18" charset="0"/>
              </a:rPr>
              <a:t>, </a:t>
            </a:r>
            <a:r>
              <a:rPr lang="en-US" sz="2000" b="1" dirty="0">
                <a:latin typeface="Times New Roman" pitchFamily="18" charset="0"/>
                <a:cs typeface="Times New Roman" pitchFamily="18" charset="0"/>
                <a:hlinkClick r:id="rId11" tooltip="Linus Pauling"/>
              </a:rPr>
              <a:t>Linus Pauling</a:t>
            </a:r>
            <a:r>
              <a:rPr lang="en-US" sz="2000" b="1" dirty="0">
                <a:latin typeface="Times New Roman" pitchFamily="18" charset="0"/>
                <a:cs typeface="Times New Roman" pitchFamily="18" charset="0"/>
              </a:rPr>
              <a:t> used the pair bonding ideas of Lewis together with </a:t>
            </a:r>
            <a:r>
              <a:rPr lang="en-US" sz="2000" b="1" dirty="0" err="1">
                <a:latin typeface="Times New Roman" pitchFamily="18" charset="0"/>
                <a:cs typeface="Times New Roman" pitchFamily="18" charset="0"/>
              </a:rPr>
              <a:t>Heitler</a:t>
            </a:r>
            <a:r>
              <a:rPr lang="en-US" sz="2000" b="1" dirty="0">
                <a:latin typeface="Times New Roman" pitchFamily="18" charset="0"/>
                <a:cs typeface="Times New Roman" pitchFamily="18" charset="0"/>
              </a:rPr>
              <a:t>–London theory to develop two other key concepts in VB theory: </a:t>
            </a:r>
            <a:r>
              <a:rPr lang="en-US" sz="2000" b="1" dirty="0">
                <a:latin typeface="Times New Roman" pitchFamily="18" charset="0"/>
                <a:cs typeface="Times New Roman" pitchFamily="18" charset="0"/>
                <a:hlinkClick r:id="rId12" tooltip="Resonance (chemistry)"/>
              </a:rPr>
              <a:t>resonance</a:t>
            </a:r>
            <a:r>
              <a:rPr lang="en-US" sz="2000" b="1" dirty="0">
                <a:latin typeface="Times New Roman" pitchFamily="18" charset="0"/>
                <a:cs typeface="Times New Roman" pitchFamily="18" charset="0"/>
              </a:rPr>
              <a:t> (1928) and </a:t>
            </a:r>
            <a:r>
              <a:rPr lang="en-US" sz="2000" b="1" dirty="0">
                <a:latin typeface="Times New Roman" pitchFamily="18" charset="0"/>
                <a:cs typeface="Times New Roman" pitchFamily="18" charset="0"/>
                <a:hlinkClick r:id="rId13"/>
              </a:rPr>
              <a:t>orbital hybridization</a:t>
            </a:r>
            <a:r>
              <a:rPr lang="en-US" sz="2000" b="1" dirty="0">
                <a:latin typeface="Times New Roman" pitchFamily="18" charset="0"/>
                <a:cs typeface="Times New Roman" pitchFamily="18" charset="0"/>
              </a:rPr>
              <a:t> (1930). According to </a:t>
            </a:r>
            <a:r>
              <a:rPr lang="en-US" sz="2000" b="1" dirty="0">
                <a:latin typeface="Times New Roman" pitchFamily="18" charset="0"/>
                <a:cs typeface="Times New Roman" pitchFamily="18" charset="0"/>
                <a:hlinkClick r:id="rId14" tooltip="Charles Coulson"/>
              </a:rPr>
              <a:t>Charles Coulson</a:t>
            </a:r>
            <a:r>
              <a:rPr lang="en-US" sz="2000" b="1" dirty="0">
                <a:latin typeface="Times New Roman" pitchFamily="18" charset="0"/>
                <a:cs typeface="Times New Roman" pitchFamily="18" charset="0"/>
              </a:rPr>
              <a:t>, author of the noted 1952 book </a:t>
            </a:r>
            <a:r>
              <a:rPr lang="en-US" sz="2000" b="1" i="1" dirty="0">
                <a:latin typeface="Times New Roman" pitchFamily="18" charset="0"/>
                <a:cs typeface="Times New Roman" pitchFamily="18" charset="0"/>
              </a:rPr>
              <a:t>Valence</a:t>
            </a:r>
            <a:r>
              <a:rPr lang="en-US" sz="2000" b="1" dirty="0">
                <a:latin typeface="Times New Roman" pitchFamily="18" charset="0"/>
                <a:cs typeface="Times New Roman" pitchFamily="18" charset="0"/>
              </a:rPr>
              <a:t>, this period marks the start of "modern valence bond theory", as contrasted with older valence bond theories, which are essentially electronic theories of </a:t>
            </a:r>
            <a:r>
              <a:rPr lang="en-US" sz="2000" b="1" dirty="0">
                <a:latin typeface="Times New Roman" pitchFamily="18" charset="0"/>
                <a:cs typeface="Times New Roman" pitchFamily="18" charset="0"/>
                <a:hlinkClick r:id="rId15" tooltip="Valence (chemistry)"/>
              </a:rPr>
              <a:t>valence</a:t>
            </a:r>
            <a:r>
              <a:rPr lang="en-US" sz="2000" b="1" dirty="0">
                <a:latin typeface="Times New Roman" pitchFamily="18" charset="0"/>
                <a:cs typeface="Times New Roman" pitchFamily="18" charset="0"/>
              </a:rPr>
              <a:t> couched in pre-wave-mechanical terms. </a:t>
            </a:r>
          </a:p>
        </p:txBody>
      </p:sp>
    </p:spTree>
    <p:extLst>
      <p:ext uri="{BB962C8B-B14F-4D97-AF65-F5344CB8AC3E}">
        <p14:creationId xmlns:p14="http://schemas.microsoft.com/office/powerpoint/2010/main" val="32468597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228600"/>
            <a:ext cx="8763000" cy="1477328"/>
          </a:xfrm>
          <a:prstGeom prst="rect">
            <a:avLst/>
          </a:prstGeom>
        </p:spPr>
        <p:txBody>
          <a:bodyPr wrap="square">
            <a:spAutoFit/>
          </a:bodyPr>
          <a:lstStyle/>
          <a:p>
            <a:r>
              <a:rPr lang="en-US" b="1" dirty="0">
                <a:latin typeface="Times New Roman" pitchFamily="18" charset="0"/>
                <a:cs typeface="Times New Roman" pitchFamily="18" charset="0"/>
              </a:rPr>
              <a:t>(VB) theory is one of two basic theories, along with molecular orbital (MO) theory, that were developed to use the methods of quantum mechanics to explain chemical bonding. It focuses on how the atomic orbitals of the dissociated atoms combine to give individual chemical bonds when a molecule is formed. In contrast, molecular orbital theory, which will be discussed elsewhere, predict </a:t>
            </a:r>
            <a:r>
              <a:rPr lang="en-US" b="1" dirty="0" smtClean="0">
                <a:latin typeface="Times New Roman" pitchFamily="18" charset="0"/>
                <a:cs typeface="Times New Roman" pitchFamily="18" charset="0"/>
              </a:rPr>
              <a:t>wave functions </a:t>
            </a:r>
            <a:r>
              <a:rPr lang="en-US" b="1" dirty="0">
                <a:latin typeface="Times New Roman" pitchFamily="18" charset="0"/>
                <a:cs typeface="Times New Roman" pitchFamily="18" charset="0"/>
              </a:rPr>
              <a:t>that cover the entire molecule.</a:t>
            </a:r>
          </a:p>
        </p:txBody>
      </p:sp>
      <p:sp>
        <p:nvSpPr>
          <p:cNvPr id="5" name="Rectangle 1"/>
          <p:cNvSpPr>
            <a:spLocks noChangeArrowheads="1"/>
          </p:cNvSpPr>
          <p:nvPr/>
        </p:nvSpPr>
        <p:spPr bwMode="auto">
          <a:xfrm>
            <a:off x="50800" y="2143037"/>
            <a:ext cx="91380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The simplest case to consider is the hydrogen molecule, </a:t>
            </a:r>
            <a:r>
              <a:rPr kumimoji="0" lang="en-US" b="0" i="1" u="none" strike="noStrike" cap="none" normalizeH="0" dirty="0" smtClean="0">
                <a:ln>
                  <a:noFill/>
                </a:ln>
                <a:solidFill>
                  <a:schemeClr val="tx1"/>
                </a:solidFill>
                <a:effectLst/>
                <a:latin typeface="Times New Roman" pitchFamily="18" charset="0"/>
                <a:cs typeface="Times New Roman" pitchFamily="18" charset="0"/>
              </a:rPr>
              <a:t>H</a:t>
            </a:r>
            <a:r>
              <a:rPr kumimoji="0" lang="en-US" b="0" i="0" u="none" strike="noStrike" cap="none" normalizeH="0" baseline="-25000" dirty="0" smtClean="0">
                <a:ln>
                  <a:noFill/>
                </a:ln>
                <a:solidFill>
                  <a:schemeClr val="tx1"/>
                </a:solidFill>
                <a:effectLst/>
                <a:latin typeface="Times New Roman" pitchFamily="18" charset="0"/>
                <a:cs typeface="Times New Roman" pitchFamily="18" charset="0"/>
              </a:rPr>
              <a:t>2</a:t>
            </a:r>
            <a:r>
              <a:rPr kumimoji="0" lang="en-US" b="0" i="0" u="none" strike="noStrike" cap="none" normalizeH="0" dirty="0" smtClean="0">
                <a:ln>
                  <a:noFill/>
                </a:ln>
                <a:solidFill>
                  <a:schemeClr val="tx1"/>
                </a:solidFill>
                <a:effectLst/>
                <a:latin typeface="Times New Roman" pitchFamily="18" charset="0"/>
                <a:cs typeface="Times New Roman" pitchFamily="18" charset="0"/>
              </a:rPr>
              <a:t>. Wh</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en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we say that the two hydrogen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nuclei share their electrons to form a covalent bond, what we mean in VB theory terms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is that the two spherical 1</a:t>
            </a:r>
            <a:r>
              <a:rPr kumimoji="0" lang="en-US" sz="1800" b="0" i="1" u="none" strike="noStrike" cap="none" normalizeH="0" baseline="0" dirty="0" smtClean="0">
                <a:ln>
                  <a:noFill/>
                </a:ln>
                <a:solidFill>
                  <a:schemeClr val="tx1"/>
                </a:solidFill>
                <a:effectLst/>
                <a:latin typeface="Times New Roman" pitchFamily="18" charset="0"/>
                <a:cs typeface="Times New Roman" pitchFamily="18" charset="0"/>
              </a:rPr>
              <a:t>s</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orbitals (the grey spheres in Figure </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12.2.1) overlap and contain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two electrons</a:t>
            </a:r>
            <a:r>
              <a:rPr kumimoji="0" lang="en-US" sz="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8" name="TextBox 7"/>
          <p:cNvSpPr txBox="1"/>
          <p:nvPr/>
        </p:nvSpPr>
        <p:spPr>
          <a:xfrm>
            <a:off x="3544" y="4343400"/>
            <a:ext cx="9185335" cy="1754326"/>
          </a:xfrm>
          <a:prstGeom prst="rect">
            <a:avLst/>
          </a:prstGeom>
          <a:noFill/>
        </p:spPr>
        <p:txBody>
          <a:bodyPr wrap="square" rtlCol="0">
            <a:spAutoFit/>
          </a:bodyPr>
          <a:lstStyle/>
          <a:p>
            <a:r>
              <a:rPr lang="en-US" dirty="0"/>
              <a:t>Source: </a:t>
            </a:r>
            <a:r>
              <a:rPr lang="en-US" dirty="0">
                <a:hlinkClick r:id="rId2"/>
              </a:rPr>
              <a:t>https://chem.libretexts.org/Bookshelves/Physical_and_Theoretical_Chemistry_Textbook_Maps</a:t>
            </a:r>
            <a:r>
              <a:rPr lang="en-US" dirty="0" smtClean="0">
                <a:hlinkClick r:id="rId2"/>
              </a:rPr>
              <a:t>/</a:t>
            </a:r>
            <a:endParaRPr lang="en-US" dirty="0" smtClean="0"/>
          </a:p>
          <a:p>
            <a:r>
              <a:rPr lang="en-US" dirty="0" smtClean="0"/>
              <a:t>Map%3A_Physical_Chemistry_for_the_Biosciences</a:t>
            </a:r>
            <a:r>
              <a:rPr lang="en-US" dirty="0"/>
              <a:t>_(Chang)/12%3A_The_Chemical_Bond</a:t>
            </a:r>
            <a:r>
              <a:rPr lang="en-US" dirty="0" smtClean="0"/>
              <a:t>/</a:t>
            </a:r>
          </a:p>
          <a:p>
            <a:r>
              <a:rPr lang="en-US" dirty="0" smtClean="0"/>
              <a:t>12.2%3A_Valence_Bond_Theory</a:t>
            </a:r>
          </a:p>
          <a:p>
            <a:endParaRPr lang="en-US" dirty="0"/>
          </a:p>
          <a:p>
            <a:r>
              <a:rPr lang="en-US" dirty="0" smtClean="0"/>
              <a:t>2. Inorganic Chemistry, James E. </a:t>
            </a:r>
            <a:r>
              <a:rPr lang="en-US" dirty="0" err="1" smtClean="0"/>
              <a:t>Huheey</a:t>
            </a:r>
            <a:endParaRPr lang="en-US" dirty="0" smtClean="0"/>
          </a:p>
        </p:txBody>
      </p:sp>
    </p:spTree>
    <p:extLst>
      <p:ext uri="{BB962C8B-B14F-4D97-AF65-F5344CB8AC3E}">
        <p14:creationId xmlns:p14="http://schemas.microsoft.com/office/powerpoint/2010/main" val="1222065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 y="152400"/>
            <a:ext cx="9119616"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descr="Let's Focus on Valence Bond Theory - ppt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371600"/>
            <a:ext cx="7162800" cy="537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8171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94" y="7"/>
            <a:ext cx="8051006" cy="678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61737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 y="349091"/>
            <a:ext cx="9065419" cy="5670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81200" y="2514600"/>
            <a:ext cx="801823" cy="369332"/>
          </a:xfrm>
          <a:prstGeom prst="rect">
            <a:avLst/>
          </a:prstGeom>
          <a:noFill/>
        </p:spPr>
        <p:txBody>
          <a:bodyPr wrap="none" rtlCol="0">
            <a:spAutoFit/>
          </a:bodyPr>
          <a:lstStyle/>
          <a:p>
            <a:r>
              <a:rPr lang="en-US" dirty="0" smtClean="0"/>
              <a:t>simple</a:t>
            </a:r>
            <a:endParaRPr lang="en-US" dirty="0"/>
          </a:p>
        </p:txBody>
      </p:sp>
      <p:sp>
        <p:nvSpPr>
          <p:cNvPr id="5" name="TextBox 4"/>
          <p:cNvSpPr txBox="1"/>
          <p:nvPr/>
        </p:nvSpPr>
        <p:spPr>
          <a:xfrm>
            <a:off x="1757165" y="3066595"/>
            <a:ext cx="1940596" cy="369332"/>
          </a:xfrm>
          <a:prstGeom prst="rect">
            <a:avLst/>
          </a:prstGeom>
          <a:noFill/>
        </p:spPr>
        <p:txBody>
          <a:bodyPr wrap="none" rtlCol="0">
            <a:spAutoFit/>
          </a:bodyPr>
          <a:lstStyle/>
          <a:p>
            <a:r>
              <a:rPr lang="en-US" dirty="0" smtClean="0"/>
              <a:t>indistinguishability</a:t>
            </a:r>
            <a:endParaRPr lang="en-US" dirty="0"/>
          </a:p>
        </p:txBody>
      </p:sp>
      <p:sp>
        <p:nvSpPr>
          <p:cNvPr id="6" name="TextBox 5"/>
          <p:cNvSpPr txBox="1"/>
          <p:nvPr/>
        </p:nvSpPr>
        <p:spPr>
          <a:xfrm>
            <a:off x="958163" y="3352800"/>
            <a:ext cx="740908" cy="461665"/>
          </a:xfrm>
          <a:prstGeom prst="rect">
            <a:avLst/>
          </a:prstGeom>
          <a:noFill/>
        </p:spPr>
        <p:txBody>
          <a:bodyPr wrap="none" rtlCol="0">
            <a:spAutoFit/>
          </a:bodyPr>
          <a:lstStyle/>
          <a:p>
            <a:r>
              <a:rPr lang="en-US" sz="1200" dirty="0" smtClean="0"/>
              <a:t>Electron </a:t>
            </a:r>
          </a:p>
          <a:p>
            <a:r>
              <a:rPr lang="en-US" sz="1200" dirty="0" smtClean="0"/>
              <a:t>shielding</a:t>
            </a:r>
            <a:endParaRPr lang="en-US" sz="1200" dirty="0"/>
          </a:p>
        </p:txBody>
      </p:sp>
      <p:sp>
        <p:nvSpPr>
          <p:cNvPr id="7" name="TextBox 6"/>
          <p:cNvSpPr txBox="1"/>
          <p:nvPr/>
        </p:nvSpPr>
        <p:spPr>
          <a:xfrm>
            <a:off x="2590800" y="4191000"/>
            <a:ext cx="2617191" cy="369332"/>
          </a:xfrm>
          <a:prstGeom prst="rect">
            <a:avLst/>
          </a:prstGeom>
          <a:noFill/>
        </p:spPr>
        <p:txBody>
          <a:bodyPr wrap="none" rtlCol="0">
            <a:spAutoFit/>
          </a:bodyPr>
          <a:lstStyle/>
          <a:p>
            <a:r>
              <a:rPr lang="en-US" dirty="0" smtClean="0"/>
              <a:t>Covalent –ionic  character</a:t>
            </a:r>
            <a:endParaRPr lang="en-US" dirty="0"/>
          </a:p>
        </p:txBody>
      </p:sp>
      <p:sp>
        <p:nvSpPr>
          <p:cNvPr id="8" name="TextBox 7"/>
          <p:cNvSpPr txBox="1"/>
          <p:nvPr/>
        </p:nvSpPr>
        <p:spPr>
          <a:xfrm>
            <a:off x="3057659" y="1588716"/>
            <a:ext cx="2150332" cy="369332"/>
          </a:xfrm>
          <a:prstGeom prst="rect">
            <a:avLst/>
          </a:prstGeom>
          <a:noFill/>
        </p:spPr>
        <p:txBody>
          <a:bodyPr wrap="none" rtlCol="0">
            <a:spAutoFit/>
          </a:bodyPr>
          <a:lstStyle/>
          <a:p>
            <a:r>
              <a:rPr lang="en-US" dirty="0" smtClean="0"/>
              <a:t>Repulsive interaction</a:t>
            </a:r>
            <a:endParaRPr lang="en-US" dirty="0"/>
          </a:p>
        </p:txBody>
      </p:sp>
      <p:sp>
        <p:nvSpPr>
          <p:cNvPr id="9" name="TextBox 8"/>
          <p:cNvSpPr txBox="1"/>
          <p:nvPr/>
        </p:nvSpPr>
        <p:spPr>
          <a:xfrm>
            <a:off x="2503701" y="4768334"/>
            <a:ext cx="1423403" cy="369332"/>
          </a:xfrm>
          <a:prstGeom prst="rect">
            <a:avLst/>
          </a:prstGeom>
          <a:noFill/>
        </p:spPr>
        <p:txBody>
          <a:bodyPr wrap="none" rtlCol="0">
            <a:spAutoFit/>
          </a:bodyPr>
          <a:lstStyle/>
          <a:p>
            <a:r>
              <a:rPr lang="en-US" dirty="0" smtClean="0"/>
              <a:t>experimental</a:t>
            </a:r>
            <a:endParaRPr lang="en-US" dirty="0"/>
          </a:p>
        </p:txBody>
      </p:sp>
    </p:spTree>
    <p:extLst>
      <p:ext uri="{BB962C8B-B14F-4D97-AF65-F5344CB8AC3E}">
        <p14:creationId xmlns:p14="http://schemas.microsoft.com/office/powerpoint/2010/main" val="37087455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 y="1428759"/>
            <a:ext cx="9052084" cy="3320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3658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655" y="0"/>
            <a:ext cx="7635145" cy="6816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66979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 y="1152530"/>
            <a:ext cx="8995982" cy="368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90410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76237"/>
            <a:ext cx="8964549" cy="457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74616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1452"/>
            <a:ext cx="8958644" cy="6209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55351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47" y="204789"/>
            <a:ext cx="9067553" cy="3224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038866"/>
            <a:ext cx="7695953" cy="3740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31965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0"/>
            <a:ext cx="8862060" cy="676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23117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643063"/>
            <a:ext cx="9161067" cy="315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85800" y="990600"/>
            <a:ext cx="1066318" cy="369332"/>
          </a:xfrm>
          <a:prstGeom prst="rect">
            <a:avLst/>
          </a:prstGeom>
          <a:noFill/>
        </p:spPr>
        <p:txBody>
          <a:bodyPr wrap="none" rtlCol="0">
            <a:spAutoFit/>
          </a:bodyPr>
          <a:lstStyle/>
          <a:p>
            <a:r>
              <a:rPr lang="en-US" dirty="0" smtClean="0"/>
              <a:t>Rule no 1</a:t>
            </a:r>
            <a:endParaRPr lang="en-US" dirty="0"/>
          </a:p>
        </p:txBody>
      </p:sp>
    </p:spTree>
    <p:extLst>
      <p:ext uri="{BB962C8B-B14F-4D97-AF65-F5344CB8AC3E}">
        <p14:creationId xmlns:p14="http://schemas.microsoft.com/office/powerpoint/2010/main" val="24296755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263604"/>
            <a:ext cx="1066318" cy="369332"/>
          </a:xfrm>
          <a:prstGeom prst="rect">
            <a:avLst/>
          </a:prstGeom>
          <a:noFill/>
        </p:spPr>
        <p:txBody>
          <a:bodyPr wrap="none" rtlCol="0">
            <a:spAutoFit/>
          </a:bodyPr>
          <a:lstStyle/>
          <a:p>
            <a:r>
              <a:rPr lang="en-US" dirty="0" smtClean="0"/>
              <a:t>Rule no 2</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518" y="133732"/>
            <a:ext cx="7306732" cy="649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68214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753" y="10"/>
            <a:ext cx="6774847" cy="6708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1105" y="475150"/>
            <a:ext cx="1066318" cy="369332"/>
          </a:xfrm>
          <a:prstGeom prst="rect">
            <a:avLst/>
          </a:prstGeom>
          <a:noFill/>
        </p:spPr>
        <p:txBody>
          <a:bodyPr wrap="none" rtlCol="0">
            <a:spAutoFit/>
          </a:bodyPr>
          <a:lstStyle/>
          <a:p>
            <a:r>
              <a:rPr lang="en-US" dirty="0" smtClean="0"/>
              <a:t>Rule no 3</a:t>
            </a:r>
            <a:endParaRPr lang="en-US" dirty="0"/>
          </a:p>
        </p:txBody>
      </p:sp>
    </p:spTree>
    <p:extLst>
      <p:ext uri="{BB962C8B-B14F-4D97-AF65-F5344CB8AC3E}">
        <p14:creationId xmlns:p14="http://schemas.microsoft.com/office/powerpoint/2010/main" val="22768214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78" y="6"/>
            <a:ext cx="8977122" cy="6328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77954" y="6451753"/>
            <a:ext cx="1066318" cy="369332"/>
          </a:xfrm>
          <a:prstGeom prst="rect">
            <a:avLst/>
          </a:prstGeom>
          <a:noFill/>
        </p:spPr>
        <p:txBody>
          <a:bodyPr wrap="none" rtlCol="0">
            <a:spAutoFit/>
          </a:bodyPr>
          <a:lstStyle/>
          <a:p>
            <a:r>
              <a:rPr lang="en-US" dirty="0" smtClean="0"/>
              <a:t>Rule no 4</a:t>
            </a:r>
            <a:endParaRPr lang="en-US" dirty="0"/>
          </a:p>
        </p:txBody>
      </p:sp>
    </p:spTree>
    <p:extLst>
      <p:ext uri="{BB962C8B-B14F-4D97-AF65-F5344CB8AC3E}">
        <p14:creationId xmlns:p14="http://schemas.microsoft.com/office/powerpoint/2010/main" val="7452490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48273"/>
            <a:ext cx="8839199" cy="6200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48299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643188"/>
            <a:ext cx="9296400" cy="1356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47516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8300"/>
            <a:ext cx="9206826"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24809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52439"/>
            <a:ext cx="9146078" cy="495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657600" y="5715000"/>
            <a:ext cx="4042132" cy="369332"/>
          </a:xfrm>
          <a:prstGeom prst="rect">
            <a:avLst/>
          </a:prstGeom>
          <a:noFill/>
        </p:spPr>
        <p:txBody>
          <a:bodyPr wrap="none" rtlCol="0">
            <a:spAutoFit/>
          </a:bodyPr>
          <a:lstStyle/>
          <a:p>
            <a:r>
              <a:rPr lang="en-US" dirty="0" smtClean="0">
                <a:latin typeface="Times New Roman" pitchFamily="18" charset="0"/>
                <a:cs typeface="Times New Roman" pitchFamily="18" charset="0"/>
              </a:rPr>
              <a:t>Wave functions for two </a:t>
            </a:r>
            <a:r>
              <a:rPr lang="en-US" dirty="0" err="1" smtClean="0">
                <a:latin typeface="Times New Roman" pitchFamily="18" charset="0"/>
                <a:cs typeface="Times New Roman" pitchFamily="18" charset="0"/>
              </a:rPr>
              <a:t>sp</a:t>
            </a:r>
            <a:r>
              <a:rPr lang="en-US" dirty="0" smtClean="0">
                <a:latin typeface="Times New Roman" pitchFamily="18" charset="0"/>
                <a:cs typeface="Times New Roman" pitchFamily="18" charset="0"/>
              </a:rPr>
              <a:t> hybrid orbitals</a:t>
            </a:r>
            <a:endParaRPr lang="en-US" dirty="0">
              <a:latin typeface="Times New Roman" pitchFamily="18" charset="0"/>
              <a:cs typeface="Times New Roman" pitchFamily="18" charset="0"/>
            </a:endParaRPr>
          </a:p>
        </p:txBody>
      </p:sp>
      <p:cxnSp>
        <p:nvCxnSpPr>
          <p:cNvPr id="4" name="Straight Arrow Connector 3"/>
          <p:cNvCxnSpPr/>
          <p:nvPr/>
        </p:nvCxnSpPr>
        <p:spPr>
          <a:xfrm flipH="1" flipV="1">
            <a:off x="2743200" y="4191000"/>
            <a:ext cx="13716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0460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62000"/>
            <a:ext cx="917067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03090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56" y="457200"/>
            <a:ext cx="9540237" cy="149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34363"/>
            <a:ext cx="7040880" cy="4620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49627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9090"/>
            <a:ext cx="9060180" cy="5100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82165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00089"/>
            <a:ext cx="9082278" cy="4748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53133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609600"/>
            <a:ext cx="9193149" cy="588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41473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20" y="381001"/>
            <a:ext cx="8978980" cy="827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69" y="1371600"/>
            <a:ext cx="8760143" cy="1764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020" y="3511234"/>
            <a:ext cx="8902780" cy="3177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397869" y="639348"/>
            <a:ext cx="513282" cy="369332"/>
          </a:xfrm>
          <a:prstGeom prst="rect">
            <a:avLst/>
          </a:prstGeom>
          <a:noFill/>
        </p:spPr>
        <p:txBody>
          <a:bodyPr wrap="none" rtlCol="0">
            <a:spAutoFit/>
          </a:bodyPr>
          <a:lstStyle/>
          <a:p>
            <a:r>
              <a:rPr lang="en-US" dirty="0" smtClean="0">
                <a:latin typeface="Times New Roman" pitchFamily="18" charset="0"/>
                <a:cs typeface="Times New Roman" pitchFamily="18" charset="0"/>
              </a:rPr>
              <a:t>sp2</a:t>
            </a:r>
            <a:endParaRPr lang="en-US" dirty="0">
              <a:latin typeface="Times New Roman" pitchFamily="18" charset="0"/>
              <a:cs typeface="Times New Roman" pitchFamily="18" charset="0"/>
            </a:endParaRPr>
          </a:p>
        </p:txBody>
      </p:sp>
      <p:sp>
        <p:nvSpPr>
          <p:cNvPr id="3" name="TextBox 2"/>
          <p:cNvSpPr txBox="1"/>
          <p:nvPr/>
        </p:nvSpPr>
        <p:spPr>
          <a:xfrm>
            <a:off x="4415697" y="1884759"/>
            <a:ext cx="513282" cy="369332"/>
          </a:xfrm>
          <a:prstGeom prst="rect">
            <a:avLst/>
          </a:prstGeom>
          <a:noFill/>
        </p:spPr>
        <p:txBody>
          <a:bodyPr wrap="none" rtlCol="0">
            <a:spAutoFit/>
          </a:bodyPr>
          <a:lstStyle/>
          <a:p>
            <a:r>
              <a:rPr lang="en-US" dirty="0" smtClean="0">
                <a:latin typeface="Times New Roman" pitchFamily="18" charset="0"/>
                <a:cs typeface="Times New Roman" pitchFamily="18" charset="0"/>
              </a:rPr>
              <a:t>sp3</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485739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YBRIDIZATION IN SQUARE PLANER COMPLEXS - ppt video onlin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04800"/>
            <a:ext cx="5562600" cy="417195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structure prediction, chemical bonding Lewis structur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476751"/>
            <a:ext cx="5056291"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8970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1419230"/>
            <a:ext cx="9131141" cy="3336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0134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 y="1123970"/>
            <a:ext cx="9075611" cy="2812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36283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152400"/>
            <a:ext cx="9151144" cy="193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74" y="2362200"/>
            <a:ext cx="9226763" cy="1519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114799"/>
            <a:ext cx="8579692" cy="264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25666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19" y="336698"/>
            <a:ext cx="8701088"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7152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4135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448133"/>
            <a:ext cx="8934849" cy="1828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4268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250"/>
            <a:ext cx="11001375" cy="666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08230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ybrid orbit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1"/>
            <a:ext cx="5562600" cy="525356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ybrid orbit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04800"/>
            <a:ext cx="5562600" cy="5253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1255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9875"/>
            <a:ext cx="5257800" cy="614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928098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1" y="304800"/>
            <a:ext cx="903732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035141"/>
            <a:ext cx="9144000" cy="1317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72020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 y="304800"/>
            <a:ext cx="9220199" cy="269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07821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803"/>
            <a:ext cx="6215444" cy="683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16255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70" y="914400"/>
            <a:ext cx="9456643" cy="1418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6" y="3124200"/>
            <a:ext cx="9081135" cy="1888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69588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66800"/>
            <a:ext cx="9144000" cy="2858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11" y="4114800"/>
            <a:ext cx="9213111" cy="126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41678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Atomic Orbitals - Molecular Orbital Shapes - Free Transparent PNG Clipart  Images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698938"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68625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
            <a:ext cx="7848600" cy="6816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59278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3" y="1981200"/>
            <a:ext cx="9143999" cy="4646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66" y="30707"/>
            <a:ext cx="8934733" cy="1876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83703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721"/>
            <a:ext cx="7243286" cy="68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140993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69247"/>
            <a:ext cx="4119658" cy="6712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692920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03" y="180980"/>
            <a:ext cx="9003697" cy="52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5477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4650" y="15"/>
            <a:ext cx="6530150" cy="678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95079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5646"/>
            <a:ext cx="4973003" cy="6642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907935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952" y="9"/>
            <a:ext cx="6786848" cy="6828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743684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12369"/>
            <a:ext cx="4752976" cy="659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219200" y="1219200"/>
            <a:ext cx="1431739" cy="369332"/>
          </a:xfrm>
          <a:prstGeom prst="rect">
            <a:avLst/>
          </a:prstGeom>
          <a:noFill/>
        </p:spPr>
        <p:txBody>
          <a:bodyPr wrap="none" rtlCol="0">
            <a:spAutoFit/>
          </a:bodyPr>
          <a:lstStyle/>
          <a:p>
            <a:r>
              <a:rPr lang="en-US" dirty="0" smtClean="0"/>
              <a:t>MOED for O</a:t>
            </a:r>
            <a:r>
              <a:rPr lang="en-US" baseline="-25000" dirty="0" smtClean="0"/>
              <a:t>2</a:t>
            </a:r>
            <a:endParaRPr lang="en-US" baseline="-25000" dirty="0"/>
          </a:p>
        </p:txBody>
      </p:sp>
    </p:spTree>
    <p:extLst>
      <p:ext uri="{BB962C8B-B14F-4D97-AF65-F5344CB8AC3E}">
        <p14:creationId xmlns:p14="http://schemas.microsoft.com/office/powerpoint/2010/main" val="368766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700090"/>
            <a:ext cx="9041130" cy="458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90600" y="194562"/>
            <a:ext cx="3333220" cy="369332"/>
          </a:xfrm>
          <a:prstGeom prst="rect">
            <a:avLst/>
          </a:prstGeom>
          <a:noFill/>
        </p:spPr>
        <p:txBody>
          <a:bodyPr wrap="none" rtlCol="0">
            <a:spAutoFit/>
          </a:bodyPr>
          <a:lstStyle/>
          <a:p>
            <a:r>
              <a:rPr lang="en-US" dirty="0" smtClean="0"/>
              <a:t>Why He</a:t>
            </a:r>
            <a:r>
              <a:rPr lang="en-US" baseline="-25000" dirty="0" smtClean="0"/>
              <a:t>2</a:t>
            </a:r>
            <a:r>
              <a:rPr lang="en-US" dirty="0" smtClean="0"/>
              <a:t> molecule does not exit?</a:t>
            </a:r>
            <a:endParaRPr lang="en-US" dirty="0"/>
          </a:p>
        </p:txBody>
      </p:sp>
    </p:spTree>
    <p:extLst>
      <p:ext uri="{BB962C8B-B14F-4D97-AF65-F5344CB8AC3E}">
        <p14:creationId xmlns:p14="http://schemas.microsoft.com/office/powerpoint/2010/main" val="32338248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585789"/>
            <a:ext cx="8962454" cy="5174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5800" y="164068"/>
            <a:ext cx="3140347" cy="369332"/>
          </a:xfrm>
          <a:prstGeom prst="rect">
            <a:avLst/>
          </a:prstGeom>
          <a:noFill/>
        </p:spPr>
        <p:txBody>
          <a:bodyPr wrap="none" rtlCol="0">
            <a:spAutoFit/>
          </a:bodyPr>
          <a:lstStyle/>
          <a:p>
            <a:r>
              <a:rPr lang="en-US" dirty="0" smtClean="0"/>
              <a:t>Existence of He</a:t>
            </a:r>
            <a:r>
              <a:rPr lang="en-US" baseline="-25000" dirty="0" smtClean="0"/>
              <a:t>2</a:t>
            </a:r>
            <a:r>
              <a:rPr lang="en-US" baseline="30000" dirty="0" smtClean="0"/>
              <a:t>+</a:t>
            </a:r>
            <a:r>
              <a:rPr lang="en-US" dirty="0" smtClean="0"/>
              <a:t> ionic species </a:t>
            </a:r>
            <a:endParaRPr lang="en-US" dirty="0"/>
          </a:p>
        </p:txBody>
      </p:sp>
    </p:spTree>
    <p:extLst>
      <p:ext uri="{BB962C8B-B14F-4D97-AF65-F5344CB8AC3E}">
        <p14:creationId xmlns:p14="http://schemas.microsoft.com/office/powerpoint/2010/main" val="95171974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 y="833442"/>
            <a:ext cx="9102852" cy="456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143000" y="240268"/>
            <a:ext cx="4369786" cy="369332"/>
          </a:xfrm>
          <a:prstGeom prst="rect">
            <a:avLst/>
          </a:prstGeom>
          <a:noFill/>
        </p:spPr>
        <p:txBody>
          <a:bodyPr wrap="none" rtlCol="0">
            <a:spAutoFit/>
          </a:bodyPr>
          <a:lstStyle/>
          <a:p>
            <a:r>
              <a:rPr lang="en-US" dirty="0" smtClean="0"/>
              <a:t>Li</a:t>
            </a:r>
            <a:r>
              <a:rPr lang="en-US" baseline="-25000" dirty="0" smtClean="0"/>
              <a:t>2</a:t>
            </a:r>
            <a:r>
              <a:rPr lang="en-US" dirty="0" smtClean="0"/>
              <a:t> molecule exist but Be</a:t>
            </a:r>
            <a:r>
              <a:rPr lang="en-US" baseline="-25000" dirty="0" smtClean="0"/>
              <a:t>2</a:t>
            </a:r>
            <a:r>
              <a:rPr lang="en-US" dirty="0" smtClean="0"/>
              <a:t> does not exist-why</a:t>
            </a:r>
            <a:endParaRPr lang="en-US" dirty="0"/>
          </a:p>
        </p:txBody>
      </p:sp>
    </p:spTree>
    <p:extLst>
      <p:ext uri="{BB962C8B-B14F-4D97-AF65-F5344CB8AC3E}">
        <p14:creationId xmlns:p14="http://schemas.microsoft.com/office/powerpoint/2010/main" val="18425721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80963"/>
            <a:ext cx="5248275" cy="669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629400" y="1665400"/>
            <a:ext cx="2017925" cy="646331"/>
          </a:xfrm>
          <a:prstGeom prst="rect">
            <a:avLst/>
          </a:prstGeom>
          <a:noFill/>
        </p:spPr>
        <p:txBody>
          <a:bodyPr wrap="none" rtlCol="0">
            <a:spAutoFit/>
          </a:bodyPr>
          <a:lstStyle/>
          <a:p>
            <a:r>
              <a:rPr lang="en-US" dirty="0" smtClean="0"/>
              <a:t>For N2 and heavier </a:t>
            </a:r>
          </a:p>
          <a:p>
            <a:r>
              <a:rPr lang="en-US" dirty="0" smtClean="0"/>
              <a:t>elements</a:t>
            </a:r>
            <a:endParaRPr lang="en-US" dirty="0"/>
          </a:p>
        </p:txBody>
      </p:sp>
      <p:sp>
        <p:nvSpPr>
          <p:cNvPr id="5" name="TextBox 4"/>
          <p:cNvSpPr txBox="1"/>
          <p:nvPr/>
        </p:nvSpPr>
        <p:spPr>
          <a:xfrm>
            <a:off x="6686274" y="4768334"/>
            <a:ext cx="2122441" cy="646331"/>
          </a:xfrm>
          <a:prstGeom prst="rect">
            <a:avLst/>
          </a:prstGeom>
          <a:noFill/>
        </p:spPr>
        <p:txBody>
          <a:bodyPr wrap="none" rtlCol="0">
            <a:spAutoFit/>
          </a:bodyPr>
          <a:lstStyle/>
          <a:p>
            <a:r>
              <a:rPr lang="en-US" dirty="0" smtClean="0"/>
              <a:t>For lighter elements </a:t>
            </a:r>
          </a:p>
          <a:p>
            <a:r>
              <a:rPr lang="en-US" dirty="0" smtClean="0"/>
              <a:t>B and C</a:t>
            </a:r>
            <a:endParaRPr lang="en-US" dirty="0"/>
          </a:p>
        </p:txBody>
      </p:sp>
      <p:sp>
        <p:nvSpPr>
          <p:cNvPr id="2" name="TextBox 1"/>
          <p:cNvSpPr txBox="1"/>
          <p:nvPr/>
        </p:nvSpPr>
        <p:spPr>
          <a:xfrm>
            <a:off x="-76200" y="914400"/>
            <a:ext cx="2137958" cy="923330"/>
          </a:xfrm>
          <a:prstGeom prst="rect">
            <a:avLst/>
          </a:prstGeom>
          <a:noFill/>
        </p:spPr>
        <p:txBody>
          <a:bodyPr wrap="none" rtlCol="0">
            <a:spAutoFit/>
          </a:bodyPr>
          <a:lstStyle/>
          <a:p>
            <a:r>
              <a:rPr lang="en-US" dirty="0" smtClean="0"/>
              <a:t>What is degeneracy?</a:t>
            </a:r>
          </a:p>
          <a:p>
            <a:r>
              <a:rPr lang="en-US" dirty="0" smtClean="0"/>
              <a:t>Orbitals of similar </a:t>
            </a:r>
          </a:p>
          <a:p>
            <a:r>
              <a:rPr lang="en-US" dirty="0" smtClean="0"/>
              <a:t>energy</a:t>
            </a:r>
            <a:endParaRPr lang="en-US" dirty="0"/>
          </a:p>
        </p:txBody>
      </p:sp>
    </p:spTree>
    <p:extLst>
      <p:ext uri="{BB962C8B-B14F-4D97-AF65-F5344CB8AC3E}">
        <p14:creationId xmlns:p14="http://schemas.microsoft.com/office/powerpoint/2010/main" val="200701103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qph.cf2.quoracdn.net/main-qimg-b047d2a7eb8e70489fac14f962957738-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04800"/>
            <a:ext cx="8362506" cy="59436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5334000" y="2209800"/>
            <a:ext cx="1905000" cy="1752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4618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289" y="0"/>
            <a:ext cx="6742299" cy="585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367588" y="1295400"/>
            <a:ext cx="1430135" cy="369332"/>
          </a:xfrm>
          <a:prstGeom prst="rect">
            <a:avLst/>
          </a:prstGeom>
          <a:noFill/>
        </p:spPr>
        <p:txBody>
          <a:bodyPr wrap="none" rtlCol="0">
            <a:spAutoFit/>
          </a:bodyPr>
          <a:lstStyle/>
          <a:p>
            <a:r>
              <a:rPr lang="en-US" dirty="0" smtClean="0"/>
              <a:t>MOED for Li</a:t>
            </a:r>
            <a:r>
              <a:rPr lang="en-US" baseline="-25000" dirty="0" smtClean="0"/>
              <a:t>2</a:t>
            </a:r>
            <a:endParaRPr lang="en-US" baseline="-25000" dirty="0"/>
          </a:p>
        </p:txBody>
      </p:sp>
    </p:spTree>
    <p:extLst>
      <p:ext uri="{BB962C8B-B14F-4D97-AF65-F5344CB8AC3E}">
        <p14:creationId xmlns:p14="http://schemas.microsoft.com/office/powerpoint/2010/main" val="1568552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4" y="152400"/>
            <a:ext cx="4855152"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696200" y="2133600"/>
            <a:ext cx="1404487" cy="369332"/>
          </a:xfrm>
          <a:prstGeom prst="rect">
            <a:avLst/>
          </a:prstGeom>
          <a:noFill/>
        </p:spPr>
        <p:txBody>
          <a:bodyPr wrap="none" rtlCol="0">
            <a:spAutoFit/>
          </a:bodyPr>
          <a:lstStyle/>
          <a:p>
            <a:r>
              <a:rPr lang="en-US" dirty="0" smtClean="0"/>
              <a:t>MOED for B</a:t>
            </a:r>
            <a:r>
              <a:rPr lang="en-US" baseline="-25000" dirty="0" smtClean="0"/>
              <a:t>2</a:t>
            </a:r>
            <a:endParaRPr lang="en-US" baseline="-25000" dirty="0"/>
          </a:p>
        </p:txBody>
      </p:sp>
      <p:cxnSp>
        <p:nvCxnSpPr>
          <p:cNvPr id="4" name="Straight Arrow Connector 3"/>
          <p:cNvCxnSpPr/>
          <p:nvPr/>
        </p:nvCxnSpPr>
        <p:spPr>
          <a:xfrm flipH="1">
            <a:off x="2057400" y="2438400"/>
            <a:ext cx="2590800" cy="64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057400" y="1981200"/>
            <a:ext cx="2819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206795" y="2318266"/>
            <a:ext cx="843501" cy="369332"/>
          </a:xfrm>
          <a:prstGeom prst="rect">
            <a:avLst/>
          </a:prstGeom>
          <a:noFill/>
        </p:spPr>
        <p:txBody>
          <a:bodyPr wrap="none" rtlCol="0">
            <a:spAutoFit/>
          </a:bodyPr>
          <a:lstStyle/>
          <a:p>
            <a:r>
              <a:rPr lang="en-US" b="1" dirty="0" smtClean="0"/>
              <a:t>HOMO</a:t>
            </a:r>
            <a:endParaRPr lang="en-US" b="1" dirty="0"/>
          </a:p>
        </p:txBody>
      </p:sp>
      <p:sp>
        <p:nvSpPr>
          <p:cNvPr id="8" name="TextBox 7"/>
          <p:cNvSpPr txBox="1"/>
          <p:nvPr/>
        </p:nvSpPr>
        <p:spPr>
          <a:xfrm>
            <a:off x="1261257" y="1796534"/>
            <a:ext cx="784958" cy="369332"/>
          </a:xfrm>
          <a:prstGeom prst="rect">
            <a:avLst/>
          </a:prstGeom>
          <a:noFill/>
        </p:spPr>
        <p:txBody>
          <a:bodyPr wrap="none" rtlCol="0">
            <a:spAutoFit/>
          </a:bodyPr>
          <a:lstStyle/>
          <a:p>
            <a:r>
              <a:rPr lang="en-US" b="1" dirty="0" smtClean="0"/>
              <a:t>LUMO</a:t>
            </a:r>
            <a:endParaRPr lang="en-US" b="1" dirty="0"/>
          </a:p>
        </p:txBody>
      </p:sp>
      <p:sp>
        <p:nvSpPr>
          <p:cNvPr id="9" name="Double Brace 8"/>
          <p:cNvSpPr/>
          <p:nvPr/>
        </p:nvSpPr>
        <p:spPr>
          <a:xfrm>
            <a:off x="5519184" y="734383"/>
            <a:ext cx="838200" cy="1925598"/>
          </a:xfrm>
          <a:prstGeom prst="bracePair">
            <a:avLst/>
          </a:prstGeom>
          <a:noFill/>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p:cNvSpPr txBox="1"/>
          <p:nvPr/>
        </p:nvSpPr>
        <p:spPr>
          <a:xfrm>
            <a:off x="7467600" y="1143000"/>
            <a:ext cx="647934" cy="369332"/>
          </a:xfrm>
          <a:prstGeom prst="rect">
            <a:avLst/>
          </a:prstGeom>
          <a:noFill/>
        </p:spPr>
        <p:txBody>
          <a:bodyPr wrap="none" rtlCol="0">
            <a:spAutoFit/>
          </a:bodyPr>
          <a:lstStyle/>
          <a:p>
            <a:r>
              <a:rPr lang="en-US" b="1" dirty="0" smtClean="0"/>
              <a:t>FMO</a:t>
            </a:r>
            <a:endParaRPr lang="en-US" b="1" dirty="0"/>
          </a:p>
        </p:txBody>
      </p:sp>
      <p:cxnSp>
        <p:nvCxnSpPr>
          <p:cNvPr id="13" name="Straight Arrow Connector 12"/>
          <p:cNvCxnSpPr/>
          <p:nvPr/>
        </p:nvCxnSpPr>
        <p:spPr>
          <a:xfrm>
            <a:off x="5715000" y="2470666"/>
            <a:ext cx="2076567" cy="1186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791567" y="3334434"/>
            <a:ext cx="1470724" cy="646331"/>
          </a:xfrm>
          <a:prstGeom prst="rect">
            <a:avLst/>
          </a:prstGeom>
          <a:noFill/>
        </p:spPr>
        <p:txBody>
          <a:bodyPr wrap="none" rtlCol="0">
            <a:spAutoFit/>
          </a:bodyPr>
          <a:lstStyle/>
          <a:p>
            <a:r>
              <a:rPr lang="en-US" dirty="0" smtClean="0"/>
              <a:t>Boron is </a:t>
            </a:r>
          </a:p>
          <a:p>
            <a:r>
              <a:rPr lang="en-US" dirty="0" smtClean="0"/>
              <a:t>paramagnetic</a:t>
            </a:r>
            <a:endParaRPr lang="en-US" dirty="0"/>
          </a:p>
        </p:txBody>
      </p:sp>
    </p:spTree>
    <p:extLst>
      <p:ext uri="{BB962C8B-B14F-4D97-AF65-F5344CB8AC3E}">
        <p14:creationId xmlns:p14="http://schemas.microsoft.com/office/powerpoint/2010/main" val="24051663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4" y="1"/>
            <a:ext cx="3919572" cy="662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019800" y="1295400"/>
            <a:ext cx="2343847" cy="369332"/>
          </a:xfrm>
          <a:prstGeom prst="rect">
            <a:avLst/>
          </a:prstGeom>
          <a:noFill/>
        </p:spPr>
        <p:txBody>
          <a:bodyPr wrap="none" rtlCol="0">
            <a:spAutoFit/>
          </a:bodyPr>
          <a:lstStyle/>
          <a:p>
            <a:r>
              <a:rPr lang="en-US" dirty="0" smtClean="0"/>
              <a:t>MOED for N</a:t>
            </a:r>
            <a:r>
              <a:rPr lang="en-US" baseline="-25000" dirty="0" smtClean="0"/>
              <a:t>2</a:t>
            </a:r>
            <a:r>
              <a:rPr lang="en-US" dirty="0" smtClean="0"/>
              <a:t> molecule</a:t>
            </a:r>
            <a:endParaRPr lang="en-US"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3366720" y="1232280"/>
              <a:ext cx="946800" cy="786240"/>
            </p14:xfrm>
          </p:contentPart>
        </mc:Choice>
        <mc:Fallback xmlns="">
          <p:pic>
            <p:nvPicPr>
              <p:cNvPr id="6" name="Ink 5"/>
              <p:cNvPicPr/>
              <p:nvPr/>
            </p:nvPicPr>
            <p:blipFill>
              <a:blip r:embed="rId4"/>
              <a:stretch>
                <a:fillRect/>
              </a:stretch>
            </p:blipFill>
            <p:spPr>
              <a:xfrm>
                <a:off x="3357360" y="1222920"/>
                <a:ext cx="965520" cy="804960"/>
              </a:xfrm>
              <a:prstGeom prst="rect">
                <a:avLst/>
              </a:prstGeom>
            </p:spPr>
          </p:pic>
        </mc:Fallback>
      </mc:AlternateContent>
      <p:sp>
        <p:nvSpPr>
          <p:cNvPr id="2" name="TextBox 1"/>
          <p:cNvSpPr txBox="1"/>
          <p:nvPr/>
        </p:nvSpPr>
        <p:spPr>
          <a:xfrm>
            <a:off x="6019800" y="2018520"/>
            <a:ext cx="2518575" cy="646331"/>
          </a:xfrm>
          <a:prstGeom prst="rect">
            <a:avLst/>
          </a:prstGeom>
          <a:noFill/>
        </p:spPr>
        <p:txBody>
          <a:bodyPr wrap="none" rtlCol="0">
            <a:spAutoFit/>
          </a:bodyPr>
          <a:lstStyle/>
          <a:p>
            <a:r>
              <a:rPr lang="en-US" dirty="0" smtClean="0"/>
              <a:t>Why N</a:t>
            </a:r>
            <a:r>
              <a:rPr lang="en-US" baseline="-25000" dirty="0" smtClean="0"/>
              <a:t>2</a:t>
            </a:r>
            <a:r>
              <a:rPr lang="en-US" dirty="0" smtClean="0"/>
              <a:t> is so stable  and </a:t>
            </a:r>
          </a:p>
          <a:p>
            <a:r>
              <a:rPr lang="en-US" dirty="0" smtClean="0"/>
              <a:t>activation is challenging </a:t>
            </a:r>
            <a:endParaRPr lang="en-US" dirty="0"/>
          </a:p>
        </p:txBody>
      </p:sp>
    </p:spTree>
    <p:extLst>
      <p:ext uri="{BB962C8B-B14F-4D97-AF65-F5344CB8AC3E}">
        <p14:creationId xmlns:p14="http://schemas.microsoft.com/office/powerpoint/2010/main" val="373449987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 y="671513"/>
            <a:ext cx="7448550"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533740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540" y="152400"/>
            <a:ext cx="4347785"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820089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
            <a:ext cx="5358648" cy="93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493" y="1295400"/>
            <a:ext cx="694281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123270"/>
            <a:ext cx="6629400" cy="2229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2400" y="223323"/>
            <a:ext cx="1232838" cy="369332"/>
          </a:xfrm>
          <a:prstGeom prst="rect">
            <a:avLst/>
          </a:prstGeom>
          <a:noFill/>
        </p:spPr>
        <p:txBody>
          <a:bodyPr wrap="none" rtlCol="0">
            <a:spAutoFit/>
          </a:bodyPr>
          <a:lstStyle/>
          <a:p>
            <a:r>
              <a:rPr lang="en-US" dirty="0" smtClean="0"/>
              <a:t>Superoxide</a:t>
            </a:r>
            <a:endParaRPr lang="en-US" dirty="0"/>
          </a:p>
        </p:txBody>
      </p:sp>
      <p:sp>
        <p:nvSpPr>
          <p:cNvPr id="3" name="TextBox 2"/>
          <p:cNvSpPr txBox="1"/>
          <p:nvPr/>
        </p:nvSpPr>
        <p:spPr>
          <a:xfrm>
            <a:off x="7696200" y="4495800"/>
            <a:ext cx="1462580" cy="369332"/>
          </a:xfrm>
          <a:prstGeom prst="rect">
            <a:avLst/>
          </a:prstGeom>
          <a:noFill/>
        </p:spPr>
        <p:txBody>
          <a:bodyPr wrap="none" rtlCol="0">
            <a:spAutoFit/>
          </a:bodyPr>
          <a:lstStyle/>
          <a:p>
            <a:r>
              <a:rPr lang="en-US" dirty="0" smtClean="0"/>
              <a:t>Paramagnetic</a:t>
            </a:r>
            <a:endParaRPr lang="en-US" dirty="0"/>
          </a:p>
        </p:txBody>
      </p:sp>
    </p:spTree>
    <p:extLst>
      <p:ext uri="{BB962C8B-B14F-4D97-AF65-F5344CB8AC3E}">
        <p14:creationId xmlns:p14="http://schemas.microsoft.com/office/powerpoint/2010/main" val="70991001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043" y="0"/>
            <a:ext cx="430335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65977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53054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4841" y="1752600"/>
            <a:ext cx="532447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17654"/>
            <a:ext cx="4724400" cy="260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28600" y="1383268"/>
            <a:ext cx="1916615" cy="369332"/>
          </a:xfrm>
          <a:prstGeom prst="rect">
            <a:avLst/>
          </a:prstGeom>
          <a:noFill/>
        </p:spPr>
        <p:txBody>
          <a:bodyPr wrap="none" rtlCol="0">
            <a:spAutoFit/>
          </a:bodyPr>
          <a:lstStyle/>
          <a:p>
            <a:r>
              <a:rPr lang="en-US" dirty="0" smtClean="0"/>
              <a:t>HOMODINUCLEAR</a:t>
            </a:r>
            <a:endParaRPr lang="en-US" dirty="0"/>
          </a:p>
        </p:txBody>
      </p:sp>
      <p:sp>
        <p:nvSpPr>
          <p:cNvPr id="3" name="TextBox 2"/>
          <p:cNvSpPr txBox="1"/>
          <p:nvPr/>
        </p:nvSpPr>
        <p:spPr>
          <a:xfrm>
            <a:off x="5197549" y="1374408"/>
            <a:ext cx="2008948" cy="369332"/>
          </a:xfrm>
          <a:prstGeom prst="rect">
            <a:avLst/>
          </a:prstGeom>
          <a:noFill/>
        </p:spPr>
        <p:txBody>
          <a:bodyPr wrap="none" rtlCol="0">
            <a:spAutoFit/>
          </a:bodyPr>
          <a:lstStyle/>
          <a:p>
            <a:r>
              <a:rPr lang="en-US" dirty="0" smtClean="0"/>
              <a:t>HETEROBINUCLEAR</a:t>
            </a:r>
            <a:endParaRPr lang="en-US" dirty="0"/>
          </a:p>
        </p:txBody>
      </p:sp>
    </p:spTree>
    <p:extLst>
      <p:ext uri="{BB962C8B-B14F-4D97-AF65-F5344CB8AC3E}">
        <p14:creationId xmlns:p14="http://schemas.microsoft.com/office/powerpoint/2010/main" val="358382667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575928"/>
            <a:ext cx="7904531" cy="612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35819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52400"/>
            <a:ext cx="5261058"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8364" y="2362200"/>
            <a:ext cx="2085764" cy="646331"/>
          </a:xfrm>
          <a:prstGeom prst="rect">
            <a:avLst/>
          </a:prstGeom>
          <a:noFill/>
        </p:spPr>
        <p:txBody>
          <a:bodyPr wrap="none" rtlCol="0">
            <a:spAutoFit/>
          </a:bodyPr>
          <a:lstStyle/>
          <a:p>
            <a:r>
              <a:rPr lang="en-US" dirty="0" smtClean="0"/>
              <a:t>Same MOED for NO </a:t>
            </a:r>
          </a:p>
          <a:p>
            <a:r>
              <a:rPr lang="en-US" dirty="0" smtClean="0"/>
              <a:t>and NO</a:t>
            </a:r>
            <a:r>
              <a:rPr lang="en-US" baseline="30000" dirty="0" smtClean="0"/>
              <a:t>+</a:t>
            </a:r>
            <a:endParaRPr lang="en-US" baseline="30000" dirty="0"/>
          </a:p>
        </p:txBody>
      </p:sp>
      <p:sp>
        <p:nvSpPr>
          <p:cNvPr id="2" name="TextBox 1"/>
          <p:cNvSpPr txBox="1"/>
          <p:nvPr/>
        </p:nvSpPr>
        <p:spPr>
          <a:xfrm>
            <a:off x="-76200" y="3390900"/>
            <a:ext cx="2226956" cy="646331"/>
          </a:xfrm>
          <a:prstGeom prst="rect">
            <a:avLst/>
          </a:prstGeom>
          <a:noFill/>
        </p:spPr>
        <p:txBody>
          <a:bodyPr wrap="none" rtlCol="0">
            <a:spAutoFit/>
          </a:bodyPr>
          <a:lstStyle/>
          <a:p>
            <a:r>
              <a:rPr lang="en-US" dirty="0" smtClean="0"/>
              <a:t>Bond order NO=2.5</a:t>
            </a:r>
          </a:p>
          <a:p>
            <a:r>
              <a:rPr lang="en-US" dirty="0" smtClean="0"/>
              <a:t>Bond order NO</a:t>
            </a:r>
            <a:r>
              <a:rPr lang="en-US" baseline="30000" dirty="0" smtClean="0"/>
              <a:t>+</a:t>
            </a:r>
            <a:r>
              <a:rPr lang="en-US" dirty="0" smtClean="0"/>
              <a:t> = 3.0</a:t>
            </a:r>
            <a:endParaRPr lang="en-US" dirty="0"/>
          </a:p>
        </p:txBody>
      </p:sp>
    </p:spTree>
    <p:extLst>
      <p:ext uri="{BB962C8B-B14F-4D97-AF65-F5344CB8AC3E}">
        <p14:creationId xmlns:p14="http://schemas.microsoft.com/office/powerpoint/2010/main" val="183711123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800"/>
            <a:ext cx="9067800" cy="2317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55342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71895"/>
            <a:ext cx="5164085"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16" y="1548073"/>
            <a:ext cx="2734338" cy="369332"/>
          </a:xfrm>
          <a:prstGeom prst="rect">
            <a:avLst/>
          </a:prstGeom>
          <a:noFill/>
        </p:spPr>
        <p:txBody>
          <a:bodyPr wrap="none" rtlCol="0">
            <a:spAutoFit/>
          </a:bodyPr>
          <a:lstStyle/>
          <a:p>
            <a:r>
              <a:rPr lang="en-US" dirty="0" smtClean="0"/>
              <a:t>Interesting facts about CO+</a:t>
            </a:r>
            <a:endParaRPr lang="en-US" dirty="0"/>
          </a:p>
        </p:txBody>
      </p:sp>
      <p:sp>
        <p:nvSpPr>
          <p:cNvPr id="3" name="Rectangle 2"/>
          <p:cNvSpPr/>
          <p:nvPr/>
        </p:nvSpPr>
        <p:spPr>
          <a:xfrm>
            <a:off x="76200" y="1981200"/>
            <a:ext cx="4191000" cy="3600986"/>
          </a:xfrm>
          <a:prstGeom prst="rect">
            <a:avLst/>
          </a:prstGeom>
        </p:spPr>
        <p:txBody>
          <a:bodyPr wrap="square">
            <a:spAutoFit/>
          </a:bodyPr>
          <a:lstStyle/>
          <a:p>
            <a:r>
              <a:rPr lang="en-US" sz="1200" dirty="0"/>
              <a:t>the order of energy for the MOs is the same as for atoms heavier than C,</a:t>
            </a:r>
          </a:p>
          <a:p>
            <a:r>
              <a:rPr lang="en-US" sz="1200" dirty="0"/>
              <a:t>since this only reverses the position of the </a:t>
            </a:r>
            <a:r>
              <a:rPr lang="en-US" sz="1200" i="1" dirty="0"/>
              <a:t>a2px </a:t>
            </a:r>
            <a:r>
              <a:rPr lang="en-US" sz="1200" dirty="0"/>
              <a:t>and the </a:t>
            </a:r>
            <a:r>
              <a:rPr lang="en-US" sz="1200" i="1" dirty="0"/>
              <a:t>(n2py </a:t>
            </a:r>
            <a:r>
              <a:rPr lang="en-US" sz="1200" dirty="0"/>
              <a:t>and n2pz)</a:t>
            </a:r>
          </a:p>
          <a:p>
            <a:r>
              <a:rPr lang="en-US" sz="1200" dirty="0" err="1"/>
              <a:t>MOs.</a:t>
            </a:r>
            <a:r>
              <a:rPr lang="en-US" sz="1200" dirty="0"/>
              <a:t> The most likely explanation of the bond shortening when CO is</a:t>
            </a:r>
          </a:p>
          <a:p>
            <a:r>
              <a:rPr lang="en-US" sz="1200" dirty="0"/>
              <a:t>changed to co+ is that the </a:t>
            </a:r>
            <a:r>
              <a:rPr lang="en-US" sz="1200" i="1" dirty="0"/>
              <a:t>a2s </a:t>
            </a:r>
            <a:r>
              <a:rPr lang="en-US" sz="1200" dirty="0"/>
              <a:t>and </a:t>
            </a:r>
            <a:r>
              <a:rPr lang="en-US" sz="1200" i="1" dirty="0"/>
              <a:t>a*2s </a:t>
            </a:r>
            <a:r>
              <a:rPr lang="en-US" sz="1200" dirty="0"/>
              <a:t>molecular orbitals differ in</a:t>
            </a:r>
          </a:p>
          <a:p>
            <a:r>
              <a:rPr lang="en-US" sz="1200" dirty="0"/>
              <a:t>energy more than is shown in the figure. This means that they are wider</a:t>
            </a:r>
          </a:p>
          <a:p>
            <a:r>
              <a:rPr lang="en-US" sz="1200" dirty="0"/>
              <a:t>apart, and the </a:t>
            </a:r>
            <a:r>
              <a:rPr lang="en-US" sz="1200" i="1" dirty="0"/>
              <a:t>o*2s </a:t>
            </a:r>
            <a:r>
              <a:rPr lang="en-US" sz="1200" dirty="0"/>
              <a:t>MO is higher in energy than the </a:t>
            </a:r>
            <a:r>
              <a:rPr lang="en-US" sz="1200" i="1" dirty="0"/>
              <a:t>o2px, n2py </a:t>
            </a:r>
            <a:r>
              <a:rPr lang="en-US" sz="1200" dirty="0"/>
              <a:t>and </a:t>
            </a:r>
            <a:r>
              <a:rPr lang="en-US" sz="1200" i="1" dirty="0"/>
              <a:t>x2pz</a:t>
            </a:r>
          </a:p>
          <a:p>
            <a:r>
              <a:rPr lang="en-US" sz="1200" dirty="0" err="1"/>
              <a:t>MOs.</a:t>
            </a:r>
            <a:r>
              <a:rPr lang="en-US" sz="1200" dirty="0"/>
              <a:t> This illustrates very plainly that the order of MO energy levels for</a:t>
            </a:r>
          </a:p>
          <a:p>
            <a:r>
              <a:rPr lang="en-US" sz="1200" dirty="0"/>
              <a:t>simple </a:t>
            </a:r>
            <a:r>
              <a:rPr lang="en-US" sz="1200" dirty="0" err="1"/>
              <a:t>homonuclear</a:t>
            </a:r>
            <a:r>
              <a:rPr lang="en-US" sz="1200" dirty="0"/>
              <a:t> diatomic molecules used above is not automatically</a:t>
            </a:r>
          </a:p>
          <a:p>
            <a:r>
              <a:rPr lang="en-US" sz="1200" dirty="0"/>
              <a:t>applicable when two different types of atoms are bonded together, and it is</a:t>
            </a:r>
          </a:p>
          <a:p>
            <a:r>
              <a:rPr lang="en-US" sz="1200" dirty="0" err="1"/>
              <a:t>cer~ainly</a:t>
            </a:r>
            <a:r>
              <a:rPr lang="en-US" sz="1200" dirty="0"/>
              <a:t> incorrect in · this particular </a:t>
            </a:r>
            <a:r>
              <a:rPr lang="en-US" sz="1200" dirty="0" err="1"/>
              <a:t>heteronuclear</a:t>
            </a:r>
            <a:r>
              <a:rPr lang="en-US" sz="1200" dirty="0"/>
              <a:t> case.</a:t>
            </a:r>
          </a:p>
        </p:txBody>
      </p:sp>
    </p:spTree>
    <p:extLst>
      <p:ext uri="{BB962C8B-B14F-4D97-AF65-F5344CB8AC3E}">
        <p14:creationId xmlns:p14="http://schemas.microsoft.com/office/powerpoint/2010/main" val="112427127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88" y="533400"/>
            <a:ext cx="891250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614478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7" y="1066800"/>
            <a:ext cx="907626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83290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3670"/>
            <a:ext cx="8534400" cy="3264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562" y="3124200"/>
            <a:ext cx="8370038" cy="327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75218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34" y="-76200"/>
            <a:ext cx="6824382" cy="693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68376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O DIAGRAM OF HCl for IIT JAM , BARC , CSIR NET, GATE , LECTURER, LT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85344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19779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raw orbital diagram of HCl and HF explain the structure on the basis of  hybridization and vsepr theory - Chemistry - Chemical Bonding and Molecular  Structure - 9629861 | Meritnation.co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316" name="Picture 4" descr="Draw orbital diagram of HCl and HF explain the structure on the basis of  hybridization and vsepr theory - Chemistry - Chemical Bonding and Molecular  Structure - 9629861 | Meritnation.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230" y="185146"/>
            <a:ext cx="7315570" cy="661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8140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07" y="76200"/>
            <a:ext cx="8665293" cy="649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348451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52400"/>
            <a:ext cx="6781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47700"/>
            <a:ext cx="9107128"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11356" y="2645717"/>
            <a:ext cx="279244" cy="461665"/>
          </a:xfrm>
          <a:prstGeom prst="rect">
            <a:avLst/>
          </a:prstGeom>
          <a:noFill/>
        </p:spPr>
        <p:txBody>
          <a:bodyPr wrap="none" rtlCol="0">
            <a:spAutoFit/>
          </a:bodyPr>
          <a:lstStyle/>
          <a:p>
            <a:r>
              <a:rPr lang="en-US" sz="2400" dirty="0" smtClean="0"/>
              <a:t>-</a:t>
            </a:r>
            <a:endParaRPr lang="en-US" sz="2400" dirty="0"/>
          </a:p>
        </p:txBody>
      </p:sp>
    </p:spTree>
    <p:extLst>
      <p:ext uri="{BB962C8B-B14F-4D97-AF65-F5344CB8AC3E}">
        <p14:creationId xmlns:p14="http://schemas.microsoft.com/office/powerpoint/2010/main" val="175785611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806"/>
            <a:ext cx="6030087" cy="65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33574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1260"/>
            <a:ext cx="8610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95400"/>
            <a:ext cx="6858000" cy="5561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311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33400"/>
            <a:ext cx="8601891"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831100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Parsing spdf Orbital Hybridization and Simple Bon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474921"/>
            <a:ext cx="9134301" cy="5925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84904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614" y="230127"/>
            <a:ext cx="8420986" cy="5837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065099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685799"/>
            <a:ext cx="8763000" cy="516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15661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2.bp.blogspot.com/-MsDLSGLFnGg/VoeQCpkBbsI/AAAAAAAADrg/yMwGWgVfNBo/s1600/valence-bond-theory-vs-mo-theory-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6194"/>
            <a:ext cx="8347738" cy="6260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4466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9" y="228600"/>
            <a:ext cx="6781801" cy="6514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3885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12380</TotalTime>
  <Words>1236</Words>
  <Application>Microsoft Office PowerPoint</Application>
  <PresentationFormat>On-screen Show (4:3)</PresentationFormat>
  <Paragraphs>98</Paragraphs>
  <Slides>90</Slides>
  <Notes>1</Notes>
  <HiddenSlides>0</HiddenSlides>
  <MMClips>0</MMClips>
  <ScaleCrop>false</ScaleCrop>
  <HeadingPairs>
    <vt:vector size="4" baseType="variant">
      <vt:variant>
        <vt:lpstr>Theme</vt:lpstr>
      </vt:variant>
      <vt:variant>
        <vt:i4>1</vt:i4>
      </vt:variant>
      <vt:variant>
        <vt:lpstr>Slide Titles</vt:lpstr>
      </vt:variant>
      <vt:variant>
        <vt:i4>90</vt:i4>
      </vt:variant>
    </vt:vector>
  </HeadingPairs>
  <TitlesOfParts>
    <vt:vector size="9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ssss</cp:lastModifiedBy>
  <cp:revision>123</cp:revision>
  <dcterms:created xsi:type="dcterms:W3CDTF">2021-05-03T14:53:40Z</dcterms:created>
  <dcterms:modified xsi:type="dcterms:W3CDTF">2022-09-19T14:38:55Z</dcterms:modified>
</cp:coreProperties>
</file>