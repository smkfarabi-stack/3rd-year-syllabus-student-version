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66" r:id="rId6"/>
    <p:sldId id="265" r:id="rId7"/>
    <p:sldId id="267" r:id="rId8"/>
    <p:sldId id="258" r:id="rId9"/>
    <p:sldId id="260" r:id="rId10"/>
    <p:sldId id="270" r:id="rId11"/>
    <p:sldId id="269" r:id="rId12"/>
    <p:sldId id="262" r:id="rId13"/>
    <p:sldId id="263" r:id="rId14"/>
    <p:sldId id="271" r:id="rId15"/>
    <p:sldId id="264" r:id="rId16"/>
    <p:sldId id="272" r:id="rId17"/>
    <p:sldId id="261" r:id="rId18"/>
    <p:sldId id="277" r:id="rId19"/>
    <p:sldId id="268" r:id="rId20"/>
    <p:sldId id="276" r:id="rId21"/>
    <p:sldId id="273" r:id="rId22"/>
    <p:sldId id="274" r:id="rId23"/>
    <p:sldId id="275" r:id="rId24"/>
    <p:sldId id="278" r:id="rId25"/>
    <p:sldId id="279" r:id="rId26"/>
    <p:sldId id="280" r:id="rId27"/>
    <p:sldId id="281" r:id="rId28"/>
    <p:sldId id="282" r:id="rId29"/>
    <p:sldId id="283" r:id="rId30"/>
    <p:sldId id="284" r:id="rId31"/>
    <p:sldId id="285" r:id="rId32"/>
    <p:sldId id="286" r:id="rId33"/>
    <p:sldId id="289" r:id="rId34"/>
    <p:sldId id="287" r:id="rId35"/>
    <p:sldId id="288" r:id="rId36"/>
    <p:sldId id="291" r:id="rId37"/>
    <p:sldId id="292" r:id="rId38"/>
    <p:sldId id="293" r:id="rId39"/>
    <p:sldId id="294" r:id="rId40"/>
    <p:sldId id="295" r:id="rId41"/>
    <p:sldId id="296" r:id="rId42"/>
    <p:sldId id="297" r:id="rId43"/>
    <p:sldId id="298" r:id="rId44"/>
    <p:sldId id="299" r:id="rId45"/>
  </p:sldIdLst>
  <p:sldSz cx="9144000" cy="6858000" type="screen4x3"/>
  <p:notesSz cx="6858000" cy="9144000"/>
  <p:defaultTextStyle>
    <a:defPPr>
      <a:defRPr lang="en-US"/>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38" y="-102"/>
      </p:cViewPr>
      <p:guideLst>
        <p:guide orient="horz" pos="2162"/>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lvl="0"/>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6" name="Slide Number Placeholder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6" name="Slide Number Placeholder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lvl="0"/>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6" name="Slide Number Placeholder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lvl="0"/>
            <a:endParaRPr lang="zh-CN" altLang="en-US" dirty="0"/>
          </a:p>
        </p:txBody>
      </p:sp>
      <p:sp>
        <p:nvSpPr>
          <p:cNvPr id="6" name="Footer Placeholder 5"/>
          <p:cNvSpPr>
            <a:spLocks noGrp="1"/>
          </p:cNvSpPr>
          <p:nvPr>
            <p:ph type="ftr" sz="quarter" idx="11"/>
          </p:nvPr>
        </p:nvSpPr>
        <p:spPr/>
        <p:txBody>
          <a:bodyPr/>
          <a:lstStyle/>
          <a:p>
            <a:pPr lvl="0"/>
            <a:endParaRPr lang="zh-CN" altLang="en-US" dirty="0"/>
          </a:p>
        </p:txBody>
      </p:sp>
      <p:sp>
        <p:nvSpPr>
          <p:cNvPr id="7" name="Slide Number Placeholder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zh-CN" altLang="en-US" dirty="0"/>
          </a:p>
        </p:txBody>
      </p:sp>
      <p:sp>
        <p:nvSpPr>
          <p:cNvPr id="8" name="Footer Placeholder 7"/>
          <p:cNvSpPr>
            <a:spLocks noGrp="1"/>
          </p:cNvSpPr>
          <p:nvPr>
            <p:ph type="ftr" sz="quarter" idx="11"/>
          </p:nvPr>
        </p:nvSpPr>
        <p:spPr/>
        <p:txBody>
          <a:bodyPr/>
          <a:lstStyle/>
          <a:p>
            <a:pPr lvl="0"/>
            <a:endParaRPr lang="zh-CN" altLang="en-US" dirty="0"/>
          </a:p>
        </p:txBody>
      </p:sp>
      <p:sp>
        <p:nvSpPr>
          <p:cNvPr id="9" name="Slide Number Placeholder 8"/>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lvl="0"/>
            <a:endParaRPr lang="zh-CN" altLang="en-US" dirty="0"/>
          </a:p>
        </p:txBody>
      </p:sp>
      <p:sp>
        <p:nvSpPr>
          <p:cNvPr id="4" name="Footer Placeholder 3"/>
          <p:cNvSpPr>
            <a:spLocks noGrp="1"/>
          </p:cNvSpPr>
          <p:nvPr>
            <p:ph type="ftr" sz="quarter" idx="11"/>
          </p:nvPr>
        </p:nvSpPr>
        <p:spPr/>
        <p:txBody>
          <a:bodyPr/>
          <a:lstStyle/>
          <a:p>
            <a:pPr lvl="0"/>
            <a:endParaRPr lang="zh-CN" altLang="en-US" dirty="0"/>
          </a:p>
        </p:txBody>
      </p:sp>
      <p:sp>
        <p:nvSpPr>
          <p:cNvPr id="5" name="Slide Number Placeholder 4"/>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zh-CN" altLang="en-US" dirty="0"/>
          </a:p>
        </p:txBody>
      </p:sp>
      <p:sp>
        <p:nvSpPr>
          <p:cNvPr id="3" name="Footer Placeholder 2"/>
          <p:cNvSpPr>
            <a:spLocks noGrp="1"/>
          </p:cNvSpPr>
          <p:nvPr>
            <p:ph type="ftr" sz="quarter" idx="11"/>
          </p:nvPr>
        </p:nvSpPr>
        <p:spPr/>
        <p:txBody>
          <a:bodyPr/>
          <a:lstStyle/>
          <a:p>
            <a:pPr lvl="0"/>
            <a:endParaRPr lang="zh-CN" altLang="en-US" dirty="0"/>
          </a:p>
        </p:txBody>
      </p:sp>
      <p:sp>
        <p:nvSpPr>
          <p:cNvPr id="4" name="Slide Number Placeholder 3"/>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zh-CN" altLang="en-US" dirty="0"/>
          </a:p>
        </p:txBody>
      </p:sp>
      <p:sp>
        <p:nvSpPr>
          <p:cNvPr id="6" name="Footer Placeholder 5"/>
          <p:cNvSpPr>
            <a:spLocks noGrp="1"/>
          </p:cNvSpPr>
          <p:nvPr>
            <p:ph type="ftr" sz="quarter" idx="11"/>
          </p:nvPr>
        </p:nvSpPr>
        <p:spPr/>
        <p:txBody>
          <a:bodyPr/>
          <a:lstStyle/>
          <a:p>
            <a:pPr lvl="0"/>
            <a:endParaRPr lang="zh-CN" altLang="en-US" dirty="0"/>
          </a:p>
        </p:txBody>
      </p:sp>
      <p:sp>
        <p:nvSpPr>
          <p:cNvPr id="7" name="Slide Number Placeholder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zh-CN" altLang="en-US" dirty="0"/>
          </a:p>
        </p:txBody>
      </p:sp>
      <p:sp>
        <p:nvSpPr>
          <p:cNvPr id="6" name="Footer Placeholder 5"/>
          <p:cNvSpPr>
            <a:spLocks noGrp="1"/>
          </p:cNvSpPr>
          <p:nvPr>
            <p:ph type="ftr" sz="quarter" idx="11"/>
          </p:nvPr>
        </p:nvSpPr>
        <p:spPr/>
        <p:txBody>
          <a:bodyPr/>
          <a:lstStyle/>
          <a:p>
            <a:pPr lvl="0"/>
            <a:endParaRPr lang="zh-CN" altLang="en-US" dirty="0"/>
          </a:p>
        </p:txBody>
      </p:sp>
      <p:sp>
        <p:nvSpPr>
          <p:cNvPr id="7" name="Slide Number Placeholder 6"/>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6" name="Slide Number Placeholder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6" name="Slide Number Placeholder 5"/>
          <p:cNvSpPr>
            <a:spLocks noGrp="1"/>
          </p:cNvSpPr>
          <p:nvPr>
            <p:ph type="sldNum" sz="quarter" idx="12"/>
          </p:nvPr>
        </p:nvSpPr>
        <p:spPr/>
        <p:txBody>
          <a:bodyPr/>
          <a:lstStyle/>
          <a:p>
            <a:pPr lvl="0"/>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ea typeface="SimSun" panose="02010600030101010101" pitchFamily="2" charset="-122"/>
              </a:defRPr>
            </a:lvl1pPr>
          </a:lstStyle>
          <a:p>
            <a:pPr lvl="0"/>
            <a:endParaRPr lang="zh-CN" altLang="en-US" dirty="0"/>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SimSun" panose="02010600030101010101" pitchFamily="2" charset="-122"/>
              </a:defRPr>
            </a:lvl1pPr>
          </a:lstStyle>
          <a:p>
            <a:pPr lvl="0"/>
            <a:endParaRPr lang="zh-CN" altLang="en-US" dirty="0"/>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SimSun" panose="02010600030101010101" pitchFamily="2" charset="-122"/>
              </a:defRPr>
            </a:lvl1pPr>
          </a:lstStyle>
          <a:p>
            <a:pPr lvl="0"/>
            <a:fld id="{9A0DB2DC-4C9A-4742-B13C-FB6460FD3503}" type="slidenum">
              <a:rPr lang="zh-CN" altLang="en-US" dirty="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b="1">
                <a:solidFill>
                  <a:srgbClr val="FF0000"/>
                </a:solidFill>
                <a:latin typeface="Times New Roman" panose="02020603050405020304" charset="0"/>
                <a:cs typeface="Times New Roman" panose="02020603050405020304" charset="0"/>
              </a:rPr>
              <a:t>Optical Dispersion</a:t>
            </a:r>
            <a:endParaRPr lang="en-US" b="1">
              <a:solidFill>
                <a:srgbClr val="FF0000"/>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3375" y="274955"/>
            <a:ext cx="8353425" cy="678815"/>
          </a:xfrm>
        </p:spPr>
        <p:txBody>
          <a:bodyPr/>
          <a:p>
            <a:r>
              <a:rPr lang="en-US" sz="4000"/>
              <a:t>Plane Polarized Light</a:t>
            </a:r>
            <a:endParaRPr lang="en-US" sz="4000"/>
          </a:p>
        </p:txBody>
      </p:sp>
      <p:sp>
        <p:nvSpPr>
          <p:cNvPr id="3" name="Content Placeholder 2"/>
          <p:cNvSpPr>
            <a:spLocks noGrp="1"/>
          </p:cNvSpPr>
          <p:nvPr>
            <p:ph idx="1"/>
          </p:nvPr>
        </p:nvSpPr>
        <p:spPr>
          <a:xfrm>
            <a:off x="273685" y="838200"/>
            <a:ext cx="8413115" cy="5288280"/>
          </a:xfrm>
        </p:spPr>
        <p:txBody>
          <a:bodyPr/>
          <a:p>
            <a:pPr marL="0" indent="0" algn="just">
              <a:lnSpc>
                <a:spcPct val="150000"/>
              </a:lnSpc>
              <a:buNone/>
            </a:pPr>
            <a:r>
              <a:rPr lang="en-US" altLang="en-US" sz="2000">
                <a:latin typeface="Times New Roman" panose="02020603050405020304" charset="0"/>
                <a:cs typeface="Times New Roman" panose="02020603050405020304" charset="0"/>
              </a:rPr>
              <a:t>Plane polarized light is light where the electric field oscillates in only one direction or plane. Ordinary light is turned into plane-polarized light by passing it through a lens made of the material known as Polaroid or more traditionally through pieces of calcite.</a:t>
            </a:r>
            <a:endParaRPr lang="en-US" altLang="en-US" sz="2000">
              <a:latin typeface="Times New Roman" panose="02020603050405020304" charset="0"/>
              <a:cs typeface="Times New Roman" panose="02020603050405020304" charset="0"/>
            </a:endParaRPr>
          </a:p>
          <a:p>
            <a:pPr marL="0" indent="0" algn="just">
              <a:buNone/>
            </a:pPr>
            <a:endParaRPr lang="en-US" altLang="en-US" sz="2000">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1"/>
          <a:stretch>
            <a:fillRect/>
          </a:stretch>
        </p:blipFill>
        <p:spPr>
          <a:xfrm>
            <a:off x="3060065" y="2564765"/>
            <a:ext cx="5287645" cy="36690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23850" y="260985"/>
            <a:ext cx="8102600" cy="64128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79705" y="332105"/>
            <a:ext cx="8648065" cy="61677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400685"/>
            <a:ext cx="8107045" cy="61271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345440"/>
            <a:ext cx="8322310" cy="61677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80975" y="327025"/>
            <a:ext cx="8661400" cy="6381115"/>
          </a:xfrm>
        </p:spPr>
        <p:txBody>
          <a:bodyPr/>
          <a:p>
            <a:pPr marL="0" indent="0">
              <a:buNone/>
            </a:pPr>
            <a:r>
              <a:rPr lang="en-US" altLang="en-US" sz="2000">
                <a:latin typeface="Times New Roman" panose="02020603050405020304" charset="0"/>
                <a:cs typeface="Times New Roman" panose="02020603050405020304" charset="0"/>
              </a:rPr>
              <a:t>Types of Polarization of Light</a:t>
            </a:r>
            <a:endParaRPr lang="en-US" altLang="en-US" sz="2000">
              <a:latin typeface="Times New Roman" panose="02020603050405020304" charset="0"/>
              <a:cs typeface="Times New Roman" panose="02020603050405020304" charset="0"/>
            </a:endParaRPr>
          </a:p>
          <a:p>
            <a:pPr marL="0" indent="0">
              <a:buNone/>
            </a:pPr>
            <a:r>
              <a:rPr lang="en-US" altLang="en-US" sz="2000">
                <a:latin typeface="Times New Roman" panose="02020603050405020304" charset="0"/>
                <a:cs typeface="Times New Roman" panose="02020603050405020304" charset="0"/>
              </a:rPr>
              <a:t>The three types of Polarization based on transverse and longitudinal wave motion are as follows: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Linear polarization</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Elliptical Polarization</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Circular Polarization</a:t>
            </a:r>
            <a:endParaRPr lang="en-US" altLang="en-US" sz="2000">
              <a:latin typeface="Times New Roman" panose="02020603050405020304" charset="0"/>
              <a:cs typeface="Times New Roman" panose="02020603050405020304" charset="0"/>
            </a:endParaRPr>
          </a:p>
          <a:p>
            <a:pPr marL="0" indent="0">
              <a:buNone/>
            </a:pPr>
            <a:r>
              <a:rPr lang="en-US" altLang="en-US" sz="2000" b="1">
                <a:solidFill>
                  <a:srgbClr val="FF0000"/>
                </a:solidFill>
                <a:latin typeface="Times New Roman" panose="02020603050405020304" charset="0"/>
                <a:cs typeface="Times New Roman" panose="02020603050405020304" charset="0"/>
              </a:rPr>
              <a:t>Linear Polarization</a:t>
            </a:r>
            <a:endParaRPr lang="en-US" altLang="en-US" sz="2000" b="1">
              <a:solidFill>
                <a:srgbClr val="FF0000"/>
              </a:solidFill>
              <a:latin typeface="Times New Roman" panose="02020603050405020304" charset="0"/>
              <a:cs typeface="Times New Roman" panose="02020603050405020304" charset="0"/>
            </a:endParaRPr>
          </a:p>
          <a:p>
            <a:pPr marL="0" indent="0">
              <a:buNone/>
            </a:pPr>
            <a:r>
              <a:rPr lang="en-US" altLang="en-US" sz="2000">
                <a:latin typeface="Times New Roman" panose="02020603050405020304" charset="0"/>
                <a:cs typeface="Times New Roman" panose="02020603050405020304" charset="0"/>
              </a:rPr>
              <a:t>In linear polarization, the electric field of light is restricted to a single plane along the direction of propagation.</a:t>
            </a:r>
            <a:endParaRPr lang="en-US" altLang="en-US" sz="2000">
              <a:latin typeface="Times New Roman" panose="02020603050405020304" charset="0"/>
              <a:cs typeface="Times New Roman" panose="02020603050405020304" charset="0"/>
            </a:endParaRPr>
          </a:p>
          <a:p>
            <a:pPr marL="0" indent="0">
              <a:buNone/>
            </a:pPr>
            <a:r>
              <a:rPr lang="en-US" altLang="en-US" sz="2000" b="1">
                <a:solidFill>
                  <a:srgbClr val="FF0000"/>
                </a:solidFill>
                <a:latin typeface="Times New Roman" panose="02020603050405020304" charset="0"/>
                <a:cs typeface="Times New Roman" panose="02020603050405020304" charset="0"/>
              </a:rPr>
              <a:t>Circular Polarization</a:t>
            </a:r>
            <a:endParaRPr lang="en-US" altLang="en-US" sz="2000" b="1">
              <a:solidFill>
                <a:srgbClr val="FF0000"/>
              </a:solidFill>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In circular polarization, the electric field has two linear components that are perpendicular to each other such that their amplitudes are equal, but the phase difference is 90 </a:t>
            </a:r>
            <a:r>
              <a:rPr lang="en-US" altLang="en-US" sz="2000">
                <a:latin typeface="Times New Roman" panose="02020603050405020304" charset="0"/>
                <a:cs typeface="Times New Roman" panose="02020603050405020304" charset="0"/>
              </a:rPr>
              <a:t>°</a:t>
            </a:r>
            <a:r>
              <a:rPr lang="en-US" altLang="en-US" sz="2000">
                <a:latin typeface="Times New Roman" panose="02020603050405020304" charset="0"/>
                <a:cs typeface="Times New Roman" panose="02020603050405020304" charset="0"/>
              </a:rPr>
              <a:t>. The resulting electric field rotates in a circle around the direction of propagation. Depending on the rotation direction, it is called left- or right-hand circularly polarized light</a:t>
            </a:r>
            <a:endParaRPr lang="en-US" altLang="en-US" sz="2000">
              <a:latin typeface="Times New Roman" panose="02020603050405020304" charset="0"/>
              <a:cs typeface="Times New Roman" panose="02020603050405020304" charset="0"/>
            </a:endParaRPr>
          </a:p>
          <a:p>
            <a:pPr marL="0" indent="0">
              <a:buNone/>
            </a:pPr>
            <a:r>
              <a:rPr lang="en-US" altLang="en-US" sz="2000" b="1">
                <a:solidFill>
                  <a:srgbClr val="FF0000"/>
                </a:solidFill>
                <a:latin typeface="Times New Roman" panose="02020603050405020304" charset="0"/>
                <a:cs typeface="Times New Roman" panose="02020603050405020304" charset="0"/>
              </a:rPr>
              <a:t>Elliptical Polarization</a:t>
            </a:r>
            <a:endParaRPr lang="en-US" altLang="en-US" sz="2000" b="1">
              <a:solidFill>
                <a:srgbClr val="FF0000"/>
              </a:solidFill>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In elliptical polarization, the electric field has two linear components that are perpendicular to each other. However, either their amplitudes are not equal, or their phase difference is not 90</a:t>
            </a:r>
            <a:r>
              <a:rPr lang="en-US" altLang="en-US" sz="2000">
                <a:latin typeface="Times New Roman" panose="02020603050405020304" charset="0"/>
                <a:cs typeface="Times New Roman" panose="02020603050405020304" charset="0"/>
              </a:rPr>
              <a:t>°</a:t>
            </a:r>
            <a:r>
              <a:rPr lang="en-US" altLang="en-US" sz="2000">
                <a:latin typeface="Times New Roman" panose="02020603050405020304" charset="0"/>
                <a:cs typeface="Times New Roman" panose="02020603050405020304" charset="0"/>
              </a:rPr>
              <a:t>.</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611505" y="690245"/>
            <a:ext cx="7253605" cy="52349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71145" y="419735"/>
            <a:ext cx="8415655" cy="5706745"/>
          </a:xfrm>
        </p:spPr>
        <p:txBody>
          <a:bodyPr/>
          <a:p>
            <a:pPr algn="just">
              <a:lnSpc>
                <a:spcPct val="150000"/>
              </a:lnSpc>
              <a:buFont typeface="Wingdings" panose="05000000000000000000" charset="0"/>
              <a:buChar char="o"/>
            </a:pPr>
            <a:r>
              <a:rPr lang="en-US" altLang="en-US" sz="2400">
                <a:latin typeface="Times New Roman" panose="02020603050405020304" charset="0"/>
                <a:cs typeface="Times New Roman" panose="02020603050405020304" charset="0"/>
              </a:rPr>
              <a:t>Circular and elliptical polarization are both types of electromagnetic wave polarization where the electric field vector rotates. </a:t>
            </a:r>
            <a:endParaRPr lang="en-US" altLang="en-US" sz="2400">
              <a:latin typeface="Times New Roman" panose="02020603050405020304" charset="0"/>
              <a:cs typeface="Times New Roman" panose="02020603050405020304" charset="0"/>
            </a:endParaRPr>
          </a:p>
          <a:p>
            <a:pPr algn="just">
              <a:lnSpc>
                <a:spcPct val="150000"/>
              </a:lnSpc>
              <a:buFont typeface="Wingdings" panose="05000000000000000000" charset="0"/>
              <a:buChar char="o"/>
            </a:pPr>
            <a:r>
              <a:rPr lang="en-US" altLang="en-US" sz="2400">
                <a:latin typeface="Times New Roman" panose="02020603050405020304" charset="0"/>
                <a:cs typeface="Times New Roman" panose="02020603050405020304" charset="0"/>
              </a:rPr>
              <a:t>The difference is that circular polarization occurs when the two perpendicular, linearly polarized component waves have equal amplitude and a 90</a:t>
            </a:r>
            <a:r>
              <a:rPr lang="en-US" altLang="en-US" sz="2400">
                <a:latin typeface="Arial" panose="020B0604020202020204" pitchFamily="34" charset="0"/>
                <a:cs typeface="Times New Roman" panose="02020603050405020304" charset="0"/>
              </a:rPr>
              <a:t>°</a:t>
            </a:r>
            <a:r>
              <a:rPr lang="en-US" altLang="en-US" sz="2400">
                <a:latin typeface="Times New Roman" panose="02020603050405020304" charset="0"/>
                <a:cs typeface="Times New Roman" panose="02020603050405020304" charset="0"/>
              </a:rPr>
              <a:t> phase difference, resulting in a constant-magnitude circular rotation.</a:t>
            </a:r>
            <a:endParaRPr lang="en-US" altLang="en-US" sz="2400">
              <a:latin typeface="Times New Roman" panose="02020603050405020304" charset="0"/>
              <a:cs typeface="Times New Roman" panose="02020603050405020304" charset="0"/>
            </a:endParaRPr>
          </a:p>
          <a:p>
            <a:pPr algn="just">
              <a:lnSpc>
                <a:spcPct val="150000"/>
              </a:lnSpc>
              <a:buFont typeface="Wingdings" panose="05000000000000000000" charset="0"/>
              <a:buChar char="o"/>
            </a:pPr>
            <a:r>
              <a:rPr lang="en-US" altLang="en-US" sz="2400">
                <a:latin typeface="Times New Roman" panose="02020603050405020304" charset="0"/>
                <a:cs typeface="Times New Roman" panose="02020603050405020304" charset="0"/>
              </a:rPr>
              <a:t> In contrast, elliptical polarization occurs when the component waves have either unequal amplitudes or a phase difference other than 90</a:t>
            </a:r>
            <a:r>
              <a:rPr lang="en-US" altLang="en-US" sz="2400">
                <a:latin typeface="Arial" panose="020B0604020202020204" pitchFamily="34" charset="0"/>
                <a:cs typeface="Times New Roman" panose="02020603050405020304" charset="0"/>
                <a:sym typeface="+mn-ea"/>
              </a:rPr>
              <a:t>°</a:t>
            </a:r>
            <a:r>
              <a:rPr lang="en-US" altLang="en-US" sz="2400">
                <a:latin typeface="Times New Roman" panose="02020603050405020304" charset="0"/>
                <a:cs typeface="Times New Roman" panose="02020603050405020304" charset="0"/>
              </a:rPr>
              <a:t>, causing the vector to trace an ellipse and its magnitude to change over time</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903605" y="2150110"/>
            <a:ext cx="7642225" cy="27095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80340" y="228600"/>
            <a:ext cx="8506460" cy="5897880"/>
          </a:xfrm>
        </p:spPr>
        <p:txBody>
          <a:bodyPr/>
          <a:p>
            <a:pPr marL="0" indent="0" algn="just">
              <a:buNone/>
            </a:pPr>
            <a:r>
              <a:rPr lang="en-US" altLang="en-US" sz="2000" b="1">
                <a:latin typeface="Times New Roman" panose="02020603050405020304" charset="0"/>
                <a:cs typeface="Times New Roman" panose="02020603050405020304" charset="0"/>
              </a:rPr>
              <a:t>Linear polarization</a:t>
            </a:r>
            <a:r>
              <a:rPr lang="en-US" altLang="en-US" sz="2000">
                <a:latin typeface="Times New Roman" panose="02020603050405020304" charset="0"/>
                <a:cs typeface="Times New Roman" panose="02020603050405020304" charset="0"/>
              </a:rPr>
              <a:t> is obtained by passing light through an optical element (polarizer) in which the crystal axes and the orientation of the molecules are aligned. Circular polarization occurs when the phase of an orthogonal wave vector (electric field vector) deviates by 1/4 wavelength. Circularly polarized light can be left-handed (El) and right-handed (Er), and linearly polarized light can be treated as the sum of E l and E r of equal intensity (Fig. , upper). When E l and E r have different intensities, the resulting light is referred to as elliptically polarized (Fig.lower).</a:t>
            </a:r>
            <a:endParaRPr lang="en-US" altLang="en-US" sz="2000">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Fig. Sum of circularly polarized light components</a:t>
            </a:r>
            <a:endParaRPr lang="en-US" altLang="en-US" sz="2000">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El = Er</a:t>
            </a:r>
            <a:r>
              <a:rPr lang="zh-CN" altLang="en-US" sz="2000">
                <a:latin typeface="Times New Roman" panose="02020603050405020304" charset="0"/>
                <a:cs typeface="Times New Roman" panose="02020603050405020304" charset="0"/>
              </a:rPr>
              <a:t>：</a:t>
            </a:r>
            <a:r>
              <a:rPr lang="en-US" altLang="en-US" sz="2000">
                <a:latin typeface="Times New Roman" panose="02020603050405020304" charset="0"/>
                <a:cs typeface="Times New Roman" panose="02020603050405020304" charset="0"/>
              </a:rPr>
              <a:t> linearly polarized light (upper)</a:t>
            </a:r>
            <a:endParaRPr lang="en-US" altLang="en-US" sz="2000">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El ≠ Er</a:t>
            </a:r>
            <a:r>
              <a:rPr lang="zh-CN" altLang="en-US" sz="2000">
                <a:latin typeface="Times New Roman" panose="02020603050405020304" charset="0"/>
                <a:cs typeface="Times New Roman" panose="02020603050405020304" charset="0"/>
              </a:rPr>
              <a:t>：</a:t>
            </a:r>
            <a:r>
              <a:rPr lang="en-US" altLang="en-US" sz="2000">
                <a:latin typeface="Times New Roman" panose="02020603050405020304" charset="0"/>
                <a:cs typeface="Times New Roman" panose="02020603050405020304" charset="0"/>
              </a:rPr>
              <a:t>elliptically polarized light (lower)</a:t>
            </a:r>
            <a:endParaRPr lang="en-US" altLang="en-US" sz="20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2700020" y="3501390"/>
            <a:ext cx="4853305" cy="24015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00" y="146685"/>
            <a:ext cx="8881745" cy="6339205"/>
          </a:xfrm>
        </p:spPr>
        <p:txBody>
          <a:bodyPr/>
          <a:p>
            <a:pPr marL="0" indent="0">
              <a:buNone/>
            </a:pPr>
            <a:r>
              <a:rPr lang="en-US" altLang="en-US" sz="2000" b="1">
                <a:latin typeface="Times New Roman" panose="02020603050405020304" charset="0"/>
                <a:cs typeface="Times New Roman" panose="02020603050405020304" charset="0"/>
              </a:rPr>
              <a:t>Optical rotation and principle of ORD measurements</a:t>
            </a:r>
            <a:endParaRPr lang="en-US" altLang="en-US" sz="2000" b="1">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Optically active substances are molecules that have mirror images with L- and D-forms. Examples of such molecules are thalidomide and glyceraldehyde. Such substances cause a rotation of the polarization plane of linearly polarized light, referred to as optical rotation (OR). The wavelength dependence of OR is called optical rotational dispersion (ORD).</a:t>
            </a:r>
            <a:endParaRPr lang="en-US" altLang="en-US" sz="2000">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As shown in Fig. , when light that is linearly polarized along the Y-axis has its polarization plane rotated to the left, this is referred to as levo (l) or (-) optical rotation. When the rotation is to the right, it is referred to as dextro (d) or (+) optical rotation. The rotation angle is given by α, which can be positive or negative.</a:t>
            </a:r>
            <a:endParaRPr lang="en-US" altLang="en-US" sz="20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1188085" y="3429000"/>
            <a:ext cx="6444615" cy="30962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65785" y="332105"/>
            <a:ext cx="8012430" cy="5887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9705" y="213360"/>
            <a:ext cx="8519795" cy="6200140"/>
          </a:xfrm>
        </p:spPr>
        <p:txBody>
          <a:bodyPr/>
          <a:p>
            <a:pPr marL="0" indent="0" algn="just">
              <a:buNone/>
            </a:pPr>
            <a:r>
              <a:rPr lang="en-US" altLang="en-US" sz="2000" b="1">
                <a:latin typeface="Times New Roman" panose="02020603050405020304" charset="0"/>
                <a:cs typeface="Times New Roman" panose="02020603050405020304" charset="0"/>
              </a:rPr>
              <a:t>Principles of CD measurement</a:t>
            </a:r>
            <a:endParaRPr lang="en-US" altLang="en-US" sz="2000" b="1">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Circular dichroism (CD) is a phenomenon in which the degree of absorption of left and right circularly polarized light is different in the absorption wavelength range of optically active substances. CD measurements detect these differences by passing left and right circularly polarized light through an optically active sample. The transmitted light is then elliptically polarized, and this phenomenon is called circular dichroism (CD) and is expressed by the ellipticity θ (Fig.). A plot of the wavelength dependence of this ellipticity is called a circular dichroism spectrum (CD spectrum).</a:t>
            </a:r>
            <a:endParaRPr lang="en-US" altLang="en-US" sz="2000">
              <a:latin typeface="Times New Roman" panose="02020603050405020304" charset="0"/>
              <a:cs typeface="Times New Roman" panose="02020603050405020304" charset="0"/>
            </a:endParaRPr>
          </a:p>
          <a:p>
            <a:pPr marL="0" indent="0" algn="just">
              <a:buNone/>
            </a:pPr>
            <a:r>
              <a:rPr lang="en-US" altLang="en-US" sz="2000">
                <a:latin typeface="Times New Roman" panose="02020603050405020304" charset="0"/>
                <a:cs typeface="Times New Roman" panose="02020603050405020304" charset="0"/>
              </a:rPr>
              <a:t>Fig. : Principles of CD</a:t>
            </a:r>
            <a:r>
              <a:rPr lang="zh-CN" altLang="en-US" sz="2000">
                <a:latin typeface="Times New Roman" panose="02020603050405020304" charset="0"/>
                <a:cs typeface="Times New Roman" panose="02020603050405020304" charset="0"/>
              </a:rPr>
              <a:t>：</a:t>
            </a:r>
            <a:r>
              <a:rPr lang="en-US" altLang="en-US" sz="2000">
                <a:latin typeface="Times New Roman" panose="02020603050405020304" charset="0"/>
                <a:cs typeface="Times New Roman" panose="02020603050405020304" charset="0"/>
              </a:rPr>
              <a:t>unequal absorption of circularly polarized light</a:t>
            </a:r>
            <a:endParaRPr lang="en-US" altLang="en-US" sz="20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1403350" y="3644900"/>
            <a:ext cx="5369560" cy="30486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95605" y="404495"/>
            <a:ext cx="8216900" cy="60940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endParaRPr lang="en-US"/>
          </a:p>
        </p:txBody>
      </p:sp>
      <p:pic>
        <p:nvPicPr>
          <p:cNvPr id="4" name="Picture 3" descr="Screenshot 2025-09-04 102121"/>
          <p:cNvPicPr>
            <a:picLocks noChangeAspect="1"/>
          </p:cNvPicPr>
          <p:nvPr/>
        </p:nvPicPr>
        <p:blipFill>
          <a:blip r:embed="rId1"/>
          <a:stretch>
            <a:fillRect/>
          </a:stretch>
        </p:blipFill>
        <p:spPr>
          <a:xfrm>
            <a:off x="179705" y="1196340"/>
            <a:ext cx="8774430" cy="5086350"/>
          </a:xfrm>
          <a:prstGeom prst="rect">
            <a:avLst/>
          </a:prstGeom>
        </p:spPr>
      </p:pic>
      <p:sp>
        <p:nvSpPr>
          <p:cNvPr id="2" name="Rectangles 1"/>
          <p:cNvSpPr/>
          <p:nvPr/>
        </p:nvSpPr>
        <p:spPr>
          <a:xfrm>
            <a:off x="179705" y="116205"/>
            <a:ext cx="8856980" cy="100838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2800">
                <a:ln>
                  <a:solidFill>
                    <a:sysClr val="windowText" lastClr="000000"/>
                  </a:solidFill>
                </a:ln>
                <a:solidFill>
                  <a:schemeClr val="tx1"/>
                </a:solidFill>
                <a:latin typeface="Times New Roman" panose="02020603050405020304" charset="0"/>
                <a:cs typeface="Times New Roman" panose="02020603050405020304" charset="0"/>
              </a:rPr>
              <a:t>Difference between ORD and CD</a:t>
            </a:r>
            <a:endParaRPr lang="en-US" sz="2800">
              <a:ln>
                <a:solidFill>
                  <a:sysClr val="windowText" lastClr="000000"/>
                </a:solidFill>
              </a:ln>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58750" y="236220"/>
            <a:ext cx="8528050" cy="5890260"/>
          </a:xfrm>
        </p:spPr>
        <p:txBody>
          <a:bodyPr/>
          <a:p>
            <a:pPr marL="0" indent="0">
              <a:buNone/>
            </a:pPr>
            <a:r>
              <a:rPr lang="en-US" altLang="en-US" sz="2400" b="1">
                <a:solidFill>
                  <a:srgbClr val="C00000"/>
                </a:solidFill>
                <a:latin typeface="Times New Roman" panose="02020603050405020304" charset="0"/>
                <a:cs typeface="Times New Roman" panose="02020603050405020304" charset="0"/>
              </a:rPr>
              <a:t>Application of ORD curve</a:t>
            </a:r>
            <a:endParaRPr lang="en-US" altLang="en-US" sz="2400" b="1">
              <a:solidFill>
                <a:srgbClr val="C00000"/>
              </a:solidFill>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It helps to determine the relative configuration of chiral compounds.</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It helps in the determination of Configuration and study of compound conformational change.</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It helps in the analysis of the functional group and determination of the position of the functional group.</a:t>
            </a:r>
            <a:endParaRPr lang="en-US" altLang="en-US" sz="2400">
              <a:latin typeface="Times New Roman" panose="02020603050405020304" charset="0"/>
              <a:cs typeface="Times New Roman" panose="02020603050405020304" charset="0"/>
            </a:endParaRPr>
          </a:p>
          <a:p>
            <a:pPr>
              <a:lnSpc>
                <a:spcPct val="150000"/>
              </a:lnSpc>
            </a:pPr>
            <a:r>
              <a:rPr lang="en-US" altLang="en-US" sz="2400">
                <a:latin typeface="Times New Roman" panose="02020603050405020304" charset="0"/>
                <a:cs typeface="Times New Roman" panose="02020603050405020304" charset="0"/>
              </a:rPr>
              <a:t>It helps in the structural determination of polypeptide and protein.</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7000" y="91440"/>
            <a:ext cx="8859520" cy="6517005"/>
          </a:xfrm>
        </p:spPr>
        <p:txBody>
          <a:bodyPr/>
          <a:p>
            <a:pPr marL="0" indent="0">
              <a:buNone/>
            </a:pPr>
            <a:r>
              <a:rPr lang="en-US" altLang="en-US" sz="2000">
                <a:latin typeface="Times New Roman" panose="02020603050405020304" charset="0"/>
                <a:cs typeface="Times New Roman" panose="02020603050405020304" charset="0"/>
              </a:rPr>
              <a:t>The optical rotatory dispersion curve are classified into two main types and they are:</a:t>
            </a:r>
            <a:endParaRPr lang="en-US" altLang="en-US" sz="2000">
              <a:latin typeface="Times New Roman" panose="02020603050405020304" charset="0"/>
              <a:cs typeface="Times New Roman" panose="02020603050405020304" charset="0"/>
            </a:endParaRPr>
          </a:p>
          <a:p>
            <a:pPr>
              <a:buFont typeface="Arial" panose="020B0604020202020204" pitchFamily="34" charset="0"/>
              <a:buChar char="•"/>
            </a:pPr>
            <a:r>
              <a:rPr lang="en-US" altLang="en-US" sz="2000">
                <a:latin typeface="Times New Roman" panose="02020603050405020304" charset="0"/>
                <a:cs typeface="Times New Roman" panose="02020603050405020304" charset="0"/>
              </a:rPr>
              <a:t>Plain curve</a:t>
            </a:r>
            <a:endParaRPr lang="en-US" altLang="en-US" sz="2000">
              <a:latin typeface="Times New Roman" panose="02020603050405020304" charset="0"/>
              <a:cs typeface="Times New Roman" panose="02020603050405020304" charset="0"/>
            </a:endParaRPr>
          </a:p>
          <a:p>
            <a:pPr>
              <a:buFont typeface="Arial" panose="020B0604020202020204" pitchFamily="34" charset="0"/>
              <a:buChar char="•"/>
            </a:pPr>
            <a:r>
              <a:rPr lang="en-US" altLang="en-US" sz="2000">
                <a:latin typeface="Times New Roman" panose="02020603050405020304" charset="0"/>
                <a:cs typeface="Times New Roman" panose="02020603050405020304" charset="0"/>
              </a:rPr>
              <a:t>Cotton effect Curve</a:t>
            </a:r>
            <a:endParaRPr lang="en-US" altLang="en-US" sz="2000">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US" sz="2000" b="1">
                <a:latin typeface="Times New Roman" panose="02020603050405020304" charset="0"/>
                <a:cs typeface="Times New Roman" panose="02020603050405020304" charset="0"/>
              </a:rPr>
              <a:t>Plain curve</a:t>
            </a:r>
            <a:endParaRPr lang="en-US" altLang="en-US" sz="2000" b="1">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000">
                <a:latin typeface="Times New Roman" panose="02020603050405020304" charset="0"/>
                <a:cs typeface="Times New Roman" panose="02020603050405020304" charset="0"/>
              </a:rPr>
              <a:t>The term “plain curve” refers to an optical rotation that steadily increases or decreases as wavelengths away from the maximum absorption wavelength, crossing or not crossing the zero rotation line. When the rotation increases as the wavelength decreases, the curve is termed positive; when the rotation decreases as the wavelength decreases, the curve is called negative.</a:t>
            </a:r>
            <a:endParaRPr lang="en-US" altLang="en-US" sz="2000">
              <a:latin typeface="Times New Roman" panose="02020603050405020304" charset="0"/>
              <a:cs typeface="Times New Roman" panose="02020603050405020304" charset="0"/>
            </a:endParaRPr>
          </a:p>
          <a:p>
            <a:pPr marL="0" indent="0" algn="just">
              <a:buFont typeface="Arial" panose="020B0604020202020204" pitchFamily="34" charset="0"/>
              <a:buNone/>
            </a:pPr>
            <a:endParaRPr lang="en-US" altLang="en-US" sz="20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1547495" y="3284855"/>
            <a:ext cx="5587365" cy="30118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377825"/>
            <a:ext cx="8338820" cy="62312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310" y="154305"/>
            <a:ext cx="8815070" cy="6556375"/>
          </a:xfrm>
        </p:spPr>
        <p:txBody>
          <a:bodyPr/>
          <a:p>
            <a:pPr marL="0" indent="0">
              <a:buNone/>
            </a:pPr>
            <a:r>
              <a:rPr lang="en-US" altLang="en-US" sz="2000" b="1">
                <a:latin typeface="Times New Roman" panose="02020603050405020304" charset="0"/>
                <a:cs typeface="Times New Roman" panose="02020603050405020304" charset="0"/>
              </a:rPr>
              <a:t>Cotton effect curve</a:t>
            </a:r>
            <a:endParaRPr lang="en-US" altLang="en-US" sz="2000" b="1">
              <a:latin typeface="Times New Roman" panose="02020603050405020304" charset="0"/>
              <a:cs typeface="Times New Roman" panose="02020603050405020304" charset="0"/>
            </a:endParaRPr>
          </a:p>
          <a:p>
            <a:pPr marL="0" indent="0" algn="just">
              <a:lnSpc>
                <a:spcPct val="150000"/>
              </a:lnSpc>
              <a:buNone/>
            </a:pPr>
            <a:r>
              <a:rPr lang="en-US" altLang="en-US" sz="2000">
                <a:latin typeface="Times New Roman" panose="02020603050405020304" charset="0"/>
                <a:cs typeface="Times New Roman" panose="02020603050405020304" charset="0"/>
              </a:rPr>
              <a:t>Cotton effect curves are also known as anomalous dispersion of optical rotation. Cotton effect curves are obtained for the compound with asymmetric carbon and chromophore which absorbs near UV region. Cotton effect curves are mainly classified into two types:</a:t>
            </a:r>
            <a:endParaRPr lang="en-US" altLang="en-US" sz="2000">
              <a:latin typeface="Times New Roman" panose="02020603050405020304" charset="0"/>
              <a:cs typeface="Times New Roman" panose="02020603050405020304" charset="0"/>
            </a:endParaRPr>
          </a:p>
          <a:p>
            <a:pPr algn="just">
              <a:lnSpc>
                <a:spcPct val="150000"/>
              </a:lnSpc>
              <a:buFont typeface="Arial" panose="020B0604020202020204" pitchFamily="34" charset="0"/>
              <a:buChar char="•"/>
            </a:pPr>
            <a:r>
              <a:rPr lang="en-US" altLang="en-US" sz="2000">
                <a:latin typeface="Times New Roman" panose="02020603050405020304" charset="0"/>
                <a:cs typeface="Times New Roman" panose="02020603050405020304" charset="0"/>
              </a:rPr>
              <a:t>Single cotton effect curve</a:t>
            </a:r>
            <a:endParaRPr lang="en-US" altLang="en-US" sz="2000">
              <a:latin typeface="Times New Roman" panose="02020603050405020304" charset="0"/>
              <a:cs typeface="Times New Roman" panose="02020603050405020304" charset="0"/>
            </a:endParaRPr>
          </a:p>
          <a:p>
            <a:pPr algn="just">
              <a:lnSpc>
                <a:spcPct val="150000"/>
              </a:lnSpc>
              <a:buFont typeface="Arial" panose="020B0604020202020204" pitchFamily="34" charset="0"/>
              <a:buChar char="•"/>
            </a:pPr>
            <a:r>
              <a:rPr lang="en-US" altLang="en-US" sz="2000">
                <a:latin typeface="Times New Roman" panose="02020603050405020304" charset="0"/>
                <a:cs typeface="Times New Roman" panose="02020603050405020304" charset="0"/>
              </a:rPr>
              <a:t>Multiple cotton effect curve</a:t>
            </a:r>
            <a:endParaRPr lang="en-US" altLang="en-US" sz="2000">
              <a:latin typeface="Times New Roman" panose="02020603050405020304" charset="0"/>
              <a:cs typeface="Times New Roman" panose="02020603050405020304" charset="0"/>
            </a:endParaRPr>
          </a:p>
          <a:p>
            <a:pPr algn="just">
              <a:lnSpc>
                <a:spcPct val="150000"/>
              </a:lnSpc>
              <a:buFont typeface="Arial" panose="020B0604020202020204" pitchFamily="34" charset="0"/>
              <a:buChar char="•"/>
            </a:pPr>
            <a:r>
              <a:rPr lang="en-US" altLang="en-US" sz="2000">
                <a:latin typeface="Times New Roman" panose="02020603050405020304" charset="0"/>
                <a:cs typeface="Times New Roman" panose="02020603050405020304" charset="0"/>
              </a:rPr>
              <a:t>Single cotton effect curve</a:t>
            </a:r>
            <a:endParaRPr lang="en-US" altLang="en-US" sz="2000">
              <a:latin typeface="Times New Roman" panose="02020603050405020304" charset="0"/>
              <a:cs typeface="Times New Roman" panose="02020603050405020304" charset="0"/>
            </a:endParaRPr>
          </a:p>
          <a:p>
            <a:pPr marL="0" indent="0" algn="just">
              <a:lnSpc>
                <a:spcPct val="150000"/>
              </a:lnSpc>
              <a:buNone/>
            </a:pPr>
            <a:r>
              <a:rPr lang="en-US" altLang="en-US" sz="2000">
                <a:latin typeface="Times New Roman" panose="02020603050405020304" charset="0"/>
                <a:cs typeface="Times New Roman" panose="02020603050405020304" charset="0"/>
              </a:rPr>
              <a:t>At maximal absorption, the cotton effect curve exhibits both the maximum and the minimum curve. Positive cotton effect occurs when the crest first passes through the trough and moves toward the cotton effect region and negative cotton effect occurs when the trough moves first through the crest and moves toward the cotton effect region. The vertical distance between crest and trough is called amplitude.</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755650" y="332105"/>
            <a:ext cx="6178550" cy="1859915"/>
          </a:xfrm>
          <a:prstGeom prst="rect">
            <a:avLst/>
          </a:prstGeom>
        </p:spPr>
      </p:pic>
      <p:pic>
        <p:nvPicPr>
          <p:cNvPr id="8" name="Picture 7"/>
          <p:cNvPicPr>
            <a:picLocks noChangeAspect="1"/>
          </p:cNvPicPr>
          <p:nvPr/>
        </p:nvPicPr>
        <p:blipFill>
          <a:blip r:embed="rId2"/>
          <a:stretch>
            <a:fillRect/>
          </a:stretch>
        </p:blipFill>
        <p:spPr>
          <a:xfrm>
            <a:off x="252095" y="1916430"/>
            <a:ext cx="8317865" cy="42538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9705" y="184150"/>
            <a:ext cx="8716010" cy="6496685"/>
          </a:xfrm>
        </p:spPr>
        <p:txBody>
          <a:bodyPr/>
          <a:p>
            <a:pPr marL="0" indent="0" algn="just">
              <a:buNone/>
            </a:pPr>
            <a:r>
              <a:rPr lang="en-US" altLang="en-US" sz="2000" b="1">
                <a:latin typeface="Times New Roman" panose="02020603050405020304" charset="0"/>
                <a:cs typeface="Times New Roman" panose="02020603050405020304" charset="0"/>
              </a:rPr>
              <a:t>Multiple cotton effect curve</a:t>
            </a:r>
            <a:endParaRPr lang="en-US" altLang="en-US" sz="2000" b="1">
              <a:latin typeface="Times New Roman" panose="02020603050405020304" charset="0"/>
              <a:cs typeface="Times New Roman" panose="02020603050405020304" charset="0"/>
            </a:endParaRPr>
          </a:p>
          <a:p>
            <a:pPr marL="0" indent="0" algn="just">
              <a:lnSpc>
                <a:spcPct val="150000"/>
              </a:lnSpc>
              <a:buNone/>
            </a:pPr>
            <a:r>
              <a:rPr lang="en-US" altLang="en-US" sz="2000">
                <a:latin typeface="Times New Roman" panose="02020603050405020304" charset="0"/>
                <a:cs typeface="Times New Roman" panose="02020603050405020304" charset="0"/>
              </a:rPr>
              <a:t>Multiple cotton effect curve is the combination of a number of single cotton effect curves. It is more complex than a single cotton effect curve. This curve result from the electronic transition of many Chirotropic chromophore presents in a molecule.</a:t>
            </a:r>
            <a:endParaRPr lang="en-US" altLang="en-US" sz="20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734060" y="2492375"/>
            <a:ext cx="7606665" cy="29667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418830" cy="707390"/>
          </a:xfrm>
        </p:spPr>
        <p:txBody>
          <a:bodyPr/>
          <a:p>
            <a:r>
              <a:rPr lang="en-US">
                <a:solidFill>
                  <a:srgbClr val="C00000"/>
                </a:solidFill>
                <a:latin typeface="Times New Roman" panose="02020603050405020304" charset="0"/>
                <a:cs typeface="Times New Roman" panose="02020603050405020304" charset="0"/>
              </a:rPr>
              <a:t>UV and CD of Camphor</a:t>
            </a:r>
            <a:endParaRPr lang="en-US">
              <a:solidFill>
                <a:srgbClr val="C00000"/>
              </a:solidFill>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937895" y="1016635"/>
            <a:ext cx="7195185" cy="56356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79070" y="307340"/>
            <a:ext cx="8626475" cy="63861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260350"/>
            <a:ext cx="8428990" cy="62280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376285" cy="716915"/>
          </a:xfrm>
        </p:spPr>
        <p:txBody>
          <a:bodyPr/>
          <a:p>
            <a:r>
              <a:rPr lang="en-US">
                <a:solidFill>
                  <a:srgbClr val="C00000"/>
                </a:solidFill>
                <a:latin typeface="Times New Roman" panose="02020603050405020304" charset="0"/>
                <a:cs typeface="Times New Roman" panose="02020603050405020304" charset="0"/>
              </a:rPr>
              <a:t>α-Axial haloketone Rule</a:t>
            </a:r>
            <a:endParaRPr lang="en-US">
              <a:solidFill>
                <a:srgbClr val="C00000"/>
              </a:solidFill>
              <a:latin typeface="Times New Roman" panose="02020603050405020304" charset="0"/>
              <a:cs typeface="Times New Roman" panose="02020603050405020304" charset="0"/>
            </a:endParaRPr>
          </a:p>
        </p:txBody>
      </p:sp>
      <p:pic>
        <p:nvPicPr>
          <p:cNvPr id="4" name="Content Placeholder 3"/>
          <p:cNvPicPr>
            <a:picLocks noChangeAspect="1"/>
          </p:cNvPicPr>
          <p:nvPr>
            <p:ph idx="1"/>
          </p:nvPr>
        </p:nvPicPr>
        <p:blipFill>
          <a:blip r:embed="rId1"/>
          <a:stretch>
            <a:fillRect/>
          </a:stretch>
        </p:blipFill>
        <p:spPr>
          <a:xfrm>
            <a:off x="539750" y="2276475"/>
            <a:ext cx="8005445" cy="4160520"/>
          </a:xfrm>
          <a:prstGeom prst="rect">
            <a:avLst/>
          </a:prstGeom>
        </p:spPr>
      </p:pic>
      <p:sp>
        <p:nvSpPr>
          <p:cNvPr id="5" name="Rectangles 4"/>
          <p:cNvSpPr/>
          <p:nvPr/>
        </p:nvSpPr>
        <p:spPr>
          <a:xfrm>
            <a:off x="395605" y="1124585"/>
            <a:ext cx="8425180" cy="108013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just"/>
            <a:r>
              <a:rPr lang="en-US">
                <a:solidFill>
                  <a:schemeClr val="tx1"/>
                </a:solidFill>
              </a:rPr>
              <a:t>This rule is applied for ketosteroid that are axially substituted with halogen atom at the </a:t>
            </a:r>
            <a:r>
              <a:rPr lang="en-US">
                <a:solidFill>
                  <a:schemeClr val="tx1"/>
                </a:solidFill>
                <a:latin typeface="Arial" panose="020B0604020202020204" pitchFamily="34" charset="0"/>
                <a:cs typeface="Arial" panose="020B0604020202020204" pitchFamily="34" charset="0"/>
              </a:rPr>
              <a:t>α-carbon.</a:t>
            </a:r>
            <a:endParaRPr lang="en-US">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52095" y="476250"/>
            <a:ext cx="8168640" cy="60502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5560" y="332105"/>
            <a:ext cx="8233410" cy="6324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86995" y="404495"/>
            <a:ext cx="8431530" cy="628078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438785"/>
            <a:ext cx="7810500" cy="57588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95605" y="476250"/>
            <a:ext cx="7818755" cy="60553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260350"/>
            <a:ext cx="8281035" cy="61944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51460" y="260350"/>
            <a:ext cx="8560435" cy="63423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79705" y="116205"/>
            <a:ext cx="8560435" cy="64833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95605" y="188595"/>
            <a:ext cx="8415020" cy="632079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39750" y="404495"/>
            <a:ext cx="7897495" cy="56883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404495"/>
            <a:ext cx="7658735" cy="590232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51460" y="260350"/>
            <a:ext cx="7854315" cy="632523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39750" y="404495"/>
            <a:ext cx="7635875" cy="606298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611505" y="476250"/>
            <a:ext cx="7752080" cy="481711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95605" y="260350"/>
            <a:ext cx="7518400" cy="59975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67360" y="548640"/>
            <a:ext cx="8229600" cy="47777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747395" y="481330"/>
            <a:ext cx="7594600" cy="594995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6023</Words>
  <Application>WPS Presentation</Application>
  <PresentationFormat/>
  <Paragraphs>67</Paragraphs>
  <Slides>43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Arial</vt:lpstr>
      <vt:lpstr>SimSun</vt:lpstr>
      <vt:lpstr>Wingdings</vt:lpstr>
      <vt:lpstr>Times New Roman</vt:lpstr>
      <vt:lpstr>Microsoft YaHei</vt:lpstr>
      <vt:lpstr>Arial Unicode MS</vt:lpstr>
      <vt:lpstr>Calibri</vt:lpstr>
      <vt:lpstr>Wingdings</vt:lpstr>
      <vt:lpstr>Default Design</vt:lpstr>
      <vt:lpstr>Optical Dispersion</vt:lpstr>
      <vt:lpstr>Plane Polarized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Dispersion</dc:title>
  <dc:creator>Ershad Shaik</dc:creator>
  <cp:lastModifiedBy>Umme Aiman Liza</cp:lastModifiedBy>
  <cp:revision>27</cp:revision>
  <dcterms:created xsi:type="dcterms:W3CDTF">2025-11-01T14:06:00Z</dcterms:created>
  <dcterms:modified xsi:type="dcterms:W3CDTF">2025-11-07T15:27:56Z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9641AB68542E4910A371411D723DAF3E_12</vt:lpwstr>
  </property>
</Properties>
</file>