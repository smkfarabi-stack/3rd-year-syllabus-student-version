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325" r:id="rId7"/>
    <p:sldId id="326" r:id="rId8"/>
    <p:sldId id="327" r:id="rId9"/>
    <p:sldId id="328" r:id="rId10"/>
    <p:sldId id="323" r:id="rId11"/>
    <p:sldId id="324" r:id="rId12"/>
    <p:sldId id="329" r:id="rId13"/>
    <p:sldId id="330" r:id="rId14"/>
    <p:sldId id="267" r:id="rId15"/>
    <p:sldId id="268" r:id="rId16"/>
    <p:sldId id="260" r:id="rId17"/>
    <p:sldId id="262" r:id="rId18"/>
    <p:sldId id="261" r:id="rId19"/>
    <p:sldId id="270" r:id="rId20"/>
    <p:sldId id="263" r:id="rId21"/>
    <p:sldId id="264" r:id="rId22"/>
    <p:sldId id="266" r:id="rId23"/>
    <p:sldId id="265" r:id="rId24"/>
    <p:sldId id="273" r:id="rId25"/>
    <p:sldId id="274" r:id="rId26"/>
    <p:sldId id="277" r:id="rId27"/>
    <p:sldId id="276" r:id="rId28"/>
    <p:sldId id="297" r:id="rId29"/>
    <p:sldId id="280" r:id="rId30"/>
    <p:sldId id="296" r:id="rId31"/>
    <p:sldId id="281" r:id="rId32"/>
    <p:sldId id="282" r:id="rId33"/>
    <p:sldId id="283" r:id="rId34"/>
    <p:sldId id="284" r:id="rId35"/>
    <p:sldId id="285" r:id="rId36"/>
    <p:sldId id="332" r:id="rId37"/>
    <p:sldId id="286" r:id="rId38"/>
    <p:sldId id="287" r:id="rId39"/>
    <p:sldId id="288" r:id="rId40"/>
    <p:sldId id="289" r:id="rId41"/>
    <p:sldId id="290" r:id="rId42"/>
    <p:sldId id="291" r:id="rId43"/>
    <p:sldId id="292" r:id="rId44"/>
    <p:sldId id="299" r:id="rId45"/>
    <p:sldId id="300" r:id="rId46"/>
    <p:sldId id="293" r:id="rId47"/>
    <p:sldId id="294" r:id="rId48"/>
    <p:sldId id="295" r:id="rId49"/>
    <p:sldId id="298" r:id="rId50"/>
    <p:sldId id="301" r:id="rId51"/>
    <p:sldId id="302" r:id="rId52"/>
    <p:sldId id="303" r:id="rId53"/>
    <p:sldId id="304" r:id="rId54"/>
    <p:sldId id="305" r:id="rId55"/>
    <p:sldId id="306" r:id="rId56"/>
    <p:sldId id="307" r:id="rId57"/>
    <p:sldId id="317" r:id="rId58"/>
    <p:sldId id="316" r:id="rId59"/>
    <p:sldId id="314" r:id="rId60"/>
    <p:sldId id="315" r:id="rId61"/>
    <p:sldId id="309" r:id="rId62"/>
    <p:sldId id="311" r:id="rId63"/>
    <p:sldId id="312" r:id="rId64"/>
    <p:sldId id="313" r:id="rId65"/>
    <p:sldId id="308" r:id="rId66"/>
    <p:sldId id="310" r:id="rId67"/>
    <p:sldId id="318" r:id="rId68"/>
    <p:sldId id="319" r:id="rId69"/>
    <p:sldId id="320" r:id="rId70"/>
    <p:sldId id="321" r:id="rId71"/>
    <p:sldId id="338" r:id="rId72"/>
    <p:sldId id="331" r:id="rId73"/>
    <p:sldId id="335" r:id="rId74"/>
    <p:sldId id="336"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4" d="100"/>
          <a:sy n="64" d="100"/>
        </p:scale>
        <p:origin x="696" y="60"/>
      </p:cViewPr>
      <p:guideLst>
        <p:guide orient="horz" pos="2160"/>
        <p:guide pos="288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emf"/></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3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8.png"/><Relationship Id="rId1" Type="http://schemas.openxmlformats.org/officeDocument/2006/relationships/image" Target="../media/image57.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image" Target="../media/image59.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8.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5.png"/><Relationship Id="rId1" Type="http://schemas.openxmlformats.org/officeDocument/2006/relationships/image" Target="../media/image74.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6.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8.png"/><Relationship Id="rId1" Type="http://schemas.openxmlformats.org/officeDocument/2006/relationships/image" Target="../media/image77.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553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solidFill>
                  <a:srgbClr val="C00000"/>
                </a:solidFill>
                <a:latin typeface="Lucida Calligraphy" panose="03010101010101010101" pitchFamily="66" charset="0"/>
              </a:rPr>
              <a:t>Stereochemistry</a:t>
            </a:r>
            <a:endParaRPr lang="en-US" sz="3600" b="1" dirty="0">
              <a:solidFill>
                <a:srgbClr val="C00000"/>
              </a:solidFill>
              <a:latin typeface="Lucida Calligraphy" panose="03010101010101010101" pitchFamily="66" charset="0"/>
            </a:endParaRPr>
          </a:p>
          <a:p>
            <a:pPr algn="ctr"/>
            <a:endParaRPr lang="en-US" sz="3600" b="1" dirty="0">
              <a:solidFill>
                <a:srgbClr val="C00000"/>
              </a:solidFill>
              <a:latin typeface="Lucida Calligraphy" panose="03010101010101010101" pitchFamily="66" charset="0"/>
            </a:endParaRPr>
          </a:p>
          <a:p>
            <a:pPr algn="ctr"/>
            <a:endParaRPr lang="en-US" sz="3600" b="1" dirty="0">
              <a:solidFill>
                <a:srgbClr val="C00000"/>
              </a:solidFill>
              <a:latin typeface="Lucida Calligraphy" panose="03010101010101010101" pitchFamily="66" charset="0"/>
            </a:endParaRPr>
          </a:p>
          <a:p>
            <a:pPr algn="ctr"/>
            <a:endParaRPr lang="en-US" sz="3600" b="1" dirty="0">
              <a:solidFill>
                <a:srgbClr val="C00000"/>
              </a:solidFill>
              <a:latin typeface="Lucida Calligraphy" panose="03010101010101010101" pitchFamily="66" charset="0"/>
            </a:endParaRPr>
          </a:p>
          <a:p>
            <a:pPr algn="ctr"/>
            <a:endParaRPr lang="en-US" sz="3600" b="1" dirty="0">
              <a:solidFill>
                <a:srgbClr val="C00000"/>
              </a:solidFill>
              <a:latin typeface="Lucida Calligraphy" panose="03010101010101010101" pitchFamily="66"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40796" y="2895600"/>
            <a:ext cx="4662407"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553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3200" b="1" dirty="0">
                <a:solidFill>
                  <a:srgbClr val="FF0000"/>
                </a:solidFill>
                <a:latin typeface="Tempus Sans ITC" panose="04020404030D07020202" pitchFamily="82" charset="0"/>
                <a:cs typeface="Times New Roman" panose="02020603050405020304" pitchFamily="18" charset="0"/>
              </a:rPr>
              <a:t>Isomerism </a:t>
            </a:r>
            <a:endParaRPr lang="en-US" sz="3200" b="1" dirty="0">
              <a:solidFill>
                <a:srgbClr val="FF0000"/>
              </a:solidFill>
              <a:latin typeface="Tempus Sans ITC" panose="04020404030D07020202" pitchFamily="82" charset="0"/>
              <a:cs typeface="Times New Roman" panose="02020603050405020304" pitchFamily="18" charset="0"/>
            </a:endParaRPr>
          </a:p>
          <a:p>
            <a:pPr algn="just">
              <a:lnSpc>
                <a:spcPct val="150000"/>
              </a:lnSpc>
            </a:pPr>
            <a:r>
              <a:rPr lang="en-US" sz="2400" b="1" dirty="0">
                <a:solidFill>
                  <a:schemeClr val="tx1"/>
                </a:solidFill>
                <a:highlight>
                  <a:srgbClr val="FFFF00"/>
                </a:highlight>
                <a:latin typeface="Times New Roman" panose="02020603050405020304" pitchFamily="18" charset="0"/>
                <a:cs typeface="Times New Roman" panose="02020603050405020304" pitchFamily="18" charset="0"/>
              </a:rPr>
              <a:t>Isomerism</a:t>
            </a:r>
            <a:r>
              <a:rPr lang="en-US" sz="2400" b="1" dirty="0">
                <a:solidFill>
                  <a:srgbClr val="FF0000"/>
                </a:solidFill>
                <a:highlight>
                  <a:srgbClr val="FFFF00"/>
                </a:highlight>
                <a:latin typeface="Times New Roman" panose="02020603050405020304" pitchFamily="18" charset="0"/>
                <a:cs typeface="Times New Roman" panose="02020603050405020304" pitchFamily="18" charset="0"/>
              </a:rPr>
              <a:t> </a:t>
            </a:r>
            <a:r>
              <a:rPr lang="en-US" sz="2400" dirty="0">
                <a:highlight>
                  <a:srgbClr val="FFFF00"/>
                </a:highlight>
                <a:latin typeface="Times New Roman" panose="02020603050405020304" pitchFamily="18" charset="0"/>
                <a:cs typeface="Times New Roman" panose="02020603050405020304" pitchFamily="18" charset="0"/>
              </a:rPr>
              <a:t>is the phenomenon in which more than one compounds have the same chemical formula but different chemical structures.</a:t>
            </a:r>
            <a:endParaRPr lang="en-US" sz="2400" dirty="0">
              <a:highlight>
                <a:srgbClr val="FFFF00"/>
              </a:highlight>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Chemical compounds that have identical chemical formulae but differ in properties and the arrangement of atoms in the molecule are called </a:t>
            </a:r>
            <a:r>
              <a:rPr lang="en-US" sz="2400" b="1" dirty="0">
                <a:solidFill>
                  <a:srgbClr val="FF0000"/>
                </a:solidFill>
                <a:latin typeface="Times New Roman" panose="02020603050405020304" pitchFamily="18" charset="0"/>
                <a:cs typeface="Times New Roman" panose="02020603050405020304" pitchFamily="18" charset="0"/>
              </a:rPr>
              <a:t>isomers</a:t>
            </a:r>
            <a:r>
              <a:rPr lang="en-US" sz="2400" dirty="0">
                <a:latin typeface="Times New Roman" panose="02020603050405020304" pitchFamily="18" charset="0"/>
                <a:cs typeface="Times New Roman" panose="02020603050405020304" pitchFamily="18" charset="0"/>
              </a:rPr>
              <a:t>. Therefore, </a:t>
            </a:r>
            <a:r>
              <a:rPr lang="en-US" sz="2400" dirty="0">
                <a:highlight>
                  <a:srgbClr val="FFFF00"/>
                </a:highlight>
                <a:latin typeface="Times New Roman" panose="02020603050405020304" pitchFamily="18" charset="0"/>
                <a:cs typeface="Times New Roman" panose="02020603050405020304" pitchFamily="18" charset="0"/>
              </a:rPr>
              <a:t>the compounds that exhibit isomerism are known as isomers.</a:t>
            </a:r>
            <a:endParaRPr lang="en-US" sz="2400" dirty="0">
              <a:highlight>
                <a:srgbClr val="FFFF00"/>
              </a:highlight>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The word “isomer” is derived from the Greek words “</a:t>
            </a:r>
            <a:r>
              <a:rPr lang="en-US" sz="2400" dirty="0" err="1">
                <a:latin typeface="Times New Roman" panose="02020603050405020304" pitchFamily="18" charset="0"/>
                <a:cs typeface="Times New Roman" panose="02020603050405020304" pitchFamily="18" charset="0"/>
              </a:rPr>
              <a:t>isos</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meros</a:t>
            </a:r>
            <a:r>
              <a:rPr lang="en-US" sz="2400" dirty="0">
                <a:latin typeface="Times New Roman" panose="02020603050405020304" pitchFamily="18" charset="0"/>
                <a:cs typeface="Times New Roman" panose="02020603050405020304" pitchFamily="18" charset="0"/>
              </a:rPr>
              <a:t>”, which mean “equal parts”. This term was coined by the Swedish chemist Jacob Berzelius in the year 1830.</a:t>
            </a: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5750" y="1009650"/>
            <a:ext cx="8741250" cy="493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782" y="533400"/>
            <a:ext cx="91440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533400"/>
            <a:ext cx="8772707"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81000"/>
            <a:ext cx="8152524"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81000"/>
            <a:ext cx="819531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914400"/>
            <a:ext cx="8358554"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228600"/>
            <a:ext cx="4114800" cy="633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81000"/>
            <a:ext cx="8191874"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381000"/>
            <a:ext cx="8528637"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533399"/>
            <a:ext cx="7848600" cy="5788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8163" y="442913"/>
            <a:ext cx="8067675" cy="597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9625" y="390525"/>
            <a:ext cx="7524750" cy="607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839200" cy="6477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b="1" dirty="0">
                <a:solidFill>
                  <a:srgbClr val="FF0000"/>
                </a:solidFill>
                <a:latin typeface="+mj-lt"/>
              </a:rPr>
              <a:t>Stereoisomerism </a:t>
            </a:r>
            <a:r>
              <a:rPr lang="en-US" dirty="0"/>
              <a:t>describes isomers whose atoms are connected in the same order but</a:t>
            </a:r>
            <a:endParaRPr lang="en-US" dirty="0"/>
          </a:p>
          <a:p>
            <a:pPr algn="just">
              <a:lnSpc>
                <a:spcPct val="150000"/>
              </a:lnSpc>
            </a:pPr>
            <a:r>
              <a:rPr lang="en-US" dirty="0"/>
              <a:t>differ in their spatial arrangement. Examples of stereoisomers include the relatively stable</a:t>
            </a:r>
            <a:endParaRPr lang="en-US" dirty="0"/>
          </a:p>
          <a:p>
            <a:pPr algn="just">
              <a:lnSpc>
                <a:spcPct val="150000"/>
              </a:lnSpc>
            </a:pPr>
            <a:r>
              <a:rPr lang="en-US" dirty="0"/>
              <a:t>and isolable </a:t>
            </a:r>
            <a:r>
              <a:rPr lang="en-US" dirty="0" err="1"/>
              <a:t>cis</a:t>
            </a:r>
            <a:r>
              <a:rPr lang="en-US" dirty="0"/>
              <a:t>-trans isomers and the rapidly equilibrating (and usually not isolable) conformational ones.</a:t>
            </a:r>
            <a:endParaRPr lang="en-US" dirty="0"/>
          </a:p>
          <a:p>
            <a:pPr algn="just">
              <a:lnSpc>
                <a:spcPct val="150000"/>
              </a:lnSpc>
            </a:pPr>
            <a:endParaRPr lang="en-US" dirty="0"/>
          </a:p>
          <a:p>
            <a:pPr algn="just">
              <a:lnSpc>
                <a:spcPct val="150000"/>
              </a:lnSpc>
            </a:pPr>
            <a:endParaRPr lang="en-US" dirty="0"/>
          </a:p>
          <a:p>
            <a:pPr algn="just">
              <a:lnSpc>
                <a:spcPct val="150000"/>
              </a:lnSpc>
            </a:pPr>
            <a:endParaRPr lang="en-US" dirty="0"/>
          </a:p>
          <a:p>
            <a:pPr algn="just">
              <a:lnSpc>
                <a:spcPct val="150000"/>
              </a:lnSpc>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2895600"/>
            <a:ext cx="7848324"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609600"/>
            <a:ext cx="7239000" cy="57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5788" y="457200"/>
            <a:ext cx="7972425"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5300" y="604838"/>
            <a:ext cx="8153400"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9613" y="457200"/>
            <a:ext cx="7724775"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7688" y="452438"/>
            <a:ext cx="8048625" cy="595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7688" y="747713"/>
            <a:ext cx="8048625" cy="536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0075" y="452438"/>
            <a:ext cx="7943850" cy="595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2925" y="447675"/>
            <a:ext cx="8058150" cy="596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1500" y="833438"/>
            <a:ext cx="8001000" cy="519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291" y="1136073"/>
            <a:ext cx="8458200" cy="5029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457200" indent="-457200" algn="just">
              <a:lnSpc>
                <a:spcPct val="150000"/>
              </a:lnSpc>
              <a:buClr>
                <a:srgbClr val="FF0000"/>
              </a:buClr>
              <a:buFont typeface="+mj-lt"/>
              <a:buAutoNum type="arabicPeriod"/>
            </a:pPr>
            <a:r>
              <a:rPr lang="en-US" sz="2000" dirty="0">
                <a:latin typeface="Times New Roman" panose="02020603050405020304" pitchFamily="18" charset="0"/>
                <a:cs typeface="Times New Roman" panose="02020603050405020304" pitchFamily="18" charset="0"/>
              </a:rPr>
              <a:t>Enantiomers are chiral.</a:t>
            </a:r>
            <a:endParaRPr lang="en-US" sz="2000" dirty="0">
              <a:latin typeface="Times New Roman" panose="02020603050405020304" pitchFamily="18" charset="0"/>
              <a:cs typeface="Times New Roman" panose="02020603050405020304" pitchFamily="18" charset="0"/>
            </a:endParaRPr>
          </a:p>
          <a:p>
            <a:pPr marL="457200" indent="-457200" algn="just">
              <a:lnSpc>
                <a:spcPct val="150000"/>
              </a:lnSpc>
              <a:buClr>
                <a:srgbClr val="FF0000"/>
              </a:buClr>
              <a:buFont typeface="+mj-lt"/>
              <a:buAutoNum type="arabicPeriod"/>
            </a:pPr>
            <a:r>
              <a:rPr lang="en-US" sz="2000" dirty="0">
                <a:latin typeface="Times New Roman" panose="02020603050405020304" pitchFamily="18" charset="0"/>
                <a:cs typeface="Times New Roman" panose="02020603050405020304" pitchFamily="18" charset="0"/>
              </a:rPr>
              <a:t>A pair of enantiomers has the same physical and chemical properties in achiral environment.</a:t>
            </a:r>
            <a:endParaRPr lang="en-US" sz="2000" dirty="0">
              <a:latin typeface="Times New Roman" panose="02020603050405020304" pitchFamily="18" charset="0"/>
              <a:cs typeface="Times New Roman" panose="02020603050405020304" pitchFamily="18" charset="0"/>
            </a:endParaRPr>
          </a:p>
          <a:p>
            <a:pPr marL="457200" indent="-457200" algn="just">
              <a:lnSpc>
                <a:spcPct val="150000"/>
              </a:lnSpc>
              <a:buClr>
                <a:srgbClr val="FF0000"/>
              </a:buClr>
              <a:buFont typeface="+mj-lt"/>
              <a:buAutoNum type="arabicPeriod"/>
            </a:pPr>
            <a:r>
              <a:rPr lang="en-US" sz="2000" dirty="0">
                <a:latin typeface="Times New Roman" panose="02020603050405020304" pitchFamily="18" charset="0"/>
                <a:cs typeface="Times New Roman" panose="02020603050405020304" pitchFamily="18" charset="0"/>
              </a:rPr>
              <a:t>Enantiomers will rotate the plane of polarization in exactly equal amounts (same magnitude) but in opposite directions.</a:t>
            </a:r>
            <a:endParaRPr lang="en-US" sz="2000" dirty="0">
              <a:latin typeface="Times New Roman" panose="02020603050405020304" pitchFamily="18" charset="0"/>
              <a:cs typeface="Times New Roman" panose="02020603050405020304" pitchFamily="18" charset="0"/>
            </a:endParaRPr>
          </a:p>
          <a:p>
            <a:pPr marL="457200" indent="-457200" algn="just">
              <a:lnSpc>
                <a:spcPct val="150000"/>
              </a:lnSpc>
              <a:buClr>
                <a:srgbClr val="FF0000"/>
              </a:buClr>
              <a:buFont typeface="+mj-lt"/>
              <a:buAutoNum type="arabicPeriod"/>
            </a:pPr>
            <a:r>
              <a:rPr lang="en-US" sz="2000" dirty="0">
                <a:latin typeface="Times New Roman" panose="02020603050405020304" pitchFamily="18" charset="0"/>
                <a:cs typeface="Times New Roman" panose="02020603050405020304" pitchFamily="18" charset="0"/>
              </a:rPr>
              <a:t>Plane polarized light is in fact an equal mixture of left and right circularly polarized light which propagates through space as left handed and right handed helices respectively.</a:t>
            </a:r>
            <a:endParaRPr lang="en-US" sz="2000" dirty="0">
              <a:latin typeface="Times New Roman" panose="02020603050405020304" pitchFamily="18" charset="0"/>
              <a:cs typeface="Times New Roman" panose="02020603050405020304" pitchFamily="18" charset="0"/>
            </a:endParaRPr>
          </a:p>
          <a:p>
            <a:pPr marL="457200" indent="-457200" algn="just">
              <a:lnSpc>
                <a:spcPct val="150000"/>
              </a:lnSpc>
              <a:buClr>
                <a:srgbClr val="FF0000"/>
              </a:buClr>
              <a:buFont typeface="+mj-lt"/>
              <a:buAutoNum type="arabicPeriod"/>
            </a:pPr>
            <a:r>
              <a:rPr lang="en-US" sz="2000" dirty="0">
                <a:latin typeface="Times New Roman" panose="02020603050405020304" pitchFamily="18" charset="0"/>
                <a:cs typeface="Times New Roman" panose="02020603050405020304" pitchFamily="18" charset="0"/>
              </a:rPr>
              <a:t>In chiral environment such as chiral reagents or enzyme enantiomers reacts differently. So different biological properties.</a:t>
            </a:r>
            <a:endParaRPr lang="en-US" sz="20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545" y="258186"/>
            <a:ext cx="6883400" cy="877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228600"/>
            <a:ext cx="6858000" cy="762000"/>
          </a:xfrm>
          <a:prstGeom prst="rect">
            <a:avLst/>
          </a:prstGeom>
          <a:ln>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solidFill>
                  <a:srgbClr val="FF0000"/>
                </a:solidFill>
                <a:latin typeface="Arial Black" panose="020B0A04020102020204" pitchFamily="34" charset="0"/>
              </a:rPr>
              <a:t>Enantiomers</a:t>
            </a:r>
            <a:endParaRPr lang="en-US" sz="3200" dirty="0">
              <a:solidFill>
                <a:srgbClr val="FF0000"/>
              </a:solidFill>
              <a:latin typeface="Arial Black" panose="020B0A04020102020204" pitchFamily="34"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 y="1524000"/>
            <a:ext cx="4819650" cy="398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1524000"/>
            <a:ext cx="4055745" cy="4474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2057400"/>
            <a:ext cx="8558056" cy="442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04800"/>
            <a:ext cx="8558056" cy="990600"/>
          </a:xfrm>
          <a:prstGeom prst="rect">
            <a:avLst/>
          </a:prstGeom>
          <a:ln>
            <a:solidFill>
              <a:schemeClr val="accent5">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800" b="1" dirty="0">
                <a:solidFill>
                  <a:srgbClr val="C00000"/>
                </a:solidFill>
                <a:latin typeface="Bodoni MT Condensed" panose="02070606080606020203" pitchFamily="18" charset="0"/>
              </a:rPr>
              <a:t>Reaction Of Enantiomers with Chiral/Achiral Reagents</a:t>
            </a:r>
            <a:endParaRPr lang="en-US" sz="2800" b="1" dirty="0">
              <a:solidFill>
                <a:srgbClr val="C00000"/>
              </a:solidFill>
              <a:latin typeface="Bodoni MT Condensed" panose="02070606080606020203"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86800" cy="6477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solidFill>
                  <a:srgbClr val="FF0000"/>
                </a:solidFill>
                <a:latin typeface="Times New Roman" panose="02020603050405020304" pitchFamily="18" charset="0"/>
                <a:cs typeface="Times New Roman" panose="02020603050405020304" pitchFamily="18" charset="0"/>
              </a:rPr>
              <a:t>Measuring Optical Activity</a:t>
            </a:r>
            <a:endParaRPr lang="en-US" sz="2000" b="1" dirty="0">
              <a:solidFill>
                <a:srgbClr val="FF0000"/>
              </a:solidFill>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When rotation is quantified using a </a:t>
            </a:r>
            <a:r>
              <a:rPr lang="en-US" sz="2000" dirty="0" err="1">
                <a:latin typeface="Times New Roman" panose="02020603050405020304" pitchFamily="18" charset="0"/>
                <a:cs typeface="Times New Roman" panose="02020603050405020304" pitchFamily="18" charset="0"/>
              </a:rPr>
              <a:t>polarimeter</a:t>
            </a:r>
            <a:r>
              <a:rPr lang="en-US" sz="2000" dirty="0">
                <a:latin typeface="Times New Roman" panose="02020603050405020304" pitchFamily="18" charset="0"/>
                <a:cs typeface="Times New Roman" panose="02020603050405020304" pitchFamily="18" charset="0"/>
              </a:rPr>
              <a:t> it is known as an observed rotation, because rotation is affected by path length (l) the time the light travels through a sample and concentration (c) how much of the sample is present that will rotate the light.  When these effects are eliminated a standard for comparison of all molecules is obtained, the specific rotation, [</a:t>
            </a:r>
            <a:r>
              <a:rPr lang="en-US" sz="2000" dirty="0">
                <a:latin typeface="Times New Roman" panose="02020603050405020304" pitchFamily="18" charset="0"/>
                <a:ea typeface="Cambria Math" panose="02040503050406030204"/>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ea typeface="Cambria Math" panose="02040503050406030204"/>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 100</a:t>
            </a:r>
            <a:r>
              <a:rPr lang="en-US" sz="2000" dirty="0">
                <a:latin typeface="Times New Roman" panose="02020603050405020304" pitchFamily="18" charset="0"/>
                <a:ea typeface="Cambria Math" panose="02040503050406030204"/>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cl ,   when concentration is expressed as g sample /100ml solution</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Specific rotation is a physical property like the boiling point of a sample Enantiomers will rotate the plane of </a:t>
            </a:r>
            <a:r>
              <a:rPr lang="en-US" sz="2000" dirty="0" err="1">
                <a:latin typeface="Times New Roman" panose="02020603050405020304" pitchFamily="18" charset="0"/>
                <a:cs typeface="Times New Roman" panose="02020603050405020304" pitchFamily="18" charset="0"/>
              </a:rPr>
              <a:t>polarisation</a:t>
            </a:r>
            <a:r>
              <a:rPr lang="en-US" sz="2000" dirty="0">
                <a:latin typeface="Times New Roman" panose="02020603050405020304" pitchFamily="18" charset="0"/>
                <a:cs typeface="Times New Roman" panose="02020603050405020304" pitchFamily="18" charset="0"/>
              </a:rPr>
              <a:t> in exactly equal amounts (same magnitude) but in opposite directions.</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solidFill>
                  <a:srgbClr val="FF0000"/>
                </a:solidFill>
                <a:latin typeface="Times New Roman" panose="02020603050405020304" pitchFamily="18" charset="0"/>
                <a:cs typeface="Times New Roman" panose="02020603050405020304" pitchFamily="18" charset="0"/>
              </a:rPr>
              <a:t>Dextrorotary</a:t>
            </a:r>
            <a:r>
              <a:rPr lang="en-US" sz="2000" dirty="0">
                <a:latin typeface="Times New Roman" panose="02020603050405020304" pitchFamily="18" charset="0"/>
                <a:cs typeface="Times New Roman" panose="02020603050405020304" pitchFamily="18" charset="0"/>
              </a:rPr>
              <a:t> designated as d or (+), clockwise rotation (to the right)</a:t>
            </a:r>
            <a:endParaRPr lang="en-US" sz="2000" dirty="0">
              <a:latin typeface="Times New Roman" panose="02020603050405020304" pitchFamily="18" charset="0"/>
              <a:cs typeface="Times New Roman" panose="02020603050405020304" pitchFamily="18" charset="0"/>
            </a:endParaRPr>
          </a:p>
          <a:p>
            <a:pPr algn="just"/>
            <a:r>
              <a:rPr lang="en-US" sz="2000" b="1" dirty="0">
                <a:solidFill>
                  <a:srgbClr val="FF0000"/>
                </a:solidFill>
                <a:latin typeface="Times New Roman" panose="02020603050405020304" pitchFamily="18" charset="0"/>
                <a:cs typeface="Times New Roman" panose="02020603050405020304" pitchFamily="18" charset="0"/>
              </a:rPr>
              <a:t>Levorotary</a:t>
            </a:r>
            <a:r>
              <a:rPr lang="en-US" sz="2000" dirty="0">
                <a:latin typeface="Times New Roman" panose="02020603050405020304" pitchFamily="18" charset="0"/>
                <a:cs typeface="Times New Roman" panose="02020603050405020304" pitchFamily="18" charset="0"/>
              </a:rPr>
              <a:t> designated as l or (-), anti-clockwise rotation (to the left)</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If only one enantiomer is present a sample is considered to be optically pure.  When a sample consists of a mixture of enantiomers, the effect of each enantiomer cancels out, molecule for molecule.</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10600" cy="6477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sz="2000" dirty="0">
                <a:latin typeface="Times New Roman" panose="02020603050405020304" pitchFamily="18" charset="0"/>
                <a:cs typeface="Times New Roman" panose="02020603050405020304" pitchFamily="18" charset="0"/>
              </a:rPr>
              <a:t>In stereochemistry, </a:t>
            </a:r>
            <a:r>
              <a:rPr lang="en-US" sz="2000" b="1" dirty="0">
                <a:solidFill>
                  <a:srgbClr val="FF0000"/>
                </a:solidFill>
                <a:latin typeface="Times New Roman" panose="02020603050405020304" pitchFamily="18" charset="0"/>
                <a:cs typeface="Times New Roman" panose="02020603050405020304" pitchFamily="18" charset="0"/>
              </a:rPr>
              <a:t>Enantiomeric excess (ee) </a:t>
            </a:r>
            <a:r>
              <a:rPr lang="en-US" sz="2000" dirty="0">
                <a:latin typeface="Times New Roman" panose="02020603050405020304" pitchFamily="18" charset="0"/>
                <a:cs typeface="Times New Roman" panose="02020603050405020304" pitchFamily="18" charset="0"/>
              </a:rPr>
              <a:t>is a measurement of purity used for chiral substances. It reflects the degree to which a sample contains one enantiomer in greater amounts than the other. A racemic mixture has an ee of 0%, while a single completely pure enantiomer has an ee of 100%. A sample with 70% of one enantiomer and 30% of the other has an ee of 40% (70% − 30%).</a:t>
            </a: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3733800"/>
            <a:ext cx="5677968"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152400"/>
            <a:ext cx="7472362" cy="6629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353291"/>
            <a:ext cx="8305800" cy="6202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6553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298529"/>
            <a:ext cx="8305800" cy="626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381000"/>
            <a:ext cx="8305800" cy="630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2564" y="4267200"/>
            <a:ext cx="8153400" cy="1663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28600" y="381000"/>
            <a:ext cx="8534400" cy="3429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285750" indent="-285750" algn="just">
              <a:lnSpc>
                <a:spcPct val="150000"/>
              </a:lnSpc>
              <a:buFont typeface="Wingdings" panose="05000000000000000000" pitchFamily="2" charset="2"/>
              <a:buChar char="q"/>
            </a:pPr>
            <a:r>
              <a:rPr lang="en-US" sz="2000" dirty="0" err="1">
                <a:latin typeface="Times New Roman" panose="02020603050405020304" pitchFamily="18" charset="0"/>
                <a:cs typeface="Times New Roman" panose="02020603050405020304" pitchFamily="18" charset="0"/>
              </a:rPr>
              <a:t>Rosanoff</a:t>
            </a:r>
            <a:r>
              <a:rPr lang="en-US" sz="2000" dirty="0">
                <a:latin typeface="Times New Roman" panose="02020603050405020304" pitchFamily="18" charset="0"/>
                <a:cs typeface="Times New Roman" panose="02020603050405020304" pitchFamily="18" charset="0"/>
              </a:rPr>
              <a:t> proposed that one compound be chosen as standard and a configuration be arbitrarily assigned to it.</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Compound chosen glyceraldehyde because it related to carbohydrate (sugar).</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right-OH group containing Glyceraldehyde label as D and left one L.</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Molecules with the same configuration need not rotate the plane of polarized light in the same direction.</a:t>
            </a:r>
            <a:endParaRPr lang="en-US" sz="2000" dirty="0">
              <a:latin typeface="Times New Roman" panose="02020603050405020304" pitchFamily="18" charset="0"/>
              <a:cs typeface="Times New Roman" panose="02020603050405020304" pitchFamily="18" charset="0"/>
            </a:endParaRPr>
          </a:p>
          <a:p>
            <a:pPr algn="just"/>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7800" y="803564"/>
            <a:ext cx="506761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327564"/>
            <a:ext cx="1627909" cy="296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10042" y="5638800"/>
            <a:ext cx="4675911" cy="68892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rgbClr val="FF0000"/>
                </a:solidFill>
                <a:latin typeface="Times New Roman" panose="02020603050405020304" pitchFamily="18" charset="0"/>
                <a:cs typeface="Times New Roman" panose="02020603050405020304" pitchFamily="18" charset="0"/>
              </a:rPr>
              <a:t>2-amino-2-deoxymannoic acid</a:t>
            </a:r>
            <a:endParaRPr lang="en-US" sz="2400" b="1" dirty="0">
              <a:solidFill>
                <a:srgbClr val="FF0000"/>
              </a:solidFill>
              <a:latin typeface="Times New Roman" panose="02020603050405020304" pitchFamily="18" charset="0"/>
              <a:cs typeface="Times New Roman" panose="02020603050405020304" pitchFamily="18" charset="0"/>
            </a:endParaRPr>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2598063"/>
            <a:ext cx="1548506"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a:off x="1981200" y="3811900"/>
            <a:ext cx="14478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1981200" y="3172691"/>
            <a:ext cx="1600200" cy="45720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180⁰ rotation</a:t>
            </a:r>
            <a:endParaRPr lang="en-US" dirty="0"/>
          </a:p>
        </p:txBody>
      </p:sp>
      <p:sp>
        <p:nvSpPr>
          <p:cNvPr id="7" name="Rectangle 6"/>
          <p:cNvSpPr/>
          <p:nvPr/>
        </p:nvSpPr>
        <p:spPr>
          <a:xfrm>
            <a:off x="5129906" y="3246713"/>
            <a:ext cx="3861693" cy="1484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2000" dirty="0">
                <a:latin typeface="Times New Roman" panose="02020603050405020304" pitchFamily="18" charset="0"/>
                <a:cs typeface="Times New Roman" panose="02020603050405020304" pitchFamily="18" charset="0"/>
              </a:rPr>
              <a:t>Dg configuration with respect to glyceraldehyde and </a:t>
            </a:r>
            <a:r>
              <a:rPr lang="en-US" sz="2000" dirty="0" err="1">
                <a:latin typeface="Times New Roman" panose="02020603050405020304" pitchFamily="18" charset="0"/>
                <a:cs typeface="Times New Roman" panose="02020603050405020304" pitchFamily="18" charset="0"/>
              </a:rPr>
              <a:t>Ls</a:t>
            </a:r>
            <a:r>
              <a:rPr lang="en-US" sz="2000" dirty="0">
                <a:latin typeface="Times New Roman" panose="02020603050405020304" pitchFamily="18" charset="0"/>
                <a:cs typeface="Times New Roman" panose="02020603050405020304" pitchFamily="18" charset="0"/>
              </a:rPr>
              <a:t>  configuration with respect to serine</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199" y="304800"/>
            <a:ext cx="8322067"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381000"/>
            <a:ext cx="8534400" cy="6501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8956" y="304799"/>
            <a:ext cx="8297844" cy="608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457200"/>
            <a:ext cx="8229600" cy="591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533399"/>
            <a:ext cx="8229600" cy="5989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228600"/>
            <a:ext cx="8368453"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80999"/>
            <a:ext cx="8382000" cy="6205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4825" y="471488"/>
            <a:ext cx="8134350" cy="591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5775" y="409575"/>
            <a:ext cx="8172450" cy="603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9125" y="985838"/>
            <a:ext cx="7905750" cy="488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1038" y="514350"/>
            <a:ext cx="7781925"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5325" y="728663"/>
            <a:ext cx="7753350"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4363" y="585788"/>
            <a:ext cx="7915275" cy="568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3875" y="481013"/>
            <a:ext cx="8096250" cy="589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8638" y="466725"/>
            <a:ext cx="8086725" cy="592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599" y="762000"/>
            <a:ext cx="7365649"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8188" y="533400"/>
            <a:ext cx="7667625"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8638" y="452438"/>
            <a:ext cx="8086725" cy="595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8638" y="485775"/>
            <a:ext cx="8086725" cy="588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1500" y="547688"/>
            <a:ext cx="8001000" cy="576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673" y="304800"/>
            <a:ext cx="8763000" cy="63246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2800" b="1" dirty="0">
                <a:solidFill>
                  <a:srgbClr val="FF0000"/>
                </a:solidFill>
                <a:latin typeface="Times New Roman" panose="02020603050405020304" pitchFamily="18" charset="0"/>
                <a:cs typeface="Times New Roman" panose="02020603050405020304" pitchFamily="18" charset="0"/>
              </a:rPr>
              <a:t>Diastereomers </a:t>
            </a:r>
            <a:endParaRPr lang="en-US" sz="2800" b="1" dirty="0">
              <a:solidFill>
                <a:srgbClr val="FF0000"/>
              </a:solidFill>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Diastereomers are two molecules which are stereoisomers (same molecular formula, same connectivity, different arrangement of atoms in space) but are not enantiomers. Unlike enantiomers which are mirror images of each other and non-superimposable, </a:t>
            </a:r>
            <a:r>
              <a:rPr lang="en-US" sz="2000" dirty="0" err="1">
                <a:latin typeface="Times New Roman" panose="02020603050405020304" pitchFamily="18" charset="0"/>
                <a:cs typeface="Times New Roman" panose="02020603050405020304" pitchFamily="18" charset="0"/>
              </a:rPr>
              <a:t>diastereomers</a:t>
            </a:r>
            <a:r>
              <a:rPr lang="en-US" sz="2000" dirty="0">
                <a:latin typeface="Times New Roman" panose="02020603050405020304" pitchFamily="18" charset="0"/>
                <a:cs typeface="Times New Roman" panose="02020603050405020304" pitchFamily="18" charset="0"/>
              </a:rPr>
              <a:t> are not mirror images of each other and non-superimposable. Diastereomers can have different physical properties and reactivity. They have different melting points and boiling points and different densities. In order for diastereomer stereoisomers to occur, a compound must have two or more stereocenters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descr="four possible stereoisomers of erythrose, with diastereomers and enantiomers indicated.sv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3" name="AutoShape 7" descr="four possible stereoisomers of erythrose, with diastereomers and enantiomers indicated.sv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4" name="AutoShape 11" descr="four possible stereoisomers of erythrose, with diastereomers and enantiomers indicated.sv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5132"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7975" y="152400"/>
            <a:ext cx="8651240" cy="4443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683125"/>
            <a:ext cx="8154035" cy="217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81000"/>
            <a:ext cx="4585335" cy="549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custDataLst>
              <p:tags r:id="rId2"/>
            </p:custDataLst>
          </p:nvPr>
        </p:nvGraphicFramePr>
        <p:xfrm>
          <a:off x="4724400" y="304800"/>
          <a:ext cx="4357370" cy="6395720"/>
        </p:xfrm>
        <a:graphic>
          <a:graphicData uri="http://schemas.openxmlformats.org/drawingml/2006/table">
            <a:tbl>
              <a:tblPr/>
              <a:tblGrid>
                <a:gridCol w="152400"/>
                <a:gridCol w="1290320"/>
                <a:gridCol w="1513840"/>
                <a:gridCol w="1400810"/>
              </a:tblGrid>
              <a:tr h="876300">
                <a:tc>
                  <a:txBody>
                    <a:bodyPr/>
                    <a:p>
                      <a:pPr fontAlgn="t"/>
                      <a:r>
                        <a:rPr lang="en-US" sz="1500" b="1">
                          <a:effectLst/>
                          <a:latin typeface="Times New Roman" panose="02020603050405020304" pitchFamily="18" charset="0"/>
                          <a:cs typeface="Times New Roman" panose="02020603050405020304" pitchFamily="18" charset="0"/>
                        </a:rPr>
                        <a:t>S.No</a:t>
                      </a:r>
                      <a:endParaRPr lang="en-US" sz="1500" b="1">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b="1">
                          <a:effectLst/>
                          <a:latin typeface="Times New Roman" panose="02020603050405020304" pitchFamily="18" charset="0"/>
                          <a:cs typeface="Times New Roman" panose="02020603050405020304" pitchFamily="18" charset="0"/>
                        </a:rPr>
                        <a:t>Property</a:t>
                      </a:r>
                      <a:endParaRPr lang="en-US" sz="1500" b="1">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b="1" dirty="0">
                          <a:effectLst/>
                          <a:latin typeface="Times New Roman" panose="02020603050405020304" pitchFamily="18" charset="0"/>
                          <a:cs typeface="Times New Roman" panose="02020603050405020304" pitchFamily="18" charset="0"/>
                        </a:rPr>
                        <a:t>Enantiomers</a:t>
                      </a:r>
                      <a:endParaRPr lang="en-US" sz="1500" b="1" dirty="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b="1" dirty="0">
                          <a:effectLst/>
                          <a:latin typeface="Times New Roman" panose="02020603050405020304" pitchFamily="18" charset="0"/>
                          <a:cs typeface="Times New Roman" panose="02020603050405020304" pitchFamily="18" charset="0"/>
                        </a:rPr>
                        <a:t>Diastereomers</a:t>
                      </a:r>
                      <a:endParaRPr lang="en-US" sz="1500" b="1" dirty="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r>
              <a:tr h="868680">
                <a:tc>
                  <a:txBody>
                    <a:bodyPr/>
                    <a:p>
                      <a:pPr fontAlgn="t"/>
                      <a:r>
                        <a:rPr lang="en-US"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Melting point</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Identical Melting point</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Different Melting point</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r>
              <a:tr h="869315">
                <a:tc>
                  <a:txBody>
                    <a:bodyPr/>
                    <a:p>
                      <a:pPr fontAlgn="t"/>
                      <a:r>
                        <a:rPr lang="en-US" sz="1500">
                          <a:effectLst/>
                          <a:latin typeface="Times New Roman" panose="02020603050405020304" pitchFamily="18" charset="0"/>
                          <a:cs typeface="Times New Roman" panose="02020603050405020304" pitchFamily="18" charset="0"/>
                        </a:rPr>
                        <a:t>2</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Boiling point</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Identical Boiling point</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Different Boiling point</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r>
              <a:tr h="561975">
                <a:tc>
                  <a:txBody>
                    <a:bodyPr/>
                    <a:p>
                      <a:pPr fontAlgn="t"/>
                      <a:r>
                        <a:rPr lang="en-US" sz="1500">
                          <a:effectLst/>
                          <a:latin typeface="Times New Roman" panose="02020603050405020304" pitchFamily="18" charset="0"/>
                          <a:cs typeface="Times New Roman" panose="02020603050405020304" pitchFamily="18" charset="0"/>
                        </a:rPr>
                        <a:t>3</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Solubility</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Same</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Different</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r>
              <a:tr h="1788795">
                <a:tc>
                  <a:txBody>
                    <a:bodyPr/>
                    <a:p>
                      <a:pPr fontAlgn="t"/>
                      <a:r>
                        <a:rPr lang="en-US" sz="1500">
                          <a:effectLst/>
                          <a:latin typeface="Times New Roman" panose="02020603050405020304" pitchFamily="18" charset="0"/>
                          <a:cs typeface="Times New Roman" panose="02020603050405020304" pitchFamily="18" charset="0"/>
                        </a:rPr>
                        <a:t>4</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Optical rotation</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Same, but opposite sign</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Different values may have the same or opposite sign</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r>
              <a:tr h="868680">
                <a:tc>
                  <a:txBody>
                    <a:bodyPr/>
                    <a:p>
                      <a:pPr fontAlgn="t"/>
                      <a:r>
                        <a:rPr lang="en-US" sz="1500">
                          <a:effectLst/>
                          <a:latin typeface="Times New Roman" panose="02020603050405020304" pitchFamily="18" charset="0"/>
                          <a:cs typeface="Times New Roman" panose="02020603050405020304" pitchFamily="18" charset="0"/>
                        </a:rPr>
                        <a:t>5</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Chemical properties</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Similar</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May be different</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4763" cap="flat" cmpd="sng" algn="ctr">
                      <a:solidFill>
                        <a:srgbClr val="444444"/>
                      </a:solidFill>
                      <a:prstDash val="solid"/>
                      <a:round/>
                      <a:headEnd type="none" w="med" len="med"/>
                      <a:tailEnd type="none" w="med" len="med"/>
                    </a:lnB>
                    <a:solidFill>
                      <a:srgbClr val="F1EDFF"/>
                    </a:solidFill>
                  </a:tcPr>
                </a:tc>
              </a:tr>
              <a:tr h="561975">
                <a:tc>
                  <a:txBody>
                    <a:bodyPr/>
                    <a:p>
                      <a:pPr fontAlgn="t"/>
                      <a:r>
                        <a:rPr lang="en-US" sz="1500" dirty="0">
                          <a:effectLst/>
                          <a:latin typeface="Times New Roman" panose="02020603050405020304" pitchFamily="18" charset="0"/>
                          <a:cs typeface="Times New Roman" panose="02020603050405020304" pitchFamily="18" charset="0"/>
                        </a:rPr>
                        <a:t>6</a:t>
                      </a:r>
                      <a:endParaRPr lang="en-US" sz="1500" dirty="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Free energy</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tc>
                  <a:txBody>
                    <a:bodyPr/>
                    <a:p>
                      <a:pPr fontAlgn="t"/>
                      <a:r>
                        <a:rPr lang="en-US" sz="1500">
                          <a:effectLst/>
                          <a:latin typeface="Times New Roman" panose="02020603050405020304" pitchFamily="18" charset="0"/>
                          <a:cs typeface="Times New Roman" panose="02020603050405020304" pitchFamily="18" charset="0"/>
                        </a:rPr>
                        <a:t>Same</a:t>
                      </a:r>
                      <a:endParaRPr lang="en-US" sz="150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tc>
                  <a:txBody>
                    <a:bodyPr/>
                    <a:p>
                      <a:pPr fontAlgn="t"/>
                      <a:r>
                        <a:rPr lang="en-US" sz="1500" dirty="0">
                          <a:effectLst/>
                          <a:latin typeface="Times New Roman" panose="02020603050405020304" pitchFamily="18" charset="0"/>
                          <a:cs typeface="Times New Roman" panose="02020603050405020304" pitchFamily="18" charset="0"/>
                        </a:rPr>
                        <a:t>Different</a:t>
                      </a:r>
                      <a:endParaRPr lang="en-US" sz="1500" dirty="0">
                        <a:effectLst/>
                        <a:latin typeface="Times New Roman" panose="02020603050405020304" pitchFamily="18" charset="0"/>
                        <a:cs typeface="Times New Roman" panose="02020603050405020304" pitchFamily="18" charset="0"/>
                      </a:endParaRPr>
                    </a:p>
                  </a:txBody>
                  <a:tcPr marL="63389" marR="63389" marT="95083" marB="95083">
                    <a:lnL w="4763" cap="flat" cmpd="sng" algn="ctr">
                      <a:solidFill>
                        <a:srgbClr val="444444"/>
                      </a:solidFill>
                      <a:prstDash val="solid"/>
                      <a:round/>
                      <a:headEnd type="none" w="med" len="med"/>
                      <a:tailEnd type="none" w="med" len="med"/>
                    </a:lnL>
                    <a:lnR w="4763" cap="flat" cmpd="sng" algn="ctr">
                      <a:solidFill>
                        <a:srgbClr val="444444"/>
                      </a:solidFill>
                      <a:prstDash val="solid"/>
                      <a:round/>
                      <a:headEnd type="none" w="med" len="med"/>
                      <a:tailEnd type="none" w="med" len="med"/>
                    </a:lnR>
                    <a:lnT w="4763" cap="flat" cmpd="sng" algn="ctr">
                      <a:solidFill>
                        <a:srgbClr val="444444"/>
                      </a:solidFill>
                      <a:prstDash val="solid"/>
                      <a:round/>
                      <a:headEnd type="none" w="med" len="med"/>
                      <a:tailEnd type="none" w="med" len="med"/>
                    </a:lnT>
                    <a:lnB w="9525" cap="flat" cmpd="sng" algn="ctr">
                      <a:solidFill>
                        <a:srgbClr val="444444"/>
                      </a:solidFill>
                      <a:prstDash val="solid"/>
                      <a:round/>
                      <a:headEnd type="none" w="med" len="med"/>
                      <a:tailEnd type="none" w="med" len="med"/>
                    </a:lnB>
                    <a:solidFill>
                      <a:srgbClr val="F1EDFF"/>
                    </a:solid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8150" y="295275"/>
            <a:ext cx="8267700" cy="626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6553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2000" b="1" dirty="0">
                <a:latin typeface="Times New Roman" panose="02020603050405020304" pitchFamily="18" charset="0"/>
                <a:cs typeface="Times New Roman" panose="02020603050405020304" pitchFamily="18" charset="0"/>
              </a:rPr>
              <a:t>Enantiomeric resolution </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Chiral resolution</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enantiomeric resolution</a:t>
            </a:r>
            <a:r>
              <a:rPr lang="en-US" sz="2000" dirty="0">
                <a:latin typeface="Times New Roman" panose="02020603050405020304" pitchFamily="18" charset="0"/>
                <a:cs typeface="Times New Roman" panose="02020603050405020304" pitchFamily="18" charset="0"/>
              </a:rPr>
              <a:t>, is a process in stereochemistry for the separation of racemic mixture into their enantiomers. It is an important tool in the production of optically active compounds, including drugs. Another term with the same meaning is </a:t>
            </a:r>
            <a:r>
              <a:rPr lang="en-US" sz="2000" b="1" dirty="0">
                <a:latin typeface="Times New Roman" panose="02020603050405020304" pitchFamily="18" charset="0"/>
                <a:cs typeface="Times New Roman" panose="02020603050405020304" pitchFamily="18" charset="0"/>
              </a:rPr>
              <a:t>optical resolution.</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Chiral Resolution</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As noted earlier, chiral compounds synthesized from achiral starting materials and reagents are generally racemic (i.e. a 50:50 mixture of enantiomers). Separation of racemates into their component enantiomers is a process called resolution. Since enantiomers have identical physical properties, such as solubility and melting point, resolution is extremely difficult. Diastereomers, on the other hand, have different physical properties, and this fact is used to achieve resolution of racemates. Reaction of a racemate with an enantiomerically pure chiral reagent gives a mixture of </a:t>
            </a:r>
            <a:r>
              <a:rPr lang="en-US" sz="2000" dirty="0" err="1">
                <a:latin typeface="Times New Roman" panose="02020603050405020304" pitchFamily="18" charset="0"/>
                <a:cs typeface="Times New Roman" panose="02020603050405020304" pitchFamily="18" charset="0"/>
              </a:rPr>
              <a:t>diastereomers</a:t>
            </a:r>
            <a:r>
              <a:rPr lang="en-US" sz="2000" dirty="0">
                <a:latin typeface="Times New Roman" panose="02020603050405020304" pitchFamily="18" charset="0"/>
                <a:cs typeface="Times New Roman" panose="02020603050405020304" pitchFamily="18" charset="0"/>
              </a:rPr>
              <a:t>, which can be separated.</a:t>
            </a:r>
            <a:endParaRPr lang="en-US" sz="2000" dirty="0">
              <a:latin typeface="Times New Roman" panose="02020603050405020304" pitchFamily="18" charset="0"/>
              <a:cs typeface="Times New Roman" panose="02020603050405020304" pitchFamily="18" charset="0"/>
            </a:endParaRPr>
          </a:p>
          <a:p>
            <a:pPr algn="just"/>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990600"/>
            <a:ext cx="7789334"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686800" cy="6477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fontAlgn="base">
              <a:lnSpc>
                <a:spcPct val="150000"/>
              </a:lnSpc>
            </a:pPr>
            <a:r>
              <a:rPr lang="en-US" sz="2000" b="1" dirty="0">
                <a:solidFill>
                  <a:srgbClr val="FF0000"/>
                </a:solidFill>
                <a:latin typeface="Times New Roman" panose="02020603050405020304" pitchFamily="18" charset="0"/>
                <a:cs typeface="Times New Roman" panose="02020603050405020304" pitchFamily="18" charset="0"/>
              </a:rPr>
              <a:t>Resolution </a:t>
            </a:r>
            <a:r>
              <a:rPr lang="en-US" sz="2000" b="1" i="1" dirty="0">
                <a:solidFill>
                  <a:srgbClr val="FF0000"/>
                </a:solidFill>
                <a:latin typeface="Times New Roman" panose="02020603050405020304" pitchFamily="18" charset="0"/>
                <a:cs typeface="Times New Roman" panose="02020603050405020304" pitchFamily="18" charset="0"/>
              </a:rPr>
              <a:t>via</a:t>
            </a:r>
            <a:r>
              <a:rPr lang="en-US" sz="2000" b="1" dirty="0">
                <a:solidFill>
                  <a:srgbClr val="FF0000"/>
                </a:solidFill>
                <a:latin typeface="Times New Roman" panose="02020603050405020304" pitchFamily="18" charset="0"/>
                <a:cs typeface="Times New Roman" panose="02020603050405020304" pitchFamily="18" charset="0"/>
              </a:rPr>
              <a:t> salt formation (ionic bonding)</a:t>
            </a:r>
            <a:endParaRPr lang="en-US" sz="2000" b="1" dirty="0">
              <a:solidFill>
                <a:srgbClr val="FF0000"/>
              </a:solidFill>
              <a:latin typeface="Times New Roman" panose="02020603050405020304" pitchFamily="18" charset="0"/>
              <a:cs typeface="Times New Roman" panose="02020603050405020304" pitchFamily="18" charset="0"/>
            </a:endParaRPr>
          </a:p>
          <a:p>
            <a:pPr fontAlgn="base">
              <a:lnSpc>
                <a:spcPct val="150000"/>
              </a:lnSpc>
            </a:pPr>
            <a:r>
              <a:rPr lang="en-US" sz="2000" dirty="0">
                <a:latin typeface="Times New Roman" panose="02020603050405020304" pitchFamily="18" charset="0"/>
                <a:cs typeface="Times New Roman" panose="02020603050405020304" pitchFamily="18" charset="0"/>
              </a:rPr>
              <a:t>The simplest examples of resolution involve the neutralisation of </a:t>
            </a:r>
            <a:r>
              <a:rPr lang="en-US" sz="2000" b="1" dirty="0">
                <a:latin typeface="Times New Roman" panose="02020603050405020304" pitchFamily="18" charset="0"/>
                <a:cs typeface="Times New Roman" panose="02020603050405020304" pitchFamily="18" charset="0"/>
              </a:rPr>
              <a:t>acids</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bases</a:t>
            </a:r>
            <a:r>
              <a:rPr lang="en-US" sz="2000" dirty="0">
                <a:latin typeface="Times New Roman" panose="02020603050405020304" pitchFamily="18" charset="0"/>
                <a:cs typeface="Times New Roman" panose="02020603050405020304" pitchFamily="18" charset="0"/>
              </a:rPr>
              <a:t> in order to convert them into a separable pair of diastereoisomeric </a:t>
            </a:r>
            <a:r>
              <a:rPr lang="en-US" sz="2000" b="1" dirty="0">
                <a:latin typeface="Times New Roman" panose="02020603050405020304" pitchFamily="18" charset="0"/>
                <a:cs typeface="Times New Roman" panose="02020603050405020304" pitchFamily="18" charset="0"/>
              </a:rPr>
              <a:t>salts</a:t>
            </a:r>
            <a:r>
              <a:rPr lang="en-US" sz="2000" dirty="0">
                <a:latin typeface="Times New Roman" panose="02020603050405020304" pitchFamily="18" charset="0"/>
                <a:cs typeface="Times New Roman" panose="02020603050405020304" pitchFamily="18" charset="0"/>
              </a:rPr>
              <a:t>. This is the easiest method of resolution and has often been used for the resolution of racemic acids (using an amine as the resolving agent) and bases (using an acid as the resolving agent). This type of resolution is generally efficient for the following reasons: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Diastereoisomeric salts can often be separated by crystallisation. Recrystallisation gives high diastereoisomeric purity and the process is practical on a large scale.</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pure enantiomers can easily be separated from the resolving agent at the end of the process by simple solvent (acid/base) extraction, which is again practical on a large scale.</a:t>
            </a:r>
            <a:endParaRPr lang="en-US" sz="2000" dirty="0">
              <a:latin typeface="Times New Roman" panose="02020603050405020304" pitchFamily="18" charset="0"/>
              <a:cs typeface="Times New Roman" panose="02020603050405020304" pitchFamily="18" charset="0"/>
            </a:endParaRPr>
          </a:p>
          <a:p>
            <a:pPr fontAlgn="base"/>
            <a:endParaRPr lang="en-US"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62200" y="228600"/>
            <a:ext cx="40386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0500" y="381000"/>
            <a:ext cx="8763000" cy="39624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p>
          <a:p>
            <a:pPr algn="ctr"/>
            <a:endParaRPr lang="en-US" b="1" dirty="0"/>
          </a:p>
          <a:p>
            <a:pPr algn="ctr"/>
            <a:endParaRPr lang="en-US" b="1" dirty="0"/>
          </a:p>
          <a:p>
            <a:pPr algn="ctr"/>
            <a:r>
              <a:rPr lang="en-US" sz="2400" b="1" dirty="0">
                <a:solidFill>
                  <a:srgbClr val="FF0000"/>
                </a:solidFill>
              </a:rPr>
              <a:t>Meso Compound</a:t>
            </a:r>
            <a:endParaRPr lang="en-US" sz="2400" b="1" dirty="0">
              <a:solidFill>
                <a:srgbClr val="FF0000"/>
              </a:solidFill>
            </a:endParaRPr>
          </a:p>
          <a:p>
            <a:pPr algn="just">
              <a:lnSpc>
                <a:spcPct val="150000"/>
              </a:lnSpc>
            </a:pPr>
            <a:r>
              <a:rPr lang="en-US" sz="2000" dirty="0">
                <a:latin typeface="Times New Roman" panose="02020603050405020304" pitchFamily="18" charset="0"/>
                <a:cs typeface="Times New Roman" panose="02020603050405020304" pitchFamily="18" charset="0"/>
              </a:rPr>
              <a:t>A meso compound is a stereoisomer with two or more chiral centers but no optical activity due to an internal plane of symmetry. Mesomers are compounds with zero net rotation of plane polarised light. Organic molecules that have two chiral carbons that are identical, resulting in zero net rotation are called mesomers.</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Two or more stereocenters.</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 internal plane of symmetry, or internal mirror, that lies in the compound.</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Stereochemistry that cancels out. This means reflected stereocenter should have the same substituents and be inverted. For instance, in a meso compound with two stereocenters one should be R and the other S.</a:t>
            </a:r>
            <a:endParaRPr lang="en-US" sz="2000" dirty="0">
              <a:latin typeface="Times New Roman" panose="02020603050405020304" pitchFamily="18" charset="0"/>
              <a:cs typeface="Times New Roman" panose="02020603050405020304" pitchFamily="18" charset="0"/>
            </a:endParaRPr>
          </a:p>
          <a:p>
            <a:pPr algn="just"/>
            <a:endParaRPr lang="en-US" b="1" dirty="0"/>
          </a:p>
          <a:p>
            <a:pPr algn="ctr"/>
            <a:endParaRPr lang="en-US" b="1" dirty="0"/>
          </a:p>
          <a:p>
            <a:pPr algn="just"/>
            <a:endParaRPr lang="en-US" b="1" dirty="0"/>
          </a:p>
        </p:txBody>
      </p:sp>
      <p:pic>
        <p:nvPicPr>
          <p:cNvPr id="1024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8473" y="4613564"/>
            <a:ext cx="624840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2106965"/>
            <a:ext cx="3819525"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7781" y="96547"/>
            <a:ext cx="2304048" cy="1898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8425" y="1884010"/>
            <a:ext cx="4648199" cy="2108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2400" y="284018"/>
            <a:ext cx="5143501" cy="76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rgbClr val="FF0000"/>
                </a:solidFill>
                <a:latin typeface="Times New Roman" panose="02020603050405020304" pitchFamily="18" charset="0"/>
                <a:cs typeface="Times New Roman" panose="02020603050405020304" pitchFamily="18" charset="0"/>
              </a:rPr>
              <a:t>Meso Compound Example</a:t>
            </a:r>
            <a:endParaRPr lang="en-US" sz="2400" b="1" dirty="0">
              <a:solidFill>
                <a:srgbClr val="FF0000"/>
              </a:solidFill>
              <a:latin typeface="Times New Roman" panose="02020603050405020304" pitchFamily="18" charset="0"/>
              <a:cs typeface="Times New Roman" panose="02020603050405020304" pitchFamily="18" charset="0"/>
            </a:endParaRPr>
          </a:p>
        </p:txBody>
      </p:sp>
      <p:pic>
        <p:nvPicPr>
          <p:cNvPr id="1127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718" y="4197927"/>
            <a:ext cx="8015111"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6553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dirty="0">
                <a:latin typeface="Times New Roman" panose="02020603050405020304" pitchFamily="18" charset="0"/>
                <a:cs typeface="Times New Roman" panose="02020603050405020304" pitchFamily="18" charset="0"/>
              </a:rPr>
              <a:t>The general strategy of the E-Z system is to analyze the two groups at each end of the double bond. At each end, rank the two groups, using the CIP priority rules. Then, see whether the higher priority group at one end of the double bond and the higher priority group at the other end of the double bond are on the </a:t>
            </a:r>
            <a:r>
              <a:rPr lang="en-US" b="1" dirty="0">
                <a:latin typeface="Times New Roman" panose="02020603050405020304" pitchFamily="18" charset="0"/>
                <a:cs typeface="Times New Roman" panose="02020603050405020304" pitchFamily="18" charset="0"/>
              </a:rPr>
              <a:t>same </a:t>
            </a:r>
            <a:r>
              <a:rPr lang="en-US" dirty="0">
                <a:latin typeface="Times New Roman" panose="02020603050405020304" pitchFamily="18" charset="0"/>
                <a:cs typeface="Times New Roman" panose="02020603050405020304" pitchFamily="18" charset="0"/>
              </a:rPr>
              <a:t>side (Z, from German </a:t>
            </a:r>
            <a:r>
              <a:rPr lang="en-US" b="1" i="1" dirty="0">
                <a:latin typeface="Times New Roman" panose="02020603050405020304" pitchFamily="18" charset="0"/>
                <a:cs typeface="Times New Roman" panose="02020603050405020304" pitchFamily="18" charset="0"/>
              </a:rPr>
              <a:t>zusammen</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together) or on </a:t>
            </a:r>
            <a:r>
              <a:rPr lang="en-US" b="1" dirty="0">
                <a:latin typeface="Times New Roman" panose="02020603050405020304" pitchFamily="18" charset="0"/>
                <a:cs typeface="Times New Roman" panose="02020603050405020304" pitchFamily="18" charset="0"/>
              </a:rPr>
              <a:t>opposite </a:t>
            </a:r>
            <a:r>
              <a:rPr lang="en-US" dirty="0">
                <a:latin typeface="Times New Roman" panose="02020603050405020304" pitchFamily="18" charset="0"/>
                <a:cs typeface="Times New Roman" panose="02020603050405020304" pitchFamily="18" charset="0"/>
              </a:rPr>
              <a:t>sides (E, from German </a:t>
            </a:r>
            <a:r>
              <a:rPr lang="en-US" b="1" i="1" dirty="0">
                <a:latin typeface="Times New Roman" panose="02020603050405020304" pitchFamily="18" charset="0"/>
                <a:cs typeface="Times New Roman" panose="02020603050405020304" pitchFamily="18" charset="0"/>
              </a:rPr>
              <a:t>entgegen </a:t>
            </a:r>
            <a:r>
              <a:rPr lang="en-US" dirty="0">
                <a:latin typeface="Times New Roman" panose="02020603050405020304" pitchFamily="18" charset="0"/>
                <a:cs typeface="Times New Roman" panose="02020603050405020304" pitchFamily="18" charset="0"/>
              </a:rPr>
              <a:t>= opposite) of the double bond.</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3048000"/>
            <a:ext cx="36576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6400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endParaRPr lang="en-US" dirty="0"/>
          </a:p>
          <a:p>
            <a:endParaRPr lang="en-US" dirty="0"/>
          </a:p>
          <a:p>
            <a:endParaRPr lang="en-US" dirty="0"/>
          </a:p>
          <a:p>
            <a:endParaRPr lang="en-US" dirty="0"/>
          </a:p>
          <a:p>
            <a:endParaRPr lang="en-US" dirty="0"/>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This is 2-bromo-2-butene  ignoring the geometric isomerism for now. </a:t>
            </a:r>
            <a:r>
              <a:rPr lang="en-US" sz="2000" dirty="0" err="1">
                <a:latin typeface="Times New Roman" panose="02020603050405020304" pitchFamily="18" charset="0"/>
                <a:cs typeface="Times New Roman" panose="02020603050405020304" pitchFamily="18" charset="0"/>
              </a:rPr>
              <a:t>Cis</a:t>
            </a:r>
            <a:r>
              <a:rPr lang="en-US" sz="2000" dirty="0">
                <a:latin typeface="Times New Roman" panose="02020603050405020304" pitchFamily="18" charset="0"/>
                <a:cs typeface="Times New Roman" panose="02020603050405020304" pitchFamily="18" charset="0"/>
              </a:rPr>
              <a:t> or trans? This molecule is clearly </a:t>
            </a:r>
            <a:r>
              <a:rPr lang="en-US" sz="2000" dirty="0" err="1">
                <a:latin typeface="Times New Roman" panose="02020603050405020304" pitchFamily="18" charset="0"/>
                <a:cs typeface="Times New Roman" panose="02020603050405020304" pitchFamily="18" charset="0"/>
              </a:rPr>
              <a:t>cis</a:t>
            </a:r>
            <a:r>
              <a:rPr lang="en-US" sz="2000" dirty="0">
                <a:latin typeface="Times New Roman" panose="02020603050405020304" pitchFamily="18" charset="0"/>
                <a:cs typeface="Times New Roman" panose="02020603050405020304" pitchFamily="18" charset="0"/>
              </a:rPr>
              <a:t>. The two methyl groups are on the same side. More rigorously, the "parent chain" is </a:t>
            </a:r>
            <a:r>
              <a:rPr lang="en-US" sz="2000" dirty="0" err="1">
                <a:latin typeface="Times New Roman" panose="02020603050405020304" pitchFamily="18" charset="0"/>
                <a:cs typeface="Times New Roman" panose="02020603050405020304" pitchFamily="18" charset="0"/>
              </a:rPr>
              <a:t>cis</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E or Z? There is a methyl at each end of the double bond. On the left, the methyl is the high priority group  because the other group is -H. On the right, the methyl is the low priority group  because the other group is -Br. That is, the high priority groups are -CH</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(left) and -Br (right). Thus the two priority groups are on opposite sides = </a:t>
            </a:r>
            <a:r>
              <a:rPr lang="en-US" sz="2000" dirty="0" err="1">
                <a:latin typeface="Times New Roman" panose="02020603050405020304" pitchFamily="18" charset="0"/>
                <a:cs typeface="Times New Roman" panose="02020603050405020304" pitchFamily="18" charset="0"/>
              </a:rPr>
              <a:t>entgegen</a:t>
            </a:r>
            <a:r>
              <a:rPr lang="en-US" sz="2000" dirty="0">
                <a:latin typeface="Times New Roman" panose="02020603050405020304" pitchFamily="18" charset="0"/>
                <a:cs typeface="Times New Roman" panose="02020603050405020304" pitchFamily="18" charset="0"/>
              </a:rPr>
              <a:t> = E</a:t>
            </a:r>
            <a:endParaRPr lang="en-US" sz="2000"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381000"/>
            <a:ext cx="3428023"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838199"/>
            <a:ext cx="2743200" cy="2504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087918"/>
            <a:ext cx="2666517" cy="2005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724400" y="2971800"/>
            <a:ext cx="4114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(Z)-1-chloro-2-ethyl-1,3-butadiene</a:t>
            </a:r>
            <a:r>
              <a:rPr lang="en-US" dirty="0"/>
              <a:t>.</a:t>
            </a:r>
            <a:endParaRPr lang="en-US" dirty="0"/>
          </a:p>
        </p:txBody>
      </p:sp>
      <p:sp>
        <p:nvSpPr>
          <p:cNvPr id="3" name="Rectangle 2"/>
          <p:cNvSpPr/>
          <p:nvPr/>
        </p:nvSpPr>
        <p:spPr>
          <a:xfrm>
            <a:off x="533400" y="3342860"/>
            <a:ext cx="3733800" cy="8481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(2E)-2-(1-bromoethylidene)pent-3-ynyl methyl ether</a:t>
            </a: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2644" y="4648200"/>
            <a:ext cx="4679156"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915400" cy="6477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pseudo-asymmetric </a:t>
            </a:r>
            <a:r>
              <a:rPr lang="en-US" sz="2000" b="1" dirty="0" err="1">
                <a:latin typeface="Times New Roman" panose="02020603050405020304" pitchFamily="18" charset="0"/>
                <a:cs typeface="Times New Roman" panose="02020603050405020304" pitchFamily="18" charset="0"/>
              </a:rPr>
              <a:t>centre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 found in a </a:t>
            </a:r>
            <a:r>
              <a:rPr lang="en-US" sz="2000" i="1" dirty="0" err="1">
                <a:latin typeface="Times New Roman" panose="02020603050405020304" pitchFamily="18" charset="0"/>
                <a:cs typeface="Times New Roman" panose="02020603050405020304" pitchFamily="18" charset="0"/>
              </a:rPr>
              <a:t>meso</a:t>
            </a:r>
            <a:r>
              <a:rPr lang="en-US" sz="2000" dirty="0">
                <a:latin typeface="Times New Roman" panose="02020603050405020304" pitchFamily="18" charset="0"/>
                <a:cs typeface="Times New Roman" panose="02020603050405020304" pitchFamily="18" charset="0"/>
              </a:rPr>
              <a:t> molecule where a plane of symmetry runs through a </a:t>
            </a:r>
            <a:r>
              <a:rPr lang="en-US" sz="2000" dirty="0" err="1">
                <a:latin typeface="Times New Roman" panose="02020603050405020304" pitchFamily="18" charset="0"/>
                <a:cs typeface="Times New Roman" panose="02020603050405020304" pitchFamily="18" charset="0"/>
              </a:rPr>
              <a:t>stereogenic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centre</a:t>
            </a:r>
            <a:r>
              <a:rPr lang="en-US" sz="2000" dirty="0">
                <a:latin typeface="Times New Roman" panose="02020603050405020304" pitchFamily="18" charset="0"/>
                <a:cs typeface="Times New Roman" panose="02020603050405020304" pitchFamily="18" charset="0"/>
              </a:rPr>
              <a:t> and that </a:t>
            </a:r>
            <a:r>
              <a:rPr lang="en-US" sz="2000" dirty="0" err="1">
                <a:latin typeface="Times New Roman" panose="02020603050405020304" pitchFamily="18" charset="0"/>
                <a:cs typeface="Times New Roman" panose="02020603050405020304" pitchFamily="18" charset="0"/>
              </a:rPr>
              <a:t>stereogenic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centre’s</a:t>
            </a:r>
            <a:r>
              <a:rPr lang="en-US" sz="2000" dirty="0">
                <a:latin typeface="Times New Roman" panose="02020603050405020304" pitchFamily="18" charset="0"/>
                <a:cs typeface="Times New Roman" panose="02020603050405020304" pitchFamily="18" charset="0"/>
              </a:rPr>
              <a:t> two substituents are constitutionally the same (same atoms connected by the same type of bonds) but configurationally different (spatially different). In this situation the substituent with </a:t>
            </a:r>
            <a:r>
              <a:rPr lang="en-US" sz="2000" i="1"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 has a higher priority than the substituent with </a:t>
            </a:r>
            <a:r>
              <a:rPr lang="en-US" sz="2000" i="1" dirty="0">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 and the pseudo-asymmetric </a:t>
            </a:r>
            <a:r>
              <a:rPr lang="en-US" sz="2000" dirty="0" err="1">
                <a:latin typeface="Times New Roman" panose="02020603050405020304" pitchFamily="18" charset="0"/>
                <a:cs typeface="Times New Roman" panose="02020603050405020304" pitchFamily="18" charset="0"/>
              </a:rPr>
              <a:t>centre</a:t>
            </a:r>
            <a:r>
              <a:rPr lang="en-US" sz="2000" dirty="0">
                <a:latin typeface="Times New Roman" panose="02020603050405020304" pitchFamily="18" charset="0"/>
                <a:cs typeface="Times New Roman" panose="02020603050405020304" pitchFamily="18" charset="0"/>
              </a:rPr>
              <a:t> is described as </a:t>
            </a:r>
            <a:r>
              <a:rPr lang="en-US" sz="2000" i="1" dirty="0">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 or </a:t>
            </a:r>
            <a:r>
              <a:rPr lang="en-US" sz="2000" i="1" dirty="0">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3235036"/>
            <a:ext cx="6664538"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640080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r>
              <a:rPr lang="en-US" sz="2400" dirty="0">
                <a:latin typeface="Times New Roman" panose="02020603050405020304" pitchFamily="18" charset="0"/>
                <a:cs typeface="Times New Roman" panose="02020603050405020304" pitchFamily="18" charset="0"/>
              </a:rPr>
              <a:t>IR spectroscopy can differentiate between </a:t>
            </a:r>
            <a:r>
              <a:rPr lang="en-US" sz="2400" dirty="0" err="1">
                <a:latin typeface="Times New Roman" panose="02020603050405020304" pitchFamily="18" charset="0"/>
                <a:cs typeface="Times New Roman" panose="02020603050405020304" pitchFamily="18" charset="0"/>
              </a:rPr>
              <a:t>diastereomers</a:t>
            </a:r>
            <a:r>
              <a:rPr lang="en-US" sz="2400" dirty="0">
                <a:latin typeface="Times New Roman" panose="02020603050405020304" pitchFamily="18" charset="0"/>
                <a:cs typeface="Times New Roman" panose="02020603050405020304" pitchFamily="18" charset="0"/>
              </a:rPr>
              <a:t> like ephedrine and pseudoephedrine based on their unique spectral "fingerprints.</a:t>
            </a:r>
            <a:endParaRPr lang="en-US" sz="2400"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1524000"/>
            <a:ext cx="6477000" cy="3792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b="77333"/>
          <a:stretch>
            <a:fillRect/>
          </a:stretch>
        </p:blipFill>
        <p:spPr bwMode="auto">
          <a:xfrm>
            <a:off x="470535" y="5257800"/>
            <a:ext cx="806386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6553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2400" b="1" dirty="0">
                <a:latin typeface="Times New Roman" panose="02020603050405020304" pitchFamily="18" charset="0"/>
                <a:cs typeface="Times New Roman" panose="02020603050405020304" pitchFamily="18" charset="0"/>
              </a:rPr>
              <a:t>Conformation:</a:t>
            </a: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Conformations are different spatial arrangements of atoms within a molecule that can be interconverted through rotation around single bonds.</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These arrangements are dynamic and can change readily at room temperature, as the molecule can rotate freely around the single bonds.</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Examples of conformational isomers include staggered and eclipsed conformations of ethane. </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3600" y="3886200"/>
            <a:ext cx="4953000" cy="2507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332740"/>
            <a:ext cx="7615555" cy="4337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999" y="4670425"/>
            <a:ext cx="8039283" cy="2078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0218" y="152400"/>
            <a:ext cx="8458200" cy="6553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r>
              <a:rPr lang="en-US" sz="2400" b="1" dirty="0">
                <a:latin typeface="Times New Roman" panose="02020603050405020304" pitchFamily="18" charset="0"/>
                <a:cs typeface="Times New Roman" panose="02020603050405020304" pitchFamily="18" charset="0"/>
              </a:rPr>
              <a:t>Configuration:</a:t>
            </a:r>
            <a:endParaRPr lang="en-US"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Configuration describes the permanent, fixed arrangement of atoms within a molecule. </a:t>
            </a: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Changing the configuration of a molecule requires breaking and reforming bonds. </a:t>
            </a: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Examples of </a:t>
            </a:r>
            <a:r>
              <a:rPr lang="en-US" sz="2400" dirty="0" err="1">
                <a:latin typeface="Times New Roman" panose="02020603050405020304" pitchFamily="18" charset="0"/>
                <a:cs typeface="Times New Roman" panose="02020603050405020304" pitchFamily="18" charset="0"/>
              </a:rPr>
              <a:t>configurational</a:t>
            </a:r>
            <a:r>
              <a:rPr lang="en-US" sz="2400" dirty="0">
                <a:latin typeface="Times New Roman" panose="02020603050405020304" pitchFamily="18" charset="0"/>
                <a:cs typeface="Times New Roman" panose="02020603050405020304" pitchFamily="18" charset="0"/>
              </a:rPr>
              <a:t> isomers include </a:t>
            </a:r>
            <a:r>
              <a:rPr lang="en-US" sz="2400" dirty="0" err="1">
                <a:latin typeface="Times New Roman" panose="02020603050405020304" pitchFamily="18" charset="0"/>
                <a:cs typeface="Times New Roman" panose="02020603050405020304" pitchFamily="18" charset="0"/>
              </a:rPr>
              <a:t>cis</a:t>
            </a:r>
            <a:r>
              <a:rPr lang="en-US" sz="2400" dirty="0">
                <a:latin typeface="Times New Roman" panose="02020603050405020304" pitchFamily="18" charset="0"/>
                <a:cs typeface="Times New Roman" panose="02020603050405020304" pitchFamily="18" charset="0"/>
              </a:rPr>
              <a:t> and trans isomers, or enantiomers (mirror images). </a:t>
            </a: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p:txBody>
      </p:sp>
      <p:pic>
        <p:nvPicPr>
          <p:cNvPr id="512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45698" y="3429000"/>
            <a:ext cx="5238750"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ags/tag1.xml><?xml version="1.0" encoding="utf-8"?>
<p:tagLst xmlns:p="http://schemas.openxmlformats.org/presentationml/2006/main">
  <p:tag name="TABLE_ENDDRAG_ORIGIN_RECT" val="343*515"/>
  <p:tag name="TABLE_ENDDRAG_RECT" val="371*1*343*5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8971</Words>
  <Application>WPS Presentation</Application>
  <PresentationFormat>On-screen Show (4:3)</PresentationFormat>
  <Paragraphs>233</Paragraphs>
  <Slides>73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73</vt:i4>
      </vt:variant>
    </vt:vector>
  </HeadingPairs>
  <TitlesOfParts>
    <vt:vector size="86" baseType="lpstr">
      <vt:lpstr>Arial</vt:lpstr>
      <vt:lpstr>SimSun</vt:lpstr>
      <vt:lpstr>Wingdings</vt:lpstr>
      <vt:lpstr>Lucida Calligraphy</vt:lpstr>
      <vt:lpstr>Tempus Sans ITC</vt:lpstr>
      <vt:lpstr>Times New Roman</vt:lpstr>
      <vt:lpstr>Microsoft YaHei</vt:lpstr>
      <vt:lpstr>Arial Unicode MS</vt:lpstr>
      <vt:lpstr>Calibri</vt:lpstr>
      <vt:lpstr>Arial Black</vt:lpstr>
      <vt:lpstr>Bodoni MT Condensed</vt:lpstr>
      <vt:lpstr>Cambria Math</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Rouf hasan</cp:lastModifiedBy>
  <cp:revision>93</cp:revision>
  <dcterms:created xsi:type="dcterms:W3CDTF">2006-08-16T00:00:00Z</dcterms:created>
  <dcterms:modified xsi:type="dcterms:W3CDTF">2025-06-27T05:35:20Z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C87AA6014E67439E932187456DC599F2_12</vt:lpwstr>
  </property>
  <property fmtid="{D5CDD505-2E9C-101B-9397-08002B2CF9AE}" pid="3" name="KSOProductBuildVer">
    <vt:lpwstr>1033-12.2.0.21546</vt:lpwstr>
  </property>
</Properties>
</file>