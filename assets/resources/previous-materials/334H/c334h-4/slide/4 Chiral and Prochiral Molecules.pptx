
<file path=[Content_Types].xml><?xml version="1.0" encoding="utf-8"?>
<Types xmlns="http://schemas.openxmlformats.org/package/2006/content-types">
  <Default Extension="jpeg" ContentType="image/jpeg"/>
  <Default Extension="JPG" ContentType="image/.jpg"/>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media/image63.svg" ContentType="image/svg+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59" r:id="rId6"/>
    <p:sldId id="260" r:id="rId7"/>
    <p:sldId id="261" r:id="rId8"/>
    <p:sldId id="262" r:id="rId9"/>
    <p:sldId id="263" r:id="rId10"/>
    <p:sldId id="264" r:id="rId11"/>
    <p:sldId id="265" r:id="rId12"/>
    <p:sldId id="270" r:id="rId13"/>
    <p:sldId id="266" r:id="rId14"/>
    <p:sldId id="267" r:id="rId15"/>
    <p:sldId id="268" r:id="rId16"/>
    <p:sldId id="269" r:id="rId17"/>
    <p:sldId id="271" r:id="rId18"/>
    <p:sldId id="272" r:id="rId19"/>
    <p:sldId id="273" r:id="rId20"/>
    <p:sldId id="274" r:id="rId21"/>
    <p:sldId id="275" r:id="rId22"/>
    <p:sldId id="276" r:id="rId23"/>
    <p:sldId id="277" r:id="rId24"/>
    <p:sldId id="283" r:id="rId25"/>
    <p:sldId id="278" r:id="rId26"/>
    <p:sldId id="279" r:id="rId27"/>
    <p:sldId id="280" r:id="rId28"/>
    <p:sldId id="281" r:id="rId29"/>
    <p:sldId id="284" r:id="rId30"/>
    <p:sldId id="282" r:id="rId31"/>
    <p:sldId id="285" r:id="rId32"/>
    <p:sldId id="286" r:id="rId33"/>
    <p:sldId id="288" r:id="rId34"/>
    <p:sldId id="291" r:id="rId35"/>
    <p:sldId id="289" r:id="rId36"/>
    <p:sldId id="290" r:id="rId37"/>
    <p:sldId id="292" r:id="rId38"/>
    <p:sldId id="295" r:id="rId39"/>
    <p:sldId id="297" r:id="rId40"/>
    <p:sldId id="294" r:id="rId41"/>
    <p:sldId id="296" r:id="rId42"/>
    <p:sldId id="298" r:id="rId43"/>
    <p:sldId id="299" r:id="rId44"/>
    <p:sldId id="300" r:id="rId45"/>
    <p:sldId id="301" r:id="rId46"/>
    <p:sldId id="302" r:id="rId47"/>
    <p:sldId id="303" r:id="rId48"/>
    <p:sldId id="304" r:id="rId49"/>
    <p:sldId id="305" r:id="rId50"/>
    <p:sldId id="306" r:id="rId51"/>
    <p:sldId id="307" r:id="rId52"/>
    <p:sldId id="309" r:id="rId53"/>
    <p:sldId id="313" r:id="rId54"/>
    <p:sldId id="314" r:id="rId55"/>
    <p:sldId id="315" r:id="rId56"/>
    <p:sldId id="311" r:id="rId57"/>
    <p:sldId id="308" r:id="rId58"/>
    <p:sldId id="312" r:id="rId59"/>
    <p:sldId id="316" r:id="rId60"/>
    <p:sldId id="310" r:id="rId61"/>
    <p:sldId id="317" r:id="rId6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668205368" name="Umme Aiman Liza" initials="U" lastIdx="1" clrIdx="0"/>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9" d="100"/>
          <a:sy n="69" d="100"/>
        </p:scale>
        <p:origin x="-1416" y="-9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6" Type="http://schemas.openxmlformats.org/officeDocument/2006/relationships/commentAuthors" Target="commentAuthors.xml"/><Relationship Id="rId65" Type="http://schemas.openxmlformats.org/officeDocument/2006/relationships/tableStyles" Target="tableStyles.xml"/><Relationship Id="rId64" Type="http://schemas.openxmlformats.org/officeDocument/2006/relationships/viewProps" Target="viewProps.xml"/><Relationship Id="rId63" Type="http://schemas.openxmlformats.org/officeDocument/2006/relationships/presProps" Target="presProps.xml"/><Relationship Id="rId62" Type="http://schemas.openxmlformats.org/officeDocument/2006/relationships/slide" Target="slides/slide60.xml"/><Relationship Id="rId61" Type="http://schemas.openxmlformats.org/officeDocument/2006/relationships/slide" Target="slides/slide59.xml"/><Relationship Id="rId60" Type="http://schemas.openxmlformats.org/officeDocument/2006/relationships/slide" Target="slides/slide58.xml"/><Relationship Id="rId6" Type="http://schemas.openxmlformats.org/officeDocument/2006/relationships/slide" Target="slides/slide4.xml"/><Relationship Id="rId59" Type="http://schemas.openxmlformats.org/officeDocument/2006/relationships/slide" Target="slides/slide57.xml"/><Relationship Id="rId58" Type="http://schemas.openxmlformats.org/officeDocument/2006/relationships/slide" Target="slides/slide56.xml"/><Relationship Id="rId57" Type="http://schemas.openxmlformats.org/officeDocument/2006/relationships/slide" Target="slides/slide55.xml"/><Relationship Id="rId56" Type="http://schemas.openxmlformats.org/officeDocument/2006/relationships/slide" Target="slides/slide54.xml"/><Relationship Id="rId55" Type="http://schemas.openxmlformats.org/officeDocument/2006/relationships/slide" Target="slides/slide53.xml"/><Relationship Id="rId54" Type="http://schemas.openxmlformats.org/officeDocument/2006/relationships/slide" Target="slides/slide52.xml"/><Relationship Id="rId53" Type="http://schemas.openxmlformats.org/officeDocument/2006/relationships/slide" Target="slides/slide51.xml"/><Relationship Id="rId52" Type="http://schemas.openxmlformats.org/officeDocument/2006/relationships/slide" Target="slides/slide50.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emf"/></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emf"/></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emf"/></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emf"/></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emf"/></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9.emf"/></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0.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1.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2.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3.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4.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5.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7.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8.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9.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0.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1.pn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2.pn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3.png"/></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4.png"/></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6.png"/><Relationship Id="rId1" Type="http://schemas.openxmlformats.org/officeDocument/2006/relationships/image" Target="../media/image25.png"/></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7.png"/></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8.png"/></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9.png"/></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0.png"/></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2.png"/><Relationship Id="rId1" Type="http://schemas.openxmlformats.org/officeDocument/2006/relationships/image" Target="../media/image31.png"/></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3.png"/></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4.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5.png"/></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6.png"/></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7.png"/></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8.png"/></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9.png"/></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0.png"/></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1.png"/></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2.png"/></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3.png"/></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4.png"/></Relationships>
</file>

<file path=ppt/slides/_rels/slide4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46.png"/><Relationship Id="rId1" Type="http://schemas.openxmlformats.org/officeDocument/2006/relationships/image" Target="../media/image45.png"/></Relationships>
</file>

<file path=ppt/slides/_rels/slide4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48.png"/><Relationship Id="rId1" Type="http://schemas.openxmlformats.org/officeDocument/2006/relationships/image" Target="../media/image47.png"/></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9.png"/></Relationships>
</file>

<file path=ppt/slides/_rels/slide4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51.png"/><Relationship Id="rId1" Type="http://schemas.openxmlformats.org/officeDocument/2006/relationships/image" Target="../media/image50.png"/></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2.png"/></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3.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4.png"/></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5.png"/></Relationships>
</file>

<file path=ppt/slides/_rels/slide5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6.png"/></Relationships>
</file>

<file path=ppt/slides/_rels/slide5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7.png"/></Relationships>
</file>

<file path=ppt/slides/_rels/slide5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58.png"/></Relationships>
</file>

<file path=ppt/slides/_rels/slide5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9.jpeg"/></Relationships>
</file>

<file path=ppt/slides/_rels/slide5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0.png"/></Relationships>
</file>

<file path=ppt/slides/_rels/slide5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1.png"/></Relationships>
</file>

<file path=ppt/slides/_rels/slide6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63.svg"/><Relationship Id="rId1" Type="http://schemas.openxmlformats.org/officeDocument/2006/relationships/image" Target="../media/image6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447800" y="2590800"/>
            <a:ext cx="6357824" cy="2462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p:cNvSpPr/>
          <p:nvPr/>
        </p:nvSpPr>
        <p:spPr>
          <a:xfrm>
            <a:off x="228600" y="304800"/>
            <a:ext cx="8763000" cy="1447800"/>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3600" dirty="0" smtClean="0">
                <a:solidFill>
                  <a:srgbClr val="7030A0"/>
                </a:solidFill>
                <a:latin typeface="Times New Roman" panose="02020603050405020304" pitchFamily="18" charset="0"/>
                <a:cs typeface="Times New Roman" panose="02020603050405020304" pitchFamily="18" charset="0"/>
              </a:rPr>
              <a:t>Chiral And Prochiral Molecule</a:t>
            </a:r>
            <a:endParaRPr lang="en-US" sz="3600" dirty="0">
              <a:solidFill>
                <a:srgbClr val="7030A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 y="152400"/>
            <a:ext cx="8839200" cy="6477000"/>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lnSpc>
                <a:spcPct val="150000"/>
              </a:lnSpc>
            </a:pPr>
            <a:r>
              <a:rPr lang="en-US" sz="2800" b="1" dirty="0" smtClean="0">
                <a:solidFill>
                  <a:srgbClr val="002060"/>
                </a:solidFill>
                <a:latin typeface="Times New Roman" panose="02020603050405020304" pitchFamily="18" charset="0"/>
                <a:cs typeface="Times New Roman" panose="02020603050405020304" pitchFamily="18" charset="0"/>
              </a:rPr>
              <a:t>Prochirality</a:t>
            </a:r>
            <a:endParaRPr lang="en-US" sz="2800" b="1" dirty="0" smtClean="0">
              <a:solidFill>
                <a:srgbClr val="002060"/>
              </a:solidFill>
              <a:latin typeface="Times New Roman" panose="02020603050405020304" pitchFamily="18" charset="0"/>
              <a:cs typeface="Times New Roman" panose="02020603050405020304" pitchFamily="18" charset="0"/>
            </a:endParaRPr>
          </a:p>
          <a:p>
            <a:pPr>
              <a:lnSpc>
                <a:spcPct val="150000"/>
              </a:lnSpc>
            </a:pPr>
            <a:r>
              <a:rPr lang="en-US" sz="2000" dirty="0" smtClean="0">
                <a:latin typeface="Times New Roman" panose="02020603050405020304" pitchFamily="18" charset="0"/>
                <a:cs typeface="Times New Roman" panose="02020603050405020304" pitchFamily="18" charset="0"/>
              </a:rPr>
              <a:t>Closely </a:t>
            </a:r>
            <a:r>
              <a:rPr lang="en-US" sz="2000" dirty="0">
                <a:latin typeface="Times New Roman" panose="02020603050405020304" pitchFamily="18" charset="0"/>
                <a:cs typeface="Times New Roman" panose="02020603050405020304" pitchFamily="18" charset="0"/>
              </a:rPr>
              <a:t>related to the concept of chirality, and particularly important in biological chemistry, is the notion </a:t>
            </a:r>
            <a:r>
              <a:rPr lang="en-US" sz="2000" dirty="0" smtClean="0">
                <a:latin typeface="Times New Roman" panose="02020603050405020304" pitchFamily="18" charset="0"/>
                <a:cs typeface="Times New Roman" panose="02020603050405020304" pitchFamily="18" charset="0"/>
              </a:rPr>
              <a:t>of prochirality</a:t>
            </a:r>
            <a:r>
              <a:rPr lang="en-US" sz="2000" dirty="0">
                <a:latin typeface="Times New Roman" panose="02020603050405020304" pitchFamily="18" charset="0"/>
                <a:cs typeface="Times New Roman" panose="02020603050405020304" pitchFamily="18" charset="0"/>
              </a:rPr>
              <a:t>. </a:t>
            </a:r>
            <a:endParaRPr lang="en-US" sz="2000" dirty="0" smtClean="0">
              <a:latin typeface="Times New Roman" panose="02020603050405020304" pitchFamily="18" charset="0"/>
              <a:cs typeface="Times New Roman" panose="02020603050405020304" pitchFamily="18" charset="0"/>
            </a:endParaRPr>
          </a:p>
          <a:p>
            <a:pPr>
              <a:lnSpc>
                <a:spcPct val="150000"/>
              </a:lnSpc>
            </a:pPr>
            <a:r>
              <a:rPr lang="en-US" sz="2000" dirty="0" smtClean="0">
                <a:latin typeface="Times New Roman" panose="02020603050405020304" pitchFamily="18" charset="0"/>
                <a:cs typeface="Times New Roman" panose="02020603050405020304" pitchFamily="18" charset="0"/>
              </a:rPr>
              <a:t>A </a:t>
            </a:r>
            <a:r>
              <a:rPr lang="en-US" sz="2000" dirty="0">
                <a:latin typeface="Times New Roman" panose="02020603050405020304" pitchFamily="18" charset="0"/>
                <a:cs typeface="Times New Roman" panose="02020603050405020304" pitchFamily="18" charset="0"/>
              </a:rPr>
              <a:t>molecule is said to be</a:t>
            </a:r>
            <a:r>
              <a:rPr lang="en-US" sz="2000" dirty="0">
                <a:solidFill>
                  <a:srgbClr val="FF0000"/>
                </a:solidFill>
                <a:latin typeface="Times New Roman" panose="02020603050405020304" pitchFamily="18" charset="0"/>
                <a:cs typeface="Times New Roman" panose="02020603050405020304" pitchFamily="18" charset="0"/>
              </a:rPr>
              <a:t> </a:t>
            </a:r>
            <a:r>
              <a:rPr lang="en-US" sz="2000" b="1" dirty="0">
                <a:solidFill>
                  <a:srgbClr val="FF0000"/>
                </a:solidFill>
                <a:latin typeface="Times New Roman" panose="02020603050405020304" pitchFamily="18" charset="0"/>
                <a:cs typeface="Times New Roman" panose="02020603050405020304" pitchFamily="18" charset="0"/>
              </a:rPr>
              <a:t>P</a:t>
            </a:r>
            <a:r>
              <a:rPr lang="en-US" sz="2000" b="1" dirty="0" smtClean="0">
                <a:solidFill>
                  <a:srgbClr val="FF0000"/>
                </a:solidFill>
                <a:latin typeface="Times New Roman" panose="02020603050405020304" pitchFamily="18" charset="0"/>
                <a:cs typeface="Times New Roman" panose="02020603050405020304" pitchFamily="18" charset="0"/>
              </a:rPr>
              <a:t>rochiral </a:t>
            </a:r>
            <a:r>
              <a:rPr lang="en-US" sz="2000" dirty="0">
                <a:latin typeface="Times New Roman" panose="02020603050405020304" pitchFamily="18" charset="0"/>
                <a:cs typeface="Times New Roman" panose="02020603050405020304" pitchFamily="18" charset="0"/>
              </a:rPr>
              <a:t>if it can be converted from achiral to chiral in a single </a:t>
            </a:r>
            <a:r>
              <a:rPr lang="en-US" sz="2000" dirty="0" smtClean="0">
                <a:latin typeface="Times New Roman" panose="02020603050405020304" pitchFamily="18" charset="0"/>
                <a:cs typeface="Times New Roman" panose="02020603050405020304" pitchFamily="18" charset="0"/>
              </a:rPr>
              <a:t>chemical step</a:t>
            </a:r>
            <a:r>
              <a:rPr lang="en-US" sz="2000" dirty="0">
                <a:latin typeface="Times New Roman" panose="02020603050405020304" pitchFamily="18" charset="0"/>
                <a:cs typeface="Times New Roman" panose="02020603050405020304" pitchFamily="18" charset="0"/>
              </a:rPr>
              <a:t>. </a:t>
            </a:r>
            <a:endParaRPr lang="en-US" sz="2000" dirty="0" smtClean="0">
              <a:latin typeface="Times New Roman" panose="02020603050405020304" pitchFamily="18" charset="0"/>
              <a:cs typeface="Times New Roman" panose="02020603050405020304" pitchFamily="18" charset="0"/>
            </a:endParaRPr>
          </a:p>
          <a:p>
            <a:pPr>
              <a:lnSpc>
                <a:spcPct val="150000"/>
              </a:lnSpc>
            </a:pPr>
            <a:r>
              <a:rPr lang="en-US" sz="2000" dirty="0" smtClean="0">
                <a:latin typeface="Times New Roman" panose="02020603050405020304" pitchFamily="18" charset="0"/>
                <a:cs typeface="Times New Roman" panose="02020603050405020304" pitchFamily="18" charset="0"/>
              </a:rPr>
              <a:t>For </a:t>
            </a:r>
            <a:r>
              <a:rPr lang="en-US" sz="2000" dirty="0">
                <a:latin typeface="Times New Roman" panose="02020603050405020304" pitchFamily="18" charset="0"/>
                <a:cs typeface="Times New Roman" panose="02020603050405020304" pitchFamily="18" charset="0"/>
              </a:rPr>
              <a:t>instance, an unsymmetrical ketone like 2-butanone is prochiral because it can be converted to </a:t>
            </a:r>
            <a:r>
              <a:rPr lang="en-US" sz="2000" dirty="0" smtClean="0">
                <a:latin typeface="Times New Roman" panose="02020603050405020304" pitchFamily="18" charset="0"/>
                <a:cs typeface="Times New Roman" panose="02020603050405020304" pitchFamily="18" charset="0"/>
              </a:rPr>
              <a:t>the chiral </a:t>
            </a:r>
            <a:r>
              <a:rPr lang="en-US" sz="2000" dirty="0">
                <a:latin typeface="Times New Roman" panose="02020603050405020304" pitchFamily="18" charset="0"/>
                <a:cs typeface="Times New Roman" panose="02020603050405020304" pitchFamily="18" charset="0"/>
              </a:rPr>
              <a:t>alcohol 2-butanol by the addition of </a:t>
            </a:r>
            <a:r>
              <a:rPr lang="en-US" sz="2000" dirty="0" smtClean="0">
                <a:latin typeface="Times New Roman" panose="02020603050405020304" pitchFamily="18" charset="0"/>
                <a:cs typeface="Times New Roman" panose="02020603050405020304" pitchFamily="18" charset="0"/>
              </a:rPr>
              <a:t>hydrogen.</a:t>
            </a:r>
            <a:endParaRPr lang="en-US" sz="2000" dirty="0" smtClean="0">
              <a:latin typeface="Times New Roman" panose="02020603050405020304" pitchFamily="18" charset="0"/>
              <a:cs typeface="Times New Roman" panose="02020603050405020304" pitchFamily="18" charset="0"/>
            </a:endParaRPr>
          </a:p>
          <a:p>
            <a:pPr>
              <a:lnSpc>
                <a:spcPct val="150000"/>
              </a:lnSpc>
            </a:pPr>
            <a:endParaRPr lang="en-US" sz="2000" dirty="0">
              <a:latin typeface="Times New Roman" panose="02020603050405020304" pitchFamily="18" charset="0"/>
              <a:cs typeface="Times New Roman" panose="02020603050405020304" pitchFamily="18" charset="0"/>
            </a:endParaRPr>
          </a:p>
          <a:p>
            <a:pPr>
              <a:lnSpc>
                <a:spcPct val="150000"/>
              </a:lnSpc>
            </a:pPr>
            <a:endParaRPr lang="en-US" sz="2000" dirty="0" smtClean="0">
              <a:latin typeface="Times New Roman" panose="02020603050405020304" pitchFamily="18" charset="0"/>
              <a:cs typeface="Times New Roman" panose="02020603050405020304" pitchFamily="18" charset="0"/>
            </a:endParaRPr>
          </a:p>
          <a:p>
            <a:pPr>
              <a:lnSpc>
                <a:spcPct val="150000"/>
              </a:lnSpc>
            </a:pPr>
            <a:endParaRPr lang="en-US" sz="2000" dirty="0">
              <a:latin typeface="Times New Roman" panose="02020603050405020304" pitchFamily="18" charset="0"/>
              <a:cs typeface="Times New Roman" panose="02020603050405020304" pitchFamily="18" charset="0"/>
            </a:endParaRPr>
          </a:p>
          <a:p>
            <a:pPr>
              <a:lnSpc>
                <a:spcPct val="150000"/>
              </a:lnSpc>
            </a:pPr>
            <a:endParaRPr lang="en-US" sz="2000" dirty="0" smtClean="0">
              <a:latin typeface="Times New Roman" panose="02020603050405020304" pitchFamily="18" charset="0"/>
              <a:cs typeface="Times New Roman" panose="02020603050405020304" pitchFamily="18" charset="0"/>
            </a:endParaRPr>
          </a:p>
          <a:p>
            <a:pPr>
              <a:lnSpc>
                <a:spcPct val="150000"/>
              </a:lnSpc>
            </a:pPr>
            <a:endParaRPr lang="en-US" sz="2000" dirty="0">
              <a:latin typeface="Times New Roman" panose="02020603050405020304" pitchFamily="18" charset="0"/>
              <a:cs typeface="Times New Roman" panose="02020603050405020304" pitchFamily="18" charset="0"/>
            </a:endParaRPr>
          </a:p>
          <a:p>
            <a:pPr>
              <a:lnSpc>
                <a:spcPct val="150000"/>
              </a:lnSpc>
            </a:pPr>
            <a:endParaRPr lang="en-US" sz="2000" dirty="0">
              <a:latin typeface="Times New Roman" panose="02020603050405020304" pitchFamily="18" charset="0"/>
              <a:cs typeface="Times New Roman" panose="02020603050405020304" pitchFamily="18" charset="0"/>
            </a:endParaRPr>
          </a:p>
        </p:txBody>
      </p:sp>
      <p:pic>
        <p:nvPicPr>
          <p:cNvPr id="102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425296" y="4191000"/>
            <a:ext cx="6293407" cy="2209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 y="152400"/>
            <a:ext cx="8839200" cy="6553200"/>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lnSpc>
                <a:spcPct val="150000"/>
              </a:lnSpc>
            </a:pPr>
            <a:r>
              <a:rPr lang="en-US" sz="3200" b="1" dirty="0" smtClean="0">
                <a:solidFill>
                  <a:srgbClr val="7030A0"/>
                </a:solidFill>
                <a:latin typeface="Times New Roman" panose="02020603050405020304" pitchFamily="18" charset="0"/>
                <a:cs typeface="Times New Roman" panose="02020603050405020304" pitchFamily="18" charset="0"/>
              </a:rPr>
              <a:t>Importance Of </a:t>
            </a:r>
            <a:r>
              <a:rPr lang="en-US" sz="3200" b="1" dirty="0">
                <a:solidFill>
                  <a:srgbClr val="7030A0"/>
                </a:solidFill>
                <a:latin typeface="Times New Roman" panose="02020603050405020304" pitchFamily="18" charset="0"/>
                <a:cs typeface="Times New Roman" panose="02020603050405020304" pitchFamily="18" charset="0"/>
              </a:rPr>
              <a:t>Prochirality </a:t>
            </a:r>
            <a:endParaRPr lang="en-US" sz="3200" b="1" dirty="0" smtClean="0">
              <a:solidFill>
                <a:srgbClr val="7030A0"/>
              </a:solidFill>
              <a:latin typeface="Times New Roman" panose="02020603050405020304" pitchFamily="18" charset="0"/>
              <a:cs typeface="Times New Roman" panose="02020603050405020304" pitchFamily="18" charset="0"/>
            </a:endParaRPr>
          </a:p>
          <a:p>
            <a:pPr algn="just">
              <a:lnSpc>
                <a:spcPct val="150000"/>
              </a:lnSpc>
            </a:pPr>
            <a:r>
              <a:rPr lang="en-US" sz="2000" dirty="0" smtClean="0">
                <a:latin typeface="Times New Roman" panose="02020603050405020304" pitchFamily="18" charset="0"/>
                <a:cs typeface="Times New Roman" panose="02020603050405020304" pitchFamily="18" charset="0"/>
              </a:rPr>
              <a:t>Prochirality </a:t>
            </a:r>
            <a:r>
              <a:rPr lang="en-US" sz="2000" dirty="0">
                <a:latin typeface="Times New Roman" panose="02020603050405020304" pitchFamily="18" charset="0"/>
                <a:cs typeface="Times New Roman" panose="02020603050405020304" pitchFamily="18" charset="0"/>
              </a:rPr>
              <a:t>is an important concept in biological chemistry, because enzymes can distinguish between the two ‘identical’ groups bound to a prochiral carbon center due to the fact that </a:t>
            </a:r>
            <a:r>
              <a:rPr lang="en-US" sz="2000" i="1" dirty="0">
                <a:latin typeface="Times New Roman" panose="02020603050405020304" pitchFamily="18" charset="0"/>
                <a:cs typeface="Times New Roman" panose="02020603050405020304" pitchFamily="18" charset="0"/>
              </a:rPr>
              <a:t>they occupy different regions in three-dimensional space</a:t>
            </a:r>
            <a:r>
              <a:rPr lang="en-US" sz="2000" dirty="0">
                <a:latin typeface="Times New Roman" panose="02020603050405020304" pitchFamily="18" charset="0"/>
                <a:cs typeface="Times New Roman" panose="02020603050405020304" pitchFamily="18" charset="0"/>
              </a:rPr>
              <a:t>. Consider the isomerization reaction below, which is part of the biosynthesis of isoprenoid compounds</a:t>
            </a:r>
            <a:r>
              <a:rPr lang="en-US" sz="2000" dirty="0" smtClean="0">
                <a:latin typeface="Times New Roman" panose="02020603050405020304" pitchFamily="18" charset="0"/>
                <a:cs typeface="Times New Roman" panose="02020603050405020304" pitchFamily="18" charset="0"/>
              </a:rPr>
              <a:t>.</a:t>
            </a:r>
            <a:endParaRPr lang="en-US" sz="2000" dirty="0" smtClean="0">
              <a:latin typeface="Times New Roman" panose="02020603050405020304" pitchFamily="18" charset="0"/>
              <a:cs typeface="Times New Roman" panose="02020603050405020304" pitchFamily="18" charset="0"/>
            </a:endParaRPr>
          </a:p>
          <a:p>
            <a:pPr algn="just">
              <a:lnSpc>
                <a:spcPct val="150000"/>
              </a:lnSpc>
            </a:pPr>
            <a:r>
              <a:rPr lang="en-US" sz="2000" dirty="0">
                <a:latin typeface="Times New Roman" panose="02020603050405020304" pitchFamily="18" charset="0"/>
                <a:cs typeface="Times New Roman" panose="02020603050405020304" pitchFamily="18" charset="0"/>
              </a:rPr>
              <a:t>T</a:t>
            </a:r>
            <a:r>
              <a:rPr lang="en-US" sz="2000" dirty="0" smtClean="0">
                <a:latin typeface="Times New Roman" panose="02020603050405020304" pitchFamily="18" charset="0"/>
                <a:cs typeface="Times New Roman" panose="02020603050405020304" pitchFamily="18" charset="0"/>
              </a:rPr>
              <a:t>he </a:t>
            </a:r>
            <a:r>
              <a:rPr lang="en-US" sz="2000" dirty="0">
                <a:latin typeface="Times New Roman" panose="02020603050405020304" pitchFamily="18" charset="0"/>
                <a:cs typeface="Times New Roman" panose="02020603050405020304" pitchFamily="18" charset="0"/>
              </a:rPr>
              <a:t>isomerase enzyme is able to distinguish between the prochiral 'red' and the 'blue' hydrogens on the isopentenyl diphosphate (IPP) substrate. In the course of the left to right reaction, IPP specifically loses the 'red' hydrogen and keeps the 'blue' one</a:t>
            </a:r>
            <a:r>
              <a:rPr lang="en-US" sz="2000" dirty="0" smtClean="0">
                <a:latin typeface="Times New Roman" panose="02020603050405020304" pitchFamily="18" charset="0"/>
                <a:cs typeface="Times New Roman" panose="02020603050405020304" pitchFamily="18" charset="0"/>
              </a:rPr>
              <a:t>.</a:t>
            </a:r>
            <a:endParaRPr lang="en-US" sz="2000" dirty="0" smtClean="0">
              <a:latin typeface="Times New Roman" panose="02020603050405020304" pitchFamily="18" charset="0"/>
              <a:cs typeface="Times New Roman" panose="02020603050405020304" pitchFamily="18" charset="0"/>
            </a:endParaRPr>
          </a:p>
          <a:p>
            <a:pPr algn="just">
              <a:lnSpc>
                <a:spcPct val="150000"/>
              </a:lnSpc>
            </a:pPr>
            <a:endParaRPr lang="en-US" sz="2000" dirty="0">
              <a:latin typeface="Times New Roman" panose="02020603050405020304" pitchFamily="18" charset="0"/>
              <a:cs typeface="Times New Roman" panose="02020603050405020304" pitchFamily="18" charset="0"/>
            </a:endParaRPr>
          </a:p>
          <a:p>
            <a:pPr algn="just">
              <a:lnSpc>
                <a:spcPct val="150000"/>
              </a:lnSpc>
            </a:pPr>
            <a:endParaRPr lang="en-US" sz="2000" dirty="0" smtClean="0">
              <a:latin typeface="Times New Roman" panose="02020603050405020304" pitchFamily="18" charset="0"/>
              <a:cs typeface="Times New Roman" panose="02020603050405020304" pitchFamily="18" charset="0"/>
            </a:endParaRPr>
          </a:p>
          <a:p>
            <a:pPr algn="just">
              <a:lnSpc>
                <a:spcPct val="150000"/>
              </a:lnSpc>
            </a:pPr>
            <a:endParaRPr lang="en-US" sz="2000" dirty="0">
              <a:latin typeface="Times New Roman" panose="02020603050405020304" pitchFamily="18" charset="0"/>
              <a:cs typeface="Times New Roman" panose="02020603050405020304" pitchFamily="18" charset="0"/>
            </a:endParaRPr>
          </a:p>
          <a:p>
            <a:pPr algn="just">
              <a:lnSpc>
                <a:spcPct val="150000"/>
              </a:lnSpc>
            </a:pPr>
            <a:endParaRPr lang="en-US" sz="2000" dirty="0" smtClean="0">
              <a:latin typeface="Times New Roman" panose="02020603050405020304" pitchFamily="18" charset="0"/>
              <a:cs typeface="Times New Roman" panose="02020603050405020304" pitchFamily="18" charset="0"/>
            </a:endParaRPr>
          </a:p>
          <a:p>
            <a:pPr algn="just">
              <a:lnSpc>
                <a:spcPct val="150000"/>
              </a:lnSpc>
            </a:pPr>
            <a:endParaRPr lang="en-US" sz="2000" dirty="0">
              <a:latin typeface="Times New Roman" panose="02020603050405020304" pitchFamily="18" charset="0"/>
              <a:cs typeface="Times New Roman" panose="02020603050405020304" pitchFamily="18" charset="0"/>
            </a:endParaRPr>
          </a:p>
        </p:txBody>
      </p:sp>
      <p:pic>
        <p:nvPicPr>
          <p:cNvPr id="3074" name="Picture 2"/>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278551" y="4800598"/>
            <a:ext cx="6586897" cy="15240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 y="152400"/>
            <a:ext cx="8839200" cy="6553200"/>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marL="285750" indent="-285750" algn="just">
              <a:lnSpc>
                <a:spcPct val="150000"/>
              </a:lnSpc>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E</a:t>
            </a:r>
            <a:r>
              <a:rPr lang="en-US" dirty="0" smtClean="0">
                <a:latin typeface="Times New Roman" panose="02020603050405020304" pitchFamily="18" charset="0"/>
                <a:cs typeface="Times New Roman" panose="02020603050405020304" pitchFamily="18" charset="0"/>
              </a:rPr>
              <a:t>nantiomer </a:t>
            </a:r>
            <a:r>
              <a:rPr lang="en-US" dirty="0">
                <a:latin typeface="Times New Roman" panose="02020603050405020304" pitchFamily="18" charset="0"/>
                <a:cs typeface="Times New Roman" panose="02020603050405020304" pitchFamily="18" charset="0"/>
              </a:rPr>
              <a:t>of 2-butanol is produced depends on which face of the planar carbonyl group </a:t>
            </a:r>
            <a:r>
              <a:rPr lang="en-US" dirty="0" smtClean="0">
                <a:latin typeface="Times New Roman" panose="02020603050405020304" pitchFamily="18" charset="0"/>
                <a:cs typeface="Times New Roman" panose="02020603050405020304" pitchFamily="18" charset="0"/>
              </a:rPr>
              <a:t>undergoes reaction</a:t>
            </a:r>
            <a:r>
              <a:rPr lang="en-US" dirty="0">
                <a:latin typeface="Times New Roman" panose="02020603050405020304" pitchFamily="18" charset="0"/>
                <a:cs typeface="Times New Roman" panose="02020603050405020304" pitchFamily="18" charset="0"/>
              </a:rPr>
              <a:t>. </a:t>
            </a:r>
            <a:endParaRPr lang="en-US" dirty="0" smtClean="0">
              <a:latin typeface="Times New Roman" panose="02020603050405020304" pitchFamily="18" charset="0"/>
              <a:cs typeface="Times New Roman" panose="02020603050405020304" pitchFamily="18" charset="0"/>
            </a:endParaRPr>
          </a:p>
          <a:p>
            <a:pPr marL="285750" indent="-285750" algn="just">
              <a:lnSpc>
                <a:spcPct val="150000"/>
              </a:lnSpc>
              <a:buFont typeface="Wingdings" panose="05000000000000000000" pitchFamily="2" charset="2"/>
              <a:buChar char="q"/>
            </a:pPr>
            <a:r>
              <a:rPr lang="en-US" dirty="0" smtClean="0">
                <a:latin typeface="Times New Roman" panose="02020603050405020304" pitchFamily="18" charset="0"/>
                <a:cs typeface="Times New Roman" panose="02020603050405020304" pitchFamily="18" charset="0"/>
              </a:rPr>
              <a:t>To </a:t>
            </a:r>
            <a:r>
              <a:rPr lang="en-US" dirty="0">
                <a:latin typeface="Times New Roman" panose="02020603050405020304" pitchFamily="18" charset="0"/>
                <a:cs typeface="Times New Roman" panose="02020603050405020304" pitchFamily="18" charset="0"/>
              </a:rPr>
              <a:t>distinguish between the possibilities, </a:t>
            </a:r>
            <a:r>
              <a:rPr lang="en-US" dirty="0" smtClean="0">
                <a:latin typeface="Times New Roman" panose="02020603050405020304" pitchFamily="18" charset="0"/>
                <a:cs typeface="Times New Roman" panose="02020603050405020304" pitchFamily="18" charset="0"/>
              </a:rPr>
              <a:t>the </a:t>
            </a:r>
            <a:r>
              <a:rPr lang="en-US" dirty="0">
                <a:latin typeface="Times New Roman" panose="02020603050405020304" pitchFamily="18" charset="0"/>
                <a:cs typeface="Times New Roman" panose="02020603050405020304" pitchFamily="18" charset="0"/>
              </a:rPr>
              <a:t>stereochemical descriptors Re and Si. Rank </a:t>
            </a:r>
            <a:r>
              <a:rPr lang="en-US" dirty="0" smtClean="0">
                <a:latin typeface="Times New Roman" panose="02020603050405020304" pitchFamily="18" charset="0"/>
                <a:cs typeface="Times New Roman" panose="02020603050405020304" pitchFamily="18" charset="0"/>
              </a:rPr>
              <a:t>the three </a:t>
            </a:r>
            <a:r>
              <a:rPr lang="en-US" dirty="0">
                <a:latin typeface="Times New Roman" panose="02020603050405020304" pitchFamily="18" charset="0"/>
                <a:cs typeface="Times New Roman" panose="02020603050405020304" pitchFamily="18" charset="0"/>
              </a:rPr>
              <a:t>groups attached to the trigonal, sp</a:t>
            </a:r>
            <a:r>
              <a:rPr lang="en-US" baseline="30000" dirty="0">
                <a:latin typeface="Times New Roman" panose="02020603050405020304" pitchFamily="18" charset="0"/>
                <a:cs typeface="Times New Roman" panose="02020603050405020304" pitchFamily="18" charset="0"/>
              </a:rPr>
              <a:t>2</a:t>
            </a:r>
            <a:r>
              <a:rPr lang="en-US" dirty="0">
                <a:latin typeface="Times New Roman" panose="02020603050405020304" pitchFamily="18" charset="0"/>
                <a:cs typeface="Times New Roman" panose="02020603050405020304" pitchFamily="18" charset="0"/>
              </a:rPr>
              <a:t>-hybridized </a:t>
            </a:r>
            <a:r>
              <a:rPr lang="en-US" dirty="0" smtClean="0">
                <a:latin typeface="Times New Roman" panose="02020603050405020304" pitchFamily="18" charset="0"/>
                <a:cs typeface="Times New Roman" panose="02020603050405020304" pitchFamily="18" charset="0"/>
              </a:rPr>
              <a:t>carbon. </a:t>
            </a:r>
            <a:endParaRPr lang="en-US" dirty="0" smtClean="0">
              <a:latin typeface="Times New Roman" panose="02020603050405020304" pitchFamily="18" charset="0"/>
              <a:cs typeface="Times New Roman" panose="02020603050405020304" pitchFamily="18" charset="0"/>
            </a:endParaRPr>
          </a:p>
          <a:p>
            <a:pPr marL="285750" indent="-285750" algn="just">
              <a:lnSpc>
                <a:spcPct val="150000"/>
              </a:lnSpc>
              <a:buFont typeface="Wingdings" panose="05000000000000000000" pitchFamily="2" charset="2"/>
              <a:buChar char="q"/>
            </a:pPr>
            <a:r>
              <a:rPr lang="en-US" dirty="0" smtClean="0">
                <a:latin typeface="Times New Roman" panose="02020603050405020304" pitchFamily="18" charset="0"/>
                <a:cs typeface="Times New Roman" panose="02020603050405020304" pitchFamily="18" charset="0"/>
              </a:rPr>
              <a:t>The </a:t>
            </a:r>
            <a:r>
              <a:rPr lang="en-US" dirty="0">
                <a:latin typeface="Times New Roman" panose="02020603050405020304" pitchFamily="18" charset="0"/>
                <a:cs typeface="Times New Roman" panose="02020603050405020304" pitchFamily="18" charset="0"/>
              </a:rPr>
              <a:t>face on which the arrows curve clockwise </a:t>
            </a:r>
            <a:r>
              <a:rPr lang="en-US" dirty="0" smtClean="0">
                <a:latin typeface="Times New Roman" panose="02020603050405020304" pitchFamily="18" charset="0"/>
                <a:cs typeface="Times New Roman" panose="02020603050405020304" pitchFamily="18" charset="0"/>
              </a:rPr>
              <a:t>is designated </a:t>
            </a:r>
            <a:r>
              <a:rPr lang="en-US" dirty="0">
                <a:latin typeface="Times New Roman" panose="02020603050405020304" pitchFamily="18" charset="0"/>
                <a:cs typeface="Times New Roman" panose="02020603050405020304" pitchFamily="18" charset="0"/>
              </a:rPr>
              <a:t>the </a:t>
            </a:r>
            <a:r>
              <a:rPr lang="en-US" b="1" dirty="0">
                <a:latin typeface="Times New Roman" panose="02020603050405020304" pitchFamily="18" charset="0"/>
                <a:cs typeface="Times New Roman" panose="02020603050405020304" pitchFamily="18" charset="0"/>
              </a:rPr>
              <a:t>Re face </a:t>
            </a:r>
            <a:r>
              <a:rPr lang="en-US" dirty="0">
                <a:latin typeface="Times New Roman" panose="02020603050405020304" pitchFamily="18" charset="0"/>
                <a:cs typeface="Times New Roman" panose="02020603050405020304" pitchFamily="18" charset="0"/>
              </a:rPr>
              <a:t>(similar to R), and the face on which the arrows curve counterclockwise is </a:t>
            </a:r>
            <a:r>
              <a:rPr lang="en-US" dirty="0" smtClean="0">
                <a:latin typeface="Times New Roman" panose="02020603050405020304" pitchFamily="18" charset="0"/>
                <a:cs typeface="Times New Roman" panose="02020603050405020304" pitchFamily="18" charset="0"/>
              </a:rPr>
              <a:t>designated the </a:t>
            </a:r>
            <a:r>
              <a:rPr lang="en-US" b="1" dirty="0">
                <a:latin typeface="Times New Roman" panose="02020603050405020304" pitchFamily="18" charset="0"/>
                <a:cs typeface="Times New Roman" panose="02020603050405020304" pitchFamily="18" charset="0"/>
              </a:rPr>
              <a:t>Si face </a:t>
            </a:r>
            <a:r>
              <a:rPr lang="en-US" dirty="0">
                <a:latin typeface="Times New Roman" panose="02020603050405020304" pitchFamily="18" charset="0"/>
                <a:cs typeface="Times New Roman" panose="02020603050405020304" pitchFamily="18" charset="0"/>
              </a:rPr>
              <a:t>(similar to S). In this example, addition of hydrogen from the Re face gives (S)-2-butane, and </a:t>
            </a:r>
            <a:r>
              <a:rPr lang="en-US" dirty="0" smtClean="0">
                <a:latin typeface="Times New Roman" panose="02020603050405020304" pitchFamily="18" charset="0"/>
                <a:cs typeface="Times New Roman" panose="02020603050405020304" pitchFamily="18" charset="0"/>
              </a:rPr>
              <a:t>addition from </a:t>
            </a:r>
            <a:r>
              <a:rPr lang="en-US" dirty="0">
                <a:latin typeface="Times New Roman" panose="02020603050405020304" pitchFamily="18" charset="0"/>
                <a:cs typeface="Times New Roman" panose="02020603050405020304" pitchFamily="18" charset="0"/>
              </a:rPr>
              <a:t>the Si face gives (R)-</a:t>
            </a:r>
            <a:r>
              <a:rPr lang="en-US" dirty="0" smtClean="0">
                <a:latin typeface="Times New Roman" panose="02020603050405020304" pitchFamily="18" charset="0"/>
                <a:cs typeface="Times New Roman" panose="02020603050405020304" pitchFamily="18" charset="0"/>
              </a:rPr>
              <a:t>2-butanol.</a:t>
            </a:r>
            <a:endParaRPr lang="en-US" dirty="0" smtClean="0">
              <a:latin typeface="Times New Roman" panose="02020603050405020304" pitchFamily="18" charset="0"/>
              <a:cs typeface="Times New Roman" panose="02020603050405020304" pitchFamily="18" charset="0"/>
            </a:endParaRPr>
          </a:p>
          <a:p>
            <a:pPr marL="285750" indent="-285750" algn="just">
              <a:lnSpc>
                <a:spcPct val="150000"/>
              </a:lnSpc>
              <a:buFont typeface="Wingdings" panose="05000000000000000000" pitchFamily="2" charset="2"/>
              <a:buChar char="q"/>
            </a:pPr>
            <a:endParaRPr lang="en-US" dirty="0">
              <a:latin typeface="Times New Roman" panose="02020603050405020304" pitchFamily="18" charset="0"/>
              <a:cs typeface="Times New Roman" panose="02020603050405020304" pitchFamily="18" charset="0"/>
            </a:endParaRPr>
          </a:p>
          <a:p>
            <a:pPr marL="285750" indent="-285750" algn="just">
              <a:lnSpc>
                <a:spcPct val="150000"/>
              </a:lnSpc>
              <a:buFont typeface="Wingdings" panose="05000000000000000000" pitchFamily="2" charset="2"/>
              <a:buChar char="q"/>
            </a:pPr>
            <a:endParaRPr lang="en-US" dirty="0" smtClean="0">
              <a:latin typeface="Times New Roman" panose="02020603050405020304" pitchFamily="18" charset="0"/>
              <a:cs typeface="Times New Roman" panose="02020603050405020304" pitchFamily="18" charset="0"/>
            </a:endParaRPr>
          </a:p>
          <a:p>
            <a:pPr marL="285750" indent="-285750" algn="just">
              <a:lnSpc>
                <a:spcPct val="150000"/>
              </a:lnSpc>
              <a:buFont typeface="Wingdings" panose="05000000000000000000" pitchFamily="2" charset="2"/>
              <a:buChar char="q"/>
            </a:pPr>
            <a:endParaRPr lang="en-US" dirty="0">
              <a:latin typeface="Times New Roman" panose="02020603050405020304" pitchFamily="18" charset="0"/>
              <a:cs typeface="Times New Roman" panose="02020603050405020304" pitchFamily="18" charset="0"/>
            </a:endParaRPr>
          </a:p>
          <a:p>
            <a:pPr marL="285750" indent="-285750" algn="just">
              <a:lnSpc>
                <a:spcPct val="150000"/>
              </a:lnSpc>
              <a:buFont typeface="Wingdings" panose="05000000000000000000" pitchFamily="2" charset="2"/>
              <a:buChar char="q"/>
            </a:pPr>
            <a:endParaRPr lang="en-US" dirty="0" smtClean="0">
              <a:latin typeface="Times New Roman" panose="02020603050405020304" pitchFamily="18" charset="0"/>
              <a:cs typeface="Times New Roman" panose="02020603050405020304" pitchFamily="18" charset="0"/>
            </a:endParaRPr>
          </a:p>
          <a:p>
            <a:pPr marL="285750" indent="-285750" algn="just">
              <a:lnSpc>
                <a:spcPct val="150000"/>
              </a:lnSpc>
              <a:buFont typeface="Wingdings" panose="05000000000000000000" pitchFamily="2" charset="2"/>
              <a:buChar char="q"/>
            </a:pPr>
            <a:endParaRPr lang="en-US" dirty="0">
              <a:latin typeface="Times New Roman" panose="02020603050405020304" pitchFamily="18" charset="0"/>
              <a:cs typeface="Times New Roman" panose="02020603050405020304" pitchFamily="18" charset="0"/>
            </a:endParaRPr>
          </a:p>
          <a:p>
            <a:pPr marL="285750" indent="-285750" algn="just">
              <a:lnSpc>
                <a:spcPct val="150000"/>
              </a:lnSpc>
              <a:buFont typeface="Wingdings" panose="05000000000000000000" pitchFamily="2" charset="2"/>
              <a:buChar char="q"/>
            </a:pPr>
            <a:endParaRPr lang="en-US" dirty="0" smtClean="0">
              <a:latin typeface="Times New Roman" panose="02020603050405020304" pitchFamily="18" charset="0"/>
              <a:cs typeface="Times New Roman" panose="02020603050405020304" pitchFamily="18" charset="0"/>
            </a:endParaRPr>
          </a:p>
          <a:p>
            <a:pPr algn="just">
              <a:lnSpc>
                <a:spcPct val="150000"/>
              </a:lnSpc>
            </a:pPr>
            <a:endParaRPr lang="en-US" dirty="0">
              <a:latin typeface="Times New Roman" panose="02020603050405020304" pitchFamily="18" charset="0"/>
              <a:cs typeface="Times New Roman" panose="02020603050405020304" pitchFamily="18" charset="0"/>
            </a:endParaRPr>
          </a:p>
        </p:txBody>
      </p:sp>
      <p:pic>
        <p:nvPicPr>
          <p:cNvPr id="4098"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62000" y="3984588"/>
            <a:ext cx="7443789" cy="27210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457200" y="2209800"/>
            <a:ext cx="8382000" cy="2716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 y="76200"/>
            <a:ext cx="8915400" cy="3581400"/>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just">
              <a:lnSpc>
                <a:spcPct val="150000"/>
              </a:lnSpc>
            </a:pPr>
            <a:r>
              <a:rPr lang="en-US" sz="2000" dirty="0">
                <a:latin typeface="Times New Roman" panose="02020603050405020304" pitchFamily="18" charset="0"/>
                <a:cs typeface="Times New Roman" panose="02020603050405020304" pitchFamily="18" charset="0"/>
              </a:rPr>
              <a:t>C</a:t>
            </a:r>
            <a:r>
              <a:rPr lang="en-US" sz="2000" dirty="0" smtClean="0">
                <a:latin typeface="Times New Roman" panose="02020603050405020304" pitchFamily="18" charset="0"/>
                <a:cs typeface="Times New Roman" panose="02020603050405020304" pitchFamily="18" charset="0"/>
              </a:rPr>
              <a:t>ompounds </a:t>
            </a:r>
            <a:r>
              <a:rPr lang="en-US" sz="2000" dirty="0">
                <a:latin typeface="Times New Roman" panose="02020603050405020304" pitchFamily="18" charset="0"/>
                <a:cs typeface="Times New Roman" panose="02020603050405020304" pitchFamily="18" charset="0"/>
              </a:rPr>
              <a:t>with planar, sp</a:t>
            </a:r>
            <a:r>
              <a:rPr lang="en-US" sz="2000" baseline="30000" dirty="0">
                <a:latin typeface="Times New Roman" panose="02020603050405020304" pitchFamily="18" charset="0"/>
                <a:cs typeface="Times New Roman" panose="02020603050405020304" pitchFamily="18" charset="0"/>
              </a:rPr>
              <a:t>2</a:t>
            </a:r>
            <a:r>
              <a:rPr lang="en-US" sz="2000" dirty="0">
                <a:latin typeface="Times New Roman" panose="02020603050405020304" pitchFamily="18" charset="0"/>
                <a:cs typeface="Times New Roman" panose="02020603050405020304" pitchFamily="18" charset="0"/>
              </a:rPr>
              <a:t>-hybridized atoms, compounds with tetrahedral, </a:t>
            </a:r>
            <a:r>
              <a:rPr lang="en-US" sz="2000" dirty="0" smtClean="0">
                <a:latin typeface="Times New Roman" panose="02020603050405020304" pitchFamily="18" charset="0"/>
                <a:cs typeface="Times New Roman" panose="02020603050405020304" pitchFamily="18" charset="0"/>
              </a:rPr>
              <a:t>sp</a:t>
            </a:r>
            <a:r>
              <a:rPr lang="en-US" sz="2000" baseline="30000" dirty="0" smtClean="0">
                <a:latin typeface="Times New Roman" panose="02020603050405020304" pitchFamily="18" charset="0"/>
                <a:cs typeface="Times New Roman" panose="02020603050405020304" pitchFamily="18" charset="0"/>
              </a:rPr>
              <a:t>3</a:t>
            </a:r>
            <a:r>
              <a:rPr lang="en-US" sz="2000" dirty="0" smtClean="0">
                <a:latin typeface="Times New Roman" panose="02020603050405020304" pitchFamily="18" charset="0"/>
                <a:cs typeface="Times New Roman" panose="02020603050405020304" pitchFamily="18" charset="0"/>
              </a:rPr>
              <a:t>-hybridized atoms </a:t>
            </a:r>
            <a:r>
              <a:rPr lang="en-US" sz="2000" dirty="0">
                <a:latin typeface="Times New Roman" panose="02020603050405020304" pitchFamily="18" charset="0"/>
                <a:cs typeface="Times New Roman" panose="02020603050405020304" pitchFamily="18" charset="0"/>
              </a:rPr>
              <a:t>can also be prochiral. An sp3-hybridized atom is said to be a </a:t>
            </a:r>
            <a:r>
              <a:rPr lang="en-US" sz="2000" b="1" dirty="0">
                <a:latin typeface="Times New Roman" panose="02020603050405020304" pitchFamily="18" charset="0"/>
                <a:cs typeface="Times New Roman" panose="02020603050405020304" pitchFamily="18" charset="0"/>
              </a:rPr>
              <a:t>prochirality center </a:t>
            </a:r>
            <a:r>
              <a:rPr lang="en-US" sz="2000" dirty="0">
                <a:latin typeface="Times New Roman" panose="02020603050405020304" pitchFamily="18" charset="0"/>
                <a:cs typeface="Times New Roman" panose="02020603050405020304" pitchFamily="18" charset="0"/>
              </a:rPr>
              <a:t>if, by changing </a:t>
            </a:r>
            <a:r>
              <a:rPr lang="en-US" sz="2000" dirty="0" smtClean="0">
                <a:latin typeface="Times New Roman" panose="02020603050405020304" pitchFamily="18" charset="0"/>
                <a:cs typeface="Times New Roman" panose="02020603050405020304" pitchFamily="18" charset="0"/>
              </a:rPr>
              <a:t>one of </a:t>
            </a:r>
            <a:r>
              <a:rPr lang="en-US" sz="2000" dirty="0">
                <a:latin typeface="Times New Roman" panose="02020603050405020304" pitchFamily="18" charset="0"/>
                <a:cs typeface="Times New Roman" panose="02020603050405020304" pitchFamily="18" charset="0"/>
              </a:rPr>
              <a:t>its attached groups, it becomes a chirality center. The −CH</a:t>
            </a:r>
            <a:r>
              <a:rPr lang="en-US" sz="2000" baseline="-25000" dirty="0">
                <a:latin typeface="Times New Roman" panose="02020603050405020304" pitchFamily="18" charset="0"/>
                <a:cs typeface="Times New Roman" panose="02020603050405020304" pitchFamily="18" charset="0"/>
              </a:rPr>
              <a:t>2</a:t>
            </a:r>
            <a:r>
              <a:rPr lang="en-US" sz="2000" dirty="0">
                <a:latin typeface="Times New Roman" panose="02020603050405020304" pitchFamily="18" charset="0"/>
                <a:cs typeface="Times New Roman" panose="02020603050405020304" pitchFamily="18" charset="0"/>
              </a:rPr>
              <a:t>OH carbon atom of ethanol, for instance, is </a:t>
            </a:r>
            <a:r>
              <a:rPr lang="en-US" sz="2000" dirty="0" smtClean="0">
                <a:latin typeface="Times New Roman" panose="02020603050405020304" pitchFamily="18" charset="0"/>
                <a:cs typeface="Times New Roman" panose="02020603050405020304" pitchFamily="18" charset="0"/>
              </a:rPr>
              <a:t>a prochirality </a:t>
            </a:r>
            <a:r>
              <a:rPr lang="en-US" sz="2000" dirty="0">
                <a:latin typeface="Times New Roman" panose="02020603050405020304" pitchFamily="18" charset="0"/>
                <a:cs typeface="Times New Roman" panose="02020603050405020304" pitchFamily="18" charset="0"/>
              </a:rPr>
              <a:t>center because changing one of its attached −H atoms converts it into a chirality center.</a:t>
            </a:r>
            <a:endParaRPr lang="en-US" sz="2000" dirty="0">
              <a:latin typeface="Times New Roman" panose="02020603050405020304" pitchFamily="18" charset="0"/>
              <a:cs typeface="Times New Roman" panose="02020603050405020304" pitchFamily="18" charset="0"/>
            </a:endParaRPr>
          </a:p>
        </p:txBody>
      </p:sp>
      <p:sp>
        <p:nvSpPr>
          <p:cNvPr id="3" name="Rectangle 2"/>
          <p:cNvSpPr/>
          <p:nvPr/>
        </p:nvSpPr>
        <p:spPr>
          <a:xfrm>
            <a:off x="2057400" y="76200"/>
            <a:ext cx="5334000" cy="609600"/>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800" b="1" dirty="0" smtClean="0">
                <a:solidFill>
                  <a:srgbClr val="C00000"/>
                </a:solidFill>
                <a:latin typeface="Times New Roman" panose="02020603050405020304" pitchFamily="18" charset="0"/>
                <a:cs typeface="Times New Roman" panose="02020603050405020304" pitchFamily="18" charset="0"/>
              </a:rPr>
              <a:t>Prochirality</a:t>
            </a:r>
            <a:endParaRPr lang="en-US" sz="2800" b="1" dirty="0">
              <a:solidFill>
                <a:srgbClr val="C00000"/>
              </a:solidFill>
              <a:latin typeface="Times New Roman" panose="02020603050405020304" pitchFamily="18" charset="0"/>
              <a:cs typeface="Times New Roman" panose="02020603050405020304" pitchFamily="18" charset="0"/>
            </a:endParaRPr>
          </a:p>
        </p:txBody>
      </p:sp>
      <p:pic>
        <p:nvPicPr>
          <p:cNvPr id="614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295400" y="3636818"/>
            <a:ext cx="6241742" cy="25284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 y="228600"/>
            <a:ext cx="8915400" cy="2133600"/>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lnSpc>
                <a:spcPct val="150000"/>
              </a:lnSpc>
            </a:pPr>
            <a:r>
              <a:rPr lang="en-US" sz="3200" dirty="0">
                <a:solidFill>
                  <a:srgbClr val="C00000"/>
                </a:solidFill>
                <a:latin typeface="Times New Roman" panose="02020603050405020304" pitchFamily="18" charset="0"/>
                <a:cs typeface="Times New Roman" panose="02020603050405020304" pitchFamily="18" charset="0"/>
              </a:rPr>
              <a:t>p</a:t>
            </a:r>
            <a:r>
              <a:rPr lang="en-US" sz="3200" dirty="0" smtClean="0">
                <a:solidFill>
                  <a:srgbClr val="C00000"/>
                </a:solidFill>
                <a:latin typeface="Times New Roman" panose="02020603050405020304" pitchFamily="18" charset="0"/>
                <a:cs typeface="Times New Roman" panose="02020603050405020304" pitchFamily="18" charset="0"/>
              </a:rPr>
              <a:t>ro-R &amp; pro-S</a:t>
            </a:r>
            <a:endParaRPr lang="en-US" sz="3200" dirty="0" smtClean="0">
              <a:solidFill>
                <a:srgbClr val="C00000"/>
              </a:solidFill>
              <a:latin typeface="Times New Roman" panose="02020603050405020304" pitchFamily="18" charset="0"/>
              <a:cs typeface="Times New Roman" panose="02020603050405020304" pitchFamily="18" charset="0"/>
            </a:endParaRPr>
          </a:p>
          <a:p>
            <a:pPr algn="just">
              <a:lnSpc>
                <a:spcPct val="150000"/>
              </a:lnSpc>
            </a:pPr>
            <a:r>
              <a:rPr lang="en-US" sz="2000" dirty="0" smtClean="0">
                <a:latin typeface="Times New Roman" panose="02020603050405020304" pitchFamily="18" charset="0"/>
                <a:cs typeface="Times New Roman" panose="02020603050405020304" pitchFamily="18" charset="0"/>
              </a:rPr>
              <a:t>Of </a:t>
            </a:r>
            <a:r>
              <a:rPr lang="en-US" sz="2000" dirty="0">
                <a:latin typeface="Times New Roman" panose="02020603050405020304" pitchFamily="18" charset="0"/>
                <a:cs typeface="Times New Roman" panose="02020603050405020304" pitchFamily="18" charset="0"/>
              </a:rPr>
              <a:t>the two identical atoms in the </a:t>
            </a:r>
            <a:r>
              <a:rPr lang="en-US" sz="2000" dirty="0" smtClean="0">
                <a:latin typeface="Times New Roman" panose="02020603050405020304" pitchFamily="18" charset="0"/>
                <a:cs typeface="Times New Roman" panose="02020603050405020304" pitchFamily="18" charset="0"/>
              </a:rPr>
              <a:t>original compound</a:t>
            </a:r>
            <a:r>
              <a:rPr lang="en-US" sz="2000" dirty="0">
                <a:latin typeface="Times New Roman" panose="02020603050405020304" pitchFamily="18" charset="0"/>
                <a:cs typeface="Times New Roman" panose="02020603050405020304" pitchFamily="18" charset="0"/>
              </a:rPr>
              <a:t>, the atom whose replacement leads to an R chirality center is said to be </a:t>
            </a:r>
            <a:r>
              <a:rPr lang="en-US" sz="2000" b="1" dirty="0">
                <a:latin typeface="Times New Roman" panose="02020603050405020304" pitchFamily="18" charset="0"/>
                <a:cs typeface="Times New Roman" panose="02020603050405020304" pitchFamily="18" charset="0"/>
              </a:rPr>
              <a:t>pro-R </a:t>
            </a:r>
            <a:r>
              <a:rPr lang="en-US" sz="2000" dirty="0">
                <a:latin typeface="Times New Roman" panose="02020603050405020304" pitchFamily="18" charset="0"/>
                <a:cs typeface="Times New Roman" panose="02020603050405020304" pitchFamily="18" charset="0"/>
              </a:rPr>
              <a:t>and the atom </a:t>
            </a:r>
            <a:r>
              <a:rPr lang="en-US" sz="2000" dirty="0" smtClean="0">
                <a:latin typeface="Times New Roman" panose="02020603050405020304" pitchFamily="18" charset="0"/>
                <a:cs typeface="Times New Roman" panose="02020603050405020304" pitchFamily="18" charset="0"/>
              </a:rPr>
              <a:t>whose replacement </a:t>
            </a:r>
            <a:r>
              <a:rPr lang="en-US" sz="2000" dirty="0">
                <a:latin typeface="Times New Roman" panose="02020603050405020304" pitchFamily="18" charset="0"/>
                <a:cs typeface="Times New Roman" panose="02020603050405020304" pitchFamily="18" charset="0"/>
              </a:rPr>
              <a:t>leads to an S chirality center is </a:t>
            </a:r>
            <a:r>
              <a:rPr lang="en-US" sz="2000" b="1" dirty="0">
                <a:latin typeface="Times New Roman" panose="02020603050405020304" pitchFamily="18" charset="0"/>
                <a:cs typeface="Times New Roman" panose="02020603050405020304" pitchFamily="18" charset="0"/>
              </a:rPr>
              <a:t>pro-S</a:t>
            </a:r>
            <a:r>
              <a:rPr lang="en-US" sz="2000" dirty="0">
                <a:latin typeface="Times New Roman" panose="02020603050405020304" pitchFamily="18" charset="0"/>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p:txBody>
      </p:sp>
      <p:pic>
        <p:nvPicPr>
          <p:cNvPr id="717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10571" y="2743200"/>
            <a:ext cx="8799057" cy="2281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6200" y="152400"/>
            <a:ext cx="8991600" cy="2590800"/>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lnSpc>
                <a:spcPct val="150000"/>
              </a:lnSpc>
            </a:pPr>
            <a:r>
              <a:rPr lang="en-US" sz="2000" b="1" dirty="0" smtClean="0">
                <a:solidFill>
                  <a:srgbClr val="C00000"/>
                </a:solidFill>
                <a:latin typeface="Times New Roman" panose="02020603050405020304" pitchFamily="18" charset="0"/>
                <a:cs typeface="Times New Roman" panose="02020603050405020304" pitchFamily="18" charset="0"/>
              </a:rPr>
              <a:t>Biological Prochirality</a:t>
            </a:r>
            <a:endParaRPr lang="en-US" sz="2000" b="1" dirty="0" smtClean="0">
              <a:solidFill>
                <a:srgbClr val="C00000"/>
              </a:solidFill>
              <a:latin typeface="Times New Roman" panose="02020603050405020304" pitchFamily="18" charset="0"/>
              <a:cs typeface="Times New Roman" panose="02020603050405020304" pitchFamily="18" charset="0"/>
            </a:endParaRPr>
          </a:p>
          <a:p>
            <a:pPr algn="just">
              <a:lnSpc>
                <a:spcPct val="150000"/>
              </a:lnSpc>
            </a:pPr>
            <a:r>
              <a:rPr lang="en-US" sz="2000" dirty="0" smtClean="0">
                <a:latin typeface="Times New Roman" panose="02020603050405020304" pitchFamily="18" charset="0"/>
                <a:cs typeface="Times New Roman" panose="02020603050405020304" pitchFamily="18" charset="0"/>
              </a:rPr>
              <a:t>A </a:t>
            </a:r>
            <a:r>
              <a:rPr lang="en-US" sz="2000" dirty="0">
                <a:latin typeface="Times New Roman" panose="02020603050405020304" pitchFamily="18" charset="0"/>
                <a:cs typeface="Times New Roman" panose="02020603050405020304" pitchFamily="18" charset="0"/>
              </a:rPr>
              <a:t>large number of biological reactions involve prochiral compounds. One of the steps in the citric acid </a:t>
            </a:r>
            <a:r>
              <a:rPr lang="en-US" sz="2000" dirty="0" smtClean="0">
                <a:latin typeface="Times New Roman" panose="02020603050405020304" pitchFamily="18" charset="0"/>
                <a:cs typeface="Times New Roman" panose="02020603050405020304" pitchFamily="18" charset="0"/>
              </a:rPr>
              <a:t>cycle by </a:t>
            </a:r>
            <a:r>
              <a:rPr lang="en-US" sz="2000" dirty="0">
                <a:latin typeface="Times New Roman" panose="02020603050405020304" pitchFamily="18" charset="0"/>
                <a:cs typeface="Times New Roman" panose="02020603050405020304" pitchFamily="18" charset="0"/>
              </a:rPr>
              <a:t>which food is metabolized, for instance, is the addition of H</a:t>
            </a:r>
            <a:r>
              <a:rPr lang="en-US" sz="2000" baseline="-25000" dirty="0">
                <a:latin typeface="Times New Roman" panose="02020603050405020304" pitchFamily="18" charset="0"/>
                <a:cs typeface="Times New Roman" panose="02020603050405020304" pitchFamily="18" charset="0"/>
              </a:rPr>
              <a:t>2</a:t>
            </a:r>
            <a:r>
              <a:rPr lang="en-US" sz="2000" dirty="0">
                <a:latin typeface="Times New Roman" panose="02020603050405020304" pitchFamily="18" charset="0"/>
                <a:cs typeface="Times New Roman" panose="02020603050405020304" pitchFamily="18" charset="0"/>
              </a:rPr>
              <a:t>O to </a:t>
            </a:r>
            <a:r>
              <a:rPr lang="en-US" sz="2000" dirty="0" err="1">
                <a:latin typeface="Times New Roman" panose="02020603050405020304" pitchFamily="18" charset="0"/>
                <a:cs typeface="Times New Roman" panose="02020603050405020304" pitchFamily="18" charset="0"/>
              </a:rPr>
              <a:t>fumarate</a:t>
            </a:r>
            <a:r>
              <a:rPr lang="en-US" sz="2000" dirty="0">
                <a:latin typeface="Times New Roman" panose="02020603050405020304" pitchFamily="18" charset="0"/>
                <a:cs typeface="Times New Roman" panose="02020603050405020304" pitchFamily="18" charset="0"/>
              </a:rPr>
              <a:t> to give malate. Addition of −</a:t>
            </a:r>
            <a:r>
              <a:rPr lang="en-US" sz="2000" dirty="0" smtClean="0">
                <a:latin typeface="Times New Roman" panose="02020603050405020304" pitchFamily="18" charset="0"/>
                <a:cs typeface="Times New Roman" panose="02020603050405020304" pitchFamily="18" charset="0"/>
              </a:rPr>
              <a:t>OH occurs </a:t>
            </a:r>
            <a:r>
              <a:rPr lang="en-US" sz="2000" dirty="0">
                <a:latin typeface="Times New Roman" panose="02020603050405020304" pitchFamily="18" charset="0"/>
                <a:cs typeface="Times New Roman" panose="02020603050405020304" pitchFamily="18" charset="0"/>
              </a:rPr>
              <a:t>on the Si face of a </a:t>
            </a:r>
            <a:r>
              <a:rPr lang="en-US" sz="2000" dirty="0" err="1">
                <a:latin typeface="Times New Roman" panose="02020603050405020304" pitchFamily="18" charset="0"/>
                <a:cs typeface="Times New Roman" panose="02020603050405020304" pitchFamily="18" charset="0"/>
              </a:rPr>
              <a:t>fumarate</a:t>
            </a:r>
            <a:r>
              <a:rPr lang="en-US" sz="2000" dirty="0">
                <a:latin typeface="Times New Roman" panose="02020603050405020304" pitchFamily="18" charset="0"/>
                <a:cs typeface="Times New Roman" panose="02020603050405020304" pitchFamily="18" charset="0"/>
              </a:rPr>
              <a:t> carbon and gives (S)-malate as product.</a:t>
            </a:r>
            <a:endParaRPr lang="en-US" sz="2000" dirty="0">
              <a:latin typeface="Times New Roman" panose="02020603050405020304" pitchFamily="18" charset="0"/>
              <a:cs typeface="Times New Roman" panose="02020603050405020304" pitchFamily="18" charset="0"/>
            </a:endParaRPr>
          </a:p>
        </p:txBody>
      </p:sp>
      <p:pic>
        <p:nvPicPr>
          <p:cNvPr id="819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219200" y="3241964"/>
            <a:ext cx="6461125" cy="2514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 y="76200"/>
            <a:ext cx="8915400" cy="2286000"/>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just">
              <a:lnSpc>
                <a:spcPct val="150000"/>
              </a:lnSpc>
            </a:pPr>
            <a:r>
              <a:rPr lang="en-US" sz="2000" dirty="0">
                <a:latin typeface="Times New Roman" panose="02020603050405020304" pitchFamily="18" charset="0"/>
                <a:cs typeface="Times New Roman" panose="02020603050405020304" pitchFamily="18" charset="0"/>
              </a:rPr>
              <a:t>As another example, studies with deuterium-labeled substrates have shown that the reaction of ethanol with </a:t>
            </a:r>
            <a:r>
              <a:rPr lang="en-US" sz="2000" dirty="0" smtClean="0">
                <a:latin typeface="Times New Roman" panose="02020603050405020304" pitchFamily="18" charset="0"/>
                <a:cs typeface="Times New Roman" panose="02020603050405020304" pitchFamily="18" charset="0"/>
              </a:rPr>
              <a:t>the coenzyme </a:t>
            </a:r>
            <a:r>
              <a:rPr lang="en-US" sz="2000" dirty="0">
                <a:latin typeface="Times New Roman" panose="02020603050405020304" pitchFamily="18" charset="0"/>
                <a:cs typeface="Times New Roman" panose="02020603050405020304" pitchFamily="18" charset="0"/>
              </a:rPr>
              <a:t>nicotinamide adenine dinucleotide (NAD</a:t>
            </a:r>
            <a:r>
              <a:rPr lang="en-US" sz="2000" baseline="30000" dirty="0">
                <a:latin typeface="Times New Roman" panose="02020603050405020304" pitchFamily="18" charset="0"/>
                <a:cs typeface="Times New Roman" panose="02020603050405020304" pitchFamily="18" charset="0"/>
              </a:rPr>
              <a:t>+</a:t>
            </a:r>
            <a:r>
              <a:rPr lang="en-US" sz="2000" dirty="0">
                <a:latin typeface="Times New Roman" panose="02020603050405020304" pitchFamily="18" charset="0"/>
                <a:cs typeface="Times New Roman" panose="02020603050405020304" pitchFamily="18" charset="0"/>
              </a:rPr>
              <a:t>), catalyzed by yeast alcohol dehydrogenase, occurs </a:t>
            </a:r>
            <a:r>
              <a:rPr lang="en-US" sz="2000" dirty="0" smtClean="0">
                <a:latin typeface="Times New Roman" panose="02020603050405020304" pitchFamily="18" charset="0"/>
                <a:cs typeface="Times New Roman" panose="02020603050405020304" pitchFamily="18" charset="0"/>
              </a:rPr>
              <a:t>with exclusive </a:t>
            </a:r>
            <a:r>
              <a:rPr lang="en-US" sz="2000" dirty="0">
                <a:latin typeface="Times New Roman" panose="02020603050405020304" pitchFamily="18" charset="0"/>
                <a:cs typeface="Times New Roman" panose="02020603050405020304" pitchFamily="18" charset="0"/>
              </a:rPr>
              <a:t>removal of the pro-R hydrogen from ethanol and with addition only to the Re face of NAD</a:t>
            </a:r>
            <a:r>
              <a:rPr lang="en-US" sz="2000" baseline="30000" dirty="0">
                <a:latin typeface="Times New Roman" panose="02020603050405020304" pitchFamily="18" charset="0"/>
                <a:cs typeface="Times New Roman" panose="02020603050405020304" pitchFamily="18" charset="0"/>
              </a:rPr>
              <a:t>+</a:t>
            </a:r>
            <a:r>
              <a:rPr lang="en-US" sz="2000" dirty="0">
                <a:latin typeface="Times New Roman" panose="02020603050405020304" pitchFamily="18" charset="0"/>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p:txBody>
      </p:sp>
      <p:pic>
        <p:nvPicPr>
          <p:cNvPr id="9218"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96995" y="3276600"/>
            <a:ext cx="8791575" cy="2562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228600"/>
            <a:ext cx="8382000" cy="609600"/>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800" b="1" dirty="0" smtClean="0">
                <a:solidFill>
                  <a:srgbClr val="C00000"/>
                </a:solidFill>
                <a:latin typeface="Times New Roman" panose="02020603050405020304" pitchFamily="18" charset="0"/>
                <a:cs typeface="Times New Roman" panose="02020603050405020304" pitchFamily="18" charset="0"/>
              </a:rPr>
              <a:t>Topicity In Stereochemistry</a:t>
            </a:r>
            <a:endParaRPr lang="en-US" sz="2800" b="1" dirty="0">
              <a:solidFill>
                <a:srgbClr val="C00000"/>
              </a:solidFill>
              <a:latin typeface="Times New Roman" panose="02020603050405020304" pitchFamily="18" charset="0"/>
              <a:cs typeface="Times New Roman" panose="02020603050405020304" pitchFamily="18" charset="0"/>
            </a:endParaRPr>
          </a:p>
        </p:txBody>
      </p:sp>
      <p:sp>
        <p:nvSpPr>
          <p:cNvPr id="3" name="Rectangle 2"/>
          <p:cNvSpPr/>
          <p:nvPr/>
        </p:nvSpPr>
        <p:spPr>
          <a:xfrm>
            <a:off x="304800" y="949036"/>
            <a:ext cx="8610600" cy="1828800"/>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just">
              <a:lnSpc>
                <a:spcPct val="150000"/>
              </a:lnSpc>
            </a:pPr>
            <a:r>
              <a:rPr lang="en-US" sz="2000" dirty="0">
                <a:latin typeface="Times New Roman" panose="02020603050405020304" pitchFamily="18" charset="0"/>
                <a:cs typeface="Times New Roman" panose="02020603050405020304" pitchFamily="18" charset="0"/>
              </a:rPr>
              <a:t>In stereochemistry, </a:t>
            </a:r>
            <a:r>
              <a:rPr lang="en-US" sz="2000" b="1" dirty="0">
                <a:solidFill>
                  <a:srgbClr val="002060"/>
                </a:solidFill>
                <a:latin typeface="Times New Roman" panose="02020603050405020304" pitchFamily="18" charset="0"/>
                <a:cs typeface="Times New Roman" panose="02020603050405020304" pitchFamily="18" charset="0"/>
              </a:rPr>
              <a:t>topicity</a:t>
            </a:r>
            <a:r>
              <a:rPr lang="en-US" sz="2000" dirty="0">
                <a:latin typeface="Times New Roman" panose="02020603050405020304" pitchFamily="18" charset="0"/>
                <a:cs typeface="Times New Roman" panose="02020603050405020304" pitchFamily="18" charset="0"/>
              </a:rPr>
              <a:t> is the stereochemical relationship between substituents and the structure to which they are attached. Depending on the relationship, such groups can be </a:t>
            </a:r>
            <a:r>
              <a:rPr lang="en-US" sz="2000" i="1" dirty="0">
                <a:latin typeface="Times New Roman" panose="02020603050405020304" pitchFamily="18" charset="0"/>
                <a:cs typeface="Times New Roman" panose="02020603050405020304" pitchFamily="18" charset="0"/>
              </a:rPr>
              <a:t>heterotopic</a:t>
            </a:r>
            <a:r>
              <a:rPr lang="en-US" sz="2000" dirty="0">
                <a:latin typeface="Times New Roman" panose="02020603050405020304" pitchFamily="18" charset="0"/>
                <a:cs typeface="Times New Roman" panose="02020603050405020304" pitchFamily="18" charset="0"/>
              </a:rPr>
              <a:t>, </a:t>
            </a:r>
            <a:r>
              <a:rPr lang="en-US" sz="2000" i="1" dirty="0">
                <a:latin typeface="Times New Roman" panose="02020603050405020304" pitchFamily="18" charset="0"/>
                <a:cs typeface="Times New Roman" panose="02020603050405020304" pitchFamily="18" charset="0"/>
              </a:rPr>
              <a:t>homotopic</a:t>
            </a:r>
            <a:r>
              <a:rPr lang="en-US" sz="2000" dirty="0">
                <a:latin typeface="Times New Roman" panose="02020603050405020304" pitchFamily="18" charset="0"/>
                <a:cs typeface="Times New Roman" panose="02020603050405020304" pitchFamily="18" charset="0"/>
              </a:rPr>
              <a:t>, </a:t>
            </a:r>
            <a:r>
              <a:rPr lang="en-US" sz="2000" i="1" dirty="0">
                <a:latin typeface="Times New Roman" panose="02020603050405020304" pitchFamily="18" charset="0"/>
                <a:cs typeface="Times New Roman" panose="02020603050405020304" pitchFamily="18" charset="0"/>
              </a:rPr>
              <a:t>enantiotopic</a:t>
            </a:r>
            <a:r>
              <a:rPr lang="en-US" sz="2000" dirty="0">
                <a:latin typeface="Times New Roman" panose="02020603050405020304" pitchFamily="18" charset="0"/>
                <a:cs typeface="Times New Roman" panose="02020603050405020304" pitchFamily="18" charset="0"/>
              </a:rPr>
              <a:t>, or </a:t>
            </a:r>
            <a:r>
              <a:rPr lang="en-US" sz="2000" i="1" dirty="0" smtClean="0">
                <a:latin typeface="Times New Roman" panose="02020603050405020304" pitchFamily="18" charset="0"/>
                <a:cs typeface="Times New Roman" panose="02020603050405020304" pitchFamily="18" charset="0"/>
              </a:rPr>
              <a:t>diastereotopic.</a:t>
            </a:r>
            <a:endParaRPr lang="en-US" sz="2000" dirty="0">
              <a:latin typeface="Times New Roman" panose="02020603050405020304" pitchFamily="18" charset="0"/>
              <a:cs typeface="Times New Roman" panose="02020603050405020304" pitchFamily="18" charset="0"/>
            </a:endParaRPr>
          </a:p>
        </p:txBody>
      </p:sp>
      <p:pic>
        <p:nvPicPr>
          <p:cNvPr id="10242"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590800" y="2514599"/>
            <a:ext cx="5334000" cy="42908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04800" y="304800"/>
            <a:ext cx="8219910" cy="6029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04800" y="1371600"/>
            <a:ext cx="8324850" cy="3657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09575" y="1466850"/>
            <a:ext cx="8324850" cy="3924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09575" y="1562100"/>
            <a:ext cx="8324850" cy="3733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09575" y="1438275"/>
            <a:ext cx="8324850" cy="3981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 y="228600"/>
            <a:ext cx="8839200" cy="2895600"/>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just">
              <a:lnSpc>
                <a:spcPct val="150000"/>
              </a:lnSpc>
            </a:pPr>
            <a:r>
              <a:rPr lang="en-US" sz="2000" dirty="0">
                <a:latin typeface="Times New Roman" panose="02020603050405020304" pitchFamily="18" charset="0"/>
                <a:cs typeface="Times New Roman" panose="02020603050405020304" pitchFamily="18" charset="0"/>
              </a:rPr>
              <a:t>In this case, they are still chemically not equivalent but specifically, these are a pair of (constitutionally) </a:t>
            </a:r>
            <a:r>
              <a:rPr lang="en-US" sz="2000" b="1" dirty="0">
                <a:latin typeface="Times New Roman" panose="02020603050405020304" pitchFamily="18" charset="0"/>
                <a:cs typeface="Times New Roman" panose="02020603050405020304" pitchFamily="18" charset="0"/>
              </a:rPr>
              <a:t>heterotopic protons.</a:t>
            </a:r>
            <a:endParaRPr lang="en-US" sz="2000" dirty="0">
              <a:latin typeface="Times New Roman" panose="02020603050405020304" pitchFamily="18" charset="0"/>
              <a:cs typeface="Times New Roman" panose="02020603050405020304" pitchFamily="18" charset="0"/>
            </a:endParaRPr>
          </a:p>
          <a:p>
            <a:pPr algn="just">
              <a:lnSpc>
                <a:spcPct val="150000"/>
              </a:lnSpc>
            </a:pPr>
            <a:r>
              <a:rPr lang="en-US" sz="2000" dirty="0">
                <a:latin typeface="Times New Roman" panose="02020603050405020304" pitchFamily="18" charset="0"/>
                <a:cs typeface="Times New Roman" panose="02020603050405020304" pitchFamily="18" charset="0"/>
              </a:rPr>
              <a:t>For example, replacing the following two protons with another group gives two constitutional isomers, which is why they are called </a:t>
            </a:r>
            <a:r>
              <a:rPr lang="en-US" sz="2000" b="1" dirty="0">
                <a:latin typeface="Times New Roman" panose="02020603050405020304" pitchFamily="18" charset="0"/>
                <a:cs typeface="Times New Roman" panose="02020603050405020304" pitchFamily="18" charset="0"/>
              </a:rPr>
              <a:t>constitutionally heterotopic</a:t>
            </a:r>
            <a:r>
              <a:rPr lang="en-US" sz="2000" dirty="0">
                <a:latin typeface="Times New Roman" panose="02020603050405020304" pitchFamily="18" charset="0"/>
                <a:cs typeface="Times New Roman" panose="02020603050405020304" pitchFamily="18" charset="0"/>
              </a:rPr>
              <a:t> or simply heterotopic </a:t>
            </a:r>
            <a:r>
              <a:rPr lang="en-US" sz="2000" dirty="0" smtClean="0">
                <a:latin typeface="Times New Roman" panose="02020603050405020304" pitchFamily="18" charset="0"/>
                <a:cs typeface="Times New Roman" panose="02020603050405020304" pitchFamily="18" charset="0"/>
              </a:rPr>
              <a:t>protons.</a:t>
            </a:r>
            <a:endParaRPr lang="en-US" sz="2000" dirty="0">
              <a:latin typeface="Times New Roman" panose="02020603050405020304" pitchFamily="18" charset="0"/>
              <a:cs typeface="Times New Roman" panose="02020603050405020304" pitchFamily="18" charset="0"/>
            </a:endParaRPr>
          </a:p>
        </p:txBody>
      </p:sp>
      <p:pic>
        <p:nvPicPr>
          <p:cNvPr id="1638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09600" y="3581400"/>
            <a:ext cx="8078278" cy="2209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3909" y="228600"/>
            <a:ext cx="8839200" cy="5867400"/>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just"/>
            <a:r>
              <a:rPr lang="en-US" sz="2800" b="1" dirty="0" smtClean="0">
                <a:latin typeface="Times New Roman" panose="02020603050405020304" pitchFamily="18" charset="0"/>
                <a:cs typeface="Times New Roman" panose="02020603050405020304" pitchFamily="18" charset="0"/>
              </a:rPr>
              <a:t>Hetero topic Ligands</a:t>
            </a:r>
            <a:endParaRPr lang="en-US" sz="2800" b="1" dirty="0" smtClean="0">
              <a:latin typeface="Times New Roman" panose="02020603050405020304" pitchFamily="18" charset="0"/>
              <a:cs typeface="Times New Roman" panose="02020603050405020304" pitchFamily="18" charset="0"/>
            </a:endParaRPr>
          </a:p>
          <a:p>
            <a:pPr algn="just">
              <a:lnSpc>
                <a:spcPct val="150000"/>
              </a:lnSpc>
            </a:pPr>
            <a:r>
              <a:rPr lang="en-US" sz="2000" dirty="0" smtClean="0">
                <a:latin typeface="Times New Roman" panose="02020603050405020304" pitchFamily="18" charset="0"/>
                <a:cs typeface="Times New Roman" panose="02020603050405020304" pitchFamily="18" charset="0"/>
              </a:rPr>
              <a:t>Two or more ligands that are identical when viewed in isolation but individual replacement of two identical ligands by another ligand give rise to two structurally different (isomeric) molecules, then they are called hetero topic ligands.</a:t>
            </a:r>
            <a:endParaRPr lang="en-US" sz="2000" dirty="0" smtClean="0">
              <a:latin typeface="Times New Roman" panose="02020603050405020304" pitchFamily="18" charset="0"/>
              <a:cs typeface="Times New Roman" panose="02020603050405020304" pitchFamily="18" charset="0"/>
            </a:endParaRPr>
          </a:p>
          <a:p>
            <a:pPr algn="just">
              <a:lnSpc>
                <a:spcPct val="150000"/>
              </a:lnSpc>
            </a:pPr>
            <a:r>
              <a:rPr lang="en-US" sz="2000" dirty="0" smtClean="0">
                <a:latin typeface="Times New Roman" panose="02020603050405020304" pitchFamily="18" charset="0"/>
                <a:cs typeface="Times New Roman" panose="02020603050405020304" pitchFamily="18" charset="0"/>
              </a:rPr>
              <a:t>Constitutionally Hetero topic ligands</a:t>
            </a:r>
            <a:endParaRPr lang="en-US" sz="2000" dirty="0" smtClean="0">
              <a:latin typeface="Times New Roman" panose="02020603050405020304" pitchFamily="18" charset="0"/>
              <a:cs typeface="Times New Roman" panose="02020603050405020304" pitchFamily="18" charset="0"/>
            </a:endParaRPr>
          </a:p>
          <a:p>
            <a:pPr algn="just">
              <a:lnSpc>
                <a:spcPct val="150000"/>
              </a:lnSpc>
            </a:pPr>
            <a:endParaRPr lang="en-US" sz="2000" dirty="0" smtClean="0">
              <a:latin typeface="Times New Roman" panose="02020603050405020304" pitchFamily="18" charset="0"/>
              <a:cs typeface="Times New Roman" panose="02020603050405020304" pitchFamily="18" charset="0"/>
            </a:endParaRPr>
          </a:p>
          <a:p>
            <a:pPr algn="just">
              <a:lnSpc>
                <a:spcPct val="150000"/>
              </a:lnSpc>
            </a:pPr>
            <a:r>
              <a:rPr lang="en-US" sz="2800" b="1" dirty="0" smtClean="0">
                <a:latin typeface="Times New Roman" panose="02020603050405020304" pitchFamily="18" charset="0"/>
                <a:cs typeface="Times New Roman" panose="02020603050405020304" pitchFamily="18" charset="0"/>
              </a:rPr>
              <a:t>Constitutionally </a:t>
            </a:r>
            <a:r>
              <a:rPr lang="en-US" sz="2800" b="1" dirty="0">
                <a:latin typeface="Times New Roman" panose="02020603050405020304" pitchFamily="18" charset="0"/>
                <a:cs typeface="Times New Roman" panose="02020603050405020304" pitchFamily="18" charset="0"/>
              </a:rPr>
              <a:t>Hetero topic </a:t>
            </a:r>
            <a:r>
              <a:rPr lang="en-US" sz="2800" b="1" dirty="0" smtClean="0">
                <a:latin typeface="Times New Roman" panose="02020603050405020304" pitchFamily="18" charset="0"/>
                <a:cs typeface="Times New Roman" panose="02020603050405020304" pitchFamily="18" charset="0"/>
              </a:rPr>
              <a:t>Ligands</a:t>
            </a:r>
            <a:endParaRPr lang="en-US" sz="2000" dirty="0" smtClean="0">
              <a:latin typeface="Times New Roman" panose="02020603050405020304" pitchFamily="18" charset="0"/>
              <a:cs typeface="Times New Roman" panose="02020603050405020304" pitchFamily="18" charset="0"/>
            </a:endParaRPr>
          </a:p>
          <a:p>
            <a:pPr algn="just">
              <a:lnSpc>
                <a:spcPct val="150000"/>
              </a:lnSpc>
            </a:pPr>
            <a:r>
              <a:rPr lang="en-US" sz="2000" dirty="0" smtClean="0">
                <a:latin typeface="Times New Roman" panose="02020603050405020304" pitchFamily="18" charset="0"/>
                <a:cs typeface="Times New Roman" panose="02020603050405020304" pitchFamily="18" charset="0"/>
              </a:rPr>
              <a:t>Two or more ligands in a molecule that are identical on individual replacement by another ligand give rise to two molecules that constitutional isomer of each other, then the original two ligands are said to be constitutionally heterotopic ligands</a:t>
            </a:r>
            <a:endParaRPr lang="en-US" sz="2000" dirty="0" smtClean="0">
              <a:latin typeface="Times New Roman" panose="02020603050405020304" pitchFamily="18" charset="0"/>
              <a:cs typeface="Times New Roman" panose="02020603050405020304" pitchFamily="18" charset="0"/>
            </a:endParaRPr>
          </a:p>
          <a:p>
            <a:pPr algn="just"/>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14400" y="533400"/>
            <a:ext cx="7589431" cy="5638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022764" y="228600"/>
            <a:ext cx="5191125" cy="63277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7709" y="180109"/>
            <a:ext cx="8991600" cy="1981200"/>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just"/>
            <a:r>
              <a:rPr lang="en-US" sz="2800" dirty="0" smtClean="0">
                <a:latin typeface="Times New Roman" panose="02020603050405020304" pitchFamily="18" charset="0"/>
                <a:cs typeface="Times New Roman" panose="02020603050405020304" pitchFamily="18" charset="0"/>
              </a:rPr>
              <a:t>Stereo Chemically heterotopic</a:t>
            </a:r>
            <a:endParaRPr lang="en-US" sz="2800" dirty="0" smtClean="0">
              <a:latin typeface="Times New Roman" panose="02020603050405020304" pitchFamily="18" charset="0"/>
              <a:cs typeface="Times New Roman" panose="02020603050405020304" pitchFamily="18" charset="0"/>
            </a:endParaRPr>
          </a:p>
          <a:p>
            <a:pPr algn="just">
              <a:lnSpc>
                <a:spcPct val="150000"/>
              </a:lnSpc>
            </a:pPr>
            <a:r>
              <a:rPr lang="en-US" sz="2000" dirty="0" smtClean="0">
                <a:latin typeface="Times New Roman" panose="02020603050405020304" pitchFamily="18" charset="0"/>
                <a:cs typeface="Times New Roman" panose="02020603050405020304" pitchFamily="18" charset="0"/>
              </a:rPr>
              <a:t>Two or more ligands in a molecule that are identical on individual replacement by another ligand give rise to that are enantiomers  then the original ligands are said to be enantiotopic ligands.</a:t>
            </a:r>
            <a:endParaRPr lang="en-US" sz="2000" dirty="0">
              <a:latin typeface="Times New Roman" panose="02020603050405020304" pitchFamily="18" charset="0"/>
              <a:cs typeface="Times New Roman" panose="02020603050405020304" pitchFamily="18" charset="0"/>
            </a:endParaRPr>
          </a:p>
        </p:txBody>
      </p:sp>
      <p:pic>
        <p:nvPicPr>
          <p:cNvPr id="4099"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57200" y="2667000"/>
            <a:ext cx="7810500" cy="312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524000" y="493568"/>
            <a:ext cx="6180265" cy="54500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219200" y="457200"/>
            <a:ext cx="6373150" cy="5562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44236" y="152400"/>
            <a:ext cx="7848600" cy="6408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 y="152400"/>
            <a:ext cx="8839200" cy="1828800"/>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just"/>
            <a:r>
              <a:rPr lang="en-US" sz="2800" b="1" dirty="0" smtClean="0">
                <a:latin typeface="Times New Roman" panose="02020603050405020304" pitchFamily="18" charset="0"/>
                <a:cs typeface="Times New Roman" panose="02020603050405020304" pitchFamily="18" charset="0"/>
              </a:rPr>
              <a:t>Enantiotopic faces</a:t>
            </a:r>
            <a:endParaRPr lang="en-US" sz="2800" b="1" dirty="0" smtClean="0">
              <a:latin typeface="Times New Roman" panose="02020603050405020304" pitchFamily="18" charset="0"/>
              <a:cs typeface="Times New Roman" panose="02020603050405020304" pitchFamily="18" charset="0"/>
            </a:endParaRPr>
          </a:p>
          <a:p>
            <a:pPr algn="just"/>
            <a:r>
              <a:rPr lang="en-US" sz="2800" dirty="0" smtClean="0">
                <a:latin typeface="Times New Roman" panose="02020603050405020304" pitchFamily="18" charset="0"/>
                <a:cs typeface="Times New Roman" panose="02020603050405020304" pitchFamily="18" charset="0"/>
              </a:rPr>
              <a:t>Two faces of pi system or a double bond are enantiotopic if addition or either face gives enantiomeric product.</a:t>
            </a:r>
            <a:endParaRPr lang="en-US" sz="2800" dirty="0">
              <a:latin typeface="Times New Roman" panose="02020603050405020304" pitchFamily="18" charset="0"/>
              <a:cs typeface="Times New Roman" panose="02020603050405020304" pitchFamily="18" charset="0"/>
            </a:endParaRPr>
          </a:p>
        </p:txBody>
      </p:sp>
      <p:pic>
        <p:nvPicPr>
          <p:cNvPr id="7171"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94180" y="1967345"/>
            <a:ext cx="7355639" cy="4205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33400" y="571500"/>
            <a:ext cx="7954518" cy="544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04800" y="152400"/>
            <a:ext cx="8255000" cy="381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21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90799" y="3810000"/>
            <a:ext cx="4524375" cy="2324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4691" y="152400"/>
            <a:ext cx="8763000" cy="1752600"/>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just"/>
            <a:r>
              <a:rPr lang="en-US" sz="2400" dirty="0" smtClean="0">
                <a:latin typeface="Times New Roman" panose="02020603050405020304" pitchFamily="18" charset="0"/>
                <a:cs typeface="Times New Roman" panose="02020603050405020304" pitchFamily="18" charset="0"/>
              </a:rPr>
              <a:t>Diastereotopic Ligands</a:t>
            </a:r>
            <a:endParaRPr lang="en-US" sz="2400" dirty="0">
              <a:latin typeface="Times New Roman" panose="02020603050405020304" pitchFamily="18" charset="0"/>
              <a:cs typeface="Times New Roman" panose="02020603050405020304" pitchFamily="18" charset="0"/>
            </a:endParaRPr>
          </a:p>
          <a:p>
            <a:pPr algn="just">
              <a:lnSpc>
                <a:spcPct val="150000"/>
              </a:lnSpc>
            </a:pPr>
            <a:r>
              <a:rPr lang="en-US" dirty="0">
                <a:latin typeface="Times New Roman" panose="02020603050405020304" pitchFamily="18" charset="0"/>
                <a:cs typeface="Times New Roman" panose="02020603050405020304" pitchFamily="18" charset="0"/>
              </a:rPr>
              <a:t>Two or more ligands in a molecule that are identical on individual replacement by another ligand give rise to that are </a:t>
            </a:r>
            <a:r>
              <a:rPr lang="en-US" dirty="0" smtClean="0">
                <a:latin typeface="Times New Roman" panose="02020603050405020304" pitchFamily="18" charset="0"/>
                <a:cs typeface="Times New Roman" panose="02020603050405020304" pitchFamily="18" charset="0"/>
              </a:rPr>
              <a:t>diastereomers, </a:t>
            </a:r>
            <a:r>
              <a:rPr lang="en-US" dirty="0">
                <a:latin typeface="Times New Roman" panose="02020603050405020304" pitchFamily="18" charset="0"/>
                <a:cs typeface="Times New Roman" panose="02020603050405020304" pitchFamily="18" charset="0"/>
              </a:rPr>
              <a:t>then the original ligands are said to be enantiotopic ligands.</a:t>
            </a:r>
            <a:endParaRPr lang="en-US" dirty="0">
              <a:latin typeface="Times New Roman" panose="02020603050405020304" pitchFamily="18" charset="0"/>
              <a:cs typeface="Times New Roman" panose="02020603050405020304" pitchFamily="18" charset="0"/>
            </a:endParaRPr>
          </a:p>
        </p:txBody>
      </p:sp>
      <p:pic>
        <p:nvPicPr>
          <p:cNvPr id="10243"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447800" y="1911927"/>
            <a:ext cx="6477000" cy="4684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 y="152400"/>
            <a:ext cx="8915400" cy="1676400"/>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just">
              <a:lnSpc>
                <a:spcPct val="150000"/>
              </a:lnSpc>
            </a:pPr>
            <a:r>
              <a:rPr lang="en-US" sz="2000" b="1" dirty="0" smtClean="0">
                <a:latin typeface="Times New Roman" panose="02020603050405020304" pitchFamily="18" charset="0"/>
                <a:cs typeface="Times New Roman" panose="02020603050405020304" pitchFamily="18" charset="0"/>
              </a:rPr>
              <a:t>Diastereotopic </a:t>
            </a:r>
            <a:r>
              <a:rPr lang="en-US" sz="2000" b="1" dirty="0">
                <a:latin typeface="Times New Roman" panose="02020603050405020304" pitchFamily="18" charset="0"/>
                <a:cs typeface="Times New Roman" panose="02020603050405020304" pitchFamily="18" charset="0"/>
              </a:rPr>
              <a:t>faces</a:t>
            </a:r>
            <a:endParaRPr lang="en-US" sz="2000" b="1" dirty="0">
              <a:latin typeface="Times New Roman" panose="02020603050405020304" pitchFamily="18" charset="0"/>
              <a:cs typeface="Times New Roman" panose="02020603050405020304" pitchFamily="18" charset="0"/>
            </a:endParaRPr>
          </a:p>
          <a:p>
            <a:pPr algn="just">
              <a:lnSpc>
                <a:spcPct val="150000"/>
              </a:lnSpc>
            </a:pPr>
            <a:r>
              <a:rPr lang="en-US" sz="2000" dirty="0">
                <a:latin typeface="Times New Roman" panose="02020603050405020304" pitchFamily="18" charset="0"/>
                <a:cs typeface="Times New Roman" panose="02020603050405020304" pitchFamily="18" charset="0"/>
              </a:rPr>
              <a:t>Two faces of </a:t>
            </a:r>
            <a:r>
              <a:rPr lang="en-US" sz="2000" dirty="0" smtClean="0">
                <a:latin typeface="Times New Roman" panose="02020603050405020304" pitchFamily="18" charset="0"/>
                <a:cs typeface="Times New Roman" panose="02020603050405020304" pitchFamily="18" charset="0"/>
              </a:rPr>
              <a:t>carbonyl group adjacent to a stereo center upon addition reaction leads to diastereomers and process diastereotopic face.</a:t>
            </a:r>
            <a:endParaRPr lang="en-US" sz="2000" dirty="0"/>
          </a:p>
        </p:txBody>
      </p:sp>
      <p:pic>
        <p:nvPicPr>
          <p:cNvPr id="12291"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600200" y="2154382"/>
            <a:ext cx="6385148" cy="3505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52400" y="630382"/>
            <a:ext cx="8586642" cy="495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066800" y="242455"/>
            <a:ext cx="7086600" cy="5941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38174" y="76200"/>
            <a:ext cx="7634879" cy="312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5363"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06236" y="2971799"/>
            <a:ext cx="6061364" cy="36676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428750" y="533400"/>
            <a:ext cx="5734050" cy="5734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1"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57200" y="228600"/>
            <a:ext cx="8179266" cy="594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 y="152400"/>
            <a:ext cx="8839200" cy="6553200"/>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lnSpc>
                <a:spcPct val="150000"/>
              </a:lnSpc>
            </a:pPr>
            <a:r>
              <a:rPr lang="en-US" sz="3600" b="1" dirty="0">
                <a:solidFill>
                  <a:srgbClr val="FF0000"/>
                </a:solidFill>
                <a:latin typeface="Arial Black" panose="020B0A04020102020204" pitchFamily="34" charset="0"/>
                <a:cs typeface="Times New Roman" panose="02020603050405020304" pitchFamily="18" charset="0"/>
              </a:rPr>
              <a:t>Cellular respiration </a:t>
            </a:r>
            <a:endParaRPr lang="en-US" sz="3600" b="1" dirty="0" smtClean="0">
              <a:solidFill>
                <a:srgbClr val="FF0000"/>
              </a:solidFill>
              <a:latin typeface="Arial Black" panose="020B0A04020102020204" pitchFamily="34" charset="0"/>
              <a:cs typeface="Times New Roman" panose="02020603050405020304" pitchFamily="18" charset="0"/>
            </a:endParaRPr>
          </a:p>
          <a:p>
            <a:pPr algn="just">
              <a:lnSpc>
                <a:spcPct val="150000"/>
              </a:lnSpc>
            </a:pPr>
            <a:r>
              <a:rPr lang="en-US" sz="2400" b="1" dirty="0" smtClean="0">
                <a:solidFill>
                  <a:srgbClr val="00B050"/>
                </a:solidFill>
                <a:latin typeface="Times New Roman" panose="02020603050405020304" pitchFamily="18" charset="0"/>
                <a:cs typeface="Times New Roman" panose="02020603050405020304" pitchFamily="18" charset="0"/>
              </a:rPr>
              <a:t>Cellular </a:t>
            </a:r>
            <a:r>
              <a:rPr lang="en-US" sz="2400" b="1" dirty="0">
                <a:solidFill>
                  <a:srgbClr val="00B050"/>
                </a:solidFill>
                <a:latin typeface="Times New Roman" panose="02020603050405020304" pitchFamily="18" charset="0"/>
                <a:cs typeface="Times New Roman" panose="02020603050405020304" pitchFamily="18" charset="0"/>
              </a:rPr>
              <a:t>respiration</a:t>
            </a:r>
            <a:r>
              <a:rPr lang="en-US" sz="2400" dirty="0">
                <a:latin typeface="Times New Roman" panose="02020603050405020304" pitchFamily="18" charset="0"/>
                <a:cs typeface="Times New Roman" panose="02020603050405020304" pitchFamily="18" charset="0"/>
              </a:rPr>
              <a:t> is the process of oxidizing biological fuels using an inorganic electron acceptor, such as oxygen, to drive production of adenosine triphosphate (ATP), which stores chemical energy in a biologically accessible form</a:t>
            </a:r>
            <a:r>
              <a:rPr lang="en-US" sz="2400" dirty="0" smtClean="0">
                <a:latin typeface="Times New Roman" panose="02020603050405020304" pitchFamily="18" charset="0"/>
                <a:cs typeface="Times New Roman" panose="02020603050405020304" pitchFamily="18" charset="0"/>
              </a:rPr>
              <a:t>.</a:t>
            </a:r>
            <a:endParaRPr lang="en-US" sz="2400" dirty="0" smtClean="0">
              <a:latin typeface="Times New Roman" panose="02020603050405020304" pitchFamily="18" charset="0"/>
              <a:cs typeface="Times New Roman" panose="02020603050405020304" pitchFamily="18" charset="0"/>
            </a:endParaRPr>
          </a:p>
          <a:p>
            <a:pPr algn="just">
              <a:lnSpc>
                <a:spcPct val="150000"/>
              </a:lnSpc>
            </a:pPr>
            <a:r>
              <a:rPr lang="en-US" sz="2400" dirty="0" smtClean="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Cellular respiration may be described as a set of metabolic reactions and processes that take place in the cells to transfer chemical energy from </a:t>
            </a:r>
            <a:r>
              <a:rPr lang="en-US" sz="2400" dirty="0">
                <a:solidFill>
                  <a:srgbClr val="FF0000"/>
                </a:solidFill>
                <a:latin typeface="Times New Roman" panose="02020603050405020304" pitchFamily="18" charset="0"/>
                <a:cs typeface="Times New Roman" panose="02020603050405020304" pitchFamily="18" charset="0"/>
              </a:rPr>
              <a:t>nutrients</a:t>
            </a:r>
            <a:r>
              <a:rPr lang="en-US" sz="2400" dirty="0">
                <a:latin typeface="Times New Roman" panose="02020603050405020304" pitchFamily="18" charset="0"/>
                <a:cs typeface="Times New Roman" panose="02020603050405020304" pitchFamily="18" charset="0"/>
              </a:rPr>
              <a:t> to </a:t>
            </a:r>
            <a:r>
              <a:rPr lang="en-US" sz="2400" dirty="0">
                <a:solidFill>
                  <a:srgbClr val="FF0000"/>
                </a:solidFill>
                <a:latin typeface="Times New Roman" panose="02020603050405020304" pitchFamily="18" charset="0"/>
                <a:cs typeface="Times New Roman" panose="02020603050405020304" pitchFamily="18" charset="0"/>
              </a:rPr>
              <a:t>ATP, </a:t>
            </a:r>
            <a:r>
              <a:rPr lang="en-US" sz="2400" dirty="0">
                <a:latin typeface="Times New Roman" panose="02020603050405020304" pitchFamily="18" charset="0"/>
                <a:cs typeface="Times New Roman" panose="02020603050405020304" pitchFamily="18" charset="0"/>
              </a:rPr>
              <a:t>with the flow of electrons to an electron acceptor, and then release waste </a:t>
            </a:r>
            <a:r>
              <a:rPr lang="en-US" sz="2400" dirty="0" smtClean="0">
                <a:latin typeface="Times New Roman" panose="02020603050405020304" pitchFamily="18" charset="0"/>
                <a:cs typeface="Times New Roman" panose="02020603050405020304" pitchFamily="18" charset="0"/>
              </a:rPr>
              <a:t>products.</a:t>
            </a:r>
            <a:endParaRPr lang="en-US" sz="2400" dirty="0" smtClean="0">
              <a:latin typeface="Times New Roman" panose="02020603050405020304" pitchFamily="18" charset="0"/>
              <a:cs typeface="Times New Roman" panose="02020603050405020304" pitchFamily="18" charset="0"/>
            </a:endParaRPr>
          </a:p>
          <a:p>
            <a:pPr algn="just">
              <a:lnSpc>
                <a:spcPct val="150000"/>
              </a:lnSpc>
            </a:pPr>
            <a:endParaRPr lang="en-US" sz="2400" dirty="0">
              <a:latin typeface="Times New Roman" panose="02020603050405020304" pitchFamily="18" charset="0"/>
              <a:cs typeface="Times New Roman" panose="02020603050405020304" pitchFamily="18" charset="0"/>
            </a:endParaRPr>
          </a:p>
          <a:p>
            <a:pPr algn="just">
              <a:lnSpc>
                <a:spcPct val="150000"/>
              </a:lnSpc>
            </a:pPr>
            <a:endParaRPr lang="en-US"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57200" y="1371600"/>
            <a:ext cx="8139447" cy="3657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33400" y="914400"/>
            <a:ext cx="8261522" cy="541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p:cNvSpPr/>
          <p:nvPr/>
        </p:nvSpPr>
        <p:spPr>
          <a:xfrm>
            <a:off x="762000" y="152400"/>
            <a:ext cx="7239000" cy="762000"/>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lnSpc>
                <a:spcPct val="150000"/>
              </a:lnSpc>
            </a:pPr>
            <a:r>
              <a:rPr lang="en-US" sz="2800" b="1" dirty="0">
                <a:solidFill>
                  <a:srgbClr val="FF0000"/>
                </a:solidFill>
                <a:latin typeface="Arial Black" panose="020B0A04020102020204" pitchFamily="34" charset="0"/>
                <a:cs typeface="Times New Roman" panose="02020603050405020304" pitchFamily="18" charset="0"/>
              </a:rPr>
              <a:t>Cellular respiration </a:t>
            </a:r>
            <a:endParaRPr lang="en-US" sz="2800" b="1" dirty="0">
              <a:solidFill>
                <a:srgbClr val="FF0000"/>
              </a:solidFill>
              <a:latin typeface="Arial Black" panose="020B0A04020102020204" pitchFamily="34" charset="0"/>
              <a:cs typeface="Times New Roman" panose="02020603050405020304" pitchFamily="18" charset="0"/>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066800" y="0"/>
            <a:ext cx="6378048" cy="662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93964" y="1752600"/>
            <a:ext cx="8530167" cy="472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p:cNvSpPr/>
          <p:nvPr/>
        </p:nvSpPr>
        <p:spPr>
          <a:xfrm>
            <a:off x="193964" y="228600"/>
            <a:ext cx="8530167" cy="1219200"/>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t>acetyl CoA + 3 NAD + FAD + ADP + HPO</a:t>
            </a:r>
            <a:r>
              <a:rPr lang="en-US" b="1" baseline="-25000" dirty="0"/>
              <a:t>4</a:t>
            </a:r>
            <a:r>
              <a:rPr lang="en-US" b="1" baseline="30000" dirty="0"/>
              <a:t>-2 </a:t>
            </a:r>
            <a:r>
              <a:rPr lang="en-US" b="1" dirty="0"/>
              <a:t>—————&gt; 2 CO</a:t>
            </a:r>
            <a:r>
              <a:rPr lang="en-US" b="1" baseline="-25000" dirty="0"/>
              <a:t>2</a:t>
            </a:r>
            <a:r>
              <a:rPr lang="en-US" b="1" dirty="0"/>
              <a:t> + CoA + 3 NADH</a:t>
            </a:r>
            <a:r>
              <a:rPr lang="en-US" b="1" baseline="30000" dirty="0"/>
              <a:t>+</a:t>
            </a:r>
            <a:r>
              <a:rPr lang="en-US" b="1" dirty="0"/>
              <a:t> + FADH</a:t>
            </a:r>
            <a:r>
              <a:rPr lang="en-US" b="1" baseline="30000" dirty="0"/>
              <a:t>+</a:t>
            </a:r>
            <a:r>
              <a:rPr lang="en-US" b="1" dirty="0"/>
              <a:t> + ATP</a:t>
            </a:r>
            <a:endParaRPr lang="en-US"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28600" y="3352800"/>
            <a:ext cx="8391525" cy="3009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p:cNvSpPr/>
          <p:nvPr/>
        </p:nvSpPr>
        <p:spPr>
          <a:xfrm>
            <a:off x="76200" y="76200"/>
            <a:ext cx="8839200" cy="2667000"/>
          </a:xfrm>
          <a:prstGeom prst="rect">
            <a:avLst/>
          </a:prstGeom>
          <a:solidFill>
            <a:schemeClr val="bg1"/>
          </a:solidFill>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marL="342900" indent="-342900" algn="just">
              <a:lnSpc>
                <a:spcPct val="150000"/>
              </a:lnSpc>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In the second reaction of the Krebs cycle, the isomerisation of citrate to isocitrate takes place. As an intermediate, </a:t>
            </a:r>
            <a:r>
              <a:rPr lang="en-US" sz="2000" i="1" dirty="0">
                <a:latin typeface="Times New Roman" panose="02020603050405020304" pitchFamily="18" charset="0"/>
                <a:cs typeface="Times New Roman" panose="02020603050405020304" pitchFamily="18" charset="0"/>
              </a:rPr>
              <a:t>cis</a:t>
            </a:r>
            <a:r>
              <a:rPr lang="en-US" sz="2000" dirty="0">
                <a:latin typeface="Times New Roman" panose="02020603050405020304" pitchFamily="18" charset="0"/>
                <a:cs typeface="Times New Roman" panose="02020603050405020304" pitchFamily="18" charset="0"/>
              </a:rPr>
              <a:t>-aconitate is formed. </a:t>
            </a:r>
            <a:endParaRPr lang="en-US" sz="2000" dirty="0" smtClean="0">
              <a:latin typeface="Times New Roman" panose="02020603050405020304" pitchFamily="18" charset="0"/>
              <a:cs typeface="Times New Roman" panose="02020603050405020304" pitchFamily="18" charset="0"/>
            </a:endParaRPr>
          </a:p>
          <a:p>
            <a:pPr marL="342900" indent="-342900" algn="just">
              <a:lnSpc>
                <a:spcPct val="150000"/>
              </a:lnSpc>
              <a:buFont typeface="Wingdings" panose="05000000000000000000" pitchFamily="2" charset="2"/>
              <a:buChar char="q"/>
            </a:pPr>
            <a:r>
              <a:rPr lang="en-US" sz="2000" dirty="0" smtClean="0">
                <a:latin typeface="Times New Roman" panose="02020603050405020304" pitchFamily="18" charset="0"/>
                <a:cs typeface="Times New Roman" panose="02020603050405020304" pitchFamily="18" charset="0"/>
              </a:rPr>
              <a:t>This </a:t>
            </a:r>
            <a:r>
              <a:rPr lang="en-US" sz="2000" dirty="0">
                <a:latin typeface="Times New Roman" panose="02020603050405020304" pitchFamily="18" charset="0"/>
                <a:cs typeface="Times New Roman" panose="02020603050405020304" pitchFamily="18" charset="0"/>
              </a:rPr>
              <a:t>conversion is of utmost importance for the subsequent decarboxylation, because a tertiary alcohol (the citrate) can not be directly oxidized to a keto carboxylic acid.</a:t>
            </a:r>
            <a:endParaRPr lang="en-US" sz="20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04800" y="228600"/>
            <a:ext cx="8229600" cy="61458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28600" y="152400"/>
            <a:ext cx="8305800" cy="6365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04799" y="457200"/>
            <a:ext cx="8658467" cy="5791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57200" y="381000"/>
            <a:ext cx="8084916" cy="5867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09600" y="1676400"/>
            <a:ext cx="8185196" cy="3200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828800" y="588818"/>
            <a:ext cx="5381625" cy="29329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4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33512" y="4010891"/>
            <a:ext cx="6172200" cy="2124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52400" y="381000"/>
            <a:ext cx="8658520" cy="2514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17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3429000"/>
            <a:ext cx="8858250" cy="2057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81000" y="1066800"/>
            <a:ext cx="8364236" cy="426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524000" y="381000"/>
            <a:ext cx="5486400" cy="29574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21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4037" y="3331478"/>
            <a:ext cx="4886325" cy="3371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85813" y="633413"/>
            <a:ext cx="7572375" cy="559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09600" y="533400"/>
            <a:ext cx="7477125" cy="5581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s 1"/>
          <p:cNvSpPr/>
          <p:nvPr/>
        </p:nvSpPr>
        <p:spPr>
          <a:xfrm>
            <a:off x="152400" y="152400"/>
            <a:ext cx="8839200" cy="6553200"/>
          </a:xfrm>
          <a:prstGeom prst="rect">
            <a:avLst/>
          </a:prstGeom>
          <a:solidFill>
            <a:schemeClr val="bg1"/>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sz="4400" b="1">
                <a:solidFill>
                  <a:srgbClr val="0070C0"/>
                </a:solidFill>
                <a:latin typeface="Times New Roman" panose="02020603050405020304" pitchFamily="18" charset="0"/>
                <a:cs typeface="Times New Roman" panose="02020603050405020304" pitchFamily="18" charset="0"/>
              </a:rPr>
              <a:t>Heterotopicity and Enzyme catalyst Reaction</a:t>
            </a:r>
            <a:endParaRPr lang="en-US" sz="4400" b="1">
              <a:solidFill>
                <a:srgbClr val="0070C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p:cNvPicPr>
            <a:picLocks noChangeAspect="1"/>
          </p:cNvPicPr>
          <p:nvPr/>
        </p:nvPicPr>
        <p:blipFill>
          <a:blip r:embed="rId1"/>
          <a:stretch>
            <a:fillRect/>
          </a:stretch>
        </p:blipFill>
        <p:spPr>
          <a:xfrm>
            <a:off x="685800" y="228600"/>
            <a:ext cx="7868285" cy="6421755"/>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152400" y="381000"/>
            <a:ext cx="8926195" cy="1742440"/>
          </a:xfrm>
          <a:prstGeom prst="rect">
            <a:avLst/>
          </a:prstGeom>
          <a:noFill/>
        </p:spPr>
        <p:txBody>
          <a:bodyPr wrap="square" rtlCol="0" anchor="t">
            <a:noAutofit/>
          </a:bodyPr>
          <a:p>
            <a:pPr marL="0" indent="0" algn="just">
              <a:lnSpc>
                <a:spcPct val="150000"/>
              </a:lnSpc>
            </a:pPr>
            <a:r>
              <a:rPr>
                <a:solidFill>
                  <a:srgbClr val="373D3F"/>
                </a:solidFill>
                <a:latin typeface="Times New Roman" panose="02020603050405020304" pitchFamily="18" charset="0"/>
                <a:ea typeface="Encode Sans"/>
                <a:cs typeface="Times New Roman" panose="02020603050405020304" pitchFamily="18" charset="0"/>
                <a:sym typeface="+mn-ea"/>
              </a:rPr>
              <a:t>Note that the hydroxyl-bearing carbon of citrate is a prochirality center and contains two</a:t>
            </a:r>
            <a:r>
              <a:rPr lang="en-US">
                <a:solidFill>
                  <a:srgbClr val="373D3F"/>
                </a:solidFill>
                <a:latin typeface="Times New Roman" panose="02020603050405020304" pitchFamily="18" charset="0"/>
                <a:ea typeface="Encode Sans"/>
                <a:cs typeface="Times New Roman" panose="02020603050405020304" pitchFamily="18" charset="0"/>
                <a:sym typeface="+mn-ea"/>
              </a:rPr>
              <a:t> </a:t>
            </a:r>
            <a:r>
              <a:rPr>
                <a:solidFill>
                  <a:srgbClr val="373D3F"/>
                </a:solidFill>
                <a:latin typeface="Times New Roman" panose="02020603050405020304" pitchFamily="18" charset="0"/>
                <a:ea typeface="Encode Sans"/>
                <a:cs typeface="Times New Roman" panose="02020603050405020304" pitchFamily="18" charset="0"/>
                <a:sym typeface="+mn-ea"/>
              </a:rPr>
              <a:t>identical arms. Because the initial aldol reaction of acetyl CoA to oxaloacetate occurs</a:t>
            </a:r>
            <a:r>
              <a:rPr lang="en-US">
                <a:solidFill>
                  <a:srgbClr val="373D3F"/>
                </a:solidFill>
                <a:latin typeface="Times New Roman" panose="02020603050405020304" pitchFamily="18" charset="0"/>
                <a:ea typeface="Encode Sans"/>
                <a:cs typeface="Times New Roman" panose="02020603050405020304" pitchFamily="18" charset="0"/>
                <a:sym typeface="+mn-ea"/>
              </a:rPr>
              <a:t> </a:t>
            </a:r>
            <a:r>
              <a:rPr>
                <a:solidFill>
                  <a:srgbClr val="373D3F"/>
                </a:solidFill>
                <a:latin typeface="Times New Roman" panose="02020603050405020304" pitchFamily="18" charset="0"/>
                <a:ea typeface="Encode Sans"/>
                <a:cs typeface="Times New Roman" panose="02020603050405020304" pitchFamily="18" charset="0"/>
                <a:sym typeface="+mn-ea"/>
              </a:rPr>
              <a:t>specifically from the Si face of the ketone carbonyl group, the pro-S arm of citrate is derived from acetyl CoA and the pro-R arm is derived from oxaloacetate</a:t>
            </a:r>
            <a:endParaRPr lang="en-US">
              <a:solidFill>
                <a:srgbClr val="373D3F"/>
              </a:solidFill>
              <a:latin typeface="Times New Roman" panose="02020603050405020304" pitchFamily="18" charset="0"/>
              <a:ea typeface="Encode Sans"/>
              <a:cs typeface="Times New Roman" panose="02020603050405020304" pitchFamily="18" charset="0"/>
              <a:sym typeface="+mn-ea"/>
            </a:endParaRPr>
          </a:p>
        </p:txBody>
      </p:sp>
      <p:pic>
        <p:nvPicPr>
          <p:cNvPr id="5" name="Picture 4"/>
          <p:cNvPicPr>
            <a:picLocks noChangeAspect="1"/>
          </p:cNvPicPr>
          <p:nvPr/>
        </p:nvPicPr>
        <p:blipFill>
          <a:blip r:embed="rId1"/>
          <a:stretch>
            <a:fillRect/>
          </a:stretch>
        </p:blipFill>
        <p:spPr>
          <a:xfrm>
            <a:off x="685800" y="2514600"/>
            <a:ext cx="7893050" cy="3649980"/>
          </a:xfrm>
          <a:prstGeom prst="rect">
            <a:avLst/>
          </a:prstGeom>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p:cNvPicPr>
            <a:picLocks noChangeAspect="1"/>
          </p:cNvPicPr>
          <p:nvPr/>
        </p:nvPicPr>
        <p:blipFill>
          <a:blip r:embed="rId1"/>
          <a:stretch>
            <a:fillRect/>
          </a:stretch>
        </p:blipFill>
        <p:spPr>
          <a:xfrm>
            <a:off x="457200" y="304800"/>
            <a:ext cx="8370570" cy="6236335"/>
          </a:xfrm>
          <a:prstGeom prst="rect">
            <a:avLst/>
          </a:prstGeom>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57200" y="274955"/>
            <a:ext cx="8480425" cy="2988945"/>
          </a:xfrm>
        </p:spPr>
        <p:txBody>
          <a:bodyPr>
            <a:normAutofit/>
          </a:bodyPr>
          <a:p>
            <a:pPr algn="just">
              <a:lnSpc>
                <a:spcPct val="150000"/>
              </a:lnSpc>
            </a:pPr>
            <a:r>
              <a:rPr lang="en-US" altLang="en-US" sz="2000">
                <a:latin typeface="Times New Roman" panose="02020603050405020304" pitchFamily="18" charset="0"/>
                <a:cs typeface="Times New Roman" panose="02020603050405020304" pitchFamily="18" charset="0"/>
              </a:rPr>
              <a:t>Determining the stereochemistry of reactions at prochirality centers is a powerful method for studying detailed mechanisms in biochemical reactions. As just one example, the conversion of citrate to cis-aconitate in the citric acid cycle has been shown to occur with loss of a pro-R hydrogen, implying that the OH and H groups leave from opposite sides of the molecule.</a:t>
            </a:r>
            <a:endParaRPr lang="en-US" altLang="en-US" sz="200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1"/>
          <a:stretch>
            <a:fillRect/>
          </a:stretch>
        </p:blipFill>
        <p:spPr>
          <a:xfrm>
            <a:off x="762000" y="3352800"/>
            <a:ext cx="7630160" cy="1764030"/>
          </a:xfrm>
          <a:prstGeom prst="rect">
            <a:avLst/>
          </a:prstGeo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a:xfrm>
            <a:off x="304800" y="838200"/>
            <a:ext cx="8375650" cy="1760220"/>
          </a:xfrm>
          <a:prstGeom prst="rect">
            <a:avLst/>
          </a:prstGeom>
        </p:spPr>
        <p:txBody>
          <a:bodyPr>
            <a:normAutofit/>
          </a:bodyPr>
          <a:p>
            <a:pPr algn="l"/>
            <a:r>
              <a:rPr lang="en-US" altLang="en-US" sz="2000">
                <a:latin typeface="Times New Roman" panose="02020603050405020304" pitchFamily="18" charset="0"/>
                <a:cs typeface="Times New Roman" panose="02020603050405020304" pitchFamily="18" charset="0"/>
              </a:rPr>
              <a:t>A large number of biological reactions involve prochiral compounds. One of the steps in the citric acid cycle by which food is metabolized, for instance, is the addition of H</a:t>
            </a:r>
            <a:r>
              <a:rPr lang="en-US" altLang="en-US" sz="2000" baseline="-25000">
                <a:latin typeface="Times New Roman" panose="02020603050405020304" pitchFamily="18" charset="0"/>
                <a:cs typeface="Times New Roman" panose="02020603050405020304" pitchFamily="18" charset="0"/>
              </a:rPr>
              <a:t>2</a:t>
            </a:r>
            <a:r>
              <a:rPr lang="en-US" altLang="en-US" sz="2000">
                <a:latin typeface="Times New Roman" panose="02020603050405020304" pitchFamily="18" charset="0"/>
                <a:cs typeface="Times New Roman" panose="02020603050405020304" pitchFamily="18" charset="0"/>
              </a:rPr>
              <a:t>O to fumarate to give malate. Addition of −OH occurs on the Si face of a fumarate carbon and gives (S)-malate as product.</a:t>
            </a:r>
            <a:endParaRPr lang="en-US" altLang="en-US" sz="200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1"/>
          <a:stretch>
            <a:fillRect/>
          </a:stretch>
        </p:blipFill>
        <p:spPr>
          <a:xfrm>
            <a:off x="1066800" y="2895600"/>
            <a:ext cx="6895465" cy="2354580"/>
          </a:xfrm>
          <a:prstGeom prst="rect">
            <a:avLst/>
          </a:prstGeom>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 name="Picture 4"/>
          <p:cNvPicPr/>
          <p:nvPr/>
        </p:nvPicPr>
        <p:blipFill>
          <a:blip r:embed="rId1"/>
          <a:stretch>
            <a:fillRect/>
          </a:stretch>
        </p:blipFill>
        <p:spPr>
          <a:xfrm>
            <a:off x="457200" y="457200"/>
            <a:ext cx="8004175" cy="5920105"/>
          </a:xfrm>
          <a:prstGeom prst="rect">
            <a:avLst/>
          </a:prstGeom>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Picture 3"/>
          <p:cNvPicPr>
            <a:picLocks noChangeAspect="1"/>
          </p:cNvPicPr>
          <p:nvPr/>
        </p:nvPicPr>
        <p:blipFill>
          <a:blip r:embed="rId1"/>
          <a:stretch>
            <a:fillRect/>
          </a:stretch>
        </p:blipFill>
        <p:spPr>
          <a:xfrm>
            <a:off x="92075" y="1676400"/>
            <a:ext cx="8959850" cy="2468245"/>
          </a:xfrm>
          <a:prstGeom prst="rect">
            <a:avLst/>
          </a:prstGeom>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265430" y="274955"/>
            <a:ext cx="8653145" cy="2411095"/>
          </a:xfrm>
        </p:spPr>
        <p:txBody>
          <a:bodyPr>
            <a:normAutofit/>
          </a:bodyPr>
          <a:p>
            <a:pPr algn="just">
              <a:lnSpc>
                <a:spcPct val="150000"/>
              </a:lnSpc>
            </a:pPr>
            <a:r>
              <a:rPr lang="en-US" altLang="en-US" sz="2000">
                <a:latin typeface="Times New Roman" panose="02020603050405020304" pitchFamily="18" charset="0"/>
                <a:cs typeface="Times New Roman" panose="02020603050405020304" pitchFamily="18" charset="0"/>
              </a:rPr>
              <a:t>As another example, studies with deuterium-labeled substrates have shown that the reaction of ethanol with the coenzyme nicotinamide adenine dinucleotide (NAD+), catalyzed by yeast alcohol dehydrogenase, occurs with exclusive removal of the pro-R hydrogen from ethanol and with addition only to the Re face of NAD+.</a:t>
            </a:r>
            <a:endParaRPr lang="en-US" altLang="en-US" sz="200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1"/>
          <a:stretch>
            <a:fillRect/>
          </a:stretch>
        </p:blipFill>
        <p:spPr>
          <a:xfrm>
            <a:off x="533400" y="2743200"/>
            <a:ext cx="7639685" cy="1953260"/>
          </a:xfrm>
          <a:prstGeom prst="rect">
            <a:avLst/>
          </a:prstGeom>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Picture 3"/>
          <p:cNvPicPr/>
          <p:nvPr/>
        </p:nvPicPr>
        <p:blipFill>
          <a:blip r:embed="rId1">
            <a:extLst>
              <a:ext uri="{96DAC541-7B7A-43D3-8B79-37D633B846F1}">
                <asvg:svgBlip xmlns:asvg="http://schemas.microsoft.com/office/drawing/2016/SVG/main" r:embed="rId2"/>
              </a:ext>
            </a:extLst>
          </a:blip>
          <a:stretch>
            <a:fillRect/>
          </a:stretch>
        </p:blipFill>
        <p:spPr>
          <a:xfrm>
            <a:off x="1447800" y="762000"/>
            <a:ext cx="5561965" cy="6094730"/>
          </a:xfrm>
          <a:prstGeom prst="rect">
            <a:avLst/>
          </a:prstGeom>
        </p:spPr>
      </p:pic>
      <p:sp>
        <p:nvSpPr>
          <p:cNvPr id="6" name="Text Box 5"/>
          <p:cNvSpPr txBox="1"/>
          <p:nvPr/>
        </p:nvSpPr>
        <p:spPr>
          <a:xfrm>
            <a:off x="917575" y="152400"/>
            <a:ext cx="6623050" cy="836295"/>
          </a:xfrm>
          <a:prstGeom prst="rect">
            <a:avLst/>
          </a:prstGeom>
          <a:noFill/>
        </p:spPr>
        <p:txBody>
          <a:bodyPr wrap="square" rtlCol="0" anchor="t">
            <a:noAutofit/>
          </a:bodyPr>
          <a:p>
            <a:pPr algn="ctr"/>
            <a:r>
              <a:rPr lang="en-US" sz="2800" b="1">
                <a:solidFill>
                  <a:srgbClr val="0070C0"/>
                </a:solidFill>
                <a:latin typeface="Times New Roman" panose="02020603050405020304" pitchFamily="18" charset="0"/>
                <a:cs typeface="Times New Roman" panose="02020603050405020304" pitchFamily="18" charset="0"/>
                <a:sym typeface="+mn-ea"/>
              </a:rPr>
              <a:t>Biological reduction</a:t>
            </a:r>
            <a:endParaRPr lang="en-US" sz="2800" b="1">
              <a:solidFill>
                <a:srgbClr val="0070C0"/>
              </a:solidFill>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7094</Words>
  <Application>WPS Presentation</Application>
  <PresentationFormat>On-screen Show (4:3)</PresentationFormat>
  <Paragraphs>97</Paragraphs>
  <Slides>60</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60</vt:i4>
      </vt:variant>
    </vt:vector>
  </HeadingPairs>
  <TitlesOfParts>
    <vt:vector size="71" baseType="lpstr">
      <vt:lpstr>Arial</vt:lpstr>
      <vt:lpstr>SimSun</vt:lpstr>
      <vt:lpstr>Wingdings</vt:lpstr>
      <vt:lpstr>Times New Roman</vt:lpstr>
      <vt:lpstr>Microsoft YaHei</vt:lpstr>
      <vt:lpstr>Arial Unicode MS</vt:lpstr>
      <vt:lpstr>Calibri</vt:lpstr>
      <vt:lpstr>Arial Black</vt:lpstr>
      <vt:lpstr>Encode Sans</vt:lpstr>
      <vt:lpstr>Segoe Print</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user</dc:creator>
  <cp:lastModifiedBy>Umme Aiman Liza</cp:lastModifiedBy>
  <cp:revision>64</cp:revision>
  <dcterms:created xsi:type="dcterms:W3CDTF">2006-08-16T00:00:00Z</dcterms:created>
  <dcterms:modified xsi:type="dcterms:W3CDTF">2025-08-18T03:49:48Z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376ED11BB0A041AA8E4E59530DBCD75D_12</vt:lpwstr>
  </property>
  <property fmtid="{D5CDD505-2E9C-101B-9397-08002B2CF9AE}" pid="3" name="KSOProductBuildVer">
    <vt:lpwstr>1033-12.2.0.21931</vt:lpwstr>
  </property>
</Properties>
</file>